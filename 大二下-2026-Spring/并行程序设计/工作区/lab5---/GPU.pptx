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5715000" cy="9144000" type="screen16x10"/>
  <p:notesSz cx="6858000" cy="9144000"/>
  <p:defaultTextStyle>
    <a:defPPr>
      <a:defRPr lang="zh-CN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701"/>
  </p:normalViewPr>
  <p:slideViewPr>
    <p:cSldViewPr snapToGrid="0">
      <p:cViewPr varScale="1">
        <p:scale>
          <a:sx n="91" d="100"/>
          <a:sy n="91" d="100"/>
        </p:scale>
        <p:origin x="33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D1822C-7403-4131-BD72-C5E056A274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  <a:prstGeom prst="rect">
            <a:avLst/>
          </a:prstGeom>
        </p:spPr>
        <p:txBody>
          <a:bodyPr vert="horz" anchor="ctr" anchorCtr="1"/>
          <a:lstStyle>
            <a:lvl1pPr>
              <a:defRPr sz="2600"/>
            </a:lvl1pPr>
          </a:lstStyle>
          <a:p>
            <a:r>
              <a:rPr lang="zh-CN" altLang="en-US"/>
              <a:t>请填写试卷标题</a:t>
            </a:r>
          </a:p>
        </p:txBody>
      </p:sp>
    </p:spTree>
    <p:extLst>
      <p:ext uri="{BB962C8B-B14F-4D97-AF65-F5344CB8AC3E}">
        <p14:creationId xmlns:p14="http://schemas.microsoft.com/office/powerpoint/2010/main" val="1961784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7262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485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385763" rtl="0" eaLnBrk="1" latinLnBrk="0" hangingPunct="1">
        <a:lnSpc>
          <a:spcPct val="90000"/>
        </a:lnSpc>
        <a:spcBef>
          <a:spcPct val="0"/>
        </a:spcBef>
        <a:buNone/>
        <a:defRPr sz="18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441" indent="-96441" algn="l" defTabSz="385763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1pPr>
      <a:lvl2pPr marL="289322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482204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3pPr>
      <a:lvl4pPr marL="675085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7966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0847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729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610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491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hyperlink" Target="https://gitee.com/zhao-zhiqiang2023/lab-day1-tianshu-v150&#12289;https:/gitee.com/zhao-zhiqiang2023/lab-day2-tianshu-v150" TargetMode="Externa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10" Type="http://schemas.openxmlformats.org/officeDocument/2006/relationships/tags" Target="../tags/tag12.xml"/><Relationship Id="rId19" Type="http://schemas.openxmlformats.org/officeDocument/2006/relationships/image" Target="../media/image1.tmp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7E69F9-6B9D-41C3-8482-4D5D712E2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GPU</a:t>
            </a:r>
            <a:r>
              <a:rPr lang="zh-CN" altLang="zh-CN" dirty="0"/>
              <a:t>编程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2C1760D-74E7-48BB-9E02-82097326799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841500" y="5842000"/>
            <a:ext cx="2032000" cy="5080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 anchorCtr="1">
            <a:noAutofit/>
          </a:bodyPr>
          <a:lstStyle/>
          <a:p>
            <a:r>
              <a:rPr lang="zh-CN" altLang="en-US" sz="2000">
                <a:solidFill>
                  <a:srgbClr val="000000"/>
                </a:solidFill>
              </a:rPr>
              <a:t>总分</a:t>
            </a:r>
            <a:r>
              <a:rPr lang="en-US" altLang="zh-CN" sz="2000">
                <a:solidFill>
                  <a:srgbClr val="000000"/>
                </a:solidFill>
              </a:rPr>
              <a:t>: 10</a:t>
            </a:r>
            <a:endParaRPr lang="zh-CN" altLang="en-US" sz="2000">
              <a:solidFill>
                <a:srgbClr val="00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0B5FE55-C2F3-4FF3-80DC-0AEF06A93098}"/>
              </a:ext>
            </a:extLst>
          </p:cNvPr>
          <p:cNvSpPr txBox="1"/>
          <p:nvPr/>
        </p:nvSpPr>
        <p:spPr>
          <a:xfrm>
            <a:off x="127000" y="7874000"/>
            <a:ext cx="5461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r>
              <a:rPr lang="zh-CN" altLang="en-US" sz="2000">
                <a:solidFill>
                  <a:srgbClr val="FF0000"/>
                </a:solidFill>
              </a:rPr>
              <a:t>*此封面页请勿删除，删除后将无法上传至试卷库，添加菜单栏任意题型即可制作试卷。本提示将在上传时自动隐藏。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82555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3BAAD9DE-EB78-4700-A73F-C2061EC1FF9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12" name="矩形 11" hidden="1">
            <a:extLst>
              <a:ext uri="{FF2B5EF4-FFF2-40B4-BE49-F238E27FC236}">
                <a16:creationId xmlns:a16="http://schemas.microsoft.com/office/drawing/2014/main" id="{7A532EE4-4327-46BD-BB9E-53F7E23F915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" name="文本框 16" hidden="1">
            <a:extLst>
              <a:ext uri="{FF2B5EF4-FFF2-40B4-BE49-F238E27FC236}">
                <a16:creationId xmlns:a16="http://schemas.microsoft.com/office/drawing/2014/main" id="{1DC77BFC-C8B6-4964-B43B-DCB46B4513E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18" name="文本框 17" hidden="1">
            <a:extLst>
              <a:ext uri="{FF2B5EF4-FFF2-40B4-BE49-F238E27FC236}">
                <a16:creationId xmlns:a16="http://schemas.microsoft.com/office/drawing/2014/main" id="{2F3BA613-906C-4F7E-9545-5B4E18EE593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350000" y="1270000"/>
            <a:ext cx="461264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</a:p>
        </p:txBody>
      </p:sp>
      <p:grpSp>
        <p:nvGrpSpPr>
          <p:cNvPr id="16" name="组合 15" hidden="1">
            <a:extLst>
              <a:ext uri="{FF2B5EF4-FFF2-40B4-BE49-F238E27FC236}">
                <a16:creationId xmlns:a16="http://schemas.microsoft.com/office/drawing/2014/main" id="{8094A5E6-38E2-421E-9349-DAD6344CA4F6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3" name="RemarkBack" hidden="1">
              <a:extLst>
                <a:ext uri="{FF2B5EF4-FFF2-40B4-BE49-F238E27FC236}">
                  <a16:creationId xmlns:a16="http://schemas.microsoft.com/office/drawing/2014/main" id="{E151523A-162A-4DC7-8B3A-4E8646C6824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RemarkBlock" hidden="1">
              <a:extLst>
                <a:ext uri="{FF2B5EF4-FFF2-40B4-BE49-F238E27FC236}">
                  <a16:creationId xmlns:a16="http://schemas.microsoft.com/office/drawing/2014/main" id="{46CB9BE8-ABF5-476E-AEF1-0A391167ED5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markTitleText" hidden="1">
              <a:extLst>
                <a:ext uri="{FF2B5EF4-FFF2-40B4-BE49-F238E27FC236}">
                  <a16:creationId xmlns:a16="http://schemas.microsoft.com/office/drawing/2014/main" id="{DE3F1CD5-B80D-44A8-9477-23D015EAB72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79A7A6F9-375E-49ED-A5CB-64C9A315FDFE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0" y="634999"/>
            <a:ext cx="5715000" cy="7572375"/>
          </a:xfrm>
          <a:prstGeom prst="rect">
            <a:avLst/>
          </a:prstGeom>
          <a:noFill/>
        </p:spPr>
        <p:txBody>
          <a:bodyPr vert="horz" wrap="square" rtlCol="0" anchor="t" anchorCtr="0">
            <a:noAutofit/>
          </a:bodyPr>
          <a:lstStyle/>
          <a:p>
            <a:r>
              <a:rPr lang="zh-CN" altLang="zh-CN" b="1" dirty="0"/>
              <a:t>一、选题</a:t>
            </a:r>
            <a:endParaRPr lang="zh-CN" altLang="zh-CN" dirty="0"/>
          </a:p>
          <a:p>
            <a:r>
              <a:rPr lang="zh-CN" altLang="en-US" dirty="0"/>
              <a:t>同</a:t>
            </a:r>
            <a:r>
              <a:rPr lang="en-US" altLang="zh-CN" dirty="0"/>
              <a:t>SIMD</a:t>
            </a:r>
            <a:r>
              <a:rPr lang="zh-CN" altLang="en-US" dirty="0"/>
              <a:t>编程作业</a:t>
            </a:r>
            <a:r>
              <a:rPr lang="zh-CN" altLang="zh-CN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zh-CN" b="1" dirty="0"/>
              <a:t>二、作业要求</a:t>
            </a:r>
            <a:endParaRPr lang="zh-CN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b="1" dirty="0"/>
              <a:t>基础要求：（得分最高为满分的</a:t>
            </a:r>
            <a:r>
              <a:rPr lang="en-US" altLang="zh-CN" b="1" dirty="0"/>
              <a:t>70%</a:t>
            </a:r>
            <a:r>
              <a:rPr lang="zh-CN" altLang="en-US" b="1" dirty="0"/>
              <a:t>，本次作业为</a:t>
            </a:r>
            <a:r>
              <a:rPr lang="en-US" altLang="zh-CN" b="1" dirty="0"/>
              <a:t>7</a:t>
            </a:r>
            <a:r>
              <a:rPr lang="zh-CN" altLang="en-US" b="1" dirty="0"/>
              <a:t>分）</a:t>
            </a:r>
            <a:endParaRPr lang="en-US" altLang="zh-CN" b="1" dirty="0"/>
          </a:p>
          <a:p>
            <a:pPr marL="342000" lvl="0"/>
            <a:r>
              <a:rPr lang="zh-CN" altLang="en-US" dirty="0"/>
              <a:t>在</a:t>
            </a:r>
            <a:r>
              <a:rPr lang="en-US" altLang="zh-CN" dirty="0"/>
              <a:t>AMD AUP</a:t>
            </a:r>
            <a:r>
              <a:rPr lang="zh-CN" altLang="en-US" dirty="0"/>
              <a:t>云端学习平台学习</a:t>
            </a:r>
            <a:r>
              <a:rPr lang="en-US" altLang="zh-CN" dirty="0"/>
              <a:t>HIP</a:t>
            </a:r>
            <a:r>
              <a:rPr lang="zh-CN" altLang="en-US" dirty="0"/>
              <a:t>课程（包含</a:t>
            </a:r>
            <a:r>
              <a:rPr lang="en-US" altLang="zh-CN" dirty="0"/>
              <a:t>Vector Addition</a:t>
            </a:r>
            <a:r>
              <a:rPr lang="zh-CN" altLang="en-US" dirty="0"/>
              <a:t>等</a:t>
            </a:r>
            <a:r>
              <a:rPr lang="en-US" altLang="zh-CN" dirty="0"/>
              <a:t>6</a:t>
            </a:r>
            <a:r>
              <a:rPr lang="zh-CN" altLang="en-US" dirty="0"/>
              <a:t>个题目），在作业报告中简要描述学习内容，附上学习通过的截图。</a:t>
            </a:r>
            <a:endParaRPr lang="en-US" altLang="zh-CN" dirty="0"/>
          </a:p>
          <a:p>
            <a:pPr marL="342900" indent="-342900">
              <a:buFont typeface="+mj-lt"/>
              <a:buAutoNum type="arabicPeriod" startAt="2"/>
            </a:pPr>
            <a:r>
              <a:rPr lang="zh-CN" altLang="en-US" b="1" dirty="0"/>
              <a:t>进阶选题要求（得分最高为满分的</a:t>
            </a:r>
            <a:r>
              <a:rPr lang="en-US" altLang="zh-CN" b="1" dirty="0"/>
              <a:t>30%</a:t>
            </a:r>
            <a:r>
              <a:rPr lang="zh-CN" altLang="en-US" b="1" dirty="0"/>
              <a:t>，本次作业为</a:t>
            </a:r>
            <a:r>
              <a:rPr lang="en-US" altLang="zh-CN" b="1" dirty="0"/>
              <a:t>3</a:t>
            </a:r>
            <a:r>
              <a:rPr lang="zh-CN" altLang="en-US" b="1" dirty="0"/>
              <a:t>分）以下内容三选一</a:t>
            </a:r>
            <a:endParaRPr lang="en-US" altLang="zh-CN" b="1" dirty="0"/>
          </a:p>
          <a:p>
            <a:pPr marL="342000"/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pt-BR" altLang="zh-CN" dirty="0"/>
              <a:t>FlagOS</a:t>
            </a:r>
            <a:r>
              <a:rPr lang="zh-CN" altLang="pt-BR" dirty="0"/>
              <a:t>的</a:t>
            </a:r>
            <a:r>
              <a:rPr lang="pt-BR" altLang="zh-CN" dirty="0"/>
              <a:t>triton</a:t>
            </a:r>
            <a:r>
              <a:rPr lang="zh-CN" altLang="pt-BR" dirty="0"/>
              <a:t>算子编程（下面链接中的</a:t>
            </a:r>
            <a:r>
              <a:rPr lang="pt-BR" altLang="zh-CN" dirty="0"/>
              <a:t>lab-day1</a:t>
            </a:r>
            <a:r>
              <a:rPr lang="zh-CN" altLang="en-US" dirty="0"/>
              <a:t>和</a:t>
            </a:r>
            <a:r>
              <a:rPr lang="pt-BR" altLang="zh-CN" dirty="0"/>
              <a:t>lab-day2</a:t>
            </a:r>
            <a:r>
              <a:rPr lang="zh-CN" altLang="pt-BR" dirty="0"/>
              <a:t>部分）。</a:t>
            </a:r>
            <a:r>
              <a:rPr lang="zh-CN" altLang="en-US" dirty="0"/>
              <a:t>一般情况得分上限为满分的</a:t>
            </a:r>
            <a:r>
              <a:rPr lang="en-US" altLang="zh-CN" dirty="0"/>
              <a:t>20%</a:t>
            </a:r>
            <a:r>
              <a:rPr lang="zh-CN" altLang="en-US" dirty="0"/>
              <a:t>，即</a:t>
            </a:r>
            <a:r>
              <a:rPr lang="en-US" altLang="zh-CN" dirty="0"/>
              <a:t>2</a:t>
            </a:r>
            <a:r>
              <a:rPr lang="zh-CN" altLang="en-US" dirty="0"/>
              <a:t>分，完成出色可突破此限制</a:t>
            </a:r>
            <a:r>
              <a:rPr lang="zh-CN" altLang="pt-BR" dirty="0"/>
              <a:t>。</a:t>
            </a:r>
            <a:r>
              <a:rPr lang="pt-BR" altLang="zh-CN" dirty="0">
                <a:hlinkClick r:id="rId18"/>
              </a:rPr>
              <a:t>https://gitee.com/zhao-zhiqiang2023/lab-day1-tianshu-v150</a:t>
            </a:r>
            <a:r>
              <a:rPr lang="zh-CN" altLang="en-US" dirty="0">
                <a:hlinkClick r:id="rId18"/>
              </a:rPr>
              <a:t>、</a:t>
            </a:r>
            <a:r>
              <a:rPr lang="en-US" altLang="zh-CN" dirty="0">
                <a:hlinkClick r:id="rId18"/>
              </a:rPr>
              <a:t>https://gitee.com/zhao-zhiqiang2023</a:t>
            </a:r>
            <a:r>
              <a:rPr lang="en-US" altLang="zh-CN">
                <a:hlinkClick r:id="rId18"/>
              </a:rPr>
              <a:t>/lab-day2-tianshu-v150</a:t>
            </a:r>
            <a:endParaRPr lang="en-US" altLang="zh-CN" dirty="0"/>
          </a:p>
          <a:p>
            <a:pPr marL="342000"/>
            <a:r>
              <a:rPr lang="en-US" altLang="zh-CN" dirty="0"/>
              <a:t>2</a:t>
            </a:r>
            <a:r>
              <a:rPr lang="zh-CN" altLang="en-US" dirty="0"/>
              <a:t>）高斯消去选题的</a:t>
            </a:r>
            <a:r>
              <a:rPr lang="en-US" altLang="zh-CN" dirty="0"/>
              <a:t>GPU</a:t>
            </a:r>
            <a:r>
              <a:rPr lang="zh-CN" altLang="en-US" dirty="0"/>
              <a:t>编程（</a:t>
            </a:r>
            <a:r>
              <a:rPr lang="en-US" altLang="zh-CN" dirty="0"/>
              <a:t>Nvidia</a:t>
            </a:r>
            <a:r>
              <a:rPr lang="zh-CN" altLang="en-US" dirty="0"/>
              <a:t>、</a:t>
            </a:r>
            <a:r>
              <a:rPr lang="en-US" altLang="zh-CN" dirty="0"/>
              <a:t>AMD</a:t>
            </a:r>
            <a:r>
              <a:rPr lang="zh-CN" altLang="en-US" dirty="0"/>
              <a:t>、</a:t>
            </a:r>
            <a:r>
              <a:rPr lang="en-US" altLang="zh-CN" dirty="0"/>
              <a:t>Intel</a:t>
            </a:r>
            <a:r>
              <a:rPr lang="zh-CN" altLang="en-US" dirty="0"/>
              <a:t>的</a:t>
            </a:r>
            <a:r>
              <a:rPr lang="en-US" altLang="zh-CN" dirty="0"/>
              <a:t>GPU</a:t>
            </a:r>
            <a:r>
              <a:rPr lang="zh-CN" altLang="en-US" dirty="0"/>
              <a:t>均可，云端、本地实验均可），一般情况得分上限为满分的</a:t>
            </a:r>
            <a:r>
              <a:rPr lang="en-US" altLang="zh-CN" dirty="0"/>
              <a:t>20%</a:t>
            </a:r>
            <a:r>
              <a:rPr lang="zh-CN" altLang="en-US" dirty="0"/>
              <a:t>，即</a:t>
            </a:r>
            <a:r>
              <a:rPr lang="en-US" altLang="zh-CN" dirty="0"/>
              <a:t>2</a:t>
            </a:r>
            <a:r>
              <a:rPr lang="zh-CN" altLang="en-US" dirty="0"/>
              <a:t>分，完成出色可突破此限制</a:t>
            </a:r>
            <a:r>
              <a:rPr lang="zh-CN" altLang="pt-BR" dirty="0"/>
              <a:t>。</a:t>
            </a:r>
            <a:endParaRPr lang="en-US" altLang="zh-CN" dirty="0"/>
          </a:p>
          <a:p>
            <a:pPr marL="342000" lvl="0"/>
            <a:r>
              <a:rPr lang="en-US" altLang="zh-CN" dirty="0">
                <a:solidFill>
                  <a:prstClr val="black"/>
                </a:solidFill>
              </a:rPr>
              <a:t>3</a:t>
            </a:r>
            <a:r>
              <a:rPr lang="zh-CN" altLang="en-US" dirty="0">
                <a:solidFill>
                  <a:prstClr val="black"/>
                </a:solidFill>
              </a:rPr>
              <a:t>）其他四个选题的</a:t>
            </a:r>
            <a:r>
              <a:rPr lang="en-US" altLang="zh-CN" dirty="0">
                <a:solidFill>
                  <a:prstClr val="black"/>
                </a:solidFill>
              </a:rPr>
              <a:t>GPU</a:t>
            </a:r>
            <a:r>
              <a:rPr lang="zh-CN" altLang="en-US" dirty="0">
                <a:solidFill>
                  <a:prstClr val="black"/>
                </a:solidFill>
              </a:rPr>
              <a:t>编程（</a:t>
            </a:r>
            <a:r>
              <a:rPr lang="en-US" altLang="zh-CN" dirty="0">
                <a:solidFill>
                  <a:prstClr val="black"/>
                </a:solidFill>
              </a:rPr>
              <a:t>Nvidia</a:t>
            </a:r>
            <a:r>
              <a:rPr lang="zh-CN" altLang="en-US" dirty="0">
                <a:solidFill>
                  <a:prstClr val="black"/>
                </a:solidFill>
              </a:rPr>
              <a:t>、</a:t>
            </a:r>
            <a:r>
              <a:rPr lang="en-US" altLang="zh-CN" dirty="0">
                <a:solidFill>
                  <a:prstClr val="black"/>
                </a:solidFill>
              </a:rPr>
              <a:t>AMD</a:t>
            </a:r>
            <a:r>
              <a:rPr lang="zh-CN" altLang="en-US" dirty="0">
                <a:solidFill>
                  <a:prstClr val="black"/>
                </a:solidFill>
              </a:rPr>
              <a:t>、</a:t>
            </a:r>
            <a:r>
              <a:rPr lang="en-US" altLang="zh-CN" dirty="0">
                <a:solidFill>
                  <a:prstClr val="black"/>
                </a:solidFill>
              </a:rPr>
              <a:t>Intel</a:t>
            </a:r>
            <a:r>
              <a:rPr lang="zh-CN" altLang="en-US" dirty="0">
                <a:solidFill>
                  <a:prstClr val="black"/>
                </a:solidFill>
              </a:rPr>
              <a:t>的</a:t>
            </a:r>
            <a:r>
              <a:rPr lang="en-US" altLang="zh-CN" dirty="0">
                <a:solidFill>
                  <a:prstClr val="black"/>
                </a:solidFill>
              </a:rPr>
              <a:t>GPU</a:t>
            </a:r>
            <a:r>
              <a:rPr lang="zh-CN" altLang="en-US" dirty="0">
                <a:solidFill>
                  <a:prstClr val="black"/>
                </a:solidFill>
              </a:rPr>
              <a:t>均可，云端、本地实验均可）。得分上限为满分的</a:t>
            </a:r>
            <a:r>
              <a:rPr lang="en-US" altLang="zh-CN" dirty="0">
                <a:solidFill>
                  <a:prstClr val="black"/>
                </a:solidFill>
              </a:rPr>
              <a:t>30%</a:t>
            </a:r>
            <a:r>
              <a:rPr lang="zh-CN" altLang="en-US" dirty="0">
                <a:solidFill>
                  <a:prstClr val="black"/>
                </a:solidFill>
              </a:rPr>
              <a:t>，即</a:t>
            </a:r>
            <a:r>
              <a:rPr lang="en-US" altLang="zh-CN" dirty="0">
                <a:solidFill>
                  <a:prstClr val="black"/>
                </a:solidFill>
              </a:rPr>
              <a:t>3</a:t>
            </a:r>
            <a:r>
              <a:rPr lang="zh-CN" altLang="en-US" dirty="0">
                <a:solidFill>
                  <a:prstClr val="black"/>
                </a:solidFill>
              </a:rPr>
              <a:t>分</a:t>
            </a:r>
            <a:r>
              <a:rPr lang="zh-CN" altLang="pt-BR" dirty="0">
                <a:solidFill>
                  <a:prstClr val="black"/>
                </a:solidFill>
              </a:rPr>
              <a:t>。</a:t>
            </a:r>
            <a:endParaRPr lang="en-US" altLang="zh-CN" dirty="0">
              <a:solidFill>
                <a:prstClr val="black"/>
              </a:solidFill>
            </a:endParaRPr>
          </a:p>
          <a:p>
            <a:pPr marL="342900" indent="-342900">
              <a:buFont typeface="+mj-lt"/>
              <a:buAutoNum type="arabicPeriod" startAt="3"/>
            </a:pPr>
            <a:r>
              <a:rPr lang="zh-CN" altLang="en-US" dirty="0"/>
              <a:t>撰写并提交研究报告，要求类似</a:t>
            </a:r>
            <a:r>
              <a:rPr lang="en-US" altLang="zh-CN" dirty="0"/>
              <a:t>SIMD</a:t>
            </a:r>
            <a:r>
              <a:rPr lang="zh-CN" altLang="en-US" dirty="0"/>
              <a:t>编程作业，篇幅不超过</a:t>
            </a:r>
            <a:r>
              <a:rPr lang="en-US" altLang="zh-CN" dirty="0"/>
              <a:t>12</a:t>
            </a:r>
            <a:r>
              <a:rPr lang="zh-CN" altLang="en-US" dirty="0"/>
              <a:t>页。</a:t>
            </a:r>
            <a:endParaRPr lang="en-US" altLang="zh-CN" dirty="0"/>
          </a:p>
          <a:p>
            <a:endParaRPr lang="zh-CN" altLang="zh-CN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DF90F35-0C7F-426F-8EAB-71862230F6D9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DF222A90-94AC-4E86-8347-C91EF71E85A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0ADDDE70-69FC-43F6-8995-F5149CF5ECB1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BFBDE1A9-C343-4924-BF9E-8B9BE6BF2BD8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400DF923-22EE-45B8-B11F-B69D1BBF1255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EC1FD1B-47AE-4EDD-A64E-A87102C7E234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02619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Scor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HASREMARK" val="False"/>
  <p:tag name="PROBLEMSCORE" val="10.0"/>
  <p:tag name="PROBLEMVOICEALLOWED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343</Words>
  <Application>Microsoft Office PowerPoint</Application>
  <PresentationFormat>全屏显示(16:10)</PresentationFormat>
  <Paragraphs>20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Microsoft Yahei</vt:lpstr>
      <vt:lpstr>等线</vt:lpstr>
      <vt:lpstr>等线 Light</vt:lpstr>
      <vt:lpstr>Arial</vt:lpstr>
      <vt:lpstr>Office 主题​​</vt:lpstr>
      <vt:lpstr>GPU编程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预备工作2 定义你的编译器功能 &amp; 汇编编程</dc:title>
  <dc:creator>王 刚</dc:creator>
  <cp:lastModifiedBy>Administrator</cp:lastModifiedBy>
  <cp:revision>62</cp:revision>
  <dcterms:created xsi:type="dcterms:W3CDTF">2019-09-29T04:07:54Z</dcterms:created>
  <dcterms:modified xsi:type="dcterms:W3CDTF">2026-06-04T11:04:20Z</dcterms:modified>
</cp:coreProperties>
</file>