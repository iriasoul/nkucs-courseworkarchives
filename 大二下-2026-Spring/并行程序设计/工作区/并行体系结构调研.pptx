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5715000" cy="9144000" type="screen16x10"/>
  <p:notesSz cx="6858000" cy="9144000"/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90" d="100"/>
          <a:sy n="90" d="100"/>
        </p:scale>
        <p:origin x="32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6080" rtl="0" eaLnBrk="1" latinLnBrk="0" hangingPunct="1">
        <a:lnSpc>
          <a:spcPct val="90000"/>
        </a:lnSpc>
        <a:spcBef>
          <a:spcPct val="0"/>
        </a:spcBef>
        <a:buNone/>
        <a:defRPr sz="18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520" indent="-96520" algn="l" defTabSz="386080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48196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5" kern="1200">
          <a:solidFill>
            <a:schemeClr val="tx1"/>
          </a:solidFill>
          <a:latin typeface="+mn-lt"/>
          <a:ea typeface="+mn-ea"/>
          <a:cs typeface="+mn-cs"/>
        </a:defRPr>
      </a:lvl3pPr>
      <a:lvl4pPr marL="67500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804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1085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49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53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570" indent="-96520" algn="l" defTabSz="386080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304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608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48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56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605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1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6080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并行体系结构调研</a:t>
            </a: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5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pPr lvl="0"/>
            <a:r>
              <a:rPr lang="zh-CN" altLang="zh-CN" sz="1600" dirty="0"/>
              <a:t>基本要求（</a:t>
            </a:r>
            <a:r>
              <a:rPr lang="en-US" altLang="zh-CN" sz="1600" dirty="0"/>
              <a:t>4</a:t>
            </a:r>
            <a:r>
              <a:rPr lang="zh-CN" altLang="en-US" sz="1600" dirty="0"/>
              <a:t>分）：</a:t>
            </a:r>
            <a:endParaRPr lang="en-US" altLang="zh-CN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调研我国超算发展历史（</a:t>
            </a:r>
            <a:r>
              <a:rPr lang="zh-CN" altLang="en-US" sz="1600" dirty="0"/>
              <a:t>银河、天河、神威、曙光、</a:t>
            </a:r>
            <a:r>
              <a:rPr lang="en-US" altLang="zh-CN" sz="1600" dirty="0"/>
              <a:t>…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或调研我国自主产权</a:t>
            </a:r>
            <a:r>
              <a:rPr lang="en-US" altLang="zh-CN" sz="1600" dirty="0">
                <a:sym typeface="+mn-ea"/>
              </a:rPr>
              <a:t>CPU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GPU</a:t>
            </a:r>
            <a:r>
              <a:rPr lang="zh-CN" altLang="en-US" sz="1600" dirty="0">
                <a:sym typeface="+mn-ea"/>
              </a:rPr>
              <a:t>、人工智能处理器</a:t>
            </a:r>
            <a:r>
              <a:rPr lang="en-US" altLang="zh-CN" sz="1600" dirty="0">
                <a:sym typeface="+mn-ea"/>
              </a:rPr>
              <a:t>APU/NPU</a:t>
            </a:r>
            <a:r>
              <a:rPr lang="zh-CN" altLang="en-US" sz="1600" dirty="0">
                <a:sym typeface="+mn-ea"/>
              </a:rPr>
              <a:t>发展历史（飞腾、鲲鹏、昇腾、</a:t>
            </a:r>
            <a:r>
              <a:rPr lang="en-US" altLang="zh-CN" sz="1600" dirty="0">
                <a:sym typeface="+mn-ea"/>
              </a:rPr>
              <a:t>MUSA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…</a:t>
            </a:r>
            <a:r>
              <a:rPr lang="zh-CN" altLang="en-US" sz="1600" dirty="0">
                <a:sym typeface="+mn-ea"/>
              </a:rPr>
              <a:t>）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要求：除了综述总体发展历史、分析技术发展过程外，还应具体剖析有代表性的超算的并行体系结构或</a:t>
            </a:r>
            <a:r>
              <a:rPr lang="en-US" altLang="zh-CN" sz="1600" dirty="0">
                <a:sym typeface="+mn-ea"/>
              </a:rPr>
              <a:t>CPU/GPU/APU/NPU</a:t>
            </a:r>
            <a:r>
              <a:rPr lang="zh-CN" altLang="en-US" sz="1600" dirty="0">
                <a:sym typeface="+mn-ea"/>
              </a:rPr>
              <a:t>的微架构。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信息来源：</a:t>
            </a:r>
            <a:r>
              <a:rPr lang="en-US" altLang="zh-CN" sz="1600" dirty="0">
                <a:sym typeface="+mn-ea"/>
              </a:rPr>
              <a:t>top-500</a:t>
            </a:r>
            <a:r>
              <a:rPr lang="zh-CN" altLang="en-US" sz="1600" dirty="0">
                <a:sym typeface="+mn-ea"/>
              </a:rPr>
              <a:t>（包含了</a:t>
            </a:r>
            <a:r>
              <a:rPr lang="en-US" altLang="zh-CN" sz="1600" dirty="0" err="1">
                <a:sym typeface="+mn-ea"/>
              </a:rPr>
              <a:t>hpcg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green-500</a:t>
            </a:r>
            <a:r>
              <a:rPr lang="zh-CN" altLang="en-US" sz="1600" dirty="0">
                <a:sym typeface="+mn-ea"/>
              </a:rPr>
              <a:t>榜单）等超算网站及其他网站中的文档、厂商官方文档及其他文献。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sym typeface="+mn-ea"/>
              </a:rPr>
              <a:t>撰写调研报告</a:t>
            </a:r>
            <a:r>
              <a:rPr lang="zh-CN" altLang="en-US" sz="1600" dirty="0">
                <a:sym typeface="+mn-ea"/>
              </a:rPr>
              <a:t>，提交</a:t>
            </a:r>
            <a:r>
              <a:rPr lang="en-US" altLang="zh-CN" sz="1600" dirty="0">
                <a:sym typeface="+mn-ea"/>
              </a:rPr>
              <a:t>PDF</a:t>
            </a:r>
            <a:r>
              <a:rPr lang="zh-CN" altLang="en-US" sz="1600" dirty="0">
                <a:sym typeface="+mn-ea"/>
              </a:rPr>
              <a:t>文档（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不要提交</a:t>
            </a:r>
            <a:r>
              <a:rPr lang="en-US" altLang="zh-CN" sz="1600" dirty="0">
                <a:solidFill>
                  <a:srgbClr val="FF0000"/>
                </a:solidFill>
                <a:sym typeface="+mn-ea"/>
              </a:rPr>
              <a:t>word</a:t>
            </a:r>
            <a:r>
              <a:rPr lang="zh-CN" altLang="en-US" sz="1600" dirty="0">
                <a:solidFill>
                  <a:srgbClr val="FF0000"/>
                </a:solidFill>
                <a:sym typeface="+mn-ea"/>
              </a:rPr>
              <a:t>等其他格式！！！</a:t>
            </a:r>
            <a:r>
              <a:rPr lang="zh-CN" altLang="en-US" sz="1600" dirty="0">
                <a:sym typeface="+mn-ea"/>
              </a:rPr>
              <a:t>），要</a:t>
            </a:r>
            <a:r>
              <a:rPr lang="zh-CN" altLang="zh-CN" sz="1600" dirty="0">
                <a:sym typeface="+mn-ea"/>
              </a:rPr>
              <a:t>符合科技论文写作规范</a:t>
            </a:r>
            <a:r>
              <a:rPr lang="zh-CN" altLang="en-US" sz="1600" dirty="0">
                <a:sym typeface="+mn-ea"/>
              </a:rPr>
              <a:t>（建议用</a:t>
            </a:r>
            <a:r>
              <a:rPr lang="en-US" altLang="zh-CN" sz="1600" dirty="0">
                <a:sym typeface="+mn-ea"/>
              </a:rPr>
              <a:t>Latex</a:t>
            </a:r>
            <a:r>
              <a:rPr lang="zh-CN" altLang="en-US" sz="1600" dirty="0">
                <a:sym typeface="+mn-ea"/>
              </a:rPr>
              <a:t>撰写）。报告首要的是结构和内容组织合理、逻辑清晰，清楚地阐述你的调研内容即可，切忌长篇大论、逻辑不清、缺少“干货”</a:t>
            </a:r>
            <a:r>
              <a:rPr lang="en-US" altLang="zh-CN" sz="1600" dirty="0">
                <a:sym typeface="+mn-ea"/>
              </a:rPr>
              <a:t>——</a:t>
            </a:r>
            <a:r>
              <a:rPr lang="zh-CN" altLang="en-US" sz="1600" dirty="0">
                <a:sym typeface="+mn-ea"/>
              </a:rPr>
              <a:t>例如简单搬运一些空泛介绍、罗列一些参数而没有实际的体系结构剖析。要求篇幅不超过</a:t>
            </a:r>
            <a:r>
              <a:rPr lang="en-US" altLang="zh-CN" sz="1600" dirty="0">
                <a:sym typeface="+mn-ea"/>
              </a:rPr>
              <a:t>8</a:t>
            </a:r>
            <a:r>
              <a:rPr lang="zh-CN" altLang="en-US" sz="1600" dirty="0">
                <a:sym typeface="+mn-ea"/>
              </a:rPr>
              <a:t>页（包含进阶要求）。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本学期所有作业均为独立完成，不采用组队方式。</a:t>
            </a:r>
            <a:endParaRPr lang="en-US" altLang="zh-CN" sz="1600" dirty="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可以借助大语言模型搜索、分析资料，但不能直接用大语言模型代替你撰写报告。</a:t>
            </a:r>
          </a:p>
          <a:p>
            <a:pPr indent="0">
              <a:buFont typeface="Arial" panose="020B0604020202020204" pitchFamily="34" charset="0"/>
              <a:buNone/>
            </a:pPr>
            <a:endParaRPr lang="zh-CN" altLang="en-US" sz="1600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1600" dirty="0">
                <a:sym typeface="+mn-ea"/>
              </a:rPr>
              <a:t>进阶要求（</a:t>
            </a:r>
            <a:r>
              <a:rPr lang="en-US" altLang="zh-CN" sz="1600" dirty="0">
                <a:sym typeface="+mn-ea"/>
              </a:rPr>
              <a:t>1</a:t>
            </a:r>
            <a:r>
              <a:rPr lang="zh-CN" altLang="en-US" sz="1600" dirty="0">
                <a:sym typeface="+mn-ea"/>
              </a:rPr>
              <a:t>分）：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ym typeface="+mn-ea"/>
              </a:rPr>
              <a:t>通过调研国外最新的超算（如</a:t>
            </a:r>
            <a:r>
              <a:rPr lang="en-US" altLang="zh-CN" sz="1600" dirty="0">
                <a:sym typeface="+mn-ea"/>
              </a:rPr>
              <a:t>EI Capitan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Frontier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 err="1">
                <a:sym typeface="+mn-ea"/>
              </a:rPr>
              <a:t>Auror</a:t>
            </a:r>
            <a:r>
              <a:rPr lang="zh-CN" altLang="en-US" sz="1600" dirty="0">
                <a:sym typeface="+mn-ea"/>
              </a:rPr>
              <a:t>等）或最新的</a:t>
            </a:r>
            <a:r>
              <a:rPr lang="en-US" altLang="zh-CN" sz="1600" dirty="0">
                <a:sym typeface="+mn-ea"/>
              </a:rPr>
              <a:t>CPU</a:t>
            </a:r>
            <a:r>
              <a:rPr lang="zh-CN" altLang="en-US" sz="1600" dirty="0">
                <a:sym typeface="+mn-ea"/>
              </a:rPr>
              <a:t>（如</a:t>
            </a:r>
            <a:r>
              <a:rPr lang="en-US" altLang="zh-CN" sz="1600" dirty="0">
                <a:sym typeface="+mn-ea"/>
              </a:rPr>
              <a:t>Intel</a:t>
            </a:r>
            <a:r>
              <a:rPr lang="zh-CN" altLang="en-US" sz="1600" dirty="0">
                <a:sym typeface="+mn-ea"/>
              </a:rPr>
              <a:t>酷睿</a:t>
            </a:r>
            <a:r>
              <a:rPr lang="en-US" altLang="zh-CN" sz="1600" dirty="0">
                <a:sym typeface="+mn-ea"/>
              </a:rPr>
              <a:t>Ultra 3</a:t>
            </a:r>
            <a:r>
              <a:rPr lang="zh-CN" altLang="en-US" sz="1600" dirty="0">
                <a:sym typeface="+mn-ea"/>
              </a:rPr>
              <a:t>代、</a:t>
            </a:r>
            <a:r>
              <a:rPr lang="en-US" altLang="zh-CN" sz="1600" dirty="0">
                <a:sym typeface="+mn-ea"/>
              </a:rPr>
              <a:t>AMD Zen5</a:t>
            </a:r>
            <a:r>
              <a:rPr lang="zh-CN" altLang="en-US" sz="1600" dirty="0">
                <a:sym typeface="+mn-ea"/>
              </a:rPr>
              <a:t>、苹果</a:t>
            </a:r>
            <a:r>
              <a:rPr lang="en-US" altLang="zh-CN" sz="1600" dirty="0">
                <a:sym typeface="+mn-ea"/>
              </a:rPr>
              <a:t>M5(Pro/Max/Ultra)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Intel</a:t>
            </a:r>
            <a:r>
              <a:rPr lang="zh-CN" altLang="en-US" sz="1600" dirty="0">
                <a:sym typeface="+mn-ea"/>
              </a:rPr>
              <a:t>可扩展志强等）、</a:t>
            </a:r>
            <a:r>
              <a:rPr lang="en-US" altLang="zh-CN" sz="1600" dirty="0">
                <a:sym typeface="+mn-ea"/>
              </a:rPr>
              <a:t>GPU</a:t>
            </a:r>
            <a:r>
              <a:rPr lang="zh-CN" altLang="en-US" sz="1600" dirty="0">
                <a:sym typeface="+mn-ea"/>
              </a:rPr>
              <a:t>（如英伟达</a:t>
            </a:r>
            <a:r>
              <a:rPr lang="en-US" altLang="zh-CN" sz="1600">
                <a:sym typeface="+mn-ea"/>
              </a:rPr>
              <a:t>Blackwell/Hopper</a:t>
            </a:r>
            <a:r>
              <a:rPr lang="zh-CN" altLang="en-US" sz="160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AMD RDNA5</a:t>
            </a:r>
            <a:r>
              <a:rPr lang="zh-CN" altLang="en-US" sz="1600" dirty="0">
                <a:sym typeface="+mn-ea"/>
              </a:rPr>
              <a:t>、</a:t>
            </a:r>
            <a:r>
              <a:rPr lang="en-US" altLang="zh-CN" sz="1600" dirty="0">
                <a:sym typeface="+mn-ea"/>
              </a:rPr>
              <a:t>Intel Ponte Vecchio</a:t>
            </a:r>
            <a:r>
              <a:rPr lang="zh-CN" altLang="en-US" sz="1600" dirty="0">
                <a:sym typeface="+mn-ea"/>
              </a:rPr>
              <a:t>等）或</a:t>
            </a:r>
            <a:r>
              <a:rPr lang="en-US" altLang="zh-CN" sz="1600" dirty="0">
                <a:sym typeface="+mn-ea"/>
              </a:rPr>
              <a:t>APU/NPU</a:t>
            </a:r>
            <a:r>
              <a:rPr lang="zh-CN" altLang="en-US" sz="1600" dirty="0">
                <a:sym typeface="+mn-ea"/>
              </a:rPr>
              <a:t>等，与我国超算</a:t>
            </a:r>
            <a:r>
              <a:rPr lang="en-US" altLang="zh-CN" sz="1600" dirty="0">
                <a:sym typeface="+mn-ea"/>
              </a:rPr>
              <a:t>/</a:t>
            </a:r>
            <a:r>
              <a:rPr lang="zh-CN" altLang="en-US" sz="1600" dirty="0">
                <a:sym typeface="+mn-ea"/>
              </a:rPr>
              <a:t>处理器发展进行对比分析，展望未来发展方向。</a:t>
            </a: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/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/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/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/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/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/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/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/>
          <p:cNvPicPr/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5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436</Words>
  <Application>Microsoft Office PowerPoint</Application>
  <PresentationFormat>全屏显示(16:10)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</vt:lpstr>
      <vt:lpstr>等线</vt:lpstr>
      <vt:lpstr>等线 Light</vt:lpstr>
      <vt:lpstr>Arial</vt:lpstr>
      <vt:lpstr>Office 主题​​</vt:lpstr>
      <vt:lpstr>并行体系结构调研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44</cp:revision>
  <dcterms:created xsi:type="dcterms:W3CDTF">2023-02-07T13:40:21Z</dcterms:created>
  <dcterms:modified xsi:type="dcterms:W3CDTF">2026-03-09T03:21:31Z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B1F463E87D7FD95DAA49E263E82D0E63</vt:lpwstr>
  </property>
  <property fmtid="{D5CDD505-2E9C-101B-9397-08002B2CF9AE}" pid="3" name="KSOProductBuildVer">
    <vt:lpwstr>2052-5.1.1.7676</vt:lpwstr>
  </property>
</Properties>
</file>