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3"/>
    <p:sldMasterId id="2147483675" r:id="rId4"/>
  </p:sldMasterIdLst>
  <p:notesMasterIdLst>
    <p:notesMasterId r:id="rId11"/>
  </p:notesMasterIdLst>
  <p:handoutMasterIdLst>
    <p:handoutMasterId r:id="rId125"/>
  </p:handoutMasterIdLst>
  <p:sldIdLst>
    <p:sldId id="498" r:id="rId5"/>
    <p:sldId id="500" r:id="rId6"/>
    <p:sldId id="504" r:id="rId7"/>
    <p:sldId id="503" r:id="rId8"/>
    <p:sldId id="507" r:id="rId9"/>
    <p:sldId id="508" r:id="rId10"/>
    <p:sldId id="505" r:id="rId12"/>
    <p:sldId id="509" r:id="rId13"/>
    <p:sldId id="502" r:id="rId14"/>
    <p:sldId id="510" r:id="rId15"/>
    <p:sldId id="461" r:id="rId16"/>
    <p:sldId id="462" r:id="rId17"/>
    <p:sldId id="556" r:id="rId18"/>
    <p:sldId id="339" r:id="rId19"/>
    <p:sldId id="463" r:id="rId20"/>
    <p:sldId id="344" r:id="rId21"/>
    <p:sldId id="402" r:id="rId22"/>
    <p:sldId id="346" r:id="rId23"/>
    <p:sldId id="601" r:id="rId24"/>
    <p:sldId id="403" r:id="rId25"/>
    <p:sldId id="598" r:id="rId26"/>
    <p:sldId id="599" r:id="rId27"/>
    <p:sldId id="600" r:id="rId28"/>
    <p:sldId id="468" r:id="rId29"/>
    <p:sldId id="467" r:id="rId30"/>
    <p:sldId id="466" r:id="rId31"/>
    <p:sldId id="521" r:id="rId32"/>
    <p:sldId id="602" r:id="rId33"/>
    <p:sldId id="603" r:id="rId34"/>
    <p:sldId id="604" r:id="rId35"/>
    <p:sldId id="525" r:id="rId36"/>
    <p:sldId id="527" r:id="rId37"/>
    <p:sldId id="605" r:id="rId38"/>
    <p:sldId id="629" r:id="rId39"/>
    <p:sldId id="606" r:id="rId40"/>
    <p:sldId id="607" r:id="rId41"/>
    <p:sldId id="608" r:id="rId42"/>
    <p:sldId id="609" r:id="rId43"/>
    <p:sldId id="610" r:id="rId44"/>
    <p:sldId id="740" r:id="rId45"/>
    <p:sldId id="611" r:id="rId46"/>
    <p:sldId id="612" r:id="rId47"/>
    <p:sldId id="613" r:id="rId48"/>
    <p:sldId id="614" r:id="rId49"/>
    <p:sldId id="615" r:id="rId50"/>
    <p:sldId id="616" r:id="rId51"/>
    <p:sldId id="617" r:id="rId52"/>
    <p:sldId id="618" r:id="rId53"/>
    <p:sldId id="619" r:id="rId54"/>
    <p:sldId id="741" r:id="rId55"/>
    <p:sldId id="620" r:id="rId56"/>
    <p:sldId id="621" r:id="rId57"/>
    <p:sldId id="622" r:id="rId58"/>
    <p:sldId id="623" r:id="rId59"/>
    <p:sldId id="624" r:id="rId60"/>
    <p:sldId id="625" r:id="rId61"/>
    <p:sldId id="626" r:id="rId62"/>
    <p:sldId id="627" r:id="rId63"/>
    <p:sldId id="628" r:id="rId64"/>
    <p:sldId id="559" r:id="rId65"/>
    <p:sldId id="681" r:id="rId66"/>
    <p:sldId id="682" r:id="rId67"/>
    <p:sldId id="683" r:id="rId68"/>
    <p:sldId id="684" r:id="rId69"/>
    <p:sldId id="685" r:id="rId70"/>
    <p:sldId id="686" r:id="rId71"/>
    <p:sldId id="687" r:id="rId72"/>
    <p:sldId id="688" r:id="rId73"/>
    <p:sldId id="689" r:id="rId74"/>
    <p:sldId id="690" r:id="rId75"/>
    <p:sldId id="691" r:id="rId76"/>
    <p:sldId id="692" r:id="rId77"/>
    <p:sldId id="693" r:id="rId78"/>
    <p:sldId id="694" r:id="rId79"/>
    <p:sldId id="695" r:id="rId80"/>
    <p:sldId id="696" r:id="rId81"/>
    <p:sldId id="697" r:id="rId82"/>
    <p:sldId id="698" r:id="rId83"/>
    <p:sldId id="699" r:id="rId84"/>
    <p:sldId id="700" r:id="rId85"/>
    <p:sldId id="701" r:id="rId86"/>
    <p:sldId id="702" r:id="rId87"/>
    <p:sldId id="703" r:id="rId88"/>
    <p:sldId id="704" r:id="rId89"/>
    <p:sldId id="705" r:id="rId90"/>
    <p:sldId id="706" r:id="rId91"/>
    <p:sldId id="707" r:id="rId92"/>
    <p:sldId id="708" r:id="rId93"/>
    <p:sldId id="709" r:id="rId94"/>
    <p:sldId id="710" r:id="rId95"/>
    <p:sldId id="711" r:id="rId96"/>
    <p:sldId id="712" r:id="rId97"/>
    <p:sldId id="713" r:id="rId98"/>
    <p:sldId id="738" r:id="rId99"/>
    <p:sldId id="739" r:id="rId100"/>
    <p:sldId id="564" r:id="rId101"/>
    <p:sldId id="565" r:id="rId102"/>
    <p:sldId id="566" r:id="rId103"/>
    <p:sldId id="560" r:id="rId104"/>
    <p:sldId id="561" r:id="rId105"/>
    <p:sldId id="563" r:id="rId106"/>
    <p:sldId id="567" r:id="rId107"/>
    <p:sldId id="568" r:id="rId108"/>
    <p:sldId id="569" r:id="rId109"/>
    <p:sldId id="570" r:id="rId110"/>
    <p:sldId id="571" r:id="rId111"/>
    <p:sldId id="573" r:id="rId112"/>
    <p:sldId id="572" r:id="rId113"/>
    <p:sldId id="551" r:id="rId114"/>
    <p:sldId id="574" r:id="rId115"/>
    <p:sldId id="575" r:id="rId116"/>
    <p:sldId id="579" r:id="rId117"/>
    <p:sldId id="581" r:id="rId118"/>
    <p:sldId id="580" r:id="rId119"/>
    <p:sldId id="576" r:id="rId120"/>
    <p:sldId id="577" r:id="rId121"/>
    <p:sldId id="578" r:id="rId122"/>
    <p:sldId id="582" r:id="rId123"/>
    <p:sldId id="583" r:id="rId124"/>
  </p:sldIdLst>
  <p:sldSz cx="9144000" cy="6858000" type="screen4x3"/>
  <p:notesSz cx="7099300" cy="10234930"/>
  <p:custDataLst>
    <p:tags r:id="rId129"/>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20" userDrawn="1">
          <p15:clr>
            <a:srgbClr val="A4A3A4"/>
          </p15:clr>
        </p15:guide>
        <p15:guide id="2" pos="27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FF8398"/>
    <a:srgbClr val="A50021"/>
    <a:srgbClr val="993300"/>
    <a:srgbClr val="6D6D6D"/>
    <a:srgbClr val="818181"/>
    <a:srgbClr val="469CDC"/>
    <a:srgbClr val="CC3300"/>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009"/>
    <p:restoredTop sz="91858"/>
  </p:normalViewPr>
  <p:slideViewPr>
    <p:cSldViewPr snapToGrid="0" showGuides="1">
      <p:cViewPr>
        <p:scale>
          <a:sx n="66" d="100"/>
          <a:sy n="66" d="100"/>
        </p:scale>
        <p:origin x="-792" y="-246"/>
      </p:cViewPr>
      <p:guideLst>
        <p:guide orient="horz" pos="2120"/>
        <p:guide pos="27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9782"/>
    </p:cViewPr>
  </p:sorterViewPr>
  <p:gridSpacing cx="45004" cy="45004"/>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9" Type="http://schemas.openxmlformats.org/officeDocument/2006/relationships/tags" Target="tags/tag1.xml"/><Relationship Id="rId128" Type="http://schemas.openxmlformats.org/officeDocument/2006/relationships/tableStyles" Target="tableStyles.xml"/><Relationship Id="rId127" Type="http://schemas.openxmlformats.org/officeDocument/2006/relationships/viewProps" Target="viewProps.xml"/><Relationship Id="rId126" Type="http://schemas.openxmlformats.org/officeDocument/2006/relationships/presProps" Target="presProps.xml"/><Relationship Id="rId125" Type="http://schemas.openxmlformats.org/officeDocument/2006/relationships/handoutMaster" Target="handoutMasters/handoutMaster1.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notesMaster" Target="notesMasters/notesMaster1.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幻灯片图像占位符 2049"/>
          <p:cNvSpPr>
            <a:spLocks noTextEdit="1"/>
          </p:cNvSpPr>
          <p:nvPr>
            <p:ph type="sldImg"/>
          </p:nvPr>
        </p:nvSpPr>
        <p:spPr>
          <a:xfrm>
            <a:off x="990600" y="644525"/>
            <a:ext cx="5135563" cy="3851275"/>
          </a:xfrm>
          <a:prstGeom prst="rect">
            <a:avLst/>
          </a:prstGeom>
          <a:noFill/>
          <a:ln w="12700">
            <a:noFill/>
          </a:ln>
        </p:spPr>
      </p:sp>
      <p:sp>
        <p:nvSpPr>
          <p:cNvPr id="5123" name="文本占位符 2050"/>
          <p:cNvSpPr>
            <a:spLocks noGrp="1"/>
          </p:cNvSpPr>
          <p:nvPr>
            <p:ph type="body" sz="quarter"/>
          </p:nvPr>
        </p:nvSpPr>
        <p:spPr>
          <a:xfrm>
            <a:off x="533400" y="4860925"/>
            <a:ext cx="6118225" cy="4606925"/>
          </a:xfrm>
          <a:prstGeom prst="rect">
            <a:avLst/>
          </a:prstGeom>
          <a:noFill/>
          <a:ln w="12700">
            <a:noFill/>
          </a:ln>
        </p:spPr>
        <p:txBody>
          <a:bodyPr lIns="100269" tIns="49255" rIns="100269" bIns="49255" anchor="t" anchorCtr="0"/>
          <a:p>
            <a:pPr lvl="0"/>
            <a:r>
              <a:rPr lang="en-US" altLang="zh-CN" dirty="0"/>
              <a:t>We want this to be in font 11 and justify.</a:t>
            </a:r>
            <a:endParaRPr lang="en-US" altLang="zh-CN" dirty="0"/>
          </a:p>
        </p:txBody>
      </p:sp>
    </p:spTree>
  </p:cSld>
  <p:clrMap bg1="lt1" tx1="dk1" bg2="lt2" tx2="dk2" accent1="accent1" accent2="accent2" accent3="accent3" accent4="accent4" accent5="accent5" accent6="accent6" hlink="hlink" folHlink="folHlink"/>
  <p:hf sldNum="0" hdr="0" ftr="0" dt="0"/>
  <p:notesStyle>
    <a:lvl1pPr marL="0" lvl="0" indent="0" algn="just" defTabSz="914400" rtl="0" eaLnBrk="0" fontAlgn="base" latinLnBrk="0" hangingPunct="0">
      <a:lnSpc>
        <a:spcPct val="90000"/>
      </a:lnSpc>
      <a:spcBef>
        <a:spcPct val="40000"/>
      </a:spcBef>
      <a:spcAft>
        <a:spcPct val="0"/>
      </a:spcAft>
      <a:buNone/>
      <a:defRPr sz="11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2pPr>
    <a:lvl3pPr marL="914400" lvl="2"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3pPr>
    <a:lvl4pPr marL="1371600" lvl="3"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4pPr>
    <a:lvl5pPr marL="1828800" lvl="4"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5pPr>
    <a:lvl6pPr marL="2286000" lvl="5"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6pPr>
    <a:lvl7pPr marL="2743200" lvl="6"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7pPr>
    <a:lvl8pPr marL="3200400" lvl="7"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8pPr>
    <a:lvl9pPr marL="3657600" lvl="8" indent="0" algn="l" defTabSz="914400" rtl="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幻灯片图像占位符 1"/>
          <p:cNvSpPr>
            <a:spLocks noTextEdit="1"/>
          </p:cNvSpPr>
          <p:nvPr>
            <p:ph type="sldImg"/>
          </p:nvPr>
        </p:nvSpPr>
        <p:spPr>
          <a:ln/>
        </p:spPr>
      </p:sp>
      <p:sp>
        <p:nvSpPr>
          <p:cNvPr id="12290" name="文本占位符 2"/>
          <p:cNvSpPr>
            <a:spLocks noGrp="1"/>
          </p:cNvSpPr>
          <p:nvPr>
            <p:ph type="body"/>
          </p:nvPr>
        </p:nvSpPr>
        <p:spPr>
          <a:ln/>
        </p:spPr>
        <p:txBody>
          <a:bodyPr lIns="100269" tIns="49255" rIns="100269" bIns="49255" anchor="t" anchorCtr="0"/>
          <a:p>
            <a:pPr lvl="0"/>
            <a:r>
              <a:rPr lang="zh-CN" altLang="en-US">
                <a:cs typeface="Arial" panose="020B0604020202020204" pitchFamily="34" charset="0"/>
              </a:rPr>
              <a:t>The function call_gmon_start initializes the gmon profiling system. This system is enabled when binaries are compiled with the -pg flag, and creates output for use with gprof(1). In the case of the scenario binary call_gmon_start is situated directly proceeding that _start function. The call_gmon_start function finds the last entry in the Global Offset Table (also known as __gmon_start__) and, if not NULL, will pass control to the specified address. The __gmon_start__ element points to the gmon initialization function, which starts the recording of profiling information and registers a cleanup function with atexit(). In our case however gmon is not in use, and as such __gmon_start__ is NULL.</a:t>
            </a:r>
            <a:endParaRPr lang="zh-CN" altLang="en-US">
              <a:ea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占位符 178177"/>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Before we go any further, let’s step back for a second and take a look at the big picture.</a:t>
            </a:r>
            <a:endParaRPr lang="en-US" altLang="zh-CN">
              <a:ea typeface="宋体" panose="02010600030101010101" pitchFamily="2" charset="-122"/>
            </a:endParaRPr>
          </a:p>
          <a:p>
            <a:pPr lvl="0"/>
            <a:r>
              <a:rPr lang="en-US" altLang="zh-CN">
                <a:ea typeface="宋体" panose="02010600030101010101" pitchFamily="2" charset="-122"/>
              </a:rPr>
              <a:t>All computer consist of five components: (1) Input and (2) output devices. (3) The Memory System. And the (4) Control and (5) </a:t>
            </a:r>
            <a:r>
              <a:rPr lang="en-US" altLang="zh-CN" dirty="0" err="1">
                <a:ea typeface="宋体" panose="02010600030101010101" pitchFamily="2" charset="-122"/>
              </a:rPr>
              <a:t>Datapath</a:t>
            </a:r>
            <a:r>
              <a:rPr lang="en-US" altLang="zh-CN">
                <a:ea typeface="宋体" panose="02010600030101010101" pitchFamily="2" charset="-122"/>
              </a:rPr>
              <a:t> of the Processor.</a:t>
            </a:r>
            <a:endParaRPr lang="en-US" altLang="zh-CN">
              <a:ea typeface="宋体" panose="02010600030101010101" pitchFamily="2" charset="-122"/>
            </a:endParaRPr>
          </a:p>
          <a:p>
            <a:pPr lvl="0"/>
            <a:r>
              <a:rPr lang="en-US" altLang="zh-CN">
                <a:ea typeface="宋体" panose="02010600030101010101" pitchFamily="2" charset="-122"/>
              </a:rPr>
              <a:t>Today’s lecture covers the </a:t>
            </a:r>
            <a:r>
              <a:rPr lang="en-US" altLang="zh-CN" dirty="0" err="1">
                <a:ea typeface="宋体" panose="02010600030101010101" pitchFamily="2" charset="-122"/>
              </a:rPr>
              <a:t>datapath</a:t>
            </a:r>
            <a:r>
              <a:rPr lang="en-US" altLang="zh-CN">
                <a:ea typeface="宋体" panose="02010600030101010101" pitchFamily="2" charset="-122"/>
              </a:rPr>
              <a:t> design.</a:t>
            </a:r>
            <a:endParaRPr lang="en-US" altLang="zh-CN">
              <a:ea typeface="宋体" panose="02010600030101010101" pitchFamily="2" charset="-122"/>
            </a:endParaRPr>
          </a:p>
          <a:p>
            <a:pPr lvl="0"/>
            <a:r>
              <a:rPr lang="en-US" altLang="zh-CN">
                <a:ea typeface="宋体" panose="02010600030101010101" pitchFamily="2" charset="-122"/>
              </a:rPr>
              <a:t>In the next lecture, I will show you how to design the processor’s control unit.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+1 = 5 min. (X:45)</a:t>
            </a:r>
            <a:endParaRPr lang="en-US" altLang="zh-CN">
              <a:ea typeface="宋体" panose="02010600030101010101" pitchFamily="2" charset="-122"/>
            </a:endParaRPr>
          </a:p>
        </p:txBody>
      </p:sp>
      <p:sp>
        <p:nvSpPr>
          <p:cNvPr id="21506" name="幻灯片图像占位符 178178"/>
          <p:cNvSpPr>
            <a:spLocks noTextEdit="1"/>
          </p:cNvSpPr>
          <p:nvPr>
            <p:ph type="sldImg"/>
          </p:nvPr>
        </p:nvSpPr>
        <p:spPr>
          <a:xfrm>
            <a:off x="1427163" y="644525"/>
            <a:ext cx="4259262" cy="3194050"/>
          </a:xfr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占位符 188417"/>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Based on the Register Transfer Language examples we have so far, we know we will need the following combinational logic elements.</a:t>
            </a:r>
            <a:endParaRPr lang="en-US" altLang="zh-CN">
              <a:ea typeface="宋体" panose="02010600030101010101" pitchFamily="2" charset="-122"/>
            </a:endParaRPr>
          </a:p>
          <a:p>
            <a:pPr lvl="0"/>
            <a:r>
              <a:rPr lang="en-US" altLang="zh-CN">
                <a:ea typeface="宋体" panose="02010600030101010101" pitchFamily="2" charset="-122"/>
              </a:rPr>
              <a:t>We will need an adder to update the program counter.</a:t>
            </a:r>
            <a:endParaRPr lang="en-US" altLang="zh-CN">
              <a:ea typeface="宋体" panose="02010600030101010101" pitchFamily="2" charset="-122"/>
            </a:endParaRPr>
          </a:p>
          <a:p>
            <a:pPr lvl="0"/>
            <a:r>
              <a:rPr lang="en-US" altLang="zh-CN">
                <a:ea typeface="宋体" panose="02010600030101010101" pitchFamily="2" charset="-122"/>
              </a:rPr>
              <a:t>A MUX to select the results.</a:t>
            </a:r>
            <a:endParaRPr lang="en-US" altLang="zh-CN">
              <a:ea typeface="宋体" panose="02010600030101010101" pitchFamily="2" charset="-122"/>
            </a:endParaRPr>
          </a:p>
          <a:p>
            <a:pPr lvl="0"/>
            <a:r>
              <a:rPr lang="en-US" altLang="zh-CN">
                <a:ea typeface="宋体" panose="02010600030101010101" pitchFamily="2" charset="-122"/>
              </a:rPr>
              <a:t>And finally, an ALU to do various arithmetic and logic operation.</a:t>
            </a:r>
            <a:endParaRPr lang="en-US" altLang="zh-CN">
              <a:ea typeface="宋体" panose="02010600030101010101" pitchFamily="2" charset="-122"/>
            </a:endParaRPr>
          </a:p>
          <a:p>
            <a:pPr lvl="0"/>
            <a:endParaRPr lang="en-US" altLang="zh-CN">
              <a:ea typeface="宋体" panose="02010600030101010101" pitchFamily="2" charset="-122"/>
            </a:endParaRPr>
          </a:p>
          <a:p>
            <a:pPr lvl="0"/>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+1 = 30 min. (Y:10)</a:t>
            </a:r>
            <a:endParaRPr lang="en-US" altLang="zh-CN">
              <a:ea typeface="宋体" panose="02010600030101010101" pitchFamily="2" charset="-122"/>
            </a:endParaRPr>
          </a:p>
        </p:txBody>
      </p:sp>
      <p:sp>
        <p:nvSpPr>
          <p:cNvPr id="24578" name="幻灯片图像占位符 188418"/>
          <p:cNvSpPr>
            <a:spLocks noTextEdit="1"/>
          </p:cNvSpPr>
          <p:nvPr>
            <p:ph type="sldImg"/>
          </p:nvPr>
        </p:nvSpPr>
        <p:spPr>
          <a:xfrm>
            <a:off x="1427163" y="644525"/>
            <a:ext cx="4259262" cy="3194050"/>
          </a:xfr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文本占位符 303105"/>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Remember, we will be using a clocking methodology where all storage elements are clocked by the same clock edge.</a:t>
            </a:r>
            <a:endParaRPr lang="en-US" altLang="zh-CN">
              <a:ea typeface="宋体" panose="02010600030101010101" pitchFamily="2" charset="-122"/>
            </a:endParaRPr>
          </a:p>
          <a:p>
            <a:pPr lvl="0"/>
            <a:r>
              <a:rPr lang="en-US" altLang="zh-CN">
                <a:ea typeface="宋体" panose="02010600030101010101" pitchFamily="2" charset="-122"/>
              </a:rPr>
              <a:t>Consequently, our cycle time will be the sum of:</a:t>
            </a:r>
            <a:endParaRPr lang="en-US" altLang="zh-CN">
              <a:ea typeface="宋体" panose="02010600030101010101" pitchFamily="2" charset="-122"/>
            </a:endParaRPr>
          </a:p>
          <a:p>
            <a:pPr lvl="0"/>
            <a:r>
              <a:rPr lang="en-US" altLang="zh-CN">
                <a:ea typeface="宋体" panose="02010600030101010101" pitchFamily="2" charset="-122"/>
              </a:rPr>
              <a:t>(a) The Clock-to-Q ( or latch propagation) time of the input registers.</a:t>
            </a:r>
            <a:endParaRPr lang="en-US" altLang="zh-CN">
              <a:ea typeface="宋体" panose="02010600030101010101" pitchFamily="2" charset="-122"/>
            </a:endParaRPr>
          </a:p>
          <a:p>
            <a:pPr lvl="0"/>
            <a:r>
              <a:rPr lang="en-US" altLang="zh-CN">
                <a:ea typeface="宋体" panose="02010600030101010101" pitchFamily="2" charset="-122"/>
              </a:rPr>
              <a:t>(b) The longest delay path through the combinational logic block.</a:t>
            </a:r>
            <a:endParaRPr lang="en-US" altLang="zh-CN">
              <a:ea typeface="宋体" panose="02010600030101010101" pitchFamily="2" charset="-122"/>
            </a:endParaRPr>
          </a:p>
          <a:p>
            <a:pPr lvl="0"/>
            <a:r>
              <a:rPr lang="en-US" altLang="zh-CN">
                <a:ea typeface="宋体" panose="02010600030101010101" pitchFamily="2" charset="-122"/>
              </a:rPr>
              <a:t>(c)  The set up time of the output register.</a:t>
            </a:r>
            <a:endParaRPr lang="en-US" altLang="zh-CN">
              <a:ea typeface="宋体" panose="02010600030101010101" pitchFamily="2" charset="-122"/>
            </a:endParaRPr>
          </a:p>
          <a:p>
            <a:pPr lvl="0"/>
            <a:r>
              <a:rPr lang="en-US" altLang="zh-CN">
                <a:ea typeface="宋体" panose="02010600030101010101" pitchFamily="2" charset="-122"/>
              </a:rPr>
              <a:t>(d) And finally the clock skew.</a:t>
            </a:r>
            <a:endParaRPr lang="en-US" altLang="zh-CN">
              <a:ea typeface="宋体" panose="02010600030101010101" pitchFamily="2" charset="-122"/>
            </a:endParaRPr>
          </a:p>
          <a:p>
            <a:pPr lvl="0"/>
            <a:r>
              <a:rPr lang="en-US" altLang="zh-CN">
                <a:ea typeface="宋体" panose="02010600030101010101" pitchFamily="2" charset="-122"/>
              </a:rPr>
              <a:t>In order to avoid hold time violation, you have to make sure this inequality is fulfilled.</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18 min. (X:58)</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b="1">
                <a:ea typeface="宋体" panose="02010600030101010101" pitchFamily="2" charset="-122"/>
              </a:rPr>
              <a:t>Complements:</a:t>
            </a:r>
            <a:endParaRPr lang="en-US" altLang="zh-CN" b="1">
              <a:ea typeface="宋体" panose="02010600030101010101" pitchFamily="2" charset="-122"/>
            </a:endParaRPr>
          </a:p>
          <a:p>
            <a:pPr lvl="0"/>
            <a:r>
              <a:rPr lang="en-US" altLang="zh-CN" b="1">
                <a:ea typeface="宋体" panose="02010600030101010101" pitchFamily="2" charset="-122"/>
              </a:rPr>
              <a:t>Why use edge-</a:t>
            </a:r>
            <a:r>
              <a:rPr lang="en-US" altLang="zh-CN" b="1" dirty="0" err="1">
                <a:ea typeface="宋体" panose="02010600030101010101" pitchFamily="2" charset="-122"/>
              </a:rPr>
              <a:t>triggerd</a:t>
            </a:r>
            <a:r>
              <a:rPr lang="en-US" altLang="zh-CN" b="1">
                <a:ea typeface="宋体" panose="02010600030101010101" pitchFamily="2" charset="-122"/>
              </a:rPr>
              <a:t> clocking methodology? simpler to explain in contrast to level-triggered.</a:t>
            </a:r>
            <a:endParaRPr lang="en-US" altLang="zh-CN" b="1">
              <a:ea typeface="宋体" panose="02010600030101010101" pitchFamily="2" charset="-122"/>
            </a:endParaRPr>
          </a:p>
          <a:p>
            <a:pPr lvl="0"/>
            <a:r>
              <a:rPr lang="en-US" altLang="zh-CN" b="1">
                <a:ea typeface="宋体" panose="02010600030101010101" pitchFamily="2" charset="-122"/>
              </a:rPr>
              <a:t>Clock skew: </a:t>
            </a:r>
            <a:r>
              <a:rPr lang="en-US" altLang="zh-CN">
                <a:ea typeface="宋体" panose="02010600030101010101" pitchFamily="2" charset="-122"/>
              </a:rPr>
              <a:t>difference in absolute time between the times when two state elements see a clock edge. It arises because the clock signal often follows different paths, with slightly delays, to reach two different state elements. Clock skew may cause a forward race of new inputs to the next flip-flop, leading to incorrect operation. (see Fig.B.31 at page B-41).</a:t>
            </a:r>
            <a:endParaRPr lang="en-US" altLang="zh-CN">
              <a:ea typeface="宋体" panose="02010600030101010101" pitchFamily="2" charset="-122"/>
            </a:endParaRPr>
          </a:p>
          <a:p>
            <a:pPr lvl="0"/>
            <a:r>
              <a:rPr lang="en-US" altLang="zh-CN" b="1">
                <a:ea typeface="宋体" panose="02010600030101010101" pitchFamily="2" charset="-122"/>
              </a:rPr>
              <a:t>Clock-to-</a:t>
            </a:r>
            <a:r>
              <a:rPr lang="en-US" altLang="zh-CN" b="1" dirty="0" err="1">
                <a:ea typeface="宋体" panose="02010600030101010101" pitchFamily="2" charset="-122"/>
              </a:rPr>
              <a:t>Q(or</a:t>
            </a:r>
            <a:r>
              <a:rPr lang="en-US" altLang="zh-CN" b="1">
                <a:ea typeface="宋体" panose="02010600030101010101" pitchFamily="2" charset="-122"/>
              </a:rPr>
              <a:t> latch propagation): </a:t>
            </a:r>
            <a:r>
              <a:rPr lang="en-US" altLang="zh-CN">
                <a:ea typeface="宋体" panose="02010600030101010101" pitchFamily="2" charset="-122"/>
              </a:rPr>
              <a:t>the propagation time of signal through a flip-flop from clock to the output Q. That is why it is called clock to Q time.</a:t>
            </a:r>
            <a:endParaRPr lang="en-US" altLang="zh-CN">
              <a:ea typeface="宋体" panose="02010600030101010101" pitchFamily="2" charset="-122"/>
            </a:endParaRPr>
          </a:p>
          <a:p>
            <a:pPr lvl="0"/>
            <a:r>
              <a:rPr lang="en-US" altLang="zh-CN" b="1">
                <a:ea typeface="宋体" panose="02010600030101010101" pitchFamily="2" charset="-122"/>
              </a:rPr>
              <a:t>Setup time/hold time of flip-flop:</a:t>
            </a:r>
            <a:r>
              <a:rPr lang="en-US" altLang="zh-CN">
                <a:ea typeface="宋体" panose="02010600030101010101" pitchFamily="2" charset="-122"/>
              </a:rPr>
              <a:t> the minimum time during which the input must be valid( or stable) before/after the clock </a:t>
            </a:r>
            <a:r>
              <a:rPr lang="en-US" altLang="zh-CN" dirty="0" err="1">
                <a:ea typeface="宋体" panose="02010600030101010101" pitchFamily="2" charset="-122"/>
              </a:rPr>
              <a:t>edge.(page</a:t>
            </a:r>
            <a:r>
              <a:rPr lang="en-US" altLang="zh-CN">
                <a:ea typeface="宋体" panose="02010600030101010101" pitchFamily="2" charset="-122"/>
              </a:rPr>
              <a:t> B-24)</a:t>
            </a:r>
            <a:endParaRPr lang="en-US" altLang="zh-CN">
              <a:ea typeface="宋体" panose="02010600030101010101" pitchFamily="2" charset="-122"/>
            </a:endParaRPr>
          </a:p>
          <a:p>
            <a:pPr lvl="0"/>
            <a:r>
              <a:rPr lang="en-US" altLang="zh-CN" b="1">
                <a:ea typeface="宋体" panose="02010600030101010101" pitchFamily="2" charset="-122"/>
              </a:rPr>
              <a:t>(Latch Prop + Shortest Delay Path - Clock Skew)  &gt;  Hold Time  </a:t>
            </a:r>
            <a:r>
              <a:rPr lang="en-US" altLang="zh-CN">
                <a:ea typeface="宋体" panose="02010600030101010101" pitchFamily="2" charset="-122"/>
              </a:rPr>
              <a:t>: this might be difficult to explain, but otherwise it will cause the race problem as shown in Fig.B.31. </a:t>
            </a:r>
            <a:endParaRPr lang="en-US" altLang="zh-CN">
              <a:ea typeface="宋体" panose="02010600030101010101" pitchFamily="2" charset="-122"/>
            </a:endParaRPr>
          </a:p>
        </p:txBody>
      </p:sp>
      <p:sp>
        <p:nvSpPr>
          <p:cNvPr id="29698" name="幻灯片图像占位符 303106"/>
          <p:cNvSpPr>
            <a:spLocks noTextEdit="1"/>
          </p:cNvSpPr>
          <p:nvPr>
            <p:ph type="sldImg"/>
          </p:nvPr>
        </p:nvSpPr>
        <p:spPr>
          <a:xfrm>
            <a:off x="1427163" y="644525"/>
            <a:ext cx="4259262" cy="3194050"/>
          </a:xfr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文本占位符 190465"/>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As far as storage elements are concerned, we will need a N-bit register that is similar to the D flip-flop I showed you in class.</a:t>
            </a:r>
            <a:endParaRPr lang="en-US" altLang="zh-CN">
              <a:ea typeface="宋体" panose="02010600030101010101" pitchFamily="2" charset="-122"/>
            </a:endParaRPr>
          </a:p>
          <a:p>
            <a:pPr lvl="0"/>
            <a:r>
              <a:rPr lang="en-US" altLang="zh-CN">
                <a:ea typeface="宋体" panose="02010600030101010101" pitchFamily="2" charset="-122"/>
              </a:rPr>
              <a:t>The significant difference here is that the register will have a Write Enable input.</a:t>
            </a:r>
            <a:endParaRPr lang="en-US" altLang="zh-CN">
              <a:ea typeface="宋体" panose="02010600030101010101" pitchFamily="2" charset="-122"/>
            </a:endParaRPr>
          </a:p>
          <a:p>
            <a:pPr lvl="0"/>
            <a:r>
              <a:rPr lang="en-US" altLang="zh-CN">
                <a:ea typeface="宋体" panose="02010600030101010101" pitchFamily="2" charset="-122"/>
              </a:rPr>
              <a:t>That is the content of the register will NOT  be updated if Write Enable is zero.</a:t>
            </a:r>
            <a:endParaRPr lang="en-US" altLang="zh-CN">
              <a:ea typeface="宋体" panose="02010600030101010101" pitchFamily="2" charset="-122"/>
            </a:endParaRPr>
          </a:p>
          <a:p>
            <a:pPr lvl="0"/>
            <a:r>
              <a:rPr lang="en-US" altLang="zh-CN">
                <a:ea typeface="宋体" panose="02010600030101010101" pitchFamily="2" charset="-122"/>
              </a:rPr>
              <a:t>The content is updated at the clock tick ONLY if the Write Enable signal is set to 1.</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+1 = 31 min. (Y:11)</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b="1">
                <a:ea typeface="宋体" panose="02010600030101010101" pitchFamily="2" charset="-122"/>
              </a:rPr>
              <a:t>Complement:</a:t>
            </a:r>
            <a:endParaRPr lang="en-US" altLang="zh-CN" b="1">
              <a:ea typeface="宋体" panose="02010600030101010101" pitchFamily="2" charset="-122"/>
            </a:endParaRPr>
          </a:p>
          <a:p>
            <a:pPr lvl="0"/>
            <a:r>
              <a:rPr lang="en-US" altLang="zh-CN">
                <a:ea typeface="宋体" panose="02010600030101010101" pitchFamily="2" charset="-122"/>
              </a:rPr>
              <a:t>To know more detailed diagram for a register, see page B22-B25.</a:t>
            </a:r>
            <a:endParaRPr lang="en-US" altLang="zh-CN">
              <a:ea typeface="宋体" panose="02010600030101010101" pitchFamily="2" charset="-122"/>
            </a:endParaRPr>
          </a:p>
        </p:txBody>
      </p:sp>
      <p:sp>
        <p:nvSpPr>
          <p:cNvPr id="31746" name="幻灯片图像占位符 190466"/>
          <p:cNvSpPr>
            <a:spLocks noTextEdit="1"/>
          </p:cNvSpPr>
          <p:nvPr>
            <p:ph type="sldImg"/>
          </p:nvPr>
        </p:nvSpPr>
        <p:spPr>
          <a:xfrm>
            <a:off x="1427163" y="644525"/>
            <a:ext cx="4259262" cy="3194050"/>
          </a:xfr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文本占位符 193537"/>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The last storage element you will need for the </a:t>
            </a:r>
            <a:r>
              <a:rPr lang="en-US" altLang="zh-CN" dirty="0" err="1">
                <a:ea typeface="宋体" panose="02010600030101010101" pitchFamily="2" charset="-122"/>
              </a:rPr>
              <a:t>datapath</a:t>
            </a:r>
            <a:r>
              <a:rPr lang="en-US" altLang="zh-CN">
                <a:ea typeface="宋体" panose="02010600030101010101" pitchFamily="2" charset="-122"/>
              </a:rPr>
              <a:t> is the idealized memory to store your data and instructions.</a:t>
            </a:r>
            <a:endParaRPr lang="en-US" altLang="zh-CN">
              <a:ea typeface="宋体" panose="02010600030101010101" pitchFamily="2" charset="-122"/>
            </a:endParaRPr>
          </a:p>
          <a:p>
            <a:pPr lvl="0"/>
            <a:r>
              <a:rPr lang="en-US" altLang="zh-CN">
                <a:ea typeface="宋体" panose="02010600030101010101" pitchFamily="2" charset="-122"/>
              </a:rPr>
              <a:t>This idealized memory block has just one input bus (</a:t>
            </a:r>
            <a:r>
              <a:rPr lang="en-US" altLang="zh-CN" dirty="0" err="1">
                <a:ea typeface="宋体" panose="02010600030101010101" pitchFamily="2" charset="-122"/>
              </a:rPr>
              <a:t>DataIn</a:t>
            </a:r>
            <a:r>
              <a:rPr lang="en-US" altLang="zh-CN">
                <a:ea typeface="宋体" panose="02010600030101010101" pitchFamily="2" charset="-122"/>
              </a:rPr>
              <a:t>) and one output bus (</a:t>
            </a:r>
            <a:r>
              <a:rPr lang="en-US" altLang="zh-CN" dirty="0" err="1">
                <a:ea typeface="宋体" panose="02010600030101010101" pitchFamily="2" charset="-122"/>
              </a:rPr>
              <a:t>DataOut</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When Write Enable is 0, the address selects the memory word to put on the Data Out bus.</a:t>
            </a:r>
            <a:endParaRPr lang="en-US" altLang="zh-CN">
              <a:ea typeface="宋体" panose="02010600030101010101" pitchFamily="2" charset="-122"/>
            </a:endParaRPr>
          </a:p>
          <a:p>
            <a:pPr lvl="0"/>
            <a:r>
              <a:rPr lang="en-US" altLang="zh-CN">
                <a:ea typeface="宋体" panose="02010600030101010101" pitchFamily="2" charset="-122"/>
              </a:rPr>
              <a:t>When Write Enable is 1, the address selects the memory word to be written via the </a:t>
            </a:r>
            <a:r>
              <a:rPr lang="en-US" altLang="zh-CN" dirty="0" err="1">
                <a:ea typeface="宋体" panose="02010600030101010101" pitchFamily="2" charset="-122"/>
              </a:rPr>
              <a:t>DataIn</a:t>
            </a:r>
            <a:r>
              <a:rPr lang="en-US" altLang="zh-CN">
                <a:ea typeface="宋体" panose="02010600030101010101" pitchFamily="2" charset="-122"/>
              </a:rPr>
              <a:t> bus at the next clock tick.</a:t>
            </a:r>
            <a:endParaRPr lang="en-US" altLang="zh-CN">
              <a:ea typeface="宋体" panose="02010600030101010101" pitchFamily="2" charset="-122"/>
            </a:endParaRPr>
          </a:p>
          <a:p>
            <a:pPr lvl="0"/>
            <a:r>
              <a:rPr lang="en-US" altLang="zh-CN">
                <a:ea typeface="宋体" panose="02010600030101010101" pitchFamily="2" charset="-122"/>
              </a:rPr>
              <a:t>Once again, the clock input is a factor ONLY during the write operation.</a:t>
            </a:r>
            <a:endParaRPr lang="en-US" altLang="zh-CN">
              <a:ea typeface="宋体" panose="02010600030101010101" pitchFamily="2" charset="-122"/>
            </a:endParaRPr>
          </a:p>
          <a:p>
            <a:pPr lvl="0"/>
            <a:r>
              <a:rPr lang="en-US" altLang="zh-CN">
                <a:ea typeface="宋体" panose="02010600030101010101" pitchFamily="2" charset="-122"/>
              </a:rPr>
              <a:t>During read operation, it behaves as a combinational logic block.</a:t>
            </a:r>
            <a:endParaRPr lang="en-US" altLang="zh-CN">
              <a:ea typeface="宋体" panose="02010600030101010101" pitchFamily="2" charset="-122"/>
            </a:endParaRPr>
          </a:p>
          <a:p>
            <a:pPr lvl="0"/>
            <a:r>
              <a:rPr lang="en-US" altLang="zh-CN">
                <a:ea typeface="宋体" panose="02010600030101010101" pitchFamily="2" charset="-122"/>
              </a:rPr>
              <a:t>That is if you put a valid value on the address lines, the output bus </a:t>
            </a:r>
            <a:r>
              <a:rPr lang="en-US" altLang="zh-CN" dirty="0" err="1">
                <a:ea typeface="宋体" panose="02010600030101010101" pitchFamily="2" charset="-122"/>
              </a:rPr>
              <a:t>DataOut</a:t>
            </a:r>
            <a:r>
              <a:rPr lang="en-US" altLang="zh-CN">
                <a:ea typeface="宋体" panose="02010600030101010101" pitchFamily="2" charset="-122"/>
              </a:rPr>
              <a:t> will become valid after the access time of the memory.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35 min. (Y:15)</a:t>
            </a:r>
            <a:endParaRPr lang="en-US" altLang="zh-CN">
              <a:ea typeface="宋体" panose="02010600030101010101" pitchFamily="2" charset="-122"/>
            </a:endParaRPr>
          </a:p>
        </p:txBody>
      </p:sp>
      <p:sp>
        <p:nvSpPr>
          <p:cNvPr id="34818" name="幻灯片图像占位符 193538"/>
          <p:cNvSpPr>
            <a:spLocks noTextEdit="1"/>
          </p:cNvSpPr>
          <p:nvPr>
            <p:ph type="sldImg"/>
          </p:nvPr>
        </p:nvSpPr>
        <p:spPr>
          <a:xfrm>
            <a:off x="1427163" y="644525"/>
            <a:ext cx="4259262" cy="3194050"/>
          </a:xfr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占位符 473089"/>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today’s lecture, I will show you how to implement the following subset of MIPS instructions: add, subtract, or immediate, load, store, branch, and the jump instruction.</a:t>
            </a:r>
            <a:endParaRPr lang="en-US" altLang="zh-CN">
              <a:ea typeface="宋体" panose="02010600030101010101" pitchFamily="2" charset="-122"/>
            </a:endParaRPr>
          </a:p>
          <a:p>
            <a:pPr lvl="0"/>
            <a:r>
              <a:rPr lang="en-US" altLang="zh-CN">
                <a:ea typeface="宋体" panose="02010600030101010101" pitchFamily="2" charset="-122"/>
              </a:rPr>
              <a:t>The Add and Subtract instructions use the R format.  The Op together with the </a:t>
            </a:r>
            <a:r>
              <a:rPr lang="en-US" altLang="zh-CN" dirty="0" err="1">
                <a:ea typeface="宋体" panose="02010600030101010101" pitchFamily="2" charset="-122"/>
              </a:rPr>
              <a:t>Func</a:t>
            </a:r>
            <a:r>
              <a:rPr lang="en-US" altLang="zh-CN">
                <a:ea typeface="宋体" panose="02010600030101010101" pitchFamily="2" charset="-122"/>
              </a:rPr>
              <a:t> fields together specified all the different kinds of add and subtract instructions.</a:t>
            </a:r>
            <a:endParaRPr lang="en-US" altLang="zh-CN">
              <a:ea typeface="宋体" panose="02010600030101010101" pitchFamily="2" charset="-122"/>
            </a:endParaRPr>
          </a:p>
          <a:p>
            <a:pPr lvl="0"/>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specifies the source registers.  And the Rd field specifies the destination register.</a:t>
            </a:r>
            <a:endParaRPr lang="en-US" altLang="zh-CN">
              <a:ea typeface="宋体" panose="02010600030101010101" pitchFamily="2" charset="-122"/>
            </a:endParaRPr>
          </a:p>
          <a:p>
            <a:pPr lvl="0"/>
            <a:r>
              <a:rPr lang="en-US" altLang="zh-CN">
                <a:ea typeface="宋体" panose="02010600030101010101" pitchFamily="2" charset="-122"/>
              </a:rPr>
              <a:t>The Or immediate instruction uses the I format.  It only uses one source register, </a:t>
            </a:r>
            <a:r>
              <a:rPr lang="en-US" altLang="zh-CN" dirty="0" err="1">
                <a:ea typeface="宋体" panose="02010600030101010101" pitchFamily="2" charset="-122"/>
              </a:rPr>
              <a:t>Rs</a:t>
            </a:r>
            <a:r>
              <a:rPr lang="en-US" altLang="zh-CN">
                <a:ea typeface="宋体" panose="02010600030101010101" pitchFamily="2" charset="-122"/>
              </a:rPr>
              <a:t>.  The other operand comes from the immediate field. The </a:t>
            </a:r>
            <a:r>
              <a:rPr lang="en-US" altLang="zh-CN" dirty="0" err="1">
                <a:ea typeface="宋体" panose="02010600030101010101" pitchFamily="2" charset="-122"/>
              </a:rPr>
              <a:t>Rt</a:t>
            </a:r>
            <a:r>
              <a:rPr lang="en-US" altLang="zh-CN">
                <a:ea typeface="宋体" panose="02010600030101010101" pitchFamily="2" charset="-122"/>
              </a:rPr>
              <a:t> field is used to specified the destination register.</a:t>
            </a:r>
            <a:endParaRPr lang="en-US" altLang="zh-CN">
              <a:ea typeface="宋体" panose="02010600030101010101" pitchFamily="2" charset="-122"/>
            </a:endParaRPr>
          </a:p>
          <a:p>
            <a:pPr lvl="0"/>
            <a:r>
              <a:rPr lang="en-US" altLang="zh-CN">
                <a:ea typeface="宋体" panose="02010600030101010101" pitchFamily="2" charset="-122"/>
              </a:rPr>
              <a:t>Both the load and store instructions use the I format and both add the </a:t>
            </a:r>
            <a:r>
              <a:rPr lang="en-US" altLang="zh-CN" dirty="0" err="1">
                <a:ea typeface="宋体" panose="02010600030101010101" pitchFamily="2" charset="-122"/>
              </a:rPr>
              <a:t>Rs</a:t>
            </a:r>
            <a:r>
              <a:rPr lang="en-US" altLang="zh-CN">
                <a:ea typeface="宋体" panose="02010600030101010101" pitchFamily="2" charset="-122"/>
              </a:rPr>
              <a:t> and the immediate filed together to form the memory address.</a:t>
            </a:r>
            <a:endParaRPr lang="en-US" altLang="zh-CN">
              <a:ea typeface="宋体" panose="02010600030101010101" pitchFamily="2" charset="-122"/>
            </a:endParaRPr>
          </a:p>
          <a:p>
            <a:pPr lvl="0"/>
            <a:r>
              <a:rPr lang="en-US" altLang="zh-CN">
                <a:ea typeface="宋体" panose="02010600030101010101" pitchFamily="2" charset="-122"/>
              </a:rPr>
              <a:t>The difference is that the load instruction will load the data from memory into </a:t>
            </a:r>
            <a:r>
              <a:rPr lang="en-US" altLang="zh-CN" dirty="0" err="1">
                <a:ea typeface="宋体" panose="02010600030101010101" pitchFamily="2" charset="-122"/>
              </a:rPr>
              <a:t>Rt</a:t>
            </a:r>
            <a:r>
              <a:rPr lang="en-US" altLang="zh-CN">
                <a:ea typeface="宋体" panose="02010600030101010101" pitchFamily="2" charset="-122"/>
              </a:rPr>
              <a:t> while the store instruction will store the data in </a:t>
            </a:r>
            <a:r>
              <a:rPr lang="en-US" altLang="zh-CN" dirty="0" err="1">
                <a:ea typeface="宋体" panose="02010600030101010101" pitchFamily="2" charset="-122"/>
              </a:rPr>
              <a:t>Rt</a:t>
            </a:r>
            <a:r>
              <a:rPr lang="en-US" altLang="zh-CN">
                <a:ea typeface="宋体" panose="02010600030101010101" pitchFamily="2" charset="-122"/>
              </a:rPr>
              <a:t> into the memory.</a:t>
            </a:r>
            <a:endParaRPr lang="en-US" altLang="zh-CN">
              <a:ea typeface="宋体" panose="02010600030101010101" pitchFamily="2" charset="-122"/>
            </a:endParaRPr>
          </a:p>
          <a:p>
            <a:pPr lvl="0"/>
            <a:r>
              <a:rPr lang="en-US" altLang="zh-CN">
                <a:ea typeface="宋体" panose="02010600030101010101" pitchFamily="2" charset="-122"/>
              </a:rPr>
              <a:t>The branch on equal instruction also uses the I format.  Here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are used to specify the registers we need to compare.</a:t>
            </a:r>
            <a:endParaRPr lang="en-US" altLang="zh-CN">
              <a:ea typeface="宋体" panose="02010600030101010101" pitchFamily="2" charset="-122"/>
            </a:endParaRPr>
          </a:p>
          <a:p>
            <a:pPr lvl="0"/>
            <a:r>
              <a:rPr lang="en-US" altLang="zh-CN">
                <a:ea typeface="宋体" panose="02010600030101010101" pitchFamily="2" charset="-122"/>
              </a:rPr>
              <a:t>If these two registers are equal, we will branch to a location specified by the immediate field.</a:t>
            </a:r>
            <a:endParaRPr lang="en-US" altLang="zh-CN">
              <a:ea typeface="宋体" panose="02010600030101010101" pitchFamily="2" charset="-122"/>
            </a:endParaRPr>
          </a:p>
          <a:p>
            <a:pPr lvl="0"/>
            <a:r>
              <a:rPr lang="en-US" altLang="zh-CN">
                <a:ea typeface="宋体" panose="02010600030101010101" pitchFamily="2" charset="-122"/>
              </a:rPr>
              <a:t>Finally, the jump instruction uses the J format and always causes the program to jump to a memory location specified in the address field. </a:t>
            </a:r>
            <a:endParaRPr lang="en-US" altLang="zh-CN">
              <a:ea typeface="宋体" panose="02010600030101010101" pitchFamily="2" charset="-122"/>
            </a:endParaRPr>
          </a:p>
          <a:p>
            <a:pPr lvl="0"/>
            <a:r>
              <a:rPr lang="en-US" altLang="zh-CN">
                <a:ea typeface="宋体" panose="02010600030101010101" pitchFamily="2" charset="-122"/>
              </a:rPr>
              <a:t>I know I went over this rather quickly and you may have missed something.  But don’t worry, this is just an overview.  You will keep seeing these (point to the format) all day today.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13 min. (X:53)</a:t>
            </a:r>
            <a:endParaRPr lang="en-US" altLang="zh-CN">
              <a:ea typeface="宋体" panose="02010600030101010101" pitchFamily="2" charset="-122"/>
            </a:endParaRPr>
          </a:p>
        </p:txBody>
      </p:sp>
      <p:sp>
        <p:nvSpPr>
          <p:cNvPr id="39938" name="幻灯片图像占位符 473090"/>
          <p:cNvSpPr>
            <a:spLocks noTextEdit="1"/>
          </p:cNvSpPr>
          <p:nvPr>
            <p:ph type="sldImg"/>
          </p:nvPr>
        </p:nvSpPr>
        <p:spPr>
          <a:xfrm>
            <a:off x="1427163" y="644525"/>
            <a:ext cx="4259262" cy="3194050"/>
          </a:xfr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占位符 182273"/>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So let’s design a processor.  How and where do we start?</a:t>
            </a:r>
            <a:endParaRPr lang="en-US" altLang="zh-CN">
              <a:ea typeface="宋体" panose="02010600030101010101" pitchFamily="2" charset="-122"/>
            </a:endParaRPr>
          </a:p>
          <a:p>
            <a:pPr lvl="0"/>
            <a:r>
              <a:rPr lang="en-US" altLang="zh-CN">
                <a:ea typeface="宋体" panose="02010600030101010101" pitchFamily="2" charset="-122"/>
              </a:rPr>
              <a:t>Well, the best place to start is the processor’s instruction set architecture.  After all, the goal of your design is to execute the instructions in the instruction set correctly.</a:t>
            </a:r>
            <a:endParaRPr lang="en-US" altLang="zh-CN">
              <a:ea typeface="宋体" panose="02010600030101010101" pitchFamily="2" charset="-122"/>
            </a:endParaRPr>
          </a:p>
          <a:p>
            <a:pPr lvl="0"/>
            <a:r>
              <a:rPr lang="en-US" altLang="zh-CN">
                <a:ea typeface="宋体" panose="02010600030101010101" pitchFamily="2" charset="-122"/>
              </a:rPr>
              <a:t>What you need to do is to describe each instruction’s operation in register transfer language.</a:t>
            </a:r>
            <a:endParaRPr lang="en-US" altLang="zh-CN">
              <a:ea typeface="宋体" panose="02010600030101010101" pitchFamily="2" charset="-122"/>
            </a:endParaRPr>
          </a:p>
          <a:p>
            <a:pPr lvl="0"/>
            <a:r>
              <a:rPr lang="en-US" altLang="zh-CN">
                <a:ea typeface="宋体" panose="02010600030101010101" pitchFamily="2" charset="-122"/>
              </a:rPr>
              <a:t>By looking at the Register Transfer Language description of the instruction, you can figure out the </a:t>
            </a:r>
            <a:r>
              <a:rPr lang="en-US" altLang="zh-CN" dirty="0" err="1">
                <a:ea typeface="宋体" panose="02010600030101010101" pitchFamily="2" charset="-122"/>
              </a:rPr>
              <a:t>datapath</a:t>
            </a:r>
            <a:r>
              <a:rPr lang="en-US" altLang="zh-CN">
                <a:ea typeface="宋体" panose="02010600030101010101" pitchFamily="2" charset="-122"/>
              </a:rPr>
              <a:t> components you need and how to connect these components together.</a:t>
            </a:r>
            <a:endParaRPr lang="en-US" altLang="zh-CN">
              <a:ea typeface="宋体" panose="02010600030101010101" pitchFamily="2" charset="-122"/>
            </a:endParaRPr>
          </a:p>
          <a:p>
            <a:pPr lvl="0"/>
            <a:r>
              <a:rPr lang="en-US" altLang="zh-CN">
                <a:ea typeface="宋体" panose="02010600030101010101" pitchFamily="2" charset="-122"/>
              </a:rPr>
              <a:t>As I will show you, each </a:t>
            </a:r>
            <a:r>
              <a:rPr lang="en-US" altLang="zh-CN" dirty="0" err="1">
                <a:ea typeface="宋体" panose="02010600030101010101" pitchFamily="2" charset="-122"/>
              </a:rPr>
              <a:t>datapath</a:t>
            </a:r>
            <a:r>
              <a:rPr lang="en-US" altLang="zh-CN">
                <a:ea typeface="宋体" panose="02010600030101010101" pitchFamily="2" charset="-122"/>
              </a:rPr>
              <a:t> component will have its own set of control signals.</a:t>
            </a:r>
            <a:endParaRPr lang="en-US" altLang="zh-CN">
              <a:ea typeface="宋体" panose="02010600030101010101" pitchFamily="2" charset="-122"/>
            </a:endParaRPr>
          </a:p>
          <a:p>
            <a:pPr lvl="0"/>
            <a:r>
              <a:rPr lang="en-US" altLang="zh-CN">
                <a:ea typeface="宋体" panose="02010600030101010101" pitchFamily="2" charset="-122"/>
              </a:rPr>
              <a:t>And the last step of the processor design task  is to design the control unit that generates the control signals for the </a:t>
            </a:r>
            <a:r>
              <a:rPr lang="en-US" altLang="zh-CN" dirty="0" err="1">
                <a:ea typeface="宋体" panose="02010600030101010101" pitchFamily="2" charset="-122"/>
              </a:rPr>
              <a:t>datapath</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So what do we mean by Register Transfer Language?</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27 min. (Y:07)</a:t>
            </a:r>
            <a:endParaRPr lang="en-US" altLang="zh-CN">
              <a:ea typeface="宋体" panose="02010600030101010101" pitchFamily="2" charset="-122"/>
            </a:endParaRPr>
          </a:p>
        </p:txBody>
      </p:sp>
      <p:sp>
        <p:nvSpPr>
          <p:cNvPr id="41986" name="幻灯片图像占位符 182274"/>
          <p:cNvSpPr>
            <a:spLocks noTextEdit="1"/>
          </p:cNvSpPr>
          <p:nvPr>
            <p:ph type="sldImg"/>
          </p:nvPr>
        </p:nvSpPr>
        <p:spPr>
          <a:xfrm>
            <a:off x="1427163" y="644525"/>
            <a:ext cx="4259262" cy="3194050"/>
          </a:xfr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文本占位符 184321"/>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Here is an example.  In terms of Register Transfer Language, this is what the Add instruction need to do.</a:t>
            </a:r>
            <a:endParaRPr lang="en-US" altLang="zh-CN">
              <a:ea typeface="宋体" panose="02010600030101010101" pitchFamily="2" charset="-122"/>
            </a:endParaRPr>
          </a:p>
          <a:p>
            <a:pPr lvl="0"/>
            <a:r>
              <a:rPr lang="en-US" altLang="zh-CN">
                <a:ea typeface="宋体" panose="02010600030101010101" pitchFamily="2" charset="-122"/>
              </a:rPr>
              <a:t>First, you need to fetch the instruction from memory.</a:t>
            </a:r>
            <a:endParaRPr lang="en-US" altLang="zh-CN">
              <a:ea typeface="宋体" panose="02010600030101010101" pitchFamily="2" charset="-122"/>
            </a:endParaRPr>
          </a:p>
          <a:p>
            <a:pPr lvl="0"/>
            <a:r>
              <a:rPr lang="en-US" altLang="zh-CN">
                <a:ea typeface="宋体" panose="02010600030101010101" pitchFamily="2" charset="-122"/>
              </a:rPr>
              <a:t>Then you perform the actual add operation.</a:t>
            </a:r>
            <a:endParaRPr lang="en-US" altLang="zh-CN">
              <a:ea typeface="宋体" panose="02010600030101010101" pitchFamily="2" charset="-122"/>
            </a:endParaRPr>
          </a:p>
          <a:p>
            <a:pPr lvl="0"/>
            <a:r>
              <a:rPr lang="en-US" altLang="zh-CN">
                <a:ea typeface="宋体" panose="02010600030101010101" pitchFamily="2" charset="-122"/>
              </a:rPr>
              <a:t>And finally, you need to update the program counter to point to the next instruction.</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+1 = 28 min. (Y:08)</a:t>
            </a:r>
            <a:endParaRPr lang="en-US" altLang="zh-CN">
              <a:ea typeface="宋体" panose="02010600030101010101" pitchFamily="2" charset="-122"/>
            </a:endParaRPr>
          </a:p>
        </p:txBody>
      </p:sp>
      <p:sp>
        <p:nvSpPr>
          <p:cNvPr id="44034" name="幻灯片图像占位符 184322"/>
          <p:cNvSpPr>
            <a:spLocks noTextEdit="1"/>
          </p:cNvSpPr>
          <p:nvPr>
            <p:ph type="sldImg"/>
          </p:nvPr>
        </p:nvSpPr>
        <p:spPr>
          <a:xfrm>
            <a:off x="1427163" y="644525"/>
            <a:ext cx="4259262" cy="3194050"/>
          </a:xfr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文本占位符 186369"/>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Here is another example.</a:t>
            </a:r>
            <a:endParaRPr lang="en-US" altLang="zh-CN">
              <a:ea typeface="宋体" panose="02010600030101010101" pitchFamily="2" charset="-122"/>
            </a:endParaRPr>
          </a:p>
          <a:p>
            <a:pPr lvl="0"/>
            <a:r>
              <a:rPr lang="en-US" altLang="zh-CN">
                <a:ea typeface="宋体" panose="02010600030101010101" pitchFamily="2" charset="-122"/>
              </a:rPr>
              <a:t>The load instruction also starts off by fetching the instruction from Instruction Memory.</a:t>
            </a:r>
            <a:endParaRPr lang="en-US" altLang="zh-CN">
              <a:ea typeface="宋体" panose="02010600030101010101" pitchFamily="2" charset="-122"/>
            </a:endParaRPr>
          </a:p>
          <a:p>
            <a:pPr lvl="0"/>
            <a:r>
              <a:rPr lang="en-US" altLang="zh-CN">
                <a:ea typeface="宋体" panose="02010600030101010101" pitchFamily="2" charset="-122"/>
              </a:rPr>
              <a:t>Then you calculate the memory address, use the address to fetch the data from memory (</a:t>
            </a:r>
            <a:r>
              <a:rPr lang="en-US" altLang="zh-CN" dirty="0" err="1">
                <a:ea typeface="宋体" panose="02010600030101010101" pitchFamily="2" charset="-122"/>
              </a:rPr>
              <a:t>Mem(Addr</a:t>
            </a:r>
            <a:r>
              <a:rPr lang="en-US" altLang="zh-CN">
                <a:ea typeface="宋体" panose="02010600030101010101" pitchFamily="2" charset="-122"/>
              </a:rPr>
              <a:t>)), and then load the data into the register.</a:t>
            </a:r>
            <a:endParaRPr lang="en-US" altLang="zh-CN">
              <a:ea typeface="宋体" panose="02010600030101010101" pitchFamily="2" charset="-122"/>
            </a:endParaRPr>
          </a:p>
          <a:p>
            <a:pPr lvl="0"/>
            <a:r>
              <a:rPr lang="en-US" altLang="zh-CN">
                <a:ea typeface="宋体" panose="02010600030101010101" pitchFamily="2" charset="-122"/>
              </a:rPr>
              <a:t>Finally, you need to update the PC to point to the next sequential instruction.</a:t>
            </a:r>
            <a:endParaRPr lang="en-US" altLang="zh-CN">
              <a:ea typeface="宋体" panose="02010600030101010101" pitchFamily="2" charset="-122"/>
            </a:endParaRPr>
          </a:p>
          <a:p>
            <a:pPr lvl="0"/>
            <a:r>
              <a:rPr lang="en-US" altLang="zh-CN">
                <a:ea typeface="宋体" panose="02010600030101010101" pitchFamily="2" charset="-122"/>
              </a:rPr>
              <a:t> </a:t>
            </a:r>
            <a:endParaRPr lang="en-US" altLang="zh-CN">
              <a:ea typeface="宋体" panose="02010600030101010101" pitchFamily="2" charset="-122"/>
            </a:endParaRPr>
          </a:p>
          <a:p>
            <a:pPr lvl="0"/>
            <a:r>
              <a:rPr lang="en-US" altLang="zh-CN">
                <a:ea typeface="宋体" panose="02010600030101010101" pitchFamily="2" charset="-122"/>
              </a:rPr>
              <a:t>+1 = 29 min (Y:09)</a:t>
            </a:r>
            <a:endParaRPr lang="en-US" altLang="zh-CN">
              <a:ea typeface="宋体" panose="02010600030101010101" pitchFamily="2" charset="-122"/>
            </a:endParaRPr>
          </a:p>
        </p:txBody>
      </p:sp>
      <p:sp>
        <p:nvSpPr>
          <p:cNvPr id="46082" name="幻灯片图像占位符 186370"/>
          <p:cNvSpPr>
            <a:spLocks noTextEdit="1"/>
          </p:cNvSpPr>
          <p:nvPr>
            <p:ph type="sldImg"/>
          </p:nvPr>
        </p:nvSpPr>
        <p:spPr>
          <a:xfrm>
            <a:off x="1427163" y="644525"/>
            <a:ext cx="4259262" cy="3194050"/>
          </a:xfr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文本占位符 481281"/>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Now let’s take a look at the first major component of the </a:t>
            </a:r>
            <a:r>
              <a:rPr lang="en-US" altLang="zh-CN" dirty="0" err="1">
                <a:ea typeface="宋体" panose="02010600030101010101" pitchFamily="2" charset="-122"/>
              </a:rPr>
              <a:t>datapath</a:t>
            </a:r>
            <a:r>
              <a:rPr lang="en-US" altLang="zh-CN">
                <a:ea typeface="宋体" panose="02010600030101010101" pitchFamily="2" charset="-122"/>
              </a:rPr>
              <a:t>: the instruction fetch unit.</a:t>
            </a:r>
            <a:endParaRPr lang="en-US" altLang="zh-CN">
              <a:ea typeface="宋体" panose="02010600030101010101" pitchFamily="2" charset="-122"/>
            </a:endParaRPr>
          </a:p>
          <a:p>
            <a:pPr lvl="0"/>
            <a:r>
              <a:rPr lang="en-US" altLang="zh-CN">
                <a:ea typeface="宋体" panose="02010600030101010101" pitchFamily="2" charset="-122"/>
              </a:rPr>
              <a:t>The common RTL operations for all instructions are:</a:t>
            </a:r>
            <a:endParaRPr lang="en-US" altLang="zh-CN">
              <a:ea typeface="宋体" panose="02010600030101010101" pitchFamily="2" charset="-122"/>
            </a:endParaRPr>
          </a:p>
          <a:p>
            <a:pPr lvl="0"/>
            <a:r>
              <a:rPr lang="en-US" altLang="zh-CN">
                <a:ea typeface="宋体" panose="02010600030101010101" pitchFamily="2" charset="-122"/>
              </a:rPr>
              <a:t>(a) Fetch the instruction using the Program Counter (PC) at the beginning of an</a:t>
            </a:r>
            <a:endParaRPr lang="en-US" altLang="zh-CN">
              <a:ea typeface="宋体" panose="02010600030101010101" pitchFamily="2" charset="-122"/>
            </a:endParaRPr>
          </a:p>
          <a:p>
            <a:pPr lvl="0"/>
            <a:r>
              <a:rPr lang="en-US" altLang="zh-CN">
                <a:ea typeface="宋体" panose="02010600030101010101" pitchFamily="2" charset="-122"/>
              </a:rPr>
              <a:t>     instruction’s execution (PC -&gt; Instruction Memory -&gt; Instruction Word).</a:t>
            </a:r>
            <a:endParaRPr lang="en-US" altLang="zh-CN">
              <a:ea typeface="宋体" panose="02010600030101010101" pitchFamily="2" charset="-122"/>
            </a:endParaRPr>
          </a:p>
          <a:p>
            <a:pPr lvl="0"/>
            <a:r>
              <a:rPr lang="en-US" altLang="zh-CN">
                <a:ea typeface="宋体" panose="02010600030101010101" pitchFamily="2" charset="-122"/>
              </a:rPr>
              <a:t>(b) Then at the end of the instruction’s execution, you need to update the</a:t>
            </a:r>
            <a:endParaRPr lang="en-US" altLang="zh-CN">
              <a:ea typeface="宋体" panose="02010600030101010101" pitchFamily="2" charset="-122"/>
            </a:endParaRPr>
          </a:p>
          <a:p>
            <a:pPr lvl="0"/>
            <a:r>
              <a:rPr lang="en-US" altLang="zh-CN">
                <a:ea typeface="宋体" panose="02010600030101010101" pitchFamily="2" charset="-122"/>
              </a:rPr>
              <a:t>     Program Counter (PC -&gt; Next Address Logic -&gt; PC).</a:t>
            </a:r>
            <a:endParaRPr lang="en-US" altLang="zh-CN">
              <a:ea typeface="宋体" panose="02010600030101010101" pitchFamily="2" charset="-122"/>
            </a:endParaRPr>
          </a:p>
          <a:p>
            <a:pPr lvl="0"/>
            <a:r>
              <a:rPr lang="en-US" altLang="zh-CN">
                <a:ea typeface="宋体" panose="02010600030101010101" pitchFamily="2" charset="-122"/>
              </a:rPr>
              <a:t>More specifically, you need to increment the PC by 4 if you are executing sequential code.</a:t>
            </a:r>
            <a:endParaRPr lang="en-US" altLang="zh-CN">
              <a:ea typeface="宋体" panose="02010600030101010101" pitchFamily="2" charset="-122"/>
            </a:endParaRPr>
          </a:p>
          <a:p>
            <a:pPr lvl="0"/>
            <a:r>
              <a:rPr lang="en-US" altLang="zh-CN">
                <a:ea typeface="宋体" panose="02010600030101010101" pitchFamily="2" charset="-122"/>
              </a:rPr>
              <a:t>For Branch and Jump instructions, you need to update the program counter to “something else” other than plus 4.</a:t>
            </a:r>
            <a:endParaRPr lang="en-US" altLang="zh-CN">
              <a:ea typeface="宋体" panose="02010600030101010101" pitchFamily="2" charset="-122"/>
            </a:endParaRPr>
          </a:p>
          <a:p>
            <a:pPr lvl="0"/>
            <a:r>
              <a:rPr lang="en-US" altLang="zh-CN">
                <a:ea typeface="宋体" panose="02010600030101010101" pitchFamily="2" charset="-122"/>
              </a:rPr>
              <a:t>I will show you what is inside this Next Address Logic block when we talked about the Branch and Jump instructions.</a:t>
            </a:r>
            <a:endParaRPr lang="en-US" altLang="zh-CN">
              <a:ea typeface="宋体" panose="02010600030101010101" pitchFamily="2" charset="-122"/>
            </a:endParaRPr>
          </a:p>
          <a:p>
            <a:pPr lvl="0"/>
            <a:r>
              <a:rPr lang="en-US" altLang="zh-CN">
                <a:ea typeface="宋体" panose="02010600030101010101" pitchFamily="2" charset="-122"/>
              </a:rPr>
              <a:t>For now, let’s focus our attention to the Add and Subtract instructions.</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37 min. (Y:17)</a:t>
            </a:r>
            <a:endParaRPr lang="en-US" altLang="zh-CN">
              <a:ea typeface="宋体" panose="02010600030101010101" pitchFamily="2" charset="-122"/>
            </a:endParaRPr>
          </a:p>
        </p:txBody>
      </p:sp>
      <p:sp>
        <p:nvSpPr>
          <p:cNvPr id="48130" name="幻灯片图像占位符 481282"/>
          <p:cNvSpPr>
            <a:spLocks noTextEdit="1"/>
          </p:cNvSpPr>
          <p:nvPr>
            <p:ph type="sldImg"/>
          </p:nvPr>
        </p:nvSpPr>
        <p:spPr>
          <a:xfrm>
            <a:off x="1427163" y="644525"/>
            <a:ext cx="4259262" cy="3194050"/>
          </a:xfr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占位符 485377"/>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And here is the </a:t>
            </a:r>
            <a:r>
              <a:rPr lang="en-US" altLang="zh-CN" dirty="0" err="1">
                <a:ea typeface="宋体" panose="02010600030101010101" pitchFamily="2" charset="-122"/>
              </a:rPr>
              <a:t>datapath</a:t>
            </a:r>
            <a:r>
              <a:rPr lang="en-US" altLang="zh-CN">
                <a:ea typeface="宋体" panose="02010600030101010101" pitchFamily="2" charset="-122"/>
              </a:rPr>
              <a:t> that can do the trick.</a:t>
            </a:r>
            <a:endParaRPr lang="en-US" altLang="zh-CN">
              <a:ea typeface="宋体" panose="02010600030101010101" pitchFamily="2" charset="-122"/>
            </a:endParaRPr>
          </a:p>
          <a:p>
            <a:pPr lvl="0"/>
            <a:r>
              <a:rPr lang="en-US" altLang="zh-CN">
                <a:ea typeface="宋体" panose="02010600030101010101" pitchFamily="2" charset="-122"/>
              </a:rPr>
              <a:t>First of all, we connect the register file’s Ra, </a:t>
            </a:r>
            <a:r>
              <a:rPr lang="en-US" altLang="zh-CN" dirty="0" err="1">
                <a:ea typeface="宋体" panose="02010600030101010101" pitchFamily="2" charset="-122"/>
              </a:rPr>
              <a:t>Rb</a:t>
            </a:r>
            <a:r>
              <a:rPr lang="en-US" altLang="zh-CN">
                <a:ea typeface="宋体" panose="02010600030101010101" pitchFamily="2" charset="-122"/>
              </a:rPr>
              <a:t>, and </a:t>
            </a:r>
            <a:r>
              <a:rPr lang="en-US" altLang="zh-CN" dirty="0" err="1">
                <a:ea typeface="宋体" panose="02010600030101010101" pitchFamily="2" charset="-122"/>
              </a:rPr>
              <a:t>Rw</a:t>
            </a:r>
            <a:r>
              <a:rPr lang="en-US" altLang="zh-CN">
                <a:ea typeface="宋体" panose="02010600030101010101" pitchFamily="2" charset="-122"/>
              </a:rPr>
              <a:t> input to the Rd,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fields of the instruction bus (points to the format diagram).</a:t>
            </a:r>
            <a:endParaRPr lang="en-US" altLang="zh-CN">
              <a:ea typeface="宋体" panose="02010600030101010101" pitchFamily="2" charset="-122"/>
            </a:endParaRPr>
          </a:p>
          <a:p>
            <a:pPr lvl="0"/>
            <a:r>
              <a:rPr lang="en-US" altLang="zh-CN">
                <a:ea typeface="宋体" panose="02010600030101010101" pitchFamily="2" charset="-122"/>
              </a:rPr>
              <a:t>Then we need to connect  </a:t>
            </a:r>
            <a:r>
              <a:rPr lang="en-US" altLang="zh-CN" dirty="0" err="1">
                <a:ea typeface="宋体" panose="02010600030101010101" pitchFamily="2" charset="-122"/>
              </a:rPr>
              <a:t>busA</a:t>
            </a:r>
            <a:r>
              <a:rPr lang="en-US" altLang="zh-CN">
                <a:ea typeface="宋体" panose="02010600030101010101" pitchFamily="2" charset="-122"/>
              </a:rPr>
              <a:t> and </a:t>
            </a:r>
            <a:r>
              <a:rPr lang="en-US" altLang="zh-CN" dirty="0" err="1">
                <a:ea typeface="宋体" panose="02010600030101010101" pitchFamily="2" charset="-122"/>
              </a:rPr>
              <a:t>busB</a:t>
            </a:r>
            <a:r>
              <a:rPr lang="en-US" altLang="zh-CN">
                <a:ea typeface="宋体" panose="02010600030101010101" pitchFamily="2" charset="-122"/>
              </a:rPr>
              <a:t> of the register file to the ALU.</a:t>
            </a:r>
            <a:endParaRPr lang="en-US" altLang="zh-CN">
              <a:ea typeface="宋体" panose="02010600030101010101" pitchFamily="2" charset="-122"/>
            </a:endParaRPr>
          </a:p>
          <a:p>
            <a:pPr lvl="0"/>
            <a:r>
              <a:rPr lang="en-US" altLang="zh-CN">
                <a:ea typeface="宋体" panose="02010600030101010101" pitchFamily="2" charset="-122"/>
              </a:rPr>
              <a:t>Finally, we need to connect the output of the ALU to the input bus of the  register file.</a:t>
            </a:r>
            <a:endParaRPr lang="en-US" altLang="zh-CN">
              <a:ea typeface="宋体" panose="02010600030101010101" pitchFamily="2" charset="-122"/>
            </a:endParaRPr>
          </a:p>
          <a:p>
            <a:pPr lvl="0"/>
            <a:r>
              <a:rPr lang="en-US" altLang="zh-CN">
                <a:ea typeface="宋体" panose="02010600030101010101" pitchFamily="2" charset="-122"/>
              </a:rPr>
              <a:t>Conceptually, this is how it works.</a:t>
            </a:r>
            <a:endParaRPr lang="en-US" altLang="zh-CN">
              <a:ea typeface="宋体" panose="02010600030101010101" pitchFamily="2" charset="-122"/>
            </a:endParaRPr>
          </a:p>
          <a:p>
            <a:pPr lvl="0"/>
            <a:r>
              <a:rPr lang="en-US" altLang="zh-CN">
                <a:ea typeface="宋体" panose="02010600030101010101" pitchFamily="2" charset="-122"/>
              </a:rPr>
              <a:t>The instruction bus coming out of the Instruction memory will set the Ra and </a:t>
            </a:r>
            <a:r>
              <a:rPr lang="en-US" altLang="zh-CN" dirty="0" err="1">
                <a:ea typeface="宋体" panose="02010600030101010101" pitchFamily="2" charset="-122"/>
              </a:rPr>
              <a:t>Rb</a:t>
            </a:r>
            <a:r>
              <a:rPr lang="en-US" altLang="zh-CN">
                <a:ea typeface="宋体" panose="02010600030101010101" pitchFamily="2" charset="-122"/>
              </a:rPr>
              <a:t> to the register </a:t>
            </a:r>
            <a:r>
              <a:rPr lang="en-US" altLang="zh-CN" dirty="0" err="1">
                <a:ea typeface="宋体" panose="02010600030101010101" pitchFamily="2" charset="-122"/>
              </a:rPr>
              <a:t>specifiers</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and Rt.</a:t>
            </a:r>
            <a:endParaRPr lang="en-US" altLang="zh-CN">
              <a:ea typeface="宋体" panose="02010600030101010101" pitchFamily="2" charset="-122"/>
            </a:endParaRPr>
          </a:p>
          <a:p>
            <a:pPr lvl="0"/>
            <a:r>
              <a:rPr lang="en-US" altLang="zh-CN">
                <a:ea typeface="宋体" panose="02010600030101010101" pitchFamily="2" charset="-122"/>
              </a:rPr>
              <a:t>This causes the register file to put the value of register </a:t>
            </a:r>
            <a:r>
              <a:rPr lang="en-US" altLang="zh-CN" dirty="0" err="1">
                <a:ea typeface="宋体" panose="02010600030101010101" pitchFamily="2" charset="-122"/>
              </a:rPr>
              <a:t>Rs</a:t>
            </a:r>
            <a:r>
              <a:rPr lang="en-US" altLang="zh-CN">
                <a:ea typeface="宋体" panose="02010600030101010101" pitchFamily="2" charset="-122"/>
              </a:rPr>
              <a:t> onto </a:t>
            </a:r>
            <a:r>
              <a:rPr lang="en-US" altLang="zh-CN" dirty="0" err="1">
                <a:ea typeface="宋体" panose="02010600030101010101" pitchFamily="2" charset="-122"/>
              </a:rPr>
              <a:t>busA</a:t>
            </a:r>
            <a:r>
              <a:rPr lang="en-US" altLang="zh-CN">
                <a:ea typeface="宋体" panose="02010600030101010101" pitchFamily="2" charset="-122"/>
              </a:rPr>
              <a:t> and the value of register </a:t>
            </a:r>
            <a:r>
              <a:rPr lang="en-US" altLang="zh-CN" dirty="0" err="1">
                <a:ea typeface="宋体" panose="02010600030101010101" pitchFamily="2" charset="-122"/>
              </a:rPr>
              <a:t>Rt</a:t>
            </a:r>
            <a:r>
              <a:rPr lang="en-US" altLang="zh-CN">
                <a:ea typeface="宋体" panose="02010600030101010101" pitchFamily="2" charset="-122"/>
              </a:rPr>
              <a:t> onto </a:t>
            </a:r>
            <a:r>
              <a:rPr lang="en-US" altLang="zh-CN" dirty="0" err="1">
                <a:ea typeface="宋体" panose="02010600030101010101" pitchFamily="2" charset="-122"/>
              </a:rPr>
              <a:t>busB</a:t>
            </a:r>
            <a:r>
              <a:rPr lang="en-US" altLang="zh-CN">
                <a:ea typeface="宋体" panose="02010600030101010101" pitchFamily="2" charset="-122"/>
              </a:rPr>
              <a:t>, respectively.</a:t>
            </a:r>
            <a:endParaRPr lang="en-US" altLang="zh-CN">
              <a:ea typeface="宋体" panose="02010600030101010101" pitchFamily="2" charset="-122"/>
            </a:endParaRPr>
          </a:p>
          <a:p>
            <a:pPr lvl="0"/>
            <a:r>
              <a:rPr lang="en-US" altLang="zh-CN">
                <a:ea typeface="宋体" panose="02010600030101010101" pitchFamily="2" charset="-122"/>
              </a:rPr>
              <a:t>But setting the </a:t>
            </a:r>
            <a:r>
              <a:rPr lang="en-US" altLang="zh-CN" dirty="0" err="1">
                <a:ea typeface="宋体" panose="02010600030101010101" pitchFamily="2" charset="-122"/>
              </a:rPr>
              <a:t>ALUctr</a:t>
            </a:r>
            <a:r>
              <a:rPr lang="en-US" altLang="zh-CN">
                <a:ea typeface="宋体" panose="02010600030101010101" pitchFamily="2" charset="-122"/>
              </a:rPr>
              <a:t> appropriately, the ALU will perform either the Add and Subtract for us.</a:t>
            </a:r>
            <a:endParaRPr lang="en-US" altLang="zh-CN">
              <a:ea typeface="宋体" panose="02010600030101010101" pitchFamily="2" charset="-122"/>
            </a:endParaRPr>
          </a:p>
          <a:p>
            <a:pPr lvl="0"/>
            <a:r>
              <a:rPr lang="en-US" altLang="zh-CN">
                <a:ea typeface="宋体" panose="02010600030101010101" pitchFamily="2" charset="-122"/>
              </a:rPr>
              <a:t>The result is then fed back to the register file where the register </a:t>
            </a:r>
            <a:r>
              <a:rPr lang="en-US" altLang="zh-CN" dirty="0" err="1">
                <a:ea typeface="宋体" panose="02010600030101010101" pitchFamily="2" charset="-122"/>
              </a:rPr>
              <a:t>specifier</a:t>
            </a:r>
            <a:r>
              <a:rPr lang="en-US" altLang="zh-CN">
                <a:ea typeface="宋体" panose="02010600030101010101" pitchFamily="2" charset="-122"/>
              </a:rPr>
              <a:t> </a:t>
            </a:r>
            <a:r>
              <a:rPr lang="en-US" altLang="zh-CN" dirty="0" err="1">
                <a:ea typeface="宋体" panose="02010600030101010101" pitchFamily="2" charset="-122"/>
              </a:rPr>
              <a:t>Rw</a:t>
            </a:r>
            <a:r>
              <a:rPr lang="en-US" altLang="zh-CN">
                <a:ea typeface="宋体" panose="02010600030101010101" pitchFamily="2" charset="-122"/>
              </a:rPr>
              <a:t> should already be set to the instruction bus’s Rd field.</a:t>
            </a:r>
            <a:endParaRPr lang="en-US" altLang="zh-CN">
              <a:ea typeface="宋体" panose="02010600030101010101" pitchFamily="2" charset="-122"/>
            </a:endParaRPr>
          </a:p>
          <a:p>
            <a:pPr lvl="0"/>
            <a:r>
              <a:rPr lang="en-US" altLang="zh-CN">
                <a:ea typeface="宋体" panose="02010600030101010101" pitchFamily="2" charset="-122"/>
              </a:rPr>
              <a:t>Since the control, which we will design in our next lecture, should have already set the </a:t>
            </a:r>
            <a:r>
              <a:rPr lang="en-US" altLang="zh-CN" dirty="0" err="1">
                <a:ea typeface="宋体" panose="02010600030101010101" pitchFamily="2" charset="-122"/>
              </a:rPr>
              <a:t>RegWr</a:t>
            </a:r>
            <a:r>
              <a:rPr lang="en-US" altLang="zh-CN">
                <a:ea typeface="宋体" panose="02010600030101010101" pitchFamily="2" charset="-122"/>
              </a:rPr>
              <a:t> signal to 1, the result will be written back to the register file at the next clock tick (points to the </a:t>
            </a:r>
            <a:r>
              <a:rPr lang="en-US" altLang="zh-CN" dirty="0" err="1">
                <a:ea typeface="宋体" panose="02010600030101010101" pitchFamily="2" charset="-122"/>
              </a:rPr>
              <a:t>Clk</a:t>
            </a:r>
            <a:r>
              <a:rPr lang="en-US" altLang="zh-CN">
                <a:ea typeface="宋体" panose="02010600030101010101" pitchFamily="2" charset="-122"/>
              </a:rPr>
              <a:t> input).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42 min. (Y:22)</a:t>
            </a:r>
            <a:endParaRPr lang="en-US" altLang="zh-CN">
              <a:ea typeface="宋体" panose="02010600030101010101" pitchFamily="2" charset="-122"/>
            </a:endParaRPr>
          </a:p>
        </p:txBody>
      </p:sp>
      <p:sp>
        <p:nvSpPr>
          <p:cNvPr id="50178" name="幻灯片图像占位符 485378"/>
          <p:cNvSpPr>
            <a:spLocks noTextEdit="1"/>
          </p:cNvSpPr>
          <p:nvPr>
            <p:ph type="sldImg"/>
          </p:nvPr>
        </p:nvSpPr>
        <p:spPr>
          <a:xfrm>
            <a:off x="1427163" y="644525"/>
            <a:ext cx="4259262" cy="3194050"/>
          </a:xfr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文本占位符 305153"/>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Now with the clocking methodology back in your mind, we can think about how the critical path of our “abstract” </a:t>
            </a:r>
            <a:r>
              <a:rPr lang="en-US" altLang="zh-CN" dirty="0" err="1">
                <a:ea typeface="宋体" panose="02010600030101010101" pitchFamily="2" charset="-122"/>
              </a:rPr>
              <a:t>datapath</a:t>
            </a:r>
            <a:r>
              <a:rPr lang="en-US" altLang="zh-CN">
                <a:ea typeface="宋体" panose="02010600030101010101" pitchFamily="2" charset="-122"/>
              </a:rPr>
              <a:t> may look like.</a:t>
            </a:r>
            <a:endParaRPr lang="en-US" altLang="zh-CN">
              <a:ea typeface="宋体" panose="02010600030101010101" pitchFamily="2" charset="-122"/>
            </a:endParaRPr>
          </a:p>
          <a:p>
            <a:pPr lvl="0"/>
            <a:r>
              <a:rPr lang="en-US" altLang="zh-CN">
                <a:ea typeface="宋体" panose="02010600030101010101" pitchFamily="2" charset="-122"/>
              </a:rPr>
              <a:t>One thing to keep in mind about the Register File and Ideal Memory (points to both Instruction and Data) is that the Clock input is a factor ONLY during the write operation.</a:t>
            </a:r>
            <a:endParaRPr lang="en-US" altLang="zh-CN">
              <a:ea typeface="宋体" panose="02010600030101010101" pitchFamily="2" charset="-122"/>
            </a:endParaRPr>
          </a:p>
          <a:p>
            <a:pPr lvl="0"/>
            <a:r>
              <a:rPr lang="en-US" altLang="zh-CN">
                <a:ea typeface="宋体" panose="02010600030101010101" pitchFamily="2" charset="-122"/>
              </a:rPr>
              <a:t>For read operation, the CLK input is not a factor.  The register file and the ideal memory behave as if they are combinational logic.</a:t>
            </a:r>
            <a:endParaRPr lang="en-US" altLang="zh-CN">
              <a:ea typeface="宋体" panose="02010600030101010101" pitchFamily="2" charset="-122"/>
            </a:endParaRPr>
          </a:p>
          <a:p>
            <a:pPr lvl="0"/>
            <a:r>
              <a:rPr lang="en-US" altLang="zh-CN">
                <a:ea typeface="宋体" panose="02010600030101010101" pitchFamily="2" charset="-122"/>
              </a:rPr>
              <a:t>That is you apply an address to the input, then after certain delay, which we called access time, the output is valid.</a:t>
            </a:r>
            <a:endParaRPr lang="en-US" altLang="zh-CN">
              <a:ea typeface="宋体" panose="02010600030101010101" pitchFamily="2" charset="-122"/>
            </a:endParaRPr>
          </a:p>
          <a:p>
            <a:pPr lvl="0"/>
            <a:r>
              <a:rPr lang="en-US" altLang="zh-CN">
                <a:ea typeface="宋体" panose="02010600030101010101" pitchFamily="2" charset="-122"/>
              </a:rPr>
              <a:t>We will come back to these points (point to the “behave” bullets) later in this lecture.</a:t>
            </a:r>
            <a:endParaRPr lang="en-US" altLang="zh-CN">
              <a:ea typeface="宋体" panose="02010600030101010101" pitchFamily="2" charset="-122"/>
            </a:endParaRPr>
          </a:p>
          <a:p>
            <a:pPr lvl="0"/>
            <a:r>
              <a:rPr lang="en-US" altLang="zh-CN">
                <a:ea typeface="宋体" panose="02010600030101010101" pitchFamily="2" charset="-122"/>
              </a:rPr>
              <a:t>But for now, let’s look at this “abstract” </a:t>
            </a:r>
            <a:r>
              <a:rPr lang="en-US" altLang="zh-CN" dirty="0" err="1">
                <a:ea typeface="宋体" panose="02010600030101010101" pitchFamily="2" charset="-122"/>
              </a:rPr>
              <a:t>datapath’s</a:t>
            </a:r>
            <a:r>
              <a:rPr lang="en-US" altLang="zh-CN">
                <a:ea typeface="宋体" panose="02010600030101010101" pitchFamily="2" charset="-122"/>
              </a:rPr>
              <a:t> critical path which occurs when the </a:t>
            </a:r>
            <a:r>
              <a:rPr lang="en-US" altLang="zh-CN" dirty="0" err="1">
                <a:ea typeface="宋体" panose="02010600030101010101" pitchFamily="2" charset="-122"/>
              </a:rPr>
              <a:t>datapath</a:t>
            </a:r>
            <a:r>
              <a:rPr lang="en-US" altLang="zh-CN">
                <a:ea typeface="宋体" panose="02010600030101010101" pitchFamily="2" charset="-122"/>
              </a:rPr>
              <a:t> tries to execute the Load instruction.</a:t>
            </a:r>
            <a:endParaRPr lang="en-US" altLang="zh-CN">
              <a:ea typeface="宋体" panose="02010600030101010101" pitchFamily="2" charset="-122"/>
            </a:endParaRPr>
          </a:p>
          <a:p>
            <a:pPr lvl="0"/>
            <a:r>
              <a:rPr lang="en-US" altLang="zh-CN">
                <a:ea typeface="宋体" panose="02010600030101010101" pitchFamily="2" charset="-122"/>
              </a:rPr>
              <a:t>The time it takes to execute the load instruction are the sum of:</a:t>
            </a:r>
            <a:endParaRPr lang="en-US" altLang="zh-CN">
              <a:ea typeface="宋体" panose="02010600030101010101" pitchFamily="2" charset="-122"/>
            </a:endParaRPr>
          </a:p>
          <a:p>
            <a:pPr lvl="0"/>
            <a:r>
              <a:rPr lang="en-US" altLang="zh-CN">
                <a:ea typeface="宋体" panose="02010600030101010101" pitchFamily="2" charset="-122"/>
              </a:rPr>
              <a:t>(a) The PC’s clock-to-Q time.</a:t>
            </a:r>
            <a:endParaRPr lang="en-US" altLang="zh-CN">
              <a:ea typeface="宋体" panose="02010600030101010101" pitchFamily="2" charset="-122"/>
            </a:endParaRPr>
          </a:p>
          <a:p>
            <a:pPr lvl="0"/>
            <a:r>
              <a:rPr lang="en-US" altLang="zh-CN">
                <a:ea typeface="宋体" panose="02010600030101010101" pitchFamily="2" charset="-122"/>
              </a:rPr>
              <a:t>(b) The instruction memory access time.</a:t>
            </a:r>
            <a:endParaRPr lang="en-US" altLang="zh-CN">
              <a:ea typeface="宋体" panose="02010600030101010101" pitchFamily="2" charset="-122"/>
            </a:endParaRPr>
          </a:p>
          <a:p>
            <a:pPr lvl="0"/>
            <a:r>
              <a:rPr lang="en-US" altLang="zh-CN">
                <a:ea typeface="宋体" panose="02010600030101010101" pitchFamily="2" charset="-122"/>
              </a:rPr>
              <a:t>(c) The time it takes to read the register file.</a:t>
            </a:r>
            <a:endParaRPr lang="en-US" altLang="zh-CN">
              <a:ea typeface="宋体" panose="02010600030101010101" pitchFamily="2" charset="-122"/>
            </a:endParaRPr>
          </a:p>
          <a:p>
            <a:pPr lvl="0"/>
            <a:r>
              <a:rPr lang="en-US" altLang="zh-CN">
                <a:ea typeface="宋体" panose="02010600030101010101" pitchFamily="2" charset="-122"/>
              </a:rPr>
              <a:t>(d) The ALU delay in calculating the Data Memory Address.</a:t>
            </a:r>
            <a:endParaRPr lang="en-US" altLang="zh-CN">
              <a:ea typeface="宋体" panose="02010600030101010101" pitchFamily="2" charset="-122"/>
            </a:endParaRPr>
          </a:p>
          <a:p>
            <a:pPr lvl="0"/>
            <a:r>
              <a:rPr lang="en-US" altLang="zh-CN">
                <a:ea typeface="宋体" panose="02010600030101010101" pitchFamily="2" charset="-122"/>
              </a:rPr>
              <a:t>(e) The time it takes to read the Data Memory.</a:t>
            </a:r>
            <a:endParaRPr lang="en-US" altLang="zh-CN">
              <a:ea typeface="宋体" panose="02010600030101010101" pitchFamily="2" charset="-122"/>
            </a:endParaRPr>
          </a:p>
          <a:p>
            <a:pPr lvl="0"/>
            <a:r>
              <a:rPr lang="en-US" altLang="zh-CN">
                <a:ea typeface="宋体" panose="02010600030101010101" pitchFamily="2" charset="-122"/>
              </a:rPr>
              <a:t>(f) And finally, the setup time for the register file and clock skew.</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21 (Y:01)</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Complement:</a:t>
            </a:r>
            <a:endParaRPr lang="en-US" altLang="zh-CN">
              <a:ea typeface="宋体" panose="02010600030101010101" pitchFamily="2" charset="-122"/>
            </a:endParaRPr>
          </a:p>
          <a:p>
            <a:pPr lvl="0"/>
            <a:r>
              <a:rPr lang="en-US" altLang="zh-CN">
                <a:ea typeface="宋体" panose="02010600030101010101" pitchFamily="2" charset="-122"/>
              </a:rPr>
              <a:t>Clock skew(B-40): </a:t>
            </a:r>
            <a:endParaRPr lang="en-US" altLang="zh-CN">
              <a:ea typeface="宋体" panose="02010600030101010101" pitchFamily="2" charset="-122"/>
            </a:endParaRPr>
          </a:p>
        </p:txBody>
      </p:sp>
      <p:sp>
        <p:nvSpPr>
          <p:cNvPr id="52226" name="幻灯片图像占位符 305154"/>
          <p:cNvSpPr>
            <a:spLocks noTextEdit="1"/>
          </p:cNvSpPr>
          <p:nvPr>
            <p:ph type="sldImg"/>
          </p:nvPr>
        </p:nvSpPr>
        <p:spPr>
          <a:xfrm>
            <a:off x="1427163" y="644525"/>
            <a:ext cx="4259262" cy="3194050"/>
          </a:xfr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文本占位符 197633"/>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today’s lecture, I will show you how to implement the following subset of MIPS instructions: add, subtract, or immediate, load, store, branch, and the jump instruction.</a:t>
            </a:r>
            <a:endParaRPr lang="en-US" altLang="zh-CN">
              <a:ea typeface="宋体" panose="02010600030101010101" pitchFamily="2" charset="-122"/>
            </a:endParaRPr>
          </a:p>
          <a:p>
            <a:pPr lvl="0"/>
            <a:r>
              <a:rPr lang="en-US" altLang="zh-CN">
                <a:ea typeface="宋体" panose="02010600030101010101" pitchFamily="2" charset="-122"/>
              </a:rPr>
              <a:t>The Add and Subtract instructions use the R format.  The Op together with the </a:t>
            </a:r>
            <a:r>
              <a:rPr lang="en-US" altLang="zh-CN" dirty="0" err="1">
                <a:ea typeface="宋体" panose="02010600030101010101" pitchFamily="2" charset="-122"/>
              </a:rPr>
              <a:t>Func</a:t>
            </a:r>
            <a:r>
              <a:rPr lang="en-US" altLang="zh-CN">
                <a:ea typeface="宋体" panose="02010600030101010101" pitchFamily="2" charset="-122"/>
              </a:rPr>
              <a:t> fields together specified all the different kinds of add and subtract instructions.</a:t>
            </a:r>
            <a:endParaRPr lang="en-US" altLang="zh-CN">
              <a:ea typeface="宋体" panose="02010600030101010101" pitchFamily="2" charset="-122"/>
            </a:endParaRPr>
          </a:p>
          <a:p>
            <a:pPr lvl="0"/>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specifies the source registers.  And the Rd field specifies the destination register.</a:t>
            </a:r>
            <a:endParaRPr lang="en-US" altLang="zh-CN">
              <a:ea typeface="宋体" panose="02010600030101010101" pitchFamily="2" charset="-122"/>
            </a:endParaRPr>
          </a:p>
          <a:p>
            <a:pPr lvl="0"/>
            <a:r>
              <a:rPr lang="en-US" altLang="zh-CN">
                <a:ea typeface="宋体" panose="02010600030101010101" pitchFamily="2" charset="-122"/>
              </a:rPr>
              <a:t>The Or immediate instruction uses the I format.  It only uses one source register, </a:t>
            </a:r>
            <a:r>
              <a:rPr lang="en-US" altLang="zh-CN" dirty="0" err="1">
                <a:ea typeface="宋体" panose="02010600030101010101" pitchFamily="2" charset="-122"/>
              </a:rPr>
              <a:t>Rs</a:t>
            </a:r>
            <a:r>
              <a:rPr lang="en-US" altLang="zh-CN">
                <a:ea typeface="宋体" panose="02010600030101010101" pitchFamily="2" charset="-122"/>
              </a:rPr>
              <a:t>.  The other operand comes from the immediate field. The </a:t>
            </a:r>
            <a:r>
              <a:rPr lang="en-US" altLang="zh-CN" dirty="0" err="1">
                <a:ea typeface="宋体" panose="02010600030101010101" pitchFamily="2" charset="-122"/>
              </a:rPr>
              <a:t>Rt</a:t>
            </a:r>
            <a:r>
              <a:rPr lang="en-US" altLang="zh-CN">
                <a:ea typeface="宋体" panose="02010600030101010101" pitchFamily="2" charset="-122"/>
              </a:rPr>
              <a:t> field is used to specified the destination register.</a:t>
            </a:r>
            <a:endParaRPr lang="en-US" altLang="zh-CN">
              <a:ea typeface="宋体" panose="02010600030101010101" pitchFamily="2" charset="-122"/>
            </a:endParaRPr>
          </a:p>
          <a:p>
            <a:pPr lvl="0"/>
            <a:r>
              <a:rPr lang="en-US" altLang="zh-CN">
                <a:ea typeface="宋体" panose="02010600030101010101" pitchFamily="2" charset="-122"/>
              </a:rPr>
              <a:t>Both the load and store instructions use the I format and both add the </a:t>
            </a:r>
            <a:r>
              <a:rPr lang="en-US" altLang="zh-CN" dirty="0" err="1">
                <a:ea typeface="宋体" panose="02010600030101010101" pitchFamily="2" charset="-122"/>
              </a:rPr>
              <a:t>Rs</a:t>
            </a:r>
            <a:r>
              <a:rPr lang="en-US" altLang="zh-CN">
                <a:ea typeface="宋体" panose="02010600030101010101" pitchFamily="2" charset="-122"/>
              </a:rPr>
              <a:t> and the immediate filed together to form the memory address.</a:t>
            </a:r>
            <a:endParaRPr lang="en-US" altLang="zh-CN">
              <a:ea typeface="宋体" panose="02010600030101010101" pitchFamily="2" charset="-122"/>
            </a:endParaRPr>
          </a:p>
          <a:p>
            <a:pPr lvl="0"/>
            <a:r>
              <a:rPr lang="en-US" altLang="zh-CN">
                <a:ea typeface="宋体" panose="02010600030101010101" pitchFamily="2" charset="-122"/>
              </a:rPr>
              <a:t>The difference is that the load instruction will load the data from memory into </a:t>
            </a:r>
            <a:r>
              <a:rPr lang="en-US" altLang="zh-CN" dirty="0" err="1">
                <a:ea typeface="宋体" panose="02010600030101010101" pitchFamily="2" charset="-122"/>
              </a:rPr>
              <a:t>Rt</a:t>
            </a:r>
            <a:r>
              <a:rPr lang="en-US" altLang="zh-CN">
                <a:ea typeface="宋体" panose="02010600030101010101" pitchFamily="2" charset="-122"/>
              </a:rPr>
              <a:t> while the store instruction will store the data in </a:t>
            </a:r>
            <a:r>
              <a:rPr lang="en-US" altLang="zh-CN" dirty="0" err="1">
                <a:ea typeface="宋体" panose="02010600030101010101" pitchFamily="2" charset="-122"/>
              </a:rPr>
              <a:t>Rt</a:t>
            </a:r>
            <a:r>
              <a:rPr lang="en-US" altLang="zh-CN">
                <a:ea typeface="宋体" panose="02010600030101010101" pitchFamily="2" charset="-122"/>
              </a:rPr>
              <a:t> into the memory.</a:t>
            </a:r>
            <a:endParaRPr lang="en-US" altLang="zh-CN">
              <a:ea typeface="宋体" panose="02010600030101010101" pitchFamily="2" charset="-122"/>
            </a:endParaRPr>
          </a:p>
          <a:p>
            <a:pPr lvl="0"/>
            <a:r>
              <a:rPr lang="en-US" altLang="zh-CN">
                <a:ea typeface="宋体" panose="02010600030101010101" pitchFamily="2" charset="-122"/>
              </a:rPr>
              <a:t>The branch on equal instruction also uses the I format.  Here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are used to specify the registers we need to compare.</a:t>
            </a:r>
            <a:endParaRPr lang="en-US" altLang="zh-CN">
              <a:ea typeface="宋体" panose="02010600030101010101" pitchFamily="2" charset="-122"/>
            </a:endParaRPr>
          </a:p>
          <a:p>
            <a:pPr lvl="0"/>
            <a:r>
              <a:rPr lang="en-US" altLang="zh-CN">
                <a:ea typeface="宋体" panose="02010600030101010101" pitchFamily="2" charset="-122"/>
              </a:rPr>
              <a:t>If these two registers are equal, we will branch to a location specified by the immediate field.</a:t>
            </a:r>
            <a:endParaRPr lang="en-US" altLang="zh-CN">
              <a:ea typeface="宋体" panose="02010600030101010101" pitchFamily="2" charset="-122"/>
            </a:endParaRPr>
          </a:p>
          <a:p>
            <a:pPr lvl="0"/>
            <a:r>
              <a:rPr lang="en-US" altLang="zh-CN">
                <a:ea typeface="宋体" panose="02010600030101010101" pitchFamily="2" charset="-122"/>
              </a:rPr>
              <a:t>Finally, the jump instruction uses the J format and always causes the program to jump to a memory location specified in the address field. </a:t>
            </a:r>
            <a:endParaRPr lang="en-US" altLang="zh-CN">
              <a:ea typeface="宋体" panose="02010600030101010101" pitchFamily="2" charset="-122"/>
            </a:endParaRPr>
          </a:p>
          <a:p>
            <a:pPr lvl="0"/>
            <a:r>
              <a:rPr lang="en-US" altLang="zh-CN">
                <a:ea typeface="宋体" panose="02010600030101010101" pitchFamily="2" charset="-122"/>
              </a:rPr>
              <a:t>I know I went over this rather quickly and you may have missed something.  But don’t worry, this is just an overview.  You will keep seeing these (point to the format) all day today.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13 min. (X:53)</a:t>
            </a:r>
            <a:endParaRPr lang="en-US" altLang="zh-CN">
              <a:ea typeface="宋体" panose="02010600030101010101" pitchFamily="2" charset="-122"/>
            </a:endParaRPr>
          </a:p>
        </p:txBody>
      </p:sp>
      <p:sp>
        <p:nvSpPr>
          <p:cNvPr id="55298" name="幻灯片图像占位符 197634"/>
          <p:cNvSpPr>
            <a:spLocks noTextEdit="1"/>
          </p:cNvSpPr>
          <p:nvPr>
            <p:ph type="sldImg"/>
          </p:nvPr>
        </p:nvSpPr>
        <p:spPr>
          <a:xfrm>
            <a:off x="1427163" y="644525"/>
            <a:ext cx="4259262" cy="3194050"/>
          </a:xfr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文本占位符 199681"/>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And here is the </a:t>
            </a:r>
            <a:r>
              <a:rPr lang="en-US" altLang="zh-CN" dirty="0" err="1">
                <a:ea typeface="宋体" panose="02010600030101010101" pitchFamily="2" charset="-122"/>
              </a:rPr>
              <a:t>datapath</a:t>
            </a:r>
            <a:r>
              <a:rPr lang="en-US" altLang="zh-CN">
                <a:ea typeface="宋体" panose="02010600030101010101" pitchFamily="2" charset="-122"/>
              </a:rPr>
              <a:t> that can do the trick.</a:t>
            </a:r>
            <a:endParaRPr lang="en-US" altLang="zh-CN">
              <a:ea typeface="宋体" panose="02010600030101010101" pitchFamily="2" charset="-122"/>
            </a:endParaRPr>
          </a:p>
          <a:p>
            <a:pPr lvl="0"/>
            <a:r>
              <a:rPr lang="en-US" altLang="zh-CN">
                <a:ea typeface="宋体" panose="02010600030101010101" pitchFamily="2" charset="-122"/>
              </a:rPr>
              <a:t>First of all, we connect the register file’s Ra, </a:t>
            </a:r>
            <a:r>
              <a:rPr lang="en-US" altLang="zh-CN" dirty="0" err="1">
                <a:ea typeface="宋体" panose="02010600030101010101" pitchFamily="2" charset="-122"/>
              </a:rPr>
              <a:t>Rb</a:t>
            </a:r>
            <a:r>
              <a:rPr lang="en-US" altLang="zh-CN">
                <a:ea typeface="宋体" panose="02010600030101010101" pitchFamily="2" charset="-122"/>
              </a:rPr>
              <a:t>, and </a:t>
            </a:r>
            <a:r>
              <a:rPr lang="en-US" altLang="zh-CN" dirty="0" err="1">
                <a:ea typeface="宋体" panose="02010600030101010101" pitchFamily="2" charset="-122"/>
              </a:rPr>
              <a:t>Rw</a:t>
            </a:r>
            <a:r>
              <a:rPr lang="en-US" altLang="zh-CN">
                <a:ea typeface="宋体" panose="02010600030101010101" pitchFamily="2" charset="-122"/>
              </a:rPr>
              <a:t> input to the Rd,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fields of the instruction bus (points to the format diagram).</a:t>
            </a:r>
            <a:endParaRPr lang="en-US" altLang="zh-CN">
              <a:ea typeface="宋体" panose="02010600030101010101" pitchFamily="2" charset="-122"/>
            </a:endParaRPr>
          </a:p>
          <a:p>
            <a:pPr lvl="0"/>
            <a:r>
              <a:rPr lang="en-US" altLang="zh-CN">
                <a:ea typeface="宋体" panose="02010600030101010101" pitchFamily="2" charset="-122"/>
              </a:rPr>
              <a:t>Then we need to connect  </a:t>
            </a:r>
            <a:r>
              <a:rPr lang="en-US" altLang="zh-CN" dirty="0" err="1">
                <a:ea typeface="宋体" panose="02010600030101010101" pitchFamily="2" charset="-122"/>
              </a:rPr>
              <a:t>busA</a:t>
            </a:r>
            <a:r>
              <a:rPr lang="en-US" altLang="zh-CN">
                <a:ea typeface="宋体" panose="02010600030101010101" pitchFamily="2" charset="-122"/>
              </a:rPr>
              <a:t> and </a:t>
            </a:r>
            <a:r>
              <a:rPr lang="en-US" altLang="zh-CN" dirty="0" err="1">
                <a:ea typeface="宋体" panose="02010600030101010101" pitchFamily="2" charset="-122"/>
              </a:rPr>
              <a:t>busB</a:t>
            </a:r>
            <a:r>
              <a:rPr lang="en-US" altLang="zh-CN">
                <a:ea typeface="宋体" panose="02010600030101010101" pitchFamily="2" charset="-122"/>
              </a:rPr>
              <a:t> of the register file to the ALU.</a:t>
            </a:r>
            <a:endParaRPr lang="en-US" altLang="zh-CN">
              <a:ea typeface="宋体" panose="02010600030101010101" pitchFamily="2" charset="-122"/>
            </a:endParaRPr>
          </a:p>
          <a:p>
            <a:pPr lvl="0"/>
            <a:r>
              <a:rPr lang="en-US" altLang="zh-CN">
                <a:ea typeface="宋体" panose="02010600030101010101" pitchFamily="2" charset="-122"/>
              </a:rPr>
              <a:t>Finally, we need to connect the output of the ALU to the input bus of the  register file.</a:t>
            </a:r>
            <a:endParaRPr lang="en-US" altLang="zh-CN">
              <a:ea typeface="宋体" panose="02010600030101010101" pitchFamily="2" charset="-122"/>
            </a:endParaRPr>
          </a:p>
          <a:p>
            <a:pPr lvl="0"/>
            <a:r>
              <a:rPr lang="en-US" altLang="zh-CN">
                <a:ea typeface="宋体" panose="02010600030101010101" pitchFamily="2" charset="-122"/>
              </a:rPr>
              <a:t>Conceptually, this is how it works.</a:t>
            </a:r>
            <a:endParaRPr lang="en-US" altLang="zh-CN">
              <a:ea typeface="宋体" panose="02010600030101010101" pitchFamily="2" charset="-122"/>
            </a:endParaRPr>
          </a:p>
          <a:p>
            <a:pPr lvl="0"/>
            <a:r>
              <a:rPr lang="en-US" altLang="zh-CN">
                <a:ea typeface="宋体" panose="02010600030101010101" pitchFamily="2" charset="-122"/>
              </a:rPr>
              <a:t>The instruction bus coming out of the Instruction memory will set the Ra and </a:t>
            </a:r>
            <a:r>
              <a:rPr lang="en-US" altLang="zh-CN" dirty="0" err="1">
                <a:ea typeface="宋体" panose="02010600030101010101" pitchFamily="2" charset="-122"/>
              </a:rPr>
              <a:t>Rb</a:t>
            </a:r>
            <a:r>
              <a:rPr lang="en-US" altLang="zh-CN">
                <a:ea typeface="宋体" panose="02010600030101010101" pitchFamily="2" charset="-122"/>
              </a:rPr>
              <a:t> to the register </a:t>
            </a:r>
            <a:r>
              <a:rPr lang="en-US" altLang="zh-CN" dirty="0" err="1">
                <a:ea typeface="宋体" panose="02010600030101010101" pitchFamily="2" charset="-122"/>
              </a:rPr>
              <a:t>specifiers</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and Rt.</a:t>
            </a:r>
            <a:endParaRPr lang="en-US" altLang="zh-CN">
              <a:ea typeface="宋体" panose="02010600030101010101" pitchFamily="2" charset="-122"/>
            </a:endParaRPr>
          </a:p>
          <a:p>
            <a:pPr lvl="0"/>
            <a:r>
              <a:rPr lang="en-US" altLang="zh-CN">
                <a:ea typeface="宋体" panose="02010600030101010101" pitchFamily="2" charset="-122"/>
              </a:rPr>
              <a:t>This causes the register file to put the value of register </a:t>
            </a:r>
            <a:r>
              <a:rPr lang="en-US" altLang="zh-CN" dirty="0" err="1">
                <a:ea typeface="宋体" panose="02010600030101010101" pitchFamily="2" charset="-122"/>
              </a:rPr>
              <a:t>Rs</a:t>
            </a:r>
            <a:r>
              <a:rPr lang="en-US" altLang="zh-CN">
                <a:ea typeface="宋体" panose="02010600030101010101" pitchFamily="2" charset="-122"/>
              </a:rPr>
              <a:t> onto </a:t>
            </a:r>
            <a:r>
              <a:rPr lang="en-US" altLang="zh-CN" dirty="0" err="1">
                <a:ea typeface="宋体" panose="02010600030101010101" pitchFamily="2" charset="-122"/>
              </a:rPr>
              <a:t>busA</a:t>
            </a:r>
            <a:r>
              <a:rPr lang="en-US" altLang="zh-CN">
                <a:ea typeface="宋体" panose="02010600030101010101" pitchFamily="2" charset="-122"/>
              </a:rPr>
              <a:t> and the value of register </a:t>
            </a:r>
            <a:r>
              <a:rPr lang="en-US" altLang="zh-CN" dirty="0" err="1">
                <a:ea typeface="宋体" panose="02010600030101010101" pitchFamily="2" charset="-122"/>
              </a:rPr>
              <a:t>Rt</a:t>
            </a:r>
            <a:r>
              <a:rPr lang="en-US" altLang="zh-CN">
                <a:ea typeface="宋体" panose="02010600030101010101" pitchFamily="2" charset="-122"/>
              </a:rPr>
              <a:t> onto </a:t>
            </a:r>
            <a:r>
              <a:rPr lang="en-US" altLang="zh-CN" dirty="0" err="1">
                <a:ea typeface="宋体" panose="02010600030101010101" pitchFamily="2" charset="-122"/>
              </a:rPr>
              <a:t>busB</a:t>
            </a:r>
            <a:r>
              <a:rPr lang="en-US" altLang="zh-CN">
                <a:ea typeface="宋体" panose="02010600030101010101" pitchFamily="2" charset="-122"/>
              </a:rPr>
              <a:t>, respectively.</a:t>
            </a:r>
            <a:endParaRPr lang="en-US" altLang="zh-CN">
              <a:ea typeface="宋体" panose="02010600030101010101" pitchFamily="2" charset="-122"/>
            </a:endParaRPr>
          </a:p>
          <a:p>
            <a:pPr lvl="0"/>
            <a:r>
              <a:rPr lang="en-US" altLang="zh-CN">
                <a:ea typeface="宋体" panose="02010600030101010101" pitchFamily="2" charset="-122"/>
              </a:rPr>
              <a:t>But setting the </a:t>
            </a:r>
            <a:r>
              <a:rPr lang="en-US" altLang="zh-CN" dirty="0" err="1">
                <a:ea typeface="宋体" panose="02010600030101010101" pitchFamily="2" charset="-122"/>
              </a:rPr>
              <a:t>ALUctr</a:t>
            </a:r>
            <a:r>
              <a:rPr lang="en-US" altLang="zh-CN">
                <a:ea typeface="宋体" panose="02010600030101010101" pitchFamily="2" charset="-122"/>
              </a:rPr>
              <a:t> appropriately, the ALU will perform either the Add and Subtract for us.</a:t>
            </a:r>
            <a:endParaRPr lang="en-US" altLang="zh-CN">
              <a:ea typeface="宋体" panose="02010600030101010101" pitchFamily="2" charset="-122"/>
            </a:endParaRPr>
          </a:p>
          <a:p>
            <a:pPr lvl="0"/>
            <a:r>
              <a:rPr lang="en-US" altLang="zh-CN">
                <a:ea typeface="宋体" panose="02010600030101010101" pitchFamily="2" charset="-122"/>
              </a:rPr>
              <a:t>The result is then fed back to the register file where the register </a:t>
            </a:r>
            <a:r>
              <a:rPr lang="en-US" altLang="zh-CN" dirty="0" err="1">
                <a:ea typeface="宋体" panose="02010600030101010101" pitchFamily="2" charset="-122"/>
              </a:rPr>
              <a:t>specifier</a:t>
            </a:r>
            <a:r>
              <a:rPr lang="en-US" altLang="zh-CN">
                <a:ea typeface="宋体" panose="02010600030101010101" pitchFamily="2" charset="-122"/>
              </a:rPr>
              <a:t> </a:t>
            </a:r>
            <a:r>
              <a:rPr lang="en-US" altLang="zh-CN" dirty="0" err="1">
                <a:ea typeface="宋体" panose="02010600030101010101" pitchFamily="2" charset="-122"/>
              </a:rPr>
              <a:t>Rw</a:t>
            </a:r>
            <a:r>
              <a:rPr lang="en-US" altLang="zh-CN">
                <a:ea typeface="宋体" panose="02010600030101010101" pitchFamily="2" charset="-122"/>
              </a:rPr>
              <a:t> should already be set to the instruction bus’s Rd field.</a:t>
            </a:r>
            <a:endParaRPr lang="en-US" altLang="zh-CN">
              <a:ea typeface="宋体" panose="02010600030101010101" pitchFamily="2" charset="-122"/>
            </a:endParaRPr>
          </a:p>
          <a:p>
            <a:pPr lvl="0"/>
            <a:r>
              <a:rPr lang="en-US" altLang="zh-CN">
                <a:ea typeface="宋体" panose="02010600030101010101" pitchFamily="2" charset="-122"/>
              </a:rPr>
              <a:t>Since the control, which we will design in our next lecture, should have already set the </a:t>
            </a:r>
            <a:r>
              <a:rPr lang="en-US" altLang="zh-CN" dirty="0" err="1">
                <a:ea typeface="宋体" panose="02010600030101010101" pitchFamily="2" charset="-122"/>
              </a:rPr>
              <a:t>RegWr</a:t>
            </a:r>
            <a:r>
              <a:rPr lang="en-US" altLang="zh-CN">
                <a:ea typeface="宋体" panose="02010600030101010101" pitchFamily="2" charset="-122"/>
              </a:rPr>
              <a:t> signal to 1, the result will be written back to the register file at the next clock tick (points to the </a:t>
            </a:r>
            <a:r>
              <a:rPr lang="en-US" altLang="zh-CN" dirty="0" err="1">
                <a:ea typeface="宋体" panose="02010600030101010101" pitchFamily="2" charset="-122"/>
              </a:rPr>
              <a:t>Clk</a:t>
            </a:r>
            <a:r>
              <a:rPr lang="en-US" altLang="zh-CN">
                <a:ea typeface="宋体" panose="02010600030101010101" pitchFamily="2" charset="-122"/>
              </a:rPr>
              <a:t> input).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42 min. (Y:22)</a:t>
            </a:r>
            <a:endParaRPr lang="en-US" altLang="zh-CN">
              <a:ea typeface="宋体" panose="02010600030101010101" pitchFamily="2" charset="-122"/>
            </a:endParaRPr>
          </a:p>
        </p:txBody>
      </p:sp>
      <p:sp>
        <p:nvSpPr>
          <p:cNvPr id="57346" name="幻灯片图像占位符 199682"/>
          <p:cNvSpPr>
            <a:spLocks noTextEdit="1"/>
          </p:cNvSpPr>
          <p:nvPr>
            <p:ph type="sldImg"/>
          </p:nvPr>
        </p:nvSpPr>
        <p:spPr>
          <a:xfrm>
            <a:off x="1427163" y="644525"/>
            <a:ext cx="4259262" cy="3194050"/>
          </a:xfr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文本占位符 201729"/>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today’s lecture, I will show you how to implement the following subset of MIPS instructions: add, subtract, or immediate, load, store, branch, and the jump instruction.</a:t>
            </a:r>
            <a:endParaRPr lang="en-US" altLang="zh-CN">
              <a:ea typeface="宋体" panose="02010600030101010101" pitchFamily="2" charset="-122"/>
            </a:endParaRPr>
          </a:p>
          <a:p>
            <a:pPr lvl="0"/>
            <a:r>
              <a:rPr lang="en-US" altLang="zh-CN">
                <a:ea typeface="宋体" panose="02010600030101010101" pitchFamily="2" charset="-122"/>
              </a:rPr>
              <a:t>The Add and Subtract instructions use the R format.  The Op together with the </a:t>
            </a:r>
            <a:r>
              <a:rPr lang="en-US" altLang="zh-CN" dirty="0" err="1">
                <a:ea typeface="宋体" panose="02010600030101010101" pitchFamily="2" charset="-122"/>
              </a:rPr>
              <a:t>Func</a:t>
            </a:r>
            <a:r>
              <a:rPr lang="en-US" altLang="zh-CN">
                <a:ea typeface="宋体" panose="02010600030101010101" pitchFamily="2" charset="-122"/>
              </a:rPr>
              <a:t> fields together specified all the different kinds of add and subtract instructions.</a:t>
            </a:r>
            <a:endParaRPr lang="en-US" altLang="zh-CN">
              <a:ea typeface="宋体" panose="02010600030101010101" pitchFamily="2" charset="-122"/>
            </a:endParaRPr>
          </a:p>
          <a:p>
            <a:pPr lvl="0"/>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specifies the source registers.  And the Rd field specifies the destination register.</a:t>
            </a:r>
            <a:endParaRPr lang="en-US" altLang="zh-CN">
              <a:ea typeface="宋体" panose="02010600030101010101" pitchFamily="2" charset="-122"/>
            </a:endParaRPr>
          </a:p>
          <a:p>
            <a:pPr lvl="0"/>
            <a:r>
              <a:rPr lang="en-US" altLang="zh-CN">
                <a:ea typeface="宋体" panose="02010600030101010101" pitchFamily="2" charset="-122"/>
              </a:rPr>
              <a:t>The Or immediate instruction uses the I format.  It only uses one source register, </a:t>
            </a:r>
            <a:r>
              <a:rPr lang="en-US" altLang="zh-CN" dirty="0" err="1">
                <a:ea typeface="宋体" panose="02010600030101010101" pitchFamily="2" charset="-122"/>
              </a:rPr>
              <a:t>Rs</a:t>
            </a:r>
            <a:r>
              <a:rPr lang="en-US" altLang="zh-CN">
                <a:ea typeface="宋体" panose="02010600030101010101" pitchFamily="2" charset="-122"/>
              </a:rPr>
              <a:t>.  The other operand comes from the immediate field. The </a:t>
            </a:r>
            <a:r>
              <a:rPr lang="en-US" altLang="zh-CN" dirty="0" err="1">
                <a:ea typeface="宋体" panose="02010600030101010101" pitchFamily="2" charset="-122"/>
              </a:rPr>
              <a:t>Rt</a:t>
            </a:r>
            <a:r>
              <a:rPr lang="en-US" altLang="zh-CN">
                <a:ea typeface="宋体" panose="02010600030101010101" pitchFamily="2" charset="-122"/>
              </a:rPr>
              <a:t> field is used to specified the destination register.</a:t>
            </a:r>
            <a:endParaRPr lang="en-US" altLang="zh-CN">
              <a:ea typeface="宋体" panose="02010600030101010101" pitchFamily="2" charset="-122"/>
            </a:endParaRPr>
          </a:p>
          <a:p>
            <a:pPr lvl="0"/>
            <a:r>
              <a:rPr lang="en-US" altLang="zh-CN">
                <a:ea typeface="宋体" panose="02010600030101010101" pitchFamily="2" charset="-122"/>
              </a:rPr>
              <a:t>Both the load and store instructions use the I format and both add the </a:t>
            </a:r>
            <a:r>
              <a:rPr lang="en-US" altLang="zh-CN" dirty="0" err="1">
                <a:ea typeface="宋体" panose="02010600030101010101" pitchFamily="2" charset="-122"/>
              </a:rPr>
              <a:t>Rs</a:t>
            </a:r>
            <a:r>
              <a:rPr lang="en-US" altLang="zh-CN">
                <a:ea typeface="宋体" panose="02010600030101010101" pitchFamily="2" charset="-122"/>
              </a:rPr>
              <a:t> and the immediate filed together to form the memory address.</a:t>
            </a:r>
            <a:endParaRPr lang="en-US" altLang="zh-CN">
              <a:ea typeface="宋体" panose="02010600030101010101" pitchFamily="2" charset="-122"/>
            </a:endParaRPr>
          </a:p>
          <a:p>
            <a:pPr lvl="0"/>
            <a:r>
              <a:rPr lang="en-US" altLang="zh-CN">
                <a:ea typeface="宋体" panose="02010600030101010101" pitchFamily="2" charset="-122"/>
              </a:rPr>
              <a:t>The difference is that the load instruction will load the data from memory into </a:t>
            </a:r>
            <a:r>
              <a:rPr lang="en-US" altLang="zh-CN" dirty="0" err="1">
                <a:ea typeface="宋体" panose="02010600030101010101" pitchFamily="2" charset="-122"/>
              </a:rPr>
              <a:t>Rt</a:t>
            </a:r>
            <a:r>
              <a:rPr lang="en-US" altLang="zh-CN">
                <a:ea typeface="宋体" panose="02010600030101010101" pitchFamily="2" charset="-122"/>
              </a:rPr>
              <a:t> while the store instruction will store the data in </a:t>
            </a:r>
            <a:r>
              <a:rPr lang="en-US" altLang="zh-CN" dirty="0" err="1">
                <a:ea typeface="宋体" panose="02010600030101010101" pitchFamily="2" charset="-122"/>
              </a:rPr>
              <a:t>Rt</a:t>
            </a:r>
            <a:r>
              <a:rPr lang="en-US" altLang="zh-CN">
                <a:ea typeface="宋体" panose="02010600030101010101" pitchFamily="2" charset="-122"/>
              </a:rPr>
              <a:t> into the memory.</a:t>
            </a:r>
            <a:endParaRPr lang="en-US" altLang="zh-CN">
              <a:ea typeface="宋体" panose="02010600030101010101" pitchFamily="2" charset="-122"/>
            </a:endParaRPr>
          </a:p>
          <a:p>
            <a:pPr lvl="0"/>
            <a:r>
              <a:rPr lang="en-US" altLang="zh-CN">
                <a:ea typeface="宋体" panose="02010600030101010101" pitchFamily="2" charset="-122"/>
              </a:rPr>
              <a:t>The branch on equal instruction also uses the I format.  Here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are used to specify the registers we need to compare.</a:t>
            </a:r>
            <a:endParaRPr lang="en-US" altLang="zh-CN">
              <a:ea typeface="宋体" panose="02010600030101010101" pitchFamily="2" charset="-122"/>
            </a:endParaRPr>
          </a:p>
          <a:p>
            <a:pPr lvl="0"/>
            <a:r>
              <a:rPr lang="en-US" altLang="zh-CN">
                <a:ea typeface="宋体" panose="02010600030101010101" pitchFamily="2" charset="-122"/>
              </a:rPr>
              <a:t>If these two registers are equal, we will branch to a location specified by the immediate field.</a:t>
            </a:r>
            <a:endParaRPr lang="en-US" altLang="zh-CN">
              <a:ea typeface="宋体" panose="02010600030101010101" pitchFamily="2" charset="-122"/>
            </a:endParaRPr>
          </a:p>
          <a:p>
            <a:pPr lvl="0"/>
            <a:r>
              <a:rPr lang="en-US" altLang="zh-CN">
                <a:ea typeface="宋体" panose="02010600030101010101" pitchFamily="2" charset="-122"/>
              </a:rPr>
              <a:t>Finally, the jump instruction uses the J format and always causes the program to jump to a memory location specified in the address field. </a:t>
            </a:r>
            <a:endParaRPr lang="en-US" altLang="zh-CN">
              <a:ea typeface="宋体" panose="02010600030101010101" pitchFamily="2" charset="-122"/>
            </a:endParaRPr>
          </a:p>
          <a:p>
            <a:pPr lvl="0"/>
            <a:r>
              <a:rPr lang="en-US" altLang="zh-CN">
                <a:ea typeface="宋体" panose="02010600030101010101" pitchFamily="2" charset="-122"/>
              </a:rPr>
              <a:t>I know I went over this rather quickly and you may have missed something.  But don’t worry, this is just an overview.  You will keep seeing these (point to the format) all day today.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13 min. (X:53)</a:t>
            </a:r>
            <a:endParaRPr lang="en-US" altLang="zh-CN">
              <a:ea typeface="宋体" panose="02010600030101010101" pitchFamily="2" charset="-122"/>
            </a:endParaRPr>
          </a:p>
        </p:txBody>
      </p:sp>
      <p:sp>
        <p:nvSpPr>
          <p:cNvPr id="59394" name="幻灯片图像占位符 201730"/>
          <p:cNvSpPr>
            <a:spLocks noTextEdit="1"/>
          </p:cNvSpPr>
          <p:nvPr>
            <p:ph type="sldImg"/>
          </p:nvPr>
        </p:nvSpPr>
        <p:spPr>
          <a:xfrm>
            <a:off x="1427163" y="644525"/>
            <a:ext cx="4259262" cy="3194050"/>
          </a:xfr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文本占位符 203777"/>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The or immediate is a I-type instruction.</a:t>
            </a:r>
            <a:endParaRPr lang="en-US" altLang="zh-CN">
              <a:ea typeface="宋体" panose="02010600030101010101" pitchFamily="2" charset="-122"/>
            </a:endParaRPr>
          </a:p>
          <a:p>
            <a:pPr lvl="0"/>
            <a:r>
              <a:rPr lang="en-US" altLang="zh-CN">
                <a:ea typeface="宋体" panose="02010600030101010101" pitchFamily="2" charset="-122"/>
              </a:rPr>
              <a:t>The immediate field of the instruction (Imm16 of the format diagram) is zero extended to 32 bits before it is operated with the other operand.</a:t>
            </a:r>
            <a:endParaRPr lang="en-US" altLang="zh-CN">
              <a:ea typeface="宋体" panose="02010600030101010101" pitchFamily="2" charset="-122"/>
            </a:endParaRPr>
          </a:p>
          <a:p>
            <a:pPr lvl="0"/>
            <a:r>
              <a:rPr lang="en-US" altLang="zh-CN">
                <a:ea typeface="宋体" panose="02010600030101010101" pitchFamily="2" charset="-122"/>
              </a:rPr>
              <a:t>The other operand is selected by the </a:t>
            </a:r>
            <a:r>
              <a:rPr lang="en-US" altLang="zh-CN" dirty="0" err="1">
                <a:ea typeface="宋体" panose="02010600030101010101" pitchFamily="2" charset="-122"/>
              </a:rPr>
              <a:t>Rs</a:t>
            </a:r>
            <a:r>
              <a:rPr lang="en-US" altLang="zh-CN">
                <a:ea typeface="宋体" panose="02010600030101010101" pitchFamily="2" charset="-122"/>
              </a:rPr>
              <a:t> field of the instruction.</a:t>
            </a:r>
            <a:endParaRPr lang="en-US" altLang="zh-CN">
              <a:ea typeface="宋体" panose="02010600030101010101" pitchFamily="2" charset="-122"/>
            </a:endParaRPr>
          </a:p>
          <a:p>
            <a:pPr lvl="0"/>
            <a:r>
              <a:rPr lang="en-US" altLang="zh-CN">
                <a:ea typeface="宋体" panose="02010600030101010101" pitchFamily="2" charset="-122"/>
              </a:rPr>
              <a:t>The destination register of this instruction will be selected by the </a:t>
            </a:r>
            <a:r>
              <a:rPr lang="en-US" altLang="zh-CN" dirty="0" err="1">
                <a:ea typeface="宋体" panose="02010600030101010101" pitchFamily="2" charset="-122"/>
              </a:rPr>
              <a:t>Rt</a:t>
            </a:r>
            <a:r>
              <a:rPr lang="en-US" altLang="zh-CN">
                <a:ea typeface="宋体" panose="02010600030101010101" pitchFamily="2" charset="-122"/>
              </a:rPr>
              <a:t> field.</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57 min. (Y:27)</a:t>
            </a:r>
            <a:endParaRPr lang="en-US" altLang="zh-CN">
              <a:ea typeface="宋体" panose="02010600030101010101" pitchFamily="2" charset="-122"/>
            </a:endParaRPr>
          </a:p>
        </p:txBody>
      </p:sp>
      <p:sp>
        <p:nvSpPr>
          <p:cNvPr id="61442" name="幻灯片图像占位符 203778"/>
          <p:cNvSpPr>
            <a:spLocks noTextEdit="1"/>
          </p:cNvSpPr>
          <p:nvPr>
            <p:ph type="sldImg"/>
          </p:nvPr>
        </p:nvSpPr>
        <p:spPr>
          <a:xfrm>
            <a:off x="1427163" y="644525"/>
            <a:ext cx="4259262" cy="3194050"/>
          </a:xfr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文本占位符 205825"/>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Here is the </a:t>
            </a:r>
            <a:r>
              <a:rPr lang="en-US" altLang="zh-CN" dirty="0" err="1">
                <a:ea typeface="宋体" panose="02010600030101010101" pitchFamily="2" charset="-122"/>
              </a:rPr>
              <a:t>datapath</a:t>
            </a:r>
            <a:r>
              <a:rPr lang="en-US" altLang="zh-CN">
                <a:ea typeface="宋体" panose="02010600030101010101" pitchFamily="2" charset="-122"/>
              </a:rPr>
              <a:t> for the Or immediate instructions.</a:t>
            </a:r>
            <a:endParaRPr lang="en-US" altLang="zh-CN">
              <a:ea typeface="宋体" panose="02010600030101010101" pitchFamily="2" charset="-122"/>
            </a:endParaRPr>
          </a:p>
          <a:p>
            <a:pPr lvl="0"/>
            <a:r>
              <a:rPr lang="en-US" altLang="zh-CN">
                <a:ea typeface="宋体" panose="02010600030101010101" pitchFamily="2" charset="-122"/>
              </a:rPr>
              <a:t>We cannot use the Rd field here (</a:t>
            </a:r>
            <a:r>
              <a:rPr lang="en-US" altLang="zh-CN" dirty="0" err="1">
                <a:ea typeface="宋体" panose="02010600030101010101" pitchFamily="2" charset="-122"/>
              </a:rPr>
              <a:t>Rw</a:t>
            </a:r>
            <a:r>
              <a:rPr lang="en-US" altLang="zh-CN">
                <a:ea typeface="宋体" panose="02010600030101010101" pitchFamily="2" charset="-122"/>
              </a:rPr>
              <a:t>) because in this instruction format, we don’t have a Rd field. The Rd field in the R-type is used here as part of the immediate field.</a:t>
            </a:r>
            <a:endParaRPr lang="en-US" altLang="zh-CN">
              <a:ea typeface="宋体" panose="02010600030101010101" pitchFamily="2" charset="-122"/>
            </a:endParaRPr>
          </a:p>
          <a:p>
            <a:pPr lvl="0"/>
            <a:r>
              <a:rPr lang="en-US" altLang="zh-CN">
                <a:ea typeface="宋体" panose="02010600030101010101" pitchFamily="2" charset="-122"/>
              </a:rPr>
              <a:t>For this instruction type, </a:t>
            </a:r>
            <a:r>
              <a:rPr lang="en-US" altLang="zh-CN" dirty="0" err="1">
                <a:ea typeface="宋体" panose="02010600030101010101" pitchFamily="2" charset="-122"/>
              </a:rPr>
              <a:t>Rw</a:t>
            </a:r>
            <a:r>
              <a:rPr lang="en-US" altLang="zh-CN">
                <a:ea typeface="宋体" panose="02010600030101010101" pitchFamily="2" charset="-122"/>
              </a:rPr>
              <a:t> input of the register file, that is the address of the register to be written, comes from the </a:t>
            </a:r>
            <a:r>
              <a:rPr lang="en-US" altLang="zh-CN" dirty="0" err="1">
                <a:ea typeface="宋体" panose="02010600030101010101" pitchFamily="2" charset="-122"/>
              </a:rPr>
              <a:t>Rt</a:t>
            </a:r>
            <a:r>
              <a:rPr lang="en-US" altLang="zh-CN">
                <a:ea typeface="宋体" panose="02010600030101010101" pitchFamily="2" charset="-122"/>
              </a:rPr>
              <a:t> field of the instruction.</a:t>
            </a:r>
            <a:endParaRPr lang="en-US" altLang="zh-CN">
              <a:ea typeface="宋体" panose="02010600030101010101" pitchFamily="2" charset="-122"/>
            </a:endParaRPr>
          </a:p>
          <a:p>
            <a:pPr lvl="0"/>
            <a:r>
              <a:rPr lang="en-US" altLang="zh-CN">
                <a:ea typeface="宋体" panose="02010600030101010101" pitchFamily="2" charset="-122"/>
              </a:rPr>
              <a:t>Recalled from earlier slide that for R-type instruction, the </a:t>
            </a:r>
            <a:r>
              <a:rPr lang="en-US" altLang="zh-CN" dirty="0" err="1">
                <a:ea typeface="宋体" panose="02010600030101010101" pitchFamily="2" charset="-122"/>
              </a:rPr>
              <a:t>Rw</a:t>
            </a:r>
            <a:r>
              <a:rPr lang="en-US" altLang="zh-CN">
                <a:ea typeface="宋体" panose="02010600030101010101" pitchFamily="2" charset="-122"/>
              </a:rPr>
              <a:t> comes from the Rd field.</a:t>
            </a:r>
            <a:endParaRPr lang="en-US" altLang="zh-CN">
              <a:ea typeface="宋体" panose="02010600030101010101" pitchFamily="2" charset="-122"/>
            </a:endParaRPr>
          </a:p>
          <a:p>
            <a:pPr lvl="0"/>
            <a:r>
              <a:rPr lang="en-US" altLang="zh-CN">
                <a:ea typeface="宋体" panose="02010600030101010101" pitchFamily="2" charset="-122"/>
              </a:rPr>
              <a:t>That’s why we need a MUX here to put Rd onto </a:t>
            </a:r>
            <a:r>
              <a:rPr lang="en-US" altLang="zh-CN" dirty="0" err="1">
                <a:ea typeface="宋体" panose="02010600030101010101" pitchFamily="2" charset="-122"/>
              </a:rPr>
              <a:t>Rw</a:t>
            </a:r>
            <a:r>
              <a:rPr lang="en-US" altLang="zh-CN">
                <a:ea typeface="宋体" panose="02010600030101010101" pitchFamily="2" charset="-122"/>
              </a:rPr>
              <a:t> for R-type instructions and to put </a:t>
            </a:r>
            <a:r>
              <a:rPr lang="en-US" altLang="zh-CN" dirty="0" err="1">
                <a:ea typeface="宋体" panose="02010600030101010101" pitchFamily="2" charset="-122"/>
              </a:rPr>
              <a:t>Rt</a:t>
            </a:r>
            <a:r>
              <a:rPr lang="en-US" altLang="zh-CN">
                <a:ea typeface="宋体" panose="02010600030101010101" pitchFamily="2" charset="-122"/>
              </a:rPr>
              <a:t> onto </a:t>
            </a:r>
            <a:r>
              <a:rPr lang="en-US" altLang="zh-CN" dirty="0" err="1">
                <a:ea typeface="宋体" panose="02010600030101010101" pitchFamily="2" charset="-122"/>
              </a:rPr>
              <a:t>Rw</a:t>
            </a:r>
            <a:r>
              <a:rPr lang="en-US" altLang="zh-CN">
                <a:ea typeface="宋体" panose="02010600030101010101" pitchFamily="2" charset="-122"/>
              </a:rPr>
              <a:t> for the I-type instruction.</a:t>
            </a:r>
            <a:endParaRPr lang="en-US" altLang="zh-CN">
              <a:ea typeface="宋体" panose="02010600030101010101" pitchFamily="2" charset="-122"/>
            </a:endParaRPr>
          </a:p>
          <a:p>
            <a:pPr lvl="0"/>
            <a:r>
              <a:rPr lang="en-US" altLang="zh-CN">
                <a:ea typeface="宋体" panose="02010600030101010101" pitchFamily="2" charset="-122"/>
              </a:rPr>
              <a:t>Since the second operation of this instruction will be the immediate field zero extended to 32 bits, we also need a MUX here to block off bus B from the register file.</a:t>
            </a:r>
            <a:endParaRPr lang="en-US" altLang="zh-CN">
              <a:ea typeface="宋体" panose="02010600030101010101" pitchFamily="2" charset="-122"/>
            </a:endParaRPr>
          </a:p>
          <a:p>
            <a:pPr lvl="0"/>
            <a:r>
              <a:rPr lang="en-US" altLang="zh-CN">
                <a:ea typeface="宋体" panose="02010600030101010101" pitchFamily="2" charset="-122"/>
              </a:rPr>
              <a:t>Since bus B is blocked off by the MUX, the value on bus B is don’t care. Therefore we do not have to worry about what ends up on  the register file’s </a:t>
            </a:r>
            <a:r>
              <a:rPr lang="en-US" altLang="zh-CN" dirty="0" err="1">
                <a:ea typeface="宋体" panose="02010600030101010101" pitchFamily="2" charset="-122"/>
              </a:rPr>
              <a:t>Rb</a:t>
            </a:r>
            <a:r>
              <a:rPr lang="en-US" altLang="zh-CN">
                <a:ea typeface="宋体" panose="02010600030101010101" pitchFamily="2" charset="-122"/>
              </a:rPr>
              <a:t> register </a:t>
            </a:r>
            <a:r>
              <a:rPr lang="en-US" altLang="zh-CN" dirty="0" err="1">
                <a:ea typeface="宋体" panose="02010600030101010101" pitchFamily="2" charset="-122"/>
              </a:rPr>
              <a:t>specifier</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To keep things simple, we may just as well keep it the same as the R-type instruction and put the </a:t>
            </a:r>
            <a:r>
              <a:rPr lang="en-US" altLang="zh-CN" dirty="0" err="1">
                <a:ea typeface="宋体" panose="02010600030101010101" pitchFamily="2" charset="-122"/>
              </a:rPr>
              <a:t>Rt</a:t>
            </a:r>
            <a:r>
              <a:rPr lang="en-US" altLang="zh-CN">
                <a:ea typeface="宋体" panose="02010600030101010101" pitchFamily="2" charset="-122"/>
              </a:rPr>
              <a:t> field here.</a:t>
            </a:r>
            <a:endParaRPr lang="en-US" altLang="zh-CN">
              <a:ea typeface="宋体" panose="02010600030101010101" pitchFamily="2" charset="-122"/>
            </a:endParaRPr>
          </a:p>
          <a:p>
            <a:pPr lvl="0"/>
            <a:r>
              <a:rPr lang="en-US" altLang="zh-CN">
                <a:ea typeface="宋体" panose="02010600030101010101" pitchFamily="2" charset="-122"/>
              </a:rPr>
              <a:t>So to summarize, this is how this </a:t>
            </a:r>
            <a:r>
              <a:rPr lang="en-US" altLang="zh-CN" dirty="0" err="1">
                <a:ea typeface="宋体" panose="02010600030101010101" pitchFamily="2" charset="-122"/>
              </a:rPr>
              <a:t>datapath</a:t>
            </a:r>
            <a:r>
              <a:rPr lang="en-US" altLang="zh-CN">
                <a:ea typeface="宋体" panose="02010600030101010101" pitchFamily="2" charset="-122"/>
              </a:rPr>
              <a:t> works.  With </a:t>
            </a:r>
            <a:r>
              <a:rPr lang="en-US" altLang="zh-CN" dirty="0" err="1">
                <a:ea typeface="宋体" panose="02010600030101010101" pitchFamily="2" charset="-122"/>
              </a:rPr>
              <a:t>Rs</a:t>
            </a:r>
            <a:r>
              <a:rPr lang="en-US" altLang="zh-CN">
                <a:ea typeface="宋体" panose="02010600030101010101" pitchFamily="2" charset="-122"/>
              </a:rPr>
              <a:t> on Register File’s Ra input, bus A will get the value of </a:t>
            </a:r>
            <a:r>
              <a:rPr lang="en-US" altLang="zh-CN" dirty="0" err="1">
                <a:ea typeface="宋体" panose="02010600030101010101" pitchFamily="2" charset="-122"/>
              </a:rPr>
              <a:t>Rs</a:t>
            </a:r>
            <a:r>
              <a:rPr lang="en-US" altLang="zh-CN">
                <a:ea typeface="宋体" panose="02010600030101010101" pitchFamily="2" charset="-122"/>
              </a:rPr>
              <a:t> as the first ALU operand.</a:t>
            </a:r>
            <a:endParaRPr lang="en-US" altLang="zh-CN">
              <a:ea typeface="宋体" panose="02010600030101010101" pitchFamily="2" charset="-122"/>
            </a:endParaRPr>
          </a:p>
          <a:p>
            <a:pPr lvl="0"/>
            <a:r>
              <a:rPr lang="en-US" altLang="zh-CN">
                <a:ea typeface="宋体" panose="02010600030101010101" pitchFamily="2" charset="-122"/>
              </a:rPr>
              <a:t>The second operand will come from the immediate field of the instruction.</a:t>
            </a:r>
            <a:endParaRPr lang="en-US" altLang="zh-CN">
              <a:ea typeface="宋体" panose="02010600030101010101" pitchFamily="2" charset="-122"/>
            </a:endParaRPr>
          </a:p>
          <a:p>
            <a:pPr lvl="0"/>
            <a:r>
              <a:rPr lang="en-US" altLang="zh-CN">
                <a:ea typeface="宋体" panose="02010600030101010101" pitchFamily="2" charset="-122"/>
              </a:rPr>
              <a:t>Once the ALU complete the OR operation, the result will be written into the register specified by the instruction’s </a:t>
            </a:r>
            <a:r>
              <a:rPr lang="en-US" altLang="zh-CN" dirty="0" err="1">
                <a:ea typeface="宋体" panose="02010600030101010101" pitchFamily="2" charset="-122"/>
              </a:rPr>
              <a:t>Rt</a:t>
            </a:r>
            <a:r>
              <a:rPr lang="en-US" altLang="zh-CN">
                <a:ea typeface="宋体" panose="02010600030101010101" pitchFamily="2" charset="-122"/>
              </a:rPr>
              <a:t> field.</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50 min. (Y:30)</a:t>
            </a:r>
            <a:endParaRPr lang="en-US" altLang="zh-CN">
              <a:ea typeface="宋体" panose="02010600030101010101" pitchFamily="2" charset="-122"/>
            </a:endParaRPr>
          </a:p>
        </p:txBody>
      </p:sp>
      <p:sp>
        <p:nvSpPr>
          <p:cNvPr id="63490" name="幻灯片图像占位符 205826"/>
          <p:cNvSpPr>
            <a:spLocks noTextEdit="1"/>
          </p:cNvSpPr>
          <p:nvPr>
            <p:ph type="sldImg"/>
          </p:nvPr>
        </p:nvSpPr>
        <p:spPr>
          <a:xfrm>
            <a:off x="1427163" y="644525"/>
            <a:ext cx="4259262" cy="3194050"/>
          </a:xfr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文本占位符 205825"/>
          <p:cNvSpPr>
            <a:spLocks noGrp="1"/>
          </p:cNvSpPr>
          <p:nvPr>
            <p:ph type="body"/>
          </p:nvPr>
        </p:nvSpPr>
        <p:spPr>
          <a:xfrm>
            <a:off x="533400" y="4094163"/>
            <a:ext cx="6118225" cy="5373687"/>
          </a:xfrm>
        </p:spPr>
        <p:txBody>
          <a:bodyPr vert="horz" wrap="square" lIns="100753" tIns="49493" rIns="100753" bIns="49493" anchor="t" anchorCtr="0"/>
          <a:p>
            <a:pPr lvl="0"/>
            <a:r>
              <a:rPr lang="en-US" altLang="zh-CN">
                <a:ea typeface="宋体" panose="02010600030101010101" pitchFamily="2" charset="-122"/>
              </a:rPr>
              <a:t>Here is the </a:t>
            </a:r>
            <a:r>
              <a:rPr lang="en-US" altLang="zh-CN" dirty="0" err="1">
                <a:ea typeface="宋体" panose="02010600030101010101" pitchFamily="2" charset="-122"/>
              </a:rPr>
              <a:t>datapath</a:t>
            </a:r>
            <a:r>
              <a:rPr lang="en-US" altLang="zh-CN">
                <a:ea typeface="宋体" panose="02010600030101010101" pitchFamily="2" charset="-122"/>
              </a:rPr>
              <a:t> for the Or immediate instructions.</a:t>
            </a:r>
            <a:endParaRPr lang="en-US" altLang="zh-CN">
              <a:ea typeface="宋体" panose="02010600030101010101" pitchFamily="2" charset="-122"/>
            </a:endParaRPr>
          </a:p>
          <a:p>
            <a:pPr lvl="0"/>
            <a:r>
              <a:rPr lang="en-US" altLang="zh-CN">
                <a:ea typeface="宋体" panose="02010600030101010101" pitchFamily="2" charset="-122"/>
              </a:rPr>
              <a:t>We cannot use the Rd field here (</a:t>
            </a:r>
            <a:r>
              <a:rPr lang="en-US" altLang="zh-CN" dirty="0" err="1">
                <a:ea typeface="宋体" panose="02010600030101010101" pitchFamily="2" charset="-122"/>
              </a:rPr>
              <a:t>Rw</a:t>
            </a:r>
            <a:r>
              <a:rPr lang="en-US" altLang="zh-CN">
                <a:ea typeface="宋体" panose="02010600030101010101" pitchFamily="2" charset="-122"/>
              </a:rPr>
              <a:t>) because in this instruction format, we don’t have a Rd field. The Rd field in the R-type is used here as part of the immediate field.</a:t>
            </a:r>
            <a:endParaRPr lang="en-US" altLang="zh-CN">
              <a:ea typeface="宋体" panose="02010600030101010101" pitchFamily="2" charset="-122"/>
            </a:endParaRPr>
          </a:p>
          <a:p>
            <a:pPr lvl="0"/>
            <a:r>
              <a:rPr lang="en-US" altLang="zh-CN">
                <a:ea typeface="宋体" panose="02010600030101010101" pitchFamily="2" charset="-122"/>
              </a:rPr>
              <a:t>For this instruction type, </a:t>
            </a:r>
            <a:r>
              <a:rPr lang="en-US" altLang="zh-CN" dirty="0" err="1">
                <a:ea typeface="宋体" panose="02010600030101010101" pitchFamily="2" charset="-122"/>
              </a:rPr>
              <a:t>Rw</a:t>
            </a:r>
            <a:r>
              <a:rPr lang="en-US" altLang="zh-CN">
                <a:ea typeface="宋体" panose="02010600030101010101" pitchFamily="2" charset="-122"/>
              </a:rPr>
              <a:t> input of the register file, that is the address of the register to be written, comes from the </a:t>
            </a:r>
            <a:r>
              <a:rPr lang="en-US" altLang="zh-CN" dirty="0" err="1">
                <a:ea typeface="宋体" panose="02010600030101010101" pitchFamily="2" charset="-122"/>
              </a:rPr>
              <a:t>Rt</a:t>
            </a:r>
            <a:r>
              <a:rPr lang="en-US" altLang="zh-CN">
                <a:ea typeface="宋体" panose="02010600030101010101" pitchFamily="2" charset="-122"/>
              </a:rPr>
              <a:t> field of the instruction.</a:t>
            </a:r>
            <a:endParaRPr lang="en-US" altLang="zh-CN">
              <a:ea typeface="宋体" panose="02010600030101010101" pitchFamily="2" charset="-122"/>
            </a:endParaRPr>
          </a:p>
          <a:p>
            <a:pPr lvl="0"/>
            <a:r>
              <a:rPr lang="en-US" altLang="zh-CN">
                <a:ea typeface="宋体" panose="02010600030101010101" pitchFamily="2" charset="-122"/>
              </a:rPr>
              <a:t>Recalled from earlier slide that for R-type instruction, the </a:t>
            </a:r>
            <a:r>
              <a:rPr lang="en-US" altLang="zh-CN" dirty="0" err="1">
                <a:ea typeface="宋体" panose="02010600030101010101" pitchFamily="2" charset="-122"/>
              </a:rPr>
              <a:t>Rw</a:t>
            </a:r>
            <a:r>
              <a:rPr lang="en-US" altLang="zh-CN">
                <a:ea typeface="宋体" panose="02010600030101010101" pitchFamily="2" charset="-122"/>
              </a:rPr>
              <a:t> comes from the Rd field.</a:t>
            </a:r>
            <a:endParaRPr lang="en-US" altLang="zh-CN">
              <a:ea typeface="宋体" panose="02010600030101010101" pitchFamily="2" charset="-122"/>
            </a:endParaRPr>
          </a:p>
          <a:p>
            <a:pPr lvl="0"/>
            <a:r>
              <a:rPr lang="en-US" altLang="zh-CN">
                <a:ea typeface="宋体" panose="02010600030101010101" pitchFamily="2" charset="-122"/>
              </a:rPr>
              <a:t>That’s why we need a MUX here to put Rd onto </a:t>
            </a:r>
            <a:r>
              <a:rPr lang="en-US" altLang="zh-CN" dirty="0" err="1">
                <a:ea typeface="宋体" panose="02010600030101010101" pitchFamily="2" charset="-122"/>
              </a:rPr>
              <a:t>Rw</a:t>
            </a:r>
            <a:r>
              <a:rPr lang="en-US" altLang="zh-CN">
                <a:ea typeface="宋体" panose="02010600030101010101" pitchFamily="2" charset="-122"/>
              </a:rPr>
              <a:t> for R-type instructions and to put </a:t>
            </a:r>
            <a:r>
              <a:rPr lang="en-US" altLang="zh-CN" dirty="0" err="1">
                <a:ea typeface="宋体" panose="02010600030101010101" pitchFamily="2" charset="-122"/>
              </a:rPr>
              <a:t>Rt</a:t>
            </a:r>
            <a:r>
              <a:rPr lang="en-US" altLang="zh-CN">
                <a:ea typeface="宋体" panose="02010600030101010101" pitchFamily="2" charset="-122"/>
              </a:rPr>
              <a:t> onto </a:t>
            </a:r>
            <a:r>
              <a:rPr lang="en-US" altLang="zh-CN" dirty="0" err="1">
                <a:ea typeface="宋体" panose="02010600030101010101" pitchFamily="2" charset="-122"/>
              </a:rPr>
              <a:t>Rw</a:t>
            </a:r>
            <a:r>
              <a:rPr lang="en-US" altLang="zh-CN">
                <a:ea typeface="宋体" panose="02010600030101010101" pitchFamily="2" charset="-122"/>
              </a:rPr>
              <a:t> for the I-type instruction.</a:t>
            </a:r>
            <a:endParaRPr lang="en-US" altLang="zh-CN">
              <a:ea typeface="宋体" panose="02010600030101010101" pitchFamily="2" charset="-122"/>
            </a:endParaRPr>
          </a:p>
          <a:p>
            <a:pPr lvl="0"/>
            <a:r>
              <a:rPr lang="en-US" altLang="zh-CN">
                <a:ea typeface="宋体" panose="02010600030101010101" pitchFamily="2" charset="-122"/>
              </a:rPr>
              <a:t>Since the second operation of this instruction will be the immediate field zero extended to 32 bits, we also need a MUX here to block off bus B from the register file.</a:t>
            </a:r>
            <a:endParaRPr lang="en-US" altLang="zh-CN">
              <a:ea typeface="宋体" panose="02010600030101010101" pitchFamily="2" charset="-122"/>
            </a:endParaRPr>
          </a:p>
          <a:p>
            <a:pPr lvl="0"/>
            <a:r>
              <a:rPr lang="en-US" altLang="zh-CN">
                <a:ea typeface="宋体" panose="02010600030101010101" pitchFamily="2" charset="-122"/>
              </a:rPr>
              <a:t>Since bus B is blocked off by the MUX, the value on bus B is don’t care. Therefore we do not have to worry about what ends up on  the register file’s </a:t>
            </a:r>
            <a:r>
              <a:rPr lang="en-US" altLang="zh-CN" dirty="0" err="1">
                <a:ea typeface="宋体" panose="02010600030101010101" pitchFamily="2" charset="-122"/>
              </a:rPr>
              <a:t>Rb</a:t>
            </a:r>
            <a:r>
              <a:rPr lang="en-US" altLang="zh-CN">
                <a:ea typeface="宋体" panose="02010600030101010101" pitchFamily="2" charset="-122"/>
              </a:rPr>
              <a:t> register </a:t>
            </a:r>
            <a:r>
              <a:rPr lang="en-US" altLang="zh-CN" dirty="0" err="1">
                <a:ea typeface="宋体" panose="02010600030101010101" pitchFamily="2" charset="-122"/>
              </a:rPr>
              <a:t>specifier</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To keep things simple, we may just as well keep it the same as the R-type instruction and put the </a:t>
            </a:r>
            <a:r>
              <a:rPr lang="en-US" altLang="zh-CN" dirty="0" err="1">
                <a:ea typeface="宋体" panose="02010600030101010101" pitchFamily="2" charset="-122"/>
              </a:rPr>
              <a:t>Rt</a:t>
            </a:r>
            <a:r>
              <a:rPr lang="en-US" altLang="zh-CN">
                <a:ea typeface="宋体" panose="02010600030101010101" pitchFamily="2" charset="-122"/>
              </a:rPr>
              <a:t> field here.</a:t>
            </a:r>
            <a:endParaRPr lang="en-US" altLang="zh-CN">
              <a:ea typeface="宋体" panose="02010600030101010101" pitchFamily="2" charset="-122"/>
            </a:endParaRPr>
          </a:p>
          <a:p>
            <a:pPr lvl="0"/>
            <a:r>
              <a:rPr lang="en-US" altLang="zh-CN">
                <a:ea typeface="宋体" panose="02010600030101010101" pitchFamily="2" charset="-122"/>
              </a:rPr>
              <a:t>So to summarize, this is how this </a:t>
            </a:r>
            <a:r>
              <a:rPr lang="en-US" altLang="zh-CN" dirty="0" err="1">
                <a:ea typeface="宋体" panose="02010600030101010101" pitchFamily="2" charset="-122"/>
              </a:rPr>
              <a:t>datapath</a:t>
            </a:r>
            <a:r>
              <a:rPr lang="en-US" altLang="zh-CN">
                <a:ea typeface="宋体" panose="02010600030101010101" pitchFamily="2" charset="-122"/>
              </a:rPr>
              <a:t> works.  With </a:t>
            </a:r>
            <a:r>
              <a:rPr lang="en-US" altLang="zh-CN" dirty="0" err="1">
                <a:ea typeface="宋体" panose="02010600030101010101" pitchFamily="2" charset="-122"/>
              </a:rPr>
              <a:t>Rs</a:t>
            </a:r>
            <a:r>
              <a:rPr lang="en-US" altLang="zh-CN">
                <a:ea typeface="宋体" panose="02010600030101010101" pitchFamily="2" charset="-122"/>
              </a:rPr>
              <a:t> on Register File’s Ra input, bus A will get the value of </a:t>
            </a:r>
            <a:r>
              <a:rPr lang="en-US" altLang="zh-CN" dirty="0" err="1">
                <a:ea typeface="宋体" panose="02010600030101010101" pitchFamily="2" charset="-122"/>
              </a:rPr>
              <a:t>Rs</a:t>
            </a:r>
            <a:r>
              <a:rPr lang="en-US" altLang="zh-CN">
                <a:ea typeface="宋体" panose="02010600030101010101" pitchFamily="2" charset="-122"/>
              </a:rPr>
              <a:t> as the first ALU operand.</a:t>
            </a:r>
            <a:endParaRPr lang="en-US" altLang="zh-CN">
              <a:ea typeface="宋体" panose="02010600030101010101" pitchFamily="2" charset="-122"/>
            </a:endParaRPr>
          </a:p>
          <a:p>
            <a:pPr lvl="0"/>
            <a:r>
              <a:rPr lang="en-US" altLang="zh-CN">
                <a:ea typeface="宋体" panose="02010600030101010101" pitchFamily="2" charset="-122"/>
              </a:rPr>
              <a:t>The second operand will come from the immediate field of the instruction.</a:t>
            </a:r>
            <a:endParaRPr lang="en-US" altLang="zh-CN">
              <a:ea typeface="宋体" panose="02010600030101010101" pitchFamily="2" charset="-122"/>
            </a:endParaRPr>
          </a:p>
          <a:p>
            <a:pPr lvl="0"/>
            <a:r>
              <a:rPr lang="en-US" altLang="zh-CN">
                <a:ea typeface="宋体" panose="02010600030101010101" pitchFamily="2" charset="-122"/>
              </a:rPr>
              <a:t>Once the ALU complete the OR operation, the result will be written into the register specified by the instruction’s </a:t>
            </a:r>
            <a:r>
              <a:rPr lang="en-US" altLang="zh-CN" dirty="0" err="1">
                <a:ea typeface="宋体" panose="02010600030101010101" pitchFamily="2" charset="-122"/>
              </a:rPr>
              <a:t>Rt</a:t>
            </a:r>
            <a:r>
              <a:rPr lang="en-US" altLang="zh-CN">
                <a:ea typeface="宋体" panose="02010600030101010101" pitchFamily="2" charset="-122"/>
              </a:rPr>
              <a:t> field.</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50 min. (Y:30)</a:t>
            </a:r>
            <a:endParaRPr lang="en-US" altLang="zh-CN">
              <a:ea typeface="宋体" panose="02010600030101010101" pitchFamily="2" charset="-122"/>
            </a:endParaRPr>
          </a:p>
        </p:txBody>
      </p:sp>
      <p:sp>
        <p:nvSpPr>
          <p:cNvPr id="63490" name="幻灯片图像占位符 205826"/>
          <p:cNvSpPr>
            <a:spLocks noTextEdit="1"/>
          </p:cNvSpPr>
          <p:nvPr>
            <p:ph type="sldImg"/>
          </p:nvPr>
        </p:nvSpPr>
        <p:spPr>
          <a:xfrm>
            <a:off x="1427163" y="644525"/>
            <a:ext cx="4259262" cy="31940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文本占位符 207873"/>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today’s lecture, I will show you how to implement the following subset of MIPS instructions: add, subtract, or immediate, load, store, branch, and the jump instruction.</a:t>
            </a:r>
            <a:endParaRPr lang="en-US" altLang="zh-CN">
              <a:ea typeface="宋体" panose="02010600030101010101" pitchFamily="2" charset="-122"/>
            </a:endParaRPr>
          </a:p>
          <a:p>
            <a:pPr lvl="0"/>
            <a:r>
              <a:rPr lang="en-US" altLang="zh-CN">
                <a:ea typeface="宋体" panose="02010600030101010101" pitchFamily="2" charset="-122"/>
              </a:rPr>
              <a:t>The Add and Subtract instructions use the R format.  The Op together with the </a:t>
            </a:r>
            <a:r>
              <a:rPr lang="en-US" altLang="zh-CN" dirty="0" err="1">
                <a:ea typeface="宋体" panose="02010600030101010101" pitchFamily="2" charset="-122"/>
              </a:rPr>
              <a:t>Func</a:t>
            </a:r>
            <a:r>
              <a:rPr lang="en-US" altLang="zh-CN">
                <a:ea typeface="宋体" panose="02010600030101010101" pitchFamily="2" charset="-122"/>
              </a:rPr>
              <a:t> fields together specified all the different kinds of add and subtract instructions.</a:t>
            </a:r>
            <a:endParaRPr lang="en-US" altLang="zh-CN">
              <a:ea typeface="宋体" panose="02010600030101010101" pitchFamily="2" charset="-122"/>
            </a:endParaRPr>
          </a:p>
          <a:p>
            <a:pPr lvl="0"/>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specifies the source registers.  And the Rd field specifies the destination register.</a:t>
            </a:r>
            <a:endParaRPr lang="en-US" altLang="zh-CN">
              <a:ea typeface="宋体" panose="02010600030101010101" pitchFamily="2" charset="-122"/>
            </a:endParaRPr>
          </a:p>
          <a:p>
            <a:pPr lvl="0"/>
            <a:r>
              <a:rPr lang="en-US" altLang="zh-CN">
                <a:ea typeface="宋体" panose="02010600030101010101" pitchFamily="2" charset="-122"/>
              </a:rPr>
              <a:t>The Or immediate instruction uses the I format.  It only uses one source register, </a:t>
            </a:r>
            <a:r>
              <a:rPr lang="en-US" altLang="zh-CN" dirty="0" err="1">
                <a:ea typeface="宋体" panose="02010600030101010101" pitchFamily="2" charset="-122"/>
              </a:rPr>
              <a:t>Rs</a:t>
            </a:r>
            <a:r>
              <a:rPr lang="en-US" altLang="zh-CN">
                <a:ea typeface="宋体" panose="02010600030101010101" pitchFamily="2" charset="-122"/>
              </a:rPr>
              <a:t>.  The other operand comes from the immediate field. The </a:t>
            </a:r>
            <a:r>
              <a:rPr lang="en-US" altLang="zh-CN" dirty="0" err="1">
                <a:ea typeface="宋体" panose="02010600030101010101" pitchFamily="2" charset="-122"/>
              </a:rPr>
              <a:t>Rt</a:t>
            </a:r>
            <a:r>
              <a:rPr lang="en-US" altLang="zh-CN">
                <a:ea typeface="宋体" panose="02010600030101010101" pitchFamily="2" charset="-122"/>
              </a:rPr>
              <a:t> field is used to specified the destination register.</a:t>
            </a:r>
            <a:endParaRPr lang="en-US" altLang="zh-CN">
              <a:ea typeface="宋体" panose="02010600030101010101" pitchFamily="2" charset="-122"/>
            </a:endParaRPr>
          </a:p>
          <a:p>
            <a:pPr lvl="0"/>
            <a:r>
              <a:rPr lang="en-US" altLang="zh-CN">
                <a:ea typeface="宋体" panose="02010600030101010101" pitchFamily="2" charset="-122"/>
              </a:rPr>
              <a:t>Both the load and store instructions use the I format and both add the </a:t>
            </a:r>
            <a:r>
              <a:rPr lang="en-US" altLang="zh-CN" dirty="0" err="1">
                <a:ea typeface="宋体" panose="02010600030101010101" pitchFamily="2" charset="-122"/>
              </a:rPr>
              <a:t>Rs</a:t>
            </a:r>
            <a:r>
              <a:rPr lang="en-US" altLang="zh-CN">
                <a:ea typeface="宋体" panose="02010600030101010101" pitchFamily="2" charset="-122"/>
              </a:rPr>
              <a:t> and the immediate filed together to form the memory address.</a:t>
            </a:r>
            <a:endParaRPr lang="en-US" altLang="zh-CN">
              <a:ea typeface="宋体" panose="02010600030101010101" pitchFamily="2" charset="-122"/>
            </a:endParaRPr>
          </a:p>
          <a:p>
            <a:pPr lvl="0"/>
            <a:r>
              <a:rPr lang="en-US" altLang="zh-CN">
                <a:ea typeface="宋体" panose="02010600030101010101" pitchFamily="2" charset="-122"/>
              </a:rPr>
              <a:t>The difference is that the load instruction will load the data from memory into </a:t>
            </a:r>
            <a:r>
              <a:rPr lang="en-US" altLang="zh-CN" dirty="0" err="1">
                <a:ea typeface="宋体" panose="02010600030101010101" pitchFamily="2" charset="-122"/>
              </a:rPr>
              <a:t>Rt</a:t>
            </a:r>
            <a:r>
              <a:rPr lang="en-US" altLang="zh-CN">
                <a:ea typeface="宋体" panose="02010600030101010101" pitchFamily="2" charset="-122"/>
              </a:rPr>
              <a:t> while the store instruction will store the data in </a:t>
            </a:r>
            <a:r>
              <a:rPr lang="en-US" altLang="zh-CN" dirty="0" err="1">
                <a:ea typeface="宋体" panose="02010600030101010101" pitchFamily="2" charset="-122"/>
              </a:rPr>
              <a:t>Rt</a:t>
            </a:r>
            <a:r>
              <a:rPr lang="en-US" altLang="zh-CN">
                <a:ea typeface="宋体" panose="02010600030101010101" pitchFamily="2" charset="-122"/>
              </a:rPr>
              <a:t> into the memory.</a:t>
            </a:r>
            <a:endParaRPr lang="en-US" altLang="zh-CN">
              <a:ea typeface="宋体" panose="02010600030101010101" pitchFamily="2" charset="-122"/>
            </a:endParaRPr>
          </a:p>
          <a:p>
            <a:pPr lvl="0"/>
            <a:r>
              <a:rPr lang="en-US" altLang="zh-CN">
                <a:ea typeface="宋体" panose="02010600030101010101" pitchFamily="2" charset="-122"/>
              </a:rPr>
              <a:t>The branch on equal instruction also uses the I format.  Here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are used to specify the registers we need to compare.</a:t>
            </a:r>
            <a:endParaRPr lang="en-US" altLang="zh-CN">
              <a:ea typeface="宋体" panose="02010600030101010101" pitchFamily="2" charset="-122"/>
            </a:endParaRPr>
          </a:p>
          <a:p>
            <a:pPr lvl="0"/>
            <a:r>
              <a:rPr lang="en-US" altLang="zh-CN">
                <a:ea typeface="宋体" panose="02010600030101010101" pitchFamily="2" charset="-122"/>
              </a:rPr>
              <a:t>If these two registers are equal, we will branch to a location specified by the immediate field.</a:t>
            </a:r>
            <a:endParaRPr lang="en-US" altLang="zh-CN">
              <a:ea typeface="宋体" panose="02010600030101010101" pitchFamily="2" charset="-122"/>
            </a:endParaRPr>
          </a:p>
          <a:p>
            <a:pPr lvl="0"/>
            <a:r>
              <a:rPr lang="en-US" altLang="zh-CN">
                <a:ea typeface="宋体" panose="02010600030101010101" pitchFamily="2" charset="-122"/>
              </a:rPr>
              <a:t>Finally, the jump instruction uses the J format and always causes the program to jump to a memory location specified in the address field. </a:t>
            </a:r>
            <a:endParaRPr lang="en-US" altLang="zh-CN">
              <a:ea typeface="宋体" panose="02010600030101010101" pitchFamily="2" charset="-122"/>
            </a:endParaRPr>
          </a:p>
          <a:p>
            <a:pPr lvl="0"/>
            <a:r>
              <a:rPr lang="en-US" altLang="zh-CN">
                <a:ea typeface="宋体" panose="02010600030101010101" pitchFamily="2" charset="-122"/>
              </a:rPr>
              <a:t>I know I went over this rather quickly and you may have missed something.  But don’t worry, this is just an overview.  You will keep seeing these (point to the format) all day today.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13 min. (X:53)</a:t>
            </a:r>
            <a:endParaRPr lang="en-US" altLang="zh-CN">
              <a:ea typeface="宋体" panose="02010600030101010101" pitchFamily="2" charset="-122"/>
            </a:endParaRPr>
          </a:p>
        </p:txBody>
      </p:sp>
      <p:sp>
        <p:nvSpPr>
          <p:cNvPr id="65538" name="幻灯片图像占位符 207874"/>
          <p:cNvSpPr>
            <a:spLocks noTextEdit="1"/>
          </p:cNvSpPr>
          <p:nvPr>
            <p:ph type="sldImg"/>
          </p:nvPr>
        </p:nvSpPr>
        <p:spPr>
          <a:xfrm>
            <a:off x="1427163" y="644525"/>
            <a:ext cx="4259262" cy="3194050"/>
          </a:xfr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文本占位符 209921"/>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Like the OR immediate instruction I just showed you, the load instruction also uses the I format (point to the format diagram).</a:t>
            </a:r>
            <a:endParaRPr lang="en-US" altLang="zh-CN">
              <a:ea typeface="宋体" panose="02010600030101010101" pitchFamily="2" charset="-122"/>
            </a:endParaRPr>
          </a:p>
          <a:p>
            <a:pPr lvl="0"/>
            <a:r>
              <a:rPr lang="en-US" altLang="zh-CN">
                <a:ea typeface="宋体" panose="02010600030101010101" pitchFamily="2" charset="-122"/>
              </a:rPr>
              <a:t>But unlike the OR immediate instruction, the immediate field (Imm16 of the format diagram) is sign extended instead of zero extended.</a:t>
            </a:r>
            <a:endParaRPr lang="en-US" altLang="zh-CN">
              <a:ea typeface="宋体" panose="02010600030101010101" pitchFamily="2" charset="-122"/>
            </a:endParaRPr>
          </a:p>
          <a:p>
            <a:pPr lvl="0"/>
            <a:r>
              <a:rPr lang="en-US" altLang="zh-CN">
                <a:ea typeface="宋体" panose="02010600030101010101" pitchFamily="2" charset="-122"/>
              </a:rPr>
              <a:t>That is we will duplicate the most significant bit of 16 times to the left to form a 32-bit value.</a:t>
            </a:r>
            <a:endParaRPr lang="en-US" altLang="zh-CN">
              <a:ea typeface="宋体" panose="02010600030101010101" pitchFamily="2" charset="-122"/>
            </a:endParaRPr>
          </a:p>
          <a:p>
            <a:pPr lvl="0"/>
            <a:r>
              <a:rPr lang="en-US" altLang="zh-CN">
                <a:ea typeface="宋体" panose="02010600030101010101" pitchFamily="2" charset="-122"/>
              </a:rPr>
              <a:t>This sign extended value (</a:t>
            </a:r>
            <a:r>
              <a:rPr lang="en-US" altLang="zh-CN" dirty="0" err="1">
                <a:ea typeface="宋体" panose="02010600030101010101" pitchFamily="2" charset="-122"/>
              </a:rPr>
              <a:t>SignExt</a:t>
            </a:r>
            <a:r>
              <a:rPr lang="en-US" altLang="zh-CN">
                <a:ea typeface="宋体" panose="02010600030101010101" pitchFamily="2" charset="-122"/>
              </a:rPr>
              <a:t>) is then added to the register selected by the </a:t>
            </a:r>
            <a:r>
              <a:rPr lang="en-US" altLang="zh-CN" dirty="0" err="1">
                <a:ea typeface="宋体" panose="02010600030101010101" pitchFamily="2" charset="-122"/>
              </a:rPr>
              <a:t>Rs</a:t>
            </a:r>
            <a:r>
              <a:rPr lang="en-US" altLang="zh-CN">
                <a:ea typeface="宋体" panose="02010600030101010101" pitchFamily="2" charset="-122"/>
              </a:rPr>
              <a:t> field of the instruction to form the memory address.</a:t>
            </a:r>
            <a:endParaRPr lang="en-US" altLang="zh-CN">
              <a:ea typeface="宋体" panose="02010600030101010101" pitchFamily="2" charset="-122"/>
            </a:endParaRPr>
          </a:p>
          <a:p>
            <a:pPr lvl="0"/>
            <a:r>
              <a:rPr lang="en-US" altLang="zh-CN">
                <a:ea typeface="宋体" panose="02010600030101010101" pitchFamily="2" charset="-122"/>
              </a:rPr>
              <a:t>The memory address is then used to load the value into the register specified by the </a:t>
            </a:r>
            <a:r>
              <a:rPr lang="en-US" altLang="zh-CN" dirty="0" err="1">
                <a:ea typeface="宋体" panose="02010600030101010101" pitchFamily="2" charset="-122"/>
              </a:rPr>
              <a:t>Rt</a:t>
            </a:r>
            <a:r>
              <a:rPr lang="en-US" altLang="zh-CN">
                <a:ea typeface="宋体" panose="02010600030101010101" pitchFamily="2" charset="-122"/>
              </a:rPr>
              <a:t> field of the instruction (</a:t>
            </a:r>
            <a:r>
              <a:rPr lang="en-US" altLang="zh-CN" dirty="0" err="1">
                <a:ea typeface="宋体" panose="02010600030101010101" pitchFamily="2" charset="-122"/>
              </a:rPr>
              <a:t>Rt</a:t>
            </a:r>
            <a:r>
              <a:rPr lang="en-US" altLang="zh-CN">
                <a:ea typeface="宋体" panose="02010600030101010101" pitchFamily="2" charset="-122"/>
              </a:rPr>
              <a:t> of the format diagram).</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57 min. (Y:37)</a:t>
            </a:r>
            <a:endParaRPr lang="en-US" altLang="zh-CN">
              <a:ea typeface="宋体" panose="02010600030101010101" pitchFamily="2" charset="-122"/>
            </a:endParaRPr>
          </a:p>
        </p:txBody>
      </p:sp>
      <p:sp>
        <p:nvSpPr>
          <p:cNvPr id="67586" name="幻灯片图像占位符 209922"/>
          <p:cNvSpPr>
            <a:spLocks noTextEdit="1"/>
          </p:cNvSpPr>
          <p:nvPr>
            <p:ph type="sldImg"/>
          </p:nvPr>
        </p:nvSpPr>
        <p:spPr>
          <a:xfrm>
            <a:off x="1427163" y="644525"/>
            <a:ext cx="4259262" cy="3194050"/>
          </a:xfr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文本占位符 211969"/>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Once again we cannot use the instruction’s Rd field for the Register File’s </a:t>
            </a:r>
            <a:r>
              <a:rPr lang="en-US" altLang="zh-CN" dirty="0" err="1">
                <a:ea typeface="宋体" panose="02010600030101010101" pitchFamily="2" charset="-122"/>
              </a:rPr>
              <a:t>Rw</a:t>
            </a:r>
            <a:r>
              <a:rPr lang="en-US" altLang="zh-CN">
                <a:ea typeface="宋体" panose="02010600030101010101" pitchFamily="2" charset="-122"/>
              </a:rPr>
              <a:t> input because load is a I-type instruction and there is no such thing as the Rd field in the I format.</a:t>
            </a:r>
            <a:endParaRPr lang="en-US" altLang="zh-CN">
              <a:ea typeface="宋体" panose="02010600030101010101" pitchFamily="2" charset="-122"/>
            </a:endParaRPr>
          </a:p>
          <a:p>
            <a:pPr lvl="0"/>
            <a:r>
              <a:rPr lang="en-US" altLang="zh-CN">
                <a:ea typeface="宋体" panose="02010600030101010101" pitchFamily="2" charset="-122"/>
              </a:rPr>
              <a:t>So instead of Rd, the </a:t>
            </a:r>
            <a:r>
              <a:rPr lang="en-US" altLang="zh-CN" dirty="0" err="1">
                <a:ea typeface="宋体" panose="02010600030101010101" pitchFamily="2" charset="-122"/>
              </a:rPr>
              <a:t>Rt</a:t>
            </a:r>
            <a:r>
              <a:rPr lang="en-US" altLang="zh-CN">
                <a:ea typeface="宋体" panose="02010600030101010101" pitchFamily="2" charset="-122"/>
              </a:rPr>
              <a:t> field is used to specify the destination register through this two to  one multiplexor.</a:t>
            </a:r>
            <a:endParaRPr lang="en-US" altLang="zh-CN">
              <a:ea typeface="宋体" panose="02010600030101010101" pitchFamily="2" charset="-122"/>
            </a:endParaRPr>
          </a:p>
          <a:p>
            <a:pPr lvl="0"/>
            <a:r>
              <a:rPr lang="en-US" altLang="zh-CN">
                <a:ea typeface="宋体" panose="02010600030101010101" pitchFamily="2" charset="-122"/>
              </a:rPr>
              <a:t>The first operand of the ALU comes from </a:t>
            </a:r>
            <a:r>
              <a:rPr lang="en-US" altLang="zh-CN" dirty="0" err="1">
                <a:ea typeface="宋体" panose="02010600030101010101" pitchFamily="2" charset="-122"/>
              </a:rPr>
              <a:t>busA</a:t>
            </a:r>
            <a:r>
              <a:rPr lang="en-US" altLang="zh-CN">
                <a:ea typeface="宋体" panose="02010600030101010101" pitchFamily="2" charset="-122"/>
              </a:rPr>
              <a:t> of the register file which contains the value of Register </a:t>
            </a:r>
            <a:r>
              <a:rPr lang="en-US" altLang="zh-CN" dirty="0" err="1">
                <a:ea typeface="宋体" panose="02010600030101010101" pitchFamily="2" charset="-122"/>
              </a:rPr>
              <a:t>Rs</a:t>
            </a:r>
            <a:r>
              <a:rPr lang="en-US" altLang="zh-CN">
                <a:ea typeface="宋体" panose="02010600030101010101" pitchFamily="2" charset="-122"/>
              </a:rPr>
              <a:t> (points to the Ra input of the register file).</a:t>
            </a:r>
            <a:endParaRPr lang="en-US" altLang="zh-CN">
              <a:ea typeface="宋体" panose="02010600030101010101" pitchFamily="2" charset="-122"/>
            </a:endParaRPr>
          </a:p>
          <a:p>
            <a:pPr lvl="0"/>
            <a:r>
              <a:rPr lang="en-US" altLang="zh-CN">
                <a:ea typeface="宋体" panose="02010600030101010101" pitchFamily="2" charset="-122"/>
              </a:rPr>
              <a:t>The second operand, on the other hand, comes from the immediate field of the instruction.</a:t>
            </a:r>
            <a:endParaRPr lang="en-US" altLang="zh-CN">
              <a:ea typeface="宋体" panose="02010600030101010101" pitchFamily="2" charset="-122"/>
            </a:endParaRPr>
          </a:p>
          <a:p>
            <a:pPr lvl="0"/>
            <a:r>
              <a:rPr lang="en-US" altLang="zh-CN">
                <a:ea typeface="宋体" panose="02010600030101010101" pitchFamily="2" charset="-122"/>
              </a:rPr>
              <a:t>Instead of using the Zero Extender I used in </a:t>
            </a:r>
            <a:r>
              <a:rPr lang="en-US" altLang="zh-CN" dirty="0" err="1">
                <a:ea typeface="宋体" panose="02010600030101010101" pitchFamily="2" charset="-122"/>
              </a:rPr>
              <a:t>datapath</a:t>
            </a:r>
            <a:r>
              <a:rPr lang="en-US" altLang="zh-CN">
                <a:ea typeface="宋体" panose="02010600030101010101" pitchFamily="2" charset="-122"/>
              </a:rPr>
              <a:t> for the or immediate </a:t>
            </a:r>
            <a:r>
              <a:rPr lang="en-US" altLang="zh-CN" dirty="0" err="1">
                <a:ea typeface="宋体" panose="02010600030101010101" pitchFamily="2" charset="-122"/>
              </a:rPr>
              <a:t>datapath</a:t>
            </a:r>
            <a:r>
              <a:rPr lang="en-US" altLang="zh-CN">
                <a:ea typeface="宋体" panose="02010600030101010101" pitchFamily="2" charset="-122"/>
              </a:rPr>
              <a:t>, I have to use a more general purpose Extender that can do both Sign Extend and Zero Extend.</a:t>
            </a:r>
            <a:endParaRPr lang="en-US" altLang="zh-CN">
              <a:ea typeface="宋体" panose="02010600030101010101" pitchFamily="2" charset="-122"/>
            </a:endParaRPr>
          </a:p>
          <a:p>
            <a:pPr lvl="0"/>
            <a:r>
              <a:rPr lang="en-US" altLang="zh-CN">
                <a:ea typeface="宋体" panose="02010600030101010101" pitchFamily="2" charset="-122"/>
              </a:rPr>
              <a:t>The ALU then adds these two operands together to form the memory address.</a:t>
            </a:r>
            <a:endParaRPr lang="en-US" altLang="zh-CN">
              <a:ea typeface="宋体" panose="02010600030101010101" pitchFamily="2" charset="-122"/>
            </a:endParaRPr>
          </a:p>
          <a:p>
            <a:pPr lvl="0"/>
            <a:r>
              <a:rPr lang="en-US" altLang="zh-CN">
                <a:ea typeface="宋体" panose="02010600030101010101" pitchFamily="2" charset="-122"/>
              </a:rPr>
              <a:t>Consequently, the output of the ALU has to go to two places:</a:t>
            </a:r>
            <a:endParaRPr lang="en-US" altLang="zh-CN">
              <a:ea typeface="宋体" panose="02010600030101010101" pitchFamily="2" charset="-122"/>
            </a:endParaRPr>
          </a:p>
          <a:p>
            <a:pPr lvl="0"/>
            <a:r>
              <a:rPr lang="en-US" altLang="zh-CN">
                <a:ea typeface="宋体" panose="02010600030101010101" pitchFamily="2" charset="-122"/>
              </a:rPr>
              <a:t>(a) First the address input of the data memory.</a:t>
            </a:r>
            <a:endParaRPr lang="en-US" altLang="zh-CN">
              <a:ea typeface="宋体" panose="02010600030101010101" pitchFamily="2" charset="-122"/>
            </a:endParaRPr>
          </a:p>
          <a:p>
            <a:pPr lvl="0"/>
            <a:r>
              <a:rPr lang="en-US" altLang="zh-CN">
                <a:ea typeface="宋体" panose="02010600030101010101" pitchFamily="2" charset="-122"/>
              </a:rPr>
              <a:t>(b) And secondly, also to the input of this two-to-one multiplexer.</a:t>
            </a:r>
            <a:endParaRPr lang="en-US" altLang="zh-CN">
              <a:ea typeface="宋体" panose="02010600030101010101" pitchFamily="2" charset="-122"/>
            </a:endParaRPr>
          </a:p>
          <a:p>
            <a:pPr lvl="0"/>
            <a:r>
              <a:rPr lang="en-US" altLang="zh-CN">
                <a:ea typeface="宋体" panose="02010600030101010101" pitchFamily="2" charset="-122"/>
              </a:rPr>
              <a:t>The other input of this multiplexer comes from the output of the data memory so we can place the output of the data memory onto the register file’s input bus for the load instruction.</a:t>
            </a:r>
            <a:endParaRPr lang="en-US" altLang="zh-CN">
              <a:ea typeface="宋体" panose="02010600030101010101" pitchFamily="2" charset="-122"/>
            </a:endParaRPr>
          </a:p>
          <a:p>
            <a:pPr lvl="0"/>
            <a:r>
              <a:rPr lang="en-US" altLang="zh-CN">
                <a:ea typeface="宋体" panose="02010600030101010101" pitchFamily="2" charset="-122"/>
              </a:rPr>
              <a:t>For Add, Subtract, and the Or immediate instructions, the output of the ALU will be selected to be placed on the input bus of the register file.</a:t>
            </a:r>
            <a:endParaRPr lang="en-US" altLang="zh-CN">
              <a:ea typeface="宋体" panose="02010600030101010101" pitchFamily="2" charset="-122"/>
            </a:endParaRPr>
          </a:p>
          <a:p>
            <a:pPr lvl="0"/>
            <a:r>
              <a:rPr lang="en-US" altLang="zh-CN">
                <a:ea typeface="宋体" panose="02010600030101010101" pitchFamily="2" charset="-122"/>
              </a:rPr>
              <a:t>In either case, the control signal </a:t>
            </a:r>
            <a:r>
              <a:rPr lang="en-US" altLang="zh-CN" dirty="0" err="1">
                <a:ea typeface="宋体" panose="02010600030101010101" pitchFamily="2" charset="-122"/>
              </a:rPr>
              <a:t>RegWr</a:t>
            </a:r>
            <a:r>
              <a:rPr lang="en-US" altLang="zh-CN">
                <a:ea typeface="宋体" panose="02010600030101010101" pitchFamily="2" charset="-122"/>
              </a:rPr>
              <a:t> should be asserted so the register file will be written at the end of the cycle.</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60 min. (Y:40)</a:t>
            </a:r>
            <a:endParaRPr lang="en-US" altLang="zh-CN">
              <a:ea typeface="宋体" panose="02010600030101010101" pitchFamily="2" charset="-122"/>
            </a:endParaRPr>
          </a:p>
        </p:txBody>
      </p:sp>
      <p:sp>
        <p:nvSpPr>
          <p:cNvPr id="69634" name="幻灯片图像占位符 211970"/>
          <p:cNvSpPr>
            <a:spLocks noTextEdit="1"/>
          </p:cNvSpPr>
          <p:nvPr>
            <p:ph type="sldImg"/>
          </p:nvPr>
        </p:nvSpPr>
        <p:spPr>
          <a:xfrm>
            <a:off x="1427163" y="644525"/>
            <a:ext cx="4259262" cy="3194050"/>
          </a:xfr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文本占位符 214017"/>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today’s lecture, I will show you how to implement the following subset of MIPS instructions: add, subtract, or immediate, load, store, branch, and the jump instruction.</a:t>
            </a:r>
            <a:endParaRPr lang="en-US" altLang="zh-CN">
              <a:ea typeface="宋体" panose="02010600030101010101" pitchFamily="2" charset="-122"/>
            </a:endParaRPr>
          </a:p>
          <a:p>
            <a:pPr lvl="0"/>
            <a:r>
              <a:rPr lang="en-US" altLang="zh-CN">
                <a:ea typeface="宋体" panose="02010600030101010101" pitchFamily="2" charset="-122"/>
              </a:rPr>
              <a:t>The Add and Subtract instructions use the R format.  The Op together with the </a:t>
            </a:r>
            <a:r>
              <a:rPr lang="en-US" altLang="zh-CN" dirty="0" err="1">
                <a:ea typeface="宋体" panose="02010600030101010101" pitchFamily="2" charset="-122"/>
              </a:rPr>
              <a:t>Func</a:t>
            </a:r>
            <a:r>
              <a:rPr lang="en-US" altLang="zh-CN">
                <a:ea typeface="宋体" panose="02010600030101010101" pitchFamily="2" charset="-122"/>
              </a:rPr>
              <a:t> fields together specified all the different kinds of add and subtract instructions.</a:t>
            </a:r>
            <a:endParaRPr lang="en-US" altLang="zh-CN">
              <a:ea typeface="宋体" panose="02010600030101010101" pitchFamily="2" charset="-122"/>
            </a:endParaRPr>
          </a:p>
          <a:p>
            <a:pPr lvl="0"/>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specifies the source registers.  And the Rd field specifies the destination register.</a:t>
            </a:r>
            <a:endParaRPr lang="en-US" altLang="zh-CN">
              <a:ea typeface="宋体" panose="02010600030101010101" pitchFamily="2" charset="-122"/>
            </a:endParaRPr>
          </a:p>
          <a:p>
            <a:pPr lvl="0"/>
            <a:r>
              <a:rPr lang="en-US" altLang="zh-CN">
                <a:ea typeface="宋体" panose="02010600030101010101" pitchFamily="2" charset="-122"/>
              </a:rPr>
              <a:t>The Or immediate instruction uses the I format.  It only uses one source register, </a:t>
            </a:r>
            <a:r>
              <a:rPr lang="en-US" altLang="zh-CN" dirty="0" err="1">
                <a:ea typeface="宋体" panose="02010600030101010101" pitchFamily="2" charset="-122"/>
              </a:rPr>
              <a:t>Rs</a:t>
            </a:r>
            <a:r>
              <a:rPr lang="en-US" altLang="zh-CN">
                <a:ea typeface="宋体" panose="02010600030101010101" pitchFamily="2" charset="-122"/>
              </a:rPr>
              <a:t>.  The other operand comes from the immediate field. The </a:t>
            </a:r>
            <a:r>
              <a:rPr lang="en-US" altLang="zh-CN" dirty="0" err="1">
                <a:ea typeface="宋体" panose="02010600030101010101" pitchFamily="2" charset="-122"/>
              </a:rPr>
              <a:t>Rt</a:t>
            </a:r>
            <a:r>
              <a:rPr lang="en-US" altLang="zh-CN">
                <a:ea typeface="宋体" panose="02010600030101010101" pitchFamily="2" charset="-122"/>
              </a:rPr>
              <a:t> field is used to specified the destination register.</a:t>
            </a:r>
            <a:endParaRPr lang="en-US" altLang="zh-CN">
              <a:ea typeface="宋体" panose="02010600030101010101" pitchFamily="2" charset="-122"/>
            </a:endParaRPr>
          </a:p>
          <a:p>
            <a:pPr lvl="0"/>
            <a:r>
              <a:rPr lang="en-US" altLang="zh-CN">
                <a:ea typeface="宋体" panose="02010600030101010101" pitchFamily="2" charset="-122"/>
              </a:rPr>
              <a:t>Both the load and store instructions use the I format and both add the </a:t>
            </a:r>
            <a:r>
              <a:rPr lang="en-US" altLang="zh-CN" dirty="0" err="1">
                <a:ea typeface="宋体" panose="02010600030101010101" pitchFamily="2" charset="-122"/>
              </a:rPr>
              <a:t>Rs</a:t>
            </a:r>
            <a:r>
              <a:rPr lang="en-US" altLang="zh-CN">
                <a:ea typeface="宋体" panose="02010600030101010101" pitchFamily="2" charset="-122"/>
              </a:rPr>
              <a:t> and the immediate filed together to form the memory address.</a:t>
            </a:r>
            <a:endParaRPr lang="en-US" altLang="zh-CN">
              <a:ea typeface="宋体" panose="02010600030101010101" pitchFamily="2" charset="-122"/>
            </a:endParaRPr>
          </a:p>
          <a:p>
            <a:pPr lvl="0"/>
            <a:r>
              <a:rPr lang="en-US" altLang="zh-CN">
                <a:ea typeface="宋体" panose="02010600030101010101" pitchFamily="2" charset="-122"/>
              </a:rPr>
              <a:t>The difference is that the load instruction will load the data from memory into </a:t>
            </a:r>
            <a:r>
              <a:rPr lang="en-US" altLang="zh-CN" dirty="0" err="1">
                <a:ea typeface="宋体" panose="02010600030101010101" pitchFamily="2" charset="-122"/>
              </a:rPr>
              <a:t>Rt</a:t>
            </a:r>
            <a:r>
              <a:rPr lang="en-US" altLang="zh-CN">
                <a:ea typeface="宋体" panose="02010600030101010101" pitchFamily="2" charset="-122"/>
              </a:rPr>
              <a:t> while the store instruction will store the data in </a:t>
            </a:r>
            <a:r>
              <a:rPr lang="en-US" altLang="zh-CN" dirty="0" err="1">
                <a:ea typeface="宋体" panose="02010600030101010101" pitchFamily="2" charset="-122"/>
              </a:rPr>
              <a:t>Rt</a:t>
            </a:r>
            <a:r>
              <a:rPr lang="en-US" altLang="zh-CN">
                <a:ea typeface="宋体" panose="02010600030101010101" pitchFamily="2" charset="-122"/>
              </a:rPr>
              <a:t> into the memory.</a:t>
            </a:r>
            <a:endParaRPr lang="en-US" altLang="zh-CN">
              <a:ea typeface="宋体" panose="02010600030101010101" pitchFamily="2" charset="-122"/>
            </a:endParaRPr>
          </a:p>
          <a:p>
            <a:pPr lvl="0"/>
            <a:r>
              <a:rPr lang="en-US" altLang="zh-CN">
                <a:ea typeface="宋体" panose="02010600030101010101" pitchFamily="2" charset="-122"/>
              </a:rPr>
              <a:t>The branch on equal instruction also uses the I format.  Here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are used to specify the registers we need to compare.</a:t>
            </a:r>
            <a:endParaRPr lang="en-US" altLang="zh-CN">
              <a:ea typeface="宋体" panose="02010600030101010101" pitchFamily="2" charset="-122"/>
            </a:endParaRPr>
          </a:p>
          <a:p>
            <a:pPr lvl="0"/>
            <a:r>
              <a:rPr lang="en-US" altLang="zh-CN">
                <a:ea typeface="宋体" panose="02010600030101010101" pitchFamily="2" charset="-122"/>
              </a:rPr>
              <a:t>If these two registers are equal, we will branch to a location specified by the immediate field.</a:t>
            </a:r>
            <a:endParaRPr lang="en-US" altLang="zh-CN">
              <a:ea typeface="宋体" panose="02010600030101010101" pitchFamily="2" charset="-122"/>
            </a:endParaRPr>
          </a:p>
          <a:p>
            <a:pPr lvl="0"/>
            <a:r>
              <a:rPr lang="en-US" altLang="zh-CN">
                <a:ea typeface="宋体" panose="02010600030101010101" pitchFamily="2" charset="-122"/>
              </a:rPr>
              <a:t>Finally, the jump instruction uses the J format and always causes the program to jump to a memory location specified in the address field. </a:t>
            </a:r>
            <a:endParaRPr lang="en-US" altLang="zh-CN">
              <a:ea typeface="宋体" panose="02010600030101010101" pitchFamily="2" charset="-122"/>
            </a:endParaRPr>
          </a:p>
          <a:p>
            <a:pPr lvl="0"/>
            <a:r>
              <a:rPr lang="en-US" altLang="zh-CN">
                <a:ea typeface="宋体" panose="02010600030101010101" pitchFamily="2" charset="-122"/>
              </a:rPr>
              <a:t>I know I went over this rather quickly and you may have missed something.  But don’t worry, this is just an overview.  You will keep seeing these (point to the format) all day today.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13 min. (X:53)</a:t>
            </a:r>
            <a:endParaRPr lang="en-US" altLang="zh-CN">
              <a:ea typeface="宋体" panose="02010600030101010101" pitchFamily="2" charset="-122"/>
            </a:endParaRPr>
          </a:p>
        </p:txBody>
      </p:sp>
      <p:sp>
        <p:nvSpPr>
          <p:cNvPr id="71682" name="幻灯片图像占位符 214018"/>
          <p:cNvSpPr>
            <a:spLocks noTextEdit="1"/>
          </p:cNvSpPr>
          <p:nvPr>
            <p:ph type="sldImg"/>
          </p:nvPr>
        </p:nvSpPr>
        <p:spPr>
          <a:xfrm>
            <a:off x="1427163" y="644525"/>
            <a:ext cx="4259262" cy="3194050"/>
          </a:xfr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文本占位符 216065"/>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Just like the load instruction:</a:t>
            </a:r>
            <a:endParaRPr lang="en-US" altLang="zh-CN">
              <a:ea typeface="宋体" panose="02010600030101010101" pitchFamily="2" charset="-122"/>
            </a:endParaRPr>
          </a:p>
          <a:p>
            <a:pPr lvl="0"/>
            <a:r>
              <a:rPr lang="en-US" altLang="zh-CN">
                <a:ea typeface="宋体" panose="02010600030101010101" pitchFamily="2" charset="-122"/>
              </a:rPr>
              <a:t>(a) The store instruction also uses the I format.</a:t>
            </a:r>
            <a:endParaRPr lang="en-US" altLang="zh-CN">
              <a:ea typeface="宋体" panose="02010600030101010101" pitchFamily="2" charset="-122"/>
            </a:endParaRPr>
          </a:p>
          <a:p>
            <a:pPr lvl="0"/>
            <a:r>
              <a:rPr lang="en-US" altLang="zh-CN">
                <a:ea typeface="宋体" panose="02010600030101010101" pitchFamily="2" charset="-122"/>
              </a:rPr>
              <a:t>(b) And the store instruction also forms the memory address by adding the contents</a:t>
            </a:r>
            <a:endParaRPr lang="en-US" altLang="zh-CN">
              <a:ea typeface="宋体" panose="02010600030101010101" pitchFamily="2" charset="-122"/>
            </a:endParaRPr>
          </a:p>
          <a:p>
            <a:pPr lvl="0"/>
            <a:r>
              <a:rPr lang="en-US" altLang="zh-CN">
                <a:ea typeface="宋体" panose="02010600030101010101" pitchFamily="2" charset="-122"/>
              </a:rPr>
              <a:t>     of the register selected  by the </a:t>
            </a:r>
            <a:r>
              <a:rPr lang="en-US" altLang="zh-CN" dirty="0" err="1">
                <a:ea typeface="宋体" panose="02010600030101010101" pitchFamily="2" charset="-122"/>
              </a:rPr>
              <a:t>Rs</a:t>
            </a:r>
            <a:r>
              <a:rPr lang="en-US" altLang="zh-CN">
                <a:ea typeface="宋体" panose="02010600030101010101" pitchFamily="2" charset="-122"/>
              </a:rPr>
              <a:t> field to the sign extended immediate field.</a:t>
            </a:r>
            <a:endParaRPr lang="en-US" altLang="zh-CN">
              <a:ea typeface="宋体" panose="02010600030101010101" pitchFamily="2" charset="-122"/>
            </a:endParaRPr>
          </a:p>
          <a:p>
            <a:pPr lvl="0"/>
            <a:r>
              <a:rPr lang="en-US" altLang="zh-CN">
                <a:ea typeface="宋体" panose="02010600030101010101" pitchFamily="2" charset="-122"/>
              </a:rPr>
              <a:t>However, unlike the load instruction, which gets data from memory and put the data into the  </a:t>
            </a:r>
            <a:r>
              <a:rPr lang="en-US" altLang="zh-CN" dirty="0" err="1">
                <a:ea typeface="宋体" panose="02010600030101010101" pitchFamily="2" charset="-122"/>
              </a:rPr>
              <a:t>the</a:t>
            </a:r>
            <a:r>
              <a:rPr lang="en-US" altLang="zh-CN">
                <a:ea typeface="宋体" panose="02010600030101010101" pitchFamily="2" charset="-122"/>
              </a:rPr>
              <a:t> register file, the store instruction:</a:t>
            </a:r>
            <a:endParaRPr lang="en-US" altLang="zh-CN">
              <a:ea typeface="宋体" panose="02010600030101010101" pitchFamily="2" charset="-122"/>
            </a:endParaRPr>
          </a:p>
          <a:p>
            <a:pPr lvl="0"/>
            <a:r>
              <a:rPr lang="en-US" altLang="zh-CN">
                <a:ea typeface="宋体" panose="02010600030101010101" pitchFamily="2" charset="-122"/>
              </a:rPr>
              <a:t> (a) Get the register selected by the </a:t>
            </a:r>
            <a:r>
              <a:rPr lang="en-US" altLang="zh-CN" dirty="0" err="1">
                <a:ea typeface="宋体" panose="02010600030101010101" pitchFamily="2" charset="-122"/>
              </a:rPr>
              <a:t>Rt</a:t>
            </a:r>
            <a:r>
              <a:rPr lang="en-US" altLang="zh-CN">
                <a:ea typeface="宋体" panose="02010600030101010101" pitchFamily="2" charset="-122"/>
              </a:rPr>
              <a:t> field of the instruction (</a:t>
            </a:r>
            <a:r>
              <a:rPr lang="en-US" altLang="zh-CN" dirty="0" err="1">
                <a:ea typeface="宋体" panose="02010600030101010101" pitchFamily="2" charset="-122"/>
              </a:rPr>
              <a:t>R[rt</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 (b) And then write this register into the data memory.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62 min. (Y:42)</a:t>
            </a:r>
            <a:endParaRPr lang="en-US" altLang="zh-CN">
              <a:ea typeface="宋体" panose="02010600030101010101" pitchFamily="2" charset="-122"/>
            </a:endParaRPr>
          </a:p>
        </p:txBody>
      </p:sp>
      <p:sp>
        <p:nvSpPr>
          <p:cNvPr id="73730" name="幻灯片图像占位符 216066"/>
          <p:cNvSpPr>
            <a:spLocks noTextEdit="1"/>
          </p:cNvSpPr>
          <p:nvPr>
            <p:ph type="sldImg"/>
          </p:nvPr>
        </p:nvSpPr>
        <p:spPr>
          <a:xfrm>
            <a:off x="1427163" y="644525"/>
            <a:ext cx="4259262" cy="3194050"/>
          </a:xfr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文本占位符 218113"/>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And here is the </a:t>
            </a:r>
            <a:r>
              <a:rPr lang="en-US" altLang="zh-CN" dirty="0" err="1">
                <a:ea typeface="宋体" panose="02010600030101010101" pitchFamily="2" charset="-122"/>
              </a:rPr>
              <a:t>datapath</a:t>
            </a:r>
            <a:r>
              <a:rPr lang="en-US" altLang="zh-CN">
                <a:ea typeface="宋体" panose="02010600030101010101" pitchFamily="2" charset="-122"/>
              </a:rPr>
              <a:t> for the store instruction.</a:t>
            </a:r>
            <a:endParaRPr lang="en-US" altLang="zh-CN">
              <a:ea typeface="宋体" panose="02010600030101010101" pitchFamily="2" charset="-122"/>
            </a:endParaRPr>
          </a:p>
          <a:p>
            <a:pPr lvl="0"/>
            <a:r>
              <a:rPr lang="en-US" altLang="zh-CN">
                <a:ea typeface="宋体" panose="02010600030101010101" pitchFamily="2" charset="-122"/>
              </a:rPr>
              <a:t>The Register File, the ALU, and the Extender are the same as the </a:t>
            </a:r>
            <a:r>
              <a:rPr lang="en-US" altLang="zh-CN" dirty="0" err="1">
                <a:ea typeface="宋体" panose="02010600030101010101" pitchFamily="2" charset="-122"/>
              </a:rPr>
              <a:t>datapath</a:t>
            </a:r>
            <a:r>
              <a:rPr lang="en-US" altLang="zh-CN">
                <a:ea typeface="宋体" panose="02010600030101010101" pitchFamily="2" charset="-122"/>
              </a:rPr>
              <a:t> for the load instruction because the memory address has to be calculated the exact same way:</a:t>
            </a:r>
            <a:endParaRPr lang="en-US" altLang="zh-CN">
              <a:ea typeface="宋体" panose="02010600030101010101" pitchFamily="2" charset="-122"/>
            </a:endParaRPr>
          </a:p>
          <a:p>
            <a:pPr lvl="0"/>
            <a:r>
              <a:rPr lang="en-US" altLang="zh-CN">
                <a:ea typeface="宋体" panose="02010600030101010101" pitchFamily="2" charset="-122"/>
              </a:rPr>
              <a:t>(a) Put the register selected by </a:t>
            </a:r>
            <a:r>
              <a:rPr lang="en-US" altLang="zh-CN" dirty="0" err="1">
                <a:ea typeface="宋体" panose="02010600030101010101" pitchFamily="2" charset="-122"/>
              </a:rPr>
              <a:t>Rs</a:t>
            </a:r>
            <a:r>
              <a:rPr lang="en-US" altLang="zh-CN">
                <a:ea typeface="宋体" panose="02010600030101010101" pitchFamily="2" charset="-122"/>
              </a:rPr>
              <a:t> onto bus A and sign extend the 16 bit immediate field.</a:t>
            </a:r>
            <a:endParaRPr lang="en-US" altLang="zh-CN">
              <a:ea typeface="宋体" panose="02010600030101010101" pitchFamily="2" charset="-122"/>
            </a:endParaRPr>
          </a:p>
          <a:p>
            <a:pPr lvl="0"/>
            <a:r>
              <a:rPr lang="en-US" altLang="zh-CN">
                <a:ea typeface="宋体" panose="02010600030101010101" pitchFamily="2" charset="-122"/>
              </a:rPr>
              <a:t>(b) Then make the ALU (</a:t>
            </a:r>
            <a:r>
              <a:rPr lang="en-US" altLang="zh-CN" dirty="0" err="1">
                <a:ea typeface="宋体" panose="02010600030101010101" pitchFamily="2" charset="-122"/>
              </a:rPr>
              <a:t>ALUctr</a:t>
            </a:r>
            <a:r>
              <a:rPr lang="en-US" altLang="zh-CN">
                <a:ea typeface="宋体" panose="02010600030101010101" pitchFamily="2" charset="-122"/>
              </a:rPr>
              <a:t>) adds these two (</a:t>
            </a:r>
            <a:r>
              <a:rPr lang="en-US" altLang="zh-CN" dirty="0" err="1">
                <a:ea typeface="宋体" panose="02010600030101010101" pitchFamily="2" charset="-122"/>
              </a:rPr>
              <a:t>busA</a:t>
            </a:r>
            <a:r>
              <a:rPr lang="en-US" altLang="zh-CN">
                <a:ea typeface="宋体" panose="02010600030101010101" pitchFamily="2" charset="-122"/>
              </a:rPr>
              <a:t> and output of Extender) together.</a:t>
            </a:r>
            <a:endParaRPr lang="en-US" altLang="zh-CN">
              <a:ea typeface="宋体" panose="02010600030101010101" pitchFamily="2" charset="-122"/>
            </a:endParaRPr>
          </a:p>
          <a:p>
            <a:pPr lvl="0"/>
            <a:r>
              <a:rPr lang="en-US" altLang="zh-CN">
                <a:ea typeface="宋体" panose="02010600030101010101" pitchFamily="2" charset="-122"/>
              </a:rPr>
              <a:t>The new thing we added here is </a:t>
            </a:r>
            <a:r>
              <a:rPr lang="en-US" altLang="zh-CN" dirty="0" err="1">
                <a:ea typeface="宋体" panose="02010600030101010101" pitchFamily="2" charset="-122"/>
              </a:rPr>
              <a:t>busB</a:t>
            </a:r>
            <a:r>
              <a:rPr lang="en-US" altLang="zh-CN">
                <a:ea typeface="宋体" panose="02010600030101010101" pitchFamily="2" charset="-122"/>
              </a:rPr>
              <a:t> extension (</a:t>
            </a:r>
            <a:r>
              <a:rPr lang="en-US" altLang="zh-CN" dirty="0" err="1">
                <a:ea typeface="宋体" panose="02010600030101010101" pitchFamily="2" charset="-122"/>
              </a:rPr>
              <a:t>DataIn</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More specifically, in order to send the register selected by the </a:t>
            </a:r>
            <a:r>
              <a:rPr lang="en-US" altLang="zh-CN" dirty="0" err="1">
                <a:ea typeface="宋体" panose="02010600030101010101" pitchFamily="2" charset="-122"/>
              </a:rPr>
              <a:t>Rt</a:t>
            </a:r>
            <a:r>
              <a:rPr lang="en-US" altLang="zh-CN">
                <a:ea typeface="宋体" panose="02010600030101010101" pitchFamily="2" charset="-122"/>
              </a:rPr>
              <a:t> field (</a:t>
            </a:r>
            <a:r>
              <a:rPr lang="en-US" altLang="zh-CN" dirty="0" err="1">
                <a:ea typeface="宋体" panose="02010600030101010101" pitchFamily="2" charset="-122"/>
              </a:rPr>
              <a:t>Rb</a:t>
            </a:r>
            <a:r>
              <a:rPr lang="en-US" altLang="zh-CN">
                <a:ea typeface="宋体" panose="02010600030101010101" pitchFamily="2" charset="-122"/>
              </a:rPr>
              <a:t> of the register file) to data memory, we need to connect bus B to the data memory’s Data In bus.</a:t>
            </a:r>
            <a:endParaRPr lang="en-US" altLang="zh-CN">
              <a:ea typeface="宋体" panose="02010600030101010101" pitchFamily="2" charset="-122"/>
            </a:endParaRPr>
          </a:p>
          <a:p>
            <a:pPr lvl="0"/>
            <a:r>
              <a:rPr lang="en-US" altLang="zh-CN">
                <a:ea typeface="宋体" panose="02010600030101010101" pitchFamily="2" charset="-122"/>
              </a:rPr>
              <a:t>Finally, the store instruction is the first instruction we encountered that does not do any register write  at the end.</a:t>
            </a:r>
            <a:endParaRPr lang="en-US" altLang="zh-CN">
              <a:ea typeface="宋体" panose="02010600030101010101" pitchFamily="2" charset="-122"/>
            </a:endParaRPr>
          </a:p>
          <a:p>
            <a:pPr lvl="0"/>
            <a:r>
              <a:rPr lang="en-US" altLang="zh-CN">
                <a:ea typeface="宋体" panose="02010600030101010101" pitchFamily="2" charset="-122"/>
              </a:rPr>
              <a:t>Therefore the control unit must make sure </a:t>
            </a:r>
            <a:r>
              <a:rPr lang="en-US" altLang="zh-CN" dirty="0" err="1">
                <a:ea typeface="宋体" panose="02010600030101010101" pitchFamily="2" charset="-122"/>
              </a:rPr>
              <a:t>RegWr</a:t>
            </a:r>
            <a:r>
              <a:rPr lang="en-US" altLang="zh-CN">
                <a:ea typeface="宋体" panose="02010600030101010101" pitchFamily="2" charset="-122"/>
              </a:rPr>
              <a:t> is zero for this instruction.</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64 min. (Y:44)</a:t>
            </a:r>
            <a:endParaRPr lang="en-US" altLang="zh-CN">
              <a:ea typeface="宋体" panose="02010600030101010101" pitchFamily="2" charset="-122"/>
            </a:endParaRPr>
          </a:p>
        </p:txBody>
      </p:sp>
      <p:sp>
        <p:nvSpPr>
          <p:cNvPr id="75778" name="幻灯片图像占位符 218114"/>
          <p:cNvSpPr>
            <a:spLocks noTextEdit="1"/>
          </p:cNvSpPr>
          <p:nvPr>
            <p:ph type="sldImg"/>
          </p:nvPr>
        </p:nvSpPr>
        <p:spPr>
          <a:xfrm>
            <a:off x="1427163" y="644525"/>
            <a:ext cx="4259262" cy="3194050"/>
          </a:xfr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文本占位符 220161"/>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today’s lecture, I will show you how to implement the following subset of MIPS instructions: add, subtract, or immediate, load, store, branch, and the jump instruction.</a:t>
            </a:r>
            <a:endParaRPr lang="en-US" altLang="zh-CN">
              <a:ea typeface="宋体" panose="02010600030101010101" pitchFamily="2" charset="-122"/>
            </a:endParaRPr>
          </a:p>
          <a:p>
            <a:pPr lvl="0"/>
            <a:r>
              <a:rPr lang="en-US" altLang="zh-CN">
                <a:ea typeface="宋体" panose="02010600030101010101" pitchFamily="2" charset="-122"/>
              </a:rPr>
              <a:t>The Add and Subtract instructions use the R format.  The Op together with the </a:t>
            </a:r>
            <a:r>
              <a:rPr lang="en-US" altLang="zh-CN" dirty="0" err="1">
                <a:ea typeface="宋体" panose="02010600030101010101" pitchFamily="2" charset="-122"/>
              </a:rPr>
              <a:t>Func</a:t>
            </a:r>
            <a:r>
              <a:rPr lang="en-US" altLang="zh-CN">
                <a:ea typeface="宋体" panose="02010600030101010101" pitchFamily="2" charset="-122"/>
              </a:rPr>
              <a:t> fields together specified all the different kinds of add and subtract instructions.</a:t>
            </a:r>
            <a:endParaRPr lang="en-US" altLang="zh-CN">
              <a:ea typeface="宋体" panose="02010600030101010101" pitchFamily="2" charset="-122"/>
            </a:endParaRPr>
          </a:p>
          <a:p>
            <a:pPr lvl="0"/>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specifies the source registers.  And the Rd field specifies the destination register.</a:t>
            </a:r>
            <a:endParaRPr lang="en-US" altLang="zh-CN">
              <a:ea typeface="宋体" panose="02010600030101010101" pitchFamily="2" charset="-122"/>
            </a:endParaRPr>
          </a:p>
          <a:p>
            <a:pPr lvl="0"/>
            <a:r>
              <a:rPr lang="en-US" altLang="zh-CN">
                <a:ea typeface="宋体" panose="02010600030101010101" pitchFamily="2" charset="-122"/>
              </a:rPr>
              <a:t>The Or immediate instruction uses the I format.  It only uses one source register, </a:t>
            </a:r>
            <a:r>
              <a:rPr lang="en-US" altLang="zh-CN" dirty="0" err="1">
                <a:ea typeface="宋体" panose="02010600030101010101" pitchFamily="2" charset="-122"/>
              </a:rPr>
              <a:t>Rs</a:t>
            </a:r>
            <a:r>
              <a:rPr lang="en-US" altLang="zh-CN">
                <a:ea typeface="宋体" panose="02010600030101010101" pitchFamily="2" charset="-122"/>
              </a:rPr>
              <a:t>.  The other operand comes from the immediate field. The </a:t>
            </a:r>
            <a:r>
              <a:rPr lang="en-US" altLang="zh-CN" dirty="0" err="1">
                <a:ea typeface="宋体" panose="02010600030101010101" pitchFamily="2" charset="-122"/>
              </a:rPr>
              <a:t>Rt</a:t>
            </a:r>
            <a:r>
              <a:rPr lang="en-US" altLang="zh-CN">
                <a:ea typeface="宋体" panose="02010600030101010101" pitchFamily="2" charset="-122"/>
              </a:rPr>
              <a:t> field is used to specified the destination register.</a:t>
            </a:r>
            <a:endParaRPr lang="en-US" altLang="zh-CN">
              <a:ea typeface="宋体" panose="02010600030101010101" pitchFamily="2" charset="-122"/>
            </a:endParaRPr>
          </a:p>
          <a:p>
            <a:pPr lvl="0"/>
            <a:r>
              <a:rPr lang="en-US" altLang="zh-CN">
                <a:ea typeface="宋体" panose="02010600030101010101" pitchFamily="2" charset="-122"/>
              </a:rPr>
              <a:t>Both the load and store instructions use the I format and both add the </a:t>
            </a:r>
            <a:r>
              <a:rPr lang="en-US" altLang="zh-CN" dirty="0" err="1">
                <a:ea typeface="宋体" panose="02010600030101010101" pitchFamily="2" charset="-122"/>
              </a:rPr>
              <a:t>Rs</a:t>
            </a:r>
            <a:r>
              <a:rPr lang="en-US" altLang="zh-CN">
                <a:ea typeface="宋体" panose="02010600030101010101" pitchFamily="2" charset="-122"/>
              </a:rPr>
              <a:t> and the immediate filed together to form the memory address.</a:t>
            </a:r>
            <a:endParaRPr lang="en-US" altLang="zh-CN">
              <a:ea typeface="宋体" panose="02010600030101010101" pitchFamily="2" charset="-122"/>
            </a:endParaRPr>
          </a:p>
          <a:p>
            <a:pPr lvl="0"/>
            <a:r>
              <a:rPr lang="en-US" altLang="zh-CN">
                <a:ea typeface="宋体" panose="02010600030101010101" pitchFamily="2" charset="-122"/>
              </a:rPr>
              <a:t>The difference is that the load instruction will load the data from memory into </a:t>
            </a:r>
            <a:r>
              <a:rPr lang="en-US" altLang="zh-CN" dirty="0" err="1">
                <a:ea typeface="宋体" panose="02010600030101010101" pitchFamily="2" charset="-122"/>
              </a:rPr>
              <a:t>Rt</a:t>
            </a:r>
            <a:r>
              <a:rPr lang="en-US" altLang="zh-CN">
                <a:ea typeface="宋体" panose="02010600030101010101" pitchFamily="2" charset="-122"/>
              </a:rPr>
              <a:t> while the store instruction will store the data in </a:t>
            </a:r>
            <a:r>
              <a:rPr lang="en-US" altLang="zh-CN" dirty="0" err="1">
                <a:ea typeface="宋体" panose="02010600030101010101" pitchFamily="2" charset="-122"/>
              </a:rPr>
              <a:t>Rt</a:t>
            </a:r>
            <a:r>
              <a:rPr lang="en-US" altLang="zh-CN">
                <a:ea typeface="宋体" panose="02010600030101010101" pitchFamily="2" charset="-122"/>
              </a:rPr>
              <a:t> into the memory.</a:t>
            </a:r>
            <a:endParaRPr lang="en-US" altLang="zh-CN">
              <a:ea typeface="宋体" panose="02010600030101010101" pitchFamily="2" charset="-122"/>
            </a:endParaRPr>
          </a:p>
          <a:p>
            <a:pPr lvl="0"/>
            <a:r>
              <a:rPr lang="en-US" altLang="zh-CN">
                <a:ea typeface="宋体" panose="02010600030101010101" pitchFamily="2" charset="-122"/>
              </a:rPr>
              <a:t>The branch on equal instruction also uses the I format.  Here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are used to specify the registers we need to compare.</a:t>
            </a:r>
            <a:endParaRPr lang="en-US" altLang="zh-CN">
              <a:ea typeface="宋体" panose="02010600030101010101" pitchFamily="2" charset="-122"/>
            </a:endParaRPr>
          </a:p>
          <a:p>
            <a:pPr lvl="0"/>
            <a:r>
              <a:rPr lang="en-US" altLang="zh-CN">
                <a:ea typeface="宋体" panose="02010600030101010101" pitchFamily="2" charset="-122"/>
              </a:rPr>
              <a:t>If these two registers are equal, we will branch to a location specified by the immediate field.</a:t>
            </a:r>
            <a:endParaRPr lang="en-US" altLang="zh-CN">
              <a:ea typeface="宋体" panose="02010600030101010101" pitchFamily="2" charset="-122"/>
            </a:endParaRPr>
          </a:p>
          <a:p>
            <a:pPr lvl="0"/>
            <a:r>
              <a:rPr lang="en-US" altLang="zh-CN">
                <a:ea typeface="宋体" panose="02010600030101010101" pitchFamily="2" charset="-122"/>
              </a:rPr>
              <a:t>Finally, the jump instruction uses the J format and always causes the program to jump to a memory location specified in the address field. </a:t>
            </a:r>
            <a:endParaRPr lang="en-US" altLang="zh-CN">
              <a:ea typeface="宋体" panose="02010600030101010101" pitchFamily="2" charset="-122"/>
            </a:endParaRPr>
          </a:p>
          <a:p>
            <a:pPr lvl="0"/>
            <a:r>
              <a:rPr lang="en-US" altLang="zh-CN">
                <a:ea typeface="宋体" panose="02010600030101010101" pitchFamily="2" charset="-122"/>
              </a:rPr>
              <a:t>I know I went over this rather quickly and you may have missed something.  But don’t worry, this is just an overview.  You will keep seeing these (point to the format) all day today.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13 min. (X:53)</a:t>
            </a:r>
            <a:endParaRPr lang="en-US" altLang="zh-CN">
              <a:ea typeface="宋体" panose="02010600030101010101" pitchFamily="2" charset="-122"/>
            </a:endParaRPr>
          </a:p>
        </p:txBody>
      </p:sp>
      <p:sp>
        <p:nvSpPr>
          <p:cNvPr id="77826" name="幻灯片图像占位符 220162"/>
          <p:cNvSpPr>
            <a:spLocks noTextEdit="1"/>
          </p:cNvSpPr>
          <p:nvPr>
            <p:ph type="sldImg"/>
          </p:nvPr>
        </p:nvSpPr>
        <p:spPr>
          <a:xfrm>
            <a:off x="1427163" y="644525"/>
            <a:ext cx="4259262" cy="3194050"/>
          </a:xfr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文本占位符 222209"/>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How does the branch on equal instruction work?</a:t>
            </a:r>
            <a:endParaRPr lang="en-US" altLang="zh-CN">
              <a:ea typeface="宋体" panose="02010600030101010101" pitchFamily="2" charset="-122"/>
            </a:endParaRPr>
          </a:p>
          <a:p>
            <a:pPr lvl="0"/>
            <a:r>
              <a:rPr lang="en-US" altLang="zh-CN">
                <a:ea typeface="宋体" panose="02010600030101010101" pitchFamily="2" charset="-122"/>
              </a:rPr>
              <a:t>Well it calculates the branch condition by subtracting the register selected by the </a:t>
            </a:r>
            <a:r>
              <a:rPr lang="en-US" altLang="zh-CN" dirty="0" err="1">
                <a:ea typeface="宋体" panose="02010600030101010101" pitchFamily="2" charset="-122"/>
              </a:rPr>
              <a:t>Rt</a:t>
            </a:r>
            <a:r>
              <a:rPr lang="en-US" altLang="zh-CN">
                <a:ea typeface="宋体" panose="02010600030101010101" pitchFamily="2" charset="-122"/>
              </a:rPr>
              <a:t> field from the register selected by the </a:t>
            </a:r>
            <a:r>
              <a:rPr lang="en-US" altLang="zh-CN" dirty="0" err="1">
                <a:ea typeface="宋体" panose="02010600030101010101" pitchFamily="2" charset="-122"/>
              </a:rPr>
              <a:t>Rs</a:t>
            </a:r>
            <a:r>
              <a:rPr lang="en-US" altLang="zh-CN">
                <a:ea typeface="宋体" panose="02010600030101010101" pitchFamily="2" charset="-122"/>
              </a:rPr>
              <a:t> field.</a:t>
            </a:r>
            <a:endParaRPr lang="en-US" altLang="zh-CN">
              <a:ea typeface="宋体" panose="02010600030101010101" pitchFamily="2" charset="-122"/>
            </a:endParaRPr>
          </a:p>
          <a:p>
            <a:pPr lvl="0"/>
            <a:r>
              <a:rPr lang="en-US" altLang="zh-CN">
                <a:ea typeface="宋体" panose="02010600030101010101" pitchFamily="2" charset="-122"/>
              </a:rPr>
              <a:t>If the result of the subtraction is zero, then these two registers are equal and we take a branch.  Otherwise, we keep going down the sequential path (PC &lt;- PC +4).</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+1 = 65 min. (Y:45)</a:t>
            </a:r>
            <a:endParaRPr lang="en-US" altLang="zh-CN">
              <a:ea typeface="宋体" panose="02010600030101010101" pitchFamily="2" charset="-122"/>
            </a:endParaRPr>
          </a:p>
        </p:txBody>
      </p:sp>
      <p:sp>
        <p:nvSpPr>
          <p:cNvPr id="79874" name="幻灯片图像占位符 222210"/>
          <p:cNvSpPr>
            <a:spLocks noTextEdit="1"/>
          </p:cNvSpPr>
          <p:nvPr>
            <p:ph type="sldImg"/>
          </p:nvPr>
        </p:nvSpPr>
        <p:spPr>
          <a:xfrm>
            <a:off x="1427163" y="644525"/>
            <a:ext cx="4259262" cy="3194050"/>
          </a:xfr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文本占位符 224257"/>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The </a:t>
            </a:r>
            <a:r>
              <a:rPr lang="en-US" altLang="zh-CN" dirty="0" err="1">
                <a:ea typeface="宋体" panose="02010600030101010101" pitchFamily="2" charset="-122"/>
              </a:rPr>
              <a:t>datapath</a:t>
            </a:r>
            <a:r>
              <a:rPr lang="en-US" altLang="zh-CN">
                <a:ea typeface="宋体" panose="02010600030101010101" pitchFamily="2" charset="-122"/>
              </a:rPr>
              <a:t> for calculating the branch condition is rather simple.</a:t>
            </a:r>
            <a:endParaRPr lang="en-US" altLang="zh-CN">
              <a:ea typeface="宋体" panose="02010600030101010101" pitchFamily="2" charset="-122"/>
            </a:endParaRPr>
          </a:p>
          <a:p>
            <a:pPr lvl="0"/>
            <a:r>
              <a:rPr lang="en-US" altLang="zh-CN">
                <a:ea typeface="宋体" panose="02010600030101010101" pitchFamily="2" charset="-122"/>
              </a:rPr>
              <a:t>All we have to do is feed the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fields of the instruction into the Ra and </a:t>
            </a:r>
            <a:r>
              <a:rPr lang="en-US" altLang="zh-CN" dirty="0" err="1">
                <a:ea typeface="宋体" panose="02010600030101010101" pitchFamily="2" charset="-122"/>
              </a:rPr>
              <a:t>Rb</a:t>
            </a:r>
            <a:r>
              <a:rPr lang="en-US" altLang="zh-CN">
                <a:ea typeface="宋体" panose="02010600030101010101" pitchFamily="2" charset="-122"/>
              </a:rPr>
              <a:t> inputs of the register file.</a:t>
            </a:r>
            <a:endParaRPr lang="en-US" altLang="zh-CN">
              <a:ea typeface="宋体" panose="02010600030101010101" pitchFamily="2" charset="-122"/>
            </a:endParaRPr>
          </a:p>
          <a:p>
            <a:pPr lvl="0"/>
            <a:r>
              <a:rPr lang="en-US" altLang="zh-CN">
                <a:ea typeface="宋体" panose="02010600030101010101" pitchFamily="2" charset="-122"/>
              </a:rPr>
              <a:t>Bus A will then contain the value from the register selected by </a:t>
            </a:r>
            <a:r>
              <a:rPr lang="en-US" altLang="zh-CN" dirty="0" err="1">
                <a:ea typeface="宋体" panose="02010600030101010101" pitchFamily="2" charset="-122"/>
              </a:rPr>
              <a:t>Rs</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And bus B will contain the value from the register selected by Rt.</a:t>
            </a:r>
            <a:endParaRPr lang="en-US" altLang="zh-CN">
              <a:ea typeface="宋体" panose="02010600030101010101" pitchFamily="2" charset="-122"/>
            </a:endParaRPr>
          </a:p>
          <a:p>
            <a:pPr lvl="0"/>
            <a:r>
              <a:rPr lang="en-US" altLang="zh-CN">
                <a:ea typeface="宋体" panose="02010600030101010101" pitchFamily="2" charset="-122"/>
              </a:rPr>
              <a:t>The next thing to do is to ask the ALU to perform a subtract operation and feed the output Zero to the next address logic.</a:t>
            </a:r>
            <a:endParaRPr lang="en-US" altLang="zh-CN">
              <a:ea typeface="宋体" panose="02010600030101010101" pitchFamily="2" charset="-122"/>
            </a:endParaRPr>
          </a:p>
          <a:p>
            <a:pPr lvl="0"/>
            <a:r>
              <a:rPr lang="en-US" altLang="zh-CN">
                <a:ea typeface="宋体" panose="02010600030101010101" pitchFamily="2" charset="-122"/>
              </a:rPr>
              <a:t>How does the next address logic block look like?</a:t>
            </a:r>
            <a:endParaRPr lang="en-US" altLang="zh-CN">
              <a:ea typeface="宋体" panose="02010600030101010101" pitchFamily="2" charset="-122"/>
            </a:endParaRPr>
          </a:p>
          <a:p>
            <a:pPr lvl="0"/>
            <a:r>
              <a:rPr lang="en-US" altLang="zh-CN">
                <a:ea typeface="宋体" panose="02010600030101010101" pitchFamily="2" charset="-122"/>
              </a:rPr>
              <a:t>Well, before I show you that, let’s take a look at the binary </a:t>
            </a:r>
            <a:r>
              <a:rPr lang="en-US" altLang="zh-CN" dirty="0" err="1">
                <a:ea typeface="宋体" panose="02010600030101010101" pitchFamily="2" charset="-122"/>
              </a:rPr>
              <a:t>arithmetics</a:t>
            </a:r>
            <a:r>
              <a:rPr lang="en-US" altLang="zh-CN">
                <a:ea typeface="宋体" panose="02010600030101010101" pitchFamily="2" charset="-122"/>
              </a:rPr>
              <a:t> behind the program counter (PC).</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67 min. (Y:47)</a:t>
            </a:r>
            <a:endParaRPr lang="en-US" altLang="zh-CN">
              <a:ea typeface="宋体" panose="02010600030101010101" pitchFamily="2" charset="-122"/>
            </a:endParaRPr>
          </a:p>
        </p:txBody>
      </p:sp>
      <p:sp>
        <p:nvSpPr>
          <p:cNvPr id="81922" name="幻灯片图像占位符 224258"/>
          <p:cNvSpPr>
            <a:spLocks noTextEdit="1"/>
          </p:cNvSpPr>
          <p:nvPr>
            <p:ph type="sldImg"/>
          </p:nvPr>
        </p:nvSpPr>
        <p:spPr>
          <a:xfrm>
            <a:off x="1427163" y="644525"/>
            <a:ext cx="4259262" cy="3194050"/>
          </a:xfr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文本占位符 224257"/>
          <p:cNvSpPr>
            <a:spLocks noGrp="1"/>
          </p:cNvSpPr>
          <p:nvPr>
            <p:ph type="body"/>
          </p:nvPr>
        </p:nvSpPr>
        <p:spPr>
          <a:xfrm>
            <a:off x="533400" y="4094163"/>
            <a:ext cx="6118225" cy="5373687"/>
          </a:xfrm>
        </p:spPr>
        <p:txBody>
          <a:bodyPr vert="horz" wrap="square" lIns="100753" tIns="49493" rIns="100753" bIns="49493" anchor="t" anchorCtr="0"/>
          <a:p>
            <a:pPr lvl="0"/>
            <a:r>
              <a:rPr lang="en-US" altLang="zh-CN">
                <a:ea typeface="宋体" panose="02010600030101010101" pitchFamily="2" charset="-122"/>
              </a:rPr>
              <a:t>The </a:t>
            </a:r>
            <a:r>
              <a:rPr lang="en-US" altLang="zh-CN" dirty="0" err="1">
                <a:ea typeface="宋体" panose="02010600030101010101" pitchFamily="2" charset="-122"/>
              </a:rPr>
              <a:t>datapath</a:t>
            </a:r>
            <a:r>
              <a:rPr lang="en-US" altLang="zh-CN">
                <a:ea typeface="宋体" panose="02010600030101010101" pitchFamily="2" charset="-122"/>
              </a:rPr>
              <a:t> for calculating the branch condition is rather simple.</a:t>
            </a:r>
            <a:endParaRPr lang="en-US" altLang="zh-CN">
              <a:ea typeface="宋体" panose="02010600030101010101" pitchFamily="2" charset="-122"/>
            </a:endParaRPr>
          </a:p>
          <a:p>
            <a:pPr lvl="0"/>
            <a:r>
              <a:rPr lang="en-US" altLang="zh-CN">
                <a:ea typeface="宋体" panose="02010600030101010101" pitchFamily="2" charset="-122"/>
              </a:rPr>
              <a:t>All we have to do is feed the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fields of the instruction into the Ra and </a:t>
            </a:r>
            <a:r>
              <a:rPr lang="en-US" altLang="zh-CN" dirty="0" err="1">
                <a:ea typeface="宋体" panose="02010600030101010101" pitchFamily="2" charset="-122"/>
              </a:rPr>
              <a:t>Rb</a:t>
            </a:r>
            <a:r>
              <a:rPr lang="en-US" altLang="zh-CN">
                <a:ea typeface="宋体" panose="02010600030101010101" pitchFamily="2" charset="-122"/>
              </a:rPr>
              <a:t> inputs of the register file.</a:t>
            </a:r>
            <a:endParaRPr lang="en-US" altLang="zh-CN">
              <a:ea typeface="宋体" panose="02010600030101010101" pitchFamily="2" charset="-122"/>
            </a:endParaRPr>
          </a:p>
          <a:p>
            <a:pPr lvl="0"/>
            <a:r>
              <a:rPr lang="en-US" altLang="zh-CN">
                <a:ea typeface="宋体" panose="02010600030101010101" pitchFamily="2" charset="-122"/>
              </a:rPr>
              <a:t>Bus A will then contain the value from the register selected by </a:t>
            </a:r>
            <a:r>
              <a:rPr lang="en-US" altLang="zh-CN" dirty="0" err="1">
                <a:ea typeface="宋体" panose="02010600030101010101" pitchFamily="2" charset="-122"/>
              </a:rPr>
              <a:t>Rs</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And bus B will contain the value from the register selected by Rt.</a:t>
            </a:r>
            <a:endParaRPr lang="en-US" altLang="zh-CN">
              <a:ea typeface="宋体" panose="02010600030101010101" pitchFamily="2" charset="-122"/>
            </a:endParaRPr>
          </a:p>
          <a:p>
            <a:pPr lvl="0"/>
            <a:r>
              <a:rPr lang="en-US" altLang="zh-CN">
                <a:ea typeface="宋体" panose="02010600030101010101" pitchFamily="2" charset="-122"/>
              </a:rPr>
              <a:t>The next thing to do is to ask the ALU to perform a subtract operation and feed the output Zero to the next address logic.</a:t>
            </a:r>
            <a:endParaRPr lang="en-US" altLang="zh-CN">
              <a:ea typeface="宋体" panose="02010600030101010101" pitchFamily="2" charset="-122"/>
            </a:endParaRPr>
          </a:p>
          <a:p>
            <a:pPr lvl="0"/>
            <a:r>
              <a:rPr lang="en-US" altLang="zh-CN">
                <a:ea typeface="宋体" panose="02010600030101010101" pitchFamily="2" charset="-122"/>
              </a:rPr>
              <a:t>How does the next address logic block look like?</a:t>
            </a:r>
            <a:endParaRPr lang="en-US" altLang="zh-CN">
              <a:ea typeface="宋体" panose="02010600030101010101" pitchFamily="2" charset="-122"/>
            </a:endParaRPr>
          </a:p>
          <a:p>
            <a:pPr lvl="0"/>
            <a:r>
              <a:rPr lang="en-US" altLang="zh-CN">
                <a:ea typeface="宋体" panose="02010600030101010101" pitchFamily="2" charset="-122"/>
              </a:rPr>
              <a:t>Well, before I show you that, let’s take a look at the binary </a:t>
            </a:r>
            <a:r>
              <a:rPr lang="en-US" altLang="zh-CN" dirty="0" err="1">
                <a:ea typeface="宋体" panose="02010600030101010101" pitchFamily="2" charset="-122"/>
              </a:rPr>
              <a:t>arithmetics</a:t>
            </a:r>
            <a:r>
              <a:rPr lang="en-US" altLang="zh-CN">
                <a:ea typeface="宋体" panose="02010600030101010101" pitchFamily="2" charset="-122"/>
              </a:rPr>
              <a:t> behind the program counter (PC).</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67 min. (Y:47)</a:t>
            </a:r>
            <a:endParaRPr lang="en-US" altLang="zh-CN">
              <a:ea typeface="宋体" panose="02010600030101010101" pitchFamily="2" charset="-122"/>
            </a:endParaRPr>
          </a:p>
        </p:txBody>
      </p:sp>
      <p:sp>
        <p:nvSpPr>
          <p:cNvPr id="81922" name="幻灯片图像占位符 224258"/>
          <p:cNvSpPr>
            <a:spLocks noTextEdit="1"/>
          </p:cNvSpPr>
          <p:nvPr>
            <p:ph type="sldImg"/>
          </p:nvPr>
        </p:nvSpPr>
        <p:spPr>
          <a:xfrm>
            <a:off x="1427163" y="644525"/>
            <a:ext cx="4259262" cy="3194050"/>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文本占位符 226305"/>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theory, the Program Counter (PC) is a 32-bit byte address into the Instruction memory.</a:t>
            </a:r>
            <a:endParaRPr lang="en-US" altLang="zh-CN">
              <a:ea typeface="宋体" panose="02010600030101010101" pitchFamily="2" charset="-122"/>
            </a:endParaRPr>
          </a:p>
          <a:p>
            <a:pPr lvl="0"/>
            <a:r>
              <a:rPr lang="en-US" altLang="zh-CN">
                <a:ea typeface="宋体" panose="02010600030101010101" pitchFamily="2" charset="-122"/>
              </a:rPr>
              <a:t>The Program Counter is increment by four after each sequential instruction.</a:t>
            </a:r>
            <a:endParaRPr lang="en-US" altLang="zh-CN">
              <a:ea typeface="宋体" panose="02010600030101010101" pitchFamily="2" charset="-122"/>
            </a:endParaRPr>
          </a:p>
          <a:p>
            <a:pPr lvl="0"/>
            <a:r>
              <a:rPr lang="en-US" altLang="zh-CN">
                <a:ea typeface="宋体" panose="02010600030101010101" pitchFamily="2" charset="-122"/>
              </a:rPr>
              <a:t>When a branch is taken, we need to sign extend the 16 bit immediate field, multiply this sign extended value by four, and add it to the sequential instruction address (PC + 4).</a:t>
            </a:r>
            <a:endParaRPr lang="en-US" altLang="zh-CN">
              <a:ea typeface="宋体" panose="02010600030101010101" pitchFamily="2" charset="-122"/>
            </a:endParaRPr>
          </a:p>
          <a:p>
            <a:pPr lvl="0"/>
            <a:r>
              <a:rPr lang="en-US" altLang="zh-CN">
                <a:ea typeface="宋体" panose="02010600030101010101" pitchFamily="2" charset="-122"/>
              </a:rPr>
              <a:t>Why does this magic number “4” always come up?  Well the reason is that the 32-bit PC is a byte address and all MIPS instructions are four bytes, or 32 bits, long.</a:t>
            </a:r>
            <a:endParaRPr lang="en-US" altLang="zh-CN">
              <a:ea typeface="宋体" panose="02010600030101010101" pitchFamily="2" charset="-122"/>
            </a:endParaRPr>
          </a:p>
          <a:p>
            <a:pPr lvl="0"/>
            <a:r>
              <a:rPr lang="en-US" altLang="zh-CN">
                <a:ea typeface="宋体" panose="02010600030101010101" pitchFamily="2" charset="-122"/>
              </a:rPr>
              <a:t>In other words, if we keep a 32-bit Program Counter, then the two least significant bits of the Program Counter will always be zeros.</a:t>
            </a:r>
            <a:endParaRPr lang="en-US" altLang="zh-CN">
              <a:ea typeface="宋体" panose="02010600030101010101" pitchFamily="2" charset="-122"/>
            </a:endParaRPr>
          </a:p>
          <a:p>
            <a:pPr lvl="0"/>
            <a:r>
              <a:rPr lang="en-US" altLang="zh-CN">
                <a:ea typeface="宋体" panose="02010600030101010101" pitchFamily="2" charset="-122"/>
              </a:rPr>
              <a:t>And if these two bits are always zeros, there is no reason to have hardware to keep them.</a:t>
            </a:r>
            <a:endParaRPr lang="en-US" altLang="zh-CN">
              <a:ea typeface="宋体" panose="02010600030101010101" pitchFamily="2" charset="-122"/>
            </a:endParaRPr>
          </a:p>
          <a:p>
            <a:pPr lvl="0"/>
            <a:r>
              <a:rPr lang="en-US" altLang="zh-CN">
                <a:ea typeface="宋体" panose="02010600030101010101" pitchFamily="2" charset="-122"/>
              </a:rPr>
              <a:t>So in practice, we will simply the hardware by using a 30 bit program counter.</a:t>
            </a:r>
            <a:endParaRPr lang="en-US" altLang="zh-CN">
              <a:ea typeface="宋体" panose="02010600030101010101" pitchFamily="2" charset="-122"/>
            </a:endParaRPr>
          </a:p>
          <a:p>
            <a:pPr lvl="0"/>
            <a:r>
              <a:rPr lang="en-US" altLang="zh-CN">
                <a:ea typeface="宋体" panose="02010600030101010101" pitchFamily="2" charset="-122"/>
              </a:rPr>
              <a:t>That is, we will build a Program Counter that only keep tracks of the upper 30 bits (&lt;31:2&gt;) of the instruction address because we know the 2 least significant bits will always be 0s.</a:t>
            </a:r>
            <a:endParaRPr lang="en-US" altLang="zh-CN">
              <a:ea typeface="宋体" panose="02010600030101010101" pitchFamily="2" charset="-122"/>
            </a:endParaRPr>
          </a:p>
          <a:p>
            <a:pPr lvl="0"/>
            <a:r>
              <a:rPr lang="en-US" altLang="zh-CN">
                <a:ea typeface="宋体" panose="02010600030101010101" pitchFamily="2" charset="-122"/>
              </a:rPr>
              <a:t>Then instead of always increase the Program Counter by four for sequential operation, we only have to increase it by 1.</a:t>
            </a:r>
            <a:endParaRPr lang="en-US" altLang="zh-CN">
              <a:ea typeface="宋体" panose="02010600030101010101" pitchFamily="2" charset="-122"/>
            </a:endParaRPr>
          </a:p>
          <a:p>
            <a:pPr lvl="0"/>
            <a:r>
              <a:rPr lang="en-US" altLang="zh-CN">
                <a:ea typeface="宋体" panose="02010600030101010101" pitchFamily="2" charset="-122"/>
              </a:rPr>
              <a:t>And for branch operation, we don’t need to multiply the sign extended immediate field by four before adding to the sequential PC (PC + 1).</a:t>
            </a:r>
            <a:endParaRPr lang="en-US" altLang="zh-CN">
              <a:ea typeface="宋体" panose="02010600030101010101" pitchFamily="2" charset="-122"/>
            </a:endParaRPr>
          </a:p>
          <a:p>
            <a:pPr lvl="0"/>
            <a:r>
              <a:rPr lang="en-US" altLang="zh-CN">
                <a:ea typeface="宋体" panose="02010600030101010101" pitchFamily="2" charset="-122"/>
              </a:rPr>
              <a:t>And when we apply the program counter to the address of the instruction memory, we need to attach two zeros to its least significant bits.</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70 min. (Y:50)</a:t>
            </a:r>
            <a:endParaRPr lang="en-US" altLang="zh-CN">
              <a:ea typeface="宋体" panose="02010600030101010101" pitchFamily="2" charset="-122"/>
            </a:endParaRPr>
          </a:p>
        </p:txBody>
      </p:sp>
      <p:sp>
        <p:nvSpPr>
          <p:cNvPr id="83970" name="幻灯片图像占位符 226306"/>
          <p:cNvSpPr>
            <a:spLocks noTextEdit="1"/>
          </p:cNvSpPr>
          <p:nvPr>
            <p:ph type="sldImg"/>
          </p:nvPr>
        </p:nvSpPr>
        <p:spPr>
          <a:xfrm>
            <a:off x="1427163" y="644525"/>
            <a:ext cx="4259262" cy="3194050"/>
          </a:xfr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文本占位符 228353"/>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So let’s see how we can put all these theories (point to the equations) into practice.</a:t>
            </a:r>
            <a:endParaRPr lang="en-US" altLang="zh-CN">
              <a:ea typeface="宋体" panose="02010600030101010101" pitchFamily="2" charset="-122"/>
            </a:endParaRPr>
          </a:p>
          <a:p>
            <a:pPr lvl="0"/>
            <a:r>
              <a:rPr lang="en-US" altLang="zh-CN">
                <a:ea typeface="宋体" panose="02010600030101010101" pitchFamily="2" charset="-122"/>
              </a:rPr>
              <a:t>The PC plus one is implemented by this first adder here.</a:t>
            </a:r>
            <a:endParaRPr lang="en-US" altLang="zh-CN">
              <a:ea typeface="宋体" panose="02010600030101010101" pitchFamily="2" charset="-122"/>
            </a:endParaRPr>
          </a:p>
          <a:p>
            <a:pPr lvl="0"/>
            <a:r>
              <a:rPr lang="en-US" altLang="zh-CN">
                <a:ea typeface="宋体" panose="02010600030101010101" pitchFamily="2" charset="-122"/>
              </a:rPr>
              <a:t>For branch operation, we need to sign extend the immediate field of the instruction and then add it to the output of the first adder to implement this equation (PC + 1 + SignExt(imm16)).</a:t>
            </a:r>
            <a:endParaRPr lang="en-US" altLang="zh-CN">
              <a:ea typeface="宋体" panose="02010600030101010101" pitchFamily="2" charset="-122"/>
            </a:endParaRPr>
          </a:p>
          <a:p>
            <a:pPr lvl="0"/>
            <a:r>
              <a:rPr lang="en-US" altLang="zh-CN">
                <a:ea typeface="宋体" panose="02010600030101010101" pitchFamily="2" charset="-122"/>
              </a:rPr>
              <a:t>For sequential operation, the output of the first adder is selected by the two-to-one </a:t>
            </a:r>
            <a:r>
              <a:rPr lang="en-US" altLang="zh-CN" dirty="0" err="1">
                <a:ea typeface="宋体" panose="02010600030101010101" pitchFamily="2" charset="-122"/>
              </a:rPr>
              <a:t>mux</a:t>
            </a:r>
            <a:r>
              <a:rPr lang="en-US" altLang="zh-CN">
                <a:ea typeface="宋体" panose="02010600030101010101" pitchFamily="2" charset="-122"/>
              </a:rPr>
              <a:t> so it will be saved into the PC register at the next clock tick.</a:t>
            </a:r>
            <a:endParaRPr lang="en-US" altLang="zh-CN">
              <a:ea typeface="宋体" panose="02010600030101010101" pitchFamily="2" charset="-122"/>
            </a:endParaRPr>
          </a:p>
          <a:p>
            <a:pPr lvl="0"/>
            <a:r>
              <a:rPr lang="en-US" altLang="zh-CN">
                <a:ea typeface="宋体" panose="02010600030101010101" pitchFamily="2" charset="-122"/>
              </a:rPr>
              <a:t>For a taken branch, that is we have a </a:t>
            </a:r>
            <a:r>
              <a:rPr lang="en-US" altLang="zh-CN" dirty="0" err="1">
                <a:ea typeface="宋体" panose="02010600030101010101" pitchFamily="2" charset="-122"/>
              </a:rPr>
              <a:t>branch_on_equal</a:t>
            </a:r>
            <a:r>
              <a:rPr lang="en-US" altLang="zh-CN">
                <a:ea typeface="宋体" panose="02010600030101010101" pitchFamily="2" charset="-122"/>
              </a:rPr>
              <a:t> and the condition Zero is true, the output of the second adder is selected.</a:t>
            </a:r>
            <a:endParaRPr lang="en-US" altLang="zh-CN">
              <a:ea typeface="宋体" panose="02010600030101010101" pitchFamily="2" charset="-122"/>
            </a:endParaRPr>
          </a:p>
          <a:p>
            <a:pPr lvl="0"/>
            <a:r>
              <a:rPr lang="en-US" altLang="zh-CN">
                <a:ea typeface="宋体" panose="02010600030101010101" pitchFamily="2" charset="-122"/>
              </a:rPr>
              <a:t>In all cases, the 30 bit Program Counter is used as instruction address bit 31 to bit 2.</a:t>
            </a:r>
            <a:endParaRPr lang="en-US" altLang="zh-CN">
              <a:ea typeface="宋体" panose="02010600030101010101" pitchFamily="2" charset="-122"/>
            </a:endParaRPr>
          </a:p>
          <a:p>
            <a:pPr lvl="0"/>
            <a:r>
              <a:rPr lang="en-US" altLang="zh-CN">
                <a:ea typeface="宋体" panose="02010600030101010101" pitchFamily="2" charset="-122"/>
              </a:rPr>
              <a:t>The two least significant bits of the instruction address will always be zeroes. </a:t>
            </a:r>
            <a:endParaRPr lang="en-US" altLang="zh-CN">
              <a:ea typeface="宋体" panose="02010600030101010101" pitchFamily="2" charset="-122"/>
            </a:endParaRPr>
          </a:p>
          <a:p>
            <a:pPr lvl="0"/>
            <a:r>
              <a:rPr lang="en-US" altLang="zh-CN">
                <a:ea typeface="宋体" panose="02010600030101010101" pitchFamily="2" charset="-122"/>
              </a:rPr>
              <a:t>One question you may want to ask is: Do we really need an adder just to add “1”?</a:t>
            </a:r>
            <a:endParaRPr lang="en-US" altLang="zh-CN">
              <a:ea typeface="宋体" panose="02010600030101010101" pitchFamily="2" charset="-122"/>
            </a:endParaRPr>
          </a:p>
          <a:p>
            <a:pPr lvl="0"/>
            <a:r>
              <a:rPr lang="en-US" altLang="zh-CN">
                <a:ea typeface="宋体" panose="02010600030101010101" pitchFamily="2" charset="-122"/>
              </a:rPr>
              <a:t>Well may be not.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72 min. (Y:52)</a:t>
            </a:r>
            <a:endParaRPr lang="en-US" altLang="zh-CN">
              <a:ea typeface="宋体" panose="02010600030101010101" pitchFamily="2" charset="-122"/>
            </a:endParaRPr>
          </a:p>
        </p:txBody>
      </p:sp>
      <p:sp>
        <p:nvSpPr>
          <p:cNvPr id="86018" name="幻灯片图像占位符 228354"/>
          <p:cNvSpPr>
            <a:spLocks noTextEdit="1"/>
          </p:cNvSpPr>
          <p:nvPr>
            <p:ph type="sldImg"/>
          </p:nvPr>
        </p:nvSpPr>
        <p:spPr>
          <a:xfrm>
            <a:off x="1427163" y="644525"/>
            <a:ext cx="4259262" cy="3194050"/>
          </a:xfr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文本占位符 230401"/>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One way to simplify the implementation is to use the </a:t>
            </a:r>
            <a:r>
              <a:rPr lang="en-US" altLang="zh-CN" dirty="0" err="1">
                <a:ea typeface="宋体" panose="02010600030101010101" pitchFamily="2" charset="-122"/>
              </a:rPr>
              <a:t>CarryIn</a:t>
            </a:r>
            <a:r>
              <a:rPr lang="en-US" altLang="zh-CN">
                <a:ea typeface="宋体" panose="02010600030101010101" pitchFamily="2" charset="-122"/>
              </a:rPr>
              <a:t> input of the adder to implement the PC&lt;31:2&gt; = PC&lt;31:2&gt; plus  1 operation.</a:t>
            </a:r>
            <a:endParaRPr lang="en-US" altLang="zh-CN">
              <a:ea typeface="宋体" panose="02010600030101010101" pitchFamily="2" charset="-122"/>
            </a:endParaRPr>
          </a:p>
          <a:p>
            <a:pPr lvl="0"/>
            <a:r>
              <a:rPr lang="en-US" altLang="zh-CN">
                <a:ea typeface="宋体" panose="02010600030101010101" pitchFamily="2" charset="-122"/>
              </a:rPr>
              <a:t>Then we can put a MUX in front of the adder to add the branch offset if the branch is taken.</a:t>
            </a:r>
            <a:endParaRPr lang="en-US" altLang="zh-CN">
              <a:ea typeface="宋体" panose="02010600030101010101" pitchFamily="2" charset="-122"/>
            </a:endParaRPr>
          </a:p>
          <a:p>
            <a:pPr lvl="0"/>
            <a:r>
              <a:rPr lang="en-US" altLang="zh-CN">
                <a:ea typeface="宋体" panose="02010600030101010101" pitchFamily="2" charset="-122"/>
              </a:rPr>
              <a:t>If the branch is not taken, we simply set the 2nd output of the ALU to zeros so we only add one through the </a:t>
            </a:r>
            <a:r>
              <a:rPr lang="en-US" altLang="zh-CN" dirty="0" err="1">
                <a:ea typeface="宋体" panose="02010600030101010101" pitchFamily="2" charset="-122"/>
              </a:rPr>
              <a:t>CarryIn</a:t>
            </a:r>
            <a:r>
              <a:rPr lang="en-US" altLang="zh-CN">
                <a:ea typeface="宋体" panose="02010600030101010101" pitchFamily="2" charset="-122"/>
              </a:rPr>
              <a:t> input.</a:t>
            </a:r>
            <a:endParaRPr lang="en-US" altLang="zh-CN">
              <a:ea typeface="宋体" panose="02010600030101010101" pitchFamily="2" charset="-122"/>
            </a:endParaRPr>
          </a:p>
          <a:p>
            <a:pPr lvl="0"/>
            <a:r>
              <a:rPr lang="en-US" altLang="zh-CN">
                <a:ea typeface="宋体" panose="02010600030101010101" pitchFamily="2" charset="-122"/>
              </a:rPr>
              <a:t>Why is this implementation slow?</a:t>
            </a:r>
            <a:endParaRPr lang="en-US" altLang="zh-CN">
              <a:ea typeface="宋体" panose="02010600030101010101" pitchFamily="2" charset="-122"/>
            </a:endParaRPr>
          </a:p>
          <a:p>
            <a:pPr lvl="0"/>
            <a:r>
              <a:rPr lang="en-US" altLang="zh-CN">
                <a:ea typeface="宋体" panose="02010600030101010101" pitchFamily="2" charset="-122"/>
              </a:rPr>
              <a:t>Well because we cannot start the address add until the Zero input  is valid.</a:t>
            </a:r>
            <a:endParaRPr lang="en-US" altLang="zh-CN">
              <a:ea typeface="宋体" panose="02010600030101010101" pitchFamily="2" charset="-122"/>
            </a:endParaRPr>
          </a:p>
          <a:p>
            <a:pPr lvl="0"/>
            <a:r>
              <a:rPr lang="en-US" altLang="zh-CN">
                <a:ea typeface="宋体" panose="02010600030101010101" pitchFamily="2" charset="-122"/>
              </a:rPr>
              <a:t>And when will the Zero input become valid?  Not until we have performed a 32-bit subtract in the main </a:t>
            </a:r>
            <a:r>
              <a:rPr lang="en-US" altLang="zh-CN" dirty="0" err="1">
                <a:ea typeface="宋体" panose="02010600030101010101" pitchFamily="2" charset="-122"/>
              </a:rPr>
              <a:t>datapath</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But does it matter that this is slow in the overall scheme of things?</a:t>
            </a:r>
            <a:endParaRPr lang="en-US" altLang="zh-CN">
              <a:ea typeface="宋体" panose="02010600030101010101" pitchFamily="2" charset="-122"/>
            </a:endParaRPr>
          </a:p>
          <a:p>
            <a:pPr lvl="0"/>
            <a:r>
              <a:rPr lang="en-US" altLang="zh-CN">
                <a:ea typeface="宋体" panose="02010600030101010101" pitchFamily="2" charset="-122"/>
              </a:rPr>
              <a:t>Well, probably not in this single cycle implementation.</a:t>
            </a:r>
            <a:endParaRPr lang="en-US" altLang="zh-CN">
              <a:ea typeface="宋体" panose="02010600030101010101" pitchFamily="2" charset="-122"/>
            </a:endParaRPr>
          </a:p>
          <a:p>
            <a:pPr lvl="0"/>
            <a:r>
              <a:rPr lang="en-US" altLang="zh-CN">
                <a:ea typeface="宋体" panose="02010600030101010101" pitchFamily="2" charset="-122"/>
              </a:rPr>
              <a:t>The critical path of this single cycle implementation will be the load instruction’s memory access so the extra time it takes to calculate the PC can be hidden behind the critical path.</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75 min (Y:55)</a:t>
            </a:r>
            <a:endParaRPr lang="en-US" altLang="zh-CN">
              <a:ea typeface="宋体" panose="02010600030101010101" pitchFamily="2" charset="-122"/>
            </a:endParaRPr>
          </a:p>
        </p:txBody>
      </p:sp>
      <p:sp>
        <p:nvSpPr>
          <p:cNvPr id="88066" name="幻灯片图像占位符 230402"/>
          <p:cNvSpPr>
            <a:spLocks noTextEdit="1"/>
          </p:cNvSpPr>
          <p:nvPr>
            <p:ph type="sldImg"/>
          </p:nvPr>
        </p:nvSpPr>
        <p:spPr>
          <a:xfrm>
            <a:off x="1427163" y="644525"/>
            <a:ext cx="4259262" cy="3194050"/>
          </a:xfr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文本占位符 232449"/>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today’s lecture, I will show you how to implement the following subset of MIPS instructions: add, subtract, or immediate, load, store, branch, and the jump instruction.</a:t>
            </a:r>
            <a:endParaRPr lang="en-US" altLang="zh-CN">
              <a:ea typeface="宋体" panose="02010600030101010101" pitchFamily="2" charset="-122"/>
            </a:endParaRPr>
          </a:p>
          <a:p>
            <a:pPr lvl="0"/>
            <a:r>
              <a:rPr lang="en-US" altLang="zh-CN">
                <a:ea typeface="宋体" panose="02010600030101010101" pitchFamily="2" charset="-122"/>
              </a:rPr>
              <a:t>The Add and Subtract instructions use the R format.  The Op together with the </a:t>
            </a:r>
            <a:r>
              <a:rPr lang="en-US" altLang="zh-CN" dirty="0" err="1">
                <a:ea typeface="宋体" panose="02010600030101010101" pitchFamily="2" charset="-122"/>
              </a:rPr>
              <a:t>Func</a:t>
            </a:r>
            <a:r>
              <a:rPr lang="en-US" altLang="zh-CN">
                <a:ea typeface="宋体" panose="02010600030101010101" pitchFamily="2" charset="-122"/>
              </a:rPr>
              <a:t> fields together specified all the different kinds of add and subtract instructions.</a:t>
            </a:r>
            <a:endParaRPr lang="en-US" altLang="zh-CN">
              <a:ea typeface="宋体" panose="02010600030101010101" pitchFamily="2" charset="-122"/>
            </a:endParaRPr>
          </a:p>
          <a:p>
            <a:pPr lvl="0"/>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specifies the source registers.  And the Rd field specifies the destination register.</a:t>
            </a:r>
            <a:endParaRPr lang="en-US" altLang="zh-CN">
              <a:ea typeface="宋体" panose="02010600030101010101" pitchFamily="2" charset="-122"/>
            </a:endParaRPr>
          </a:p>
          <a:p>
            <a:pPr lvl="0"/>
            <a:r>
              <a:rPr lang="en-US" altLang="zh-CN">
                <a:ea typeface="宋体" panose="02010600030101010101" pitchFamily="2" charset="-122"/>
              </a:rPr>
              <a:t>The Or immediate instruction uses the I format.  It only uses one source register, </a:t>
            </a:r>
            <a:r>
              <a:rPr lang="en-US" altLang="zh-CN" dirty="0" err="1">
                <a:ea typeface="宋体" panose="02010600030101010101" pitchFamily="2" charset="-122"/>
              </a:rPr>
              <a:t>Rs</a:t>
            </a:r>
            <a:r>
              <a:rPr lang="en-US" altLang="zh-CN">
                <a:ea typeface="宋体" panose="02010600030101010101" pitchFamily="2" charset="-122"/>
              </a:rPr>
              <a:t>.  The other operand comes from the immediate field. The </a:t>
            </a:r>
            <a:r>
              <a:rPr lang="en-US" altLang="zh-CN" dirty="0" err="1">
                <a:ea typeface="宋体" panose="02010600030101010101" pitchFamily="2" charset="-122"/>
              </a:rPr>
              <a:t>Rt</a:t>
            </a:r>
            <a:r>
              <a:rPr lang="en-US" altLang="zh-CN">
                <a:ea typeface="宋体" panose="02010600030101010101" pitchFamily="2" charset="-122"/>
              </a:rPr>
              <a:t> field is used to specified the destination register.</a:t>
            </a:r>
            <a:endParaRPr lang="en-US" altLang="zh-CN">
              <a:ea typeface="宋体" panose="02010600030101010101" pitchFamily="2" charset="-122"/>
            </a:endParaRPr>
          </a:p>
          <a:p>
            <a:pPr lvl="0"/>
            <a:r>
              <a:rPr lang="en-US" altLang="zh-CN">
                <a:ea typeface="宋体" panose="02010600030101010101" pitchFamily="2" charset="-122"/>
              </a:rPr>
              <a:t>Both the load and store instructions use the I format and both add the </a:t>
            </a:r>
            <a:r>
              <a:rPr lang="en-US" altLang="zh-CN" dirty="0" err="1">
                <a:ea typeface="宋体" panose="02010600030101010101" pitchFamily="2" charset="-122"/>
              </a:rPr>
              <a:t>Rs</a:t>
            </a:r>
            <a:r>
              <a:rPr lang="en-US" altLang="zh-CN">
                <a:ea typeface="宋体" panose="02010600030101010101" pitchFamily="2" charset="-122"/>
              </a:rPr>
              <a:t> and the immediate filed together to form the memory address.</a:t>
            </a:r>
            <a:endParaRPr lang="en-US" altLang="zh-CN">
              <a:ea typeface="宋体" panose="02010600030101010101" pitchFamily="2" charset="-122"/>
            </a:endParaRPr>
          </a:p>
          <a:p>
            <a:pPr lvl="0"/>
            <a:r>
              <a:rPr lang="en-US" altLang="zh-CN">
                <a:ea typeface="宋体" panose="02010600030101010101" pitchFamily="2" charset="-122"/>
              </a:rPr>
              <a:t>The difference is that the load instruction will load the data from memory into </a:t>
            </a:r>
            <a:r>
              <a:rPr lang="en-US" altLang="zh-CN" dirty="0" err="1">
                <a:ea typeface="宋体" panose="02010600030101010101" pitchFamily="2" charset="-122"/>
              </a:rPr>
              <a:t>Rt</a:t>
            </a:r>
            <a:r>
              <a:rPr lang="en-US" altLang="zh-CN">
                <a:ea typeface="宋体" panose="02010600030101010101" pitchFamily="2" charset="-122"/>
              </a:rPr>
              <a:t> while the store instruction will store the data in </a:t>
            </a:r>
            <a:r>
              <a:rPr lang="en-US" altLang="zh-CN" dirty="0" err="1">
                <a:ea typeface="宋体" panose="02010600030101010101" pitchFamily="2" charset="-122"/>
              </a:rPr>
              <a:t>Rt</a:t>
            </a:r>
            <a:r>
              <a:rPr lang="en-US" altLang="zh-CN">
                <a:ea typeface="宋体" panose="02010600030101010101" pitchFamily="2" charset="-122"/>
              </a:rPr>
              <a:t> into the memory.</a:t>
            </a:r>
            <a:endParaRPr lang="en-US" altLang="zh-CN">
              <a:ea typeface="宋体" panose="02010600030101010101" pitchFamily="2" charset="-122"/>
            </a:endParaRPr>
          </a:p>
          <a:p>
            <a:pPr lvl="0"/>
            <a:r>
              <a:rPr lang="en-US" altLang="zh-CN">
                <a:ea typeface="宋体" panose="02010600030101010101" pitchFamily="2" charset="-122"/>
              </a:rPr>
              <a:t>The branch on equal instruction also uses the I format.  Here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are used to specify the registers we need to compare.</a:t>
            </a:r>
            <a:endParaRPr lang="en-US" altLang="zh-CN">
              <a:ea typeface="宋体" panose="02010600030101010101" pitchFamily="2" charset="-122"/>
            </a:endParaRPr>
          </a:p>
          <a:p>
            <a:pPr lvl="0"/>
            <a:r>
              <a:rPr lang="en-US" altLang="zh-CN">
                <a:ea typeface="宋体" panose="02010600030101010101" pitchFamily="2" charset="-122"/>
              </a:rPr>
              <a:t>If these two registers are equal, we will branch to a location specified by the immediate field.</a:t>
            </a:r>
            <a:endParaRPr lang="en-US" altLang="zh-CN">
              <a:ea typeface="宋体" panose="02010600030101010101" pitchFamily="2" charset="-122"/>
            </a:endParaRPr>
          </a:p>
          <a:p>
            <a:pPr lvl="0"/>
            <a:r>
              <a:rPr lang="en-US" altLang="zh-CN">
                <a:ea typeface="宋体" panose="02010600030101010101" pitchFamily="2" charset="-122"/>
              </a:rPr>
              <a:t>Finally, the jump instruction uses the J format and always causes the program to jump to a memory location specified in the address field. </a:t>
            </a:r>
            <a:endParaRPr lang="en-US" altLang="zh-CN">
              <a:ea typeface="宋体" panose="02010600030101010101" pitchFamily="2" charset="-122"/>
            </a:endParaRPr>
          </a:p>
          <a:p>
            <a:pPr lvl="0"/>
            <a:r>
              <a:rPr lang="en-US" altLang="zh-CN">
                <a:ea typeface="宋体" panose="02010600030101010101" pitchFamily="2" charset="-122"/>
              </a:rPr>
              <a:t>I know I went over this rather quickly and you may have missed something.  But don’t worry, this is just an overview.  You will keep seeing these (point to the format) all day today.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13 min. (X:53)</a:t>
            </a:r>
            <a:endParaRPr lang="en-US" altLang="zh-CN">
              <a:ea typeface="宋体" panose="02010600030101010101" pitchFamily="2" charset="-122"/>
            </a:endParaRPr>
          </a:p>
        </p:txBody>
      </p:sp>
      <p:sp>
        <p:nvSpPr>
          <p:cNvPr id="90114" name="幻灯片图像占位符 232450"/>
          <p:cNvSpPr>
            <a:spLocks noTextEdit="1"/>
          </p:cNvSpPr>
          <p:nvPr>
            <p:ph type="sldImg"/>
          </p:nvPr>
        </p:nvSpPr>
        <p:spPr>
          <a:xfrm>
            <a:off x="1427163" y="644525"/>
            <a:ext cx="4259262" cy="3194050"/>
          </a:xfr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文本占位符 234497"/>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Finally, let’s take a look at the jump instruction which uses the J format.</a:t>
            </a:r>
            <a:endParaRPr lang="en-US" altLang="zh-CN">
              <a:ea typeface="宋体" panose="02010600030101010101" pitchFamily="2" charset="-122"/>
            </a:endParaRPr>
          </a:p>
          <a:p>
            <a:pPr lvl="0"/>
            <a:r>
              <a:rPr lang="en-US" altLang="zh-CN">
                <a:ea typeface="宋体" panose="02010600030101010101" pitchFamily="2" charset="-122"/>
              </a:rPr>
              <a:t>The effect of the jump instruction is to change the  lower 26 bits of the Program Counter to the value specified in the address field of the instruction.</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+1 = 76 min. (Y:46)</a:t>
            </a:r>
            <a:endParaRPr lang="en-US" altLang="zh-CN">
              <a:ea typeface="宋体" panose="02010600030101010101" pitchFamily="2" charset="-122"/>
            </a:endParaRPr>
          </a:p>
        </p:txBody>
      </p:sp>
      <p:sp>
        <p:nvSpPr>
          <p:cNvPr id="92162" name="幻灯片图像占位符 234498"/>
          <p:cNvSpPr>
            <a:spLocks noTextEdit="1"/>
          </p:cNvSpPr>
          <p:nvPr>
            <p:ph type="sldImg"/>
          </p:nvPr>
        </p:nvSpPr>
        <p:spPr>
          <a:xfrm>
            <a:off x="1427163" y="644525"/>
            <a:ext cx="4259262" cy="3194050"/>
          </a:xfr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文本占位符 236545"/>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Well this (points to the equation) is easy to implement.</a:t>
            </a:r>
            <a:endParaRPr lang="en-US" altLang="zh-CN">
              <a:ea typeface="宋体" panose="02010600030101010101" pitchFamily="2" charset="-122"/>
            </a:endParaRPr>
          </a:p>
          <a:p>
            <a:pPr lvl="0"/>
            <a:r>
              <a:rPr lang="en-US" altLang="zh-CN">
                <a:ea typeface="宋体" panose="02010600030101010101" pitchFamily="2" charset="-122"/>
              </a:rPr>
              <a:t>All we have to do is grab the four most significant bits of the PC and put them right next to the 26 bits target, and we will have the next PC for the jump (point to the feedback path).</a:t>
            </a:r>
            <a:endParaRPr lang="en-US" altLang="zh-CN">
              <a:ea typeface="宋体" panose="02010600030101010101" pitchFamily="2" charset="-122"/>
            </a:endParaRPr>
          </a:p>
          <a:p>
            <a:pPr lvl="0"/>
            <a:r>
              <a:rPr lang="en-US" altLang="zh-CN">
                <a:ea typeface="宋体" panose="02010600030101010101" pitchFamily="2" charset="-122"/>
              </a:rPr>
              <a:t>If we are running </a:t>
            </a:r>
            <a:r>
              <a:rPr lang="en-US" altLang="zh-CN" dirty="0" err="1">
                <a:ea typeface="宋体" panose="02010600030101010101" pitchFamily="2" charset="-122"/>
              </a:rPr>
              <a:t>Powerview</a:t>
            </a:r>
            <a:r>
              <a:rPr lang="en-US" altLang="zh-CN">
                <a:ea typeface="宋体" panose="02010600030101010101" pitchFamily="2" charset="-122"/>
              </a:rPr>
              <a:t>, what we will do now is to create a symbol called Instruction Fetch Unit.</a:t>
            </a:r>
            <a:endParaRPr lang="en-US" altLang="zh-CN">
              <a:ea typeface="宋体" panose="02010600030101010101" pitchFamily="2" charset="-122"/>
            </a:endParaRPr>
          </a:p>
          <a:p>
            <a:pPr lvl="0"/>
            <a:r>
              <a:rPr lang="en-US" altLang="zh-CN">
                <a:ea typeface="宋体" panose="02010600030101010101" pitchFamily="2" charset="-122"/>
              </a:rPr>
              <a:t>The output of this symbol is the 32-bit instruction word.</a:t>
            </a:r>
            <a:endParaRPr lang="en-US" altLang="zh-CN">
              <a:ea typeface="宋体" panose="02010600030101010101" pitchFamily="2" charset="-122"/>
            </a:endParaRPr>
          </a:p>
          <a:p>
            <a:pPr lvl="0"/>
            <a:r>
              <a:rPr lang="en-US" altLang="zh-CN">
                <a:ea typeface="宋体" panose="02010600030101010101" pitchFamily="2" charset="-122"/>
              </a:rPr>
              <a:t>The input to the Instruction Fetch Unit are two control signals, Branch and Jump, and one conditional input Zero from the </a:t>
            </a:r>
            <a:r>
              <a:rPr lang="en-US" altLang="zh-CN" dirty="0" err="1">
                <a:ea typeface="宋体" panose="02010600030101010101" pitchFamily="2" charset="-122"/>
              </a:rPr>
              <a:t>datapath</a:t>
            </a:r>
            <a:r>
              <a:rPr lang="en-US" altLang="zh-CN">
                <a:ea typeface="宋体" panose="02010600030101010101" pitchFamily="2" charset="-122"/>
              </a:rPr>
              <a:t>. </a:t>
            </a:r>
            <a:endParaRPr lang="en-US" altLang="zh-CN">
              <a:ea typeface="宋体" panose="02010600030101010101" pitchFamily="2" charset="-122"/>
            </a:endParaRPr>
          </a:p>
          <a:p>
            <a:pPr lvl="0"/>
            <a:r>
              <a:rPr lang="en-US" altLang="zh-CN">
                <a:ea typeface="宋体" panose="02010600030101010101" pitchFamily="2" charset="-122"/>
              </a:rPr>
              <a:t>Using this new symbol, we can complete our single cycle </a:t>
            </a:r>
            <a:r>
              <a:rPr lang="en-US" altLang="zh-CN" dirty="0" err="1">
                <a:ea typeface="宋体" panose="02010600030101010101" pitchFamily="2" charset="-122"/>
              </a:rPr>
              <a:t>datapath</a:t>
            </a:r>
            <a:r>
              <a:rPr lang="en-US" altLang="zh-CN">
                <a:ea typeface="宋体" panose="02010600030101010101" pitchFamily="2" charset="-122"/>
              </a:rPr>
              <a: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78 min. (Y:58)</a:t>
            </a:r>
            <a:endParaRPr lang="en-US" altLang="zh-CN">
              <a:ea typeface="宋体" panose="02010600030101010101" pitchFamily="2" charset="-122"/>
            </a:endParaRPr>
          </a:p>
        </p:txBody>
      </p:sp>
      <p:sp>
        <p:nvSpPr>
          <p:cNvPr id="94210" name="幻灯片图像占位符 236546"/>
          <p:cNvSpPr>
            <a:spLocks noTextEdit="1"/>
          </p:cNvSpPr>
          <p:nvPr>
            <p:ph type="sldImg"/>
          </p:nvPr>
        </p:nvSpPr>
        <p:spPr>
          <a:xfrm>
            <a:off x="1427163" y="644525"/>
            <a:ext cx="4259262" cy="3194050"/>
          </a:xfr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文本占位符 238593"/>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In today’s lecture, I will show you how to implement the following subset of MIPS instructions: add, subtract, or immediate, load, store, branch, and the jump instruction.</a:t>
            </a:r>
            <a:endParaRPr lang="en-US" altLang="zh-CN">
              <a:ea typeface="宋体" panose="02010600030101010101" pitchFamily="2" charset="-122"/>
            </a:endParaRPr>
          </a:p>
          <a:p>
            <a:pPr lvl="0"/>
            <a:r>
              <a:rPr lang="en-US" altLang="zh-CN">
                <a:ea typeface="宋体" panose="02010600030101010101" pitchFamily="2" charset="-122"/>
              </a:rPr>
              <a:t>The Add and Subtract instructions use the R format.  The Op together with the </a:t>
            </a:r>
            <a:r>
              <a:rPr lang="en-US" altLang="zh-CN" dirty="0" err="1">
                <a:ea typeface="宋体" panose="02010600030101010101" pitchFamily="2" charset="-122"/>
              </a:rPr>
              <a:t>Func</a:t>
            </a:r>
            <a:r>
              <a:rPr lang="en-US" altLang="zh-CN">
                <a:ea typeface="宋体" panose="02010600030101010101" pitchFamily="2" charset="-122"/>
              </a:rPr>
              <a:t> fields together specified all the different kinds of add and subtract instructions.</a:t>
            </a:r>
            <a:endParaRPr lang="en-US" altLang="zh-CN">
              <a:ea typeface="宋体" panose="02010600030101010101" pitchFamily="2" charset="-122"/>
            </a:endParaRPr>
          </a:p>
          <a:p>
            <a:pPr lvl="0"/>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specifies the source registers.  And the Rd field specifies the destination register.</a:t>
            </a:r>
            <a:endParaRPr lang="en-US" altLang="zh-CN">
              <a:ea typeface="宋体" panose="02010600030101010101" pitchFamily="2" charset="-122"/>
            </a:endParaRPr>
          </a:p>
          <a:p>
            <a:pPr lvl="0"/>
            <a:r>
              <a:rPr lang="en-US" altLang="zh-CN">
                <a:ea typeface="宋体" panose="02010600030101010101" pitchFamily="2" charset="-122"/>
              </a:rPr>
              <a:t>The Or immediate instruction uses the I format.  It only uses one source register, </a:t>
            </a:r>
            <a:r>
              <a:rPr lang="en-US" altLang="zh-CN" dirty="0" err="1">
                <a:ea typeface="宋体" panose="02010600030101010101" pitchFamily="2" charset="-122"/>
              </a:rPr>
              <a:t>Rs</a:t>
            </a:r>
            <a:r>
              <a:rPr lang="en-US" altLang="zh-CN">
                <a:ea typeface="宋体" panose="02010600030101010101" pitchFamily="2" charset="-122"/>
              </a:rPr>
              <a:t>.  The other operand comes from the immediate field. The </a:t>
            </a:r>
            <a:r>
              <a:rPr lang="en-US" altLang="zh-CN" dirty="0" err="1">
                <a:ea typeface="宋体" panose="02010600030101010101" pitchFamily="2" charset="-122"/>
              </a:rPr>
              <a:t>Rt</a:t>
            </a:r>
            <a:r>
              <a:rPr lang="en-US" altLang="zh-CN">
                <a:ea typeface="宋体" panose="02010600030101010101" pitchFamily="2" charset="-122"/>
              </a:rPr>
              <a:t> field is used to specified the destination register.</a:t>
            </a:r>
            <a:endParaRPr lang="en-US" altLang="zh-CN">
              <a:ea typeface="宋体" panose="02010600030101010101" pitchFamily="2" charset="-122"/>
            </a:endParaRPr>
          </a:p>
          <a:p>
            <a:pPr lvl="0"/>
            <a:r>
              <a:rPr lang="en-US" altLang="zh-CN">
                <a:ea typeface="宋体" panose="02010600030101010101" pitchFamily="2" charset="-122"/>
              </a:rPr>
              <a:t>Both the load and store instructions use the I format and both add the </a:t>
            </a:r>
            <a:r>
              <a:rPr lang="en-US" altLang="zh-CN" dirty="0" err="1">
                <a:ea typeface="宋体" panose="02010600030101010101" pitchFamily="2" charset="-122"/>
              </a:rPr>
              <a:t>Rs</a:t>
            </a:r>
            <a:r>
              <a:rPr lang="en-US" altLang="zh-CN">
                <a:ea typeface="宋体" panose="02010600030101010101" pitchFamily="2" charset="-122"/>
              </a:rPr>
              <a:t> and the immediate filed together to form the memory address.</a:t>
            </a:r>
            <a:endParaRPr lang="en-US" altLang="zh-CN">
              <a:ea typeface="宋体" panose="02010600030101010101" pitchFamily="2" charset="-122"/>
            </a:endParaRPr>
          </a:p>
          <a:p>
            <a:pPr lvl="0"/>
            <a:r>
              <a:rPr lang="en-US" altLang="zh-CN">
                <a:ea typeface="宋体" panose="02010600030101010101" pitchFamily="2" charset="-122"/>
              </a:rPr>
              <a:t>The difference is that the load instruction will load the data from memory into </a:t>
            </a:r>
            <a:r>
              <a:rPr lang="en-US" altLang="zh-CN" dirty="0" err="1">
                <a:ea typeface="宋体" panose="02010600030101010101" pitchFamily="2" charset="-122"/>
              </a:rPr>
              <a:t>Rt</a:t>
            </a:r>
            <a:r>
              <a:rPr lang="en-US" altLang="zh-CN">
                <a:ea typeface="宋体" panose="02010600030101010101" pitchFamily="2" charset="-122"/>
              </a:rPr>
              <a:t> while the store instruction will store the data in </a:t>
            </a:r>
            <a:r>
              <a:rPr lang="en-US" altLang="zh-CN" dirty="0" err="1">
                <a:ea typeface="宋体" panose="02010600030101010101" pitchFamily="2" charset="-122"/>
              </a:rPr>
              <a:t>Rt</a:t>
            </a:r>
            <a:r>
              <a:rPr lang="en-US" altLang="zh-CN">
                <a:ea typeface="宋体" panose="02010600030101010101" pitchFamily="2" charset="-122"/>
              </a:rPr>
              <a:t> into the memory.</a:t>
            </a:r>
            <a:endParaRPr lang="en-US" altLang="zh-CN">
              <a:ea typeface="宋体" panose="02010600030101010101" pitchFamily="2" charset="-122"/>
            </a:endParaRPr>
          </a:p>
          <a:p>
            <a:pPr lvl="0"/>
            <a:r>
              <a:rPr lang="en-US" altLang="zh-CN">
                <a:ea typeface="宋体" panose="02010600030101010101" pitchFamily="2" charset="-122"/>
              </a:rPr>
              <a:t>The branch on equal instruction also uses the I format.  Here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are used to specify the registers we need to compare.</a:t>
            </a:r>
            <a:endParaRPr lang="en-US" altLang="zh-CN">
              <a:ea typeface="宋体" panose="02010600030101010101" pitchFamily="2" charset="-122"/>
            </a:endParaRPr>
          </a:p>
          <a:p>
            <a:pPr lvl="0"/>
            <a:r>
              <a:rPr lang="en-US" altLang="zh-CN">
                <a:ea typeface="宋体" panose="02010600030101010101" pitchFamily="2" charset="-122"/>
              </a:rPr>
              <a:t>If these two registers are equal, we will branch to a location specified by the immediate field.</a:t>
            </a:r>
            <a:endParaRPr lang="en-US" altLang="zh-CN">
              <a:ea typeface="宋体" panose="02010600030101010101" pitchFamily="2" charset="-122"/>
            </a:endParaRPr>
          </a:p>
          <a:p>
            <a:pPr lvl="0"/>
            <a:r>
              <a:rPr lang="en-US" altLang="zh-CN">
                <a:ea typeface="宋体" panose="02010600030101010101" pitchFamily="2" charset="-122"/>
              </a:rPr>
              <a:t>Finally, the jump instruction uses the J format and always causes the program to jump to a memory location specified in the address field. </a:t>
            </a:r>
            <a:endParaRPr lang="en-US" altLang="zh-CN">
              <a:ea typeface="宋体" panose="02010600030101010101" pitchFamily="2" charset="-122"/>
            </a:endParaRPr>
          </a:p>
          <a:p>
            <a:pPr lvl="0"/>
            <a:r>
              <a:rPr lang="en-US" altLang="zh-CN">
                <a:ea typeface="宋体" panose="02010600030101010101" pitchFamily="2" charset="-122"/>
              </a:rPr>
              <a:t>I know I went over this rather quickly and you may have missed something.  But don’t worry, this is just an overview.  You will keep seeing these (point to the format) all day today.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13 min. (X:53)</a:t>
            </a:r>
            <a:endParaRPr lang="en-US" altLang="zh-CN">
              <a:ea typeface="宋体" panose="02010600030101010101" pitchFamily="2" charset="-122"/>
            </a:endParaRPr>
          </a:p>
        </p:txBody>
      </p:sp>
      <p:sp>
        <p:nvSpPr>
          <p:cNvPr id="96258" name="幻灯片图像占位符 238594"/>
          <p:cNvSpPr>
            <a:spLocks noTextEdit="1"/>
          </p:cNvSpPr>
          <p:nvPr>
            <p:ph type="sldImg"/>
          </p:nvPr>
        </p:nvSpPr>
        <p:spPr>
          <a:xfrm>
            <a:off x="1427163" y="644525"/>
            <a:ext cx="4259262" cy="3194050"/>
          </a:xfr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文本占位符 240641"/>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So here is the single cycle </a:t>
            </a:r>
            <a:r>
              <a:rPr lang="en-US" altLang="zh-CN" dirty="0" err="1">
                <a:ea typeface="宋体" panose="02010600030101010101" pitchFamily="2" charset="-122"/>
              </a:rPr>
              <a:t>datapath</a:t>
            </a:r>
            <a:r>
              <a:rPr lang="en-US" altLang="zh-CN">
                <a:ea typeface="宋体" panose="02010600030101010101" pitchFamily="2" charset="-122"/>
              </a:rPr>
              <a:t> we just built.</a:t>
            </a:r>
            <a:endParaRPr lang="en-US" altLang="zh-CN">
              <a:ea typeface="宋体" panose="02010600030101010101" pitchFamily="2" charset="-122"/>
            </a:endParaRPr>
          </a:p>
          <a:p>
            <a:pPr lvl="0"/>
            <a:r>
              <a:rPr lang="en-US" altLang="zh-CN">
                <a:ea typeface="宋体" panose="02010600030101010101" pitchFamily="2" charset="-122"/>
              </a:rPr>
              <a:t>If you push into the Instruction Fetch Unit, you will see the last slide showing the PC, the next address logic, and the Instruction Memory.</a:t>
            </a:r>
            <a:endParaRPr lang="en-US" altLang="zh-CN">
              <a:ea typeface="宋体" panose="02010600030101010101" pitchFamily="2" charset="-122"/>
            </a:endParaRPr>
          </a:p>
          <a:p>
            <a:pPr lvl="0"/>
            <a:r>
              <a:rPr lang="en-US" altLang="zh-CN">
                <a:ea typeface="宋体" panose="02010600030101010101" pitchFamily="2" charset="-122"/>
              </a:rPr>
              <a:t>Here I have shown how we can get the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Rd, and Imm16 fields out of the 32-bit instruction word.</a:t>
            </a:r>
            <a:endParaRPr lang="en-US" altLang="zh-CN">
              <a:ea typeface="宋体" panose="02010600030101010101" pitchFamily="2" charset="-122"/>
            </a:endParaRPr>
          </a:p>
          <a:p>
            <a:pPr lvl="0"/>
            <a:r>
              <a:rPr lang="en-US" altLang="zh-CN">
                <a:ea typeface="宋体" panose="02010600030101010101" pitchFamily="2" charset="-122"/>
              </a:rPr>
              <a:t>The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and Rd fields will go to the register file as register </a:t>
            </a:r>
            <a:r>
              <a:rPr lang="en-US" altLang="zh-CN" dirty="0" err="1">
                <a:ea typeface="宋体" panose="02010600030101010101" pitchFamily="2" charset="-122"/>
              </a:rPr>
              <a:t>specifiers</a:t>
            </a:r>
            <a:r>
              <a:rPr lang="en-US" altLang="zh-CN">
                <a:ea typeface="宋体" panose="02010600030101010101" pitchFamily="2" charset="-122"/>
              </a:rPr>
              <a:t> while the Imm16 field will go to the Extender where it is either Zero and Sign extended to 32 bits.</a:t>
            </a:r>
            <a:endParaRPr lang="en-US" altLang="zh-CN">
              <a:ea typeface="宋体" panose="02010600030101010101" pitchFamily="2" charset="-122"/>
            </a:endParaRPr>
          </a:p>
          <a:p>
            <a:pPr lvl="0"/>
            <a:r>
              <a:rPr lang="en-US" altLang="zh-CN">
                <a:ea typeface="宋体" panose="02010600030101010101" pitchFamily="2" charset="-122"/>
              </a:rPr>
              <a:t>The signals </a:t>
            </a:r>
            <a:r>
              <a:rPr lang="en-US" altLang="zh-CN" dirty="0" err="1">
                <a:ea typeface="宋体" panose="02010600030101010101" pitchFamily="2" charset="-122"/>
              </a:rPr>
              <a:t>ExtOp</a:t>
            </a:r>
            <a:r>
              <a:rPr lang="en-US" altLang="zh-CN">
                <a:ea typeface="宋体" panose="02010600030101010101" pitchFamily="2" charset="-122"/>
              </a:rPr>
              <a:t>, </a:t>
            </a:r>
            <a:r>
              <a:rPr lang="en-US" altLang="zh-CN" dirty="0" err="1">
                <a:ea typeface="宋体" panose="02010600030101010101" pitchFamily="2" charset="-122"/>
              </a:rPr>
              <a:t>ALUSrc</a:t>
            </a:r>
            <a:r>
              <a:rPr lang="en-US" altLang="zh-CN">
                <a:ea typeface="宋体" panose="02010600030101010101" pitchFamily="2" charset="-122"/>
              </a:rPr>
              <a:t>, </a:t>
            </a:r>
            <a:r>
              <a:rPr lang="en-US" altLang="zh-CN" dirty="0" err="1">
                <a:ea typeface="宋体" panose="02010600030101010101" pitchFamily="2" charset="-122"/>
              </a:rPr>
              <a:t>ALUctr</a:t>
            </a:r>
            <a:r>
              <a:rPr lang="en-US" altLang="zh-CN">
                <a:ea typeface="宋体" panose="02010600030101010101" pitchFamily="2" charset="-122"/>
              </a:rPr>
              <a:t>, </a:t>
            </a:r>
            <a:r>
              <a:rPr lang="en-US" altLang="zh-CN" dirty="0" err="1">
                <a:ea typeface="宋体" panose="02010600030101010101" pitchFamily="2" charset="-122"/>
              </a:rPr>
              <a:t>MemWr</a:t>
            </a:r>
            <a:r>
              <a:rPr lang="en-US" altLang="zh-CN">
                <a:ea typeface="宋体" panose="02010600030101010101" pitchFamily="2" charset="-122"/>
              </a:rPr>
              <a:t>, </a:t>
            </a:r>
            <a:r>
              <a:rPr lang="en-US" altLang="zh-CN" dirty="0" err="1">
                <a:ea typeface="宋体" panose="02010600030101010101" pitchFamily="2" charset="-122"/>
              </a:rPr>
              <a:t>MemtoReg</a:t>
            </a:r>
            <a:r>
              <a:rPr lang="en-US" altLang="zh-CN">
                <a:ea typeface="宋体" panose="02010600030101010101" pitchFamily="2" charset="-122"/>
              </a:rPr>
              <a:t>, </a:t>
            </a:r>
            <a:r>
              <a:rPr lang="en-US" altLang="zh-CN" dirty="0" err="1">
                <a:ea typeface="宋体" panose="02010600030101010101" pitchFamily="2" charset="-122"/>
              </a:rPr>
              <a:t>RegDst</a:t>
            </a:r>
            <a:r>
              <a:rPr lang="en-US" altLang="zh-CN">
                <a:ea typeface="宋体" panose="02010600030101010101" pitchFamily="2" charset="-122"/>
              </a:rPr>
              <a:t>, </a:t>
            </a:r>
            <a:r>
              <a:rPr lang="en-US" altLang="zh-CN" dirty="0" err="1">
                <a:ea typeface="宋体" panose="02010600030101010101" pitchFamily="2" charset="-122"/>
              </a:rPr>
              <a:t>RegWr</a:t>
            </a:r>
            <a:r>
              <a:rPr lang="en-US" altLang="zh-CN">
                <a:ea typeface="宋体" panose="02010600030101010101" pitchFamily="2" charset="-122"/>
              </a:rPr>
              <a:t>, Branch, and Jump  are control signals.</a:t>
            </a:r>
            <a:endParaRPr lang="en-US" altLang="zh-CN">
              <a:ea typeface="宋体" panose="02010600030101010101" pitchFamily="2" charset="-122"/>
            </a:endParaRPr>
          </a:p>
          <a:p>
            <a:pPr lvl="0"/>
            <a:r>
              <a:rPr lang="en-US" altLang="zh-CN">
                <a:ea typeface="宋体" panose="02010600030101010101" pitchFamily="2" charset="-122"/>
              </a:rPr>
              <a:t>And I will show you how to generate them in the next class..</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80 min. (Z:00)</a:t>
            </a:r>
            <a:endParaRPr lang="en-US" altLang="zh-CN">
              <a:ea typeface="宋体" panose="02010600030101010101" pitchFamily="2" charset="-122"/>
            </a:endParaRPr>
          </a:p>
        </p:txBody>
      </p:sp>
      <p:sp>
        <p:nvSpPr>
          <p:cNvPr id="98306" name="幻灯片图像占位符 240642"/>
          <p:cNvSpPr>
            <a:spLocks noTextEdit="1"/>
          </p:cNvSpPr>
          <p:nvPr>
            <p:ph type="sldImg"/>
          </p:nvPr>
        </p:nvSpPr>
        <p:spPr>
          <a:xfrm>
            <a:off x="1427163" y="644525"/>
            <a:ext cx="4259262" cy="3194050"/>
          </a:xfr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文本占位符 242689"/>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So where are in in the overall scheme of things.</a:t>
            </a:r>
            <a:endParaRPr lang="en-US" altLang="zh-CN">
              <a:ea typeface="宋体" panose="02010600030101010101" pitchFamily="2" charset="-122"/>
            </a:endParaRPr>
          </a:p>
          <a:p>
            <a:pPr lvl="0"/>
            <a:r>
              <a:rPr lang="en-US" altLang="zh-CN">
                <a:ea typeface="宋体" panose="02010600030101010101" pitchFamily="2" charset="-122"/>
              </a:rPr>
              <a:t>Well, we just finished designing the processor’s </a:t>
            </a:r>
            <a:r>
              <a:rPr lang="en-US" altLang="zh-CN" dirty="0" err="1">
                <a:ea typeface="宋体" panose="02010600030101010101" pitchFamily="2" charset="-122"/>
              </a:rPr>
              <a:t>datapath</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Now I am going to show you how to design the control for the </a:t>
            </a:r>
            <a:r>
              <a:rPr lang="en-US" altLang="zh-CN" dirty="0" err="1">
                <a:ea typeface="宋体" panose="02010600030101010101" pitchFamily="2" charset="-122"/>
              </a:rPr>
              <a:t>datapath</a:t>
            </a:r>
            <a:r>
              <a:rPr lang="en-US" altLang="zh-CN">
                <a:ea typeface="宋体" panose="02010600030101010101" pitchFamily="2" charset="-122"/>
              </a:rPr>
              <a: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+1 = 7 min. (X:47)</a:t>
            </a:r>
            <a:endParaRPr lang="en-US" altLang="zh-CN">
              <a:ea typeface="宋体" panose="02010600030101010101" pitchFamily="2" charset="-122"/>
            </a:endParaRPr>
          </a:p>
        </p:txBody>
      </p:sp>
      <p:sp>
        <p:nvSpPr>
          <p:cNvPr id="104450" name="幻灯片图像占位符 242690"/>
          <p:cNvSpPr>
            <a:spLocks noTextEdit="1"/>
          </p:cNvSpPr>
          <p:nvPr>
            <p:ph type="sldImg"/>
          </p:nvPr>
        </p:nvSpPr>
        <p:spPr>
          <a:xfrm>
            <a:off x="1257300" y="644525"/>
            <a:ext cx="4598988" cy="3449638"/>
          </a:xfr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文本占位符 246785"/>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First let’s look at the Instruction Fetch Unit where everything begins.</a:t>
            </a:r>
            <a:endParaRPr lang="en-US" altLang="zh-CN">
              <a:ea typeface="宋体" panose="02010600030101010101" pitchFamily="2" charset="-122"/>
            </a:endParaRPr>
          </a:p>
          <a:p>
            <a:pPr lvl="0"/>
            <a:r>
              <a:rPr lang="en-US" altLang="zh-CN">
                <a:ea typeface="宋体" panose="02010600030101010101" pitchFamily="2" charset="-122"/>
              </a:rPr>
              <a:t>Every instruction begins at the clock tick.  The clock tick in this case is the high to low transition of the </a:t>
            </a:r>
            <a:r>
              <a:rPr lang="en-US" altLang="zh-CN" dirty="0" err="1">
                <a:ea typeface="宋体" panose="02010600030101010101" pitchFamily="2" charset="-122"/>
              </a:rPr>
              <a:t>Clk</a:t>
            </a:r>
            <a:r>
              <a:rPr lang="en-US" altLang="zh-CN">
                <a:ea typeface="宋体" panose="02010600030101010101" pitchFamily="2" charset="-122"/>
              </a:rPr>
              <a:t> (points to the “bubble” of PC).</a:t>
            </a:r>
            <a:endParaRPr lang="en-US" altLang="zh-CN">
              <a:ea typeface="宋体" panose="02010600030101010101" pitchFamily="2" charset="-122"/>
            </a:endParaRPr>
          </a:p>
          <a:p>
            <a:pPr lvl="0"/>
            <a:r>
              <a:rPr lang="en-US" altLang="zh-CN">
                <a:ea typeface="宋体" panose="02010600030101010101" pitchFamily="2" charset="-122"/>
              </a:rPr>
              <a:t>What happens right after the clock tick?</a:t>
            </a:r>
            <a:endParaRPr lang="en-US" altLang="zh-CN">
              <a:ea typeface="宋体" panose="02010600030101010101" pitchFamily="2" charset="-122"/>
            </a:endParaRPr>
          </a:p>
          <a:p>
            <a:pPr lvl="0"/>
            <a:r>
              <a:rPr lang="en-US" altLang="zh-CN">
                <a:ea typeface="宋体" panose="02010600030101010101" pitchFamily="2" charset="-122"/>
              </a:rPr>
              <a:t>After </a:t>
            </a:r>
            <a:r>
              <a:rPr lang="en-US" altLang="zh-CN" dirty="0" err="1">
                <a:ea typeface="宋体" panose="02010600030101010101" pitchFamily="2" charset="-122"/>
              </a:rPr>
              <a:t>Clk</a:t>
            </a:r>
            <a:r>
              <a:rPr lang="en-US" altLang="zh-CN">
                <a:ea typeface="宋体" panose="02010600030101010101" pitchFamily="2" charset="-122"/>
              </a:rPr>
              <a:t>-to-Q delay, the PC gets the value that points to the Add instruction and fetch the add instruction from the memory but sending the address to the Ideal Instruction memory.</a:t>
            </a:r>
            <a:endParaRPr lang="en-US" altLang="zh-CN">
              <a:ea typeface="宋体" panose="02010600030101010101" pitchFamily="2" charset="-122"/>
            </a:endParaRPr>
          </a:p>
          <a:p>
            <a:pPr lvl="0"/>
            <a:r>
              <a:rPr lang="en-US" altLang="zh-CN">
                <a:ea typeface="宋体" panose="02010600030101010101" pitchFamily="2" charset="-122"/>
              </a:rPr>
              <a:t>Notice that since this is the beginning of the instruction, Control signals Branch and Jump will still have the old values from the previous instruction.</a:t>
            </a:r>
            <a:endParaRPr lang="en-US" altLang="zh-CN">
              <a:ea typeface="宋体" panose="02010600030101010101" pitchFamily="2" charset="-122"/>
            </a:endParaRPr>
          </a:p>
          <a:p>
            <a:pPr lvl="0"/>
            <a:r>
              <a:rPr lang="en-US" altLang="zh-CN">
                <a:ea typeface="宋体" panose="02010600030101010101" pitchFamily="2" charset="-122"/>
              </a:rPr>
              <a:t>At the beginning of ALL instructions execution, the instruction unit behaves the same way as shown here and we won’t repeat this picture for every instruction.</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12 min. (X:52)</a:t>
            </a:r>
            <a:endParaRPr lang="en-US" altLang="zh-CN">
              <a:ea typeface="宋体" panose="02010600030101010101" pitchFamily="2" charset="-122"/>
            </a:endParaRPr>
          </a:p>
        </p:txBody>
      </p:sp>
      <p:sp>
        <p:nvSpPr>
          <p:cNvPr id="106498" name="幻灯片图像占位符 246786"/>
          <p:cNvSpPr>
            <a:spLocks noTextEdit="1"/>
          </p:cNvSpPr>
          <p:nvPr>
            <p:ph type="sldImg"/>
          </p:nvPr>
        </p:nvSpPr>
        <p:spPr>
          <a:xfrm>
            <a:off x="1257300" y="644525"/>
            <a:ext cx="4598988" cy="3449638"/>
          </a:xfr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文本占位符 248833"/>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This picture shows the activities at the main </a:t>
            </a:r>
            <a:r>
              <a:rPr lang="en-US" altLang="zh-CN" dirty="0" err="1">
                <a:ea typeface="宋体" panose="02010600030101010101" pitchFamily="2" charset="-122"/>
              </a:rPr>
              <a:t>datapath</a:t>
            </a:r>
            <a:r>
              <a:rPr lang="en-US" altLang="zh-CN">
                <a:ea typeface="宋体" panose="02010600030101010101" pitchFamily="2" charset="-122"/>
              </a:rPr>
              <a:t> during the execution of the Add or Subtract instructions.  </a:t>
            </a:r>
            <a:endParaRPr lang="en-US" altLang="zh-CN">
              <a:ea typeface="宋体" panose="02010600030101010101" pitchFamily="2" charset="-122"/>
            </a:endParaRPr>
          </a:p>
          <a:p>
            <a:pPr lvl="0"/>
            <a:r>
              <a:rPr lang="en-US" altLang="zh-CN">
                <a:ea typeface="宋体" panose="02010600030101010101" pitchFamily="2" charset="-122"/>
              </a:rPr>
              <a:t>The active parts of the </a:t>
            </a:r>
            <a:r>
              <a:rPr lang="en-US" altLang="zh-CN" dirty="0" err="1">
                <a:ea typeface="宋体" panose="02010600030101010101" pitchFamily="2" charset="-122"/>
              </a:rPr>
              <a:t>datapath</a:t>
            </a:r>
            <a:r>
              <a:rPr lang="en-US" altLang="zh-CN">
                <a:ea typeface="宋体" panose="02010600030101010101" pitchFamily="2" charset="-122"/>
              </a:rPr>
              <a:t> are shown in different color as well as thicker lines.</a:t>
            </a:r>
            <a:endParaRPr lang="en-US" altLang="zh-CN">
              <a:ea typeface="宋体" panose="02010600030101010101" pitchFamily="2" charset="-122"/>
            </a:endParaRPr>
          </a:p>
          <a:p>
            <a:pPr lvl="0"/>
            <a:r>
              <a:rPr lang="en-US" altLang="zh-CN">
                <a:ea typeface="宋体" panose="02010600030101010101" pitchFamily="2" charset="-122"/>
              </a:rPr>
              <a:t>First of all, the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of the instructions are fed to the Ra and </a:t>
            </a:r>
            <a:r>
              <a:rPr lang="en-US" altLang="zh-CN" dirty="0" err="1">
                <a:ea typeface="宋体" panose="02010600030101010101" pitchFamily="2" charset="-122"/>
              </a:rPr>
              <a:t>Rb</a:t>
            </a:r>
            <a:r>
              <a:rPr lang="en-US" altLang="zh-CN">
                <a:ea typeface="宋体" panose="02010600030101010101" pitchFamily="2" charset="-122"/>
              </a:rPr>
              <a:t> address ports of the register file and cause the contents of registers specified by the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fields to be placed on </a:t>
            </a:r>
            <a:r>
              <a:rPr lang="en-US" altLang="zh-CN" dirty="0" err="1">
                <a:ea typeface="宋体" panose="02010600030101010101" pitchFamily="2" charset="-122"/>
              </a:rPr>
              <a:t>busA</a:t>
            </a:r>
            <a:r>
              <a:rPr lang="en-US" altLang="zh-CN">
                <a:ea typeface="宋体" panose="02010600030101010101" pitchFamily="2" charset="-122"/>
              </a:rPr>
              <a:t> and </a:t>
            </a:r>
            <a:r>
              <a:rPr lang="en-US" altLang="zh-CN" dirty="0" err="1">
                <a:ea typeface="宋体" panose="02010600030101010101" pitchFamily="2" charset="-122"/>
              </a:rPr>
              <a:t>busB</a:t>
            </a:r>
            <a:r>
              <a:rPr lang="en-US" altLang="zh-CN">
                <a:ea typeface="宋体" panose="02010600030101010101" pitchFamily="2" charset="-122"/>
              </a:rPr>
              <a:t>, respectively.</a:t>
            </a:r>
            <a:endParaRPr lang="en-US" altLang="zh-CN">
              <a:ea typeface="宋体" panose="02010600030101010101" pitchFamily="2" charset="-122"/>
            </a:endParaRPr>
          </a:p>
          <a:p>
            <a:pPr lvl="0"/>
            <a:r>
              <a:rPr lang="en-US" altLang="zh-CN">
                <a:ea typeface="宋体" panose="02010600030101010101" pitchFamily="2" charset="-122"/>
              </a:rPr>
              <a:t>With the </a:t>
            </a:r>
            <a:r>
              <a:rPr lang="en-US" altLang="zh-CN" dirty="0" err="1">
                <a:ea typeface="宋体" panose="02010600030101010101" pitchFamily="2" charset="-122"/>
              </a:rPr>
              <a:t>ALUctr</a:t>
            </a:r>
            <a:r>
              <a:rPr lang="en-US" altLang="zh-CN">
                <a:ea typeface="宋体" panose="02010600030101010101" pitchFamily="2" charset="-122"/>
              </a:rPr>
              <a:t> signals set to either Add or Subtract, the ALU will perform the proper operation and with </a:t>
            </a:r>
            <a:r>
              <a:rPr lang="en-US" altLang="zh-CN" dirty="0" err="1">
                <a:ea typeface="宋体" panose="02010600030101010101" pitchFamily="2" charset="-122"/>
              </a:rPr>
              <a:t>MemtoReg</a:t>
            </a:r>
            <a:r>
              <a:rPr lang="en-US" altLang="zh-CN">
                <a:ea typeface="宋体" panose="02010600030101010101" pitchFamily="2" charset="-122"/>
              </a:rPr>
              <a:t> set to 0, the ALU output will be placed onto </a:t>
            </a:r>
            <a:r>
              <a:rPr lang="en-US" altLang="zh-CN" dirty="0" err="1">
                <a:ea typeface="宋体" panose="02010600030101010101" pitchFamily="2" charset="-122"/>
              </a:rPr>
              <a:t>busW</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The control we are going to design will also set </a:t>
            </a:r>
            <a:r>
              <a:rPr lang="en-US" altLang="zh-CN" dirty="0" err="1">
                <a:ea typeface="宋体" panose="02010600030101010101" pitchFamily="2" charset="-122"/>
              </a:rPr>
              <a:t>RegWr</a:t>
            </a:r>
            <a:r>
              <a:rPr lang="en-US" altLang="zh-CN">
                <a:ea typeface="宋体" panose="02010600030101010101" pitchFamily="2" charset="-122"/>
              </a:rPr>
              <a:t> to 1 so that the result will be written to the register file at the end of the cycle.</a:t>
            </a:r>
            <a:endParaRPr lang="en-US" altLang="zh-CN">
              <a:ea typeface="宋体" panose="02010600030101010101" pitchFamily="2" charset="-122"/>
            </a:endParaRPr>
          </a:p>
          <a:p>
            <a:pPr lvl="0"/>
            <a:r>
              <a:rPr lang="en-US" altLang="zh-CN">
                <a:ea typeface="宋体" panose="02010600030101010101" pitchFamily="2" charset="-122"/>
              </a:rPr>
              <a:t>Notice that </a:t>
            </a:r>
            <a:r>
              <a:rPr lang="en-US" altLang="zh-CN" dirty="0" err="1">
                <a:ea typeface="宋体" panose="02010600030101010101" pitchFamily="2" charset="-122"/>
              </a:rPr>
              <a:t>ExtOp</a:t>
            </a:r>
            <a:r>
              <a:rPr lang="en-US" altLang="zh-CN">
                <a:ea typeface="宋体" panose="02010600030101010101" pitchFamily="2" charset="-122"/>
              </a:rPr>
              <a:t> is don’t care because the Extender in this case can either do a </a:t>
            </a:r>
            <a:r>
              <a:rPr lang="en-US" altLang="zh-CN" dirty="0" err="1">
                <a:ea typeface="宋体" panose="02010600030101010101" pitchFamily="2" charset="-122"/>
              </a:rPr>
              <a:t>SignExt</a:t>
            </a:r>
            <a:r>
              <a:rPr lang="en-US" altLang="zh-CN">
                <a:ea typeface="宋体" panose="02010600030101010101" pitchFamily="2" charset="-122"/>
              </a:rPr>
              <a:t> or </a:t>
            </a:r>
            <a:r>
              <a:rPr lang="en-US" altLang="zh-CN" dirty="0" err="1">
                <a:ea typeface="宋体" panose="02010600030101010101" pitchFamily="2" charset="-122"/>
              </a:rPr>
              <a:t>ZeroExt</a:t>
            </a:r>
            <a:r>
              <a:rPr lang="en-US" altLang="zh-CN">
                <a:ea typeface="宋体" panose="02010600030101010101" pitchFamily="2" charset="-122"/>
              </a:rPr>
              <a:t>.  We DON’T care because </a:t>
            </a:r>
            <a:r>
              <a:rPr lang="en-US" altLang="zh-CN" dirty="0" err="1">
                <a:ea typeface="宋体" panose="02010600030101010101" pitchFamily="2" charset="-122"/>
              </a:rPr>
              <a:t>ALUSrc</a:t>
            </a:r>
            <a:r>
              <a:rPr lang="en-US" altLang="zh-CN">
                <a:ea typeface="宋体" panose="02010600030101010101" pitchFamily="2" charset="-122"/>
              </a:rPr>
              <a:t> will be equal to 0--we are using </a:t>
            </a:r>
            <a:r>
              <a:rPr lang="en-US" altLang="zh-CN" dirty="0" err="1">
                <a:ea typeface="宋体" panose="02010600030101010101" pitchFamily="2" charset="-122"/>
              </a:rPr>
              <a:t>busB</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The other control signals we need to worry about are:</a:t>
            </a:r>
            <a:endParaRPr lang="en-US" altLang="zh-CN">
              <a:ea typeface="宋体" panose="02010600030101010101" pitchFamily="2" charset="-122"/>
            </a:endParaRPr>
          </a:p>
          <a:p>
            <a:pPr lvl="0"/>
            <a:r>
              <a:rPr lang="en-US" altLang="zh-CN">
                <a:ea typeface="宋体" panose="02010600030101010101" pitchFamily="2" charset="-122"/>
              </a:rPr>
              <a:t>(a) </a:t>
            </a:r>
            <a:r>
              <a:rPr lang="en-US" altLang="zh-CN" dirty="0" err="1">
                <a:ea typeface="宋体" panose="02010600030101010101" pitchFamily="2" charset="-122"/>
              </a:rPr>
              <a:t>MemWr</a:t>
            </a:r>
            <a:r>
              <a:rPr lang="en-US" altLang="zh-CN">
                <a:ea typeface="宋体" panose="02010600030101010101" pitchFamily="2" charset="-122"/>
              </a:rPr>
              <a:t> has to be set to zero because we do not want to  write the memory. </a:t>
            </a:r>
            <a:endParaRPr lang="en-US" altLang="zh-CN">
              <a:ea typeface="宋体" panose="02010600030101010101" pitchFamily="2" charset="-122"/>
            </a:endParaRPr>
          </a:p>
          <a:p>
            <a:pPr lvl="0"/>
            <a:r>
              <a:rPr lang="en-US" altLang="zh-CN">
                <a:ea typeface="宋体" panose="02010600030101010101" pitchFamily="2" charset="-122"/>
              </a:rPr>
              <a:t>(b) And Branch and Jump, we have to set to zero.  Let me show you why.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15 min. (X:55)</a:t>
            </a:r>
            <a:endParaRPr lang="en-US" altLang="zh-CN">
              <a:ea typeface="宋体" panose="02010600030101010101" pitchFamily="2" charset="-122"/>
            </a:endParaRPr>
          </a:p>
        </p:txBody>
      </p:sp>
      <p:sp>
        <p:nvSpPr>
          <p:cNvPr id="108546" name="幻灯片图像占位符 248834"/>
          <p:cNvSpPr>
            <a:spLocks noTextEdit="1"/>
          </p:cNvSpPr>
          <p:nvPr>
            <p:ph type="sldImg"/>
          </p:nvPr>
        </p:nvSpPr>
        <p:spPr>
          <a:xfrm>
            <a:off x="1257300" y="644525"/>
            <a:ext cx="4598988" cy="3449638"/>
          </a:xfr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文本占位符 250881"/>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This picture shows the control signals setting for the Instruction Fetch Unit at the end of the Add or Subtract instruction.</a:t>
            </a:r>
            <a:endParaRPr lang="en-US" altLang="zh-CN">
              <a:ea typeface="宋体" panose="02010600030101010101" pitchFamily="2" charset="-122"/>
            </a:endParaRPr>
          </a:p>
          <a:p>
            <a:pPr lvl="0"/>
            <a:r>
              <a:rPr lang="en-US" altLang="zh-CN">
                <a:ea typeface="宋体" panose="02010600030101010101" pitchFamily="2" charset="-122"/>
              </a:rPr>
              <a:t>Both the Branch and Jump signals are set to 0.</a:t>
            </a:r>
            <a:endParaRPr lang="en-US" altLang="zh-CN">
              <a:ea typeface="宋体" panose="02010600030101010101" pitchFamily="2" charset="-122"/>
            </a:endParaRPr>
          </a:p>
          <a:p>
            <a:pPr lvl="0"/>
            <a:r>
              <a:rPr lang="en-US" altLang="zh-CN">
                <a:ea typeface="宋体" panose="02010600030101010101" pitchFamily="2" charset="-122"/>
              </a:rPr>
              <a:t>Consequently, the output of the first adder, which implements PC plus 1, is selected through the two 2-to-1 </a:t>
            </a:r>
            <a:r>
              <a:rPr lang="en-US" altLang="zh-CN" dirty="0" err="1">
                <a:ea typeface="宋体" panose="02010600030101010101" pitchFamily="2" charset="-122"/>
              </a:rPr>
              <a:t>mux</a:t>
            </a:r>
            <a:r>
              <a:rPr lang="en-US" altLang="zh-CN">
                <a:ea typeface="宋体" panose="02010600030101010101" pitchFamily="2" charset="-122"/>
              </a:rPr>
              <a:t> and got placed into the input of the Program Counter register.</a:t>
            </a:r>
            <a:endParaRPr lang="en-US" altLang="zh-CN">
              <a:ea typeface="宋体" panose="02010600030101010101" pitchFamily="2" charset="-122"/>
            </a:endParaRPr>
          </a:p>
          <a:p>
            <a:pPr lvl="0"/>
            <a:r>
              <a:rPr lang="en-US" altLang="zh-CN">
                <a:ea typeface="宋体" panose="02010600030101010101" pitchFamily="2" charset="-122"/>
              </a:rPr>
              <a:t>The Program Counter is updated to this new value at the next clock tick.</a:t>
            </a:r>
            <a:endParaRPr lang="en-US" altLang="zh-CN">
              <a:ea typeface="宋体" panose="02010600030101010101" pitchFamily="2" charset="-122"/>
            </a:endParaRPr>
          </a:p>
          <a:p>
            <a:pPr lvl="0"/>
            <a:r>
              <a:rPr lang="en-US" altLang="zh-CN">
                <a:ea typeface="宋体" panose="02010600030101010101" pitchFamily="2" charset="-122"/>
              </a:rPr>
              <a:t>Notice that the Program Counter is updated at every cycle.  Therefore it does not have a Write Enable signal to control the write.</a:t>
            </a:r>
            <a:endParaRPr lang="en-US" altLang="zh-CN">
              <a:ea typeface="宋体" panose="02010600030101010101" pitchFamily="2" charset="-122"/>
            </a:endParaRPr>
          </a:p>
          <a:p>
            <a:pPr lvl="0"/>
            <a:r>
              <a:rPr lang="en-US" altLang="zh-CN">
                <a:ea typeface="宋体" panose="02010600030101010101" pitchFamily="2" charset="-122"/>
              </a:rPr>
              <a:t>Also, this picture is the same for or all instructions other than Branch and Jump.</a:t>
            </a:r>
            <a:endParaRPr lang="en-US" altLang="zh-CN">
              <a:ea typeface="宋体" panose="02010600030101010101" pitchFamily="2" charset="-122"/>
            </a:endParaRPr>
          </a:p>
          <a:p>
            <a:pPr lvl="0"/>
            <a:r>
              <a:rPr lang="en-US" altLang="zh-CN">
                <a:ea typeface="宋体" panose="02010600030101010101" pitchFamily="2" charset="-122"/>
              </a:rPr>
              <a:t>Therefore I will only show this picture again for the Branch and Jump instructions and will not  repeat this for all other instructions.</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17 min. (X:57)</a:t>
            </a:r>
            <a:endParaRPr lang="en-US" altLang="zh-CN">
              <a:ea typeface="宋体" panose="02010600030101010101" pitchFamily="2" charset="-122"/>
            </a:endParaRPr>
          </a:p>
        </p:txBody>
      </p:sp>
      <p:sp>
        <p:nvSpPr>
          <p:cNvPr id="110594" name="幻灯片图像占位符 250882"/>
          <p:cNvSpPr>
            <a:spLocks noTextEdit="1"/>
          </p:cNvSpPr>
          <p:nvPr>
            <p:ph type="sldImg"/>
          </p:nvPr>
        </p:nvSpPr>
        <p:spPr>
          <a:xfrm>
            <a:off x="1257300" y="644525"/>
            <a:ext cx="4598988" cy="3449638"/>
          </a:xfr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文本占位符 252929"/>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Let’s take a more quantitative picture of what is happening.</a:t>
            </a:r>
            <a:endParaRPr lang="en-US" altLang="zh-CN">
              <a:ea typeface="宋体" panose="02010600030101010101" pitchFamily="2" charset="-122"/>
            </a:endParaRPr>
          </a:p>
          <a:p>
            <a:pPr lvl="0"/>
            <a:r>
              <a:rPr lang="en-US" altLang="zh-CN">
                <a:ea typeface="宋体" panose="02010600030101010101" pitchFamily="2" charset="-122"/>
              </a:rPr>
              <a:t>At each clock tick, the Program Counter will present its latest value to the Instruction memory after </a:t>
            </a:r>
            <a:r>
              <a:rPr lang="en-US" altLang="zh-CN" dirty="0" err="1">
                <a:ea typeface="宋体" panose="02010600030101010101" pitchFamily="2" charset="-122"/>
              </a:rPr>
              <a:t>Clk</a:t>
            </a:r>
            <a:r>
              <a:rPr lang="en-US" altLang="zh-CN">
                <a:ea typeface="宋体" panose="02010600030101010101" pitchFamily="2" charset="-122"/>
              </a:rPr>
              <a:t>-to-Q time(</a:t>
            </a:r>
            <a:r>
              <a:rPr lang="zh-CN" altLang="en-US" dirty="0">
                <a:ea typeface="宋体" panose="02010600030101010101" pitchFamily="2" charset="-122"/>
              </a:rPr>
              <a:t>虽然早就产生，但</a:t>
            </a:r>
            <a:r>
              <a:rPr lang="en-US" altLang="zh-CN">
                <a:ea typeface="宋体" panose="02010600030101010101" pitchFamily="2" charset="-122"/>
              </a:rPr>
              <a:t>PC</a:t>
            </a:r>
            <a:r>
              <a:rPr lang="zh-CN" altLang="en-US" dirty="0">
                <a:ea typeface="宋体" panose="02010600030101010101" pitchFamily="2" charset="-122"/>
              </a:rPr>
              <a:t>值的改变一定在时钟边沿的控制下进行的</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After a delay of the Instruction Memory Access time, the </a:t>
            </a:r>
            <a:r>
              <a:rPr lang="en-US" altLang="zh-CN" dirty="0" err="1">
                <a:ea typeface="宋体" panose="02010600030101010101" pitchFamily="2" charset="-122"/>
              </a:rPr>
              <a:t>Opcode</a:t>
            </a:r>
            <a:r>
              <a:rPr lang="en-US" altLang="zh-CN">
                <a:ea typeface="宋体" panose="02010600030101010101" pitchFamily="2" charset="-122"/>
              </a:rPr>
              <a:t>, Rd,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and Function fields will become valid on the instruction bus.</a:t>
            </a:r>
            <a:endParaRPr lang="en-US" altLang="zh-CN">
              <a:ea typeface="宋体" panose="02010600030101010101" pitchFamily="2" charset="-122"/>
            </a:endParaRPr>
          </a:p>
          <a:p>
            <a:pPr lvl="0"/>
            <a:r>
              <a:rPr lang="en-US" altLang="zh-CN">
                <a:ea typeface="宋体" panose="02010600030101010101" pitchFamily="2" charset="-122"/>
              </a:rPr>
              <a:t>Once we have the new instruction, that is the Add or Subtract instruction, on the instruction bus, two things happen in parallel.</a:t>
            </a:r>
            <a:endParaRPr lang="en-US" altLang="zh-CN">
              <a:ea typeface="宋体" panose="02010600030101010101" pitchFamily="2" charset="-122"/>
            </a:endParaRPr>
          </a:p>
          <a:p>
            <a:pPr lvl="0"/>
            <a:r>
              <a:rPr lang="en-US" altLang="zh-CN">
                <a:ea typeface="宋体" panose="02010600030101010101" pitchFamily="2" charset="-122"/>
              </a:rPr>
              <a:t>First of all, the control unit will decode the </a:t>
            </a:r>
            <a:r>
              <a:rPr lang="en-US" altLang="zh-CN" dirty="0" err="1">
                <a:ea typeface="宋体" panose="02010600030101010101" pitchFamily="2" charset="-122"/>
              </a:rPr>
              <a:t>Opcode</a:t>
            </a:r>
            <a:r>
              <a:rPr lang="en-US" altLang="zh-CN">
                <a:ea typeface="宋体" panose="02010600030101010101" pitchFamily="2" charset="-122"/>
              </a:rPr>
              <a:t> and </a:t>
            </a:r>
            <a:r>
              <a:rPr lang="en-US" altLang="zh-CN" dirty="0" err="1">
                <a:ea typeface="宋体" panose="02010600030101010101" pitchFamily="2" charset="-122"/>
              </a:rPr>
              <a:t>Func</a:t>
            </a:r>
            <a:r>
              <a:rPr lang="en-US" altLang="zh-CN">
                <a:ea typeface="宋体" panose="02010600030101010101" pitchFamily="2" charset="-122"/>
              </a:rPr>
              <a:t> field and set the control signals </a:t>
            </a:r>
            <a:r>
              <a:rPr lang="en-US" altLang="zh-CN" dirty="0" err="1">
                <a:ea typeface="宋体" panose="02010600030101010101" pitchFamily="2" charset="-122"/>
              </a:rPr>
              <a:t>ALUctr</a:t>
            </a:r>
            <a:r>
              <a:rPr lang="en-US" altLang="zh-CN">
                <a:ea typeface="宋体" panose="02010600030101010101" pitchFamily="2" charset="-122"/>
              </a:rPr>
              <a:t> and </a:t>
            </a:r>
            <a:r>
              <a:rPr lang="en-US" altLang="zh-CN" dirty="0" err="1">
                <a:ea typeface="宋体" panose="02010600030101010101" pitchFamily="2" charset="-122"/>
              </a:rPr>
              <a:t>RegWr</a:t>
            </a:r>
            <a:r>
              <a:rPr lang="en-US" altLang="zh-CN">
                <a:ea typeface="宋体" panose="02010600030101010101" pitchFamily="2" charset="-122"/>
              </a:rPr>
              <a:t> accordingly.  We will cover this in the next lecture.</a:t>
            </a:r>
            <a:endParaRPr lang="en-US" altLang="zh-CN">
              <a:ea typeface="宋体" panose="02010600030101010101" pitchFamily="2" charset="-122"/>
            </a:endParaRPr>
          </a:p>
          <a:p>
            <a:pPr lvl="0"/>
            <a:r>
              <a:rPr lang="en-US" altLang="zh-CN">
                <a:ea typeface="宋体" panose="02010600030101010101" pitchFamily="2" charset="-122"/>
              </a:rPr>
              <a:t>While this is happening (points to Control Delay), we will also be reading the register file (Register File Access Time).</a:t>
            </a:r>
            <a:endParaRPr lang="en-US" altLang="zh-CN">
              <a:ea typeface="宋体" panose="02010600030101010101" pitchFamily="2" charset="-122"/>
            </a:endParaRPr>
          </a:p>
          <a:p>
            <a:pPr lvl="0"/>
            <a:r>
              <a:rPr lang="en-US" altLang="zh-CN">
                <a:ea typeface="宋体" panose="02010600030101010101" pitchFamily="2" charset="-122"/>
              </a:rPr>
              <a:t>Once the data is valid on </a:t>
            </a:r>
            <a:r>
              <a:rPr lang="en-US" altLang="zh-CN" dirty="0" err="1">
                <a:ea typeface="宋体" panose="02010600030101010101" pitchFamily="2" charset="-122"/>
              </a:rPr>
              <a:t>busA</a:t>
            </a:r>
            <a:r>
              <a:rPr lang="en-US" altLang="zh-CN">
                <a:ea typeface="宋体" panose="02010600030101010101" pitchFamily="2" charset="-122"/>
              </a:rPr>
              <a:t> and </a:t>
            </a:r>
            <a:r>
              <a:rPr lang="en-US" altLang="zh-CN" dirty="0" err="1">
                <a:ea typeface="宋体" panose="02010600030101010101" pitchFamily="2" charset="-122"/>
              </a:rPr>
              <a:t>busB</a:t>
            </a:r>
            <a:r>
              <a:rPr lang="en-US" altLang="zh-CN">
                <a:ea typeface="宋体" panose="02010600030101010101" pitchFamily="2" charset="-122"/>
              </a:rPr>
              <a:t>, the ALU will perform the Add or Subtract operation based on the </a:t>
            </a:r>
            <a:r>
              <a:rPr lang="en-US" altLang="zh-CN" dirty="0" err="1">
                <a:ea typeface="宋体" panose="02010600030101010101" pitchFamily="2" charset="-122"/>
              </a:rPr>
              <a:t>ALUctr</a:t>
            </a:r>
            <a:r>
              <a:rPr lang="en-US" altLang="zh-CN">
                <a:ea typeface="宋体" panose="02010600030101010101" pitchFamily="2" charset="-122"/>
              </a:rPr>
              <a:t> signal.</a:t>
            </a:r>
            <a:endParaRPr lang="en-US" altLang="zh-CN">
              <a:ea typeface="宋体" panose="02010600030101010101" pitchFamily="2" charset="-122"/>
            </a:endParaRPr>
          </a:p>
          <a:p>
            <a:pPr lvl="0"/>
            <a:r>
              <a:rPr lang="en-US" altLang="zh-CN">
                <a:ea typeface="宋体" panose="02010600030101010101" pitchFamily="2" charset="-122"/>
              </a:rPr>
              <a:t>Hopefully, the ALU is fast enough that it will finish the operation (ALU Delay) before the next clock tick.</a:t>
            </a:r>
            <a:endParaRPr lang="en-US" altLang="zh-CN">
              <a:ea typeface="宋体" panose="02010600030101010101" pitchFamily="2" charset="-122"/>
            </a:endParaRPr>
          </a:p>
          <a:p>
            <a:pPr lvl="0"/>
            <a:r>
              <a:rPr lang="en-US" altLang="zh-CN">
                <a:ea typeface="宋体" panose="02010600030101010101" pitchFamily="2" charset="-122"/>
              </a:rPr>
              <a:t>At the next clock tick, the output of the ALU will be written into the register file because the </a:t>
            </a:r>
            <a:r>
              <a:rPr lang="en-US" altLang="zh-CN" dirty="0" err="1">
                <a:ea typeface="宋体" panose="02010600030101010101" pitchFamily="2" charset="-122"/>
              </a:rPr>
              <a:t>RegWr</a:t>
            </a:r>
            <a:r>
              <a:rPr lang="en-US" altLang="zh-CN">
                <a:ea typeface="宋体" panose="02010600030101010101" pitchFamily="2" charset="-122"/>
              </a:rPr>
              <a:t> signal will be equal to 1.</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45 min. (Y:25)</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b="1">
                <a:ea typeface="宋体" panose="02010600030101010101" pitchFamily="2" charset="-122"/>
              </a:rPr>
              <a:t>Complement:</a:t>
            </a:r>
            <a:endParaRPr lang="en-US" altLang="zh-CN" b="1">
              <a:ea typeface="宋体" panose="02010600030101010101" pitchFamily="2" charset="-122"/>
            </a:endParaRPr>
          </a:p>
          <a:p>
            <a:pPr lvl="0"/>
            <a:r>
              <a:rPr lang="en-US" altLang="zh-CN">
                <a:ea typeface="宋体" panose="02010600030101010101" pitchFamily="2" charset="-122"/>
              </a:rPr>
              <a:t>Instruction bus: see slide 12 on </a:t>
            </a:r>
            <a:r>
              <a:rPr lang="en-US" altLang="zh-CN" b="1">
                <a:ea typeface="宋体" panose="02010600030101010101" pitchFamily="2" charset="-122"/>
              </a:rPr>
              <a:t>An Abstract View of the Critical Path</a:t>
            </a:r>
            <a:endParaRPr lang="en-US" altLang="zh-CN" b="1">
              <a:ea typeface="宋体" panose="02010600030101010101" pitchFamily="2" charset="-122"/>
            </a:endParaRPr>
          </a:p>
        </p:txBody>
      </p:sp>
      <p:sp>
        <p:nvSpPr>
          <p:cNvPr id="112642" name="幻灯片图像占位符 252930"/>
          <p:cNvSpPr>
            <a:spLocks noTextEdit="1"/>
          </p:cNvSpPr>
          <p:nvPr>
            <p:ph type="sldImg"/>
          </p:nvPr>
        </p:nvSpPr>
        <p:spPr>
          <a:xfrm>
            <a:off x="1427163" y="644525"/>
            <a:ext cx="4259262" cy="3194050"/>
          </a:xfr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文本占位符 254977"/>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Now let’s look at the control signals setting for the Or immediate instruction.</a:t>
            </a:r>
            <a:endParaRPr lang="en-US" altLang="zh-CN">
              <a:ea typeface="宋体" panose="02010600030101010101" pitchFamily="2" charset="-122"/>
            </a:endParaRPr>
          </a:p>
          <a:p>
            <a:pPr lvl="0"/>
            <a:r>
              <a:rPr lang="en-US" altLang="zh-CN">
                <a:ea typeface="宋体" panose="02010600030101010101" pitchFamily="2" charset="-122"/>
              </a:rPr>
              <a:t>The OR immediate instruction OR the content of the register specified by the </a:t>
            </a:r>
            <a:r>
              <a:rPr lang="en-US" altLang="zh-CN" dirty="0" err="1">
                <a:ea typeface="宋体" panose="02010600030101010101" pitchFamily="2" charset="-122"/>
              </a:rPr>
              <a:t>Rs</a:t>
            </a:r>
            <a:r>
              <a:rPr lang="en-US" altLang="zh-CN">
                <a:ea typeface="宋体" panose="02010600030101010101" pitchFamily="2" charset="-122"/>
              </a:rPr>
              <a:t> field to the Zero Extended Immediate field and write the result to the register specified in Rt.</a:t>
            </a:r>
            <a:endParaRPr lang="en-US" altLang="zh-CN">
              <a:ea typeface="宋体" panose="02010600030101010101" pitchFamily="2" charset="-122"/>
            </a:endParaRPr>
          </a:p>
          <a:p>
            <a:pPr lvl="0"/>
            <a:r>
              <a:rPr lang="en-US" altLang="zh-CN">
                <a:ea typeface="宋体" panose="02010600030101010101" pitchFamily="2" charset="-122"/>
              </a:rPr>
              <a:t>This is how it works in the </a:t>
            </a:r>
            <a:r>
              <a:rPr lang="en-US" altLang="zh-CN" dirty="0" err="1">
                <a:ea typeface="宋体" panose="02010600030101010101" pitchFamily="2" charset="-122"/>
              </a:rPr>
              <a:t>datapath</a:t>
            </a:r>
            <a:r>
              <a:rPr lang="en-US" altLang="zh-CN">
                <a:ea typeface="宋体" panose="02010600030101010101" pitchFamily="2" charset="-122"/>
              </a:rPr>
              <a:t>.  The </a:t>
            </a:r>
            <a:r>
              <a:rPr lang="en-US" altLang="zh-CN" dirty="0" err="1">
                <a:ea typeface="宋体" panose="02010600030101010101" pitchFamily="2" charset="-122"/>
              </a:rPr>
              <a:t>Rs</a:t>
            </a:r>
            <a:r>
              <a:rPr lang="en-US" altLang="zh-CN">
                <a:ea typeface="宋体" panose="02010600030101010101" pitchFamily="2" charset="-122"/>
              </a:rPr>
              <a:t> field is fed to the Ra address port to cause the contents of register </a:t>
            </a:r>
            <a:r>
              <a:rPr lang="en-US" altLang="zh-CN" dirty="0" err="1">
                <a:ea typeface="宋体" panose="02010600030101010101" pitchFamily="2" charset="-122"/>
              </a:rPr>
              <a:t>Rs</a:t>
            </a:r>
            <a:r>
              <a:rPr lang="en-US" altLang="zh-CN">
                <a:ea typeface="宋体" panose="02010600030101010101" pitchFamily="2" charset="-122"/>
              </a:rPr>
              <a:t> to be placed on </a:t>
            </a:r>
            <a:r>
              <a:rPr lang="en-US" altLang="zh-CN" dirty="0" err="1">
                <a:ea typeface="宋体" panose="02010600030101010101" pitchFamily="2" charset="-122"/>
              </a:rPr>
              <a:t>busA</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The other operand for the ALU will come from the immediate field.  In order to do this, the controller need to set </a:t>
            </a:r>
            <a:r>
              <a:rPr lang="en-US" altLang="zh-CN" dirty="0" err="1">
                <a:ea typeface="宋体" panose="02010600030101010101" pitchFamily="2" charset="-122"/>
              </a:rPr>
              <a:t>ExtOp</a:t>
            </a:r>
            <a:r>
              <a:rPr lang="en-US" altLang="zh-CN">
                <a:ea typeface="宋体" panose="02010600030101010101" pitchFamily="2" charset="-122"/>
              </a:rPr>
              <a:t> to 0 to instruct the extender to perform a Zero Extend operation.</a:t>
            </a:r>
            <a:endParaRPr lang="en-US" altLang="zh-CN">
              <a:ea typeface="宋体" panose="02010600030101010101" pitchFamily="2" charset="-122"/>
            </a:endParaRPr>
          </a:p>
          <a:p>
            <a:pPr lvl="0"/>
            <a:r>
              <a:rPr lang="en-US" altLang="zh-CN">
                <a:ea typeface="宋体" panose="02010600030101010101" pitchFamily="2" charset="-122"/>
              </a:rPr>
              <a:t>Furthermore, </a:t>
            </a:r>
            <a:r>
              <a:rPr lang="en-US" altLang="zh-CN" dirty="0" err="1">
                <a:ea typeface="宋体" panose="02010600030101010101" pitchFamily="2" charset="-122"/>
              </a:rPr>
              <a:t>ALUSrc</a:t>
            </a:r>
            <a:r>
              <a:rPr lang="en-US" altLang="zh-CN">
                <a:ea typeface="宋体" panose="02010600030101010101" pitchFamily="2" charset="-122"/>
              </a:rPr>
              <a:t> must set to 1 such that the MUX will block off bus B from the register file and send the zero extended version of the immediate field to the ALU.</a:t>
            </a:r>
            <a:endParaRPr lang="en-US" altLang="zh-CN">
              <a:ea typeface="宋体" panose="02010600030101010101" pitchFamily="2" charset="-122"/>
            </a:endParaRPr>
          </a:p>
          <a:p>
            <a:pPr lvl="0"/>
            <a:r>
              <a:rPr lang="en-US" altLang="zh-CN">
                <a:ea typeface="宋体" panose="02010600030101010101" pitchFamily="2" charset="-122"/>
              </a:rPr>
              <a:t>Of course, the </a:t>
            </a:r>
            <a:r>
              <a:rPr lang="en-US" altLang="zh-CN" dirty="0" err="1">
                <a:ea typeface="宋体" panose="02010600030101010101" pitchFamily="2" charset="-122"/>
              </a:rPr>
              <a:t>ALUctr</a:t>
            </a:r>
            <a:r>
              <a:rPr lang="en-US" altLang="zh-CN">
                <a:ea typeface="宋体" panose="02010600030101010101" pitchFamily="2" charset="-122"/>
              </a:rPr>
              <a:t> has to be set to OR so the ALU can perform an OR operation.</a:t>
            </a:r>
            <a:endParaRPr lang="en-US" altLang="zh-CN">
              <a:ea typeface="宋体" panose="02010600030101010101" pitchFamily="2" charset="-122"/>
            </a:endParaRPr>
          </a:p>
          <a:p>
            <a:pPr lvl="0"/>
            <a:r>
              <a:rPr lang="en-US" altLang="zh-CN">
                <a:ea typeface="宋体" panose="02010600030101010101" pitchFamily="2" charset="-122"/>
              </a:rPr>
              <a:t>The rest of the control signals (</a:t>
            </a:r>
            <a:r>
              <a:rPr lang="en-US" altLang="zh-CN" dirty="0" err="1">
                <a:ea typeface="宋体" panose="02010600030101010101" pitchFamily="2" charset="-122"/>
              </a:rPr>
              <a:t>MemWr</a:t>
            </a:r>
            <a:r>
              <a:rPr lang="en-US" altLang="zh-CN">
                <a:ea typeface="宋体" panose="02010600030101010101" pitchFamily="2" charset="-122"/>
              </a:rPr>
              <a:t>, </a:t>
            </a:r>
            <a:r>
              <a:rPr lang="en-US" altLang="zh-CN" dirty="0" err="1">
                <a:ea typeface="宋体" panose="02010600030101010101" pitchFamily="2" charset="-122"/>
              </a:rPr>
              <a:t>MemtoReg</a:t>
            </a:r>
            <a:r>
              <a:rPr lang="en-US" altLang="zh-CN">
                <a:ea typeface="宋体" panose="02010600030101010101" pitchFamily="2" charset="-122"/>
              </a:rPr>
              <a:t>, Branch, and Jump) are the same as </a:t>
            </a:r>
            <a:r>
              <a:rPr lang="en-US" altLang="zh-CN" dirty="0" err="1">
                <a:ea typeface="宋体" panose="02010600030101010101" pitchFamily="2" charset="-122"/>
              </a:rPr>
              <a:t>theAdd</a:t>
            </a:r>
            <a:r>
              <a:rPr lang="en-US" altLang="zh-CN">
                <a:ea typeface="宋体" panose="02010600030101010101" pitchFamily="2" charset="-122"/>
              </a:rPr>
              <a:t> and Subtract instructions.</a:t>
            </a:r>
            <a:endParaRPr lang="en-US" altLang="zh-CN">
              <a:ea typeface="宋体" panose="02010600030101010101" pitchFamily="2" charset="-122"/>
            </a:endParaRPr>
          </a:p>
          <a:p>
            <a:pPr lvl="0"/>
            <a:r>
              <a:rPr lang="en-US" altLang="zh-CN">
                <a:ea typeface="宋体" panose="02010600030101010101" pitchFamily="2" charset="-122"/>
              </a:rPr>
              <a:t>One big difference is the </a:t>
            </a:r>
            <a:r>
              <a:rPr lang="en-US" altLang="zh-CN" dirty="0" err="1">
                <a:ea typeface="宋体" panose="02010600030101010101" pitchFamily="2" charset="-122"/>
              </a:rPr>
              <a:t>RegDst</a:t>
            </a:r>
            <a:r>
              <a:rPr lang="en-US" altLang="zh-CN">
                <a:ea typeface="宋体" panose="02010600030101010101" pitchFamily="2" charset="-122"/>
              </a:rPr>
              <a:t> signal.  In this case, the destination register is specified by the instruction’s </a:t>
            </a:r>
            <a:r>
              <a:rPr lang="en-US" altLang="zh-CN" dirty="0" err="1">
                <a:ea typeface="宋体" panose="02010600030101010101" pitchFamily="2" charset="-122"/>
              </a:rPr>
              <a:t>Rt</a:t>
            </a:r>
            <a:r>
              <a:rPr lang="en-US" altLang="zh-CN">
                <a:ea typeface="宋体" panose="02010600030101010101" pitchFamily="2" charset="-122"/>
              </a:rPr>
              <a:t> field, NOT the Rd field because we do not have a Rd field here.</a:t>
            </a:r>
            <a:endParaRPr lang="en-US" altLang="zh-CN">
              <a:ea typeface="宋体" panose="02010600030101010101" pitchFamily="2" charset="-122"/>
            </a:endParaRPr>
          </a:p>
          <a:p>
            <a:pPr lvl="0"/>
            <a:r>
              <a:rPr lang="en-US" altLang="zh-CN">
                <a:ea typeface="宋体" panose="02010600030101010101" pitchFamily="2" charset="-122"/>
              </a:rPr>
              <a:t>Consequently, </a:t>
            </a:r>
            <a:r>
              <a:rPr lang="en-US" altLang="zh-CN" dirty="0" err="1">
                <a:ea typeface="宋体" panose="02010600030101010101" pitchFamily="2" charset="-122"/>
              </a:rPr>
              <a:t>RegDst</a:t>
            </a:r>
            <a:r>
              <a:rPr lang="en-US" altLang="zh-CN">
                <a:ea typeface="宋体" panose="02010600030101010101" pitchFamily="2" charset="-122"/>
              </a:rPr>
              <a:t> must be set to 0 to place </a:t>
            </a:r>
            <a:r>
              <a:rPr lang="en-US" altLang="zh-CN" dirty="0" err="1">
                <a:ea typeface="宋体" panose="02010600030101010101" pitchFamily="2" charset="-122"/>
              </a:rPr>
              <a:t>Rt</a:t>
            </a:r>
            <a:r>
              <a:rPr lang="en-US" altLang="zh-CN">
                <a:ea typeface="宋体" panose="02010600030101010101" pitchFamily="2" charset="-122"/>
              </a:rPr>
              <a:t> onto the Register File’s </a:t>
            </a:r>
            <a:r>
              <a:rPr lang="en-US" altLang="zh-CN" dirty="0" err="1">
                <a:ea typeface="宋体" panose="02010600030101010101" pitchFamily="2" charset="-122"/>
              </a:rPr>
              <a:t>Rw</a:t>
            </a:r>
            <a:r>
              <a:rPr lang="en-US" altLang="zh-CN">
                <a:ea typeface="宋体" panose="02010600030101010101" pitchFamily="2" charset="-122"/>
              </a:rPr>
              <a:t> address port.</a:t>
            </a:r>
            <a:endParaRPr lang="en-US" altLang="zh-CN">
              <a:ea typeface="宋体" panose="02010600030101010101" pitchFamily="2" charset="-122"/>
            </a:endParaRPr>
          </a:p>
          <a:p>
            <a:pPr lvl="0"/>
            <a:r>
              <a:rPr lang="en-US" altLang="zh-CN">
                <a:ea typeface="宋体" panose="02010600030101010101" pitchFamily="2" charset="-122"/>
              </a:rPr>
              <a:t>Finally, in order to accomplish the register write, </a:t>
            </a:r>
            <a:r>
              <a:rPr lang="en-US" altLang="zh-CN" dirty="0" err="1">
                <a:ea typeface="宋体" panose="02010600030101010101" pitchFamily="2" charset="-122"/>
              </a:rPr>
              <a:t>RegWr</a:t>
            </a:r>
            <a:r>
              <a:rPr lang="en-US" altLang="zh-CN">
                <a:ea typeface="宋体" panose="02010600030101010101" pitchFamily="2" charset="-122"/>
              </a:rPr>
              <a:t> must be set to 1.</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20 min. (X:60)</a:t>
            </a:r>
            <a:endParaRPr lang="en-US" altLang="zh-CN">
              <a:ea typeface="宋体" panose="02010600030101010101" pitchFamily="2" charset="-122"/>
            </a:endParaRPr>
          </a:p>
        </p:txBody>
      </p:sp>
      <p:sp>
        <p:nvSpPr>
          <p:cNvPr id="114690" name="幻灯片图像占位符 254978"/>
          <p:cNvSpPr>
            <a:spLocks noTextEdit="1"/>
          </p:cNvSpPr>
          <p:nvPr>
            <p:ph type="sldImg"/>
          </p:nvPr>
        </p:nvSpPr>
        <p:spPr>
          <a:xfrm>
            <a:off x="1257300" y="644525"/>
            <a:ext cx="4598988" cy="3449638"/>
          </a:xfr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文本占位符 257025"/>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Let’s continue our lecture with the load instruction.  What does the load instruction do?</a:t>
            </a:r>
            <a:endParaRPr lang="en-US" altLang="zh-CN">
              <a:ea typeface="宋体" panose="02010600030101010101" pitchFamily="2" charset="-122"/>
            </a:endParaRPr>
          </a:p>
          <a:p>
            <a:pPr lvl="0"/>
            <a:r>
              <a:rPr lang="en-US" altLang="zh-CN">
                <a:ea typeface="宋体" panose="02010600030101010101" pitchFamily="2" charset="-122"/>
              </a:rPr>
              <a:t>It first adds the contents of the register specified by the </a:t>
            </a:r>
            <a:r>
              <a:rPr lang="en-US" altLang="zh-CN" dirty="0" err="1">
                <a:ea typeface="宋体" panose="02010600030101010101" pitchFamily="2" charset="-122"/>
              </a:rPr>
              <a:t>Rs</a:t>
            </a:r>
            <a:r>
              <a:rPr lang="en-US" altLang="zh-CN">
                <a:ea typeface="宋体" panose="02010600030101010101" pitchFamily="2" charset="-122"/>
              </a:rPr>
              <a:t> field to the Sign Extended version of the Immediate field to form the memory address.</a:t>
            </a:r>
            <a:endParaRPr lang="en-US" altLang="zh-CN">
              <a:ea typeface="宋体" panose="02010600030101010101" pitchFamily="2" charset="-122"/>
            </a:endParaRPr>
          </a:p>
          <a:p>
            <a:pPr lvl="0"/>
            <a:r>
              <a:rPr lang="en-US" altLang="zh-CN">
                <a:ea typeface="宋体" panose="02010600030101010101" pitchFamily="2" charset="-122"/>
              </a:rPr>
              <a:t>Then it uses this memory address to access the memory and write the data back to the register specified by the </a:t>
            </a:r>
            <a:r>
              <a:rPr lang="en-US" altLang="zh-CN" dirty="0" err="1">
                <a:ea typeface="宋体" panose="02010600030101010101" pitchFamily="2" charset="-122"/>
              </a:rPr>
              <a:t>Rt</a:t>
            </a:r>
            <a:r>
              <a:rPr lang="en-US" altLang="zh-CN">
                <a:ea typeface="宋体" panose="02010600030101010101" pitchFamily="2" charset="-122"/>
              </a:rPr>
              <a:t> field of the instruction.</a:t>
            </a:r>
            <a:endParaRPr lang="en-US" altLang="zh-CN">
              <a:ea typeface="宋体" panose="02010600030101010101" pitchFamily="2" charset="-122"/>
            </a:endParaRPr>
          </a:p>
          <a:p>
            <a:pPr lvl="0"/>
            <a:r>
              <a:rPr lang="en-US" altLang="zh-CN">
                <a:ea typeface="宋体" panose="02010600030101010101" pitchFamily="2" charset="-122"/>
              </a:rPr>
              <a:t>Here is how the </a:t>
            </a:r>
            <a:r>
              <a:rPr lang="en-US" altLang="zh-CN" dirty="0" err="1">
                <a:ea typeface="宋体" panose="02010600030101010101" pitchFamily="2" charset="-122"/>
              </a:rPr>
              <a:t>datapath</a:t>
            </a:r>
            <a:r>
              <a:rPr lang="en-US" altLang="zh-CN">
                <a:ea typeface="宋体" panose="02010600030101010101" pitchFamily="2" charset="-122"/>
              </a:rPr>
              <a:t> works: first the </a:t>
            </a:r>
            <a:r>
              <a:rPr lang="en-US" altLang="zh-CN" dirty="0" err="1">
                <a:ea typeface="宋体" panose="02010600030101010101" pitchFamily="2" charset="-122"/>
              </a:rPr>
              <a:t>Rs</a:t>
            </a:r>
            <a:r>
              <a:rPr lang="en-US" altLang="zh-CN">
                <a:ea typeface="宋体" panose="02010600030101010101" pitchFamily="2" charset="-122"/>
              </a:rPr>
              <a:t> field is fed to the Register File’s Ra address port to place the register onto bus A.</a:t>
            </a:r>
            <a:endParaRPr lang="en-US" altLang="zh-CN">
              <a:ea typeface="宋体" panose="02010600030101010101" pitchFamily="2" charset="-122"/>
            </a:endParaRPr>
          </a:p>
          <a:p>
            <a:pPr lvl="0"/>
            <a:r>
              <a:rPr lang="en-US" altLang="zh-CN">
                <a:ea typeface="宋体" panose="02010600030101010101" pitchFamily="2" charset="-122"/>
              </a:rPr>
              <a:t>Then the </a:t>
            </a:r>
            <a:r>
              <a:rPr lang="en-US" altLang="zh-CN" dirty="0" err="1">
                <a:ea typeface="宋体" panose="02010600030101010101" pitchFamily="2" charset="-122"/>
              </a:rPr>
              <a:t>ExtOp</a:t>
            </a:r>
            <a:r>
              <a:rPr lang="en-US" altLang="zh-CN">
                <a:ea typeface="宋体" panose="02010600030101010101" pitchFamily="2" charset="-122"/>
              </a:rPr>
              <a:t> signal is set to 1 so that the immediate field is Sign Extended and we place this value (output of Extender) onto the ALU input by setting </a:t>
            </a:r>
            <a:r>
              <a:rPr lang="en-US" altLang="zh-CN" dirty="0" err="1">
                <a:ea typeface="宋体" panose="02010600030101010101" pitchFamily="2" charset="-122"/>
              </a:rPr>
              <a:t>ALUsrc</a:t>
            </a:r>
            <a:r>
              <a:rPr lang="en-US" altLang="zh-CN">
                <a:ea typeface="宋体" panose="02010600030101010101" pitchFamily="2" charset="-122"/>
              </a:rPr>
              <a:t> to 1.</a:t>
            </a:r>
            <a:endParaRPr lang="en-US" altLang="zh-CN">
              <a:ea typeface="宋体" panose="02010600030101010101" pitchFamily="2" charset="-122"/>
            </a:endParaRPr>
          </a:p>
          <a:p>
            <a:pPr lvl="0"/>
            <a:r>
              <a:rPr lang="en-US" altLang="zh-CN">
                <a:ea typeface="宋体" panose="02010600030101010101" pitchFamily="2" charset="-122"/>
              </a:rPr>
              <a:t>The ALU then add (</a:t>
            </a:r>
            <a:r>
              <a:rPr lang="en-US" altLang="zh-CN" dirty="0" err="1">
                <a:ea typeface="宋体" panose="02010600030101010101" pitchFamily="2" charset="-122"/>
              </a:rPr>
              <a:t>ALUctr</a:t>
            </a:r>
            <a:r>
              <a:rPr lang="en-US" altLang="zh-CN">
                <a:ea typeface="宋体" panose="02010600030101010101" pitchFamily="2" charset="-122"/>
              </a:rPr>
              <a:t> = add) the two together to form the memory address which is then placed onto the Data Memory’s address port.</a:t>
            </a:r>
            <a:endParaRPr lang="en-US" altLang="zh-CN">
              <a:ea typeface="宋体" panose="02010600030101010101" pitchFamily="2" charset="-122"/>
            </a:endParaRPr>
          </a:p>
          <a:p>
            <a:pPr lvl="0"/>
            <a:r>
              <a:rPr lang="en-US" altLang="zh-CN">
                <a:ea typeface="宋体" panose="02010600030101010101" pitchFamily="2" charset="-122"/>
              </a:rPr>
              <a:t>In order to place the Data Memory’s output bus onto the Register File’s input bus (</a:t>
            </a:r>
            <a:r>
              <a:rPr lang="en-US" altLang="zh-CN" dirty="0" err="1">
                <a:ea typeface="宋体" panose="02010600030101010101" pitchFamily="2" charset="-122"/>
              </a:rPr>
              <a:t>busW</a:t>
            </a:r>
            <a:r>
              <a:rPr lang="en-US" altLang="zh-CN">
                <a:ea typeface="宋体" panose="02010600030101010101" pitchFamily="2" charset="-122"/>
              </a:rPr>
              <a:t>), the control needs to set </a:t>
            </a:r>
            <a:r>
              <a:rPr lang="en-US" altLang="zh-CN" dirty="0" err="1">
                <a:ea typeface="宋体" panose="02010600030101010101" pitchFamily="2" charset="-122"/>
              </a:rPr>
              <a:t>MemtoReg</a:t>
            </a:r>
            <a:r>
              <a:rPr lang="en-US" altLang="zh-CN">
                <a:ea typeface="宋体" panose="02010600030101010101" pitchFamily="2" charset="-122"/>
              </a:rPr>
              <a:t> to 1.</a:t>
            </a:r>
            <a:endParaRPr lang="en-US" altLang="zh-CN">
              <a:ea typeface="宋体" panose="02010600030101010101" pitchFamily="2" charset="-122"/>
            </a:endParaRPr>
          </a:p>
          <a:p>
            <a:pPr lvl="0"/>
            <a:r>
              <a:rPr lang="en-US" altLang="zh-CN">
                <a:ea typeface="宋体" panose="02010600030101010101" pitchFamily="2" charset="-122"/>
              </a:rPr>
              <a:t>Similar to the OR immediate instruction I showed you earlier, the destination register here is specified by the </a:t>
            </a:r>
            <a:r>
              <a:rPr lang="en-US" altLang="zh-CN" dirty="0" err="1">
                <a:ea typeface="宋体" panose="02010600030101010101" pitchFamily="2" charset="-122"/>
              </a:rPr>
              <a:t>Rt</a:t>
            </a:r>
            <a:r>
              <a:rPr lang="en-US" altLang="zh-CN">
                <a:ea typeface="宋体" panose="02010600030101010101" pitchFamily="2" charset="-122"/>
              </a:rPr>
              <a:t> field.  Therefore </a:t>
            </a:r>
            <a:r>
              <a:rPr lang="en-US" altLang="zh-CN" dirty="0" err="1">
                <a:ea typeface="宋体" panose="02010600030101010101" pitchFamily="2" charset="-122"/>
              </a:rPr>
              <a:t>RegDst</a:t>
            </a:r>
            <a:r>
              <a:rPr lang="en-US" altLang="zh-CN">
                <a:ea typeface="宋体" panose="02010600030101010101" pitchFamily="2" charset="-122"/>
              </a:rPr>
              <a:t> must be set to 0.</a:t>
            </a:r>
            <a:endParaRPr lang="en-US" altLang="zh-CN">
              <a:ea typeface="宋体" panose="02010600030101010101" pitchFamily="2" charset="-122"/>
            </a:endParaRPr>
          </a:p>
          <a:p>
            <a:pPr lvl="0"/>
            <a:r>
              <a:rPr lang="en-US" altLang="zh-CN">
                <a:ea typeface="宋体" panose="02010600030101010101" pitchFamily="2" charset="-122"/>
              </a:rPr>
              <a:t>Finally, </a:t>
            </a:r>
            <a:r>
              <a:rPr lang="en-US" altLang="zh-CN" dirty="0" err="1">
                <a:ea typeface="宋体" panose="02010600030101010101" pitchFamily="2" charset="-122"/>
              </a:rPr>
              <a:t>RegWr</a:t>
            </a:r>
            <a:r>
              <a:rPr lang="en-US" altLang="zh-CN">
                <a:ea typeface="宋体" panose="02010600030101010101" pitchFamily="2" charset="-122"/>
              </a:rPr>
              <a:t> must be set to 1 to complete the register write operation.</a:t>
            </a:r>
            <a:endParaRPr lang="en-US" altLang="zh-CN">
              <a:ea typeface="宋体" panose="02010600030101010101" pitchFamily="2" charset="-122"/>
            </a:endParaRPr>
          </a:p>
          <a:p>
            <a:pPr lvl="0"/>
            <a:r>
              <a:rPr lang="en-US" altLang="zh-CN">
                <a:ea typeface="宋体" panose="02010600030101010101" pitchFamily="2" charset="-122"/>
              </a:rPr>
              <a:t>Well, it should be obvious to you guys by now that we need to set Branch and Jump to 0 to make sure the Instruction Fetch Unit update the Program Counter correctly.</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28 min. (Y:08)</a:t>
            </a:r>
            <a:endParaRPr lang="en-US" altLang="zh-CN">
              <a:ea typeface="宋体" panose="02010600030101010101" pitchFamily="2" charset="-122"/>
            </a:endParaRPr>
          </a:p>
        </p:txBody>
      </p:sp>
      <p:sp>
        <p:nvSpPr>
          <p:cNvPr id="116738" name="幻灯片图像占位符 257026"/>
          <p:cNvSpPr>
            <a:spLocks noTextEdit="1"/>
          </p:cNvSpPr>
          <p:nvPr>
            <p:ph type="sldImg"/>
          </p:nvPr>
        </p:nvSpPr>
        <p:spPr>
          <a:xfrm>
            <a:off x="1257300" y="644525"/>
            <a:ext cx="4598988" cy="3449638"/>
          </a:xfr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文本占位符 259073"/>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The store instruction performs the inverse function of the load.  Instead of loading data from memory, the store instruction sends the contents of register specified by </a:t>
            </a:r>
            <a:r>
              <a:rPr lang="en-US" altLang="zh-CN" dirty="0" err="1">
                <a:ea typeface="宋体" panose="02010600030101010101" pitchFamily="2" charset="-122"/>
              </a:rPr>
              <a:t>Rt</a:t>
            </a:r>
            <a:r>
              <a:rPr lang="en-US" altLang="zh-CN">
                <a:ea typeface="宋体" panose="02010600030101010101" pitchFamily="2" charset="-122"/>
              </a:rPr>
              <a:t> to data memory.</a:t>
            </a:r>
            <a:endParaRPr lang="en-US" altLang="zh-CN">
              <a:ea typeface="宋体" panose="02010600030101010101" pitchFamily="2" charset="-122"/>
            </a:endParaRPr>
          </a:p>
          <a:p>
            <a:pPr lvl="0"/>
            <a:r>
              <a:rPr lang="en-US" altLang="zh-CN">
                <a:ea typeface="宋体" panose="02010600030101010101" pitchFamily="2" charset="-122"/>
              </a:rPr>
              <a:t>Similar to the load instruction, the store instruction needs to read the contents of register </a:t>
            </a:r>
            <a:r>
              <a:rPr lang="en-US" altLang="zh-CN" dirty="0" err="1">
                <a:ea typeface="宋体" panose="02010600030101010101" pitchFamily="2" charset="-122"/>
              </a:rPr>
              <a:t>Rs</a:t>
            </a:r>
            <a:r>
              <a:rPr lang="en-US" altLang="zh-CN">
                <a:ea typeface="宋体" panose="02010600030101010101" pitchFamily="2" charset="-122"/>
              </a:rPr>
              <a:t> (points to Ra port) and add it to the sign extended </a:t>
            </a:r>
            <a:r>
              <a:rPr lang="en-US" altLang="zh-CN" dirty="0" err="1">
                <a:ea typeface="宋体" panose="02010600030101010101" pitchFamily="2" charset="-122"/>
              </a:rPr>
              <a:t>verion</a:t>
            </a:r>
            <a:r>
              <a:rPr lang="en-US" altLang="zh-CN">
                <a:ea typeface="宋体" panose="02010600030101010101" pitchFamily="2" charset="-122"/>
              </a:rPr>
              <a:t> of the immediate filed (Imm16, </a:t>
            </a:r>
            <a:r>
              <a:rPr lang="en-US" altLang="zh-CN" dirty="0" err="1">
                <a:ea typeface="宋体" panose="02010600030101010101" pitchFamily="2" charset="-122"/>
              </a:rPr>
              <a:t>ExtOp</a:t>
            </a:r>
            <a:r>
              <a:rPr lang="en-US" altLang="zh-CN">
                <a:ea typeface="宋体" panose="02010600030101010101" pitchFamily="2" charset="-122"/>
              </a:rPr>
              <a:t> = 1, </a:t>
            </a:r>
            <a:r>
              <a:rPr lang="en-US" altLang="zh-CN" dirty="0" err="1">
                <a:ea typeface="宋体" panose="02010600030101010101" pitchFamily="2" charset="-122"/>
              </a:rPr>
              <a:t>ALUSrc</a:t>
            </a:r>
            <a:r>
              <a:rPr lang="en-US" altLang="zh-CN">
                <a:ea typeface="宋体" panose="02010600030101010101" pitchFamily="2" charset="-122"/>
              </a:rPr>
              <a:t> = 1) to form the data memory address (</a:t>
            </a:r>
            <a:r>
              <a:rPr lang="en-US" altLang="zh-CN" dirty="0" err="1">
                <a:ea typeface="宋体" panose="02010600030101010101" pitchFamily="2" charset="-122"/>
              </a:rPr>
              <a:t>ALUctr</a:t>
            </a:r>
            <a:r>
              <a:rPr lang="en-US" altLang="zh-CN">
                <a:ea typeface="宋体" panose="02010600030101010101" pitchFamily="2" charset="-122"/>
              </a:rPr>
              <a:t> = add).</a:t>
            </a:r>
            <a:endParaRPr lang="en-US" altLang="zh-CN">
              <a:ea typeface="宋体" panose="02010600030101010101" pitchFamily="2" charset="-122"/>
            </a:endParaRPr>
          </a:p>
          <a:p>
            <a:pPr lvl="0"/>
            <a:r>
              <a:rPr lang="en-US" altLang="zh-CN">
                <a:ea typeface="宋体" panose="02010600030101010101" pitchFamily="2" charset="-122"/>
              </a:rPr>
              <a:t>However unlike the Load </a:t>
            </a:r>
            <a:r>
              <a:rPr lang="en-US" altLang="zh-CN" dirty="0" err="1">
                <a:ea typeface="宋体" panose="02010600030101010101" pitchFamily="2" charset="-122"/>
              </a:rPr>
              <a:t>instructoion</a:t>
            </a:r>
            <a:r>
              <a:rPr lang="en-US" altLang="zh-CN">
                <a:ea typeface="宋体" panose="02010600030101010101" pitchFamily="2" charset="-122"/>
              </a:rPr>
              <a:t> where </a:t>
            </a:r>
            <a:r>
              <a:rPr lang="en-US" altLang="zh-CN" dirty="0" err="1">
                <a:ea typeface="宋体" panose="02010600030101010101" pitchFamily="2" charset="-122"/>
              </a:rPr>
              <a:t>busB</a:t>
            </a:r>
            <a:r>
              <a:rPr lang="en-US" altLang="zh-CN">
                <a:ea typeface="宋体" panose="02010600030101010101" pitchFamily="2" charset="-122"/>
              </a:rPr>
              <a:t> is not used, the store instruction will use </a:t>
            </a:r>
            <a:r>
              <a:rPr lang="en-US" altLang="zh-CN" dirty="0" err="1">
                <a:ea typeface="宋体" panose="02010600030101010101" pitchFamily="2" charset="-122"/>
              </a:rPr>
              <a:t>busB</a:t>
            </a:r>
            <a:r>
              <a:rPr lang="en-US" altLang="zh-CN">
                <a:ea typeface="宋体" panose="02010600030101010101" pitchFamily="2" charset="-122"/>
              </a:rPr>
              <a:t> to send the data to the Data memory.</a:t>
            </a:r>
            <a:endParaRPr lang="en-US" altLang="zh-CN">
              <a:ea typeface="宋体" panose="02010600030101010101" pitchFamily="2" charset="-122"/>
            </a:endParaRPr>
          </a:p>
          <a:p>
            <a:pPr lvl="0"/>
            <a:r>
              <a:rPr lang="en-US" altLang="zh-CN">
                <a:ea typeface="宋体" panose="02010600030101010101" pitchFamily="2" charset="-122"/>
              </a:rPr>
              <a:t>Consequently, the </a:t>
            </a:r>
            <a:r>
              <a:rPr lang="en-US" altLang="zh-CN" dirty="0" err="1">
                <a:ea typeface="宋体" panose="02010600030101010101" pitchFamily="2" charset="-122"/>
              </a:rPr>
              <a:t>Rt</a:t>
            </a:r>
            <a:r>
              <a:rPr lang="en-US" altLang="zh-CN">
                <a:ea typeface="宋体" panose="02010600030101010101" pitchFamily="2" charset="-122"/>
              </a:rPr>
              <a:t> field of the instruction has to be fed to the </a:t>
            </a:r>
            <a:r>
              <a:rPr lang="en-US" altLang="zh-CN" dirty="0" err="1">
                <a:ea typeface="宋体" panose="02010600030101010101" pitchFamily="2" charset="-122"/>
              </a:rPr>
              <a:t>Rb</a:t>
            </a:r>
            <a:r>
              <a:rPr lang="en-US" altLang="zh-CN">
                <a:ea typeface="宋体" panose="02010600030101010101" pitchFamily="2" charset="-122"/>
              </a:rPr>
              <a:t> port of the register file.</a:t>
            </a:r>
            <a:endParaRPr lang="en-US" altLang="zh-CN">
              <a:ea typeface="宋体" panose="02010600030101010101" pitchFamily="2" charset="-122"/>
            </a:endParaRPr>
          </a:p>
          <a:p>
            <a:pPr lvl="0"/>
            <a:r>
              <a:rPr lang="en-US" altLang="zh-CN">
                <a:ea typeface="宋体" panose="02010600030101010101" pitchFamily="2" charset="-122"/>
              </a:rPr>
              <a:t>In order to write the Data Memory properly, the </a:t>
            </a:r>
            <a:r>
              <a:rPr lang="en-US" altLang="zh-CN" dirty="0" err="1">
                <a:ea typeface="宋体" panose="02010600030101010101" pitchFamily="2" charset="-122"/>
              </a:rPr>
              <a:t>MemWr</a:t>
            </a:r>
            <a:r>
              <a:rPr lang="en-US" altLang="zh-CN">
                <a:ea typeface="宋体" panose="02010600030101010101" pitchFamily="2" charset="-122"/>
              </a:rPr>
              <a:t> signal has to be set to 1.</a:t>
            </a:r>
            <a:endParaRPr lang="en-US" altLang="zh-CN">
              <a:ea typeface="宋体" panose="02010600030101010101" pitchFamily="2" charset="-122"/>
            </a:endParaRPr>
          </a:p>
          <a:p>
            <a:pPr lvl="0"/>
            <a:r>
              <a:rPr lang="en-US" altLang="zh-CN">
                <a:ea typeface="宋体" panose="02010600030101010101" pitchFamily="2" charset="-122"/>
              </a:rPr>
              <a:t>Notice that the store instruction does not update the register file.  Therefore, </a:t>
            </a:r>
            <a:r>
              <a:rPr lang="en-US" altLang="zh-CN" dirty="0" err="1">
                <a:ea typeface="宋体" panose="02010600030101010101" pitchFamily="2" charset="-122"/>
              </a:rPr>
              <a:t>RegWr</a:t>
            </a:r>
            <a:r>
              <a:rPr lang="en-US" altLang="zh-CN">
                <a:ea typeface="宋体" panose="02010600030101010101" pitchFamily="2" charset="-122"/>
              </a:rPr>
              <a:t> must be set to zero and consequently control signals </a:t>
            </a:r>
            <a:r>
              <a:rPr lang="en-US" altLang="zh-CN" dirty="0" err="1">
                <a:ea typeface="宋体" panose="02010600030101010101" pitchFamily="2" charset="-122"/>
              </a:rPr>
              <a:t>RegDst</a:t>
            </a:r>
            <a:r>
              <a:rPr lang="en-US" altLang="zh-CN">
                <a:ea typeface="宋体" panose="02010600030101010101" pitchFamily="2" charset="-122"/>
              </a:rPr>
              <a:t> and </a:t>
            </a:r>
            <a:r>
              <a:rPr lang="en-US" altLang="zh-CN" dirty="0" err="1">
                <a:ea typeface="宋体" panose="02010600030101010101" pitchFamily="2" charset="-122"/>
              </a:rPr>
              <a:t>MemtoReg</a:t>
            </a:r>
            <a:r>
              <a:rPr lang="en-US" altLang="zh-CN">
                <a:ea typeface="宋体" panose="02010600030101010101" pitchFamily="2" charset="-122"/>
              </a:rPr>
              <a:t> are don’t cares.</a:t>
            </a:r>
            <a:endParaRPr lang="en-US" altLang="zh-CN">
              <a:ea typeface="宋体" panose="02010600030101010101" pitchFamily="2" charset="-122"/>
            </a:endParaRPr>
          </a:p>
          <a:p>
            <a:pPr lvl="0"/>
            <a:r>
              <a:rPr lang="en-US" altLang="zh-CN">
                <a:ea typeface="宋体" panose="02010600030101010101" pitchFamily="2" charset="-122"/>
              </a:rPr>
              <a:t>And once again we need to set the control signals Branch and Jump to zero to ensure proper Program Counter </a:t>
            </a:r>
            <a:r>
              <a:rPr lang="en-US" altLang="zh-CN" dirty="0" err="1">
                <a:ea typeface="宋体" panose="02010600030101010101" pitchFamily="2" charset="-122"/>
              </a:rPr>
              <a:t>updataing</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Well, by now, you are probably tied of these boring stuff where Branch and Jump are zero so let’s look at something different--the </a:t>
            </a:r>
            <a:r>
              <a:rPr lang="en-US" altLang="zh-CN" dirty="0" err="1">
                <a:ea typeface="宋体" panose="02010600030101010101" pitchFamily="2" charset="-122"/>
              </a:rPr>
              <a:t>bracnh</a:t>
            </a:r>
            <a:r>
              <a:rPr lang="en-US" altLang="zh-CN">
                <a:ea typeface="宋体" panose="02010600030101010101" pitchFamily="2" charset="-122"/>
              </a:rPr>
              <a:t> instruction.</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31 min. (Y:11)</a:t>
            </a:r>
            <a:endParaRPr lang="en-US" altLang="zh-CN">
              <a:ea typeface="宋体" panose="02010600030101010101" pitchFamily="2" charset="-122"/>
            </a:endParaRPr>
          </a:p>
        </p:txBody>
      </p:sp>
      <p:sp>
        <p:nvSpPr>
          <p:cNvPr id="118786" name="幻灯片图像占位符 259074"/>
          <p:cNvSpPr>
            <a:spLocks noTextEdit="1"/>
          </p:cNvSpPr>
          <p:nvPr>
            <p:ph type="sldImg"/>
          </p:nvPr>
        </p:nvSpPr>
        <p:spPr>
          <a:xfrm>
            <a:off x="1257300" y="644525"/>
            <a:ext cx="4598988" cy="3449638"/>
          </a:xfr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文本占位符 261121"/>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So how does the branch instruction work?</a:t>
            </a:r>
            <a:endParaRPr lang="en-US" altLang="zh-CN">
              <a:ea typeface="宋体" panose="02010600030101010101" pitchFamily="2" charset="-122"/>
            </a:endParaRPr>
          </a:p>
          <a:p>
            <a:pPr lvl="0"/>
            <a:r>
              <a:rPr lang="en-US" altLang="zh-CN">
                <a:ea typeface="宋体" panose="02010600030101010101" pitchFamily="2" charset="-122"/>
              </a:rPr>
              <a:t>As far as the main </a:t>
            </a:r>
            <a:r>
              <a:rPr lang="en-US" altLang="zh-CN" dirty="0" err="1">
                <a:ea typeface="宋体" panose="02010600030101010101" pitchFamily="2" charset="-122"/>
              </a:rPr>
              <a:t>datapath</a:t>
            </a:r>
            <a:r>
              <a:rPr lang="en-US" altLang="zh-CN">
                <a:ea typeface="宋体" panose="02010600030101010101" pitchFamily="2" charset="-122"/>
              </a:rPr>
              <a:t> is concerned, it needs to calculate the branch condition. That is, it subtracts the register specified in the </a:t>
            </a:r>
            <a:r>
              <a:rPr lang="en-US" altLang="zh-CN" dirty="0" err="1">
                <a:ea typeface="宋体" panose="02010600030101010101" pitchFamily="2" charset="-122"/>
              </a:rPr>
              <a:t>Rt</a:t>
            </a:r>
            <a:r>
              <a:rPr lang="en-US" altLang="zh-CN">
                <a:ea typeface="宋体" panose="02010600030101010101" pitchFamily="2" charset="-122"/>
              </a:rPr>
              <a:t> field from the register specified in the </a:t>
            </a:r>
            <a:r>
              <a:rPr lang="en-US" altLang="zh-CN" dirty="0" err="1">
                <a:ea typeface="宋体" panose="02010600030101010101" pitchFamily="2" charset="-122"/>
              </a:rPr>
              <a:t>Rs</a:t>
            </a:r>
            <a:r>
              <a:rPr lang="en-US" altLang="zh-CN">
                <a:ea typeface="宋体" panose="02010600030101010101" pitchFamily="2" charset="-122"/>
              </a:rPr>
              <a:t> field and set the condition Zero accordingly.</a:t>
            </a:r>
            <a:endParaRPr lang="en-US" altLang="zh-CN">
              <a:ea typeface="宋体" panose="02010600030101010101" pitchFamily="2" charset="-122"/>
            </a:endParaRPr>
          </a:p>
          <a:p>
            <a:pPr lvl="0"/>
            <a:r>
              <a:rPr lang="en-US" altLang="zh-CN">
                <a:ea typeface="宋体" panose="02010600030101010101" pitchFamily="2" charset="-122"/>
              </a:rPr>
              <a:t>In order to place the register values on </a:t>
            </a:r>
            <a:r>
              <a:rPr lang="en-US" altLang="zh-CN" dirty="0" err="1">
                <a:ea typeface="宋体" panose="02010600030101010101" pitchFamily="2" charset="-122"/>
              </a:rPr>
              <a:t>busA</a:t>
            </a:r>
            <a:r>
              <a:rPr lang="en-US" altLang="zh-CN">
                <a:ea typeface="宋体" panose="02010600030101010101" pitchFamily="2" charset="-122"/>
              </a:rPr>
              <a:t> and </a:t>
            </a:r>
            <a:r>
              <a:rPr lang="en-US" altLang="zh-CN" dirty="0" err="1">
                <a:ea typeface="宋体" panose="02010600030101010101" pitchFamily="2" charset="-122"/>
              </a:rPr>
              <a:t>busB</a:t>
            </a:r>
            <a:r>
              <a:rPr lang="en-US" altLang="zh-CN">
                <a:ea typeface="宋体" panose="02010600030101010101" pitchFamily="2" charset="-122"/>
              </a:rPr>
              <a:t>, we need to feed the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fields of the instruction to the Ra and </a:t>
            </a:r>
            <a:r>
              <a:rPr lang="en-US" altLang="zh-CN" dirty="0" err="1">
                <a:ea typeface="宋体" panose="02010600030101010101" pitchFamily="2" charset="-122"/>
              </a:rPr>
              <a:t>Rb</a:t>
            </a:r>
            <a:r>
              <a:rPr lang="en-US" altLang="zh-CN">
                <a:ea typeface="宋体" panose="02010600030101010101" pitchFamily="2" charset="-122"/>
              </a:rPr>
              <a:t> ports of the register file and set </a:t>
            </a:r>
            <a:r>
              <a:rPr lang="en-US" altLang="zh-CN" dirty="0" err="1">
                <a:ea typeface="宋体" panose="02010600030101010101" pitchFamily="2" charset="-122"/>
              </a:rPr>
              <a:t>ALUSrc</a:t>
            </a:r>
            <a:r>
              <a:rPr lang="en-US" altLang="zh-CN">
                <a:ea typeface="宋体" panose="02010600030101010101" pitchFamily="2" charset="-122"/>
              </a:rPr>
              <a:t> to 0.</a:t>
            </a:r>
            <a:endParaRPr lang="en-US" altLang="zh-CN">
              <a:ea typeface="宋体" panose="02010600030101010101" pitchFamily="2" charset="-122"/>
            </a:endParaRPr>
          </a:p>
          <a:p>
            <a:pPr lvl="0"/>
            <a:r>
              <a:rPr lang="en-US" altLang="zh-CN">
                <a:ea typeface="宋体" panose="02010600030101010101" pitchFamily="2" charset="-122"/>
              </a:rPr>
              <a:t>Then we have to instruction the ALU to perform the subtract (</a:t>
            </a:r>
            <a:r>
              <a:rPr lang="en-US" altLang="zh-CN" dirty="0" err="1">
                <a:ea typeface="宋体" panose="02010600030101010101" pitchFamily="2" charset="-122"/>
              </a:rPr>
              <a:t>ALUctr</a:t>
            </a:r>
            <a:r>
              <a:rPr lang="en-US" altLang="zh-CN">
                <a:ea typeface="宋体" panose="02010600030101010101" pitchFamily="2" charset="-122"/>
              </a:rPr>
              <a:t> = sub) operation and set the Zero bit accordingly.</a:t>
            </a:r>
            <a:endParaRPr lang="en-US" altLang="zh-CN">
              <a:ea typeface="宋体" panose="02010600030101010101" pitchFamily="2" charset="-122"/>
            </a:endParaRPr>
          </a:p>
          <a:p>
            <a:pPr lvl="0"/>
            <a:r>
              <a:rPr lang="en-US" altLang="zh-CN">
                <a:ea typeface="宋体" panose="02010600030101010101" pitchFamily="2" charset="-122"/>
              </a:rPr>
              <a:t>The Zero bit is sent to the Instruction Fetch Unit.  I will show you the internal of the Instruction Fetch Unit in a second.</a:t>
            </a:r>
            <a:endParaRPr lang="en-US" altLang="zh-CN">
              <a:ea typeface="宋体" panose="02010600030101010101" pitchFamily="2" charset="-122"/>
            </a:endParaRPr>
          </a:p>
          <a:p>
            <a:pPr lvl="0"/>
            <a:r>
              <a:rPr lang="en-US" altLang="zh-CN">
                <a:ea typeface="宋体" panose="02010600030101010101" pitchFamily="2" charset="-122"/>
              </a:rPr>
              <a:t>But before we leave this slide, I want you to notice that </a:t>
            </a:r>
            <a:r>
              <a:rPr lang="en-US" altLang="zh-CN" dirty="0" err="1">
                <a:ea typeface="宋体" panose="02010600030101010101" pitchFamily="2" charset="-122"/>
              </a:rPr>
              <a:t>ExtOp</a:t>
            </a:r>
            <a:r>
              <a:rPr lang="en-US" altLang="zh-CN">
                <a:ea typeface="宋体" panose="02010600030101010101" pitchFamily="2" charset="-122"/>
              </a:rPr>
              <a:t>, </a:t>
            </a:r>
            <a:r>
              <a:rPr lang="en-US" altLang="zh-CN" dirty="0" err="1">
                <a:ea typeface="宋体" panose="02010600030101010101" pitchFamily="2" charset="-122"/>
              </a:rPr>
              <a:t>MemtoReg</a:t>
            </a:r>
            <a:r>
              <a:rPr lang="en-US" altLang="zh-CN">
                <a:ea typeface="宋体" panose="02010600030101010101" pitchFamily="2" charset="-122"/>
              </a:rPr>
              <a:t>, and </a:t>
            </a:r>
            <a:r>
              <a:rPr lang="en-US" altLang="zh-CN" dirty="0" err="1">
                <a:ea typeface="宋体" panose="02010600030101010101" pitchFamily="2" charset="-122"/>
              </a:rPr>
              <a:t>RegDst</a:t>
            </a:r>
            <a:r>
              <a:rPr lang="en-US" altLang="zh-CN">
                <a:ea typeface="宋体" panose="02010600030101010101" pitchFamily="2" charset="-122"/>
              </a:rPr>
              <a:t> are don’t cares but </a:t>
            </a:r>
            <a:r>
              <a:rPr lang="en-US" altLang="zh-CN" dirty="0" err="1">
                <a:ea typeface="宋体" panose="02010600030101010101" pitchFamily="2" charset="-122"/>
              </a:rPr>
              <a:t>RegWr</a:t>
            </a:r>
            <a:r>
              <a:rPr lang="en-US" altLang="zh-CN">
                <a:ea typeface="宋体" panose="02010600030101010101" pitchFamily="2" charset="-122"/>
              </a:rPr>
              <a:t> and </a:t>
            </a:r>
            <a:r>
              <a:rPr lang="en-US" altLang="zh-CN" dirty="0" err="1">
                <a:ea typeface="宋体" panose="02010600030101010101" pitchFamily="2" charset="-122"/>
              </a:rPr>
              <a:t>MemWr</a:t>
            </a:r>
            <a:r>
              <a:rPr lang="en-US" altLang="zh-CN">
                <a:ea typeface="宋体" panose="02010600030101010101" pitchFamily="2" charset="-122"/>
              </a:rPr>
              <a:t> have to be ZERO to prevent any write to occur.</a:t>
            </a:r>
            <a:endParaRPr lang="en-US" altLang="zh-CN">
              <a:ea typeface="宋体" panose="02010600030101010101" pitchFamily="2" charset="-122"/>
            </a:endParaRPr>
          </a:p>
          <a:p>
            <a:pPr lvl="0"/>
            <a:r>
              <a:rPr lang="en-US" altLang="zh-CN">
                <a:ea typeface="宋体" panose="02010600030101010101" pitchFamily="2" charset="-122"/>
              </a:rPr>
              <a:t>And finally, the controller needs to set the Branch signal to 1 so the Instruction Fetch Unit knows what to do.  So now  let’s take a look at the Instruction Fetch Unit.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33 min. (Y:13)</a:t>
            </a:r>
            <a:endParaRPr lang="en-US" altLang="zh-CN">
              <a:ea typeface="宋体" panose="02010600030101010101" pitchFamily="2" charset="-122"/>
            </a:endParaRPr>
          </a:p>
        </p:txBody>
      </p:sp>
      <p:sp>
        <p:nvSpPr>
          <p:cNvPr id="120834" name="幻灯片图像占位符 261122"/>
          <p:cNvSpPr>
            <a:spLocks noTextEdit="1"/>
          </p:cNvSpPr>
          <p:nvPr>
            <p:ph type="sldImg"/>
          </p:nvPr>
        </p:nvSpPr>
        <p:spPr>
          <a:xfrm>
            <a:off x="1257300" y="644525"/>
            <a:ext cx="4598988" cy="3449638"/>
          </a:xfr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文本占位符 263169"/>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Let’s look at the interesting case where the branch condition Zero is true (Zero = 1).</a:t>
            </a:r>
            <a:endParaRPr lang="en-US" altLang="zh-CN">
              <a:ea typeface="宋体" panose="02010600030101010101" pitchFamily="2" charset="-122"/>
            </a:endParaRPr>
          </a:p>
          <a:p>
            <a:pPr lvl="0"/>
            <a:r>
              <a:rPr lang="en-US" altLang="zh-CN">
                <a:ea typeface="宋体" panose="02010600030101010101" pitchFamily="2" charset="-122"/>
              </a:rPr>
              <a:t>Well, if Zero is not asserted, we will have our boring case where PC + 1 is selected.</a:t>
            </a:r>
            <a:endParaRPr lang="en-US" altLang="zh-CN">
              <a:ea typeface="宋体" panose="02010600030101010101" pitchFamily="2" charset="-122"/>
            </a:endParaRPr>
          </a:p>
          <a:p>
            <a:pPr lvl="0"/>
            <a:r>
              <a:rPr lang="en-US" altLang="zh-CN">
                <a:ea typeface="宋体" panose="02010600030101010101" pitchFamily="2" charset="-122"/>
              </a:rPr>
              <a:t>Anyway, with Branch = 1 and Zero = 1, the output of the second adder will be selected.</a:t>
            </a:r>
            <a:endParaRPr lang="en-US" altLang="zh-CN">
              <a:ea typeface="宋体" panose="02010600030101010101" pitchFamily="2" charset="-122"/>
            </a:endParaRPr>
          </a:p>
          <a:p>
            <a:pPr lvl="0"/>
            <a:r>
              <a:rPr lang="en-US" altLang="zh-CN">
                <a:ea typeface="宋体" panose="02010600030101010101" pitchFamily="2" charset="-122"/>
              </a:rPr>
              <a:t>That is, we will add the sequential address, that is output of the first adder, to the sign extended version of the immediate field, to form the branch target address (output of 2nd adder).</a:t>
            </a:r>
            <a:endParaRPr lang="en-US" altLang="zh-CN">
              <a:ea typeface="宋体" panose="02010600030101010101" pitchFamily="2" charset="-122"/>
            </a:endParaRPr>
          </a:p>
          <a:p>
            <a:pPr lvl="0"/>
            <a:r>
              <a:rPr lang="en-US" altLang="zh-CN">
                <a:ea typeface="宋体" panose="02010600030101010101" pitchFamily="2" charset="-122"/>
              </a:rPr>
              <a:t>With the control signal Jump set to zero, this branch target address will be written into the Program Counter register (PC) at the end of the clock cycle.</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35 min. (Y:15)</a:t>
            </a:r>
            <a:endParaRPr lang="en-US" altLang="zh-CN">
              <a:ea typeface="宋体" panose="02010600030101010101" pitchFamily="2" charset="-122"/>
            </a:endParaRPr>
          </a:p>
        </p:txBody>
      </p:sp>
      <p:sp>
        <p:nvSpPr>
          <p:cNvPr id="122882" name="幻灯片图像占位符 263170"/>
          <p:cNvSpPr>
            <a:spLocks noTextEdit="1"/>
          </p:cNvSpPr>
          <p:nvPr>
            <p:ph type="sldImg"/>
          </p:nvPr>
        </p:nvSpPr>
        <p:spPr>
          <a:xfrm>
            <a:off x="1257300" y="644525"/>
            <a:ext cx="4598988" cy="3449638"/>
          </a:xfr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文本占位符 265217"/>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The control signals setting in the main </a:t>
            </a:r>
            <a:r>
              <a:rPr lang="en-US" altLang="zh-CN" dirty="0" err="1">
                <a:ea typeface="宋体" panose="02010600030101010101" pitchFamily="2" charset="-122"/>
              </a:rPr>
              <a:t>datapath</a:t>
            </a:r>
            <a:r>
              <a:rPr lang="en-US" altLang="zh-CN">
                <a:ea typeface="宋体" panose="02010600030101010101" pitchFamily="2" charset="-122"/>
              </a:rPr>
              <a:t> for the Jump instruction is pretty boring because in most cases, we DON’T CARE.</a:t>
            </a:r>
            <a:endParaRPr lang="en-US" altLang="zh-CN">
              <a:ea typeface="宋体" panose="02010600030101010101" pitchFamily="2" charset="-122"/>
            </a:endParaRPr>
          </a:p>
          <a:p>
            <a:pPr lvl="0"/>
            <a:r>
              <a:rPr lang="en-US" altLang="zh-CN">
                <a:ea typeface="宋体" panose="02010600030101010101" pitchFamily="2" charset="-122"/>
              </a:rPr>
              <a:t>More specifically, control signals </a:t>
            </a:r>
            <a:r>
              <a:rPr lang="en-US" altLang="zh-CN" dirty="0" err="1">
                <a:ea typeface="宋体" panose="02010600030101010101" pitchFamily="2" charset="-122"/>
              </a:rPr>
              <a:t>ExtOp</a:t>
            </a:r>
            <a:r>
              <a:rPr lang="en-US" altLang="zh-CN">
                <a:ea typeface="宋体" panose="02010600030101010101" pitchFamily="2" charset="-122"/>
              </a:rPr>
              <a:t>, </a:t>
            </a:r>
            <a:r>
              <a:rPr lang="en-US" altLang="zh-CN" dirty="0" err="1">
                <a:ea typeface="宋体" panose="02010600030101010101" pitchFamily="2" charset="-122"/>
              </a:rPr>
              <a:t>ALUSrc</a:t>
            </a:r>
            <a:r>
              <a:rPr lang="en-US" altLang="zh-CN">
                <a:ea typeface="宋体" panose="02010600030101010101" pitchFamily="2" charset="-122"/>
              </a:rPr>
              <a:t>, </a:t>
            </a:r>
            <a:r>
              <a:rPr lang="en-US" altLang="zh-CN" dirty="0" err="1">
                <a:ea typeface="宋体" panose="02010600030101010101" pitchFamily="2" charset="-122"/>
              </a:rPr>
              <a:t>ALUctr</a:t>
            </a:r>
            <a:r>
              <a:rPr lang="en-US" altLang="zh-CN">
                <a:ea typeface="宋体" panose="02010600030101010101" pitchFamily="2" charset="-122"/>
              </a:rPr>
              <a:t> are all don’t cares because the ALU is not used at all for the Jump instruction.</a:t>
            </a:r>
            <a:endParaRPr lang="en-US" altLang="zh-CN">
              <a:ea typeface="宋体" panose="02010600030101010101" pitchFamily="2" charset="-122"/>
            </a:endParaRPr>
          </a:p>
          <a:p>
            <a:pPr lvl="0"/>
            <a:r>
              <a:rPr lang="en-US" altLang="zh-CN">
                <a:ea typeface="宋体" panose="02010600030101010101" pitchFamily="2" charset="-122"/>
              </a:rPr>
              <a:t>Control signals </a:t>
            </a:r>
            <a:r>
              <a:rPr lang="en-US" altLang="zh-CN" dirty="0" err="1">
                <a:ea typeface="宋体" panose="02010600030101010101" pitchFamily="2" charset="-122"/>
              </a:rPr>
              <a:t>MemtoReg</a:t>
            </a:r>
            <a:r>
              <a:rPr lang="en-US" altLang="zh-CN">
                <a:ea typeface="宋体" panose="02010600030101010101" pitchFamily="2" charset="-122"/>
              </a:rPr>
              <a:t> and </a:t>
            </a:r>
            <a:r>
              <a:rPr lang="en-US" altLang="zh-CN" dirty="0" err="1">
                <a:ea typeface="宋体" panose="02010600030101010101" pitchFamily="2" charset="-122"/>
              </a:rPr>
              <a:t>RegDst</a:t>
            </a:r>
            <a:r>
              <a:rPr lang="en-US" altLang="zh-CN">
                <a:ea typeface="宋体" panose="02010600030101010101" pitchFamily="2" charset="-122"/>
              </a:rPr>
              <a:t> are don’t are because Jump does not write the register file.  That is the reason why we still need to set </a:t>
            </a:r>
            <a:r>
              <a:rPr lang="en-US" altLang="zh-CN" dirty="0" err="1">
                <a:ea typeface="宋体" panose="02010600030101010101" pitchFamily="2" charset="-122"/>
              </a:rPr>
              <a:t>RegWr</a:t>
            </a:r>
            <a:r>
              <a:rPr lang="en-US" altLang="zh-CN">
                <a:ea typeface="宋体" panose="02010600030101010101" pitchFamily="2" charset="-122"/>
              </a:rPr>
              <a:t> to zero.</a:t>
            </a:r>
            <a:endParaRPr lang="en-US" altLang="zh-CN">
              <a:ea typeface="宋体" panose="02010600030101010101" pitchFamily="2" charset="-122"/>
            </a:endParaRPr>
          </a:p>
          <a:p>
            <a:pPr lvl="0"/>
            <a:r>
              <a:rPr lang="en-US" altLang="zh-CN">
                <a:ea typeface="宋体" panose="02010600030101010101" pitchFamily="2" charset="-122"/>
              </a:rPr>
              <a:t>Furthermore, we also need to set  </a:t>
            </a:r>
            <a:r>
              <a:rPr lang="en-US" altLang="zh-CN" dirty="0" err="1">
                <a:ea typeface="宋体" panose="02010600030101010101" pitchFamily="2" charset="-122"/>
              </a:rPr>
              <a:t>MemWr</a:t>
            </a:r>
            <a:r>
              <a:rPr lang="en-US" altLang="zh-CN">
                <a:ea typeface="宋体" panose="02010600030101010101" pitchFamily="2" charset="-122"/>
              </a:rPr>
              <a:t> to zero to avoid Data </a:t>
            </a:r>
            <a:r>
              <a:rPr lang="en-US" altLang="zh-CN" dirty="0" err="1">
                <a:ea typeface="宋体" panose="02010600030101010101" pitchFamily="2" charset="-122"/>
              </a:rPr>
              <a:t>Memroy</a:t>
            </a:r>
            <a:r>
              <a:rPr lang="en-US" altLang="zh-CN">
                <a:ea typeface="宋体" panose="02010600030101010101" pitchFamily="2" charset="-122"/>
              </a:rPr>
              <a:t> write.</a:t>
            </a:r>
            <a:endParaRPr lang="en-US" altLang="zh-CN">
              <a:ea typeface="宋体" panose="02010600030101010101" pitchFamily="2" charset="-122"/>
            </a:endParaRPr>
          </a:p>
          <a:p>
            <a:pPr lvl="0"/>
            <a:r>
              <a:rPr lang="en-US" altLang="zh-CN">
                <a:ea typeface="宋体" panose="02010600030101010101" pitchFamily="2" charset="-122"/>
              </a:rPr>
              <a:t>Finally, the control signal Branch is set to zero but Jump is set to 1.</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37 min. (X:17)</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b="1">
                <a:ea typeface="宋体" panose="02010600030101010101" pitchFamily="2" charset="-122"/>
              </a:rPr>
              <a:t>Complement:</a:t>
            </a:r>
            <a:r>
              <a:rPr lang="en-US" altLang="zh-CN">
                <a:ea typeface="宋体" panose="02010600030101010101" pitchFamily="2" charset="-122"/>
              </a:rPr>
              <a:t> So far as we have already seen, almost all instructions use ALU. But this jump instruction is exceptional.</a:t>
            </a:r>
            <a:endParaRPr lang="en-US" altLang="zh-CN">
              <a:ea typeface="宋体" panose="02010600030101010101" pitchFamily="2" charset="-122"/>
            </a:endParaRPr>
          </a:p>
          <a:p>
            <a:pPr lvl="0"/>
            <a:r>
              <a:rPr lang="en-US" altLang="zh-CN">
                <a:ea typeface="宋体" panose="02010600030101010101" pitchFamily="2" charset="-122"/>
              </a:rPr>
              <a:t>                    which instruction doesn't use ALU?</a:t>
            </a:r>
            <a:endParaRPr lang="en-US" altLang="zh-CN">
              <a:ea typeface="宋体" panose="02010600030101010101" pitchFamily="2" charset="-122"/>
            </a:endParaRPr>
          </a:p>
        </p:txBody>
      </p:sp>
      <p:sp>
        <p:nvSpPr>
          <p:cNvPr id="124930" name="幻灯片图像占位符 265218"/>
          <p:cNvSpPr>
            <a:spLocks noTextEdit="1"/>
          </p:cNvSpPr>
          <p:nvPr>
            <p:ph type="sldImg"/>
          </p:nvPr>
        </p:nvSpPr>
        <p:spPr>
          <a:xfrm>
            <a:off x="1257300" y="644525"/>
            <a:ext cx="4598988" cy="3449638"/>
          </a:xfr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文本占位符 267265"/>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Inside the Instruction Fetch Unit, with Branch set to zero and Jump set to 1, we will not use the output of neither Adder.</a:t>
            </a:r>
            <a:endParaRPr lang="en-US" altLang="zh-CN">
              <a:ea typeface="宋体" panose="02010600030101010101" pitchFamily="2" charset="-122"/>
            </a:endParaRPr>
          </a:p>
          <a:p>
            <a:pPr lvl="0"/>
            <a:r>
              <a:rPr lang="en-US" altLang="zh-CN">
                <a:ea typeface="宋体" panose="02010600030101010101" pitchFamily="2" charset="-122"/>
              </a:rPr>
              <a:t>What we will use is the concatenation of the four most significant bits of the current program counter and the twenty six bits of the target address.</a:t>
            </a:r>
            <a:endParaRPr lang="en-US" altLang="zh-CN">
              <a:ea typeface="宋体" panose="02010600030101010101" pitchFamily="2" charset="-122"/>
            </a:endParaRPr>
          </a:p>
          <a:p>
            <a:pPr lvl="0"/>
            <a:r>
              <a:rPr lang="en-US" altLang="zh-CN">
                <a:ea typeface="宋体" panose="02010600030101010101" pitchFamily="2" charset="-122"/>
              </a:rPr>
              <a:t>With the control signal Jump set to 1, this value will be send to the Program Counter and get written into PC at the next clock tick (points to the </a:t>
            </a:r>
            <a:r>
              <a:rPr lang="en-US" altLang="zh-CN" dirty="0" err="1">
                <a:ea typeface="宋体" panose="02010600030101010101" pitchFamily="2" charset="-122"/>
              </a:rPr>
              <a:t>Clk</a:t>
            </a:r>
            <a:r>
              <a:rPr lang="en-US" altLang="zh-CN">
                <a:ea typeface="宋体" panose="02010600030101010101" pitchFamily="2" charset="-122"/>
              </a:rPr>
              <a:t> bubble).</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39 min. (Y:19)</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b="1">
                <a:ea typeface="宋体" panose="02010600030101010101" pitchFamily="2" charset="-122"/>
              </a:rPr>
              <a:t>There should be an improvement: When Jump=1, we don’t have to set Branch=0. We can set Branch=x to simply logical design of the control part. But we have to set Jump=0 when Branch=1.</a:t>
            </a:r>
            <a:endParaRPr lang="en-US" altLang="zh-CN" b="1">
              <a:ea typeface="宋体" panose="02010600030101010101" pitchFamily="2" charset="-122"/>
            </a:endParaRPr>
          </a:p>
        </p:txBody>
      </p:sp>
      <p:sp>
        <p:nvSpPr>
          <p:cNvPr id="126978" name="幻灯片图像占位符 267266"/>
          <p:cNvSpPr>
            <a:spLocks noTextEdit="1"/>
          </p:cNvSpPr>
          <p:nvPr>
            <p:ph type="sldImg"/>
          </p:nvPr>
        </p:nvSpPr>
        <p:spPr>
          <a:xfrm>
            <a:off x="1257300" y="644525"/>
            <a:ext cx="4598988" cy="3449638"/>
          </a:xfr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文本占位符 269313"/>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Here is a table summarizing the control signals setting for the seven (add, sub, ...) instructions we have looked at.</a:t>
            </a:r>
            <a:endParaRPr lang="en-US" altLang="zh-CN">
              <a:ea typeface="宋体" panose="02010600030101010101" pitchFamily="2" charset="-122"/>
            </a:endParaRPr>
          </a:p>
          <a:p>
            <a:pPr lvl="0"/>
            <a:r>
              <a:rPr lang="en-US" altLang="zh-CN">
                <a:ea typeface="宋体" panose="02010600030101010101" pitchFamily="2" charset="-122"/>
              </a:rPr>
              <a:t>Instead of showing you the exact bit values for the ALU control (</a:t>
            </a:r>
            <a:r>
              <a:rPr lang="en-US" altLang="zh-CN" dirty="0" err="1">
                <a:ea typeface="宋体" panose="02010600030101010101" pitchFamily="2" charset="-122"/>
              </a:rPr>
              <a:t>ALUctr</a:t>
            </a:r>
            <a:r>
              <a:rPr lang="en-US" altLang="zh-CN">
                <a:ea typeface="宋体" panose="02010600030101010101" pitchFamily="2" charset="-122"/>
              </a:rPr>
              <a:t>), I have used the symbolic values here.</a:t>
            </a:r>
            <a:endParaRPr lang="en-US" altLang="zh-CN">
              <a:ea typeface="宋体" panose="02010600030101010101" pitchFamily="2" charset="-122"/>
            </a:endParaRPr>
          </a:p>
          <a:p>
            <a:pPr lvl="0"/>
            <a:r>
              <a:rPr lang="en-US" altLang="zh-CN">
                <a:ea typeface="宋体" panose="02010600030101010101" pitchFamily="2" charset="-122"/>
              </a:rPr>
              <a:t>The first two columns are unique in the sense that they are R-type </a:t>
            </a:r>
            <a:r>
              <a:rPr lang="en-US" altLang="zh-CN" dirty="0" err="1">
                <a:ea typeface="宋体" panose="02010600030101010101" pitchFamily="2" charset="-122"/>
              </a:rPr>
              <a:t>instrucions</a:t>
            </a:r>
            <a:r>
              <a:rPr lang="en-US" altLang="zh-CN">
                <a:ea typeface="宋体" panose="02010600030101010101" pitchFamily="2" charset="-122"/>
              </a:rPr>
              <a:t> and in order to uniquely identify them, we need to look at BOTH the op field as well as the </a:t>
            </a:r>
            <a:r>
              <a:rPr lang="en-US" altLang="zh-CN" dirty="0" err="1">
                <a:ea typeface="宋体" panose="02010600030101010101" pitchFamily="2" charset="-122"/>
              </a:rPr>
              <a:t>func</a:t>
            </a:r>
            <a:r>
              <a:rPr lang="en-US" altLang="zh-CN">
                <a:ea typeface="宋体" panose="02010600030101010101" pitchFamily="2" charset="-122"/>
              </a:rPr>
              <a:t> </a:t>
            </a:r>
            <a:r>
              <a:rPr lang="en-US" altLang="zh-CN" dirty="0" err="1">
                <a:ea typeface="宋体" panose="02010600030101010101" pitchFamily="2" charset="-122"/>
              </a:rPr>
              <a:t>fiels</a:t>
            </a:r>
            <a:r>
              <a:rPr lang="en-US" altLang="zh-CN">
                <a:ea typeface="宋体" panose="02010600030101010101" pitchFamily="2" charset="-122"/>
              </a:rPr>
              <a:t>.</a:t>
            </a:r>
            <a:endParaRPr lang="en-US" altLang="zh-CN">
              <a:ea typeface="宋体" panose="02010600030101010101" pitchFamily="2" charset="-122"/>
            </a:endParaRPr>
          </a:p>
          <a:p>
            <a:pPr lvl="0"/>
            <a:r>
              <a:rPr lang="en-US" altLang="zh-CN" dirty="0" err="1">
                <a:ea typeface="宋体" panose="02010600030101010101" pitchFamily="2" charset="-122"/>
              </a:rPr>
              <a:t>Ori</a:t>
            </a:r>
            <a:r>
              <a:rPr lang="en-US" altLang="zh-CN">
                <a:ea typeface="宋体" panose="02010600030101010101" pitchFamily="2" charset="-122"/>
              </a:rPr>
              <a:t>, </a:t>
            </a:r>
            <a:r>
              <a:rPr lang="en-US" altLang="zh-CN" dirty="0" err="1">
                <a:ea typeface="宋体" panose="02010600030101010101" pitchFamily="2" charset="-122"/>
              </a:rPr>
              <a:t>lw</a:t>
            </a:r>
            <a:r>
              <a:rPr lang="en-US" altLang="zh-CN">
                <a:ea typeface="宋体" panose="02010600030101010101" pitchFamily="2" charset="-122"/>
              </a:rPr>
              <a:t>, </a:t>
            </a:r>
            <a:r>
              <a:rPr lang="en-US" altLang="zh-CN" dirty="0" err="1">
                <a:ea typeface="宋体" panose="02010600030101010101" pitchFamily="2" charset="-122"/>
              </a:rPr>
              <a:t>sw</a:t>
            </a:r>
            <a:r>
              <a:rPr lang="en-US" altLang="zh-CN">
                <a:ea typeface="宋体" panose="02010600030101010101" pitchFamily="2" charset="-122"/>
              </a:rPr>
              <a:t>, and branch on equal are I-type instructions and Jump is J-type.  They all can be uniquely </a:t>
            </a:r>
            <a:r>
              <a:rPr lang="en-US" altLang="zh-CN" dirty="0" err="1">
                <a:ea typeface="宋体" panose="02010600030101010101" pitchFamily="2" charset="-122"/>
              </a:rPr>
              <a:t>idetified</a:t>
            </a:r>
            <a:r>
              <a:rPr lang="en-US" altLang="zh-CN">
                <a:ea typeface="宋体" panose="02010600030101010101" pitchFamily="2" charset="-122"/>
              </a:rPr>
              <a:t> by looking at the </a:t>
            </a:r>
            <a:r>
              <a:rPr lang="en-US" altLang="zh-CN" dirty="0" err="1">
                <a:ea typeface="宋体" panose="02010600030101010101" pitchFamily="2" charset="-122"/>
              </a:rPr>
              <a:t>opcode</a:t>
            </a:r>
            <a:r>
              <a:rPr lang="en-US" altLang="zh-CN">
                <a:ea typeface="宋体" panose="02010600030101010101" pitchFamily="2" charset="-122"/>
              </a:rPr>
              <a:t> field alone.</a:t>
            </a:r>
            <a:endParaRPr lang="en-US" altLang="zh-CN">
              <a:ea typeface="宋体" panose="02010600030101010101" pitchFamily="2" charset="-122"/>
            </a:endParaRPr>
          </a:p>
          <a:p>
            <a:pPr lvl="0"/>
            <a:r>
              <a:rPr lang="en-US" altLang="zh-CN">
                <a:ea typeface="宋体" panose="02010600030101010101" pitchFamily="2" charset="-122"/>
              </a:rPr>
              <a:t>Now let’s take a more careful look at the first two columns.  Notice that they are identical except the last row.</a:t>
            </a:r>
            <a:endParaRPr lang="en-US" altLang="zh-CN">
              <a:ea typeface="宋体" panose="02010600030101010101" pitchFamily="2" charset="-122"/>
            </a:endParaRPr>
          </a:p>
          <a:p>
            <a:pPr lvl="0"/>
            <a:r>
              <a:rPr lang="en-US" altLang="zh-CN">
                <a:ea typeface="宋体" panose="02010600030101010101" pitchFamily="2" charset="-122"/>
              </a:rPr>
              <a:t>So we can combine these two rows here if we can “delay” the generation of </a:t>
            </a:r>
            <a:r>
              <a:rPr lang="en-US" altLang="zh-CN" dirty="0" err="1">
                <a:ea typeface="宋体" panose="02010600030101010101" pitchFamily="2" charset="-122"/>
              </a:rPr>
              <a:t>ALUctr</a:t>
            </a:r>
            <a:r>
              <a:rPr lang="en-US" altLang="zh-CN">
                <a:ea typeface="宋体" panose="02010600030101010101" pitchFamily="2" charset="-122"/>
              </a:rPr>
              <a:t> signals.</a:t>
            </a:r>
            <a:endParaRPr lang="en-US" altLang="zh-CN">
              <a:ea typeface="宋体" panose="02010600030101010101" pitchFamily="2" charset="-122"/>
            </a:endParaRPr>
          </a:p>
          <a:p>
            <a:pPr lvl="0"/>
            <a:r>
              <a:rPr lang="en-US" altLang="zh-CN">
                <a:ea typeface="宋体" panose="02010600030101010101" pitchFamily="2" charset="-122"/>
              </a:rPr>
              <a:t>This lead us to something called “local decoding.”</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42 min. (Y:22)</a:t>
            </a:r>
            <a:endParaRPr lang="en-US" altLang="zh-CN">
              <a:ea typeface="宋体" panose="02010600030101010101" pitchFamily="2" charset="-122"/>
            </a:endParaRPr>
          </a:p>
        </p:txBody>
      </p:sp>
      <p:sp>
        <p:nvSpPr>
          <p:cNvPr id="129026" name="幻灯片图像占位符 269314"/>
          <p:cNvSpPr>
            <a:spLocks noTextEdit="1"/>
          </p:cNvSpPr>
          <p:nvPr>
            <p:ph type="sldImg"/>
          </p:nvPr>
        </p:nvSpPr>
        <p:spPr>
          <a:xfrm>
            <a:off x="1257300" y="644525"/>
            <a:ext cx="4598988" cy="3449638"/>
          </a:xfr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文本占位符 271361"/>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That is, instead of asking the Main Control to generates the </a:t>
            </a:r>
            <a:r>
              <a:rPr lang="en-US" altLang="zh-CN" dirty="0" err="1">
                <a:ea typeface="宋体" panose="02010600030101010101" pitchFamily="2" charset="-122"/>
              </a:rPr>
              <a:t>ALUctr</a:t>
            </a:r>
            <a:r>
              <a:rPr lang="en-US" altLang="zh-CN">
                <a:ea typeface="宋体" panose="02010600030101010101" pitchFamily="2" charset="-122"/>
              </a:rPr>
              <a:t> signals directly (see the diagram with the ALU), the main control will generate a set of signals called </a:t>
            </a:r>
            <a:r>
              <a:rPr lang="en-US" altLang="zh-CN" dirty="0" err="1">
                <a:ea typeface="宋体" panose="02010600030101010101" pitchFamily="2" charset="-122"/>
              </a:rPr>
              <a:t>ALUop</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For all I and J type instructions, </a:t>
            </a:r>
            <a:r>
              <a:rPr lang="en-US" altLang="zh-CN" dirty="0" err="1">
                <a:ea typeface="宋体" panose="02010600030101010101" pitchFamily="2" charset="-122"/>
              </a:rPr>
              <a:t>ALUop</a:t>
            </a:r>
            <a:r>
              <a:rPr lang="en-US" altLang="zh-CN">
                <a:ea typeface="宋体" panose="02010600030101010101" pitchFamily="2" charset="-122"/>
              </a:rPr>
              <a:t> will tell the ALU Control exactly what the ALU needs to do (Add, Subtract, ...) .</a:t>
            </a:r>
            <a:endParaRPr lang="en-US" altLang="zh-CN">
              <a:ea typeface="宋体" panose="02010600030101010101" pitchFamily="2" charset="-122"/>
            </a:endParaRPr>
          </a:p>
          <a:p>
            <a:pPr lvl="0"/>
            <a:r>
              <a:rPr lang="en-US" altLang="zh-CN">
                <a:ea typeface="宋体" panose="02010600030101010101" pitchFamily="2" charset="-122"/>
              </a:rPr>
              <a:t>But whenever the Main Control sees a R-type instructions, it simply throws its hands up and say: “Wow, I don’t know what the ALU has to do but I know it is a R-type instruction” and let the Local Control Block, ALU Control to take care of the rest.</a:t>
            </a:r>
            <a:endParaRPr lang="en-US" altLang="zh-CN">
              <a:ea typeface="宋体" panose="02010600030101010101" pitchFamily="2" charset="-122"/>
            </a:endParaRPr>
          </a:p>
          <a:p>
            <a:pPr lvl="0"/>
            <a:r>
              <a:rPr lang="en-US" altLang="zh-CN">
                <a:ea typeface="宋体" panose="02010600030101010101" pitchFamily="2" charset="-122"/>
              </a:rPr>
              <a:t>Notice that this save us one column from the table we had on the last slide.  But let’s be honest, if one column is the ONLY thing we save, we probably will not do it.</a:t>
            </a:r>
            <a:endParaRPr lang="en-US" altLang="zh-CN">
              <a:ea typeface="宋体" panose="02010600030101010101" pitchFamily="2" charset="-122"/>
            </a:endParaRPr>
          </a:p>
          <a:p>
            <a:pPr lvl="0"/>
            <a:r>
              <a:rPr lang="en-US" altLang="zh-CN">
                <a:ea typeface="宋体" panose="02010600030101010101" pitchFamily="2" charset="-122"/>
              </a:rPr>
              <a:t>But when you have to design for the entire MIPS instruction set, this column will used for ALL R-type instructions, which is more than just Add and Subtract I showed you here.</a:t>
            </a:r>
            <a:endParaRPr lang="en-US" altLang="zh-CN">
              <a:ea typeface="宋体" panose="02010600030101010101" pitchFamily="2" charset="-122"/>
            </a:endParaRPr>
          </a:p>
          <a:p>
            <a:pPr lvl="0"/>
            <a:r>
              <a:rPr lang="en-US" altLang="zh-CN">
                <a:ea typeface="宋体" panose="02010600030101010101" pitchFamily="2" charset="-122"/>
              </a:rPr>
              <a:t>Another  advantage of this table over the last one, besides being smaller, is that we can uniquely identify  each column by looking at the Op field only.</a:t>
            </a:r>
            <a:endParaRPr lang="en-US" altLang="zh-CN">
              <a:ea typeface="宋体" panose="02010600030101010101" pitchFamily="2" charset="-122"/>
            </a:endParaRPr>
          </a:p>
          <a:p>
            <a:pPr lvl="0"/>
            <a:r>
              <a:rPr lang="en-US" altLang="zh-CN">
                <a:ea typeface="宋体" panose="02010600030101010101" pitchFamily="2" charset="-122"/>
              </a:rPr>
              <a:t>Therefore, as I will show you later, the Main Control ONLY needs to look at the </a:t>
            </a:r>
            <a:r>
              <a:rPr lang="en-US" altLang="zh-CN" dirty="0" err="1">
                <a:ea typeface="宋体" panose="02010600030101010101" pitchFamily="2" charset="-122"/>
              </a:rPr>
              <a:t>Opcode</a:t>
            </a:r>
            <a:r>
              <a:rPr lang="en-US" altLang="zh-CN">
                <a:ea typeface="宋体" panose="02010600030101010101" pitchFamily="2" charset="-122"/>
              </a:rPr>
              <a:t> field.</a:t>
            </a:r>
            <a:endParaRPr lang="en-US" altLang="zh-CN">
              <a:ea typeface="宋体" panose="02010600030101010101" pitchFamily="2" charset="-122"/>
            </a:endParaRPr>
          </a:p>
          <a:p>
            <a:pPr lvl="0"/>
            <a:r>
              <a:rPr lang="en-US" altLang="zh-CN">
                <a:ea typeface="宋体" panose="02010600030101010101" pitchFamily="2" charset="-122"/>
              </a:rPr>
              <a:t>How many bits do we need for </a:t>
            </a:r>
            <a:r>
              <a:rPr lang="en-US" altLang="zh-CN" dirty="0" err="1">
                <a:ea typeface="宋体" panose="02010600030101010101" pitchFamily="2" charset="-122"/>
              </a:rPr>
              <a:t>ALUop</a:t>
            </a:r>
            <a:r>
              <a:rPr lang="en-US" altLang="zh-CN">
                <a:ea typeface="宋体" panose="02010600030101010101" pitchFamily="2" charset="-122"/>
              </a:rPr>
              <a: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45 min. (Y:25)</a:t>
            </a:r>
            <a:endParaRPr lang="en-US" altLang="zh-CN">
              <a:ea typeface="宋体" panose="02010600030101010101" pitchFamily="2" charset="-122"/>
            </a:endParaRPr>
          </a:p>
        </p:txBody>
      </p:sp>
      <p:sp>
        <p:nvSpPr>
          <p:cNvPr id="131074" name="幻灯片图像占位符 271362"/>
          <p:cNvSpPr>
            <a:spLocks noTextEdit="1"/>
          </p:cNvSpPr>
          <p:nvPr>
            <p:ph type="sldImg"/>
          </p:nvPr>
        </p:nvSpPr>
        <p:spPr>
          <a:xfrm>
            <a:off x="1257300" y="644525"/>
            <a:ext cx="4598988" cy="3449638"/>
          </a:xfr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文本占位符 273409"/>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What this table and diagram implies is that if the ALU Control receives </a:t>
            </a:r>
            <a:r>
              <a:rPr lang="en-US" altLang="zh-CN" dirty="0" err="1">
                <a:ea typeface="宋体" panose="02010600030101010101" pitchFamily="2" charset="-122"/>
              </a:rPr>
              <a:t>ALUop</a:t>
            </a:r>
            <a:r>
              <a:rPr lang="en-US" altLang="zh-CN">
                <a:ea typeface="宋体" panose="02010600030101010101" pitchFamily="2" charset="-122"/>
              </a:rPr>
              <a:t> = 100, it has to decode the instruction’s “</a:t>
            </a:r>
            <a:r>
              <a:rPr lang="en-US" altLang="zh-CN" dirty="0" err="1">
                <a:ea typeface="宋体" panose="02010600030101010101" pitchFamily="2" charset="-122"/>
              </a:rPr>
              <a:t>func</a:t>
            </a:r>
            <a:r>
              <a:rPr lang="en-US" altLang="zh-CN">
                <a:ea typeface="宋体" panose="02010600030101010101" pitchFamily="2" charset="-122"/>
              </a:rPr>
              <a:t>” field to figure out what the ALU needs to do.</a:t>
            </a:r>
            <a:endParaRPr lang="en-US" altLang="zh-CN">
              <a:ea typeface="宋体" panose="02010600030101010101" pitchFamily="2" charset="-122"/>
            </a:endParaRPr>
          </a:p>
          <a:p>
            <a:pPr lvl="0"/>
            <a:r>
              <a:rPr lang="en-US" altLang="zh-CN">
                <a:ea typeface="宋体" panose="02010600030101010101" pitchFamily="2" charset="-122"/>
              </a:rPr>
              <a:t>Based on the MIPS encoding in Appendix A of your text book, we know we have a Add instruction if the </a:t>
            </a:r>
            <a:r>
              <a:rPr lang="en-US" altLang="zh-CN" dirty="0" err="1">
                <a:ea typeface="宋体" panose="02010600030101010101" pitchFamily="2" charset="-122"/>
              </a:rPr>
              <a:t>func</a:t>
            </a:r>
            <a:r>
              <a:rPr lang="en-US" altLang="zh-CN">
                <a:ea typeface="宋体" panose="02010600030101010101" pitchFamily="2" charset="-122"/>
              </a:rPr>
              <a:t> field is 10 000.</a:t>
            </a:r>
            <a:endParaRPr lang="en-US" altLang="zh-CN">
              <a:ea typeface="宋体" panose="02010600030101010101" pitchFamily="2" charset="-122"/>
            </a:endParaRPr>
          </a:p>
          <a:p>
            <a:pPr lvl="0"/>
            <a:r>
              <a:rPr lang="en-US" altLang="zh-CN">
                <a:ea typeface="宋体" panose="02010600030101010101" pitchFamily="2" charset="-122"/>
              </a:rPr>
              <a:t>If the </a:t>
            </a:r>
            <a:r>
              <a:rPr lang="en-US" altLang="zh-CN" dirty="0" err="1">
                <a:ea typeface="宋体" panose="02010600030101010101" pitchFamily="2" charset="-122"/>
              </a:rPr>
              <a:t>func</a:t>
            </a:r>
            <a:r>
              <a:rPr lang="en-US" altLang="zh-CN">
                <a:ea typeface="宋体" panose="02010600030101010101" pitchFamily="2" charset="-122"/>
              </a:rPr>
              <a:t> field is 10 0010, we know we have a subtract operation and so on.</a:t>
            </a:r>
            <a:endParaRPr lang="en-US" altLang="zh-CN">
              <a:ea typeface="宋体" panose="02010600030101010101" pitchFamily="2" charset="-122"/>
            </a:endParaRPr>
          </a:p>
          <a:p>
            <a:pPr lvl="0"/>
            <a:r>
              <a:rPr lang="en-US" altLang="zh-CN">
                <a:ea typeface="宋体" panose="02010600030101010101" pitchFamily="2" charset="-122"/>
              </a:rPr>
              <a:t>Notice that the bit 5 and bit 4 of this field is the same for all these operations so as far as the ALU control is concerned, these bits are don’t care.</a:t>
            </a:r>
            <a:endParaRPr lang="en-US" altLang="zh-CN">
              <a:ea typeface="宋体" panose="02010600030101010101" pitchFamily="2" charset="-122"/>
            </a:endParaRPr>
          </a:p>
          <a:p>
            <a:pPr lvl="0"/>
            <a:r>
              <a:rPr lang="en-US" altLang="zh-CN">
                <a:ea typeface="宋体" panose="02010600030101010101" pitchFamily="2" charset="-122"/>
              </a:rPr>
              <a:t>Now recall from your ALU homework, the </a:t>
            </a:r>
            <a:r>
              <a:rPr lang="en-US" altLang="zh-CN" dirty="0" err="1">
                <a:ea typeface="宋体" panose="02010600030101010101" pitchFamily="2" charset="-122"/>
              </a:rPr>
              <a:t>ALUctr</a:t>
            </a:r>
            <a:r>
              <a:rPr lang="en-US" altLang="zh-CN">
                <a:ea typeface="宋体" panose="02010600030101010101" pitchFamily="2" charset="-122"/>
              </a:rPr>
              <a:t> signals has the following meaning (point to the table): 000 means Add, 001 means subtract, ... etc.</a:t>
            </a:r>
            <a:endParaRPr lang="en-US" altLang="zh-CN">
              <a:ea typeface="宋体" panose="02010600030101010101" pitchFamily="2" charset="-122"/>
            </a:endParaRPr>
          </a:p>
          <a:p>
            <a:pPr lvl="0"/>
            <a:r>
              <a:rPr lang="en-US" altLang="zh-CN">
                <a:ea typeface="宋体" panose="02010600030101010101" pitchFamily="2" charset="-122"/>
              </a:rPr>
              <a:t>Based on these three tables (point to the last row of the top table and then the two other tables) and the fact that bit 5 and bit 4 of the “</a:t>
            </a:r>
            <a:r>
              <a:rPr lang="en-US" altLang="zh-CN" dirty="0" err="1">
                <a:ea typeface="宋体" panose="02010600030101010101" pitchFamily="2" charset="-122"/>
              </a:rPr>
              <a:t>func</a:t>
            </a:r>
            <a:r>
              <a:rPr lang="en-US" altLang="zh-CN">
                <a:ea typeface="宋体" panose="02010600030101010101" pitchFamily="2" charset="-122"/>
              </a:rPr>
              <a:t>” field are don’t care, we can derive the following truth table for </a:t>
            </a:r>
            <a:r>
              <a:rPr lang="en-US" altLang="zh-CN" dirty="0" err="1">
                <a:ea typeface="宋体" panose="02010600030101010101" pitchFamily="2" charset="-122"/>
              </a:rPr>
              <a:t>ALUctr</a:t>
            </a:r>
            <a:r>
              <a:rPr lang="en-US" altLang="zh-CN">
                <a:ea typeface="宋体" panose="02010600030101010101" pitchFamily="2" charset="-122"/>
              </a:rPr>
              <a: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48 min. (Y:28)</a:t>
            </a:r>
            <a:endParaRPr lang="en-US" altLang="zh-CN">
              <a:ea typeface="宋体" panose="02010600030101010101" pitchFamily="2" charset="-122"/>
            </a:endParaRPr>
          </a:p>
        </p:txBody>
      </p:sp>
      <p:sp>
        <p:nvSpPr>
          <p:cNvPr id="133122" name="幻灯片图像占位符 273410"/>
          <p:cNvSpPr>
            <a:spLocks noTextEdit="1"/>
          </p:cNvSpPr>
          <p:nvPr>
            <p:ph type="sldImg"/>
          </p:nvPr>
        </p:nvSpPr>
        <p:spPr>
          <a:xfrm>
            <a:off x="1257300" y="644525"/>
            <a:ext cx="4598988" cy="3449638"/>
          </a:xfr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文本占位符 275457"/>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That is, whenever </a:t>
            </a:r>
            <a:r>
              <a:rPr lang="en-US" altLang="zh-CN" dirty="0" err="1">
                <a:ea typeface="宋体" panose="02010600030101010101" pitchFamily="2" charset="-122"/>
              </a:rPr>
              <a:t>ALUop</a:t>
            </a:r>
            <a:r>
              <a:rPr lang="en-US" altLang="zh-CN">
                <a:ea typeface="宋体" panose="02010600030101010101" pitchFamily="2" charset="-122"/>
              </a:rPr>
              <a:t> is 000, we don’t care anything about the </a:t>
            </a:r>
            <a:r>
              <a:rPr lang="en-US" altLang="zh-CN" dirty="0" err="1">
                <a:ea typeface="宋体" panose="02010600030101010101" pitchFamily="2" charset="-122"/>
              </a:rPr>
              <a:t>func</a:t>
            </a:r>
            <a:r>
              <a:rPr lang="en-US" altLang="zh-CN">
                <a:ea typeface="宋体" panose="02010600030101010101" pitchFamily="2" charset="-122"/>
              </a:rPr>
              <a:t> field because we know we need the ALU to do an ADD operation (point to Add column).</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Whenever the </a:t>
            </a:r>
            <a:r>
              <a:rPr lang="en-US" altLang="zh-CN" dirty="0" err="1">
                <a:ea typeface="宋体" panose="02010600030101010101" pitchFamily="2" charset="-122"/>
              </a:rPr>
              <a:t>ALUop</a:t>
            </a:r>
            <a:r>
              <a:rPr lang="en-US" altLang="zh-CN">
                <a:ea typeface="宋体" panose="02010600030101010101" pitchFamily="2" charset="-122"/>
              </a:rPr>
              <a:t> bit&lt;2&gt; is 0 and bit&lt;0&gt; is 1, we know we want the ALU to perform a Subtract regardless of what </a:t>
            </a:r>
            <a:r>
              <a:rPr lang="en-US" altLang="zh-CN" dirty="0" err="1">
                <a:ea typeface="宋体" panose="02010600030101010101" pitchFamily="2" charset="-122"/>
              </a:rPr>
              <a:t>func</a:t>
            </a:r>
            <a:r>
              <a:rPr lang="en-US" altLang="zh-CN">
                <a:ea typeface="宋体" panose="02010600030101010101" pitchFamily="2" charset="-122"/>
              </a:rPr>
              <a:t> field is.</a:t>
            </a:r>
            <a:endParaRPr lang="en-US" altLang="zh-CN">
              <a:ea typeface="宋体" panose="02010600030101010101" pitchFamily="2" charset="-122"/>
            </a:endParaRPr>
          </a:p>
          <a:p>
            <a:pPr lvl="0"/>
            <a:r>
              <a:rPr lang="en-US" altLang="zh-CN">
                <a:ea typeface="宋体" panose="02010600030101010101" pitchFamily="2" charset="-122"/>
              </a:rPr>
              <a:t>Bit&lt;1&gt; is a don’t care because for our encoding here, </a:t>
            </a:r>
            <a:r>
              <a:rPr lang="en-US" altLang="zh-CN" dirty="0" err="1">
                <a:ea typeface="宋体" panose="02010600030101010101" pitchFamily="2" charset="-122"/>
              </a:rPr>
              <a:t>ALUop</a:t>
            </a:r>
            <a:r>
              <a:rPr lang="en-US" altLang="zh-CN">
                <a:ea typeface="宋体" panose="02010600030101010101" pitchFamily="2" charset="-122"/>
              </a:rPr>
              <a:t>&lt;1&gt; will never be equal to 1 whenever bit&lt;0&gt; is 1 and bit&lt;2&gt; is 0.</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Similarly, whenever </a:t>
            </a:r>
            <a:r>
              <a:rPr lang="en-US" altLang="zh-CN" dirty="0" err="1">
                <a:ea typeface="宋体" panose="02010600030101010101" pitchFamily="2" charset="-122"/>
              </a:rPr>
              <a:t>ALUop</a:t>
            </a:r>
            <a:r>
              <a:rPr lang="en-US" altLang="zh-CN">
                <a:ea typeface="宋体" panose="02010600030101010101" pitchFamily="2" charset="-122"/>
              </a:rPr>
              <a:t> bit&lt;2&gt; is 0 and bit&lt;1&gt; is 1, we need the ALU to perform Or.</a:t>
            </a:r>
            <a:endParaRPr lang="en-US" altLang="zh-CN">
              <a:ea typeface="宋体" panose="02010600030101010101" pitchFamily="2" charset="-122"/>
            </a:endParaRPr>
          </a:p>
          <a:p>
            <a:pPr lvl="0"/>
            <a:r>
              <a:rPr lang="en-US" altLang="zh-CN">
                <a:ea typeface="宋体" panose="02010600030101010101" pitchFamily="2" charset="-122"/>
              </a:rPr>
              <a:t>The tricky part occurs when the </a:t>
            </a:r>
            <a:r>
              <a:rPr lang="en-US" altLang="zh-CN" dirty="0" err="1">
                <a:ea typeface="宋体" panose="02010600030101010101" pitchFamily="2" charset="-122"/>
              </a:rPr>
              <a:t>ALUOp</a:t>
            </a:r>
            <a:r>
              <a:rPr lang="en-US" altLang="zh-CN">
                <a:ea typeface="宋体" panose="02010600030101010101" pitchFamily="2" charset="-122"/>
              </a:rPr>
              <a:t> bit&lt;2&gt; equals to 1.  In that case, we have a R-type instruction and we need to look at the </a:t>
            </a:r>
            <a:r>
              <a:rPr lang="en-US" altLang="zh-CN" dirty="0" err="1">
                <a:ea typeface="宋体" panose="02010600030101010101" pitchFamily="2" charset="-122"/>
              </a:rPr>
              <a:t>Func</a:t>
            </a:r>
            <a:r>
              <a:rPr lang="en-US" altLang="zh-CN">
                <a:ea typeface="宋体" panose="02010600030101010101" pitchFamily="2" charset="-122"/>
              </a:rPr>
              <a:t> field.</a:t>
            </a:r>
            <a:endParaRPr lang="en-US" altLang="zh-CN">
              <a:ea typeface="宋体" panose="02010600030101010101" pitchFamily="2" charset="-122"/>
            </a:endParaRPr>
          </a:p>
          <a:p>
            <a:pPr lvl="0"/>
            <a:r>
              <a:rPr lang="en-US" altLang="zh-CN">
                <a:ea typeface="宋体" panose="02010600030101010101" pitchFamily="2" charset="-122"/>
              </a:rPr>
              <a:t>In any case, once we have this Symbolic column, we can get this actual bit columns by referring to our ALU table on the last slide (use the last table of last slide if time permits).</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30 min. (Y:30)</a:t>
            </a:r>
            <a:endParaRPr lang="en-US" altLang="zh-CN">
              <a:ea typeface="宋体" panose="02010600030101010101" pitchFamily="2" charset="-122"/>
            </a:endParaRPr>
          </a:p>
        </p:txBody>
      </p:sp>
      <p:sp>
        <p:nvSpPr>
          <p:cNvPr id="135170" name="幻灯片图像占位符 275458"/>
          <p:cNvSpPr>
            <a:spLocks noTextEdit="1"/>
          </p:cNvSpPr>
          <p:nvPr>
            <p:ph type="sldImg"/>
          </p:nvPr>
        </p:nvSpPr>
        <p:spPr>
          <a:xfrm>
            <a:off x="1257300" y="644525"/>
            <a:ext cx="4598988" cy="3449638"/>
          </a:xfr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文本占位符 277505"/>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From the truth table we had before the break, we can derive the logic equation for </a:t>
            </a:r>
            <a:r>
              <a:rPr lang="en-US" altLang="zh-CN" dirty="0" err="1">
                <a:ea typeface="宋体" panose="02010600030101010101" pitchFamily="2" charset="-122"/>
              </a:rPr>
              <a:t>ALUctr</a:t>
            </a:r>
            <a:r>
              <a:rPr lang="en-US" altLang="zh-CN">
                <a:ea typeface="宋体" panose="02010600030101010101" pitchFamily="2" charset="-122"/>
              </a:rPr>
              <a:t> bit 2 by collecting all the rows that has </a:t>
            </a:r>
            <a:r>
              <a:rPr lang="en-US" altLang="zh-CN" dirty="0" err="1">
                <a:ea typeface="宋体" panose="02010600030101010101" pitchFamily="2" charset="-122"/>
              </a:rPr>
              <a:t>ALUCtr</a:t>
            </a:r>
            <a:r>
              <a:rPr lang="en-US" altLang="zh-CN">
                <a:ea typeface="宋体" panose="02010600030101010101" pitchFamily="2" charset="-122"/>
              </a:rPr>
              <a:t> bit 2 equals to 1 and this table is the result.</a:t>
            </a:r>
            <a:endParaRPr lang="en-US" altLang="zh-CN">
              <a:ea typeface="宋体" panose="02010600030101010101" pitchFamily="2" charset="-122"/>
            </a:endParaRPr>
          </a:p>
          <a:p>
            <a:pPr lvl="0"/>
            <a:r>
              <a:rPr lang="en-US" altLang="zh-CN">
                <a:ea typeface="宋体" panose="02010600030101010101" pitchFamily="2" charset="-122"/>
              </a:rPr>
              <a:t>Each row becomes a product term and we need to OR the product terms together.</a:t>
            </a:r>
            <a:endParaRPr lang="en-US" altLang="zh-CN">
              <a:ea typeface="宋体" panose="02010600030101010101" pitchFamily="2" charset="-122"/>
            </a:endParaRPr>
          </a:p>
          <a:p>
            <a:pPr lvl="0"/>
            <a:r>
              <a:rPr lang="en-US" altLang="zh-CN">
                <a:ea typeface="宋体" panose="02010600030101010101" pitchFamily="2" charset="-122"/>
              </a:rPr>
              <a:t>Notice that the last row are identical except the bit&lt;3&gt; of the </a:t>
            </a:r>
            <a:r>
              <a:rPr lang="en-US" altLang="zh-CN" dirty="0" err="1">
                <a:ea typeface="宋体" panose="02010600030101010101" pitchFamily="2" charset="-122"/>
              </a:rPr>
              <a:t>func</a:t>
            </a:r>
            <a:r>
              <a:rPr lang="en-US" altLang="zh-CN">
                <a:ea typeface="宋体" panose="02010600030101010101" pitchFamily="2" charset="-122"/>
              </a:rPr>
              <a:t> fields.  One is zero and the other is one.  Together, they make bit&lt;3&gt; a don’t care term.</a:t>
            </a:r>
            <a:endParaRPr lang="en-US" altLang="zh-CN">
              <a:ea typeface="宋体" panose="02010600030101010101" pitchFamily="2" charset="-122"/>
            </a:endParaRPr>
          </a:p>
          <a:p>
            <a:pPr lvl="0"/>
            <a:r>
              <a:rPr lang="en-US" altLang="zh-CN">
                <a:ea typeface="宋体" panose="02010600030101010101" pitchFamily="2" charset="-122"/>
              </a:rPr>
              <a:t>With all these don’t care terms, the logic equation is rather simple.</a:t>
            </a:r>
            <a:endParaRPr lang="en-US" altLang="zh-CN">
              <a:ea typeface="宋体" panose="02010600030101010101" pitchFamily="2" charset="-122"/>
            </a:endParaRPr>
          </a:p>
          <a:p>
            <a:pPr lvl="0"/>
            <a:r>
              <a:rPr lang="en-US" altLang="zh-CN">
                <a:ea typeface="宋体" panose="02010600030101010101" pitchFamily="2" charset="-122"/>
              </a:rPr>
              <a:t>The first product term is: not </a:t>
            </a:r>
            <a:r>
              <a:rPr lang="en-US" altLang="zh-CN" dirty="0" err="1">
                <a:ea typeface="宋体" panose="02010600030101010101" pitchFamily="2" charset="-122"/>
              </a:rPr>
              <a:t>ALUOp</a:t>
            </a:r>
            <a:r>
              <a:rPr lang="en-US" altLang="zh-CN">
                <a:ea typeface="宋体" panose="02010600030101010101" pitchFamily="2" charset="-122"/>
              </a:rPr>
              <a:t>&lt;2&gt; and </a:t>
            </a:r>
            <a:r>
              <a:rPr lang="en-US" altLang="zh-CN" dirty="0" err="1">
                <a:ea typeface="宋体" panose="02010600030101010101" pitchFamily="2" charset="-122"/>
              </a:rPr>
              <a:t>ALUOp</a:t>
            </a:r>
            <a:r>
              <a:rPr lang="en-US" altLang="zh-CN">
                <a:ea typeface="宋体" panose="02010600030101010101" pitchFamily="2" charset="-122"/>
              </a:rPr>
              <a:t>&lt;0&gt;.</a:t>
            </a:r>
            <a:endParaRPr lang="en-US" altLang="zh-CN">
              <a:ea typeface="宋体" panose="02010600030101010101" pitchFamily="2" charset="-122"/>
            </a:endParaRPr>
          </a:p>
          <a:p>
            <a:pPr lvl="0"/>
            <a:r>
              <a:rPr lang="en-US" altLang="zh-CN">
                <a:ea typeface="宋体" panose="02010600030101010101" pitchFamily="2" charset="-122"/>
              </a:rPr>
              <a:t>The second product term, after we making </a:t>
            </a:r>
            <a:r>
              <a:rPr lang="en-US" altLang="zh-CN" dirty="0" err="1">
                <a:ea typeface="宋体" panose="02010600030101010101" pitchFamily="2" charset="-122"/>
              </a:rPr>
              <a:t>Func</a:t>
            </a:r>
            <a:r>
              <a:rPr lang="en-US" altLang="zh-CN">
                <a:ea typeface="宋体" panose="02010600030101010101" pitchFamily="2" charset="-122"/>
              </a:rPr>
              <a:t>&lt;3&gt; a don’t care becomes ...</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57 min. (Y:37)</a:t>
            </a:r>
            <a:endParaRPr lang="en-US" altLang="zh-CN">
              <a:ea typeface="宋体" panose="02010600030101010101" pitchFamily="2" charset="-122"/>
            </a:endParaRPr>
          </a:p>
        </p:txBody>
      </p:sp>
      <p:sp>
        <p:nvSpPr>
          <p:cNvPr id="137218" name="幻灯片图像占位符 277506"/>
          <p:cNvSpPr>
            <a:spLocks noTextEdit="1"/>
          </p:cNvSpPr>
          <p:nvPr>
            <p:ph type="sldImg"/>
          </p:nvPr>
        </p:nvSpPr>
        <p:spPr>
          <a:xfrm>
            <a:off x="1257300" y="644525"/>
            <a:ext cx="4598988" cy="3449638"/>
          </a:xfr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文本占位符 279553"/>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Here is the truth table when we collect all the rows where </a:t>
            </a:r>
            <a:r>
              <a:rPr lang="en-US" altLang="zh-CN" dirty="0" err="1">
                <a:ea typeface="宋体" panose="02010600030101010101" pitchFamily="2" charset="-122"/>
              </a:rPr>
              <a:t>ALCctr</a:t>
            </a:r>
            <a:r>
              <a:rPr lang="en-US" altLang="zh-CN">
                <a:ea typeface="宋体" panose="02010600030101010101" pitchFamily="2" charset="-122"/>
              </a:rPr>
              <a:t> bit&lt;1&gt; equals to 1.</a:t>
            </a:r>
            <a:endParaRPr lang="en-US" altLang="zh-CN">
              <a:ea typeface="宋体" panose="02010600030101010101" pitchFamily="2" charset="-122"/>
            </a:endParaRPr>
          </a:p>
          <a:p>
            <a:pPr lvl="0"/>
            <a:r>
              <a:rPr lang="en-US" altLang="zh-CN">
                <a:ea typeface="宋体" panose="02010600030101010101" pitchFamily="2" charset="-122"/>
              </a:rPr>
              <a:t>Once again, we can simplify the table by noticing that the first two rows are different only at the </a:t>
            </a:r>
            <a:r>
              <a:rPr lang="en-US" altLang="zh-CN" dirty="0" err="1">
                <a:ea typeface="宋体" panose="02010600030101010101" pitchFamily="2" charset="-122"/>
              </a:rPr>
              <a:t>ALUop</a:t>
            </a:r>
            <a:r>
              <a:rPr lang="en-US" altLang="zh-CN">
                <a:ea typeface="宋体" panose="02010600030101010101" pitchFamily="2" charset="-122"/>
              </a:rPr>
              <a:t> bit&lt;0&gt; position.  We can make </a:t>
            </a:r>
            <a:r>
              <a:rPr lang="en-US" altLang="zh-CN" dirty="0" err="1">
                <a:ea typeface="宋体" panose="02010600030101010101" pitchFamily="2" charset="-122"/>
              </a:rPr>
              <a:t>ALUop</a:t>
            </a:r>
            <a:r>
              <a:rPr lang="en-US" altLang="zh-CN">
                <a:ea typeface="宋体" panose="02010600030101010101" pitchFamily="2" charset="-122"/>
              </a:rPr>
              <a:t> bit&lt;0&gt; into a don’t care.</a:t>
            </a:r>
            <a:endParaRPr lang="en-US" altLang="zh-CN">
              <a:ea typeface="宋体" panose="02010600030101010101" pitchFamily="2" charset="-122"/>
            </a:endParaRPr>
          </a:p>
          <a:p>
            <a:pPr lvl="0"/>
            <a:r>
              <a:rPr lang="en-US" altLang="zh-CN">
                <a:ea typeface="宋体" panose="02010600030101010101" pitchFamily="2" charset="-122"/>
              </a:rPr>
              <a:t>Similarly, the last three rows can be combined to make </a:t>
            </a:r>
            <a:r>
              <a:rPr lang="en-US" altLang="zh-CN" dirty="0" err="1">
                <a:ea typeface="宋体" panose="02010600030101010101" pitchFamily="2" charset="-122"/>
              </a:rPr>
              <a:t>Func</a:t>
            </a:r>
            <a:r>
              <a:rPr lang="en-US" altLang="zh-CN">
                <a:ea typeface="宋体" panose="02010600030101010101" pitchFamily="2" charset="-122"/>
              </a:rPr>
              <a:t> bit&lt;3&gt; and bit&lt;1&gt; into don’t cares.</a:t>
            </a:r>
            <a:r>
              <a:rPr lang="en-US" altLang="zh-CN" b="1">
                <a:solidFill>
                  <a:schemeClr val="accent1"/>
                </a:solidFill>
                <a:ea typeface="宋体" panose="02010600030101010101" pitchFamily="2" charset="-122"/>
                <a:sym typeface="Wingdings" panose="05000000000000000000" pitchFamily="2" charset="2"/>
              </a:rPr>
              <a:t> I cannot understand it.</a:t>
            </a:r>
            <a:endParaRPr lang="en-US" altLang="zh-CN" b="1">
              <a:solidFill>
                <a:schemeClr val="accent1"/>
              </a:solidFill>
              <a:ea typeface="宋体" panose="02010600030101010101" pitchFamily="2" charset="-122"/>
            </a:endParaRPr>
          </a:p>
          <a:p>
            <a:pPr lvl="0"/>
            <a:r>
              <a:rPr lang="en-US" altLang="zh-CN">
                <a:ea typeface="宋体" panose="02010600030101010101" pitchFamily="2" charset="-122"/>
              </a:rPr>
              <a:t>Consequently, the logic equation for </a:t>
            </a:r>
            <a:r>
              <a:rPr lang="en-US" altLang="zh-CN" dirty="0" err="1">
                <a:ea typeface="宋体" panose="02010600030101010101" pitchFamily="2" charset="-122"/>
              </a:rPr>
              <a:t>ALUctr</a:t>
            </a:r>
            <a:r>
              <a:rPr lang="en-US" altLang="zh-CN">
                <a:ea typeface="宋体" panose="02010600030101010101" pitchFamily="2" charset="-122"/>
              </a:rPr>
              <a:t> bit&lt;1&gt; becomes ...</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59 min. (Y:39)</a:t>
            </a:r>
            <a:endParaRPr lang="en-US" altLang="zh-CN">
              <a:ea typeface="宋体" panose="02010600030101010101" pitchFamily="2" charset="-122"/>
            </a:endParaRPr>
          </a:p>
        </p:txBody>
      </p:sp>
      <p:sp>
        <p:nvSpPr>
          <p:cNvPr id="139266" name="幻灯片图像占位符 279554"/>
          <p:cNvSpPr>
            <a:spLocks noTextEdit="1"/>
          </p:cNvSpPr>
          <p:nvPr>
            <p:ph type="sldImg"/>
          </p:nvPr>
        </p:nvSpPr>
        <p:spPr>
          <a:xfrm>
            <a:off x="1257300" y="644525"/>
            <a:ext cx="4598988" cy="3449638"/>
          </a:xfr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文本占位符 281601"/>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Finally, after we gather all the rows where </a:t>
            </a:r>
            <a:r>
              <a:rPr lang="en-US" altLang="zh-CN" dirty="0" err="1">
                <a:ea typeface="宋体" panose="02010600030101010101" pitchFamily="2" charset="-122"/>
              </a:rPr>
              <a:t>ALUctr</a:t>
            </a:r>
            <a:r>
              <a:rPr lang="en-US" altLang="zh-CN">
                <a:ea typeface="宋体" panose="02010600030101010101" pitchFamily="2" charset="-122"/>
              </a:rPr>
              <a:t> bit 0 are 1’s, we have this truth table.</a:t>
            </a:r>
            <a:endParaRPr lang="en-US" altLang="zh-CN">
              <a:ea typeface="宋体" panose="02010600030101010101" pitchFamily="2" charset="-122"/>
            </a:endParaRPr>
          </a:p>
          <a:p>
            <a:pPr lvl="0"/>
            <a:r>
              <a:rPr lang="en-US" altLang="zh-CN">
                <a:ea typeface="宋体" panose="02010600030101010101" pitchFamily="2" charset="-122"/>
              </a:rPr>
              <a:t>Well, we are out of luck here.  I don’t see any simple way to simplify these product terms by just looking at them.</a:t>
            </a:r>
            <a:endParaRPr lang="en-US" altLang="zh-CN">
              <a:ea typeface="宋体" panose="02010600030101010101" pitchFamily="2" charset="-122"/>
            </a:endParaRPr>
          </a:p>
          <a:p>
            <a:pPr lvl="0"/>
            <a:r>
              <a:rPr lang="en-US" altLang="zh-CN">
                <a:ea typeface="宋体" panose="02010600030101010101" pitchFamily="2" charset="-122"/>
              </a:rPr>
              <a:t>There may be some if you draw out the 7 dimension K map but I am not going to try it.</a:t>
            </a:r>
            <a:endParaRPr lang="en-US" altLang="zh-CN">
              <a:ea typeface="宋体" panose="02010600030101010101" pitchFamily="2" charset="-122"/>
            </a:endParaRPr>
          </a:p>
          <a:p>
            <a:pPr lvl="0"/>
            <a:r>
              <a:rPr lang="en-US" altLang="zh-CN">
                <a:ea typeface="宋体" panose="02010600030101010101" pitchFamily="2" charset="-122"/>
              </a:rPr>
              <a:t>So I just write down the logic equations as it is.</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61 min. (Y:41)</a:t>
            </a:r>
            <a:endParaRPr lang="en-US" altLang="zh-CN">
              <a:ea typeface="宋体" panose="02010600030101010101" pitchFamily="2" charset="-122"/>
            </a:endParaRPr>
          </a:p>
        </p:txBody>
      </p:sp>
      <p:sp>
        <p:nvSpPr>
          <p:cNvPr id="141314" name="幻灯片图像占位符 281602"/>
          <p:cNvSpPr>
            <a:spLocks noTextEdit="1"/>
          </p:cNvSpPr>
          <p:nvPr>
            <p:ph type="sldImg"/>
          </p:nvPr>
        </p:nvSpPr>
        <p:spPr>
          <a:xfrm>
            <a:off x="1257300" y="644525"/>
            <a:ext cx="4598988" cy="3449638"/>
          </a:xfr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文本占位符 283649"/>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With all the logic equations available, you should be able to implement this logic block without any problem.</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+1 = 62 min. (Y:42)</a:t>
            </a:r>
            <a:endParaRPr lang="en-US" altLang="zh-CN">
              <a:ea typeface="宋体" panose="02010600030101010101" pitchFamily="2" charset="-122"/>
            </a:endParaRPr>
          </a:p>
        </p:txBody>
      </p:sp>
      <p:sp>
        <p:nvSpPr>
          <p:cNvPr id="143362" name="幻灯片图像占位符 283650"/>
          <p:cNvSpPr>
            <a:spLocks noTextEdit="1"/>
          </p:cNvSpPr>
          <p:nvPr>
            <p:ph type="sldImg"/>
          </p:nvPr>
        </p:nvSpPr>
        <p:spPr>
          <a:xfrm>
            <a:off x="1257300" y="644525"/>
            <a:ext cx="4598988" cy="3449638"/>
          </a:xfr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文本占位符 285697"/>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Now that we have taken care of the Local Control (ALU Control), let’s refocus our attention to the </a:t>
            </a:r>
            <a:r>
              <a:rPr lang="en-US" altLang="zh-CN" dirty="0" err="1">
                <a:ea typeface="宋体" panose="02010600030101010101" pitchFamily="2" charset="-122"/>
              </a:rPr>
              <a:t>Mian</a:t>
            </a:r>
            <a:r>
              <a:rPr lang="en-US" altLang="zh-CN">
                <a:ea typeface="宋体" panose="02010600030101010101" pitchFamily="2" charset="-122"/>
              </a:rPr>
              <a:t> Controller.</a:t>
            </a:r>
            <a:endParaRPr lang="en-US" altLang="zh-CN">
              <a:ea typeface="宋体" panose="02010600030101010101" pitchFamily="2" charset="-122"/>
            </a:endParaRPr>
          </a:p>
          <a:p>
            <a:pPr lvl="0"/>
            <a:r>
              <a:rPr lang="en-US" altLang="zh-CN">
                <a:ea typeface="宋体" panose="02010600030101010101" pitchFamily="2" charset="-122"/>
              </a:rPr>
              <a:t>The job of the Main Control is to look at the </a:t>
            </a:r>
            <a:r>
              <a:rPr lang="en-US" altLang="zh-CN" dirty="0" err="1">
                <a:ea typeface="宋体" panose="02010600030101010101" pitchFamily="2" charset="-122"/>
              </a:rPr>
              <a:t>Opcode</a:t>
            </a:r>
            <a:r>
              <a:rPr lang="en-US" altLang="zh-CN">
                <a:ea typeface="宋体" panose="02010600030101010101" pitchFamily="2" charset="-122"/>
              </a:rPr>
              <a:t> field of the instruction and generate these control signals for the </a:t>
            </a:r>
            <a:r>
              <a:rPr lang="en-US" altLang="zh-CN" dirty="0" err="1">
                <a:ea typeface="宋体" panose="02010600030101010101" pitchFamily="2" charset="-122"/>
              </a:rPr>
              <a:t>datapath</a:t>
            </a:r>
            <a:r>
              <a:rPr lang="en-US" altLang="zh-CN">
                <a:ea typeface="宋体" panose="02010600030101010101" pitchFamily="2" charset="-122"/>
              </a:rPr>
              <a:t> (</a:t>
            </a:r>
            <a:r>
              <a:rPr lang="en-US" altLang="zh-CN" dirty="0" err="1">
                <a:ea typeface="宋体" panose="02010600030101010101" pitchFamily="2" charset="-122"/>
              </a:rPr>
              <a:t>RegDst</a:t>
            </a:r>
            <a:r>
              <a:rPr lang="en-US" altLang="zh-CN">
                <a:ea typeface="宋体" panose="02010600030101010101" pitchFamily="2" charset="-122"/>
              </a:rPr>
              <a:t>, ... </a:t>
            </a:r>
            <a:r>
              <a:rPr lang="en-US" altLang="zh-CN" dirty="0" err="1">
                <a:ea typeface="宋体" panose="02010600030101010101" pitchFamily="2" charset="-122"/>
              </a:rPr>
              <a:t>ExtOp</a:t>
            </a:r>
            <a:r>
              <a:rPr lang="en-US" altLang="zh-CN">
                <a:ea typeface="宋体" panose="02010600030101010101" pitchFamily="2" charset="-122"/>
              </a:rPr>
              <a:t>) as well as the 3-bit </a:t>
            </a:r>
            <a:r>
              <a:rPr lang="en-US" altLang="zh-CN" dirty="0" err="1">
                <a:ea typeface="宋体" panose="02010600030101010101" pitchFamily="2" charset="-122"/>
              </a:rPr>
              <a:t>ALUop</a:t>
            </a:r>
            <a:r>
              <a:rPr lang="en-US" altLang="zh-CN">
                <a:ea typeface="宋体" panose="02010600030101010101" pitchFamily="2" charset="-122"/>
              </a:rPr>
              <a:t> field for the ALU Control.</a:t>
            </a:r>
            <a:endParaRPr lang="en-US" altLang="zh-CN">
              <a:ea typeface="宋体" panose="02010600030101010101" pitchFamily="2" charset="-122"/>
            </a:endParaRPr>
          </a:p>
          <a:p>
            <a:pPr lvl="0"/>
            <a:r>
              <a:rPr lang="en-US" altLang="zh-CN">
                <a:ea typeface="宋体" panose="02010600030101010101" pitchFamily="2" charset="-122"/>
              </a:rPr>
              <a:t>Here, I have shown you the symbolic value of the </a:t>
            </a:r>
            <a:r>
              <a:rPr lang="en-US" altLang="zh-CN" dirty="0" err="1">
                <a:ea typeface="宋体" panose="02010600030101010101" pitchFamily="2" charset="-122"/>
              </a:rPr>
              <a:t>ALUop</a:t>
            </a:r>
            <a:r>
              <a:rPr lang="en-US" altLang="zh-CN">
                <a:ea typeface="宋体" panose="02010600030101010101" pitchFamily="2" charset="-122"/>
              </a:rPr>
              <a:t> field as well as the actual bit assignment.</a:t>
            </a:r>
            <a:endParaRPr lang="en-US" altLang="zh-CN">
              <a:ea typeface="宋体" panose="02010600030101010101" pitchFamily="2" charset="-122"/>
            </a:endParaRPr>
          </a:p>
          <a:p>
            <a:pPr lvl="0"/>
            <a:r>
              <a:rPr lang="en-US" altLang="zh-CN">
                <a:ea typeface="宋体" panose="02010600030101010101" pitchFamily="2" charset="-122"/>
              </a:rPr>
              <a:t>For example here (2nd column), the R-type </a:t>
            </a:r>
            <a:r>
              <a:rPr lang="en-US" altLang="zh-CN" dirty="0" err="1">
                <a:ea typeface="宋体" panose="02010600030101010101" pitchFamily="2" charset="-122"/>
              </a:rPr>
              <a:t>ALUop</a:t>
            </a:r>
            <a:r>
              <a:rPr lang="en-US" altLang="zh-CN">
                <a:ea typeface="宋体" panose="02010600030101010101" pitchFamily="2" charset="-122"/>
              </a:rPr>
              <a:t> is encode as 100 and the Add operation (3rd column) is encoded as 000..</a:t>
            </a:r>
            <a:endParaRPr lang="en-US" altLang="zh-CN">
              <a:ea typeface="宋体" panose="02010600030101010101" pitchFamily="2" charset="-122"/>
            </a:endParaRPr>
          </a:p>
          <a:p>
            <a:pPr lvl="0"/>
            <a:r>
              <a:rPr lang="en-US" altLang="zh-CN">
                <a:ea typeface="宋体" panose="02010600030101010101" pitchFamily="2" charset="-122"/>
              </a:rPr>
              <a:t>This is call a quote “Truth Table” unquote because if you think about it, this is like having the truth table rotates 90 degrees.</a:t>
            </a:r>
            <a:endParaRPr lang="en-US" altLang="zh-CN">
              <a:ea typeface="宋体" panose="02010600030101010101" pitchFamily="2" charset="-122"/>
            </a:endParaRPr>
          </a:p>
          <a:p>
            <a:pPr lvl="0"/>
            <a:r>
              <a:rPr lang="en-US" altLang="zh-CN">
                <a:ea typeface="宋体" panose="02010600030101010101" pitchFamily="2" charset="-122"/>
              </a:rPr>
              <a:t>Let me show you what I mean by that.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65 min. (Y:45)</a:t>
            </a:r>
            <a:endParaRPr lang="en-US" altLang="zh-CN">
              <a:ea typeface="宋体" panose="02010600030101010101" pitchFamily="2" charset="-122"/>
            </a:endParaRPr>
          </a:p>
        </p:txBody>
      </p:sp>
      <p:sp>
        <p:nvSpPr>
          <p:cNvPr id="145410" name="幻灯片图像占位符 285698"/>
          <p:cNvSpPr>
            <a:spLocks noTextEdit="1"/>
          </p:cNvSpPr>
          <p:nvPr>
            <p:ph type="sldImg"/>
          </p:nvPr>
        </p:nvSpPr>
        <p:spPr>
          <a:xfrm>
            <a:off x="1257300" y="644525"/>
            <a:ext cx="4598988" cy="3449638"/>
          </a:xfr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文本占位符 287745"/>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For example, consider the control signal </a:t>
            </a:r>
            <a:r>
              <a:rPr lang="en-US" altLang="zh-CN" dirty="0" err="1">
                <a:ea typeface="宋体" panose="02010600030101010101" pitchFamily="2" charset="-122"/>
              </a:rPr>
              <a:t>RegWrite</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If we treat all the don’t cares as zeros, this row here means </a:t>
            </a:r>
            <a:r>
              <a:rPr lang="en-US" altLang="zh-CN" dirty="0" err="1">
                <a:ea typeface="宋体" panose="02010600030101010101" pitchFamily="2" charset="-122"/>
              </a:rPr>
              <a:t>RegDest</a:t>
            </a:r>
            <a:r>
              <a:rPr lang="en-US" altLang="zh-CN">
                <a:ea typeface="宋体" panose="02010600030101010101" pitchFamily="2" charset="-122"/>
              </a:rPr>
              <a:t> has to be equal to one whenever we have a R-type, or an OR immediate, or a load instruction.</a:t>
            </a:r>
            <a:endParaRPr lang="en-US" altLang="zh-CN">
              <a:ea typeface="宋体" panose="02010600030101010101" pitchFamily="2" charset="-122"/>
            </a:endParaRPr>
          </a:p>
          <a:p>
            <a:pPr lvl="0"/>
            <a:r>
              <a:rPr lang="en-US" altLang="zh-CN">
                <a:ea typeface="宋体" panose="02010600030101010101" pitchFamily="2" charset="-122"/>
              </a:rPr>
              <a:t>Since we can determine whether we have any of these instructions (point to the column headers) by looking at the bits in the “OP” field, we can transform this symbolic equation to this binary logic equation.</a:t>
            </a:r>
            <a:endParaRPr lang="en-US" altLang="zh-CN">
              <a:ea typeface="宋体" panose="02010600030101010101" pitchFamily="2" charset="-122"/>
            </a:endParaRPr>
          </a:p>
          <a:p>
            <a:pPr lvl="0"/>
            <a:r>
              <a:rPr lang="en-US" altLang="zh-CN">
                <a:ea typeface="宋体" panose="02010600030101010101" pitchFamily="2" charset="-122"/>
              </a:rPr>
              <a:t>For example, the first product term here say we have a R-type instruction whenever all the bits in the “OP” field are zeros.</a:t>
            </a:r>
            <a:endParaRPr lang="en-US" altLang="zh-CN">
              <a:ea typeface="宋体" panose="02010600030101010101" pitchFamily="2" charset="-122"/>
            </a:endParaRPr>
          </a:p>
          <a:p>
            <a:pPr lvl="0"/>
            <a:r>
              <a:rPr lang="en-US" altLang="zh-CN">
                <a:ea typeface="宋体" panose="02010600030101010101" pitchFamily="2" charset="-122"/>
              </a:rPr>
              <a:t>So each of these big AND gates implements one of the columns (R-type, </a:t>
            </a:r>
            <a:r>
              <a:rPr lang="en-US" altLang="zh-CN" dirty="0" err="1">
                <a:ea typeface="宋体" panose="02010600030101010101" pitchFamily="2" charset="-122"/>
              </a:rPr>
              <a:t>ori</a:t>
            </a:r>
            <a:r>
              <a:rPr lang="en-US" altLang="zh-CN">
                <a:ea typeface="宋体" panose="02010600030101010101" pitchFamily="2" charset="-122"/>
              </a:rPr>
              <a:t>, ...) in our table.  Or in more technical terms, each AND gate implements a product term.</a:t>
            </a:r>
            <a:endParaRPr lang="en-US" altLang="zh-CN">
              <a:ea typeface="宋体" panose="02010600030101010101" pitchFamily="2" charset="-122"/>
            </a:endParaRPr>
          </a:p>
          <a:p>
            <a:pPr lvl="0"/>
            <a:r>
              <a:rPr lang="en-US" altLang="zh-CN">
                <a:ea typeface="宋体" panose="02010600030101010101" pitchFamily="2" charset="-122"/>
              </a:rPr>
              <a:t>In order to finish implementing this logic equation, we have to OR the proper  terms together.</a:t>
            </a:r>
            <a:endParaRPr lang="en-US" altLang="zh-CN">
              <a:ea typeface="宋体" panose="02010600030101010101" pitchFamily="2" charset="-122"/>
            </a:endParaRPr>
          </a:p>
          <a:p>
            <a:pPr lvl="0"/>
            <a:r>
              <a:rPr lang="en-US" altLang="zh-CN">
                <a:ea typeface="宋体" panose="02010600030101010101" pitchFamily="2" charset="-122"/>
              </a:rPr>
              <a:t>In the case of the </a:t>
            </a:r>
            <a:r>
              <a:rPr lang="en-US" altLang="zh-CN" dirty="0" err="1">
                <a:ea typeface="宋体" panose="02010600030101010101" pitchFamily="2" charset="-122"/>
              </a:rPr>
              <a:t>RegWrite</a:t>
            </a:r>
            <a:r>
              <a:rPr lang="en-US" altLang="zh-CN">
                <a:ea typeface="宋体" panose="02010600030101010101" pitchFamily="2" charset="-122"/>
              </a:rPr>
              <a:t> signal, we need to OR the R-type, </a:t>
            </a:r>
            <a:r>
              <a:rPr lang="en-US" altLang="zh-CN" dirty="0" err="1">
                <a:ea typeface="宋体" panose="02010600030101010101" pitchFamily="2" charset="-122"/>
              </a:rPr>
              <a:t>ORi</a:t>
            </a:r>
            <a:r>
              <a:rPr lang="en-US" altLang="zh-CN">
                <a:ea typeface="宋体" panose="02010600030101010101" pitchFamily="2" charset="-122"/>
              </a:rPr>
              <a:t>, and load terms together.</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67 min. (Y:47)</a:t>
            </a:r>
            <a:endParaRPr lang="en-US" altLang="zh-CN">
              <a:ea typeface="宋体" panose="02010600030101010101" pitchFamily="2" charset="-122"/>
            </a:endParaRPr>
          </a:p>
        </p:txBody>
      </p:sp>
      <p:sp>
        <p:nvSpPr>
          <p:cNvPr id="147458" name="幻灯片图像占位符 287746"/>
          <p:cNvSpPr>
            <a:spLocks noTextEdit="1"/>
          </p:cNvSpPr>
          <p:nvPr>
            <p:ph type="sldImg"/>
          </p:nvPr>
        </p:nvSpPr>
        <p:spPr>
          <a:xfrm>
            <a:off x="1257300" y="644525"/>
            <a:ext cx="4598988" cy="3449638"/>
          </a:xfr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文本占位符 289793"/>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Similarly, for </a:t>
            </a:r>
            <a:r>
              <a:rPr lang="en-US" altLang="zh-CN" dirty="0" err="1">
                <a:ea typeface="宋体" panose="02010600030101010101" pitchFamily="2" charset="-122"/>
              </a:rPr>
              <a:t>ALUSrc</a:t>
            </a:r>
            <a:r>
              <a:rPr lang="en-US" altLang="zh-CN">
                <a:ea typeface="宋体" panose="02010600030101010101" pitchFamily="2" charset="-122"/>
              </a:rPr>
              <a:t>, we need to OR the </a:t>
            </a:r>
            <a:r>
              <a:rPr lang="en-US" altLang="zh-CN" dirty="0" err="1">
                <a:ea typeface="宋体" panose="02010600030101010101" pitchFamily="2" charset="-122"/>
              </a:rPr>
              <a:t>ori</a:t>
            </a:r>
            <a:r>
              <a:rPr lang="en-US" altLang="zh-CN">
                <a:ea typeface="宋体" panose="02010600030101010101" pitchFamily="2" charset="-122"/>
              </a:rPr>
              <a:t>, load, and store terms together because we need to assert the </a:t>
            </a:r>
            <a:r>
              <a:rPr lang="en-US" altLang="zh-CN" dirty="0" err="1">
                <a:ea typeface="宋体" panose="02010600030101010101" pitchFamily="2" charset="-122"/>
              </a:rPr>
              <a:t>ALUSrc</a:t>
            </a:r>
            <a:r>
              <a:rPr lang="en-US" altLang="zh-CN">
                <a:ea typeface="宋体" panose="02010600030101010101" pitchFamily="2" charset="-122"/>
              </a:rPr>
              <a:t> signals whenever we have the </a:t>
            </a:r>
            <a:r>
              <a:rPr lang="en-US" altLang="zh-CN" dirty="0" err="1">
                <a:ea typeface="宋体" panose="02010600030101010101" pitchFamily="2" charset="-122"/>
              </a:rPr>
              <a:t>Ori</a:t>
            </a:r>
            <a:r>
              <a:rPr lang="en-US" altLang="zh-CN">
                <a:ea typeface="宋体" panose="02010600030101010101" pitchFamily="2" charset="-122"/>
              </a:rPr>
              <a:t>, load, or store instructions.</a:t>
            </a:r>
            <a:endParaRPr lang="en-US" altLang="zh-CN">
              <a:ea typeface="宋体" panose="02010600030101010101" pitchFamily="2" charset="-122"/>
            </a:endParaRPr>
          </a:p>
          <a:p>
            <a:pPr lvl="0"/>
            <a:r>
              <a:rPr lang="en-US" altLang="zh-CN">
                <a:ea typeface="宋体" panose="02010600030101010101" pitchFamily="2" charset="-122"/>
              </a:rPr>
              <a:t>The </a:t>
            </a:r>
            <a:r>
              <a:rPr lang="en-US" altLang="zh-CN" dirty="0" err="1">
                <a:ea typeface="宋体" panose="02010600030101010101" pitchFamily="2" charset="-122"/>
              </a:rPr>
              <a:t>RegDst</a:t>
            </a:r>
            <a:r>
              <a:rPr lang="en-US" altLang="zh-CN">
                <a:ea typeface="宋体" panose="02010600030101010101" pitchFamily="2" charset="-122"/>
              </a:rPr>
              <a:t>, </a:t>
            </a:r>
            <a:r>
              <a:rPr lang="en-US" altLang="zh-CN" dirty="0" err="1">
                <a:ea typeface="宋体" panose="02010600030101010101" pitchFamily="2" charset="-122"/>
              </a:rPr>
              <a:t>MemtoReg</a:t>
            </a:r>
            <a:r>
              <a:rPr lang="en-US" altLang="zh-CN">
                <a:ea typeface="宋体" panose="02010600030101010101" pitchFamily="2" charset="-122"/>
              </a:rPr>
              <a:t>, </a:t>
            </a:r>
            <a:r>
              <a:rPr lang="en-US" altLang="zh-CN" dirty="0" err="1">
                <a:ea typeface="宋体" panose="02010600030101010101" pitchFamily="2" charset="-122"/>
              </a:rPr>
              <a:t>MemWrite</a:t>
            </a:r>
            <a:r>
              <a:rPr lang="en-US" altLang="zh-CN">
                <a:ea typeface="宋体" panose="02010600030101010101" pitchFamily="2" charset="-122"/>
              </a:rPr>
              <a:t>, Branch, and Jump signals are very simple.  They don’t need to OR any product terms together because each is asserted for only one instruction.</a:t>
            </a:r>
            <a:endParaRPr lang="en-US" altLang="zh-CN">
              <a:ea typeface="宋体" panose="02010600030101010101" pitchFamily="2" charset="-122"/>
            </a:endParaRPr>
          </a:p>
          <a:p>
            <a:pPr lvl="0"/>
            <a:r>
              <a:rPr lang="en-US" altLang="zh-CN">
                <a:ea typeface="宋体" panose="02010600030101010101" pitchFamily="2" charset="-122"/>
              </a:rPr>
              <a:t>For example, </a:t>
            </a:r>
            <a:r>
              <a:rPr lang="en-US" altLang="zh-CN" dirty="0" err="1">
                <a:ea typeface="宋体" panose="02010600030101010101" pitchFamily="2" charset="-122"/>
              </a:rPr>
              <a:t>RegDst</a:t>
            </a:r>
            <a:r>
              <a:rPr lang="en-US" altLang="zh-CN">
                <a:ea typeface="宋体" panose="02010600030101010101" pitchFamily="2" charset="-122"/>
              </a:rPr>
              <a:t> is asserted ONLY for R-type instruction and </a:t>
            </a:r>
            <a:r>
              <a:rPr lang="en-US" altLang="zh-CN" dirty="0" err="1">
                <a:ea typeface="宋体" panose="02010600030101010101" pitchFamily="2" charset="-122"/>
              </a:rPr>
              <a:t>MemtoReg</a:t>
            </a:r>
            <a:r>
              <a:rPr lang="en-US" altLang="zh-CN">
                <a:ea typeface="宋体" panose="02010600030101010101" pitchFamily="2" charset="-122"/>
              </a:rPr>
              <a:t> is asserted ONLY for load instruction.</a:t>
            </a:r>
            <a:endParaRPr lang="en-US" altLang="zh-CN">
              <a:ea typeface="宋体" panose="02010600030101010101" pitchFamily="2" charset="-122"/>
            </a:endParaRPr>
          </a:p>
          <a:p>
            <a:pPr lvl="0"/>
            <a:r>
              <a:rPr lang="en-US" altLang="zh-CN" dirty="0" err="1">
                <a:ea typeface="宋体" panose="02010600030101010101" pitchFamily="2" charset="-122"/>
              </a:rPr>
              <a:t>ExtOp</a:t>
            </a:r>
            <a:r>
              <a:rPr lang="en-US" altLang="zh-CN">
                <a:ea typeface="宋体" panose="02010600030101010101" pitchFamily="2" charset="-122"/>
              </a:rPr>
              <a:t>, on the other hand, needs to be set to 1 for both the load and store instructions so the immediate field is sign extended properly.</a:t>
            </a:r>
            <a:endParaRPr lang="en-US" altLang="zh-CN">
              <a:ea typeface="宋体" panose="02010600030101010101" pitchFamily="2" charset="-122"/>
            </a:endParaRPr>
          </a:p>
          <a:p>
            <a:pPr lvl="0"/>
            <a:r>
              <a:rPr lang="en-US" altLang="zh-CN">
                <a:ea typeface="宋体" panose="02010600030101010101" pitchFamily="2" charset="-122"/>
              </a:rPr>
              <a:t>Therefore, we need to OR the load and store terms together to form the signal </a:t>
            </a:r>
            <a:r>
              <a:rPr lang="en-US" altLang="zh-CN" dirty="0" err="1">
                <a:ea typeface="宋体" panose="02010600030101010101" pitchFamily="2" charset="-122"/>
              </a:rPr>
              <a:t>ExtOp</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Finally, we have the </a:t>
            </a:r>
            <a:r>
              <a:rPr lang="en-US" altLang="zh-CN" dirty="0" err="1">
                <a:ea typeface="宋体" panose="02010600030101010101" pitchFamily="2" charset="-122"/>
              </a:rPr>
              <a:t>ALUop</a:t>
            </a:r>
            <a:r>
              <a:rPr lang="en-US" altLang="zh-CN">
                <a:ea typeface="宋体" panose="02010600030101010101" pitchFamily="2" charset="-122"/>
              </a:rPr>
              <a:t> signals.</a:t>
            </a:r>
            <a:endParaRPr lang="en-US" altLang="zh-CN">
              <a:ea typeface="宋体" panose="02010600030101010101" pitchFamily="2" charset="-122"/>
            </a:endParaRPr>
          </a:p>
          <a:p>
            <a:pPr lvl="0"/>
            <a:r>
              <a:rPr lang="en-US" altLang="zh-CN">
                <a:ea typeface="宋体" panose="02010600030101010101" pitchFamily="2" charset="-122"/>
              </a:rPr>
              <a:t>But clever encoding of the </a:t>
            </a:r>
            <a:r>
              <a:rPr lang="en-US" altLang="zh-CN" dirty="0" err="1">
                <a:ea typeface="宋体" panose="02010600030101010101" pitchFamily="2" charset="-122"/>
              </a:rPr>
              <a:t>ALUop</a:t>
            </a:r>
            <a:r>
              <a:rPr lang="en-US" altLang="zh-CN">
                <a:ea typeface="宋体" panose="02010600030101010101" pitchFamily="2" charset="-122"/>
              </a:rPr>
              <a:t> field, we are able to keep them simple so that no OR gates is needed.</a:t>
            </a:r>
            <a:endParaRPr lang="en-US" altLang="zh-CN">
              <a:ea typeface="宋体" panose="02010600030101010101" pitchFamily="2" charset="-122"/>
            </a:endParaRPr>
          </a:p>
          <a:p>
            <a:pPr lvl="0"/>
            <a:r>
              <a:rPr lang="en-US" altLang="zh-CN">
                <a:ea typeface="宋体" panose="02010600030101010101" pitchFamily="2" charset="-122"/>
              </a:rPr>
              <a:t>If you don’t already know, this regular structure with an array of AND gates followed by another array of OR gates is called a Programmable Logic Array, or PLA for short.</a:t>
            </a:r>
            <a:endParaRPr lang="en-US" altLang="zh-CN">
              <a:ea typeface="宋体" panose="02010600030101010101" pitchFamily="2" charset="-122"/>
            </a:endParaRPr>
          </a:p>
          <a:p>
            <a:pPr lvl="0"/>
            <a:r>
              <a:rPr lang="en-US" altLang="zh-CN">
                <a:ea typeface="宋体" panose="02010600030101010101" pitchFamily="2" charset="-122"/>
              </a:rPr>
              <a:t>It is one of the most common ways to implement logic function and there are a lot of CAD tools available to simplify them.</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70 min. (Y:50)</a:t>
            </a:r>
            <a:endParaRPr lang="en-US" altLang="zh-CN">
              <a:ea typeface="宋体" panose="02010600030101010101" pitchFamily="2" charset="-122"/>
            </a:endParaRPr>
          </a:p>
        </p:txBody>
      </p:sp>
      <p:sp>
        <p:nvSpPr>
          <p:cNvPr id="149506" name="幻灯片图像占位符 289794"/>
          <p:cNvSpPr>
            <a:spLocks noTextEdit="1"/>
          </p:cNvSpPr>
          <p:nvPr>
            <p:ph type="sldImg"/>
          </p:nvPr>
        </p:nvSpPr>
        <p:spPr>
          <a:xfrm>
            <a:off x="1257300" y="644525"/>
            <a:ext cx="4598988" cy="3449638"/>
          </a:xfr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文本占位符 291841"/>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OK, now that we have the Main Control implemented, we have everything we needed for the single cycle processor and here it is.</a:t>
            </a:r>
            <a:endParaRPr lang="en-US" altLang="zh-CN">
              <a:ea typeface="宋体" panose="02010600030101010101" pitchFamily="2" charset="-122"/>
            </a:endParaRPr>
          </a:p>
          <a:p>
            <a:pPr lvl="0"/>
            <a:r>
              <a:rPr lang="en-US" altLang="zh-CN">
                <a:ea typeface="宋体" panose="02010600030101010101" pitchFamily="2" charset="-122"/>
              </a:rPr>
              <a:t>The Instruction Fetch Unit gives us the instruction.  The OP field is fed to the Main Control for decode and the </a:t>
            </a:r>
            <a:r>
              <a:rPr lang="en-US" altLang="zh-CN" dirty="0" err="1">
                <a:ea typeface="宋体" panose="02010600030101010101" pitchFamily="2" charset="-122"/>
              </a:rPr>
              <a:t>Func</a:t>
            </a:r>
            <a:r>
              <a:rPr lang="en-US" altLang="zh-CN">
                <a:ea typeface="宋体" panose="02010600030101010101" pitchFamily="2" charset="-122"/>
              </a:rPr>
              <a:t> field is fed to the ALU Control for local decoding.</a:t>
            </a:r>
            <a:endParaRPr lang="en-US" altLang="zh-CN">
              <a:ea typeface="宋体" panose="02010600030101010101" pitchFamily="2" charset="-122"/>
            </a:endParaRPr>
          </a:p>
          <a:p>
            <a:pPr lvl="0"/>
            <a:r>
              <a:rPr lang="en-US" altLang="zh-CN">
                <a:ea typeface="宋体" panose="02010600030101010101" pitchFamily="2" charset="-122"/>
              </a:rPr>
              <a:t>The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Rd, and Imm16 fields of the instruction are fed to the data path.</a:t>
            </a:r>
            <a:endParaRPr lang="en-US" altLang="zh-CN">
              <a:ea typeface="宋体" panose="02010600030101010101" pitchFamily="2" charset="-122"/>
            </a:endParaRPr>
          </a:p>
          <a:p>
            <a:pPr lvl="0"/>
            <a:r>
              <a:rPr lang="en-US" altLang="zh-CN">
                <a:ea typeface="宋体" panose="02010600030101010101" pitchFamily="2" charset="-122"/>
              </a:rPr>
              <a:t>Based on the OP field of the instruction, the Main Control  will set the control signals </a:t>
            </a:r>
            <a:r>
              <a:rPr lang="en-US" altLang="zh-CN" dirty="0" err="1">
                <a:ea typeface="宋体" panose="02010600030101010101" pitchFamily="2" charset="-122"/>
              </a:rPr>
              <a:t>RegDst</a:t>
            </a:r>
            <a:r>
              <a:rPr lang="en-US" altLang="zh-CN">
                <a:ea typeface="宋体" panose="02010600030101010101" pitchFamily="2" charset="-122"/>
              </a:rPr>
              <a:t>, </a:t>
            </a:r>
            <a:r>
              <a:rPr lang="en-US" altLang="zh-CN" dirty="0" err="1">
                <a:ea typeface="宋体" panose="02010600030101010101" pitchFamily="2" charset="-122"/>
              </a:rPr>
              <a:t>ALUSrc</a:t>
            </a:r>
            <a:r>
              <a:rPr lang="en-US" altLang="zh-CN">
                <a:ea typeface="宋体" panose="02010600030101010101" pitchFamily="2" charset="-122"/>
              </a:rPr>
              <a:t>, .... etc properly as I showed you earlier using separate slides.</a:t>
            </a:r>
            <a:endParaRPr lang="en-US" altLang="zh-CN">
              <a:ea typeface="宋体" panose="02010600030101010101" pitchFamily="2" charset="-122"/>
            </a:endParaRPr>
          </a:p>
          <a:p>
            <a:pPr lvl="0"/>
            <a:r>
              <a:rPr lang="en-US" altLang="zh-CN">
                <a:ea typeface="宋体" panose="02010600030101010101" pitchFamily="2" charset="-122"/>
              </a:rPr>
              <a:t>Furthermore, the </a:t>
            </a:r>
            <a:r>
              <a:rPr lang="en-US" altLang="zh-CN" dirty="0" err="1">
                <a:ea typeface="宋体" panose="02010600030101010101" pitchFamily="2" charset="-122"/>
              </a:rPr>
              <a:t>ALUctr</a:t>
            </a:r>
            <a:r>
              <a:rPr lang="en-US" altLang="zh-CN">
                <a:ea typeface="宋体" panose="02010600030101010101" pitchFamily="2" charset="-122"/>
              </a:rPr>
              <a:t>  use the </a:t>
            </a:r>
            <a:r>
              <a:rPr lang="en-US" altLang="zh-CN" dirty="0" err="1">
                <a:ea typeface="宋体" panose="02010600030101010101" pitchFamily="2" charset="-122"/>
              </a:rPr>
              <a:t>ALUop</a:t>
            </a:r>
            <a:r>
              <a:rPr lang="en-US" altLang="zh-CN">
                <a:ea typeface="宋体" panose="02010600030101010101" pitchFamily="2" charset="-122"/>
              </a:rPr>
              <a:t> from the Main control and the </a:t>
            </a:r>
            <a:r>
              <a:rPr lang="en-US" altLang="zh-CN" dirty="0" err="1">
                <a:ea typeface="宋体" panose="02010600030101010101" pitchFamily="2" charset="-122"/>
              </a:rPr>
              <a:t>func</a:t>
            </a:r>
            <a:r>
              <a:rPr lang="en-US" altLang="zh-CN">
                <a:ea typeface="宋体" panose="02010600030101010101" pitchFamily="2" charset="-122"/>
              </a:rPr>
              <a:t> field of the instruction to generate the </a:t>
            </a:r>
            <a:r>
              <a:rPr lang="en-US" altLang="zh-CN" dirty="0" err="1">
                <a:ea typeface="宋体" panose="02010600030101010101" pitchFamily="2" charset="-122"/>
              </a:rPr>
              <a:t>ALUctr</a:t>
            </a:r>
            <a:r>
              <a:rPr lang="en-US" altLang="zh-CN">
                <a:ea typeface="宋体" panose="02010600030101010101" pitchFamily="2" charset="-122"/>
              </a:rPr>
              <a:t> signals to ask the ALU to do the right thing: Add, Subtract, Or, and so on.</a:t>
            </a:r>
            <a:endParaRPr lang="en-US" altLang="zh-CN">
              <a:ea typeface="宋体" panose="02010600030101010101" pitchFamily="2" charset="-122"/>
            </a:endParaRPr>
          </a:p>
          <a:p>
            <a:pPr lvl="0"/>
            <a:r>
              <a:rPr lang="en-US" altLang="zh-CN">
                <a:ea typeface="宋体" panose="02010600030101010101" pitchFamily="2" charset="-122"/>
              </a:rPr>
              <a:t>This processor will execute each of the MIPS instruction in the subset  in one cycle.</a:t>
            </a:r>
            <a:endParaRPr lang="en-US" altLang="zh-CN">
              <a:ea typeface="宋体" panose="02010600030101010101" pitchFamily="2" charset="-122"/>
            </a:endParaRPr>
          </a:p>
          <a:p>
            <a:pPr lvl="0"/>
            <a:r>
              <a:rPr lang="en-US" altLang="zh-CN">
                <a:ea typeface="宋体" panose="02010600030101010101" pitchFamily="2" charset="-122"/>
              </a:rPr>
              <a:t>There is, however, a couple of subtle differences between this single-cycle processor and a real MIPS processor in terms of instruction execution.</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72 min (Y:52)</a:t>
            </a:r>
            <a:endParaRPr lang="en-US" altLang="zh-CN">
              <a:ea typeface="宋体" panose="02010600030101010101" pitchFamily="2" charset="-122"/>
            </a:endParaRPr>
          </a:p>
        </p:txBody>
      </p:sp>
      <p:sp>
        <p:nvSpPr>
          <p:cNvPr id="151554" name="幻灯片图像占位符 291842"/>
          <p:cNvSpPr>
            <a:spLocks noTextEdit="1"/>
          </p:cNvSpPr>
          <p:nvPr>
            <p:ph type="sldImg"/>
          </p:nvPr>
        </p:nvSpPr>
        <p:spPr>
          <a:xfrm>
            <a:off x="1257300" y="644525"/>
            <a:ext cx="4598988" cy="3449638"/>
          </a:xfr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文本占位符 293889"/>
          <p:cNvSpPr>
            <a:spLocks noGrp="1"/>
          </p:cNvSpPr>
          <p:nvPr>
            <p:ph type="body"/>
          </p:nvPr>
        </p:nvSpPr>
        <p:spPr>
          <a:xfrm>
            <a:off x="533400" y="4264025"/>
            <a:ext cx="6248400" cy="5459413"/>
          </a:xfrm>
          <a:ln/>
        </p:spPr>
        <p:txBody>
          <a:bodyPr vert="horz" wrap="square" lIns="100746" tIns="49489" rIns="100746" bIns="49489" anchor="t" anchorCtr="0"/>
          <a:p>
            <a:pPr lvl="0"/>
            <a:r>
              <a:rPr lang="en-US" altLang="zh-CN">
                <a:ea typeface="宋体" panose="02010600030101010101" pitchFamily="2" charset="-122"/>
              </a:rPr>
              <a:t>This timing diagram shows the worst case timing of our single cycle </a:t>
            </a:r>
            <a:r>
              <a:rPr lang="en-US" altLang="zh-CN" dirty="0" err="1">
                <a:ea typeface="宋体" panose="02010600030101010101" pitchFamily="2" charset="-122"/>
              </a:rPr>
              <a:t>datapath</a:t>
            </a:r>
            <a:r>
              <a:rPr lang="en-US" altLang="zh-CN">
                <a:ea typeface="宋体" panose="02010600030101010101" pitchFamily="2" charset="-122"/>
              </a:rPr>
              <a:t> which occurs at the load instruction.</a:t>
            </a:r>
            <a:endParaRPr lang="en-US" altLang="zh-CN">
              <a:ea typeface="宋体" panose="02010600030101010101" pitchFamily="2" charset="-122"/>
            </a:endParaRPr>
          </a:p>
          <a:p>
            <a:pPr lvl="0"/>
            <a:r>
              <a:rPr lang="en-US" altLang="zh-CN">
                <a:ea typeface="宋体" panose="02010600030101010101" pitchFamily="2" charset="-122"/>
              </a:rPr>
              <a:t>Clock to Q time after the clock tick, PC will present its new value to the Instruction memory.</a:t>
            </a:r>
            <a:endParaRPr lang="en-US" altLang="zh-CN">
              <a:ea typeface="宋体" panose="02010600030101010101" pitchFamily="2" charset="-122"/>
            </a:endParaRPr>
          </a:p>
          <a:p>
            <a:pPr lvl="0"/>
            <a:r>
              <a:rPr lang="en-US" altLang="zh-CN">
                <a:ea typeface="宋体" panose="02010600030101010101" pitchFamily="2" charset="-122"/>
              </a:rPr>
              <a:t>After a delay of instruction access time, the instruction bus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 becomes valid.</a:t>
            </a:r>
            <a:endParaRPr lang="en-US" altLang="zh-CN">
              <a:ea typeface="宋体" panose="02010600030101010101" pitchFamily="2" charset="-122"/>
            </a:endParaRPr>
          </a:p>
          <a:p>
            <a:pPr lvl="0"/>
            <a:r>
              <a:rPr lang="en-US" altLang="zh-CN">
                <a:ea typeface="宋体" panose="02010600030101010101" pitchFamily="2" charset="-122"/>
              </a:rPr>
              <a:t>Then three things happens in parallel:</a:t>
            </a:r>
            <a:endParaRPr lang="en-US" altLang="zh-CN">
              <a:ea typeface="宋体" panose="02010600030101010101" pitchFamily="2" charset="-122"/>
            </a:endParaRPr>
          </a:p>
          <a:p>
            <a:pPr lvl="0"/>
            <a:r>
              <a:rPr lang="en-US" altLang="zh-CN">
                <a:ea typeface="宋体" panose="02010600030101010101" pitchFamily="2" charset="-122"/>
              </a:rPr>
              <a:t>(a) First the Control generates the control signals (Delay through Control Logic).</a:t>
            </a:r>
            <a:endParaRPr lang="en-US" altLang="zh-CN">
              <a:ea typeface="宋体" panose="02010600030101010101" pitchFamily="2" charset="-122"/>
            </a:endParaRPr>
          </a:p>
          <a:p>
            <a:pPr lvl="0"/>
            <a:r>
              <a:rPr lang="en-US" altLang="zh-CN">
                <a:ea typeface="宋体" panose="02010600030101010101" pitchFamily="2" charset="-122"/>
              </a:rPr>
              <a:t>(b) Secondly, the register file access is to put </a:t>
            </a:r>
            <a:r>
              <a:rPr lang="en-US" altLang="zh-CN" dirty="0" err="1">
                <a:ea typeface="宋体" panose="02010600030101010101" pitchFamily="2" charset="-122"/>
              </a:rPr>
              <a:t>Rs</a:t>
            </a:r>
            <a:r>
              <a:rPr lang="en-US" altLang="zh-CN">
                <a:ea typeface="宋体" panose="02010600030101010101" pitchFamily="2" charset="-122"/>
              </a:rPr>
              <a:t> onto </a:t>
            </a:r>
            <a:r>
              <a:rPr lang="en-US" altLang="zh-CN" dirty="0" err="1">
                <a:ea typeface="宋体" panose="02010600030101010101" pitchFamily="2" charset="-122"/>
              </a:rPr>
              <a:t>busA</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(c) And we have to sign extended the immediate field to get the second operand (</a:t>
            </a:r>
            <a:r>
              <a:rPr lang="en-US" altLang="zh-CN" dirty="0" err="1">
                <a:ea typeface="宋体" panose="02010600030101010101" pitchFamily="2" charset="-122"/>
              </a:rPr>
              <a:t>busB</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Here I assume register file access takes longer time than doing the sign extension so we have to wait until </a:t>
            </a:r>
            <a:r>
              <a:rPr lang="en-US" altLang="zh-CN" dirty="0" err="1">
                <a:ea typeface="宋体" panose="02010600030101010101" pitchFamily="2" charset="-122"/>
              </a:rPr>
              <a:t>busA</a:t>
            </a:r>
            <a:r>
              <a:rPr lang="en-US" altLang="zh-CN">
                <a:ea typeface="宋体" panose="02010600030101010101" pitchFamily="2" charset="-122"/>
              </a:rPr>
              <a:t> valid before the ALU can start the address calculation (ALU delay).</a:t>
            </a:r>
            <a:endParaRPr lang="en-US" altLang="zh-CN">
              <a:ea typeface="宋体" panose="02010600030101010101" pitchFamily="2" charset="-122"/>
            </a:endParaRPr>
          </a:p>
          <a:p>
            <a:pPr lvl="0"/>
            <a:r>
              <a:rPr lang="en-US" altLang="zh-CN">
                <a:ea typeface="宋体" panose="02010600030101010101" pitchFamily="2" charset="-122"/>
              </a:rPr>
              <a:t>With the address ready, we access the data memory and after a delay of the Data Memory Access time, </a:t>
            </a:r>
            <a:r>
              <a:rPr lang="en-US" altLang="zh-CN" dirty="0" err="1">
                <a:ea typeface="宋体" panose="02010600030101010101" pitchFamily="2" charset="-122"/>
              </a:rPr>
              <a:t>busW</a:t>
            </a:r>
            <a:r>
              <a:rPr lang="en-US" altLang="zh-CN">
                <a:ea typeface="宋体" panose="02010600030101010101" pitchFamily="2" charset="-122"/>
              </a:rPr>
              <a:t> will be valid.</a:t>
            </a:r>
            <a:endParaRPr lang="en-US" altLang="zh-CN">
              <a:ea typeface="宋体" panose="02010600030101010101" pitchFamily="2" charset="-122"/>
            </a:endParaRPr>
          </a:p>
          <a:p>
            <a:pPr lvl="0"/>
            <a:r>
              <a:rPr lang="en-US" altLang="zh-CN">
                <a:ea typeface="宋体" panose="02010600030101010101" pitchFamily="2" charset="-122"/>
              </a:rPr>
              <a:t>And by this time, the control unit would have set the </a:t>
            </a:r>
            <a:r>
              <a:rPr lang="en-US" altLang="zh-CN" dirty="0" err="1">
                <a:ea typeface="宋体" panose="02010600030101010101" pitchFamily="2" charset="-122"/>
              </a:rPr>
              <a:t>RegWr</a:t>
            </a:r>
            <a:r>
              <a:rPr lang="en-US" altLang="zh-CN">
                <a:ea typeface="宋体" panose="02010600030101010101" pitchFamily="2" charset="-122"/>
              </a:rPr>
              <a:t> signal to one so at the next clock tick, we will write the new data coming from memory (</a:t>
            </a:r>
            <a:r>
              <a:rPr lang="en-US" altLang="zh-CN" dirty="0" err="1">
                <a:ea typeface="宋体" panose="02010600030101010101" pitchFamily="2" charset="-122"/>
              </a:rPr>
              <a:t>busW</a:t>
            </a:r>
            <a:r>
              <a:rPr lang="en-US" altLang="zh-CN">
                <a:ea typeface="宋体" panose="02010600030101010101" pitchFamily="2" charset="-122"/>
              </a:rPr>
              <a:t>) into the register file.</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77 min. (Y:57)</a:t>
            </a:r>
            <a:endParaRPr lang="en-US" altLang="zh-CN">
              <a:ea typeface="宋体" panose="02010600030101010101" pitchFamily="2" charset="-122"/>
            </a:endParaRPr>
          </a:p>
        </p:txBody>
      </p:sp>
      <p:sp>
        <p:nvSpPr>
          <p:cNvPr id="153602" name="幻灯片图像占位符 293890"/>
          <p:cNvSpPr>
            <a:spLocks noTextEdit="1"/>
          </p:cNvSpPr>
          <p:nvPr>
            <p:ph type="sldImg"/>
          </p:nvPr>
        </p:nvSpPr>
        <p:spPr>
          <a:xfrm>
            <a:off x="1257300" y="644525"/>
            <a:ext cx="4598988" cy="3449638"/>
          </a:xfr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3" name="文本占位符 549889"/>
          <p:cNvSpPr>
            <a:spLocks noGrp="1"/>
          </p:cNvSpPr>
          <p:nvPr>
            <p:ph type="body"/>
          </p:nvPr>
        </p:nvSpPr>
        <p:spPr>
          <a:xfrm>
            <a:off x="533400" y="4094163"/>
            <a:ext cx="6118225" cy="5373687"/>
          </a:xfrm>
          <a:ln/>
        </p:spPr>
        <p:txBody>
          <a:bodyPr vert="horz" wrap="square" lIns="100753" tIns="49493" rIns="100753" bIns="49493" anchor="t" anchorCtr="0"/>
          <a:p>
            <a:pPr lvl="0"/>
            <a:r>
              <a:rPr lang="en-US" altLang="zh-CN">
                <a:ea typeface="宋体" panose="02010600030101010101" pitchFamily="2" charset="-122"/>
              </a:rPr>
              <a:t>Now with the clocking methodology back in your mind, we can think about how the critical path of our “abstract” </a:t>
            </a:r>
            <a:r>
              <a:rPr lang="en-US" altLang="zh-CN" dirty="0" err="1">
                <a:ea typeface="宋体" panose="02010600030101010101" pitchFamily="2" charset="-122"/>
              </a:rPr>
              <a:t>datapath</a:t>
            </a:r>
            <a:r>
              <a:rPr lang="en-US" altLang="zh-CN">
                <a:ea typeface="宋体" panose="02010600030101010101" pitchFamily="2" charset="-122"/>
              </a:rPr>
              <a:t> may look like.</a:t>
            </a:r>
            <a:endParaRPr lang="en-US" altLang="zh-CN">
              <a:ea typeface="宋体" panose="02010600030101010101" pitchFamily="2" charset="-122"/>
            </a:endParaRPr>
          </a:p>
          <a:p>
            <a:pPr lvl="0"/>
            <a:r>
              <a:rPr lang="en-US" altLang="zh-CN">
                <a:ea typeface="宋体" panose="02010600030101010101" pitchFamily="2" charset="-122"/>
              </a:rPr>
              <a:t>One thing to keep in mind about the Register File and Ideal Memory (points to both Instruction and Data) is that the Clock input is a factor ONLY during the write operation.</a:t>
            </a:r>
            <a:endParaRPr lang="en-US" altLang="zh-CN">
              <a:ea typeface="宋体" panose="02010600030101010101" pitchFamily="2" charset="-122"/>
            </a:endParaRPr>
          </a:p>
          <a:p>
            <a:pPr lvl="0"/>
            <a:r>
              <a:rPr lang="en-US" altLang="zh-CN">
                <a:ea typeface="宋体" panose="02010600030101010101" pitchFamily="2" charset="-122"/>
              </a:rPr>
              <a:t>For read operation, the CLK input is not a factor.  The register file and the ideal memory behave as if they are combinational logic.</a:t>
            </a:r>
            <a:endParaRPr lang="en-US" altLang="zh-CN">
              <a:ea typeface="宋体" panose="02010600030101010101" pitchFamily="2" charset="-122"/>
            </a:endParaRPr>
          </a:p>
          <a:p>
            <a:pPr lvl="0"/>
            <a:r>
              <a:rPr lang="en-US" altLang="zh-CN">
                <a:ea typeface="宋体" panose="02010600030101010101" pitchFamily="2" charset="-122"/>
              </a:rPr>
              <a:t>That is you apply an address to the input, then after certain delay, which we called access time, the output is valid.</a:t>
            </a:r>
            <a:endParaRPr lang="en-US" altLang="zh-CN">
              <a:ea typeface="宋体" panose="02010600030101010101" pitchFamily="2" charset="-122"/>
            </a:endParaRPr>
          </a:p>
          <a:p>
            <a:pPr lvl="0"/>
            <a:r>
              <a:rPr lang="en-US" altLang="zh-CN">
                <a:ea typeface="宋体" panose="02010600030101010101" pitchFamily="2" charset="-122"/>
              </a:rPr>
              <a:t>We will come back to these points (point to the “behave” bullets) later in this lecture.</a:t>
            </a:r>
            <a:endParaRPr lang="en-US" altLang="zh-CN">
              <a:ea typeface="宋体" panose="02010600030101010101" pitchFamily="2" charset="-122"/>
            </a:endParaRPr>
          </a:p>
          <a:p>
            <a:pPr lvl="0"/>
            <a:r>
              <a:rPr lang="en-US" altLang="zh-CN">
                <a:ea typeface="宋体" panose="02010600030101010101" pitchFamily="2" charset="-122"/>
              </a:rPr>
              <a:t>But for now, let’s look at this “abstract” </a:t>
            </a:r>
            <a:r>
              <a:rPr lang="en-US" altLang="zh-CN" dirty="0" err="1">
                <a:ea typeface="宋体" panose="02010600030101010101" pitchFamily="2" charset="-122"/>
              </a:rPr>
              <a:t>datapath’s</a:t>
            </a:r>
            <a:r>
              <a:rPr lang="en-US" altLang="zh-CN">
                <a:ea typeface="宋体" panose="02010600030101010101" pitchFamily="2" charset="-122"/>
              </a:rPr>
              <a:t> critical path which occurs when the </a:t>
            </a:r>
            <a:r>
              <a:rPr lang="en-US" altLang="zh-CN" dirty="0" err="1">
                <a:ea typeface="宋体" panose="02010600030101010101" pitchFamily="2" charset="-122"/>
              </a:rPr>
              <a:t>datapath</a:t>
            </a:r>
            <a:r>
              <a:rPr lang="en-US" altLang="zh-CN">
                <a:ea typeface="宋体" panose="02010600030101010101" pitchFamily="2" charset="-122"/>
              </a:rPr>
              <a:t> tries to execute the Load instruction.</a:t>
            </a:r>
            <a:endParaRPr lang="en-US" altLang="zh-CN">
              <a:ea typeface="宋体" panose="02010600030101010101" pitchFamily="2" charset="-122"/>
            </a:endParaRPr>
          </a:p>
          <a:p>
            <a:pPr lvl="0"/>
            <a:r>
              <a:rPr lang="en-US" altLang="zh-CN">
                <a:ea typeface="宋体" panose="02010600030101010101" pitchFamily="2" charset="-122"/>
              </a:rPr>
              <a:t>The time it takes to execute the load instruction are the sum of:</a:t>
            </a:r>
            <a:endParaRPr lang="en-US" altLang="zh-CN">
              <a:ea typeface="宋体" panose="02010600030101010101" pitchFamily="2" charset="-122"/>
            </a:endParaRPr>
          </a:p>
          <a:p>
            <a:pPr lvl="0"/>
            <a:r>
              <a:rPr lang="en-US" altLang="zh-CN">
                <a:ea typeface="宋体" panose="02010600030101010101" pitchFamily="2" charset="-122"/>
              </a:rPr>
              <a:t>(a) The PC’s clock-to-Q time.</a:t>
            </a:r>
            <a:endParaRPr lang="en-US" altLang="zh-CN">
              <a:ea typeface="宋体" panose="02010600030101010101" pitchFamily="2" charset="-122"/>
            </a:endParaRPr>
          </a:p>
          <a:p>
            <a:pPr lvl="0"/>
            <a:r>
              <a:rPr lang="en-US" altLang="zh-CN">
                <a:ea typeface="宋体" panose="02010600030101010101" pitchFamily="2" charset="-122"/>
              </a:rPr>
              <a:t>(b) The instruction memory access time.</a:t>
            </a:r>
            <a:endParaRPr lang="en-US" altLang="zh-CN">
              <a:ea typeface="宋体" panose="02010600030101010101" pitchFamily="2" charset="-122"/>
            </a:endParaRPr>
          </a:p>
          <a:p>
            <a:pPr lvl="0"/>
            <a:r>
              <a:rPr lang="en-US" altLang="zh-CN">
                <a:ea typeface="宋体" panose="02010600030101010101" pitchFamily="2" charset="-122"/>
              </a:rPr>
              <a:t>(c) The time it takes to read the register file.</a:t>
            </a:r>
            <a:endParaRPr lang="en-US" altLang="zh-CN">
              <a:ea typeface="宋体" panose="02010600030101010101" pitchFamily="2" charset="-122"/>
            </a:endParaRPr>
          </a:p>
          <a:p>
            <a:pPr lvl="0"/>
            <a:r>
              <a:rPr lang="en-US" altLang="zh-CN">
                <a:ea typeface="宋体" panose="02010600030101010101" pitchFamily="2" charset="-122"/>
              </a:rPr>
              <a:t>(d) The ALU delay in calculating the Data Memory Address.</a:t>
            </a:r>
            <a:endParaRPr lang="en-US" altLang="zh-CN">
              <a:ea typeface="宋体" panose="02010600030101010101" pitchFamily="2" charset="-122"/>
            </a:endParaRPr>
          </a:p>
          <a:p>
            <a:pPr lvl="0"/>
            <a:r>
              <a:rPr lang="en-US" altLang="zh-CN">
                <a:ea typeface="宋体" panose="02010600030101010101" pitchFamily="2" charset="-122"/>
              </a:rPr>
              <a:t>(e) The time it takes to read the Data Memory.</a:t>
            </a:r>
            <a:endParaRPr lang="en-US" altLang="zh-CN">
              <a:ea typeface="宋体" panose="02010600030101010101" pitchFamily="2" charset="-122"/>
            </a:endParaRPr>
          </a:p>
          <a:p>
            <a:pPr lvl="0"/>
            <a:r>
              <a:rPr lang="en-US" altLang="zh-CN">
                <a:ea typeface="宋体" panose="02010600030101010101" pitchFamily="2" charset="-122"/>
              </a:rPr>
              <a:t>(f) And finally, the setup time for the register file and clock skew.</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21 (Y:01)</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Complement:</a:t>
            </a:r>
            <a:endParaRPr lang="en-US" altLang="zh-CN">
              <a:ea typeface="宋体" panose="02010600030101010101" pitchFamily="2" charset="-122"/>
            </a:endParaRPr>
          </a:p>
          <a:p>
            <a:pPr lvl="0"/>
            <a:r>
              <a:rPr lang="en-US" altLang="zh-CN">
                <a:ea typeface="宋体" panose="02010600030101010101" pitchFamily="2" charset="-122"/>
              </a:rPr>
              <a:t>Clock skew(B-40): </a:t>
            </a:r>
            <a:endParaRPr lang="en-US" altLang="zh-CN">
              <a:ea typeface="宋体" panose="02010600030101010101" pitchFamily="2" charset="-122"/>
            </a:endParaRPr>
          </a:p>
        </p:txBody>
      </p:sp>
      <p:sp>
        <p:nvSpPr>
          <p:cNvPr id="161794" name="幻灯片图像占位符 549890"/>
          <p:cNvSpPr>
            <a:spLocks noTextEdit="1"/>
          </p:cNvSpPr>
          <p:nvPr>
            <p:ph type="sldImg"/>
          </p:nvPr>
        </p:nvSpPr>
        <p:spPr>
          <a:xfrm>
            <a:off x="1427163" y="644525"/>
            <a:ext cx="4259262" cy="3194050"/>
          </a:xfr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文本占位符 529409"/>
          <p:cNvSpPr>
            <a:spLocks noGrp="1"/>
          </p:cNvSpPr>
          <p:nvPr>
            <p:ph type="body"/>
          </p:nvPr>
        </p:nvSpPr>
        <p:spPr>
          <a:xfrm>
            <a:off x="533400" y="4651375"/>
            <a:ext cx="6118225" cy="4816475"/>
          </a:xfrm>
          <a:ln/>
        </p:spPr>
        <p:txBody>
          <a:bodyPr vert="horz" wrap="square" lIns="100277" tIns="49259" rIns="100277" bIns="49259" anchor="t" anchorCtr="0"/>
          <a:p>
            <a:pPr lvl="0"/>
            <a:r>
              <a:rPr lang="en-US" altLang="zh-CN">
                <a:ea typeface="宋体" panose="02010600030101010101" pitchFamily="2" charset="-122"/>
              </a:rPr>
              <a:t>Here are the timing diagrams showing the differences between the single cycle, multiple cycle, and pipeline implementations.</a:t>
            </a:r>
            <a:endParaRPr lang="en-US" altLang="zh-CN">
              <a:ea typeface="宋体" panose="02010600030101010101" pitchFamily="2" charset="-122"/>
            </a:endParaRPr>
          </a:p>
          <a:p>
            <a:pPr lvl="0"/>
            <a:r>
              <a:rPr lang="en-US" altLang="zh-CN">
                <a:ea typeface="宋体" panose="02010600030101010101" pitchFamily="2" charset="-122"/>
              </a:rPr>
              <a:t>For example, in the pipeline implementation, we can finish executing the Load, Store, and R-type instruction sequence in seven cycles.</a:t>
            </a:r>
            <a:endParaRPr lang="en-US" altLang="zh-CN">
              <a:ea typeface="宋体" panose="02010600030101010101" pitchFamily="2" charset="-122"/>
            </a:endParaRPr>
          </a:p>
          <a:p>
            <a:pPr lvl="0"/>
            <a:r>
              <a:rPr lang="en-US" altLang="zh-CN">
                <a:ea typeface="宋体" panose="02010600030101010101" pitchFamily="2" charset="-122"/>
              </a:rPr>
              <a:t>In the multiple clock cycle implementation, however, we cannot start executing the store until Cycle 6 because we must wait for the load instruction to  complete.</a:t>
            </a:r>
            <a:endParaRPr lang="en-US" altLang="zh-CN">
              <a:ea typeface="宋体" panose="02010600030101010101" pitchFamily="2" charset="-122"/>
            </a:endParaRPr>
          </a:p>
          <a:p>
            <a:pPr lvl="0"/>
            <a:r>
              <a:rPr lang="en-US" altLang="zh-CN">
                <a:ea typeface="宋体" panose="02010600030101010101" pitchFamily="2" charset="-122"/>
              </a:rPr>
              <a:t>Similarly, we cannot start the execution of the R-type instruction until the store instruction has completed its execution in Cycle 9.</a:t>
            </a:r>
            <a:endParaRPr lang="en-US" altLang="zh-CN">
              <a:ea typeface="宋体" panose="02010600030101010101" pitchFamily="2" charset="-122"/>
            </a:endParaRPr>
          </a:p>
          <a:p>
            <a:pPr lvl="0"/>
            <a:r>
              <a:rPr lang="en-US" altLang="zh-CN">
                <a:ea typeface="宋体" panose="02010600030101010101" pitchFamily="2" charset="-122"/>
              </a:rPr>
              <a:t>In the Single Cycle implementation, the cycle time is set to accommodate the longest instruction, the Load instruction.</a:t>
            </a:r>
            <a:endParaRPr lang="en-US" altLang="zh-CN">
              <a:ea typeface="宋体" panose="02010600030101010101" pitchFamily="2" charset="-122"/>
            </a:endParaRPr>
          </a:p>
          <a:p>
            <a:pPr lvl="0"/>
            <a:r>
              <a:rPr lang="en-US" altLang="zh-CN">
                <a:ea typeface="宋体" panose="02010600030101010101" pitchFamily="2" charset="-122"/>
              </a:rPr>
              <a:t>Consequently, the cycle time for the Single Cycle implementation can be five times longer than the multiple cycle implementation.</a:t>
            </a:r>
            <a:endParaRPr lang="en-US" altLang="zh-CN">
              <a:ea typeface="宋体" panose="02010600030101010101" pitchFamily="2" charset="-122"/>
            </a:endParaRPr>
          </a:p>
          <a:p>
            <a:pPr lvl="0"/>
            <a:r>
              <a:rPr lang="en-US" altLang="zh-CN">
                <a:ea typeface="宋体" panose="02010600030101010101" pitchFamily="2" charset="-122"/>
              </a:rPr>
              <a:t>But may be more importantly, since the cycle time has to be long enough for the load instruction, it is too long for the store instruction so the last part of the cycle here is wasted.</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77 min. (X:57)</a:t>
            </a:r>
            <a:endParaRPr lang="en-US" altLang="zh-CN">
              <a:ea typeface="宋体" panose="02010600030101010101" pitchFamily="2" charset="-122"/>
            </a:endParaRPr>
          </a:p>
        </p:txBody>
      </p:sp>
      <p:sp>
        <p:nvSpPr>
          <p:cNvPr id="163842" name="幻灯片图像占位符 529410"/>
          <p:cNvSpPr>
            <a:spLocks noTextEdit="1"/>
          </p:cNvSpPr>
          <p:nvPr>
            <p:ph type="sldImg"/>
          </p:nvPr>
        </p:nvSpPr>
        <p:spPr>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7" name="文本占位符 565249"/>
          <p:cNvSpPr>
            <a:spLocks noGrp="1"/>
          </p:cNvSpPr>
          <p:nvPr>
            <p:ph type="body"/>
          </p:nvPr>
        </p:nvSpPr>
        <p:spPr>
          <a:xfrm>
            <a:off x="533400" y="4651375"/>
            <a:ext cx="6118225" cy="4816475"/>
          </a:xfrm>
          <a:ln/>
        </p:spPr>
        <p:txBody>
          <a:bodyPr vert="horz" wrap="square" lIns="100277" tIns="49259" rIns="100277" bIns="49259" anchor="t" anchorCtr="0"/>
          <a:p>
            <a:pPr lvl="0"/>
            <a:r>
              <a:rPr lang="en-US" altLang="zh-CN">
                <a:ea typeface="宋体" panose="02010600030101010101" pitchFamily="2" charset="-122"/>
              </a:rPr>
              <a:t>The pipelined </a:t>
            </a:r>
            <a:r>
              <a:rPr lang="en-US" altLang="zh-CN" dirty="0" err="1">
                <a:ea typeface="宋体" panose="02010600030101010101" pitchFamily="2" charset="-122"/>
              </a:rPr>
              <a:t>datapath</a:t>
            </a:r>
            <a:r>
              <a:rPr lang="en-US" altLang="zh-CN">
                <a:ea typeface="宋体" panose="02010600030101010101" pitchFamily="2" charset="-122"/>
              </a:rPr>
              <a:t> consists of combination logic blocks separated by pipeline registers. If you get rid of all these registers (not the PC), this pipelined </a:t>
            </a:r>
            <a:r>
              <a:rPr lang="en-US" altLang="zh-CN" dirty="0" err="1">
                <a:ea typeface="宋体" panose="02010600030101010101" pitchFamily="2" charset="-122"/>
              </a:rPr>
              <a:t>datapath</a:t>
            </a:r>
            <a:r>
              <a:rPr lang="en-US" altLang="zh-CN">
                <a:ea typeface="宋体" panose="02010600030101010101" pitchFamily="2" charset="-122"/>
              </a:rPr>
              <a:t> is reduced to the single-cycle </a:t>
            </a:r>
            <a:r>
              <a:rPr lang="en-US" altLang="zh-CN" dirty="0" err="1">
                <a:ea typeface="宋体" panose="02010600030101010101" pitchFamily="2" charset="-122"/>
              </a:rPr>
              <a:t>datapath</a:t>
            </a:r>
            <a:r>
              <a:rPr lang="en-US" altLang="zh-CN">
                <a:ea typeface="宋体" panose="02010600030101010101" pitchFamily="2" charset="-122"/>
              </a:rPr>
              <a:t>.</a:t>
            </a:r>
            <a:endParaRPr lang="en-US" altLang="zh-CN">
              <a:ea typeface="宋体" panose="02010600030101010101" pitchFamily="2" charset="-122"/>
            </a:endParaRPr>
          </a:p>
          <a:p>
            <a:pPr lvl="0"/>
            <a:r>
              <a:rPr lang="en-US" altLang="zh-CN">
                <a:ea typeface="宋体" panose="02010600030101010101" pitchFamily="2" charset="-122"/>
              </a:rPr>
              <a:t>This should give you extra incentive to do a good job on your single cycle processor design homework because you can build your pipeline design based on your single cycle design.</a:t>
            </a:r>
            <a:endParaRPr lang="en-US" altLang="zh-CN">
              <a:ea typeface="宋体" panose="02010600030101010101" pitchFamily="2" charset="-122"/>
            </a:endParaRPr>
          </a:p>
          <a:p>
            <a:pPr lvl="0"/>
            <a:r>
              <a:rPr lang="en-US" altLang="zh-CN">
                <a:ea typeface="宋体" panose="02010600030101010101" pitchFamily="2" charset="-122"/>
              </a:rPr>
              <a:t>Anyway, the registers mark the beginning and the end of a pipe stage.</a:t>
            </a:r>
            <a:endParaRPr lang="en-US" altLang="zh-CN">
              <a:ea typeface="宋体" panose="02010600030101010101" pitchFamily="2" charset="-122"/>
            </a:endParaRPr>
          </a:p>
          <a:p>
            <a:pPr lvl="0"/>
            <a:r>
              <a:rPr lang="en-US" altLang="zh-CN">
                <a:ea typeface="宋体" panose="02010600030101010101" pitchFamily="2" charset="-122"/>
              </a:rPr>
              <a:t>In the multiple clock cycle lecture, I recommended that the best way to think about a logic clock cycle is that it begins slightly after the clock tick and ends right at the next clock tick.</a:t>
            </a:r>
            <a:endParaRPr lang="en-US" altLang="zh-CN">
              <a:ea typeface="宋体" panose="02010600030101010101" pitchFamily="2" charset="-122"/>
            </a:endParaRPr>
          </a:p>
          <a:p>
            <a:pPr lvl="0"/>
            <a:r>
              <a:rPr lang="en-US" altLang="zh-CN">
                <a:ea typeface="宋体" panose="02010600030101010101" pitchFamily="2" charset="-122"/>
              </a:rPr>
              <a:t>For example here, the </a:t>
            </a:r>
            <a:r>
              <a:rPr lang="en-US" altLang="zh-CN" dirty="0" err="1">
                <a:ea typeface="宋体" panose="02010600030101010101" pitchFamily="2" charset="-122"/>
              </a:rPr>
              <a:t>Reg</a:t>
            </a:r>
            <a:r>
              <a:rPr lang="en-US" altLang="zh-CN">
                <a:ea typeface="宋体" panose="02010600030101010101" pitchFamily="2" charset="-122"/>
              </a:rPr>
              <a:t>/Decode stage begins slightly after this clock tick when the output of the IF/ID register has  stabilized to its new value AND ends RIGHT at the next clock tick when the output of the register file is clocked into the ID/Exec register.</a:t>
            </a:r>
            <a:endParaRPr lang="en-US" altLang="zh-CN">
              <a:ea typeface="宋体" panose="02010600030101010101" pitchFamily="2" charset="-122"/>
            </a:endParaRPr>
          </a:p>
          <a:p>
            <a:pPr lvl="0"/>
            <a:r>
              <a:rPr lang="en-US" altLang="zh-CN">
                <a:ea typeface="宋体" panose="02010600030101010101" pitchFamily="2" charset="-122"/>
              </a:rPr>
              <a:t>At the end of the </a:t>
            </a:r>
            <a:r>
              <a:rPr lang="en-US" altLang="zh-CN" dirty="0" err="1">
                <a:ea typeface="宋体" panose="02010600030101010101" pitchFamily="2" charset="-122"/>
              </a:rPr>
              <a:t>Reg</a:t>
            </a:r>
            <a:r>
              <a:rPr lang="en-US" altLang="zh-CN">
                <a:ea typeface="宋体" panose="02010600030101010101" pitchFamily="2" charset="-122"/>
              </a:rPr>
              <a:t>/Decode stage, the register output that just clocked into the ID/Exec register has NOT yet propagate to the register output yet.  It takes a </a:t>
            </a:r>
            <a:r>
              <a:rPr lang="en-US" altLang="zh-CN" dirty="0" err="1">
                <a:ea typeface="宋体" panose="02010600030101010101" pitchFamily="2" charset="-122"/>
              </a:rPr>
              <a:t>Clk</a:t>
            </a:r>
            <a:r>
              <a:rPr lang="en-US" altLang="zh-CN">
                <a:ea typeface="宋体" panose="02010600030101010101" pitchFamily="2" charset="-122"/>
              </a:rPr>
              <a:t>-to-Q delay.</a:t>
            </a:r>
            <a:endParaRPr lang="en-US" altLang="zh-CN">
              <a:ea typeface="宋体" panose="02010600030101010101" pitchFamily="2" charset="-122"/>
            </a:endParaRPr>
          </a:p>
          <a:p>
            <a:pPr lvl="0"/>
            <a:r>
              <a:rPr lang="en-US" altLang="zh-CN">
                <a:ea typeface="宋体" panose="02010600030101010101" pitchFamily="2" charset="-122"/>
              </a:rPr>
              <a:t>When the new value we just clocked in (points to the clock tick) has propagate to the register output, then we have reach the beginning of the Exec stage.</a:t>
            </a:r>
            <a:endParaRPr lang="en-US" altLang="zh-CN">
              <a:ea typeface="宋体" panose="02010600030101010101" pitchFamily="2" charset="-122"/>
            </a:endParaRPr>
          </a:p>
          <a:p>
            <a:pPr lvl="0"/>
            <a:r>
              <a:rPr lang="en-US" altLang="zh-CN">
                <a:ea typeface="宋体" panose="02010600030101010101" pitchFamily="2" charset="-122"/>
              </a:rPr>
              <a:t>Notice that the </a:t>
            </a:r>
            <a:r>
              <a:rPr lang="en-US" altLang="zh-CN" dirty="0" err="1">
                <a:ea typeface="宋体" panose="02010600030101010101" pitchFamily="2" charset="-122"/>
              </a:rPr>
              <a:t>Wr</a:t>
            </a:r>
            <a:r>
              <a:rPr lang="en-US" altLang="zh-CN">
                <a:ea typeface="宋体" panose="02010600030101010101" pitchFamily="2" charset="-122"/>
              </a:rPr>
              <a:t> stage of the pipeline starts here (last cycle) but there is no corresponding </a:t>
            </a:r>
            <a:r>
              <a:rPr lang="en-US" altLang="zh-CN" dirty="0" err="1">
                <a:ea typeface="宋体" panose="02010600030101010101" pitchFamily="2" charset="-122"/>
              </a:rPr>
              <a:t>datapath</a:t>
            </a:r>
            <a:r>
              <a:rPr lang="en-US" altLang="zh-CN">
                <a:ea typeface="宋体" panose="02010600030101010101" pitchFamily="2" charset="-122"/>
              </a:rPr>
              <a:t> underneath it because the </a:t>
            </a:r>
            <a:r>
              <a:rPr lang="en-US" altLang="zh-CN" dirty="0" err="1">
                <a:ea typeface="宋体" panose="02010600030101010101" pitchFamily="2" charset="-122"/>
              </a:rPr>
              <a:t>Wr</a:t>
            </a:r>
            <a:r>
              <a:rPr lang="en-US" altLang="zh-CN">
                <a:ea typeface="宋体" panose="02010600030101010101" pitchFamily="2" charset="-122"/>
              </a:rPr>
              <a:t> stage of the pipeline is handled by the same part of the pipeline that handles the Register Read stage.</a:t>
            </a:r>
            <a:endParaRPr lang="en-US" altLang="zh-CN">
              <a:ea typeface="宋体" panose="02010600030101010101" pitchFamily="2" charset="-122"/>
            </a:endParaRPr>
          </a:p>
          <a:p>
            <a:pPr lvl="0"/>
            <a:r>
              <a:rPr lang="en-US" altLang="zh-CN">
                <a:ea typeface="宋体" panose="02010600030101010101" pitchFamily="2" charset="-122"/>
              </a:rPr>
              <a:t>This part of the </a:t>
            </a:r>
            <a:r>
              <a:rPr lang="en-US" altLang="zh-CN" dirty="0" err="1">
                <a:ea typeface="宋体" panose="02010600030101010101" pitchFamily="2" charset="-122"/>
              </a:rPr>
              <a:t>datapath</a:t>
            </a:r>
            <a:r>
              <a:rPr lang="en-US" altLang="zh-CN">
                <a:ea typeface="宋体" panose="02010600030101010101" pitchFamily="2" charset="-122"/>
              </a:rPr>
              <a:t> (</a:t>
            </a:r>
            <a:r>
              <a:rPr lang="en-US" altLang="zh-CN" dirty="0" err="1">
                <a:ea typeface="宋体" panose="02010600030101010101" pitchFamily="2" charset="-122"/>
              </a:rPr>
              <a:t>Reg</a:t>
            </a:r>
            <a:r>
              <a:rPr lang="en-US" altLang="zh-CN">
                <a:ea typeface="宋体" panose="02010600030101010101" pitchFamily="2" charset="-122"/>
              </a:rPr>
              <a:t> File) is the only part that is used by more than one stage of the pipeline. This is OK because the register file has independent Read and Write ports.</a:t>
            </a:r>
            <a:endParaRPr lang="en-US" altLang="zh-CN">
              <a:ea typeface="宋体" panose="02010600030101010101" pitchFamily="2" charset="-122"/>
            </a:endParaRPr>
          </a:p>
          <a:p>
            <a:pPr lvl="0"/>
            <a:r>
              <a:rPr lang="en-US" altLang="zh-CN">
                <a:ea typeface="宋体" panose="02010600030101010101" pitchFamily="2" charset="-122"/>
              </a:rPr>
              <a:t>More specifically, the </a:t>
            </a:r>
            <a:r>
              <a:rPr lang="en-US" altLang="zh-CN" dirty="0" err="1">
                <a:ea typeface="宋体" panose="02010600030101010101" pitchFamily="2" charset="-122"/>
              </a:rPr>
              <a:t>Reg</a:t>
            </a:r>
            <a:r>
              <a:rPr lang="en-US" altLang="zh-CN">
                <a:ea typeface="宋体" panose="02010600030101010101" pitchFamily="2" charset="-122"/>
              </a:rPr>
              <a:t>/Decode stage of the pipeline uses the register file’s read port while the Write Back stage of the pipeline uses the register file’s write port.</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+3 = 32 min. (Y:12) </a:t>
            </a:r>
            <a:endParaRPr lang="en-US" altLang="zh-CN" b="1">
              <a:ea typeface="宋体" panose="02010600030101010101" pitchFamily="2" charset="-122"/>
            </a:endParaRPr>
          </a:p>
        </p:txBody>
      </p:sp>
      <p:sp>
        <p:nvSpPr>
          <p:cNvPr id="178178" name="幻灯片图像占位符 565250"/>
          <p:cNvSpPr>
            <a:spLocks noTextEdit="1"/>
          </p:cNvSpPr>
          <p:nvPr>
            <p:ph type="sldImg"/>
          </p:nvPr>
        </p:nvSpPr>
        <p:spPr>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文本占位符 535553"/>
          <p:cNvSpPr>
            <a:spLocks noGrp="1"/>
          </p:cNvSpPr>
          <p:nvPr>
            <p:ph type="body"/>
          </p:nvPr>
        </p:nvSpPr>
        <p:spPr>
          <a:xfrm>
            <a:off x="533400" y="4651375"/>
            <a:ext cx="6118225" cy="4816475"/>
          </a:xfrm>
          <a:ln/>
        </p:spPr>
        <p:txBody>
          <a:bodyPr vert="horz" wrap="square" lIns="100277" tIns="49259" rIns="100277" bIns="49259" anchor="t" anchorCtr="0"/>
          <a:p>
            <a:pPr lvl="0"/>
            <a:r>
              <a:rPr lang="en-US" altLang="zh-CN">
                <a:ea typeface="宋体" panose="02010600030101010101" pitchFamily="2" charset="-122"/>
              </a:rPr>
              <a:t>Well, let’s look at a more complex example so I can show you how different instructions at different stages of execution can be processed by our pipelined </a:t>
            </a:r>
            <a:r>
              <a:rPr lang="en-US" altLang="zh-CN" dirty="0" err="1">
                <a:ea typeface="宋体" panose="02010600030101010101" pitchFamily="2" charset="-122"/>
              </a:rPr>
              <a:t>datapath</a:t>
            </a:r>
            <a:r>
              <a:rPr lang="en-US" altLang="zh-CN">
                <a:ea typeface="宋体" panose="02010600030101010101" pitchFamily="2" charset="-122"/>
              </a:rPr>
              <a:t> simultaneously.</a:t>
            </a:r>
            <a:endParaRPr lang="en-US" altLang="zh-CN">
              <a:ea typeface="宋体" panose="02010600030101010101" pitchFamily="2" charset="-122"/>
            </a:endParaRPr>
          </a:p>
          <a:p>
            <a:pPr lvl="0"/>
            <a:r>
              <a:rPr lang="en-US" altLang="zh-CN">
                <a:ea typeface="宋体" panose="02010600030101010101" pitchFamily="2" charset="-122"/>
              </a:rPr>
              <a:t>Let’s consider the following instruction sequence: Load, R-type, Store, and then Branch on equal to target address 1000.</a:t>
            </a:r>
            <a:endParaRPr lang="en-US" altLang="zh-CN">
              <a:ea typeface="宋体" panose="02010600030101010101" pitchFamily="2" charset="-122"/>
            </a:endParaRPr>
          </a:p>
          <a:p>
            <a:pPr lvl="0"/>
            <a:r>
              <a:rPr lang="en-US" altLang="zh-CN">
                <a:ea typeface="宋体" panose="02010600030101010101" pitchFamily="2" charset="-122"/>
              </a:rPr>
              <a:t>In the next four slides, I will show you the state of the </a:t>
            </a:r>
            <a:r>
              <a:rPr lang="en-US" altLang="zh-CN" dirty="0" err="1">
                <a:ea typeface="宋体" panose="02010600030101010101" pitchFamily="2" charset="-122"/>
              </a:rPr>
              <a:t>datapath</a:t>
            </a:r>
            <a:r>
              <a:rPr lang="en-US" altLang="zh-CN">
                <a:ea typeface="宋体" panose="02010600030101010101" pitchFamily="2" charset="-122"/>
              </a:rPr>
              <a:t> at the end of Cycle 4, Cycle 5, Cycle 6 and Cycle 7.</a:t>
            </a:r>
            <a:endParaRPr lang="en-US" altLang="zh-CN">
              <a:ea typeface="宋体" panose="02010600030101010101" pitchFamily="2" charset="-122"/>
            </a:endParaRPr>
          </a:p>
          <a:p>
            <a:pPr lvl="0"/>
            <a:r>
              <a:rPr lang="en-US" altLang="zh-CN">
                <a:ea typeface="宋体" panose="02010600030101010101" pitchFamily="2" charset="-122"/>
              </a:rPr>
              <a:t>First let’s take a look at the end of Cycle 4 where:</a:t>
            </a:r>
            <a:endParaRPr lang="en-US" altLang="zh-CN">
              <a:ea typeface="宋体" panose="02010600030101010101" pitchFamily="2" charset="-122"/>
            </a:endParaRPr>
          </a:p>
          <a:p>
            <a:pPr lvl="0"/>
            <a:r>
              <a:rPr lang="en-US" altLang="zh-CN">
                <a:ea typeface="宋体" panose="02010600030101010101" pitchFamily="2" charset="-122"/>
              </a:rPr>
              <a:t>(a) The Load instruction has just finished its </a:t>
            </a:r>
            <a:r>
              <a:rPr lang="en-US" altLang="zh-CN" dirty="0" err="1">
                <a:ea typeface="宋体" panose="02010600030101010101" pitchFamily="2" charset="-122"/>
              </a:rPr>
              <a:t>Mem</a:t>
            </a:r>
            <a:r>
              <a:rPr lang="en-US" altLang="zh-CN">
                <a:ea typeface="宋体" panose="02010600030101010101" pitchFamily="2" charset="-122"/>
              </a:rPr>
              <a:t> stage.</a:t>
            </a:r>
            <a:endParaRPr lang="en-US" altLang="zh-CN">
              <a:ea typeface="宋体" panose="02010600030101010101" pitchFamily="2" charset="-122"/>
            </a:endParaRPr>
          </a:p>
          <a:p>
            <a:pPr lvl="0"/>
            <a:r>
              <a:rPr lang="en-US" altLang="zh-CN">
                <a:ea typeface="宋体" panose="02010600030101010101" pitchFamily="2" charset="-122"/>
              </a:rPr>
              <a:t>(b) The R-type instruction has just finished its Exec stage.</a:t>
            </a:r>
            <a:endParaRPr lang="en-US" altLang="zh-CN">
              <a:ea typeface="宋体" panose="02010600030101010101" pitchFamily="2" charset="-122"/>
            </a:endParaRPr>
          </a:p>
          <a:p>
            <a:pPr lvl="0"/>
            <a:r>
              <a:rPr lang="en-US" altLang="zh-CN">
                <a:ea typeface="宋体" panose="02010600030101010101" pitchFamily="2" charset="-122"/>
              </a:rPr>
              <a:t>(c) The Store instruction has just finished its Register Fetch slash Instruction Decode stage.</a:t>
            </a:r>
            <a:endParaRPr lang="en-US" altLang="zh-CN">
              <a:ea typeface="宋体" panose="02010600030101010101" pitchFamily="2" charset="-122"/>
            </a:endParaRPr>
          </a:p>
          <a:p>
            <a:pPr lvl="0"/>
            <a:r>
              <a:rPr lang="en-US" altLang="zh-CN">
                <a:ea typeface="宋体" panose="02010600030101010101" pitchFamily="2" charset="-122"/>
              </a:rPr>
              <a:t>(d) And finally, the Branch instruction has just finish fetching the instruction.</a:t>
            </a:r>
            <a:endParaRPr lang="en-US" altLang="zh-CN">
              <a:ea typeface="宋体" panose="02010600030101010101" pitchFamily="2" charset="-122"/>
            </a:endParaRPr>
          </a:p>
          <a:p>
            <a:pPr lvl="0"/>
            <a:r>
              <a:rPr lang="en-US" altLang="zh-CN">
                <a:ea typeface="宋体" panose="02010600030101010101" pitchFamily="2" charset="-122"/>
              </a:rPr>
              <a:t>Remember now, the next four pictures we will be looking at are at the end of a clock cycle.  That is right at the clock tick.</a:t>
            </a:r>
            <a:endParaRPr lang="en-US" altLang="zh-CN">
              <a:ea typeface="宋体" panose="02010600030101010101" pitchFamily="2" charset="-122"/>
            </a:endParaRPr>
          </a:p>
          <a:p>
            <a:pPr lvl="0"/>
            <a:endParaRPr lang="en-US" altLang="zh-CN">
              <a:ea typeface="宋体" panose="02010600030101010101" pitchFamily="2" charset="-122"/>
            </a:endParaRPr>
          </a:p>
          <a:p>
            <a:pPr lvl="0"/>
            <a:r>
              <a:rPr lang="en-US" altLang="zh-CN">
                <a:ea typeface="宋体" panose="02010600030101010101" pitchFamily="2" charset="-122"/>
              </a:rPr>
              <a:t>+2 = 59 min. (Y:39)</a:t>
            </a:r>
            <a:endParaRPr lang="en-US" altLang="zh-CN">
              <a:ea typeface="宋体" panose="02010600030101010101" pitchFamily="2" charset="-122"/>
            </a:endParaRPr>
          </a:p>
        </p:txBody>
      </p:sp>
      <p:sp>
        <p:nvSpPr>
          <p:cNvPr id="180226" name="幻灯片图像占位符 535554"/>
          <p:cNvSpPr>
            <a:spLocks noTextEdit="1"/>
          </p:cNvSpPr>
          <p:nvPr>
            <p:ph type="sldImg"/>
          </p:nvPr>
        </p:nvSpPr>
        <p:spPr>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1" name="幻灯片图像占位符 573441"/>
          <p:cNvSpPr>
            <a:spLocks noTextEdit="1"/>
          </p:cNvSpPr>
          <p:nvPr>
            <p:ph type="sldImg"/>
          </p:nvPr>
        </p:nvSpPr>
        <p:spPr>
          <a:xfrm>
            <a:off x="989013" y="644525"/>
            <a:ext cx="5133975" cy="3851275"/>
          </a:xfrm>
          <a:ln/>
        </p:spPr>
      </p:sp>
      <p:sp>
        <p:nvSpPr>
          <p:cNvPr id="184322" name="文本占位符 573442"/>
          <p:cNvSpPr>
            <a:spLocks noGrp="1"/>
          </p:cNvSpPr>
          <p:nvPr>
            <p:ph type="body"/>
          </p:nvPr>
        </p:nvSpPr>
        <p:spPr>
          <a:xfrm>
            <a:off x="533400" y="4605338"/>
            <a:ext cx="6118225" cy="4862512"/>
          </a:xfrm>
          <a:ln/>
        </p:spPr>
        <p:txBody>
          <a:bodyPr lIns="100269" tIns="49255" rIns="100269" bIns="49255" anchor="t" anchorCtr="0"/>
          <a:p>
            <a:pPr lvl="0"/>
            <a:endParaRPr lang="zh-CN" altLang="en-US" dirty="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69" name="幻灯片图像占位符 576513"/>
          <p:cNvSpPr>
            <a:spLocks noTextEdit="1"/>
          </p:cNvSpPr>
          <p:nvPr>
            <p:ph type="sldImg"/>
          </p:nvPr>
        </p:nvSpPr>
        <p:spPr>
          <a:xfrm>
            <a:off x="989013" y="644525"/>
            <a:ext cx="5133975" cy="3851275"/>
          </a:xfrm>
          <a:ln/>
        </p:spPr>
      </p:sp>
      <p:sp>
        <p:nvSpPr>
          <p:cNvPr id="186370" name="文本占位符 576514"/>
          <p:cNvSpPr>
            <a:spLocks noGrp="1"/>
          </p:cNvSpPr>
          <p:nvPr>
            <p:ph type="body"/>
          </p:nvPr>
        </p:nvSpPr>
        <p:spPr>
          <a:xfrm>
            <a:off x="533400" y="4605338"/>
            <a:ext cx="6118225" cy="4862512"/>
          </a:xfrm>
          <a:ln/>
        </p:spPr>
        <p:txBody>
          <a:bodyPr lIns="100269" tIns="49255" rIns="100269" bIns="49255"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95300" y="1295400"/>
            <a:ext cx="4013835" cy="21828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72965" y="1295400"/>
            <a:ext cx="4013835" cy="21828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2126" y="128588"/>
            <a:ext cx="2201863" cy="33496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36538" y="128588"/>
            <a:ext cx="6477943" cy="33496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95300" y="1295400"/>
            <a:ext cx="4013835" cy="21828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72965" y="1295400"/>
            <a:ext cx="4013835" cy="21828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2126" y="128588"/>
            <a:ext cx="2201863" cy="33496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36538" y="128588"/>
            <a:ext cx="6477943" cy="33496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95300" y="1295400"/>
            <a:ext cx="4013835" cy="21828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72965" y="1295400"/>
            <a:ext cx="4013835" cy="21828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2126" y="128588"/>
            <a:ext cx="2201863" cy="33496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236538" y="128588"/>
            <a:ext cx="6477943" cy="33496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3" Type="http://schemas.openxmlformats.org/officeDocument/2006/relationships/theme" Target="../theme/theme3.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236538" y="128588"/>
            <a:ext cx="8807450" cy="528637"/>
          </a:xfrm>
          <a:prstGeom prst="rect">
            <a:avLst/>
          </a:prstGeom>
          <a:noFill/>
          <a:ln w="12700">
            <a:noFill/>
          </a:ln>
        </p:spPr>
        <p:txBody>
          <a:bodyPr lIns="63500" tIns="25400" rIns="63500" bIns="25400" anchor="t" anchorCtr="0">
            <a:spAutoFit/>
          </a:bodyPr>
          <a:p>
            <a:pPr lvl="0"/>
            <a:r>
              <a:rPr lang="en-US" altLang="zh-CN" dirty="0"/>
              <a:t>Title</a:t>
            </a:r>
            <a:endParaRPr lang="en-US" altLang="zh-CN" dirty="0"/>
          </a:p>
        </p:txBody>
      </p:sp>
      <p:sp>
        <p:nvSpPr>
          <p:cNvPr id="1027" name="文本占位符 1028"/>
          <p:cNvSpPr>
            <a:spLocks noGrp="1"/>
          </p:cNvSpPr>
          <p:nvPr>
            <p:ph type="body"/>
          </p:nvPr>
        </p:nvSpPr>
        <p:spPr>
          <a:xfrm>
            <a:off x="495300" y="1295400"/>
            <a:ext cx="8191500" cy="2182813"/>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a:p>
            <a:pPr lvl="0"/>
            <a:r>
              <a:rPr lang="en-US" altLang="zh-CN" dirty="0"/>
              <a:t>This is our next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p:txBody>
      </p:sp>
      <p:sp>
        <p:nvSpPr>
          <p:cNvPr id="1028" name="直接连接符 1029"/>
          <p:cNvSpPr/>
          <p:nvPr userDrawn="1"/>
        </p:nvSpPr>
        <p:spPr>
          <a:xfrm>
            <a:off x="246063" y="682625"/>
            <a:ext cx="8651875" cy="0"/>
          </a:xfrm>
          <a:prstGeom prst="line">
            <a:avLst/>
          </a:prstGeom>
          <a:ln w="19050" cap="flat" cmpd="sng">
            <a:solidFill>
              <a:schemeClr val="tx1"/>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rtl="0" eaLnBrk="0" fontAlgn="base" latinLnBrk="0" hangingPunct="0">
        <a:lnSpc>
          <a:spcPct val="87000"/>
        </a:lnSpc>
        <a:spcBef>
          <a:spcPct val="0"/>
        </a:spcBef>
        <a:spcAft>
          <a:spcPct val="0"/>
        </a:spcAft>
        <a:buNone/>
        <a:defRPr sz="3600" b="1" i="0" u="none" kern="1200" baseline="0">
          <a:solidFill>
            <a:srgbClr val="CC3300"/>
          </a:solidFill>
          <a:latin typeface="+mj-lt"/>
          <a:ea typeface="+mj-ea"/>
          <a:cs typeface="+mj-cs"/>
        </a:defRPr>
      </a:lvl1pPr>
    </p:titleStyle>
    <p:bodyStyle>
      <a:lvl1pPr marL="203200" lvl="0" indent="-203200" algn="l" defTabSz="914400" rtl="0" eaLnBrk="0" fontAlgn="base" latinLnBrk="0" hangingPunct="0">
        <a:lnSpc>
          <a:spcPct val="100000"/>
        </a:lnSpc>
        <a:spcBef>
          <a:spcPct val="35000"/>
        </a:spcBef>
        <a:spcAft>
          <a:spcPct val="0"/>
        </a:spcAft>
        <a:buSzPct val="100000"/>
        <a:buChar char="°"/>
        <a:defRPr sz="1800" b="1" i="0" u="none" kern="1200" baseline="0">
          <a:solidFill>
            <a:schemeClr val="tx1"/>
          </a:solidFill>
          <a:latin typeface="+mn-lt"/>
          <a:ea typeface="+mn-ea"/>
          <a:cs typeface="+mn-cs"/>
        </a:defRPr>
      </a:lvl1pPr>
      <a:lvl2pPr marL="685800" lvl="1" indent="-190500" algn="l" defTabSz="914400" rtl="0" eaLnBrk="0" fontAlgn="base" latinLnBrk="0" hangingPunct="0">
        <a:lnSpc>
          <a:spcPct val="100000"/>
        </a:lnSpc>
        <a:spcBef>
          <a:spcPct val="35000"/>
        </a:spcBef>
        <a:spcAft>
          <a:spcPct val="0"/>
        </a:spcAft>
        <a:buSzPct val="100000"/>
        <a:buChar char="•"/>
        <a:defRPr sz="1800" b="1" i="0" u="none" kern="1200" baseline="0">
          <a:solidFill>
            <a:schemeClr val="accent2"/>
          </a:solidFill>
          <a:latin typeface="+mn-lt"/>
          <a:ea typeface="+mn-ea"/>
          <a:cs typeface="+mn-cs"/>
        </a:defRPr>
      </a:lvl2pPr>
      <a:lvl3pPr marL="1257300" lvl="2" indent="-342900" algn="l" defTabSz="914400" rtl="0" eaLnBrk="0" fontAlgn="base" latinLnBrk="0" hangingPunct="0">
        <a:lnSpc>
          <a:spcPct val="100000"/>
        </a:lnSpc>
        <a:spcBef>
          <a:spcPct val="35000"/>
        </a:spcBef>
        <a:spcAft>
          <a:spcPct val="0"/>
        </a:spcAft>
        <a:buSzPct val="100000"/>
        <a:buChar char="-"/>
        <a:defRPr sz="1800" b="1" i="0" u="none" kern="1200" baseline="0">
          <a:solidFill>
            <a:srgbClr val="B7011F"/>
          </a:solidFill>
          <a:latin typeface="+mn-lt"/>
          <a:ea typeface="+mn-ea"/>
          <a:cs typeface="+mn-cs"/>
        </a:defRPr>
      </a:lvl3pPr>
      <a:lvl4pPr marL="1714500" lvl="3" indent="-3429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4pPr>
      <a:lvl5pPr marL="2171700" lvl="4" indent="-3429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5pPr>
      <a:lvl6pPr marL="2514600" lvl="5"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6pPr>
      <a:lvl7pPr marL="2971800" lvl="6"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7pPr>
      <a:lvl8pPr marL="3429000" lvl="7"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8pPr>
      <a:lvl9pPr marL="3886200" lvl="8"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9pPr>
    </p:bodyStyle>
    <p:other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标题 1025"/>
          <p:cNvSpPr>
            <a:spLocks noGrp="1"/>
          </p:cNvSpPr>
          <p:nvPr>
            <p:ph type="title"/>
          </p:nvPr>
        </p:nvSpPr>
        <p:spPr>
          <a:xfrm>
            <a:off x="236538" y="128588"/>
            <a:ext cx="8807450" cy="528637"/>
          </a:xfrm>
          <a:prstGeom prst="rect">
            <a:avLst/>
          </a:prstGeom>
          <a:noFill/>
          <a:ln w="12700">
            <a:noFill/>
          </a:ln>
        </p:spPr>
        <p:txBody>
          <a:bodyPr lIns="63500" tIns="25400" rIns="63500" bIns="25400" anchor="t" anchorCtr="0">
            <a:spAutoFit/>
          </a:bodyPr>
          <a:p>
            <a:pPr lvl="0"/>
            <a:r>
              <a:rPr lang="en-US" altLang="zh-CN" dirty="0"/>
              <a:t>Title</a:t>
            </a:r>
            <a:endParaRPr lang="en-US" altLang="zh-CN" dirty="0"/>
          </a:p>
        </p:txBody>
      </p:sp>
      <p:sp>
        <p:nvSpPr>
          <p:cNvPr id="2051" name="文本占位符 1028"/>
          <p:cNvSpPr>
            <a:spLocks noGrp="1"/>
          </p:cNvSpPr>
          <p:nvPr>
            <p:ph type="body"/>
          </p:nvPr>
        </p:nvSpPr>
        <p:spPr>
          <a:xfrm>
            <a:off x="495300" y="1295400"/>
            <a:ext cx="8191500" cy="2182813"/>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a:p>
            <a:pPr lvl="0"/>
            <a:r>
              <a:rPr lang="en-US" altLang="zh-CN" dirty="0"/>
              <a:t>This is our next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p:txBody>
      </p:sp>
      <p:sp>
        <p:nvSpPr>
          <p:cNvPr id="2052" name="直接连接符 1029"/>
          <p:cNvSpPr/>
          <p:nvPr userDrawn="1"/>
        </p:nvSpPr>
        <p:spPr>
          <a:xfrm>
            <a:off x="246063" y="682625"/>
            <a:ext cx="8651875" cy="0"/>
          </a:xfrm>
          <a:prstGeom prst="line">
            <a:avLst/>
          </a:prstGeom>
          <a:ln w="19050" cap="flat" cmpd="sng">
            <a:solidFill>
              <a:schemeClr val="tx1"/>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sldNum="0" hdr="0" ftr="0" dt="0"/>
  <p:txStyles>
    <p:titleStyle>
      <a:lvl1pPr marL="0" lvl="0" indent="0" algn="ctr" defTabSz="914400" rtl="0" eaLnBrk="0" fontAlgn="base" latinLnBrk="0" hangingPunct="0">
        <a:lnSpc>
          <a:spcPct val="87000"/>
        </a:lnSpc>
        <a:spcBef>
          <a:spcPct val="0"/>
        </a:spcBef>
        <a:spcAft>
          <a:spcPct val="0"/>
        </a:spcAft>
        <a:buNone/>
        <a:defRPr sz="3600" b="1" i="0" u="none" kern="1200" baseline="0">
          <a:solidFill>
            <a:srgbClr val="CC3300"/>
          </a:solidFill>
          <a:latin typeface="+mj-lt"/>
          <a:ea typeface="+mj-ea"/>
          <a:cs typeface="+mj-cs"/>
        </a:defRPr>
      </a:lvl1pPr>
    </p:titleStyle>
    <p:bodyStyle>
      <a:lvl1pPr marL="203200" lvl="0" indent="-203200" algn="l" defTabSz="914400" rtl="0" eaLnBrk="0" fontAlgn="base" latinLnBrk="0" hangingPunct="0">
        <a:lnSpc>
          <a:spcPct val="100000"/>
        </a:lnSpc>
        <a:spcBef>
          <a:spcPct val="35000"/>
        </a:spcBef>
        <a:spcAft>
          <a:spcPct val="0"/>
        </a:spcAft>
        <a:buSzPct val="100000"/>
        <a:buChar char="°"/>
        <a:defRPr sz="1800" b="1" i="0" u="none" kern="1200" baseline="0">
          <a:solidFill>
            <a:schemeClr val="tx1"/>
          </a:solidFill>
          <a:latin typeface="+mn-lt"/>
          <a:ea typeface="+mn-ea"/>
          <a:cs typeface="+mn-cs"/>
        </a:defRPr>
      </a:lvl1pPr>
      <a:lvl2pPr marL="685800" lvl="1" indent="-190500" algn="l" defTabSz="914400" rtl="0" eaLnBrk="0" fontAlgn="base" latinLnBrk="0" hangingPunct="0">
        <a:lnSpc>
          <a:spcPct val="100000"/>
        </a:lnSpc>
        <a:spcBef>
          <a:spcPct val="35000"/>
        </a:spcBef>
        <a:spcAft>
          <a:spcPct val="0"/>
        </a:spcAft>
        <a:buSzPct val="100000"/>
        <a:buChar char="•"/>
        <a:defRPr sz="1800" b="1" i="0" u="none" kern="1200" baseline="0">
          <a:solidFill>
            <a:schemeClr val="accent2"/>
          </a:solidFill>
          <a:latin typeface="+mn-lt"/>
          <a:ea typeface="+mn-ea"/>
          <a:cs typeface="+mn-cs"/>
        </a:defRPr>
      </a:lvl2pPr>
      <a:lvl3pPr marL="1257300" lvl="2" indent="-342900" algn="l" defTabSz="914400" rtl="0" eaLnBrk="0" fontAlgn="base" latinLnBrk="0" hangingPunct="0">
        <a:lnSpc>
          <a:spcPct val="100000"/>
        </a:lnSpc>
        <a:spcBef>
          <a:spcPct val="35000"/>
        </a:spcBef>
        <a:spcAft>
          <a:spcPct val="0"/>
        </a:spcAft>
        <a:buSzPct val="100000"/>
        <a:buChar char="-"/>
        <a:defRPr sz="1800" b="1" i="0" u="none" kern="1200" baseline="0">
          <a:solidFill>
            <a:srgbClr val="B7011F"/>
          </a:solidFill>
          <a:latin typeface="+mn-lt"/>
          <a:ea typeface="+mn-ea"/>
          <a:cs typeface="+mn-cs"/>
        </a:defRPr>
      </a:lvl3pPr>
      <a:lvl4pPr marL="1714500" lvl="3" indent="-3429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4pPr>
      <a:lvl5pPr marL="2171700" lvl="4" indent="-3429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5pPr>
      <a:lvl6pPr marL="2514600" lvl="5"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6pPr>
      <a:lvl7pPr marL="2971800" lvl="6"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7pPr>
      <a:lvl8pPr marL="3429000" lvl="7"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8pPr>
      <a:lvl9pPr marL="3886200" lvl="8"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9pPr>
    </p:bodyStyle>
    <p:other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标题 1025"/>
          <p:cNvSpPr>
            <a:spLocks noGrp="1"/>
          </p:cNvSpPr>
          <p:nvPr>
            <p:ph type="title"/>
          </p:nvPr>
        </p:nvSpPr>
        <p:spPr>
          <a:xfrm>
            <a:off x="236538" y="128588"/>
            <a:ext cx="8807450" cy="528637"/>
          </a:xfrm>
          <a:prstGeom prst="rect">
            <a:avLst/>
          </a:prstGeom>
          <a:noFill/>
          <a:ln w="12700">
            <a:noFill/>
          </a:ln>
        </p:spPr>
        <p:txBody>
          <a:bodyPr lIns="63500" tIns="25400" rIns="63500" bIns="25400" anchor="t" anchorCtr="0">
            <a:spAutoFit/>
          </a:bodyPr>
          <a:p>
            <a:pPr lvl="0"/>
            <a:r>
              <a:rPr lang="en-US" altLang="zh-CN" dirty="0"/>
              <a:t>Title</a:t>
            </a:r>
            <a:endParaRPr lang="en-US" altLang="zh-CN" dirty="0"/>
          </a:p>
        </p:txBody>
      </p:sp>
      <p:sp>
        <p:nvSpPr>
          <p:cNvPr id="3075" name="文本占位符 1028"/>
          <p:cNvSpPr>
            <a:spLocks noGrp="1"/>
          </p:cNvSpPr>
          <p:nvPr>
            <p:ph type="body"/>
          </p:nvPr>
        </p:nvSpPr>
        <p:spPr>
          <a:xfrm>
            <a:off x="495300" y="1295400"/>
            <a:ext cx="8191500" cy="2182813"/>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a:p>
            <a:pPr lvl="0"/>
            <a:r>
              <a:rPr lang="en-US" altLang="zh-CN" dirty="0"/>
              <a:t>This is our next 1st Level Bullet</a:t>
            </a:r>
            <a:endParaRPr lang="en-US" altLang="zh-CN" dirty="0"/>
          </a:p>
          <a:p>
            <a:pPr lvl="1"/>
            <a:r>
              <a:rPr lang="en-US" altLang="zh-CN" dirty="0"/>
              <a:t>This is our 2nd level bullet</a:t>
            </a:r>
            <a:endParaRPr lang="en-US" altLang="zh-CN" dirty="0"/>
          </a:p>
          <a:p>
            <a:pPr lvl="2"/>
            <a:r>
              <a:rPr lang="en-US" altLang="zh-CN" dirty="0"/>
              <a:t>This is our 3rd level bullet</a:t>
            </a:r>
            <a:endParaRPr lang="en-US" altLang="zh-CN" dirty="0"/>
          </a:p>
        </p:txBody>
      </p:sp>
      <p:sp>
        <p:nvSpPr>
          <p:cNvPr id="3076" name="直接连接符 1029"/>
          <p:cNvSpPr/>
          <p:nvPr userDrawn="1"/>
        </p:nvSpPr>
        <p:spPr>
          <a:xfrm>
            <a:off x="246063" y="682625"/>
            <a:ext cx="8651875" cy="0"/>
          </a:xfrm>
          <a:prstGeom prst="line">
            <a:avLst/>
          </a:prstGeom>
          <a:ln w="19050" cap="flat" cmpd="sng">
            <a:solidFill>
              <a:schemeClr val="tx1"/>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sldNum="0" hdr="0" ftr="0" dt="0"/>
  <p:txStyles>
    <p:titleStyle>
      <a:lvl1pPr marL="0" lvl="0" indent="0" algn="ctr" defTabSz="914400" rtl="0" eaLnBrk="0" fontAlgn="base" latinLnBrk="0" hangingPunct="0">
        <a:lnSpc>
          <a:spcPct val="87000"/>
        </a:lnSpc>
        <a:spcBef>
          <a:spcPct val="0"/>
        </a:spcBef>
        <a:spcAft>
          <a:spcPct val="0"/>
        </a:spcAft>
        <a:buNone/>
        <a:defRPr sz="3600" b="1" i="0" u="none" kern="1200" baseline="0">
          <a:solidFill>
            <a:srgbClr val="CC3300"/>
          </a:solidFill>
          <a:latin typeface="+mj-lt"/>
          <a:ea typeface="+mj-ea"/>
          <a:cs typeface="+mj-cs"/>
        </a:defRPr>
      </a:lvl1pPr>
    </p:titleStyle>
    <p:bodyStyle>
      <a:lvl1pPr marL="203200" lvl="0" indent="-203200" algn="l" defTabSz="914400" rtl="0" eaLnBrk="0" fontAlgn="base" latinLnBrk="0" hangingPunct="0">
        <a:lnSpc>
          <a:spcPct val="100000"/>
        </a:lnSpc>
        <a:spcBef>
          <a:spcPct val="35000"/>
        </a:spcBef>
        <a:spcAft>
          <a:spcPct val="0"/>
        </a:spcAft>
        <a:buSzPct val="100000"/>
        <a:buChar char="°"/>
        <a:defRPr sz="1800" b="1" i="0" u="none" kern="1200" baseline="0">
          <a:solidFill>
            <a:schemeClr val="tx1"/>
          </a:solidFill>
          <a:latin typeface="+mn-lt"/>
          <a:ea typeface="+mn-ea"/>
          <a:cs typeface="+mn-cs"/>
        </a:defRPr>
      </a:lvl1pPr>
      <a:lvl2pPr marL="685800" lvl="1" indent="-190500" algn="l" defTabSz="914400" rtl="0" eaLnBrk="0" fontAlgn="base" latinLnBrk="0" hangingPunct="0">
        <a:lnSpc>
          <a:spcPct val="100000"/>
        </a:lnSpc>
        <a:spcBef>
          <a:spcPct val="35000"/>
        </a:spcBef>
        <a:spcAft>
          <a:spcPct val="0"/>
        </a:spcAft>
        <a:buSzPct val="100000"/>
        <a:buChar char="•"/>
        <a:defRPr sz="1800" b="1" i="0" u="none" kern="1200" baseline="0">
          <a:solidFill>
            <a:schemeClr val="accent2"/>
          </a:solidFill>
          <a:latin typeface="+mn-lt"/>
          <a:ea typeface="+mn-ea"/>
          <a:cs typeface="+mn-cs"/>
        </a:defRPr>
      </a:lvl2pPr>
      <a:lvl3pPr marL="1257300" lvl="2" indent="-342900" algn="l" defTabSz="914400" rtl="0" eaLnBrk="0" fontAlgn="base" latinLnBrk="0" hangingPunct="0">
        <a:lnSpc>
          <a:spcPct val="100000"/>
        </a:lnSpc>
        <a:spcBef>
          <a:spcPct val="35000"/>
        </a:spcBef>
        <a:spcAft>
          <a:spcPct val="0"/>
        </a:spcAft>
        <a:buSzPct val="100000"/>
        <a:buChar char="-"/>
        <a:defRPr sz="1800" b="1" i="0" u="none" kern="1200" baseline="0">
          <a:solidFill>
            <a:srgbClr val="B7011F"/>
          </a:solidFill>
          <a:latin typeface="+mn-lt"/>
          <a:ea typeface="+mn-ea"/>
          <a:cs typeface="+mn-cs"/>
        </a:defRPr>
      </a:lvl3pPr>
      <a:lvl4pPr marL="1714500" lvl="3" indent="-3429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4pPr>
      <a:lvl5pPr marL="2171700" lvl="4" indent="-3429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5pPr>
      <a:lvl6pPr marL="2514600" lvl="5"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6pPr>
      <a:lvl7pPr marL="2971800" lvl="6"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7pPr>
      <a:lvl8pPr marL="3429000" lvl="7"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8pPr>
      <a:lvl9pPr marL="3886200" lvl="8" indent="-228600" algn="l" defTabSz="914400" rtl="0" eaLnBrk="0" fontAlgn="base" latinLnBrk="0" hangingPunct="0">
        <a:lnSpc>
          <a:spcPct val="100000"/>
        </a:lnSpc>
        <a:spcBef>
          <a:spcPct val="20000"/>
        </a:spcBef>
        <a:spcAft>
          <a:spcPct val="0"/>
        </a:spcAft>
        <a:buSzTx/>
        <a:buChar char="»"/>
        <a:defRPr sz="2000" b="0" i="0" u="none" kern="1200" baseline="0">
          <a:solidFill>
            <a:schemeClr val="tx1"/>
          </a:solidFill>
          <a:latin typeface="Times New Roman" panose="02020603050405020304" pitchFamily="18" charset="0"/>
          <a:ea typeface="+mn-ea"/>
          <a:cs typeface="+mn-cs"/>
        </a:defRPr>
      </a:lvl9pPr>
    </p:bodyStyle>
    <p:other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slide" Target="slide9.xml"/><Relationship Id="rId1" Type="http://schemas.openxmlformats.org/officeDocument/2006/relationships/slide" Target="slide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image" Target="../media/image11.wmf"/><Relationship Id="rId1" Type="http://schemas.openxmlformats.org/officeDocument/2006/relationships/image" Target="../media/image10.w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106.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wm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5" Type="http://schemas.openxmlformats.org/officeDocument/2006/relationships/notesSlide" Target="../notesSlides/notesSlide68.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1.bin"/></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45" name="Rectangle 2"/>
          <p:cNvSpPr>
            <a:spLocks noGrp="1"/>
          </p:cNvSpPr>
          <p:nvPr>
            <p:ph type="ctrTitle"/>
          </p:nvPr>
        </p:nvSpPr>
        <p:spPr>
          <a:xfrm>
            <a:off x="476250" y="487363"/>
            <a:ext cx="8145463" cy="5402262"/>
          </a:xfrm>
          <a:ln/>
        </p:spPr>
        <p:txBody>
          <a:bodyPr vert="horz" wrap="square" lIns="91440" tIns="45720" rIns="91440" bIns="45720" anchor="ctr" anchorCtr="0">
            <a:spAutoFit/>
          </a:bodyPr>
          <a:lstStyle>
            <a:lvl1pPr lvl="0">
              <a:buClrTx/>
              <a:buSzTx/>
              <a:buFontTx/>
              <a:defRPr/>
            </a:lvl1pPr>
          </a:lstStyle>
          <a:p>
            <a:pPr lvl="0" defTabSz="914400" eaLnBrk="1" hangingPunct="1">
              <a:lnSpc>
                <a:spcPct val="130000"/>
              </a:lnSpc>
              <a:spcBef>
                <a:spcPct val="5000"/>
              </a:spcBef>
            </a:pPr>
            <a:br>
              <a:rPr lang="en-US" altLang="zh-CN"/>
            </a:br>
            <a:br>
              <a:rPr lang="zh-CN" altLang="en-US" dirty="0">
                <a:solidFill>
                  <a:srgbClr val="FF0000"/>
                </a:solidFill>
              </a:rPr>
            </a:br>
            <a:r>
              <a:rPr lang="zh-CN" altLang="en-US" sz="4000" dirty="0">
                <a:solidFill>
                  <a:srgbClr val="FF0000"/>
                </a:solidFill>
              </a:rPr>
              <a:t>程序的执行</a:t>
            </a:r>
            <a:br>
              <a:rPr lang="zh-CN" altLang="en-US" sz="4000" dirty="0">
                <a:solidFill>
                  <a:srgbClr val="FF0000"/>
                </a:solidFill>
              </a:rPr>
            </a:br>
            <a:br>
              <a:rPr lang="zh-CN" altLang="en-US" dirty="0"/>
            </a:br>
            <a:r>
              <a:rPr lang="zh-CN" altLang="en-US" sz="3000" dirty="0">
                <a:solidFill>
                  <a:schemeClr val="accent2"/>
                </a:solidFill>
                <a:latin typeface="微软雅黑" panose="020B0503020204020204" pitchFamily="34" charset="-122"/>
                <a:ea typeface="微软雅黑" panose="020B0503020204020204" pitchFamily="34" charset="-122"/>
              </a:rPr>
              <a:t>程序执行和指令执行概述 </a:t>
            </a:r>
            <a:br>
              <a:rPr lang="zh-CN" altLang="en-US" sz="3000" dirty="0">
                <a:solidFill>
                  <a:schemeClr val="accent2"/>
                </a:solidFill>
                <a:latin typeface="微软雅黑" panose="020B0503020204020204" pitchFamily="34" charset="-122"/>
                <a:ea typeface="微软雅黑" panose="020B0503020204020204" pitchFamily="34" charset="-122"/>
              </a:rPr>
            </a:br>
            <a:r>
              <a:rPr lang="zh-CN" altLang="en-US" sz="3000" dirty="0">
                <a:solidFill>
                  <a:schemeClr val="accent2"/>
                </a:solidFill>
                <a:latin typeface="微软雅黑" panose="020B0503020204020204" pitchFamily="34" charset="-122"/>
                <a:ea typeface="微软雅黑" panose="020B0503020204020204" pitchFamily="34" charset="-122"/>
              </a:rPr>
              <a:t>数据通路基本结构和工作原理</a:t>
            </a:r>
            <a:br>
              <a:rPr lang="zh-CN" altLang="en-US" sz="3000" dirty="0">
                <a:solidFill>
                  <a:schemeClr val="accent2"/>
                </a:solidFill>
                <a:latin typeface="微软雅黑" panose="020B0503020204020204" pitchFamily="34" charset="-122"/>
                <a:ea typeface="微软雅黑" panose="020B0503020204020204" pitchFamily="34" charset="-122"/>
              </a:rPr>
            </a:br>
            <a:r>
              <a:rPr lang="zh-CN" altLang="en-US" sz="3000" dirty="0">
                <a:solidFill>
                  <a:schemeClr val="accent2"/>
                </a:solidFill>
                <a:latin typeface="微软雅黑" panose="020B0503020204020204" pitchFamily="34" charset="-122"/>
                <a:ea typeface="微软雅黑" panose="020B0503020204020204" pitchFamily="34" charset="-122"/>
              </a:rPr>
              <a:t>流水线方式下指令的执行 </a:t>
            </a:r>
            <a:br>
              <a:rPr lang="zh-CN" altLang="en-US" sz="3000" dirty="0">
                <a:solidFill>
                  <a:schemeClr val="accent2"/>
                </a:solidFill>
                <a:latin typeface="微软雅黑" panose="020B0503020204020204" pitchFamily="34" charset="-122"/>
                <a:ea typeface="微软雅黑" panose="020B0503020204020204" pitchFamily="34" charset="-122"/>
              </a:rPr>
            </a:br>
            <a:endParaRPr lang="en-US" altLang="zh-CN" sz="300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p:nvPr>
        </p:nvSpPr>
        <p:spPr>
          <a:xfrm>
            <a:off x="457200" y="93663"/>
            <a:ext cx="8229600" cy="569912"/>
          </a:xfrm>
          <a:ln/>
        </p:spPr>
        <p:txBody>
          <a:bodyPr vert="horz" wrap="square" lIns="91440" tIns="45720" rIns="91440" bIns="45720" anchor="ctr" anchorCtr="0">
            <a:spAutoFit/>
          </a:bodyPr>
          <a:p>
            <a:r>
              <a:rPr lang="zh-CN" altLang="en-US" dirty="0"/>
              <a:t>程序的执行机制</a:t>
            </a:r>
            <a:endParaRPr lang="zh-CN" altLang="en-US" dirty="0"/>
          </a:p>
        </p:txBody>
      </p:sp>
      <p:sp>
        <p:nvSpPr>
          <p:cNvPr id="7170" name="Rectangle 3"/>
          <p:cNvSpPr>
            <a:spLocks noGrp="1"/>
          </p:cNvSpPr>
          <p:nvPr>
            <p:ph type="body"/>
          </p:nvPr>
        </p:nvSpPr>
        <p:spPr>
          <a:xfrm>
            <a:off x="250825" y="936625"/>
            <a:ext cx="8551863" cy="4065588"/>
          </a:xfrm>
          <a:ln/>
        </p:spPr>
        <p:txBody>
          <a:bodyPr vert="horz" wrap="square" lIns="91440" tIns="45720" rIns="91440" bIns="45720" anchor="t" anchorCtr="0">
            <a:spAutoFit/>
          </a:bodyPr>
          <a:p>
            <a:pPr marL="457200" indent="-457200">
              <a:spcBef>
                <a:spcPts val="1300"/>
              </a:spcBef>
            </a:pPr>
            <a:r>
              <a:rPr lang="zh-CN" altLang="en-US" sz="2800" dirty="0">
                <a:ea typeface="黑体" panose="02010609060101010101" pitchFamily="49" charset="-122"/>
              </a:rPr>
              <a:t>主要教学目标</a:t>
            </a:r>
            <a:endParaRPr lang="zh-CN" altLang="en-US" sz="2800" dirty="0">
              <a:ea typeface="黑体" panose="02010609060101010101" pitchFamily="49" charset="-122"/>
            </a:endParaRPr>
          </a:p>
          <a:p>
            <a:pPr marL="838200" lvl="1" indent="-381000">
              <a:lnSpc>
                <a:spcPct val="150000"/>
              </a:lnSpc>
              <a:spcBef>
                <a:spcPct val="0"/>
              </a:spcBef>
              <a:buSzTx/>
              <a:buChar char="–"/>
            </a:pPr>
            <a:r>
              <a:rPr lang="zh-CN" altLang="en-US" sz="2400" dirty="0">
                <a:solidFill>
                  <a:srgbClr val="0000CC"/>
                </a:solidFill>
                <a:latin typeface="微软雅黑" panose="020B0503020204020204" pitchFamily="34" charset="-122"/>
                <a:ea typeface="微软雅黑" panose="020B0503020204020204" pitchFamily="34" charset="-122"/>
              </a:rPr>
              <a:t>理解</a:t>
            </a:r>
            <a:r>
              <a:rPr lang="en-US" altLang="zh-CN" sz="2400">
                <a:solidFill>
                  <a:srgbClr val="0000CC"/>
                </a:solidFill>
                <a:latin typeface="微软雅黑" panose="020B0503020204020204" pitchFamily="34" charset="-122"/>
                <a:ea typeface="微软雅黑" panose="020B0503020204020204" pitchFamily="34" charset="-122"/>
              </a:rPr>
              <a:t>CPU</a:t>
            </a:r>
            <a:r>
              <a:rPr lang="zh-CN" altLang="en-US" sz="2400" dirty="0">
                <a:solidFill>
                  <a:srgbClr val="0000CC"/>
                </a:solidFill>
                <a:latin typeface="微软雅黑" panose="020B0503020204020204" pitchFamily="34" charset="-122"/>
                <a:ea typeface="微软雅黑" panose="020B0503020204020204" pitchFamily="34" charset="-122"/>
              </a:rPr>
              <a:t>如何控制程序的执行流</a:t>
            </a:r>
            <a:endParaRPr lang="zh-CN" altLang="en-US" sz="2400" dirty="0">
              <a:solidFill>
                <a:srgbClr val="0000CC"/>
              </a:solidFill>
              <a:latin typeface="微软雅黑" panose="020B0503020204020204" pitchFamily="34" charset="-122"/>
              <a:ea typeface="微软雅黑" panose="020B0503020204020204" pitchFamily="34" charset="-122"/>
            </a:endParaRPr>
          </a:p>
          <a:p>
            <a:pPr marL="838200" lvl="1" indent="-381000">
              <a:lnSpc>
                <a:spcPct val="135000"/>
              </a:lnSpc>
              <a:spcBef>
                <a:spcPct val="0"/>
              </a:spcBef>
              <a:buSzTx/>
              <a:buChar char="–"/>
            </a:pPr>
            <a:r>
              <a:rPr lang="zh-CN" altLang="en-US" sz="2400" dirty="0">
                <a:solidFill>
                  <a:srgbClr val="0000CC"/>
                </a:solidFill>
                <a:latin typeface="微软雅黑" panose="020B0503020204020204" pitchFamily="34" charset="-122"/>
                <a:ea typeface="微软雅黑" panose="020B0503020204020204" pitchFamily="34" charset="-122"/>
              </a:rPr>
              <a:t>一条指令的执行过程</a:t>
            </a:r>
            <a:endParaRPr lang="zh-CN" altLang="en-US" sz="2400" dirty="0">
              <a:solidFill>
                <a:srgbClr val="0000CC"/>
              </a:solidFill>
              <a:latin typeface="微软雅黑" panose="020B0503020204020204" pitchFamily="34" charset="-122"/>
              <a:ea typeface="微软雅黑" panose="020B0503020204020204" pitchFamily="34" charset="-122"/>
            </a:endParaRPr>
          </a:p>
          <a:p>
            <a:pPr marL="838200" lvl="1" indent="-381000">
              <a:lnSpc>
                <a:spcPct val="135000"/>
              </a:lnSpc>
              <a:spcBef>
                <a:spcPct val="0"/>
              </a:spcBef>
              <a:buSzTx/>
              <a:buChar char="–"/>
            </a:pPr>
            <a:r>
              <a:rPr lang="en-US" altLang="zh-CN" sz="2400">
                <a:solidFill>
                  <a:srgbClr val="0000CC"/>
                </a:solidFill>
                <a:latin typeface="微软雅黑" panose="020B0503020204020204" pitchFamily="34" charset="-122"/>
                <a:ea typeface="微软雅黑" panose="020B0503020204020204" pitchFamily="34" charset="-122"/>
              </a:rPr>
              <a:t>CPU</a:t>
            </a:r>
            <a:r>
              <a:rPr lang="zh-CN" altLang="en-US" sz="2400" dirty="0">
                <a:solidFill>
                  <a:srgbClr val="0000CC"/>
                </a:solidFill>
                <a:latin typeface="微软雅黑" panose="020B0503020204020204" pitchFamily="34" charset="-122"/>
                <a:ea typeface="微软雅黑" panose="020B0503020204020204" pitchFamily="34" charset="-122"/>
              </a:rPr>
              <a:t>的主要功能和内部结构</a:t>
            </a:r>
            <a:endParaRPr lang="zh-CN" altLang="en-US" sz="2400" dirty="0">
              <a:solidFill>
                <a:srgbClr val="0000CC"/>
              </a:solidFill>
              <a:latin typeface="微软雅黑" panose="020B0503020204020204" pitchFamily="34" charset="-122"/>
              <a:ea typeface="微软雅黑" panose="020B0503020204020204" pitchFamily="34" charset="-122"/>
            </a:endParaRPr>
          </a:p>
          <a:p>
            <a:pPr marL="838200" lvl="1" indent="-381000">
              <a:lnSpc>
                <a:spcPct val="135000"/>
              </a:lnSpc>
              <a:spcBef>
                <a:spcPct val="0"/>
              </a:spcBef>
              <a:buSzTx/>
              <a:buChar char="–"/>
            </a:pPr>
            <a:r>
              <a:rPr lang="zh-CN" altLang="en-US" sz="2400" dirty="0">
                <a:solidFill>
                  <a:srgbClr val="0000CC"/>
                </a:solidFill>
                <a:latin typeface="微软雅黑" panose="020B0503020204020204" pitchFamily="34" charset="-122"/>
                <a:ea typeface="微软雅黑" panose="020B0503020204020204" pitchFamily="34" charset="-122"/>
              </a:rPr>
              <a:t>数据通路的基本组成和定时方式</a:t>
            </a:r>
            <a:endParaRPr lang="zh-CN" altLang="en-US" sz="2400" dirty="0">
              <a:solidFill>
                <a:srgbClr val="0000CC"/>
              </a:solidFill>
              <a:latin typeface="微软雅黑" panose="020B0503020204020204" pitchFamily="34" charset="-122"/>
              <a:ea typeface="微软雅黑" panose="020B0503020204020204" pitchFamily="34" charset="-122"/>
            </a:endParaRPr>
          </a:p>
          <a:p>
            <a:pPr marL="838200" lvl="1" indent="-381000">
              <a:lnSpc>
                <a:spcPct val="135000"/>
              </a:lnSpc>
              <a:spcBef>
                <a:spcPct val="0"/>
              </a:spcBef>
              <a:buSzTx/>
              <a:buChar char="–"/>
            </a:pPr>
            <a:r>
              <a:rPr lang="zh-CN" altLang="en-US" sz="2400" dirty="0">
                <a:solidFill>
                  <a:srgbClr val="0000CC"/>
                </a:solidFill>
                <a:latin typeface="微软雅黑" panose="020B0503020204020204" pitchFamily="34" charset="-122"/>
                <a:ea typeface="微软雅黑" panose="020B0503020204020204" pitchFamily="34" charset="-122"/>
              </a:rPr>
              <a:t>理解指令执行时数据通路中信息的流动过程</a:t>
            </a:r>
            <a:endParaRPr lang="zh-CN" altLang="en-US" sz="2400" dirty="0">
              <a:solidFill>
                <a:srgbClr val="0000CC"/>
              </a:solidFill>
              <a:latin typeface="微软雅黑" panose="020B0503020204020204" pitchFamily="34" charset="-122"/>
              <a:ea typeface="微软雅黑" panose="020B0503020204020204" pitchFamily="34" charset="-122"/>
            </a:endParaRPr>
          </a:p>
          <a:p>
            <a:pPr marL="838200" lvl="1" indent="-381000">
              <a:lnSpc>
                <a:spcPct val="135000"/>
              </a:lnSpc>
              <a:spcBef>
                <a:spcPct val="0"/>
              </a:spcBef>
              <a:buSzTx/>
              <a:buChar char="–"/>
            </a:pPr>
            <a:r>
              <a:rPr lang="zh-CN" altLang="en-US" sz="2400" dirty="0">
                <a:solidFill>
                  <a:srgbClr val="0000CC"/>
                </a:solidFill>
                <a:latin typeface="微软雅黑" panose="020B0503020204020204" pitchFamily="34" charset="-122"/>
                <a:ea typeface="微软雅黑" panose="020B0503020204020204" pitchFamily="34" charset="-122"/>
              </a:rPr>
              <a:t>回顾指令流水线</a:t>
            </a:r>
            <a:endParaRPr lang="zh-CN" altLang="en-US" sz="2400" dirty="0">
              <a:solidFill>
                <a:srgbClr val="0000CC"/>
              </a:solidFill>
              <a:latin typeface="微软雅黑" panose="020B0503020204020204" pitchFamily="34" charset="-122"/>
              <a:ea typeface="微软雅黑" panose="020B0503020204020204" pitchFamily="34" charset="-122"/>
            </a:endParaRPr>
          </a:p>
          <a:p>
            <a:pPr marL="838200" lvl="1" indent="-381000">
              <a:lnSpc>
                <a:spcPct val="135000"/>
              </a:lnSpc>
              <a:spcBef>
                <a:spcPct val="0"/>
              </a:spcBef>
              <a:buSzTx/>
              <a:buChar char="–"/>
            </a:pPr>
            <a:r>
              <a:rPr lang="zh-CN" altLang="en-US" sz="2400" dirty="0">
                <a:solidFill>
                  <a:srgbClr val="0000CC"/>
                </a:solidFill>
                <a:latin typeface="微软雅黑" panose="020B0503020204020204" pitchFamily="34" charset="-122"/>
                <a:ea typeface="微软雅黑" panose="020B0503020204020204" pitchFamily="34" charset="-122"/>
              </a:rPr>
              <a:t>回顾内部异常和外部中断</a:t>
            </a:r>
            <a:endParaRPr lang="zh-CN" altLang="en-US" sz="2400" dirty="0">
              <a:solidFill>
                <a:srgbClr val="0000CC"/>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451585"/>
          <p:cNvSpPr>
            <a:spLocks noGrp="1"/>
          </p:cNvSpPr>
          <p:nvPr>
            <p:ph type="title"/>
          </p:nvPr>
        </p:nvSpPr>
        <p:spPr>
          <a:xfrm>
            <a:off x="515938" y="57150"/>
            <a:ext cx="7499350" cy="581025"/>
          </a:xfrm>
          <a:ln/>
        </p:spPr>
        <p:txBody>
          <a:bodyPr lIns="63500" tIns="25400" rIns="63500" bIns="25400" anchor="t" anchorCtr="0">
            <a:spAutoFit/>
          </a:bodyPr>
          <a:p>
            <a:r>
              <a:rPr lang="zh-CN" altLang="en-US" sz="4000" dirty="0"/>
              <a:t>程序的执行机制</a:t>
            </a:r>
            <a:endParaRPr lang="zh-CN" altLang="en-US" sz="4000" dirty="0"/>
          </a:p>
        </p:txBody>
      </p:sp>
      <p:sp>
        <p:nvSpPr>
          <p:cNvPr id="8194" name="文本占位符 451587"/>
          <p:cNvSpPr>
            <a:spLocks noGrp="1"/>
          </p:cNvSpPr>
          <p:nvPr>
            <p:ph idx="1"/>
          </p:nvPr>
        </p:nvSpPr>
        <p:spPr>
          <a:xfrm>
            <a:off x="454025" y="715963"/>
            <a:ext cx="8229600" cy="6040437"/>
          </a:xfrm>
          <a:ln/>
        </p:spPr>
        <p:txBody>
          <a:bodyPr wrap="square" lIns="63500" tIns="25400" rIns="63500" bIns="25400" anchor="t" anchorCtr="0">
            <a:spAutoFit/>
          </a:bodyPr>
          <a:p>
            <a:r>
              <a:rPr lang="zh-CN" altLang="en-US" sz="2200" dirty="0">
                <a:latin typeface="微软雅黑" panose="020B0503020204020204" pitchFamily="34" charset="-122"/>
                <a:ea typeface="微软雅黑" panose="020B0503020204020204" pitchFamily="34" charset="-122"/>
              </a:rPr>
              <a:t>分以下三个部分介绍</a:t>
            </a:r>
            <a:endParaRPr lang="zh-CN" altLang="en-US" sz="2200" dirty="0">
              <a:latin typeface="微软雅黑" panose="020B0503020204020204" pitchFamily="34" charset="-122"/>
              <a:ea typeface="微软雅黑" panose="020B0503020204020204" pitchFamily="34" charset="-122"/>
            </a:endParaRPr>
          </a:p>
          <a:p>
            <a:pPr lvl="1">
              <a:spcBef>
                <a:spcPct val="30000"/>
              </a:spcBef>
            </a:pPr>
            <a:r>
              <a:rPr lang="zh-CN" altLang="en-US" sz="2200" dirty="0">
                <a:solidFill>
                  <a:schemeClr val="accent1"/>
                </a:solidFill>
                <a:latin typeface="微软雅黑" panose="020B0503020204020204" pitchFamily="34" charset="-122"/>
                <a:ea typeface="微软雅黑" panose="020B0503020204020204" pitchFamily="34" charset="-122"/>
              </a:rPr>
              <a:t>第一讲：程序执行概述</a:t>
            </a:r>
            <a:endParaRPr lang="zh-CN" altLang="en-US" sz="2200" dirty="0">
              <a:solidFill>
                <a:schemeClr val="accent1"/>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程序及指令的执行过程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en-US" altLang="zh-CN" sz="2200">
                <a:solidFill>
                  <a:srgbClr val="006600"/>
                </a:solidFill>
                <a:latin typeface="微软雅黑" panose="020B0503020204020204" pitchFamily="34" charset="-122"/>
                <a:ea typeface="微软雅黑" panose="020B0503020204020204" pitchFamily="34" charset="-122"/>
              </a:rPr>
              <a:t>CPU</a:t>
            </a:r>
            <a:r>
              <a:rPr lang="zh-CN" altLang="en-US" sz="2200" dirty="0">
                <a:solidFill>
                  <a:srgbClr val="006600"/>
                </a:solidFill>
                <a:latin typeface="微软雅黑" panose="020B0503020204020204" pitchFamily="34" charset="-122"/>
                <a:ea typeface="微软雅黑" panose="020B0503020204020204" pitchFamily="34" charset="-122"/>
              </a:rPr>
              <a:t>的基本功能和基本组成</a:t>
            </a:r>
            <a:endParaRPr lang="zh-CN" altLang="en-US" sz="2200" dirty="0">
              <a:solidFill>
                <a:srgbClr val="006600"/>
              </a:solidFill>
              <a:latin typeface="微软雅黑" panose="020B0503020204020204" pitchFamily="34" charset="-122"/>
              <a:ea typeface="微软雅黑" panose="020B0503020204020204" pitchFamily="34" charset="-122"/>
            </a:endParaRPr>
          </a:p>
          <a:p>
            <a:pPr lvl="1">
              <a:spcBef>
                <a:spcPct val="30000"/>
              </a:spcBef>
            </a:pPr>
            <a:r>
              <a:rPr lang="zh-CN" altLang="en-US" sz="2200" dirty="0">
                <a:latin typeface="微软雅黑" panose="020B0503020204020204" pitchFamily="34" charset="-122"/>
                <a:ea typeface="微软雅黑" panose="020B0503020204020204" pitchFamily="34" charset="-122"/>
              </a:rPr>
              <a:t>第二讲：数据通路基本结构和工作原理</a:t>
            </a:r>
            <a:endParaRPr lang="zh-CN" altLang="en-US" sz="2200" dirty="0">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数据通路基本结构</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数据通路的时序控制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数据通路基本工作原理</a:t>
            </a:r>
            <a:r>
              <a:rPr lang="zh-CN" altLang="en-US" sz="2200" dirty="0">
                <a:solidFill>
                  <a:srgbClr val="009900"/>
                </a:solidFill>
                <a:latin typeface="微软雅黑" panose="020B0503020204020204" pitchFamily="34" charset="-122"/>
                <a:ea typeface="微软雅黑" panose="020B0503020204020204" pitchFamily="34" charset="-122"/>
              </a:rPr>
              <a:t> </a:t>
            </a:r>
            <a:endParaRPr lang="zh-CN" altLang="en-US" sz="2200" dirty="0">
              <a:solidFill>
                <a:srgbClr val="009900"/>
              </a:solidFill>
              <a:latin typeface="微软雅黑" panose="020B0503020204020204" pitchFamily="34" charset="-122"/>
              <a:ea typeface="微软雅黑" panose="020B0503020204020204" pitchFamily="34" charset="-122"/>
            </a:endParaRPr>
          </a:p>
          <a:p>
            <a:pPr lvl="1">
              <a:spcBef>
                <a:spcPct val="30000"/>
              </a:spcBef>
            </a:pPr>
            <a:r>
              <a:rPr lang="zh-CN" altLang="en-US" sz="2200" dirty="0">
                <a:latin typeface="微软雅黑" panose="020B0503020204020204" pitchFamily="34" charset="-122"/>
                <a:ea typeface="微软雅黑" panose="020B0503020204020204" pitchFamily="34" charset="-122"/>
              </a:rPr>
              <a:t>第三讲：流水线方式下指令的执行 </a:t>
            </a:r>
            <a:endParaRPr lang="zh-CN" altLang="en-US" sz="2200" dirty="0">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指令流水线的基本原理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适合流水线的指令集特征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en-US" altLang="zh-CN" sz="2200">
                <a:solidFill>
                  <a:srgbClr val="006600"/>
                </a:solidFill>
                <a:latin typeface="微软雅黑" panose="020B0503020204020204" pitchFamily="34" charset="-122"/>
                <a:ea typeface="微软雅黑" panose="020B0503020204020204" pitchFamily="34" charset="-122"/>
              </a:rPr>
              <a:t>CISC</a:t>
            </a:r>
            <a:r>
              <a:rPr lang="zh-CN" altLang="en-US" sz="2200" dirty="0">
                <a:solidFill>
                  <a:srgbClr val="006600"/>
                </a:solidFill>
                <a:latin typeface="微软雅黑" panose="020B0503020204020204" pitchFamily="34" charset="-122"/>
                <a:ea typeface="微软雅黑" panose="020B0503020204020204" pitchFamily="34" charset="-122"/>
              </a:rPr>
              <a:t>和</a:t>
            </a:r>
            <a:r>
              <a:rPr lang="en-US" altLang="zh-CN" sz="2200">
                <a:solidFill>
                  <a:srgbClr val="006600"/>
                </a:solidFill>
                <a:latin typeface="微软雅黑" panose="020B0503020204020204" pitchFamily="34" charset="-122"/>
                <a:ea typeface="微软雅黑" panose="020B0503020204020204" pitchFamily="34" charset="-122"/>
              </a:rPr>
              <a:t>RISC</a:t>
            </a:r>
            <a:r>
              <a:rPr lang="zh-CN" altLang="en-US" sz="2200" dirty="0">
                <a:solidFill>
                  <a:srgbClr val="006600"/>
                </a:solidFill>
                <a:latin typeface="微软雅黑" panose="020B0503020204020204" pitchFamily="34" charset="-122"/>
                <a:ea typeface="微软雅黑" panose="020B0503020204020204" pitchFamily="34" charset="-122"/>
              </a:rPr>
              <a:t>风格指令集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指令流水线的实现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高级流水线实现技术</a:t>
            </a:r>
            <a:r>
              <a:rPr lang="zh-CN" altLang="en-US" sz="2000" dirty="0">
                <a:solidFill>
                  <a:srgbClr val="006600"/>
                </a:solidFill>
                <a:latin typeface="微软雅黑" panose="020B0503020204020204" pitchFamily="34" charset="-122"/>
                <a:ea typeface="微软雅黑" panose="020B0503020204020204" pitchFamily="34" charset="-122"/>
              </a:rPr>
              <a:t> </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标题 450561"/>
          <p:cNvSpPr>
            <a:spLocks noGrp="1"/>
          </p:cNvSpPr>
          <p:nvPr>
            <p:ph type="title"/>
          </p:nvPr>
        </p:nvSpPr>
        <p:spPr>
          <a:xfrm>
            <a:off x="808038" y="128588"/>
            <a:ext cx="7499350" cy="528637"/>
          </a:xfrm>
          <a:ln/>
        </p:spPr>
        <p:txBody>
          <a:bodyPr lIns="63500" tIns="25400" rIns="63500" bIns="25400" anchor="t" anchorCtr="0">
            <a:spAutoFit/>
          </a:bodyPr>
          <a:p>
            <a:r>
              <a:rPr lang="zh-CN" altLang="en-US" dirty="0"/>
              <a:t>程序及指令的执行过程 </a:t>
            </a:r>
            <a:endParaRPr lang="zh-CN" altLang="en-US" dirty="0"/>
          </a:p>
        </p:txBody>
      </p:sp>
      <p:sp>
        <p:nvSpPr>
          <p:cNvPr id="450563" name="内容占位符 450562"/>
          <p:cNvSpPr>
            <a:spLocks noGrp="1"/>
          </p:cNvSpPr>
          <p:nvPr>
            <p:ph idx="1"/>
          </p:nvPr>
        </p:nvSpPr>
        <p:spPr>
          <a:xfrm>
            <a:off x="338138" y="803275"/>
            <a:ext cx="8496300" cy="4960938"/>
          </a:xfrm>
          <a:ln/>
        </p:spPr>
        <p:txBody>
          <a:bodyPr wrap="square" lIns="63500" tIns="25400" rIns="63500" bIns="25400" anchor="t" anchorCtr="0">
            <a:spAutoFit/>
          </a:bodyPr>
          <a:p>
            <a:pPr>
              <a:lnSpc>
                <a:spcPct val="110000"/>
              </a:lnSpc>
              <a:spcBef>
                <a:spcPct val="20000"/>
              </a:spcBef>
            </a:pPr>
            <a:r>
              <a:rPr lang="zh-CN" altLang="en-US" sz="2400" dirty="0">
                <a:latin typeface="微软雅黑" panose="020B0503020204020204" pitchFamily="34" charset="-122"/>
                <a:ea typeface="微软雅黑" panose="020B0503020204020204" pitchFamily="34" charset="-122"/>
              </a:rPr>
              <a:t>程序和指令的关系</a:t>
            </a:r>
            <a:endParaRPr lang="zh-CN" altLang="en-US" sz="2400" dirty="0">
              <a:latin typeface="微软雅黑" panose="020B0503020204020204" pitchFamily="34" charset="-122"/>
              <a:ea typeface="微软雅黑" panose="020B0503020204020204" pitchFamily="34" charset="-122"/>
            </a:endParaRPr>
          </a:p>
          <a:p>
            <a:pPr lvl="1">
              <a:lnSpc>
                <a:spcPct val="110000"/>
              </a:lnSpc>
              <a:spcBef>
                <a:spcPct val="20000"/>
              </a:spcBef>
            </a:pPr>
            <a:r>
              <a:rPr lang="zh-CN" altLang="en-US" sz="2300" dirty="0">
                <a:latin typeface="微软雅黑" panose="020B0503020204020204" pitchFamily="34" charset="-122"/>
                <a:ea typeface="微软雅黑" panose="020B0503020204020204" pitchFamily="34" charset="-122"/>
              </a:rPr>
              <a:t>程序由一条一条指令组成，指令按顺序存放在内存连续单元</a:t>
            </a:r>
            <a:endParaRPr lang="zh-CN" altLang="en-US" sz="2300" dirty="0">
              <a:latin typeface="微软雅黑" panose="020B0503020204020204" pitchFamily="34" charset="-122"/>
              <a:ea typeface="微软雅黑" panose="020B0503020204020204" pitchFamily="34" charset="-122"/>
            </a:endParaRPr>
          </a:p>
          <a:p>
            <a:pPr>
              <a:lnSpc>
                <a:spcPct val="110000"/>
              </a:lnSpc>
              <a:spcBef>
                <a:spcPct val="20000"/>
              </a:spcBef>
            </a:pPr>
            <a:r>
              <a:rPr lang="zh-CN" altLang="en-US" sz="2400" dirty="0">
                <a:latin typeface="微软雅黑" panose="020B0503020204020204" pitchFamily="34" charset="-122"/>
                <a:ea typeface="微软雅黑" panose="020B0503020204020204" pitchFamily="34" charset="-122"/>
              </a:rPr>
              <a:t>程序的执行：</a:t>
            </a:r>
            <a:r>
              <a:rPr lang="zh-CN" altLang="en-US" sz="2400" dirty="0">
                <a:solidFill>
                  <a:srgbClr val="A50021"/>
                </a:solidFill>
                <a:latin typeface="微软雅黑" panose="020B0503020204020204" pitchFamily="34" charset="-122"/>
                <a:ea typeface="微软雅黑" panose="020B0503020204020204" pitchFamily="34" charset="-122"/>
              </a:rPr>
              <a:t>周而复始地执行一条一条指令</a:t>
            </a:r>
            <a:endParaRPr lang="zh-CN" altLang="en-US" sz="2400" dirty="0">
              <a:solidFill>
                <a:srgbClr val="A50021"/>
              </a:solidFill>
              <a:latin typeface="微软雅黑" panose="020B0503020204020204" pitchFamily="34" charset="-122"/>
              <a:ea typeface="微软雅黑" panose="020B0503020204020204" pitchFamily="34" charset="-122"/>
            </a:endParaRPr>
          </a:p>
          <a:p>
            <a:pPr lvl="1">
              <a:lnSpc>
                <a:spcPct val="110000"/>
              </a:lnSpc>
              <a:spcBef>
                <a:spcPct val="20000"/>
              </a:spcBef>
            </a:pPr>
            <a:r>
              <a:rPr lang="zh-CN" altLang="en-US" sz="2400" dirty="0">
                <a:latin typeface="微软雅黑" panose="020B0503020204020204" pitchFamily="34" charset="-122"/>
                <a:ea typeface="微软雅黑" panose="020B0503020204020204" pitchFamily="34" charset="-122"/>
              </a:rPr>
              <a:t>正常情况下，指令按其存放顺序执行</a:t>
            </a:r>
            <a:endParaRPr lang="zh-CN" altLang="en-US" sz="2400" dirty="0">
              <a:latin typeface="微软雅黑" panose="020B0503020204020204" pitchFamily="34" charset="-122"/>
              <a:ea typeface="微软雅黑" panose="020B0503020204020204" pitchFamily="34" charset="-122"/>
            </a:endParaRPr>
          </a:p>
          <a:p>
            <a:pPr lvl="1">
              <a:lnSpc>
                <a:spcPct val="110000"/>
              </a:lnSpc>
              <a:spcBef>
                <a:spcPct val="20000"/>
              </a:spcBef>
            </a:pPr>
            <a:r>
              <a:rPr lang="zh-CN" altLang="en-US" sz="2400" dirty="0">
                <a:latin typeface="微软雅黑" panose="020B0503020204020204" pitchFamily="34" charset="-122"/>
                <a:ea typeface="微软雅黑" panose="020B0503020204020204" pitchFamily="34" charset="-122"/>
              </a:rPr>
              <a:t>遇到需改变程序执行流程时，用相应的转移指令</a:t>
            </a:r>
            <a:r>
              <a:rPr lang="zh-CN" altLang="en-US" sz="2400" dirty="0">
                <a:solidFill>
                  <a:srgbClr val="006600"/>
                </a:solidFill>
                <a:latin typeface="微软雅黑" panose="020B0503020204020204" pitchFamily="34" charset="-122"/>
                <a:ea typeface="微软雅黑" panose="020B0503020204020204" pitchFamily="34" charset="-122"/>
              </a:rPr>
              <a:t>（包括无条件转移指令、条件转移指令、调用指令和返回指令等）</a:t>
            </a:r>
            <a:r>
              <a:rPr lang="zh-CN" altLang="en-US" sz="2400" dirty="0">
                <a:latin typeface="微软雅黑" panose="020B0503020204020204" pitchFamily="34" charset="-122"/>
                <a:ea typeface="微软雅黑" panose="020B0503020204020204" pitchFamily="34" charset="-122"/>
              </a:rPr>
              <a:t>来改变程序执行流程</a:t>
            </a:r>
            <a:endParaRPr lang="zh-CN" altLang="en-US" sz="2400" dirty="0">
              <a:latin typeface="微软雅黑" panose="020B0503020204020204" pitchFamily="34" charset="-122"/>
              <a:ea typeface="微软雅黑" panose="020B0503020204020204" pitchFamily="34" charset="-122"/>
            </a:endParaRPr>
          </a:p>
          <a:p>
            <a:pPr>
              <a:lnSpc>
                <a:spcPct val="110000"/>
              </a:lnSpc>
              <a:spcBef>
                <a:spcPct val="20000"/>
              </a:spcBef>
            </a:pPr>
            <a:r>
              <a:rPr lang="zh-CN" altLang="en-US" sz="2400" dirty="0">
                <a:latin typeface="微软雅黑" panose="020B0503020204020204" pitchFamily="34" charset="-122"/>
                <a:ea typeface="微软雅黑" panose="020B0503020204020204" pitchFamily="34" charset="-122"/>
              </a:rPr>
              <a:t>程序的执行流的控制</a:t>
            </a:r>
            <a:endParaRPr lang="zh-CN" altLang="en-US" sz="2400" dirty="0">
              <a:latin typeface="微软雅黑" panose="020B0503020204020204" pitchFamily="34" charset="-122"/>
              <a:ea typeface="微软雅黑" panose="020B0503020204020204" pitchFamily="34" charset="-122"/>
            </a:endParaRPr>
          </a:p>
          <a:p>
            <a:pPr lvl="1">
              <a:lnSpc>
                <a:spcPct val="110000"/>
              </a:lnSpc>
              <a:spcBef>
                <a:spcPct val="20000"/>
              </a:spcBef>
            </a:pPr>
            <a:r>
              <a:rPr lang="zh-CN" altLang="en-US" sz="2400" dirty="0">
                <a:latin typeface="微软雅黑" panose="020B0503020204020204" pitchFamily="34" charset="-122"/>
                <a:ea typeface="微软雅黑" panose="020B0503020204020204" pitchFamily="34" charset="-122"/>
              </a:rPr>
              <a:t>将要执行的指令所在存储单元的地址由程序计数器</a:t>
            </a:r>
            <a:r>
              <a:rPr lang="en-US" altLang="zh-CN" sz="2400">
                <a:latin typeface="微软雅黑" panose="020B0503020204020204" pitchFamily="34" charset="-122"/>
                <a:ea typeface="微软雅黑" panose="020B0503020204020204" pitchFamily="34" charset="-122"/>
              </a:rPr>
              <a:t>PC</a:t>
            </a:r>
            <a:r>
              <a:rPr lang="zh-CN" altLang="en-US" sz="2400" dirty="0">
                <a:latin typeface="微软雅黑" panose="020B0503020204020204" pitchFamily="34" charset="-122"/>
                <a:ea typeface="微软雅黑" panose="020B0503020204020204" pitchFamily="34" charset="-122"/>
              </a:rPr>
              <a:t>给出，通过改变</a:t>
            </a:r>
            <a:r>
              <a:rPr lang="en-US" altLang="zh-CN" sz="2400">
                <a:latin typeface="微软雅黑" panose="020B0503020204020204" pitchFamily="34" charset="-122"/>
                <a:ea typeface="微软雅黑" panose="020B0503020204020204" pitchFamily="34" charset="-122"/>
              </a:rPr>
              <a:t>PC</a:t>
            </a:r>
            <a:r>
              <a:rPr lang="zh-CN" altLang="en-US" sz="2400" dirty="0">
                <a:latin typeface="微软雅黑" panose="020B0503020204020204" pitchFamily="34" charset="-122"/>
                <a:ea typeface="微软雅黑" panose="020B0503020204020204" pitchFamily="34" charset="-122"/>
              </a:rPr>
              <a:t>的值来控制执行顺序</a:t>
            </a:r>
            <a:endParaRPr lang="zh-CN" altLang="en-US" sz="2400" dirty="0">
              <a:latin typeface="微软雅黑" panose="020B0503020204020204" pitchFamily="34" charset="-122"/>
              <a:ea typeface="微软雅黑" panose="020B0503020204020204" pitchFamily="34" charset="-122"/>
            </a:endParaRPr>
          </a:p>
          <a:p>
            <a:pPr>
              <a:lnSpc>
                <a:spcPct val="110000"/>
              </a:lnSpc>
              <a:spcBef>
                <a:spcPct val="20000"/>
              </a:spcBef>
            </a:pPr>
            <a:r>
              <a:rPr lang="zh-CN" altLang="en-US" sz="2400" dirty="0">
                <a:latin typeface="微软雅黑" panose="020B0503020204020204" pitchFamily="34" charset="-122"/>
                <a:ea typeface="微软雅黑" panose="020B0503020204020204" pitchFamily="34" charset="-122"/>
              </a:rPr>
              <a:t>指令周期：</a:t>
            </a:r>
            <a:r>
              <a:rPr lang="en-US" altLang="zh-CN" sz="2400">
                <a:solidFill>
                  <a:srgbClr val="A50021"/>
                </a:solidFill>
                <a:latin typeface="微软雅黑" panose="020B0503020204020204" pitchFamily="34" charset="-122"/>
                <a:ea typeface="微软雅黑" panose="020B0503020204020204" pitchFamily="34" charset="-122"/>
              </a:rPr>
              <a:t>CPU</a:t>
            </a:r>
            <a:r>
              <a:rPr lang="zh-CN" altLang="en-US" sz="2400" dirty="0">
                <a:solidFill>
                  <a:srgbClr val="A50021"/>
                </a:solidFill>
                <a:latin typeface="微软雅黑" panose="020B0503020204020204" pitchFamily="34" charset="-122"/>
                <a:ea typeface="微软雅黑" panose="020B0503020204020204" pitchFamily="34" charset="-122"/>
              </a:rPr>
              <a:t>取出并执行一条指令的时间</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563">
                                            <p:txEl>
                                              <p:charRg st="9" end="36"/>
                                            </p:txEl>
                                          </p:spTgt>
                                        </p:tgtEl>
                                        <p:attrNameLst>
                                          <p:attrName>style.visibility</p:attrName>
                                        </p:attrNameLst>
                                      </p:cBhvr>
                                      <p:to>
                                        <p:strVal val="visible"/>
                                      </p:to>
                                    </p:set>
                                    <p:animEffect transition="in" filter="blinds(horizontal)">
                                      <p:cBhvr>
                                        <p:cTn id="7" dur="500"/>
                                        <p:tgtEl>
                                          <p:spTgt spid="450563">
                                            <p:txEl>
                                              <p:charRg st="9" end="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0563">
                                            <p:txEl>
                                              <p:charRg st="56" end="73"/>
                                            </p:txEl>
                                          </p:spTgt>
                                        </p:tgtEl>
                                        <p:attrNameLst>
                                          <p:attrName>style.visibility</p:attrName>
                                        </p:attrNameLst>
                                      </p:cBhvr>
                                      <p:to>
                                        <p:strVal val="visible"/>
                                      </p:to>
                                    </p:set>
                                    <p:animEffect transition="in" filter="blinds(horizontal)">
                                      <p:cBhvr>
                                        <p:cTn id="12" dur="500"/>
                                        <p:tgtEl>
                                          <p:spTgt spid="450563">
                                            <p:txEl>
                                              <p:charRg st="56" end="7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0563">
                                            <p:txEl>
                                              <p:charRg st="73" end="133"/>
                                            </p:txEl>
                                          </p:spTgt>
                                        </p:tgtEl>
                                        <p:attrNameLst>
                                          <p:attrName>style.visibility</p:attrName>
                                        </p:attrNameLst>
                                      </p:cBhvr>
                                      <p:to>
                                        <p:strVal val="visible"/>
                                      </p:to>
                                    </p:set>
                                    <p:animEffect transition="in" filter="blinds(horizontal)">
                                      <p:cBhvr>
                                        <p:cTn id="17" dur="500"/>
                                        <p:tgtEl>
                                          <p:spTgt spid="450563">
                                            <p:txEl>
                                              <p:charRg st="73" end="13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0563">
                                            <p:txEl>
                                              <p:charRg st="143" end="186"/>
                                            </p:txEl>
                                          </p:spTgt>
                                        </p:tgtEl>
                                        <p:attrNameLst>
                                          <p:attrName>style.visibility</p:attrName>
                                        </p:attrNameLst>
                                      </p:cBhvr>
                                      <p:to>
                                        <p:strVal val="visible"/>
                                      </p:to>
                                    </p:set>
                                    <p:animEffect transition="in" filter="blinds(horizontal)">
                                      <p:cBhvr>
                                        <p:cTn id="22" dur="500"/>
                                        <p:tgtEl>
                                          <p:spTgt spid="450563">
                                            <p:txEl>
                                              <p:charRg st="143" end="1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4658" name="图片 454657"/>
          <p:cNvPicPr>
            <a:picLocks noChangeAspect="1"/>
          </p:cNvPicPr>
          <p:nvPr/>
        </p:nvPicPr>
        <p:blipFill>
          <a:blip r:embed="rId1"/>
          <a:stretch>
            <a:fillRect/>
          </a:stretch>
        </p:blipFill>
        <p:spPr>
          <a:xfrm>
            <a:off x="3241675" y="2619375"/>
            <a:ext cx="5287963" cy="4238625"/>
          </a:xfrm>
          <a:prstGeom prst="rect">
            <a:avLst/>
          </a:prstGeom>
          <a:noFill/>
          <a:ln w="9525">
            <a:noFill/>
          </a:ln>
        </p:spPr>
      </p:pic>
      <p:sp>
        <p:nvSpPr>
          <p:cNvPr id="10242" name="标题 454658"/>
          <p:cNvSpPr>
            <a:spLocks noGrp="1"/>
          </p:cNvSpPr>
          <p:nvPr>
            <p:ph type="title"/>
          </p:nvPr>
        </p:nvSpPr>
        <p:spPr>
          <a:xfrm>
            <a:off x="449263" y="149225"/>
            <a:ext cx="8235950" cy="528638"/>
          </a:xfrm>
          <a:ln/>
        </p:spPr>
        <p:txBody>
          <a:bodyPr lIns="63500" tIns="25400" rIns="63500" bIns="25400" anchor="t" anchorCtr="0">
            <a:spAutoFit/>
          </a:bodyPr>
          <a:p>
            <a:r>
              <a:rPr lang="zh-CN" altLang="en-US" dirty="0"/>
              <a:t>程序及指令的执行过程</a:t>
            </a:r>
            <a:endParaRPr lang="zh-CN" altLang="en-US" dirty="0"/>
          </a:p>
        </p:txBody>
      </p:sp>
      <p:sp>
        <p:nvSpPr>
          <p:cNvPr id="10243" name="文本占位符 454659"/>
          <p:cNvSpPr>
            <a:spLocks noGrp="1"/>
          </p:cNvSpPr>
          <p:nvPr>
            <p:ph idx="1"/>
          </p:nvPr>
        </p:nvSpPr>
        <p:spPr>
          <a:xfrm>
            <a:off x="174625" y="2120900"/>
            <a:ext cx="2422525" cy="358775"/>
          </a:xfrm>
          <a:ln/>
        </p:spPr>
        <p:txBody>
          <a:bodyPr wrap="square" lIns="63500" tIns="25400" rIns="63500" bIns="25400" anchor="t" anchorCtr="0">
            <a:spAutoFit/>
          </a:bodyPr>
          <a:p>
            <a:pPr>
              <a:buNone/>
            </a:pPr>
            <a:r>
              <a:rPr lang="zh-CN" altLang="en-US" sz="2000" dirty="0">
                <a:latin typeface="微软雅黑" panose="020B0503020204020204" pitchFamily="34" charset="-122"/>
                <a:ea typeface="微软雅黑" panose="020B0503020204020204" pitchFamily="34" charset="-122"/>
              </a:rPr>
              <a:t>对于第</a:t>
            </a:r>
            <a:r>
              <a:rPr lang="en-US" altLang="zh-CN" sz="2000">
                <a:latin typeface="微软雅黑" panose="020B0503020204020204" pitchFamily="34" charset="-122"/>
                <a:ea typeface="微软雅黑" panose="020B0503020204020204" pitchFamily="34" charset="-122"/>
              </a:rPr>
              <a:t>3</a:t>
            </a:r>
            <a:r>
              <a:rPr lang="zh-CN" altLang="en-US" sz="2000">
                <a:latin typeface="微软雅黑" panose="020B0503020204020204" pitchFamily="34" charset="-122"/>
                <a:ea typeface="微软雅黑" panose="020B0503020204020204" pitchFamily="34" charset="-122"/>
              </a:rPr>
              <a:t>章</a:t>
            </a:r>
            <a:r>
              <a:rPr lang="zh-CN" altLang="en-US" sz="2000" dirty="0">
                <a:latin typeface="微软雅黑" panose="020B0503020204020204" pitchFamily="34" charset="-122"/>
                <a:ea typeface="微软雅黑" panose="020B0503020204020204" pitchFamily="34" charset="-122"/>
              </a:rPr>
              <a:t>的例子</a:t>
            </a:r>
            <a:endParaRPr lang="zh-CN" altLang="en-US" sz="2000" dirty="0">
              <a:latin typeface="微软雅黑" panose="020B0503020204020204" pitchFamily="34" charset="-122"/>
              <a:ea typeface="微软雅黑" panose="020B0503020204020204" pitchFamily="34" charset="-122"/>
            </a:endParaRPr>
          </a:p>
        </p:txBody>
      </p:sp>
      <p:sp>
        <p:nvSpPr>
          <p:cNvPr id="454661" name="矩形 454660"/>
          <p:cNvSpPr/>
          <p:nvPr/>
        </p:nvSpPr>
        <p:spPr>
          <a:xfrm>
            <a:off x="100013" y="2562225"/>
            <a:ext cx="3687762" cy="4211638"/>
          </a:xfrm>
          <a:prstGeom prst="rect">
            <a:avLst/>
          </a:prstGeom>
          <a:noFill/>
          <a:ln w="9525">
            <a:noFill/>
          </a:ln>
        </p:spPr>
        <p:txBody>
          <a:bodyPr wrap="none" anchor="ctr" anchorCtr="0">
            <a:spAutoFit/>
          </a:bodyPr>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#include "</a:t>
            </a:r>
            <a:r>
              <a:rPr lang="en-US" altLang="zh-CN" sz="1800" err="1">
                <a:solidFill>
                  <a:srgbClr val="0000FF"/>
                </a:solidFill>
                <a:latin typeface="微软雅黑" panose="020B0503020204020204" pitchFamily="34" charset="-122"/>
                <a:ea typeface="微软雅黑" panose="020B0503020204020204" pitchFamily="34" charset="-122"/>
              </a:rPr>
              <a:t>stdio.h</a:t>
            </a:r>
            <a:r>
              <a:rPr lang="en-US" altLang="zh-CN" sz="1800">
                <a:solidFill>
                  <a:srgbClr val="0000FF"/>
                </a:solidFill>
                <a:latin typeface="微软雅黑" panose="020B0503020204020204" pitchFamily="34" charset="-122"/>
                <a:ea typeface="微软雅黑" panose="020B0503020204020204" pitchFamily="34" charset="-122"/>
              </a:rPr>
              <a:t>"</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#include "</a:t>
            </a:r>
            <a:r>
              <a:rPr lang="en-US" altLang="zh-CN" sz="1800" err="1">
                <a:solidFill>
                  <a:srgbClr val="0000FF"/>
                </a:solidFill>
                <a:latin typeface="微软雅黑" panose="020B0503020204020204" pitchFamily="34" charset="-122"/>
                <a:ea typeface="微软雅黑" panose="020B0503020204020204" pitchFamily="34" charset="-122"/>
              </a:rPr>
              <a:t>string.h</a:t>
            </a:r>
            <a:r>
              <a:rPr lang="en-US" altLang="zh-CN" sz="1800">
                <a:solidFill>
                  <a:srgbClr val="0000FF"/>
                </a:solidFill>
                <a:latin typeface="微软雅黑" panose="020B0503020204020204" pitchFamily="34" charset="-122"/>
                <a:ea typeface="微软雅黑" panose="020B0503020204020204" pitchFamily="34" charset="-122"/>
              </a:rPr>
              <a:t>"</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 </a:t>
            </a:r>
            <a:r>
              <a:rPr lang="en-US" altLang="zh-CN" sz="1800">
                <a:solidFill>
                  <a:schemeClr val="accent1"/>
                </a:solidFill>
                <a:latin typeface="微软雅黑" panose="020B0503020204020204" pitchFamily="34" charset="-122"/>
                <a:ea typeface="微软雅黑" panose="020B0503020204020204" pitchFamily="34" charset="-122"/>
              </a:rPr>
              <a:t>void </a:t>
            </a:r>
            <a:r>
              <a:rPr lang="en-US" altLang="zh-CN" sz="1800" err="1">
                <a:solidFill>
                  <a:schemeClr val="accent1"/>
                </a:solidFill>
                <a:latin typeface="微软雅黑" panose="020B0503020204020204" pitchFamily="34" charset="-122"/>
                <a:ea typeface="微软雅黑" panose="020B0503020204020204" pitchFamily="34" charset="-122"/>
              </a:rPr>
              <a:t>outputs(char</a:t>
            </a:r>
            <a:r>
              <a:rPr lang="en-US" altLang="zh-CN" sz="1800">
                <a:solidFill>
                  <a:schemeClr val="accent1"/>
                </a:solidFill>
                <a:latin typeface="微软雅黑" panose="020B0503020204020204" pitchFamily="34" charset="-122"/>
                <a:ea typeface="微软雅黑" panose="020B0503020204020204" pitchFamily="34" charset="-122"/>
              </a:rPr>
              <a:t> *</a:t>
            </a:r>
            <a:r>
              <a:rPr lang="en-US" altLang="zh-CN" sz="1800" err="1">
                <a:solidFill>
                  <a:schemeClr val="accent1"/>
                </a:solidFill>
                <a:latin typeface="微软雅黑" panose="020B0503020204020204" pitchFamily="34" charset="-122"/>
                <a:ea typeface="微软雅黑" panose="020B0503020204020204" pitchFamily="34" charset="-122"/>
              </a:rPr>
              <a:t>str</a:t>
            </a:r>
            <a:r>
              <a:rPr lang="en-US" altLang="zh-CN" sz="1800">
                <a:solidFill>
                  <a:schemeClr val="accent1"/>
                </a:solidFill>
                <a:latin typeface="微软雅黑" panose="020B0503020204020204" pitchFamily="34" charset="-122"/>
                <a:ea typeface="微软雅黑" panose="020B0503020204020204" pitchFamily="34" charset="-122"/>
              </a:rPr>
              <a:t>)</a:t>
            </a:r>
            <a:r>
              <a:rPr lang="en-US" altLang="zh-CN" sz="1800">
                <a:solidFill>
                  <a:srgbClr val="0000FF"/>
                </a:solidFill>
                <a:latin typeface="微软雅黑" panose="020B0503020204020204" pitchFamily="34" charset="-122"/>
                <a:ea typeface="微软雅黑" panose="020B0503020204020204" pitchFamily="34" charset="-122"/>
              </a:rPr>
              <a:t> </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 </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    char buffer[16]; </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    </a:t>
            </a:r>
            <a:r>
              <a:rPr lang="en-US" altLang="zh-CN" sz="1800" err="1">
                <a:solidFill>
                  <a:srgbClr val="0000FF"/>
                </a:solidFill>
                <a:latin typeface="微软雅黑" panose="020B0503020204020204" pitchFamily="34" charset="-122"/>
                <a:ea typeface="微软雅黑" panose="020B0503020204020204" pitchFamily="34" charset="-122"/>
              </a:rPr>
              <a:t>strcpy(buffer,str</a:t>
            </a:r>
            <a:r>
              <a:rPr lang="en-US" altLang="zh-CN" sz="1800">
                <a:solidFill>
                  <a:srgbClr val="0000FF"/>
                </a:solidFill>
                <a:latin typeface="微软雅黑" panose="020B0503020204020204" pitchFamily="34" charset="-122"/>
                <a:ea typeface="微软雅黑" panose="020B0503020204020204" pitchFamily="34" charset="-122"/>
              </a:rPr>
              <a:t>); </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    </a:t>
            </a:r>
            <a:r>
              <a:rPr lang="en-US" altLang="zh-CN" sz="1800" err="1">
                <a:solidFill>
                  <a:srgbClr val="0000FF"/>
                </a:solidFill>
                <a:latin typeface="微软雅黑" panose="020B0503020204020204" pitchFamily="34" charset="-122"/>
                <a:ea typeface="微软雅黑" panose="020B0503020204020204" pitchFamily="34" charset="-122"/>
              </a:rPr>
              <a:t>printf("%s</a:t>
            </a:r>
            <a:r>
              <a:rPr lang="en-US" altLang="zh-CN" sz="1800">
                <a:solidFill>
                  <a:srgbClr val="0000FF"/>
                </a:solidFill>
                <a:latin typeface="微软雅黑" panose="020B0503020204020204" pitchFamily="34" charset="-122"/>
                <a:ea typeface="微软雅黑" panose="020B0503020204020204" pitchFamily="34" charset="-122"/>
              </a:rPr>
              <a:t> \n", buffer);</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chemeClr val="accent1"/>
                </a:solidFill>
                <a:latin typeface="微软雅黑" panose="020B0503020204020204" pitchFamily="34" charset="-122"/>
                <a:ea typeface="微软雅黑" panose="020B0503020204020204" pitchFamily="34" charset="-122"/>
              </a:rPr>
              <a:t>     ……</a:t>
            </a:r>
            <a:endParaRPr lang="en-US" altLang="zh-CN" sz="1800">
              <a:solidFill>
                <a:schemeClr val="accent1"/>
              </a:solidFill>
              <a:latin typeface="微软雅黑" panose="020B0503020204020204" pitchFamily="34" charset="-122"/>
              <a:ea typeface="微软雅黑" panose="020B0503020204020204" pitchFamily="34" charset="-122"/>
            </a:endParaRPr>
          </a:p>
          <a:p>
            <a:pPr defTabSz="914400">
              <a:tabLst>
                <a:tab pos="542925" algn="l"/>
              </a:tabLst>
            </a:pPr>
            <a:endParaRPr lang="en-US" altLang="zh-CN" sz="1800">
              <a:solidFill>
                <a:schemeClr val="accent1"/>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err="1">
                <a:solidFill>
                  <a:schemeClr val="accent1"/>
                </a:solidFill>
                <a:latin typeface="微软雅黑" panose="020B0503020204020204" pitchFamily="34" charset="-122"/>
                <a:ea typeface="微软雅黑" panose="020B0503020204020204" pitchFamily="34" charset="-122"/>
              </a:rPr>
              <a:t>int</a:t>
            </a:r>
            <a:r>
              <a:rPr lang="en-US" altLang="zh-CN" sz="1800">
                <a:solidFill>
                  <a:schemeClr val="accent1"/>
                </a:solidFill>
                <a:latin typeface="微软雅黑" panose="020B0503020204020204" pitchFamily="34" charset="-122"/>
                <a:ea typeface="微软雅黑" panose="020B0503020204020204" pitchFamily="34" charset="-122"/>
              </a:rPr>
              <a:t> </a:t>
            </a:r>
            <a:r>
              <a:rPr lang="en-US" altLang="zh-CN" sz="1800" err="1">
                <a:solidFill>
                  <a:schemeClr val="accent1"/>
                </a:solidFill>
                <a:latin typeface="微软雅黑" panose="020B0503020204020204" pitchFamily="34" charset="-122"/>
                <a:ea typeface="微软雅黑" panose="020B0503020204020204" pitchFamily="34" charset="-122"/>
              </a:rPr>
              <a:t>main(int</a:t>
            </a:r>
            <a:r>
              <a:rPr lang="en-US" altLang="zh-CN" sz="1800">
                <a:solidFill>
                  <a:schemeClr val="accent1"/>
                </a:solidFill>
                <a:latin typeface="微软雅黑" panose="020B0503020204020204" pitchFamily="34" charset="-122"/>
                <a:ea typeface="微软雅黑" panose="020B0503020204020204" pitchFamily="34" charset="-122"/>
              </a:rPr>
              <a:t> </a:t>
            </a:r>
            <a:r>
              <a:rPr lang="en-US" altLang="zh-CN" sz="1800" err="1">
                <a:solidFill>
                  <a:schemeClr val="accent1"/>
                </a:solidFill>
                <a:latin typeface="微软雅黑" panose="020B0503020204020204" pitchFamily="34" charset="-122"/>
                <a:ea typeface="微软雅黑" panose="020B0503020204020204" pitchFamily="34" charset="-122"/>
              </a:rPr>
              <a:t>argc</a:t>
            </a:r>
            <a:r>
              <a:rPr lang="en-US" altLang="zh-CN" sz="1800">
                <a:solidFill>
                  <a:schemeClr val="accent1"/>
                </a:solidFill>
                <a:latin typeface="微软雅黑" panose="020B0503020204020204" pitchFamily="34" charset="-122"/>
                <a:ea typeface="微软雅黑" panose="020B0503020204020204" pitchFamily="34" charset="-122"/>
              </a:rPr>
              <a:t>, char *</a:t>
            </a:r>
            <a:r>
              <a:rPr lang="en-US" altLang="zh-CN" sz="1800" err="1">
                <a:solidFill>
                  <a:schemeClr val="accent1"/>
                </a:solidFill>
                <a:latin typeface="微软雅黑" panose="020B0503020204020204" pitchFamily="34" charset="-122"/>
                <a:ea typeface="微软雅黑" panose="020B0503020204020204" pitchFamily="34" charset="-122"/>
              </a:rPr>
              <a:t>argv</a:t>
            </a:r>
            <a:r>
              <a:rPr lang="en-US" altLang="zh-CN" sz="1800">
                <a:solidFill>
                  <a:schemeClr val="accent1"/>
                </a:solidFill>
                <a:latin typeface="微软雅黑" panose="020B0503020204020204" pitchFamily="34" charset="-122"/>
                <a:ea typeface="微软雅黑" panose="020B0503020204020204" pitchFamily="34" charset="-122"/>
              </a:rPr>
              <a:t>[])</a:t>
            </a:r>
            <a:endParaRPr lang="en-US" altLang="zh-CN" sz="1800">
              <a:solidFill>
                <a:schemeClr val="accent1"/>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    outputs(argv[1]);</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    return 0;</a:t>
            </a:r>
            <a:endParaRPr lang="en-US" altLang="zh-CN" sz="1800">
              <a:solidFill>
                <a:srgbClr val="0000FF"/>
              </a:solidFill>
              <a:latin typeface="微软雅黑" panose="020B0503020204020204" pitchFamily="34" charset="-122"/>
              <a:ea typeface="微软雅黑" panose="020B0503020204020204" pitchFamily="34" charset="-122"/>
            </a:endParaRPr>
          </a:p>
          <a:p>
            <a:pPr defTabSz="914400">
              <a:tabLst>
                <a:tab pos="542925" algn="l"/>
              </a:tabLst>
            </a:pPr>
            <a:r>
              <a:rPr lang="en-US" altLang="zh-CN" sz="1800">
                <a:solidFill>
                  <a:srgbClr val="0000FF"/>
                </a:solidFill>
                <a:latin typeface="微软雅黑" panose="020B0503020204020204" pitchFamily="34" charset="-122"/>
                <a:ea typeface="微软雅黑" panose="020B0503020204020204" pitchFamily="34" charset="-122"/>
              </a:rPr>
              <a:t>}</a:t>
            </a:r>
            <a:endParaRPr lang="en-US" altLang="zh-CN" sz="1800">
              <a:solidFill>
                <a:srgbClr val="0000FF"/>
              </a:solidFill>
              <a:latin typeface="微软雅黑" panose="020B0503020204020204" pitchFamily="34" charset="-122"/>
              <a:ea typeface="微软雅黑" panose="020B0503020204020204" pitchFamily="34" charset="-122"/>
            </a:endParaRPr>
          </a:p>
        </p:txBody>
      </p:sp>
      <p:grpSp>
        <p:nvGrpSpPr>
          <p:cNvPr id="454678" name="组合 454677"/>
          <p:cNvGrpSpPr/>
          <p:nvPr/>
        </p:nvGrpSpPr>
        <p:grpSpPr>
          <a:xfrm>
            <a:off x="6877050" y="5973763"/>
            <a:ext cx="1177925" cy="595312"/>
            <a:chOff x="4634" y="3857"/>
            <a:chExt cx="742" cy="375"/>
          </a:xfrm>
        </p:grpSpPr>
        <p:sp>
          <p:nvSpPr>
            <p:cNvPr id="10246" name="右大括号 454675"/>
            <p:cNvSpPr/>
            <p:nvPr/>
          </p:nvSpPr>
          <p:spPr>
            <a:xfrm>
              <a:off x="4634" y="3875"/>
              <a:ext cx="157" cy="357"/>
            </a:xfrm>
            <a:prstGeom prst="rightBrace">
              <a:avLst>
                <a:gd name="adj1" fmla="val 18854"/>
                <a:gd name="adj2" fmla="val 50000"/>
              </a:avLst>
            </a:prstGeom>
            <a:noFill/>
            <a:ln w="38100" cap="flat" cmpd="sng">
              <a:solidFill>
                <a:schemeClr val="accent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247" name="文本框 454676"/>
            <p:cNvSpPr txBox="1"/>
            <p:nvPr/>
          </p:nvSpPr>
          <p:spPr>
            <a:xfrm>
              <a:off x="4773" y="3857"/>
              <a:ext cx="603" cy="366"/>
            </a:xfrm>
            <a:prstGeom prst="rect">
              <a:avLst/>
            </a:prstGeom>
            <a:noFill/>
            <a:ln w="50800">
              <a:noFill/>
            </a:ln>
          </p:spPr>
          <p:txBody>
            <a:bodyPr anchor="t" anchorCtr="0">
              <a:spAutoFit/>
            </a:bodyPr>
            <a:p>
              <a:pPr eaLnBrk="0" hangingPunct="0">
                <a:spcBef>
                  <a:spcPct val="50000"/>
                </a:spcBef>
              </a:pPr>
              <a:r>
                <a:rPr lang="en-US" altLang="zh-CN" err="1">
                  <a:solidFill>
                    <a:schemeClr val="accent1"/>
                  </a:solidFill>
                  <a:latin typeface="Arial" panose="020B0604020202020204" pitchFamily="34" charset="0"/>
                  <a:ea typeface="宋体" panose="02010600030101010101" pitchFamily="2" charset="-122"/>
                </a:rPr>
                <a:t>Strcpy</a:t>
              </a:r>
              <a:r>
                <a:rPr lang="zh-CN" altLang="en-US" dirty="0">
                  <a:solidFill>
                    <a:schemeClr val="accent1"/>
                  </a:solidFill>
                  <a:latin typeface="Arial" panose="020B0604020202020204" pitchFamily="34" charset="0"/>
                  <a:ea typeface="宋体" panose="02010600030101010101" pitchFamily="2" charset="-122"/>
                </a:rPr>
                <a:t>的栈帧</a:t>
              </a:r>
              <a:endParaRPr lang="zh-CN" altLang="en-US" dirty="0">
                <a:solidFill>
                  <a:schemeClr val="accent1"/>
                </a:solidFill>
                <a:latin typeface="Arial" panose="020B0604020202020204" pitchFamily="34" charset="0"/>
                <a:ea typeface="宋体" panose="02010600030101010101" pitchFamily="2" charset="-122"/>
              </a:endParaRPr>
            </a:p>
          </p:txBody>
        </p:sp>
      </p:grpSp>
      <p:grpSp>
        <p:nvGrpSpPr>
          <p:cNvPr id="454689" name="组合 454688"/>
          <p:cNvGrpSpPr/>
          <p:nvPr/>
        </p:nvGrpSpPr>
        <p:grpSpPr>
          <a:xfrm>
            <a:off x="2403475" y="660400"/>
            <a:ext cx="4703763" cy="2100263"/>
            <a:chOff x="1514" y="416"/>
            <a:chExt cx="2963" cy="1323"/>
          </a:xfrm>
        </p:grpSpPr>
        <p:sp>
          <p:nvSpPr>
            <p:cNvPr id="10249" name="文本框 454678"/>
            <p:cNvSpPr txBox="1"/>
            <p:nvPr/>
          </p:nvSpPr>
          <p:spPr>
            <a:xfrm>
              <a:off x="1514" y="522"/>
              <a:ext cx="1111" cy="1141"/>
            </a:xfrm>
            <a:prstGeom prst="rect">
              <a:avLst/>
            </a:prstGeom>
            <a:noFill/>
            <a:ln w="50800">
              <a:noFill/>
            </a:ln>
          </p:spPr>
          <p:txBody>
            <a:bodyPr anchor="t" anchorCtr="0">
              <a:spAutoFit/>
            </a:bodyPr>
            <a:p>
              <a:pPr eaLnBrk="0" hangingPunct="0">
                <a:spcBef>
                  <a:spcPct val="5000"/>
                </a:spcBef>
              </a:pPr>
              <a:r>
                <a:rPr lang="en-US" altLang="zh-CN" sz="1800">
                  <a:solidFill>
                    <a:schemeClr val="accent1"/>
                  </a:solidFill>
                  <a:latin typeface="微软雅黑" panose="020B0503020204020204" pitchFamily="34" charset="-122"/>
                  <a:ea typeface="微软雅黑" panose="020B0503020204020204" pitchFamily="34" charset="-122"/>
                </a:rPr>
                <a:t>main</a:t>
              </a:r>
              <a:r>
                <a:rPr lang="zh-CN" altLang="en-US" sz="1800" dirty="0">
                  <a:solidFill>
                    <a:schemeClr val="accent1"/>
                  </a:solidFill>
                  <a:latin typeface="微软雅黑" panose="020B0503020204020204" pitchFamily="34" charset="-122"/>
                  <a:ea typeface="微软雅黑" panose="020B0503020204020204" pitchFamily="34" charset="-122"/>
                </a:rPr>
                <a:t>：</a:t>
              </a:r>
              <a:endParaRPr lang="zh-CN" altLang="en-US" sz="1800" dirty="0">
                <a:solidFill>
                  <a:schemeClr val="accent1"/>
                </a:solidFill>
                <a:latin typeface="微软雅黑" panose="020B0503020204020204" pitchFamily="34" charset="-122"/>
                <a:ea typeface="微软雅黑" panose="020B0503020204020204" pitchFamily="34" charset="-122"/>
              </a:endParaRPr>
            </a:p>
            <a:p>
              <a:pPr eaLnBrk="0" hangingPunct="0">
                <a:spcBef>
                  <a:spcPct val="5000"/>
                </a:spcBef>
              </a:pPr>
              <a:r>
                <a:rPr lang="zh-CN" altLang="en-US" sz="1800" dirty="0">
                  <a:solidFill>
                    <a:schemeClr val="accent1"/>
                  </a:solidFill>
                  <a:latin typeface="微软雅黑" panose="020B0503020204020204" pitchFamily="34" charset="-122"/>
                  <a:ea typeface="微软雅黑" panose="020B0503020204020204" pitchFamily="34" charset="-122"/>
                </a:rPr>
                <a:t>   </a:t>
              </a:r>
              <a:r>
                <a:rPr lang="en-US" altLang="zh-CN" sz="1800">
                  <a:latin typeface="微软雅黑" panose="020B0503020204020204" pitchFamily="34" charset="-122"/>
                  <a:ea typeface="微软雅黑" panose="020B0503020204020204" pitchFamily="34" charset="-122"/>
                </a:rPr>
                <a:t>……</a:t>
              </a:r>
              <a:endParaRPr lang="en-US" altLang="zh-CN" sz="1800">
                <a:latin typeface="微软雅黑" panose="020B0503020204020204" pitchFamily="34" charset="-122"/>
                <a:ea typeface="微软雅黑" panose="020B0503020204020204" pitchFamily="34" charset="-122"/>
              </a:endParaRPr>
            </a:p>
            <a:p>
              <a:pPr eaLnBrk="0" hangingPunct="0">
                <a:spcBef>
                  <a:spcPct val="5000"/>
                </a:spcBef>
              </a:pPr>
              <a:r>
                <a:rPr lang="zh-CN" altLang="en-US" sz="1800" dirty="0">
                  <a:latin typeface="微软雅黑" panose="020B0503020204020204" pitchFamily="34" charset="-122"/>
                  <a:ea typeface="微软雅黑" panose="020B0503020204020204" pitchFamily="34" charset="-122"/>
                </a:rPr>
                <a:t>  </a:t>
              </a:r>
              <a:r>
                <a:rPr lang="en-US" altLang="zh-CN" sz="1800">
                  <a:latin typeface="微软雅黑" panose="020B0503020204020204" pitchFamily="34" charset="-122"/>
                  <a:ea typeface="微软雅黑" panose="020B0503020204020204" pitchFamily="34" charset="-122"/>
                </a:rPr>
                <a:t>call outputs</a:t>
              </a:r>
              <a:endParaRPr lang="en-US" altLang="zh-CN" sz="1800">
                <a:latin typeface="微软雅黑" panose="020B0503020204020204" pitchFamily="34" charset="-122"/>
                <a:ea typeface="微软雅黑" panose="020B0503020204020204" pitchFamily="34" charset="-122"/>
              </a:endParaRPr>
            </a:p>
            <a:p>
              <a:pPr eaLnBrk="0" hangingPunct="0">
                <a:spcBef>
                  <a:spcPct val="5000"/>
                </a:spcBef>
              </a:pPr>
              <a:r>
                <a:rPr lang="en-US" altLang="zh-CN" sz="1800">
                  <a:latin typeface="微软雅黑" panose="020B0503020204020204" pitchFamily="34" charset="-122"/>
                  <a:ea typeface="微软雅黑" panose="020B0503020204020204" pitchFamily="34" charset="-122"/>
                </a:rPr>
                <a:t>  </a:t>
              </a:r>
              <a:r>
                <a:rPr lang="en-US" altLang="zh-CN" sz="1800" err="1">
                  <a:latin typeface="微软雅黑" panose="020B0503020204020204" pitchFamily="34" charset="-122"/>
                  <a:ea typeface="微软雅黑" panose="020B0503020204020204" pitchFamily="34" charset="-122"/>
                </a:rPr>
                <a:t>mov</a:t>
              </a:r>
              <a:r>
                <a:rPr lang="en-US" altLang="zh-CN" sz="1800">
                  <a:latin typeface="微软雅黑" panose="020B0503020204020204" pitchFamily="34" charset="-122"/>
                  <a:ea typeface="微软雅黑" panose="020B0503020204020204" pitchFamily="34" charset="-122"/>
                </a:rPr>
                <a:t> </a:t>
              </a:r>
              <a:r>
                <a:rPr lang="en-US" altLang="zh-CN" sz="1800" err="1">
                  <a:latin typeface="微软雅黑" panose="020B0503020204020204" pitchFamily="34" charset="-122"/>
                  <a:ea typeface="微软雅黑" panose="020B0503020204020204" pitchFamily="34" charset="-122"/>
                </a:rPr>
                <a:t>eax</a:t>
              </a:r>
              <a:r>
                <a:rPr lang="en-US" altLang="zh-CN" sz="180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eaLnBrk="0" hangingPunct="0">
                <a:spcBef>
                  <a:spcPct val="5000"/>
                </a:spcBef>
              </a:pPr>
              <a:r>
                <a:rPr lang="en-US" altLang="zh-CN" sz="1800">
                  <a:latin typeface="微软雅黑" panose="020B0503020204020204" pitchFamily="34" charset="-122"/>
                  <a:ea typeface="微软雅黑" panose="020B0503020204020204" pitchFamily="34" charset="-122"/>
                </a:rPr>
                <a:t>   ……</a:t>
              </a:r>
              <a:endParaRPr lang="en-US" altLang="zh-CN" sz="1800">
                <a:latin typeface="微软雅黑" panose="020B0503020204020204" pitchFamily="34" charset="-122"/>
                <a:ea typeface="微软雅黑" panose="020B0503020204020204" pitchFamily="34" charset="-122"/>
              </a:endParaRPr>
            </a:p>
            <a:p>
              <a:pPr eaLnBrk="0" hangingPunct="0">
                <a:spcBef>
                  <a:spcPct val="5000"/>
                </a:spcBef>
              </a:pPr>
              <a:r>
                <a:rPr lang="en-US" altLang="zh-CN" sz="1800">
                  <a:latin typeface="微软雅黑" panose="020B0503020204020204" pitchFamily="34" charset="-122"/>
                  <a:ea typeface="微软雅黑" panose="020B0503020204020204" pitchFamily="34" charset="-122"/>
                </a:rPr>
                <a:t>  ret</a:t>
              </a:r>
              <a:endParaRPr lang="en-US" altLang="zh-CN" sz="1800">
                <a:latin typeface="微软雅黑" panose="020B0503020204020204" pitchFamily="34" charset="-122"/>
                <a:ea typeface="微软雅黑" panose="020B0503020204020204" pitchFamily="34" charset="-122"/>
              </a:endParaRPr>
            </a:p>
          </p:txBody>
        </p:sp>
        <p:sp>
          <p:nvSpPr>
            <p:cNvPr id="10250" name="直接连接符 454679"/>
            <p:cNvSpPr/>
            <p:nvPr/>
          </p:nvSpPr>
          <p:spPr>
            <a:xfrm flipV="1">
              <a:off x="2556" y="595"/>
              <a:ext cx="246" cy="355"/>
            </a:xfrm>
            <a:prstGeom prst="line">
              <a:avLst/>
            </a:prstGeom>
            <a:ln w="38100" cap="flat" cmpd="sng">
              <a:solidFill>
                <a:schemeClr val="accent1"/>
              </a:solidFill>
              <a:prstDash val="solid"/>
              <a:round/>
              <a:headEnd type="none" w="med" len="med"/>
              <a:tailEnd type="triangle" w="med" len="med"/>
            </a:ln>
          </p:spPr>
        </p:sp>
        <p:sp>
          <p:nvSpPr>
            <p:cNvPr id="10251" name="文本框 454680"/>
            <p:cNvSpPr txBox="1"/>
            <p:nvPr/>
          </p:nvSpPr>
          <p:spPr>
            <a:xfrm>
              <a:off x="2749" y="416"/>
              <a:ext cx="1050" cy="1323"/>
            </a:xfrm>
            <a:prstGeom prst="rect">
              <a:avLst/>
            </a:prstGeom>
            <a:noFill/>
            <a:ln w="50800">
              <a:noFill/>
            </a:ln>
          </p:spPr>
          <p:txBody>
            <a:bodyPr anchor="t" anchorCtr="0">
              <a:spAutoFit/>
            </a:bodyPr>
            <a:p>
              <a:pPr eaLnBrk="0" hangingPunct="0">
                <a:spcBef>
                  <a:spcPct val="5000"/>
                </a:spcBef>
              </a:pPr>
              <a:r>
                <a:rPr lang="en-US" altLang="zh-CN" sz="1800">
                  <a:solidFill>
                    <a:schemeClr val="accent1"/>
                  </a:solidFill>
                  <a:latin typeface="微软雅黑" panose="020B0503020204020204" pitchFamily="34" charset="-122"/>
                  <a:ea typeface="微软雅黑" panose="020B0503020204020204" pitchFamily="34" charset="-122"/>
                </a:rPr>
                <a:t>outputs</a:t>
              </a:r>
              <a:r>
                <a:rPr lang="zh-CN" altLang="en-US" sz="1800" dirty="0">
                  <a:solidFill>
                    <a:schemeClr val="accent1"/>
                  </a:solidFill>
                  <a:latin typeface="微软雅黑" panose="020B0503020204020204" pitchFamily="34" charset="-122"/>
                  <a:ea typeface="微软雅黑" panose="020B0503020204020204" pitchFamily="34" charset="-122"/>
                </a:rPr>
                <a:t>：</a:t>
              </a:r>
              <a:endParaRPr lang="zh-CN" altLang="en-US" sz="1800" dirty="0">
                <a:solidFill>
                  <a:schemeClr val="accent1"/>
                </a:solidFill>
                <a:latin typeface="微软雅黑" panose="020B0503020204020204" pitchFamily="34" charset="-122"/>
                <a:ea typeface="微软雅黑" panose="020B0503020204020204" pitchFamily="34" charset="-122"/>
              </a:endParaRPr>
            </a:p>
            <a:p>
              <a:pPr eaLnBrk="0" hangingPunct="0">
                <a:spcBef>
                  <a:spcPct val="5000"/>
                </a:spcBef>
              </a:pPr>
              <a:r>
                <a:rPr lang="zh-CN" altLang="en-US" sz="1800" dirty="0">
                  <a:solidFill>
                    <a:schemeClr val="accent1"/>
                  </a:solidFill>
                  <a:latin typeface="微软雅黑" panose="020B0503020204020204" pitchFamily="34" charset="-122"/>
                  <a:ea typeface="微软雅黑" panose="020B0503020204020204" pitchFamily="34" charset="-122"/>
                </a:rPr>
                <a:t>   </a:t>
              </a:r>
              <a:r>
                <a:rPr lang="en-US" altLang="zh-CN" sz="1800">
                  <a:latin typeface="微软雅黑" panose="020B0503020204020204" pitchFamily="34" charset="-122"/>
                  <a:ea typeface="微软雅黑" panose="020B0503020204020204" pitchFamily="34" charset="-122"/>
                </a:rPr>
                <a:t>……</a:t>
              </a:r>
              <a:endParaRPr lang="en-US" altLang="zh-CN" sz="1800">
                <a:latin typeface="微软雅黑" panose="020B0503020204020204" pitchFamily="34" charset="-122"/>
                <a:ea typeface="微软雅黑" panose="020B0503020204020204" pitchFamily="34" charset="-122"/>
              </a:endParaRPr>
            </a:p>
            <a:p>
              <a:pPr eaLnBrk="0" hangingPunct="0">
                <a:spcBef>
                  <a:spcPct val="5000"/>
                </a:spcBef>
              </a:pPr>
              <a:r>
                <a:rPr lang="zh-CN" altLang="en-US" sz="1800" dirty="0">
                  <a:latin typeface="微软雅黑" panose="020B0503020204020204" pitchFamily="34" charset="-122"/>
                  <a:ea typeface="微软雅黑" panose="020B0503020204020204" pitchFamily="34" charset="-122"/>
                </a:rPr>
                <a:t>  </a:t>
              </a:r>
              <a:r>
                <a:rPr lang="en-US" altLang="zh-CN" sz="1800">
                  <a:latin typeface="微软雅黑" panose="020B0503020204020204" pitchFamily="34" charset="-122"/>
                  <a:ea typeface="微软雅黑" panose="020B0503020204020204" pitchFamily="34" charset="-122"/>
                </a:rPr>
                <a:t>call </a:t>
              </a:r>
              <a:r>
                <a:rPr lang="en-US" altLang="zh-CN" sz="1800" err="1">
                  <a:latin typeface="微软雅黑" panose="020B0503020204020204" pitchFamily="34" charset="-122"/>
                  <a:ea typeface="微软雅黑" panose="020B0503020204020204" pitchFamily="34" charset="-122"/>
                </a:rPr>
                <a:t>strcpy</a:t>
              </a:r>
              <a:endParaRPr lang="en-US" altLang="zh-CN" sz="1800">
                <a:latin typeface="微软雅黑" panose="020B0503020204020204" pitchFamily="34" charset="-122"/>
                <a:ea typeface="微软雅黑" panose="020B0503020204020204" pitchFamily="34" charset="-122"/>
              </a:endParaRPr>
            </a:p>
            <a:p>
              <a:pPr eaLnBrk="0" hangingPunct="0">
                <a:spcBef>
                  <a:spcPct val="5000"/>
                </a:spcBef>
              </a:pPr>
              <a:r>
                <a:rPr lang="en-US" altLang="zh-CN" sz="1800">
                  <a:latin typeface="微软雅黑" panose="020B0503020204020204" pitchFamily="34" charset="-122"/>
                  <a:ea typeface="微软雅黑" panose="020B0503020204020204" pitchFamily="34" charset="-122"/>
                </a:rPr>
                <a:t>  ……</a:t>
              </a:r>
              <a:endParaRPr lang="en-US" altLang="zh-CN" sz="1800">
                <a:latin typeface="微软雅黑" panose="020B0503020204020204" pitchFamily="34" charset="-122"/>
                <a:ea typeface="微软雅黑" panose="020B0503020204020204" pitchFamily="34" charset="-122"/>
              </a:endParaRPr>
            </a:p>
            <a:p>
              <a:pPr eaLnBrk="0" hangingPunct="0">
                <a:spcBef>
                  <a:spcPct val="5000"/>
                </a:spcBef>
              </a:pPr>
              <a:r>
                <a:rPr lang="en-US" altLang="zh-CN" sz="1800">
                  <a:latin typeface="微软雅黑" panose="020B0503020204020204" pitchFamily="34" charset="-122"/>
                  <a:ea typeface="微软雅黑" panose="020B0503020204020204" pitchFamily="34" charset="-122"/>
                </a:rPr>
                <a:t>  call </a:t>
              </a:r>
              <a:r>
                <a:rPr lang="en-US" altLang="zh-CN" sz="1800" err="1">
                  <a:latin typeface="微软雅黑" panose="020B0503020204020204" pitchFamily="34" charset="-122"/>
                  <a:ea typeface="微软雅黑" panose="020B0503020204020204" pitchFamily="34" charset="-122"/>
                </a:rPr>
                <a:t>printf</a:t>
              </a:r>
              <a:endParaRPr lang="en-US" altLang="zh-CN" sz="1800">
                <a:latin typeface="微软雅黑" panose="020B0503020204020204" pitchFamily="34" charset="-122"/>
                <a:ea typeface="微软雅黑" panose="020B0503020204020204" pitchFamily="34" charset="-122"/>
              </a:endParaRPr>
            </a:p>
            <a:p>
              <a:pPr eaLnBrk="0" hangingPunct="0">
                <a:spcBef>
                  <a:spcPct val="5000"/>
                </a:spcBef>
              </a:pPr>
              <a:r>
                <a:rPr lang="en-US" altLang="zh-CN" sz="1800">
                  <a:latin typeface="微软雅黑" panose="020B0503020204020204" pitchFamily="34" charset="-122"/>
                  <a:ea typeface="微软雅黑" panose="020B0503020204020204" pitchFamily="34" charset="-122"/>
                </a:rPr>
                <a:t>  ……</a:t>
              </a:r>
              <a:endParaRPr lang="en-US" altLang="zh-CN" sz="1800">
                <a:latin typeface="微软雅黑" panose="020B0503020204020204" pitchFamily="34" charset="-122"/>
                <a:ea typeface="微软雅黑" panose="020B0503020204020204" pitchFamily="34" charset="-122"/>
              </a:endParaRPr>
            </a:p>
            <a:p>
              <a:pPr eaLnBrk="0" hangingPunct="0">
                <a:spcBef>
                  <a:spcPct val="5000"/>
                </a:spcBef>
              </a:pPr>
              <a:r>
                <a:rPr lang="en-US" altLang="zh-CN" sz="1800">
                  <a:latin typeface="微软雅黑" panose="020B0503020204020204" pitchFamily="34" charset="-122"/>
                  <a:ea typeface="微软雅黑" panose="020B0503020204020204" pitchFamily="34" charset="-122"/>
                </a:rPr>
                <a:t>  ret</a:t>
              </a:r>
              <a:endParaRPr lang="en-US" altLang="zh-CN" sz="1800">
                <a:latin typeface="微软雅黑" panose="020B0503020204020204" pitchFamily="34" charset="-122"/>
                <a:ea typeface="微软雅黑" panose="020B0503020204020204" pitchFamily="34" charset="-122"/>
              </a:endParaRPr>
            </a:p>
          </p:txBody>
        </p:sp>
        <p:sp>
          <p:nvSpPr>
            <p:cNvPr id="10252" name="直接连接符 454682"/>
            <p:cNvSpPr/>
            <p:nvPr/>
          </p:nvSpPr>
          <p:spPr>
            <a:xfrm flipH="1" flipV="1">
              <a:off x="2534" y="1236"/>
              <a:ext cx="324" cy="329"/>
            </a:xfrm>
            <a:prstGeom prst="line">
              <a:avLst/>
            </a:prstGeom>
            <a:ln w="38100" cap="flat" cmpd="sng">
              <a:solidFill>
                <a:schemeClr val="accent1"/>
              </a:solidFill>
              <a:prstDash val="solid"/>
              <a:round/>
              <a:headEnd type="none" w="med" len="med"/>
              <a:tailEnd type="triangle" w="med" len="med"/>
            </a:ln>
          </p:spPr>
        </p:sp>
        <p:sp>
          <p:nvSpPr>
            <p:cNvPr id="10253" name="直接连接符 454683"/>
            <p:cNvSpPr/>
            <p:nvPr/>
          </p:nvSpPr>
          <p:spPr>
            <a:xfrm flipV="1">
              <a:off x="3659" y="604"/>
              <a:ext cx="218" cy="320"/>
            </a:xfrm>
            <a:prstGeom prst="line">
              <a:avLst/>
            </a:prstGeom>
            <a:ln w="38100" cap="flat" cmpd="sng">
              <a:solidFill>
                <a:schemeClr val="accent1"/>
              </a:solidFill>
              <a:prstDash val="solid"/>
              <a:round/>
              <a:headEnd type="none" w="med" len="med"/>
              <a:tailEnd type="triangle" w="med" len="med"/>
            </a:ln>
          </p:spPr>
        </p:sp>
        <p:sp>
          <p:nvSpPr>
            <p:cNvPr id="10254" name="文本框 454684"/>
            <p:cNvSpPr txBox="1"/>
            <p:nvPr/>
          </p:nvSpPr>
          <p:spPr>
            <a:xfrm>
              <a:off x="3841" y="485"/>
              <a:ext cx="636" cy="231"/>
            </a:xfrm>
            <a:prstGeom prst="rect">
              <a:avLst/>
            </a:prstGeom>
            <a:noFill/>
            <a:ln w="50800">
              <a:noFill/>
            </a:ln>
          </p:spPr>
          <p:txBody>
            <a:bodyPr anchor="t" anchorCtr="0">
              <a:spAutoFit/>
            </a:bodyPr>
            <a:p>
              <a:pPr eaLnBrk="0" hangingPunct="0">
                <a:spcBef>
                  <a:spcPct val="50000"/>
                </a:spcBef>
              </a:pPr>
              <a:r>
                <a:rPr lang="en-US" altLang="zh-CN" sz="1800" err="1">
                  <a:solidFill>
                    <a:schemeClr val="accent1"/>
                  </a:solidFill>
                  <a:latin typeface="微软雅黑" panose="020B0503020204020204" pitchFamily="34" charset="-122"/>
                  <a:ea typeface="微软雅黑" panose="020B0503020204020204" pitchFamily="34" charset="-122"/>
                </a:rPr>
                <a:t>strcpy</a:t>
              </a:r>
              <a:r>
                <a:rPr lang="en-US" altLang="zh-CN" sz="1800">
                  <a:solidFill>
                    <a:schemeClr val="accent1"/>
                  </a:solidFill>
                  <a:latin typeface="微软雅黑" panose="020B0503020204020204" pitchFamily="34" charset="-122"/>
                  <a:ea typeface="微软雅黑" panose="020B0503020204020204" pitchFamily="34" charset="-122"/>
                </a:rPr>
                <a:t>:</a:t>
              </a:r>
              <a:endParaRPr lang="en-US" altLang="zh-CN" sz="1800">
                <a:solidFill>
                  <a:schemeClr val="accent1"/>
                </a:solidFill>
                <a:latin typeface="微软雅黑" panose="020B0503020204020204" pitchFamily="34" charset="-122"/>
                <a:ea typeface="微软雅黑" panose="020B0503020204020204" pitchFamily="34" charset="-122"/>
              </a:endParaRPr>
            </a:p>
          </p:txBody>
        </p:sp>
      </p:grpSp>
      <p:sp>
        <p:nvSpPr>
          <p:cNvPr id="454688" name="文本框 454687"/>
          <p:cNvSpPr txBox="1"/>
          <p:nvPr/>
        </p:nvSpPr>
        <p:spPr>
          <a:xfrm>
            <a:off x="7202488" y="57150"/>
            <a:ext cx="1741487" cy="2825750"/>
          </a:xfrm>
          <a:prstGeom prst="rect">
            <a:avLst/>
          </a:prstGeom>
          <a:solidFill>
            <a:schemeClr val="bg1"/>
          </a:solidFill>
          <a:ln w="9525" cap="flat" cmpd="sng">
            <a:solidFill>
              <a:schemeClr val="tx1"/>
            </a:solidFill>
            <a:prstDash val="solid"/>
            <a:miter/>
            <a:headEnd type="none" w="med" len="med"/>
            <a:tailEnd type="none" w="med" len="med"/>
          </a:ln>
        </p:spPr>
        <p:txBody>
          <a:bodyPr anchor="t" anchorCtr="0">
            <a:spAutoFit/>
          </a:bodyPr>
          <a:p>
            <a:pPr eaLnBrk="0" hangingPunct="0">
              <a:lnSpc>
                <a:spcPct val="90000"/>
              </a:lnSpc>
            </a:pPr>
            <a:r>
              <a:rPr lang="zh-CN" altLang="en-US" sz="1800" dirty="0">
                <a:solidFill>
                  <a:schemeClr val="accent1"/>
                </a:solidFill>
                <a:latin typeface="微软雅黑" panose="020B0503020204020204" pitchFamily="34" charset="-122"/>
                <a:ea typeface="微软雅黑" panose="020B0503020204020204" pitchFamily="34" charset="-122"/>
              </a:rPr>
              <a:t>程序执行流：</a:t>
            </a:r>
            <a:endParaRPr lang="zh-CN" altLang="en-US" sz="1800" dirty="0">
              <a:solidFill>
                <a:schemeClr val="accent1"/>
              </a:solidFill>
              <a:latin typeface="微软雅黑" panose="020B0503020204020204" pitchFamily="34" charset="-122"/>
              <a:ea typeface="微软雅黑" panose="020B0503020204020204" pitchFamily="34" charset="-122"/>
            </a:endParaRPr>
          </a:p>
          <a:p>
            <a:pPr eaLnBrk="0" hangingPunct="0">
              <a:lnSpc>
                <a:spcPct val="90000"/>
              </a:lnSpc>
            </a:pPr>
            <a:r>
              <a:rPr lang="en-US" altLang="zh-CN" sz="1800">
                <a:latin typeface="微软雅黑" panose="020B0503020204020204" pitchFamily="34" charset="-122"/>
                <a:ea typeface="微软雅黑" panose="020B0503020204020204" pitchFamily="34" charset="-122"/>
              </a:rPr>
              <a:t>     ……</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en-US" altLang="zh-CN" sz="1800">
                <a:latin typeface="微软雅黑" panose="020B0503020204020204" pitchFamily="34" charset="-122"/>
                <a:ea typeface="微软雅黑" panose="020B0503020204020204" pitchFamily="34" charset="-122"/>
              </a:rPr>
              <a:t>call outputs</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en-US" altLang="zh-CN" sz="1800">
                <a:latin typeface="微软雅黑" panose="020B0503020204020204" pitchFamily="34" charset="-122"/>
                <a:ea typeface="微软雅黑" panose="020B0503020204020204" pitchFamily="34" charset="-122"/>
              </a:rPr>
              <a:t>    ……</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en-US" altLang="zh-CN" sz="1800">
                <a:latin typeface="微软雅黑" panose="020B0503020204020204" pitchFamily="34" charset="-122"/>
                <a:ea typeface="微软雅黑" panose="020B0503020204020204" pitchFamily="34" charset="-122"/>
              </a:rPr>
              <a:t>call </a:t>
            </a:r>
            <a:r>
              <a:rPr lang="en-US" altLang="zh-CN" sz="1800" err="1">
                <a:latin typeface="微软雅黑" panose="020B0503020204020204" pitchFamily="34" charset="-122"/>
                <a:ea typeface="微软雅黑" panose="020B0503020204020204" pitchFamily="34" charset="-122"/>
              </a:rPr>
              <a:t>strcpy</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en-US" altLang="zh-CN" sz="1800">
                <a:latin typeface="微软雅黑" panose="020B0503020204020204" pitchFamily="34" charset="-122"/>
                <a:ea typeface="微软雅黑" panose="020B0503020204020204" pitchFamily="34" charset="-122"/>
              </a:rPr>
              <a:t>    ……</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en-US" altLang="zh-CN" sz="1800">
                <a:latin typeface="微软雅黑" panose="020B0503020204020204" pitchFamily="34" charset="-122"/>
                <a:ea typeface="微软雅黑" panose="020B0503020204020204" pitchFamily="34" charset="-122"/>
              </a:rPr>
              <a:t>call </a:t>
            </a:r>
            <a:r>
              <a:rPr lang="en-US" altLang="zh-CN" sz="1800" err="1">
                <a:latin typeface="微软雅黑" panose="020B0503020204020204" pitchFamily="34" charset="-122"/>
                <a:ea typeface="微软雅黑" panose="020B0503020204020204" pitchFamily="34" charset="-122"/>
              </a:rPr>
              <a:t>printf</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en-US" altLang="zh-CN" sz="1800">
                <a:latin typeface="微软雅黑" panose="020B0503020204020204" pitchFamily="34" charset="-122"/>
                <a:ea typeface="微软雅黑" panose="020B0503020204020204" pitchFamily="34" charset="-122"/>
              </a:rPr>
              <a:t>    …...</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en-US" altLang="zh-CN" sz="1800">
                <a:latin typeface="微软雅黑" panose="020B0503020204020204" pitchFamily="34" charset="-122"/>
                <a:ea typeface="微软雅黑" panose="020B0503020204020204" pitchFamily="34" charset="-122"/>
              </a:rPr>
              <a:t>ret</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en-US" altLang="zh-CN" sz="1800" err="1">
                <a:latin typeface="微软雅黑" panose="020B0503020204020204" pitchFamily="34" charset="-122"/>
                <a:ea typeface="微软雅黑" panose="020B0503020204020204" pitchFamily="34" charset="-122"/>
              </a:rPr>
              <a:t>mov</a:t>
            </a:r>
            <a:r>
              <a:rPr lang="en-US" altLang="zh-CN" sz="1800">
                <a:latin typeface="微软雅黑" panose="020B0503020204020204" pitchFamily="34" charset="-122"/>
                <a:ea typeface="微软雅黑" panose="020B0503020204020204" pitchFamily="34" charset="-122"/>
              </a:rPr>
              <a:t> %</a:t>
            </a:r>
            <a:r>
              <a:rPr lang="en-US" altLang="zh-CN" sz="1800" err="1">
                <a:latin typeface="微软雅黑" panose="020B0503020204020204" pitchFamily="34" charset="-122"/>
                <a:ea typeface="微软雅黑" panose="020B0503020204020204" pitchFamily="34" charset="-122"/>
              </a:rPr>
              <a:t>eax</a:t>
            </a:r>
            <a:r>
              <a:rPr lang="en-US" altLang="zh-CN" sz="1800">
                <a:latin typeface="微软雅黑" panose="020B0503020204020204" pitchFamily="34" charset="-122"/>
                <a:ea typeface="微软雅黑" panose="020B0503020204020204" pitchFamily="34" charset="-122"/>
              </a:rPr>
              <a:t>,…</a:t>
            </a:r>
            <a:endParaRPr lang="en-US" altLang="zh-CN" sz="1800">
              <a:latin typeface="微软雅黑" panose="020B0503020204020204" pitchFamily="34" charset="-122"/>
              <a:ea typeface="微软雅黑" panose="020B0503020204020204" pitchFamily="34" charset="-122"/>
            </a:endParaRPr>
          </a:p>
          <a:p>
            <a:pPr eaLnBrk="0" hangingPunct="0">
              <a:lnSpc>
                <a:spcPct val="90000"/>
              </a:lnSpc>
            </a:pPr>
            <a:r>
              <a:rPr lang="zh-CN" altLang="en-US" sz="1800" dirty="0">
                <a:latin typeface="微软雅黑" panose="020B0503020204020204" pitchFamily="34" charset="-122"/>
                <a:ea typeface="微软雅黑" panose="020B0503020204020204" pitchFamily="34" charset="-122"/>
              </a:rPr>
              <a:t>    </a:t>
            </a:r>
            <a:r>
              <a:rPr lang="en-US" altLang="zh-CN" sz="1800">
                <a:latin typeface="微软雅黑" panose="020B0503020204020204" pitchFamily="34" charset="-122"/>
                <a:ea typeface="微软雅黑" panose="020B0503020204020204" pitchFamily="34" charset="-122"/>
              </a:rPr>
              <a:t>……</a:t>
            </a:r>
            <a:endParaRPr lang="en-US" altLang="zh-CN" sz="18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4661"/>
                                        </p:tgtEl>
                                        <p:attrNameLst>
                                          <p:attrName>style.visibility</p:attrName>
                                        </p:attrNameLst>
                                      </p:cBhvr>
                                      <p:to>
                                        <p:strVal val="visible"/>
                                      </p:to>
                                    </p:set>
                                    <p:animEffect transition="in" filter="blinds(horizontal)">
                                      <p:cBhvr>
                                        <p:cTn id="7" dur="500"/>
                                        <p:tgtEl>
                                          <p:spTgt spid="4546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4689"/>
                                        </p:tgtEl>
                                        <p:attrNameLst>
                                          <p:attrName>style.visibility</p:attrName>
                                        </p:attrNameLst>
                                      </p:cBhvr>
                                      <p:to>
                                        <p:strVal val="visible"/>
                                      </p:to>
                                    </p:set>
                                    <p:animEffect transition="in" filter="blinds(horizontal)">
                                      <p:cBhvr>
                                        <p:cTn id="12" dur="500"/>
                                        <p:tgtEl>
                                          <p:spTgt spid="45468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4658"/>
                                        </p:tgtEl>
                                        <p:attrNameLst>
                                          <p:attrName>style.visibility</p:attrName>
                                        </p:attrNameLst>
                                      </p:cBhvr>
                                      <p:to>
                                        <p:strVal val="visible"/>
                                      </p:to>
                                    </p:set>
                                    <p:animEffect transition="in" filter="blinds(horizontal)">
                                      <p:cBhvr>
                                        <p:cTn id="17" dur="500"/>
                                        <p:tgtEl>
                                          <p:spTgt spid="45465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4678"/>
                                        </p:tgtEl>
                                        <p:attrNameLst>
                                          <p:attrName>style.visibility</p:attrName>
                                        </p:attrNameLst>
                                      </p:cBhvr>
                                      <p:to>
                                        <p:strVal val="visible"/>
                                      </p:to>
                                    </p:set>
                                    <p:animEffect transition="in" filter="blinds(horizontal)">
                                      <p:cBhvr>
                                        <p:cTn id="22" dur="500"/>
                                        <p:tgtEl>
                                          <p:spTgt spid="45467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4688"/>
                                        </p:tgtEl>
                                        <p:attrNameLst>
                                          <p:attrName>style.visibility</p:attrName>
                                        </p:attrNameLst>
                                      </p:cBhvr>
                                      <p:to>
                                        <p:strVal val="visible"/>
                                      </p:to>
                                    </p:set>
                                    <p:animEffect transition="in" filter="blinds(horizontal)">
                                      <p:cBhvr>
                                        <p:cTn id="27" dur="500"/>
                                        <p:tgtEl>
                                          <p:spTgt spid="454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61" grpId="0"/>
      <p:bldP spid="45468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标题 455681"/>
          <p:cNvSpPr>
            <a:spLocks noGrp="1"/>
          </p:cNvSpPr>
          <p:nvPr>
            <p:ph type="title"/>
          </p:nvPr>
        </p:nvSpPr>
        <p:spPr>
          <a:xfrm>
            <a:off x="457200" y="127000"/>
            <a:ext cx="8229600" cy="528638"/>
          </a:xfrm>
          <a:ln/>
        </p:spPr>
        <p:txBody>
          <a:bodyPr lIns="63500" tIns="25400" rIns="63500" bIns="25400" anchor="t" anchorCtr="0">
            <a:spAutoFit/>
          </a:bodyPr>
          <a:p>
            <a:r>
              <a:rPr lang="zh-CN" altLang="en-US" dirty="0"/>
              <a:t>程序及指令的执行过程</a:t>
            </a:r>
            <a:endParaRPr lang="zh-CN" altLang="en-US" dirty="0"/>
          </a:p>
        </p:txBody>
      </p:sp>
      <p:sp>
        <p:nvSpPr>
          <p:cNvPr id="11266" name="文本占位符 455682"/>
          <p:cNvSpPr>
            <a:spLocks noGrp="1"/>
          </p:cNvSpPr>
          <p:nvPr>
            <p:ph idx="1"/>
          </p:nvPr>
        </p:nvSpPr>
        <p:spPr>
          <a:xfrm>
            <a:off x="249238" y="874713"/>
            <a:ext cx="8229600" cy="415925"/>
          </a:xfrm>
          <a:ln/>
        </p:spPr>
        <p:txBody>
          <a:bodyPr lIns="63500" tIns="25400" rIns="63500" bIns="25400" anchor="t" anchorCtr="0">
            <a:spAutoFit/>
          </a:bodyPr>
          <a:p>
            <a:pPr>
              <a:buNone/>
            </a:pPr>
            <a:r>
              <a:rPr lang="zh-CN" altLang="en-US" sz="2400" dirty="0">
                <a:latin typeface="微软雅黑" panose="020B0503020204020204" pitchFamily="34" charset="-122"/>
                <a:ea typeface="微软雅黑" panose="020B0503020204020204" pitchFamily="34" charset="-122"/>
              </a:rPr>
              <a:t>反汇编得到的</a:t>
            </a:r>
            <a:r>
              <a:rPr lang="en-US" altLang="zh-CN" sz="2400">
                <a:latin typeface="微软雅黑" panose="020B0503020204020204" pitchFamily="34" charset="-122"/>
                <a:ea typeface="微软雅黑" panose="020B0503020204020204" pitchFamily="34" charset="-122"/>
              </a:rPr>
              <a:t>outputs</a:t>
            </a:r>
            <a:r>
              <a:rPr lang="zh-CN" altLang="en-US" sz="2400" dirty="0">
                <a:latin typeface="微软雅黑" panose="020B0503020204020204" pitchFamily="34" charset="-122"/>
                <a:ea typeface="微软雅黑" panose="020B0503020204020204" pitchFamily="34" charset="-122"/>
              </a:rPr>
              <a:t>汇编代码 </a:t>
            </a:r>
            <a:endParaRPr lang="en-US" altLang="zh-CN" sz="2400">
              <a:latin typeface="微软雅黑" panose="020B0503020204020204" pitchFamily="34" charset="-122"/>
              <a:ea typeface="微软雅黑" panose="020B0503020204020204" pitchFamily="34" charset="-122"/>
            </a:endParaRPr>
          </a:p>
        </p:txBody>
      </p:sp>
      <p:sp>
        <p:nvSpPr>
          <p:cNvPr id="11267" name="矩形 455683"/>
          <p:cNvSpPr/>
          <p:nvPr/>
        </p:nvSpPr>
        <p:spPr>
          <a:xfrm>
            <a:off x="176213" y="1304925"/>
            <a:ext cx="9021762" cy="5260975"/>
          </a:xfrm>
          <a:prstGeom prst="rect">
            <a:avLst/>
          </a:prstGeom>
          <a:noFill/>
          <a:ln w="9525">
            <a:noFill/>
          </a:ln>
        </p:spPr>
        <p:txBody>
          <a:bodyPr wrap="square" anchor="ctr" anchorCtr="0">
            <a:spAutoFit/>
          </a:bodyPr>
          <a:p>
            <a:pPr indent="266700">
              <a:lnSpc>
                <a:spcPct val="120000"/>
              </a:lnSpc>
            </a:pPr>
            <a:r>
              <a:rPr lang="en-US" altLang="zh-CN" sz="2000">
                <a:solidFill>
                  <a:srgbClr val="0000FF"/>
                </a:solidFill>
                <a:latin typeface="微软雅黑" panose="020B0503020204020204" pitchFamily="34" charset="-122"/>
                <a:ea typeface="微软雅黑" panose="020B0503020204020204" pitchFamily="34" charset="-122"/>
              </a:rPr>
              <a:t>080483e4 : push   %</a:t>
            </a:r>
            <a:r>
              <a:rPr lang="en-US" altLang="zh-CN" sz="2000" err="1">
                <a:solidFill>
                  <a:srgbClr val="0000FF"/>
                </a:solidFill>
                <a:latin typeface="微软雅黑" panose="020B0503020204020204" pitchFamily="34" charset="-122"/>
                <a:ea typeface="微软雅黑" panose="020B0503020204020204" pitchFamily="34" charset="-122"/>
              </a:rPr>
              <a:t>ebp</a:t>
            </a:r>
            <a:endParaRPr lang="en-US" altLang="zh-CN" sz="2000">
              <a:solidFill>
                <a:srgbClr val="0000FF"/>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00FF"/>
                </a:solidFill>
                <a:latin typeface="微软雅黑" panose="020B0503020204020204" pitchFamily="34" charset="-122"/>
                <a:ea typeface="微软雅黑" panose="020B0503020204020204" pitchFamily="34" charset="-122"/>
              </a:rPr>
              <a:t>080483e5 : </a:t>
            </a:r>
            <a:r>
              <a:rPr lang="en-US" altLang="zh-CN" sz="2000" err="1">
                <a:solidFill>
                  <a:srgbClr val="0000FF"/>
                </a:solidFill>
                <a:latin typeface="微软雅黑" panose="020B0503020204020204" pitchFamily="34" charset="-122"/>
                <a:ea typeface="微软雅黑" panose="020B0503020204020204" pitchFamily="34" charset="-122"/>
              </a:rPr>
              <a:t>mov</a:t>
            </a:r>
            <a:r>
              <a:rPr lang="en-US" altLang="zh-CN" sz="2000">
                <a:solidFill>
                  <a:srgbClr val="0000FF"/>
                </a:solidFill>
                <a:latin typeface="微软雅黑" panose="020B0503020204020204" pitchFamily="34" charset="-122"/>
                <a:ea typeface="微软雅黑" panose="020B0503020204020204" pitchFamily="34" charset="-122"/>
              </a:rPr>
              <a:t>    %</a:t>
            </a:r>
            <a:r>
              <a:rPr lang="en-US" altLang="zh-CN" sz="2000" err="1">
                <a:solidFill>
                  <a:srgbClr val="0000FF"/>
                </a:solidFill>
                <a:latin typeface="微软雅黑" panose="020B0503020204020204" pitchFamily="34" charset="-122"/>
                <a:ea typeface="微软雅黑" panose="020B0503020204020204" pitchFamily="34" charset="-122"/>
              </a:rPr>
              <a:t>esp,%ebp</a:t>
            </a:r>
            <a:endParaRPr lang="en-US" altLang="zh-CN" sz="2000">
              <a:solidFill>
                <a:srgbClr val="0000FF"/>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chemeClr val="accent2"/>
                </a:solidFill>
                <a:latin typeface="微软雅黑" panose="020B0503020204020204" pitchFamily="34" charset="-122"/>
                <a:ea typeface="微软雅黑" panose="020B0503020204020204" pitchFamily="34" charset="-122"/>
              </a:rPr>
              <a:t>080483e7 : sub    $0x18,%esp</a:t>
            </a:r>
            <a:endParaRPr lang="en-US" altLang="zh-CN" sz="2000">
              <a:solidFill>
                <a:schemeClr val="accent2"/>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6600"/>
                </a:solidFill>
                <a:latin typeface="微软雅黑" panose="020B0503020204020204" pitchFamily="34" charset="-122"/>
                <a:ea typeface="微软雅黑" panose="020B0503020204020204" pitchFamily="34" charset="-122"/>
              </a:rPr>
              <a:t>080483ea : </a:t>
            </a:r>
            <a:r>
              <a:rPr lang="en-US" altLang="zh-CN" sz="2000" err="1">
                <a:solidFill>
                  <a:srgbClr val="006600"/>
                </a:solidFill>
                <a:latin typeface="微软雅黑" panose="020B0503020204020204" pitchFamily="34" charset="-122"/>
                <a:ea typeface="微软雅黑" panose="020B0503020204020204" pitchFamily="34" charset="-122"/>
              </a:rPr>
              <a:t>mov</a:t>
            </a:r>
            <a:r>
              <a:rPr lang="en-US" altLang="zh-CN" sz="2000">
                <a:solidFill>
                  <a:srgbClr val="006600"/>
                </a:solidFill>
                <a:latin typeface="微软雅黑" panose="020B0503020204020204" pitchFamily="34" charset="-122"/>
                <a:ea typeface="微软雅黑" panose="020B0503020204020204" pitchFamily="34" charset="-122"/>
              </a:rPr>
              <a:t>    0x8(%ebp),%eax</a:t>
            </a:r>
            <a:endParaRPr lang="en-US" altLang="zh-CN" sz="2000">
              <a:solidFill>
                <a:srgbClr val="006600"/>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6600"/>
                </a:solidFill>
                <a:latin typeface="微软雅黑" panose="020B0503020204020204" pitchFamily="34" charset="-122"/>
                <a:ea typeface="微软雅黑" panose="020B0503020204020204" pitchFamily="34" charset="-122"/>
              </a:rPr>
              <a:t>080483ed: </a:t>
            </a:r>
            <a:r>
              <a:rPr lang="en-US" altLang="zh-CN" sz="2000" err="1">
                <a:solidFill>
                  <a:srgbClr val="006600"/>
                </a:solidFill>
                <a:latin typeface="微软雅黑" panose="020B0503020204020204" pitchFamily="34" charset="-122"/>
                <a:ea typeface="微软雅黑" panose="020B0503020204020204" pitchFamily="34" charset="-122"/>
              </a:rPr>
              <a:t>mov</a:t>
            </a:r>
            <a:r>
              <a:rPr lang="en-US" altLang="zh-CN" sz="2000">
                <a:solidFill>
                  <a:srgbClr val="006600"/>
                </a:solidFill>
                <a:latin typeface="微软雅黑" panose="020B0503020204020204" pitchFamily="34" charset="-122"/>
                <a:ea typeface="微软雅黑" panose="020B0503020204020204" pitchFamily="34" charset="-122"/>
              </a:rPr>
              <a:t>    %eax,0x4(%esp)</a:t>
            </a:r>
            <a:endParaRPr lang="en-US" altLang="zh-CN" sz="2000">
              <a:solidFill>
                <a:srgbClr val="006600"/>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6600"/>
                </a:solidFill>
                <a:latin typeface="微软雅黑" panose="020B0503020204020204" pitchFamily="34" charset="-122"/>
                <a:ea typeface="微软雅黑" panose="020B0503020204020204" pitchFamily="34" charset="-122"/>
              </a:rPr>
              <a:t>080483f1 : lea      0xfffffff0(%ebp),%eax</a:t>
            </a:r>
            <a:endParaRPr lang="en-US" altLang="zh-CN" sz="2000">
              <a:solidFill>
                <a:srgbClr val="006600"/>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6600"/>
                </a:solidFill>
                <a:latin typeface="微软雅黑" panose="020B0503020204020204" pitchFamily="34" charset="-122"/>
                <a:ea typeface="微软雅黑" panose="020B0503020204020204" pitchFamily="34" charset="-122"/>
              </a:rPr>
              <a:t>080483f4 : </a:t>
            </a:r>
            <a:r>
              <a:rPr lang="en-US" altLang="zh-CN" sz="2000" err="1">
                <a:solidFill>
                  <a:srgbClr val="006600"/>
                </a:solidFill>
                <a:latin typeface="微软雅黑" panose="020B0503020204020204" pitchFamily="34" charset="-122"/>
                <a:ea typeface="微软雅黑" panose="020B0503020204020204" pitchFamily="34" charset="-122"/>
              </a:rPr>
              <a:t>mov</a:t>
            </a:r>
            <a:r>
              <a:rPr lang="en-US" altLang="zh-CN" sz="2000">
                <a:solidFill>
                  <a:srgbClr val="006600"/>
                </a:solidFill>
                <a:latin typeface="微软雅黑" panose="020B0503020204020204" pitchFamily="34" charset="-122"/>
                <a:ea typeface="微软雅黑" panose="020B0503020204020204" pitchFamily="34" charset="-122"/>
              </a:rPr>
              <a:t>    %</a:t>
            </a:r>
            <a:r>
              <a:rPr lang="en-US" altLang="zh-CN" sz="2000" err="1">
                <a:solidFill>
                  <a:srgbClr val="006600"/>
                </a:solidFill>
                <a:latin typeface="微软雅黑" panose="020B0503020204020204" pitchFamily="34" charset="-122"/>
                <a:ea typeface="微软雅黑" panose="020B0503020204020204" pitchFamily="34" charset="-122"/>
              </a:rPr>
              <a:t>eax,(%esp</a:t>
            </a:r>
            <a:r>
              <a:rPr lang="en-US" altLang="zh-CN" sz="2000">
                <a:solidFill>
                  <a:srgbClr val="006600"/>
                </a:solidFill>
                <a:latin typeface="微软雅黑" panose="020B0503020204020204" pitchFamily="34" charset="-122"/>
                <a:ea typeface="微软雅黑" panose="020B0503020204020204" pitchFamily="34" charset="-122"/>
              </a:rPr>
              <a:t>)</a:t>
            </a:r>
            <a:endParaRPr lang="en-US" altLang="zh-CN" sz="2000">
              <a:solidFill>
                <a:srgbClr val="006600"/>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chemeClr val="accent1"/>
                </a:solidFill>
                <a:latin typeface="微软雅黑" panose="020B0503020204020204" pitchFamily="34" charset="-122"/>
                <a:ea typeface="微软雅黑" panose="020B0503020204020204" pitchFamily="34" charset="-122"/>
              </a:rPr>
              <a:t>080483f7 : call      0x8048330 &lt;__gmon_start__@plt+16&gt; what's plt</a:t>
            </a:r>
            <a:endParaRPr lang="en-US" altLang="zh-CN" sz="2000">
              <a:solidFill>
                <a:schemeClr val="accent1"/>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6600"/>
                </a:solidFill>
                <a:latin typeface="微软雅黑" panose="020B0503020204020204" pitchFamily="34" charset="-122"/>
                <a:ea typeface="微软雅黑" panose="020B0503020204020204" pitchFamily="34" charset="-122"/>
              </a:rPr>
              <a:t>080483fc : lea      0xfffffff0(%ebp),%eax</a:t>
            </a:r>
            <a:endParaRPr lang="en-US" altLang="zh-CN" sz="2000">
              <a:solidFill>
                <a:srgbClr val="006600"/>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6600"/>
                </a:solidFill>
                <a:latin typeface="微软雅黑" panose="020B0503020204020204" pitchFamily="34" charset="-122"/>
                <a:ea typeface="微软雅黑" panose="020B0503020204020204" pitchFamily="34" charset="-122"/>
              </a:rPr>
              <a:t>080483ff : </a:t>
            </a:r>
            <a:r>
              <a:rPr lang="en-US" altLang="zh-CN" sz="2000" err="1">
                <a:solidFill>
                  <a:srgbClr val="006600"/>
                </a:solidFill>
                <a:latin typeface="微软雅黑" panose="020B0503020204020204" pitchFamily="34" charset="-122"/>
                <a:ea typeface="微软雅黑" panose="020B0503020204020204" pitchFamily="34" charset="-122"/>
              </a:rPr>
              <a:t>mov</a:t>
            </a:r>
            <a:r>
              <a:rPr lang="en-US" altLang="zh-CN" sz="2000">
                <a:solidFill>
                  <a:srgbClr val="006600"/>
                </a:solidFill>
                <a:latin typeface="微软雅黑" panose="020B0503020204020204" pitchFamily="34" charset="-122"/>
                <a:ea typeface="微软雅黑" panose="020B0503020204020204" pitchFamily="34" charset="-122"/>
              </a:rPr>
              <a:t>    %eax,0x4(%esp)</a:t>
            </a:r>
            <a:endParaRPr lang="en-US" altLang="zh-CN" sz="2000">
              <a:solidFill>
                <a:srgbClr val="006600"/>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6600"/>
                </a:solidFill>
                <a:latin typeface="微软雅黑" panose="020B0503020204020204" pitchFamily="34" charset="-122"/>
                <a:ea typeface="微软雅黑" panose="020B0503020204020204" pitchFamily="34" charset="-122"/>
              </a:rPr>
              <a:t>08048403: </a:t>
            </a:r>
            <a:r>
              <a:rPr lang="en-US" altLang="zh-CN" sz="2000" err="1">
                <a:solidFill>
                  <a:srgbClr val="006600"/>
                </a:solidFill>
                <a:latin typeface="微软雅黑" panose="020B0503020204020204" pitchFamily="34" charset="-122"/>
                <a:ea typeface="微软雅黑" panose="020B0503020204020204" pitchFamily="34" charset="-122"/>
              </a:rPr>
              <a:t>movl</a:t>
            </a:r>
            <a:r>
              <a:rPr lang="en-US" altLang="zh-CN" sz="2000">
                <a:solidFill>
                  <a:srgbClr val="006600"/>
                </a:solidFill>
                <a:latin typeface="微软雅黑" panose="020B0503020204020204" pitchFamily="34" charset="-122"/>
                <a:ea typeface="微软雅黑" panose="020B0503020204020204" pitchFamily="34" charset="-122"/>
              </a:rPr>
              <a:t>   $0x8048500,(%esp)</a:t>
            </a:r>
            <a:endParaRPr lang="en-US" altLang="zh-CN" sz="2000">
              <a:solidFill>
                <a:srgbClr val="006600"/>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chemeClr val="accent1"/>
                </a:solidFill>
                <a:latin typeface="微软雅黑" panose="020B0503020204020204" pitchFamily="34" charset="-122"/>
                <a:ea typeface="微软雅黑" panose="020B0503020204020204" pitchFamily="34" charset="-122"/>
              </a:rPr>
              <a:t>0804840a: call      0x8048310</a:t>
            </a:r>
            <a:endParaRPr lang="en-US" altLang="zh-CN" sz="2000">
              <a:solidFill>
                <a:schemeClr val="accent1"/>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00FF"/>
                </a:solidFill>
                <a:latin typeface="微软雅黑" panose="020B0503020204020204" pitchFamily="34" charset="-122"/>
                <a:ea typeface="微软雅黑" panose="020B0503020204020204" pitchFamily="34" charset="-122"/>
              </a:rPr>
              <a:t>0804840f : leave</a:t>
            </a:r>
            <a:endParaRPr lang="en-US" altLang="zh-CN" sz="2000">
              <a:solidFill>
                <a:srgbClr val="0000FF"/>
              </a:solidFill>
              <a:latin typeface="微软雅黑" panose="020B0503020204020204" pitchFamily="34" charset="-122"/>
              <a:ea typeface="微软雅黑" panose="020B0503020204020204" pitchFamily="34" charset="-122"/>
            </a:endParaRPr>
          </a:p>
          <a:p>
            <a:pPr indent="266700">
              <a:lnSpc>
                <a:spcPct val="120000"/>
              </a:lnSpc>
            </a:pPr>
            <a:r>
              <a:rPr lang="en-US" altLang="zh-CN" sz="2000">
                <a:solidFill>
                  <a:srgbClr val="0000FF"/>
                </a:solidFill>
                <a:latin typeface="微软雅黑" panose="020B0503020204020204" pitchFamily="34" charset="-122"/>
                <a:ea typeface="微软雅黑" panose="020B0503020204020204" pitchFamily="34" charset="-122"/>
              </a:rPr>
              <a:t>08048410: ret</a:t>
            </a:r>
            <a:endParaRPr lang="en-US" altLang="zh-CN" sz="2000">
              <a:solidFill>
                <a:srgbClr val="0000FF"/>
              </a:solidFill>
              <a:latin typeface="微软雅黑" panose="020B0503020204020204" pitchFamily="34" charset="-122"/>
              <a:ea typeface="微软雅黑" panose="020B0503020204020204" pitchFamily="34" charset="-122"/>
            </a:endParaRPr>
          </a:p>
        </p:txBody>
      </p:sp>
      <p:sp>
        <p:nvSpPr>
          <p:cNvPr id="11268" name="文本框 455685"/>
          <p:cNvSpPr txBox="1"/>
          <p:nvPr/>
        </p:nvSpPr>
        <p:spPr>
          <a:xfrm>
            <a:off x="6016625" y="2890838"/>
            <a:ext cx="1827213" cy="701675"/>
          </a:xfrm>
          <a:prstGeom prst="rect">
            <a:avLst/>
          </a:prstGeom>
          <a:noFill/>
          <a:ln w="9525">
            <a:noFill/>
          </a:ln>
        </p:spPr>
        <p:txBody>
          <a:bodyPr anchor="t" anchorCtr="0">
            <a:spAutoFit/>
          </a:bodyPr>
          <a:p>
            <a:pPr>
              <a:spcBef>
                <a:spcPct val="50000"/>
              </a:spcBef>
            </a:pPr>
            <a:r>
              <a:rPr lang="zh-CN" altLang="en-US" sz="2000" dirty="0">
                <a:latin typeface="微软雅黑" panose="020B0503020204020204" pitchFamily="34" charset="-122"/>
                <a:ea typeface="微软雅黑" panose="020B0503020204020204" pitchFamily="34" charset="-122"/>
              </a:rPr>
              <a:t>将</a:t>
            </a:r>
            <a:r>
              <a:rPr lang="en-US" altLang="zh-CN" sz="2000" err="1">
                <a:latin typeface="微软雅黑" panose="020B0503020204020204" pitchFamily="34" charset="-122"/>
                <a:ea typeface="微软雅黑" panose="020B0503020204020204" pitchFamily="34" charset="-122"/>
              </a:rPr>
              <a:t>strcpy</a:t>
            </a:r>
            <a:r>
              <a:rPr lang="zh-CN" altLang="en-US" sz="2000" dirty="0">
                <a:latin typeface="微软雅黑" panose="020B0503020204020204" pitchFamily="34" charset="-122"/>
                <a:ea typeface="微软雅黑" panose="020B0503020204020204" pitchFamily="34" charset="-122"/>
              </a:rPr>
              <a:t>的两个实参入栈</a:t>
            </a:r>
            <a:endParaRPr lang="zh-CN" altLang="en-US" sz="2000" dirty="0">
              <a:latin typeface="微软雅黑" panose="020B0503020204020204" pitchFamily="34" charset="-122"/>
              <a:ea typeface="微软雅黑" panose="020B0503020204020204" pitchFamily="34" charset="-122"/>
            </a:endParaRPr>
          </a:p>
        </p:txBody>
      </p:sp>
      <p:sp>
        <p:nvSpPr>
          <p:cNvPr id="11269" name="右大括号 455686"/>
          <p:cNvSpPr/>
          <p:nvPr/>
        </p:nvSpPr>
        <p:spPr>
          <a:xfrm>
            <a:off x="5727700" y="2662238"/>
            <a:ext cx="401638" cy="1181100"/>
          </a:xfrm>
          <a:prstGeom prst="rightBrace">
            <a:avLst>
              <a:gd name="adj1" fmla="val 24383"/>
              <a:gd name="adj2" fmla="val 50000"/>
            </a:avLst>
          </a:prstGeom>
          <a:noFill/>
          <a:ln w="28575" cap="flat" cmpd="sng">
            <a:solidFill>
              <a:srgbClr val="0099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270" name="右大括号 455687"/>
          <p:cNvSpPr/>
          <p:nvPr/>
        </p:nvSpPr>
        <p:spPr>
          <a:xfrm>
            <a:off x="5835650" y="4559300"/>
            <a:ext cx="314325" cy="765175"/>
          </a:xfrm>
          <a:prstGeom prst="rightBrace">
            <a:avLst>
              <a:gd name="adj1" fmla="val 20184"/>
              <a:gd name="adj2" fmla="val 50000"/>
            </a:avLst>
          </a:prstGeom>
          <a:noFill/>
          <a:ln w="28575" cap="flat" cmpd="sng">
            <a:solidFill>
              <a:srgbClr val="0099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271" name="文本框 455688"/>
          <p:cNvSpPr txBox="1"/>
          <p:nvPr/>
        </p:nvSpPr>
        <p:spPr>
          <a:xfrm>
            <a:off x="6208713" y="4591050"/>
            <a:ext cx="1752600" cy="701675"/>
          </a:xfrm>
          <a:prstGeom prst="rect">
            <a:avLst/>
          </a:prstGeom>
          <a:noFill/>
          <a:ln w="9525">
            <a:noFill/>
          </a:ln>
        </p:spPr>
        <p:txBody>
          <a:bodyPr anchor="t" anchorCtr="0">
            <a:spAutoFit/>
          </a:bodyPr>
          <a:p>
            <a:pPr>
              <a:spcBef>
                <a:spcPct val="50000"/>
              </a:spcBef>
            </a:pPr>
            <a:r>
              <a:rPr lang="zh-CN" altLang="en-US" sz="2000" dirty="0">
                <a:latin typeface="微软雅黑" panose="020B0503020204020204" pitchFamily="34" charset="-122"/>
                <a:ea typeface="微软雅黑" panose="020B0503020204020204" pitchFamily="34" charset="-122"/>
              </a:rPr>
              <a:t>将</a:t>
            </a:r>
            <a:r>
              <a:rPr lang="en-US" altLang="zh-CN" sz="2000" err="1">
                <a:latin typeface="微软雅黑" panose="020B0503020204020204" pitchFamily="34" charset="-122"/>
                <a:ea typeface="微软雅黑" panose="020B0503020204020204" pitchFamily="34" charset="-122"/>
              </a:rPr>
              <a:t>printf</a:t>
            </a:r>
            <a:r>
              <a:rPr lang="zh-CN" altLang="en-US" sz="2000" dirty="0">
                <a:latin typeface="微软雅黑" panose="020B0503020204020204" pitchFamily="34" charset="-122"/>
                <a:ea typeface="微软雅黑" panose="020B0503020204020204" pitchFamily="34" charset="-122"/>
              </a:rPr>
              <a:t>的两个实参入栈</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标题 452609"/>
          <p:cNvSpPr>
            <a:spLocks noGrp="1"/>
          </p:cNvSpPr>
          <p:nvPr>
            <p:ph type="title"/>
          </p:nvPr>
        </p:nvSpPr>
        <p:spPr>
          <a:xfrm>
            <a:off x="415925" y="160338"/>
            <a:ext cx="7499350" cy="528637"/>
          </a:xfrm>
          <a:ln/>
        </p:spPr>
        <p:txBody>
          <a:bodyPr lIns="63500" tIns="25400" rIns="63500" bIns="25400" anchor="t" anchorCtr="0">
            <a:spAutoFit/>
          </a:bodyPr>
          <a:p>
            <a:r>
              <a:rPr lang="zh-CN" altLang="en-US" dirty="0"/>
              <a:t>程序及指令的执行过程</a:t>
            </a:r>
            <a:endParaRPr lang="zh-CN" altLang="en-US" dirty="0"/>
          </a:p>
        </p:txBody>
      </p:sp>
      <p:sp>
        <p:nvSpPr>
          <p:cNvPr id="452611" name="内容占位符 452610"/>
          <p:cNvSpPr>
            <a:spLocks noGrp="1"/>
          </p:cNvSpPr>
          <p:nvPr>
            <p:ph idx="1"/>
          </p:nvPr>
        </p:nvSpPr>
        <p:spPr>
          <a:xfrm>
            <a:off x="392113" y="828675"/>
            <a:ext cx="8191500" cy="415925"/>
          </a:xfrm>
          <a:ln/>
        </p:spPr>
        <p:txBody>
          <a:bodyPr wrap="square" lIns="63500" tIns="25400" rIns="63500" bIns="25400" anchor="t" anchorCtr="0">
            <a:spAutoFit/>
          </a:bodyPr>
          <a:p>
            <a:pPr>
              <a:buNone/>
            </a:pPr>
            <a:r>
              <a:rPr lang="zh-CN" altLang="en-US" sz="2400" dirty="0">
                <a:latin typeface="微软雅黑" panose="020B0503020204020204" pitchFamily="34" charset="-122"/>
                <a:ea typeface="微软雅黑" panose="020B0503020204020204" pitchFamily="34" charset="-122"/>
              </a:rPr>
              <a:t>在内存存放的指令实际上是机器代码（</a:t>
            </a:r>
            <a:r>
              <a:rPr lang="en-US" altLang="zh-CN" sz="2400">
                <a:latin typeface="微软雅黑" panose="020B0503020204020204" pitchFamily="34" charset="-122"/>
                <a:ea typeface="微软雅黑" panose="020B0503020204020204" pitchFamily="34" charset="-122"/>
              </a:rPr>
              <a:t>0/1</a:t>
            </a:r>
            <a:r>
              <a:rPr lang="zh-CN" altLang="en-US" sz="2400" dirty="0">
                <a:latin typeface="微软雅黑" panose="020B0503020204020204" pitchFamily="34" charset="-122"/>
                <a:ea typeface="微软雅黑" panose="020B0503020204020204" pitchFamily="34" charset="-122"/>
              </a:rPr>
              <a:t>序列）</a:t>
            </a:r>
            <a:endParaRPr lang="en-US" altLang="zh-CN" sz="2400">
              <a:latin typeface="微软雅黑" panose="020B0503020204020204" pitchFamily="34" charset="-122"/>
              <a:ea typeface="微软雅黑" panose="020B0503020204020204" pitchFamily="34" charset="-122"/>
            </a:endParaRPr>
          </a:p>
        </p:txBody>
      </p:sp>
      <p:sp>
        <p:nvSpPr>
          <p:cNvPr id="452612" name="矩形 452611"/>
          <p:cNvSpPr/>
          <p:nvPr/>
        </p:nvSpPr>
        <p:spPr>
          <a:xfrm>
            <a:off x="0" y="1550988"/>
            <a:ext cx="5846763" cy="2303462"/>
          </a:xfrm>
          <a:prstGeom prst="rect">
            <a:avLst/>
          </a:prstGeom>
          <a:noFill/>
          <a:ln w="50800">
            <a:noFill/>
          </a:ln>
        </p:spPr>
        <p:txBody>
          <a:bodyPr anchor="ctr" anchorCtr="0">
            <a:spAutoFit/>
          </a:bodyPr>
          <a:p>
            <a:pPr indent="288925" eaLnBrk="0" hangingPunct="0">
              <a:lnSpc>
                <a:spcPct val="115000"/>
              </a:lnSpc>
            </a:pPr>
            <a:r>
              <a:rPr lang="en-US" altLang="zh-CN" sz="1800">
                <a:solidFill>
                  <a:schemeClr val="accent2"/>
                </a:solidFill>
                <a:latin typeface="微软雅黑" panose="020B0503020204020204" pitchFamily="34" charset="-122"/>
                <a:ea typeface="微软雅黑" panose="020B0503020204020204" pitchFamily="34" charset="-122"/>
              </a:rPr>
              <a:t>08048394 &lt;add&gt;: </a:t>
            </a:r>
            <a:endParaRPr lang="en-US" altLang="zh-CN" sz="1800">
              <a:solidFill>
                <a:schemeClr val="accent2"/>
              </a:solidFill>
              <a:latin typeface="微软雅黑" panose="020B0503020204020204" pitchFamily="34" charset="-122"/>
              <a:ea typeface="微软雅黑" panose="020B0503020204020204" pitchFamily="34" charset="-122"/>
            </a:endParaRPr>
          </a:p>
          <a:p>
            <a:pPr indent="288925" eaLnBrk="0" hangingPunct="0">
              <a:lnSpc>
                <a:spcPct val="115000"/>
              </a:lnSpc>
            </a:pPr>
            <a:r>
              <a:rPr lang="en-US" altLang="zh-CN" sz="1800">
                <a:solidFill>
                  <a:schemeClr val="accent2"/>
                </a:solidFill>
                <a:latin typeface="微软雅黑" panose="020B0503020204020204" pitchFamily="34" charset="-122"/>
                <a:ea typeface="微软雅黑" panose="020B0503020204020204" pitchFamily="34" charset="-122"/>
              </a:rPr>
              <a:t>  8048394:    </a:t>
            </a:r>
            <a:r>
              <a:rPr lang="en-US" altLang="zh-CN" sz="1800">
                <a:solidFill>
                  <a:schemeClr val="accent1"/>
                </a:solidFill>
                <a:latin typeface="微软雅黑" panose="020B0503020204020204" pitchFamily="34" charset="-122"/>
                <a:ea typeface="微软雅黑" panose="020B0503020204020204" pitchFamily="34" charset="-122"/>
              </a:rPr>
              <a:t>55</a:t>
            </a:r>
            <a:r>
              <a:rPr lang="en-US" altLang="zh-CN" sz="1800">
                <a:solidFill>
                  <a:schemeClr val="accent2"/>
                </a:solidFill>
                <a:latin typeface="微软雅黑" panose="020B0503020204020204" pitchFamily="34" charset="-122"/>
                <a:ea typeface="微软雅黑" panose="020B0503020204020204" pitchFamily="34" charset="-122"/>
              </a:rPr>
              <a:t>             push  %</a:t>
            </a:r>
            <a:r>
              <a:rPr lang="en-US" altLang="zh-CN" sz="1800" err="1">
                <a:solidFill>
                  <a:schemeClr val="accent2"/>
                </a:solidFill>
                <a:latin typeface="微软雅黑" panose="020B0503020204020204" pitchFamily="34" charset="-122"/>
                <a:ea typeface="微软雅黑" panose="020B0503020204020204" pitchFamily="34" charset="-122"/>
              </a:rPr>
              <a:t>ebp</a:t>
            </a:r>
            <a:endParaRPr lang="en-US" altLang="zh-CN" sz="1800">
              <a:solidFill>
                <a:schemeClr val="accent2"/>
              </a:solidFill>
              <a:latin typeface="微软雅黑" panose="020B0503020204020204" pitchFamily="34" charset="-122"/>
              <a:ea typeface="微软雅黑" panose="020B0503020204020204" pitchFamily="34" charset="-122"/>
            </a:endParaRPr>
          </a:p>
          <a:p>
            <a:pPr indent="288925" eaLnBrk="0" hangingPunct="0">
              <a:lnSpc>
                <a:spcPct val="115000"/>
              </a:lnSpc>
            </a:pPr>
            <a:r>
              <a:rPr lang="en-US" altLang="zh-CN" sz="1800">
                <a:solidFill>
                  <a:schemeClr val="accent2"/>
                </a:solidFill>
                <a:latin typeface="微软雅黑" panose="020B0503020204020204" pitchFamily="34" charset="-122"/>
                <a:ea typeface="微软雅黑" panose="020B0503020204020204" pitchFamily="34" charset="-122"/>
              </a:rPr>
              <a:t>  8048395:    </a:t>
            </a:r>
            <a:r>
              <a:rPr lang="en-US" altLang="zh-CN" sz="1800">
                <a:solidFill>
                  <a:schemeClr val="accent1"/>
                </a:solidFill>
                <a:latin typeface="微软雅黑" panose="020B0503020204020204" pitchFamily="34" charset="-122"/>
                <a:ea typeface="微软雅黑" panose="020B0503020204020204" pitchFamily="34" charset="-122"/>
              </a:rPr>
              <a:t>89  e5</a:t>
            </a:r>
            <a:r>
              <a:rPr lang="en-US" altLang="zh-CN" sz="1800">
                <a:solidFill>
                  <a:schemeClr val="accent2"/>
                </a:solidFill>
                <a:latin typeface="微软雅黑" panose="020B0503020204020204" pitchFamily="34" charset="-122"/>
                <a:ea typeface="微软雅黑" panose="020B0503020204020204" pitchFamily="34" charset="-122"/>
              </a:rPr>
              <a:t>       </a:t>
            </a:r>
            <a:r>
              <a:rPr lang="en-US" altLang="zh-CN" sz="1800" err="1">
                <a:solidFill>
                  <a:schemeClr val="accent2"/>
                </a:solidFill>
                <a:latin typeface="微软雅黑" panose="020B0503020204020204" pitchFamily="34" charset="-122"/>
                <a:ea typeface="微软雅黑" panose="020B0503020204020204" pitchFamily="34" charset="-122"/>
              </a:rPr>
              <a:t>mov</a:t>
            </a:r>
            <a:r>
              <a:rPr lang="en-US" altLang="zh-CN" sz="1800">
                <a:solidFill>
                  <a:schemeClr val="accent2"/>
                </a:solidFill>
                <a:latin typeface="微软雅黑" panose="020B0503020204020204" pitchFamily="34" charset="-122"/>
                <a:ea typeface="微软雅黑" panose="020B0503020204020204" pitchFamily="34" charset="-122"/>
              </a:rPr>
              <a:t>   %</a:t>
            </a:r>
            <a:r>
              <a:rPr lang="en-US" altLang="zh-CN" sz="1800" err="1">
                <a:solidFill>
                  <a:schemeClr val="accent2"/>
                </a:solidFill>
                <a:latin typeface="微软雅黑" panose="020B0503020204020204" pitchFamily="34" charset="-122"/>
                <a:ea typeface="微软雅黑" panose="020B0503020204020204" pitchFamily="34" charset="-122"/>
              </a:rPr>
              <a:t>esp</a:t>
            </a:r>
            <a:r>
              <a:rPr lang="en-US" altLang="zh-CN" sz="1800">
                <a:solidFill>
                  <a:schemeClr val="accent2"/>
                </a:solidFill>
                <a:latin typeface="微软雅黑" panose="020B0503020204020204" pitchFamily="34" charset="-122"/>
                <a:ea typeface="微软雅黑" panose="020B0503020204020204" pitchFamily="34" charset="-122"/>
              </a:rPr>
              <a:t>, %</a:t>
            </a:r>
            <a:r>
              <a:rPr lang="en-US" altLang="zh-CN" sz="1800" err="1">
                <a:solidFill>
                  <a:schemeClr val="accent2"/>
                </a:solidFill>
                <a:latin typeface="微软雅黑" panose="020B0503020204020204" pitchFamily="34" charset="-122"/>
                <a:ea typeface="微软雅黑" panose="020B0503020204020204" pitchFamily="34" charset="-122"/>
              </a:rPr>
              <a:t>ebp</a:t>
            </a:r>
            <a:endParaRPr lang="en-US" altLang="zh-CN" sz="1800">
              <a:solidFill>
                <a:schemeClr val="accent2"/>
              </a:solidFill>
              <a:latin typeface="微软雅黑" panose="020B0503020204020204" pitchFamily="34" charset="-122"/>
              <a:ea typeface="微软雅黑" panose="020B0503020204020204" pitchFamily="34" charset="-122"/>
            </a:endParaRPr>
          </a:p>
          <a:p>
            <a:pPr indent="288925" eaLnBrk="0" hangingPunct="0">
              <a:lnSpc>
                <a:spcPct val="115000"/>
              </a:lnSpc>
            </a:pPr>
            <a:r>
              <a:rPr lang="en-US" altLang="zh-CN" sz="1800">
                <a:solidFill>
                  <a:schemeClr val="accent2"/>
                </a:solidFill>
                <a:latin typeface="微软雅黑" panose="020B0503020204020204" pitchFamily="34" charset="-122"/>
                <a:ea typeface="微软雅黑" panose="020B0503020204020204" pitchFamily="34" charset="-122"/>
              </a:rPr>
              <a:t>  8048397:    </a:t>
            </a:r>
            <a:r>
              <a:rPr lang="en-US" altLang="zh-CN" sz="1800">
                <a:solidFill>
                  <a:schemeClr val="accent1"/>
                </a:solidFill>
                <a:latin typeface="微软雅黑" panose="020B0503020204020204" pitchFamily="34" charset="-122"/>
                <a:ea typeface="微软雅黑" panose="020B0503020204020204" pitchFamily="34" charset="-122"/>
              </a:rPr>
              <a:t>8b  45 0c</a:t>
            </a:r>
            <a:r>
              <a:rPr lang="en-US" altLang="zh-CN" sz="1800">
                <a:solidFill>
                  <a:schemeClr val="accent2"/>
                </a:solidFill>
                <a:latin typeface="微软雅黑" panose="020B0503020204020204" pitchFamily="34" charset="-122"/>
                <a:ea typeface="微软雅黑" panose="020B0503020204020204" pitchFamily="34" charset="-122"/>
              </a:rPr>
              <a:t>  </a:t>
            </a:r>
            <a:r>
              <a:rPr lang="en-US" altLang="zh-CN" sz="1800" err="1">
                <a:solidFill>
                  <a:schemeClr val="accent2"/>
                </a:solidFill>
                <a:latin typeface="微软雅黑" panose="020B0503020204020204" pitchFamily="34" charset="-122"/>
                <a:ea typeface="微软雅黑" panose="020B0503020204020204" pitchFamily="34" charset="-122"/>
              </a:rPr>
              <a:t>mov</a:t>
            </a:r>
            <a:r>
              <a:rPr lang="en-US" altLang="zh-CN" sz="1800">
                <a:solidFill>
                  <a:schemeClr val="accent2"/>
                </a:solidFill>
                <a:latin typeface="微软雅黑" panose="020B0503020204020204" pitchFamily="34" charset="-122"/>
                <a:ea typeface="微软雅黑" panose="020B0503020204020204" pitchFamily="34" charset="-122"/>
              </a:rPr>
              <a:t>   0xc(%ebp), %</a:t>
            </a:r>
            <a:r>
              <a:rPr lang="en-US" altLang="zh-CN" sz="1800" err="1">
                <a:solidFill>
                  <a:schemeClr val="accent2"/>
                </a:solidFill>
                <a:latin typeface="微软雅黑" panose="020B0503020204020204" pitchFamily="34" charset="-122"/>
                <a:ea typeface="微软雅黑" panose="020B0503020204020204" pitchFamily="34" charset="-122"/>
              </a:rPr>
              <a:t>eax</a:t>
            </a:r>
            <a:endParaRPr lang="en-US" altLang="zh-CN" sz="1800">
              <a:solidFill>
                <a:schemeClr val="accent2"/>
              </a:solidFill>
              <a:latin typeface="微软雅黑" panose="020B0503020204020204" pitchFamily="34" charset="-122"/>
              <a:ea typeface="微软雅黑" panose="020B0503020204020204" pitchFamily="34" charset="-122"/>
            </a:endParaRPr>
          </a:p>
          <a:p>
            <a:pPr indent="288925" eaLnBrk="0" hangingPunct="0">
              <a:lnSpc>
                <a:spcPct val="115000"/>
              </a:lnSpc>
            </a:pPr>
            <a:r>
              <a:rPr lang="en-US" altLang="zh-CN" sz="1800">
                <a:solidFill>
                  <a:schemeClr val="accent2"/>
                </a:solidFill>
                <a:latin typeface="微软雅黑" panose="020B0503020204020204" pitchFamily="34" charset="-122"/>
                <a:ea typeface="微软雅黑" panose="020B0503020204020204" pitchFamily="34" charset="-122"/>
              </a:rPr>
              <a:t>  804839a:    </a:t>
            </a:r>
            <a:r>
              <a:rPr lang="en-US" altLang="zh-CN" sz="1800">
                <a:solidFill>
                  <a:schemeClr val="accent1"/>
                </a:solidFill>
                <a:latin typeface="微软雅黑" panose="020B0503020204020204" pitchFamily="34" charset="-122"/>
                <a:ea typeface="微软雅黑" panose="020B0503020204020204" pitchFamily="34" charset="-122"/>
              </a:rPr>
              <a:t>03  45 08</a:t>
            </a:r>
            <a:r>
              <a:rPr lang="en-US" altLang="zh-CN" sz="1800">
                <a:solidFill>
                  <a:schemeClr val="accent2"/>
                </a:solidFill>
                <a:latin typeface="微软雅黑" panose="020B0503020204020204" pitchFamily="34" charset="-122"/>
                <a:ea typeface="微软雅黑" panose="020B0503020204020204" pitchFamily="34" charset="-122"/>
              </a:rPr>
              <a:t>  add    0x8(%ebp), %</a:t>
            </a:r>
            <a:r>
              <a:rPr lang="en-US" altLang="zh-CN" sz="1800" err="1">
                <a:solidFill>
                  <a:schemeClr val="accent2"/>
                </a:solidFill>
                <a:latin typeface="微软雅黑" panose="020B0503020204020204" pitchFamily="34" charset="-122"/>
                <a:ea typeface="微软雅黑" panose="020B0503020204020204" pitchFamily="34" charset="-122"/>
              </a:rPr>
              <a:t>eax</a:t>
            </a:r>
            <a:endParaRPr lang="en-US" altLang="zh-CN" sz="1800">
              <a:solidFill>
                <a:schemeClr val="accent2"/>
              </a:solidFill>
              <a:latin typeface="微软雅黑" panose="020B0503020204020204" pitchFamily="34" charset="-122"/>
              <a:ea typeface="微软雅黑" panose="020B0503020204020204" pitchFamily="34" charset="-122"/>
            </a:endParaRPr>
          </a:p>
          <a:p>
            <a:pPr indent="288925" eaLnBrk="0" hangingPunct="0">
              <a:lnSpc>
                <a:spcPct val="115000"/>
              </a:lnSpc>
            </a:pPr>
            <a:r>
              <a:rPr lang="en-US" altLang="zh-CN" sz="1800">
                <a:solidFill>
                  <a:schemeClr val="accent2"/>
                </a:solidFill>
                <a:latin typeface="微软雅黑" panose="020B0503020204020204" pitchFamily="34" charset="-122"/>
                <a:ea typeface="微软雅黑" panose="020B0503020204020204" pitchFamily="34" charset="-122"/>
              </a:rPr>
              <a:t>  804839d:   </a:t>
            </a:r>
            <a:r>
              <a:rPr lang="en-US" altLang="zh-CN" sz="1800">
                <a:solidFill>
                  <a:schemeClr val="accent1"/>
                </a:solidFill>
                <a:latin typeface="微软雅黑" panose="020B0503020204020204" pitchFamily="34" charset="-122"/>
                <a:ea typeface="微软雅黑" panose="020B0503020204020204" pitchFamily="34" charset="-122"/>
              </a:rPr>
              <a:t> 5d</a:t>
            </a:r>
            <a:r>
              <a:rPr lang="en-US" altLang="zh-CN" sz="1800">
                <a:solidFill>
                  <a:schemeClr val="accent2"/>
                </a:solidFill>
                <a:latin typeface="微软雅黑" panose="020B0503020204020204" pitchFamily="34" charset="-122"/>
                <a:ea typeface="微软雅黑" panose="020B0503020204020204" pitchFamily="34" charset="-122"/>
              </a:rPr>
              <a:t>	   pop   %</a:t>
            </a:r>
            <a:r>
              <a:rPr lang="en-US" altLang="zh-CN" sz="1800" err="1">
                <a:solidFill>
                  <a:schemeClr val="accent2"/>
                </a:solidFill>
                <a:latin typeface="微软雅黑" panose="020B0503020204020204" pitchFamily="34" charset="-122"/>
                <a:ea typeface="微软雅黑" panose="020B0503020204020204" pitchFamily="34" charset="-122"/>
              </a:rPr>
              <a:t>ebp</a:t>
            </a:r>
            <a:endParaRPr lang="en-US" altLang="zh-CN" sz="1800">
              <a:solidFill>
                <a:schemeClr val="accent2"/>
              </a:solidFill>
              <a:latin typeface="微软雅黑" panose="020B0503020204020204" pitchFamily="34" charset="-122"/>
              <a:ea typeface="微软雅黑" panose="020B0503020204020204" pitchFamily="34" charset="-122"/>
            </a:endParaRPr>
          </a:p>
          <a:p>
            <a:pPr indent="288925" eaLnBrk="0" hangingPunct="0">
              <a:lnSpc>
                <a:spcPct val="115000"/>
              </a:lnSpc>
            </a:pPr>
            <a:r>
              <a:rPr lang="en-US" altLang="zh-CN" sz="1800">
                <a:solidFill>
                  <a:schemeClr val="accent2"/>
                </a:solidFill>
                <a:latin typeface="微软雅黑" panose="020B0503020204020204" pitchFamily="34" charset="-122"/>
                <a:ea typeface="微软雅黑" panose="020B0503020204020204" pitchFamily="34" charset="-122"/>
              </a:rPr>
              <a:t>  804839e:    </a:t>
            </a:r>
            <a:r>
              <a:rPr lang="en-US" altLang="zh-CN" sz="1800">
                <a:solidFill>
                  <a:schemeClr val="accent1"/>
                </a:solidFill>
                <a:latin typeface="微软雅黑" panose="020B0503020204020204" pitchFamily="34" charset="-122"/>
                <a:ea typeface="微软雅黑" panose="020B0503020204020204" pitchFamily="34" charset="-122"/>
              </a:rPr>
              <a:t>c3</a:t>
            </a:r>
            <a:r>
              <a:rPr lang="en-US" altLang="zh-CN" sz="1800">
                <a:solidFill>
                  <a:schemeClr val="accent2"/>
                </a:solidFill>
                <a:latin typeface="微软雅黑" panose="020B0503020204020204" pitchFamily="34" charset="-122"/>
                <a:ea typeface="微软雅黑" panose="020B0503020204020204" pitchFamily="34" charset="-122"/>
              </a:rPr>
              <a:t>	   ret</a:t>
            </a:r>
            <a:endParaRPr lang="en-US" altLang="zh-CN" sz="1800">
              <a:solidFill>
                <a:schemeClr val="accent2"/>
              </a:solidFill>
              <a:latin typeface="微软雅黑" panose="020B0503020204020204" pitchFamily="34" charset="-122"/>
              <a:ea typeface="微软雅黑" panose="020B0503020204020204" pitchFamily="34" charset="-122"/>
            </a:endParaRPr>
          </a:p>
        </p:txBody>
      </p:sp>
      <p:sp>
        <p:nvSpPr>
          <p:cNvPr id="452613" name="矩形 452612"/>
          <p:cNvSpPr/>
          <p:nvPr/>
        </p:nvSpPr>
        <p:spPr>
          <a:xfrm>
            <a:off x="157163" y="4062413"/>
            <a:ext cx="8872537" cy="2605087"/>
          </a:xfrm>
          <a:prstGeom prst="rect">
            <a:avLst/>
          </a:prstGeom>
          <a:noFill/>
          <a:ln w="50800">
            <a:noFill/>
          </a:ln>
        </p:spPr>
        <p:txBody>
          <a:bodyPr anchor="ctr" anchorCtr="0">
            <a:spAutoFit/>
          </a:bodyPr>
          <a:p>
            <a:pPr marL="203200" indent="-203200" eaLnBrk="0" hangingPunct="0">
              <a:spcBef>
                <a:spcPct val="35000"/>
              </a:spcBef>
              <a:buChar char="°"/>
            </a:pPr>
            <a:r>
              <a:rPr lang="zh-CN" altLang="en-US" sz="2400" dirty="0">
                <a:latin typeface="微软雅黑" panose="020B0503020204020204" pitchFamily="34" charset="-122"/>
                <a:ea typeface="微软雅黑" panose="020B0503020204020204" pitchFamily="34" charset="-122"/>
              </a:rPr>
              <a:t>对于</a:t>
            </a:r>
            <a:r>
              <a:rPr lang="en-US" altLang="zh-CN" sz="2400">
                <a:latin typeface="微软雅黑" panose="020B0503020204020204" pitchFamily="34" charset="-122"/>
                <a:ea typeface="微软雅黑" panose="020B0503020204020204" pitchFamily="34" charset="-122"/>
              </a:rPr>
              <a:t>add</a:t>
            </a:r>
            <a:r>
              <a:rPr lang="zh-CN" altLang="en-US" sz="2400" dirty="0">
                <a:latin typeface="微软雅黑" panose="020B0503020204020204" pitchFamily="34" charset="-122"/>
                <a:ea typeface="微软雅黑" panose="020B0503020204020204" pitchFamily="34" charset="-122"/>
              </a:rPr>
              <a:t>函数</a:t>
            </a:r>
            <a:endParaRPr lang="zh-CN" altLang="en-US" sz="2400" dirty="0">
              <a:latin typeface="微软雅黑" panose="020B0503020204020204" pitchFamily="34" charset="-122"/>
              <a:ea typeface="微软雅黑" panose="020B0503020204020204" pitchFamily="34" charset="-122"/>
            </a:endParaRPr>
          </a:p>
          <a:p>
            <a:pPr marL="685800" lvl="1" indent="-190500" eaLnBrk="0" hangingPunct="0">
              <a:spcBef>
                <a:spcPct val="35000"/>
              </a:spcBef>
              <a:buFont typeface="Wingdings" panose="05000000000000000000" pitchFamily="2" charset="2"/>
              <a:buChar char="ü"/>
            </a:pPr>
            <a:r>
              <a:rPr lang="zh-CN" altLang="en-US" sz="2000" dirty="0">
                <a:solidFill>
                  <a:srgbClr val="006600"/>
                </a:solidFill>
                <a:latin typeface="微软雅黑" panose="020B0503020204020204" pitchFamily="34" charset="-122"/>
                <a:ea typeface="微软雅黑" panose="020B0503020204020204" pitchFamily="34" charset="-122"/>
              </a:rPr>
              <a:t>指令按顺序存放在</a:t>
            </a:r>
            <a:r>
              <a:rPr lang="en-US" altLang="zh-CN" sz="2000">
                <a:solidFill>
                  <a:srgbClr val="006600"/>
                </a:solidFill>
                <a:latin typeface="微软雅黑" panose="020B0503020204020204" pitchFamily="34" charset="-122"/>
                <a:ea typeface="微软雅黑" panose="020B0503020204020204" pitchFamily="34" charset="-122"/>
              </a:rPr>
              <a:t>0x08048394</a:t>
            </a:r>
            <a:r>
              <a:rPr lang="zh-CN" altLang="en-US" sz="2000" dirty="0">
                <a:solidFill>
                  <a:srgbClr val="006600"/>
                </a:solidFill>
                <a:latin typeface="微软雅黑" panose="020B0503020204020204" pitchFamily="34" charset="-122"/>
                <a:ea typeface="微软雅黑" panose="020B0503020204020204" pitchFamily="34" charset="-122"/>
              </a:rPr>
              <a:t>开始的存储空间。</a:t>
            </a:r>
            <a:endParaRPr lang="zh-CN" altLang="en-US" sz="2000" dirty="0">
              <a:solidFill>
                <a:srgbClr val="006600"/>
              </a:solidFill>
              <a:latin typeface="微软雅黑" panose="020B0503020204020204" pitchFamily="34" charset="-122"/>
              <a:ea typeface="微软雅黑" panose="020B0503020204020204" pitchFamily="34" charset="-122"/>
            </a:endParaRPr>
          </a:p>
          <a:p>
            <a:pPr marL="685800" lvl="1" indent="-190500" eaLnBrk="0" hangingPunct="0">
              <a:spcBef>
                <a:spcPct val="35000"/>
              </a:spcBef>
              <a:buFont typeface="Wingdings" panose="05000000000000000000" pitchFamily="2" charset="2"/>
              <a:buChar char="ü"/>
            </a:pPr>
            <a:r>
              <a:rPr lang="zh-CN" altLang="en-US" sz="2000" dirty="0">
                <a:solidFill>
                  <a:srgbClr val="006600"/>
                </a:solidFill>
                <a:latin typeface="微软雅黑" panose="020B0503020204020204" pitchFamily="34" charset="-122"/>
                <a:ea typeface="微软雅黑" panose="020B0503020204020204" pitchFamily="34" charset="-122"/>
              </a:rPr>
              <a:t>各指令长度可能不同，如</a:t>
            </a:r>
            <a:r>
              <a:rPr lang="en-US" altLang="zh-CN" sz="2000">
                <a:solidFill>
                  <a:srgbClr val="006600"/>
                </a:solidFill>
                <a:latin typeface="微软雅黑" panose="020B0503020204020204" pitchFamily="34" charset="-122"/>
                <a:ea typeface="微软雅黑" panose="020B0503020204020204" pitchFamily="34" charset="-122"/>
              </a:rPr>
              <a:t>push</a:t>
            </a:r>
            <a:r>
              <a:rPr lang="zh-CN" altLang="en-US" sz="2000" dirty="0">
                <a:solidFill>
                  <a:srgbClr val="006600"/>
                </a:solidFill>
                <a:latin typeface="微软雅黑" panose="020B0503020204020204" pitchFamily="34" charset="-122"/>
                <a:ea typeface="微软雅黑" panose="020B0503020204020204" pitchFamily="34" charset="-122"/>
              </a:rPr>
              <a:t>、</a:t>
            </a:r>
            <a:r>
              <a:rPr lang="en-US" altLang="zh-CN" sz="2000">
                <a:solidFill>
                  <a:srgbClr val="006600"/>
                </a:solidFill>
                <a:latin typeface="微软雅黑" panose="020B0503020204020204" pitchFamily="34" charset="-122"/>
                <a:ea typeface="微软雅黑" panose="020B0503020204020204" pitchFamily="34" charset="-122"/>
              </a:rPr>
              <a:t>pop</a:t>
            </a:r>
            <a:r>
              <a:rPr lang="zh-CN" altLang="en-US" sz="2000" dirty="0">
                <a:solidFill>
                  <a:srgbClr val="006600"/>
                </a:solidFill>
                <a:latin typeface="微软雅黑" panose="020B0503020204020204" pitchFamily="34" charset="-122"/>
                <a:ea typeface="微软雅黑" panose="020B0503020204020204" pitchFamily="34" charset="-122"/>
              </a:rPr>
              <a:t>和</a:t>
            </a:r>
            <a:r>
              <a:rPr lang="en-US" altLang="zh-CN" sz="2000">
                <a:solidFill>
                  <a:srgbClr val="006600"/>
                </a:solidFill>
                <a:latin typeface="微软雅黑" panose="020B0503020204020204" pitchFamily="34" charset="-122"/>
                <a:ea typeface="微软雅黑" panose="020B0503020204020204" pitchFamily="34" charset="-122"/>
              </a:rPr>
              <a:t>ret</a:t>
            </a:r>
            <a:r>
              <a:rPr lang="zh-CN" altLang="en-US" sz="2000" dirty="0">
                <a:solidFill>
                  <a:srgbClr val="006600"/>
                </a:solidFill>
                <a:latin typeface="微软雅黑" panose="020B0503020204020204" pitchFamily="34" charset="-122"/>
                <a:ea typeface="微软雅黑" panose="020B0503020204020204" pitchFamily="34" charset="-122"/>
              </a:rPr>
              <a:t>指令各占一个字节，第</a:t>
            </a:r>
            <a:r>
              <a:rPr lang="en-US" altLang="zh-CN" sz="2000">
                <a:solidFill>
                  <a:srgbClr val="006600"/>
                </a:solidFill>
                <a:latin typeface="微软雅黑" panose="020B0503020204020204" pitchFamily="34" charset="-122"/>
                <a:ea typeface="微软雅黑" panose="020B0503020204020204" pitchFamily="34" charset="-122"/>
              </a:rPr>
              <a:t>2</a:t>
            </a:r>
            <a:r>
              <a:rPr lang="zh-CN" altLang="en-US" sz="2000" dirty="0">
                <a:solidFill>
                  <a:srgbClr val="006600"/>
                </a:solidFill>
                <a:latin typeface="微软雅黑" panose="020B0503020204020204" pitchFamily="34" charset="-122"/>
                <a:ea typeface="微软雅黑" panose="020B0503020204020204" pitchFamily="34" charset="-122"/>
              </a:rPr>
              <a:t>行</a:t>
            </a:r>
            <a:r>
              <a:rPr lang="en-US" altLang="zh-CN" sz="2000" err="1">
                <a:solidFill>
                  <a:srgbClr val="006600"/>
                </a:solidFill>
                <a:latin typeface="微软雅黑" panose="020B0503020204020204" pitchFamily="34" charset="-122"/>
                <a:ea typeface="微软雅黑" panose="020B0503020204020204" pitchFamily="34" charset="-122"/>
              </a:rPr>
              <a:t>mov</a:t>
            </a:r>
            <a:r>
              <a:rPr lang="zh-CN" altLang="en-US" sz="2000" dirty="0">
                <a:solidFill>
                  <a:srgbClr val="006600"/>
                </a:solidFill>
                <a:latin typeface="微软雅黑" panose="020B0503020204020204" pitchFamily="34" charset="-122"/>
                <a:ea typeface="微软雅黑" panose="020B0503020204020204" pitchFamily="34" charset="-122"/>
              </a:rPr>
              <a:t>指令占两个字节，第</a:t>
            </a:r>
            <a:r>
              <a:rPr lang="en-US" altLang="zh-CN" sz="2000">
                <a:solidFill>
                  <a:srgbClr val="006600"/>
                </a:solidFill>
                <a:latin typeface="微软雅黑" panose="020B0503020204020204" pitchFamily="34" charset="-122"/>
                <a:ea typeface="微软雅黑" panose="020B0503020204020204" pitchFamily="34" charset="-122"/>
              </a:rPr>
              <a:t>3</a:t>
            </a:r>
            <a:r>
              <a:rPr lang="zh-CN" altLang="en-US" sz="2000" dirty="0">
                <a:solidFill>
                  <a:srgbClr val="006600"/>
                </a:solidFill>
                <a:latin typeface="微软雅黑" panose="020B0503020204020204" pitchFamily="34" charset="-122"/>
                <a:ea typeface="微软雅黑" panose="020B0503020204020204" pitchFamily="34" charset="-122"/>
              </a:rPr>
              <a:t>行</a:t>
            </a:r>
            <a:r>
              <a:rPr lang="en-US" altLang="zh-CN" sz="2000" err="1">
                <a:solidFill>
                  <a:srgbClr val="006600"/>
                </a:solidFill>
                <a:latin typeface="微软雅黑" panose="020B0503020204020204" pitchFamily="34" charset="-122"/>
                <a:ea typeface="微软雅黑" panose="020B0503020204020204" pitchFamily="34" charset="-122"/>
              </a:rPr>
              <a:t>mov</a:t>
            </a:r>
            <a:r>
              <a:rPr lang="zh-CN" altLang="en-US" sz="2000" dirty="0">
                <a:solidFill>
                  <a:srgbClr val="006600"/>
                </a:solidFill>
                <a:latin typeface="微软雅黑" panose="020B0503020204020204" pitchFamily="34" charset="-122"/>
                <a:ea typeface="微软雅黑" panose="020B0503020204020204" pitchFamily="34" charset="-122"/>
              </a:rPr>
              <a:t>指令和第</a:t>
            </a:r>
            <a:r>
              <a:rPr lang="en-US" altLang="zh-CN" sz="2000">
                <a:solidFill>
                  <a:srgbClr val="006600"/>
                </a:solidFill>
                <a:latin typeface="微软雅黑" panose="020B0503020204020204" pitchFamily="34" charset="-122"/>
                <a:ea typeface="微软雅黑" panose="020B0503020204020204" pitchFamily="34" charset="-122"/>
              </a:rPr>
              <a:t>4</a:t>
            </a:r>
            <a:r>
              <a:rPr lang="zh-CN" altLang="en-US" sz="2000" dirty="0">
                <a:solidFill>
                  <a:srgbClr val="006600"/>
                </a:solidFill>
                <a:latin typeface="微软雅黑" panose="020B0503020204020204" pitchFamily="34" charset="-122"/>
                <a:ea typeface="微软雅黑" panose="020B0503020204020204" pitchFamily="34" charset="-122"/>
              </a:rPr>
              <a:t>行</a:t>
            </a:r>
            <a:r>
              <a:rPr lang="en-US" altLang="zh-CN" sz="2000">
                <a:solidFill>
                  <a:srgbClr val="006600"/>
                </a:solidFill>
                <a:latin typeface="微软雅黑" panose="020B0503020204020204" pitchFamily="34" charset="-122"/>
                <a:ea typeface="微软雅黑" panose="020B0503020204020204" pitchFamily="34" charset="-122"/>
              </a:rPr>
              <a:t>add</a:t>
            </a:r>
            <a:r>
              <a:rPr lang="zh-CN" altLang="en-US" sz="2000" dirty="0">
                <a:solidFill>
                  <a:srgbClr val="006600"/>
                </a:solidFill>
                <a:latin typeface="微软雅黑" panose="020B0503020204020204" pitchFamily="34" charset="-122"/>
                <a:ea typeface="微软雅黑" panose="020B0503020204020204" pitchFamily="34" charset="-122"/>
              </a:rPr>
              <a:t>指令各占</a:t>
            </a:r>
            <a:r>
              <a:rPr lang="en-US" altLang="zh-CN" sz="2000">
                <a:solidFill>
                  <a:srgbClr val="006600"/>
                </a:solidFill>
                <a:latin typeface="微软雅黑" panose="020B0503020204020204" pitchFamily="34" charset="-122"/>
                <a:ea typeface="微软雅黑" panose="020B0503020204020204" pitchFamily="34" charset="-122"/>
              </a:rPr>
              <a:t>3</a:t>
            </a:r>
            <a:r>
              <a:rPr lang="zh-CN" altLang="en-US" sz="2000" dirty="0">
                <a:solidFill>
                  <a:srgbClr val="006600"/>
                </a:solidFill>
                <a:latin typeface="微软雅黑" panose="020B0503020204020204" pitchFamily="34" charset="-122"/>
                <a:ea typeface="微软雅黑" panose="020B0503020204020204" pitchFamily="34" charset="-122"/>
              </a:rPr>
              <a:t>字节。</a:t>
            </a:r>
            <a:endParaRPr lang="zh-CN" altLang="en-US" sz="2000" dirty="0">
              <a:solidFill>
                <a:srgbClr val="006600"/>
              </a:solidFill>
              <a:latin typeface="微软雅黑" panose="020B0503020204020204" pitchFamily="34" charset="-122"/>
              <a:ea typeface="微软雅黑" panose="020B0503020204020204" pitchFamily="34" charset="-122"/>
            </a:endParaRPr>
          </a:p>
          <a:p>
            <a:pPr marL="685800" lvl="1" indent="-190500" eaLnBrk="0" hangingPunct="0">
              <a:spcBef>
                <a:spcPct val="35000"/>
              </a:spcBef>
              <a:buFont typeface="Wingdings" panose="05000000000000000000" pitchFamily="2" charset="2"/>
              <a:buChar char="ü"/>
            </a:pPr>
            <a:r>
              <a:rPr lang="zh-CN" altLang="en-US" sz="2000" dirty="0">
                <a:solidFill>
                  <a:srgbClr val="006600"/>
                </a:solidFill>
                <a:latin typeface="微软雅黑" panose="020B0503020204020204" pitchFamily="34" charset="-122"/>
                <a:ea typeface="微软雅黑" panose="020B0503020204020204" pitchFamily="34" charset="-122"/>
              </a:rPr>
              <a:t>各指令对应的</a:t>
            </a:r>
            <a:r>
              <a:rPr lang="en-US" altLang="zh-CN" sz="2000">
                <a:solidFill>
                  <a:srgbClr val="006600"/>
                </a:solidFill>
                <a:latin typeface="微软雅黑" panose="020B0503020204020204" pitchFamily="34" charset="-122"/>
                <a:ea typeface="微软雅黑" panose="020B0503020204020204" pitchFamily="34" charset="-122"/>
              </a:rPr>
              <a:t>0/1</a:t>
            </a:r>
            <a:r>
              <a:rPr lang="zh-CN" altLang="en-US" sz="2000" dirty="0">
                <a:solidFill>
                  <a:srgbClr val="006600"/>
                </a:solidFill>
                <a:latin typeface="微软雅黑" panose="020B0503020204020204" pitchFamily="34" charset="-122"/>
                <a:ea typeface="微软雅黑" panose="020B0503020204020204" pitchFamily="34" charset="-122"/>
              </a:rPr>
              <a:t>序列含义有不同的规定，如“</a:t>
            </a:r>
            <a:r>
              <a:rPr lang="en-US" altLang="zh-CN" sz="2000">
                <a:solidFill>
                  <a:srgbClr val="006600"/>
                </a:solidFill>
                <a:latin typeface="微软雅黑" panose="020B0503020204020204" pitchFamily="34" charset="-122"/>
                <a:ea typeface="微软雅黑" panose="020B0503020204020204" pitchFamily="34" charset="-122"/>
              </a:rPr>
              <a:t>push %</a:t>
            </a:r>
            <a:r>
              <a:rPr lang="en-US" altLang="zh-CN" sz="2000" err="1">
                <a:solidFill>
                  <a:srgbClr val="006600"/>
                </a:solidFill>
                <a:latin typeface="微软雅黑" panose="020B0503020204020204" pitchFamily="34" charset="-122"/>
                <a:ea typeface="微软雅黑" panose="020B0503020204020204" pitchFamily="34" charset="-122"/>
              </a:rPr>
              <a:t>ebp</a:t>
            </a:r>
            <a:r>
              <a:rPr lang="en-US" altLang="zh-CN" sz="2000">
                <a:solidFill>
                  <a:srgbClr val="006600"/>
                </a:solidFill>
                <a:latin typeface="微软雅黑" panose="020B0503020204020204" pitchFamily="34" charset="-122"/>
                <a:ea typeface="微软雅黑" panose="020B0503020204020204" pitchFamily="34" charset="-122"/>
              </a:rPr>
              <a:t>”</a:t>
            </a:r>
            <a:r>
              <a:rPr lang="zh-CN" altLang="en-US" sz="2000" dirty="0">
                <a:solidFill>
                  <a:srgbClr val="006600"/>
                </a:solidFill>
                <a:latin typeface="微软雅黑" panose="020B0503020204020204" pitchFamily="34" charset="-122"/>
                <a:ea typeface="微软雅黑" panose="020B0503020204020204" pitchFamily="34" charset="-122"/>
              </a:rPr>
              <a:t>指令为</a:t>
            </a:r>
            <a:r>
              <a:rPr lang="en-US" altLang="zh-CN" sz="2000">
                <a:solidFill>
                  <a:schemeClr val="accent1"/>
                </a:solidFill>
                <a:latin typeface="微软雅黑" panose="020B0503020204020204" pitchFamily="34" charset="-122"/>
                <a:ea typeface="微软雅黑" panose="020B0503020204020204" pitchFamily="34" charset="-122"/>
              </a:rPr>
              <a:t>01010</a:t>
            </a:r>
            <a:r>
              <a:rPr lang="en-US" altLang="zh-CN" sz="2000">
                <a:solidFill>
                  <a:schemeClr val="accent2"/>
                </a:solidFill>
                <a:latin typeface="微软雅黑" panose="020B0503020204020204" pitchFamily="34" charset="-122"/>
                <a:ea typeface="微软雅黑" panose="020B0503020204020204" pitchFamily="34" charset="-122"/>
              </a:rPr>
              <a:t>101</a:t>
            </a:r>
            <a:r>
              <a:rPr lang="en-US" altLang="zh-CN" sz="2000">
                <a:solidFill>
                  <a:srgbClr val="006600"/>
                </a:solidFill>
                <a:latin typeface="微软雅黑" panose="020B0503020204020204" pitchFamily="34" charset="-122"/>
                <a:ea typeface="微软雅黑" panose="020B0503020204020204" pitchFamily="34" charset="-122"/>
              </a:rPr>
              <a:t>B</a:t>
            </a:r>
            <a:r>
              <a:rPr lang="zh-CN" altLang="en-US" sz="2000" dirty="0">
                <a:solidFill>
                  <a:srgbClr val="006600"/>
                </a:solidFill>
                <a:latin typeface="微软雅黑" panose="020B0503020204020204" pitchFamily="34" charset="-122"/>
                <a:ea typeface="微软雅黑" panose="020B0503020204020204" pitchFamily="34" charset="-122"/>
              </a:rPr>
              <a:t>，其中</a:t>
            </a:r>
            <a:r>
              <a:rPr lang="en-US" altLang="zh-CN" sz="2000">
                <a:solidFill>
                  <a:srgbClr val="006600"/>
                </a:solidFill>
                <a:latin typeface="微软雅黑" panose="020B0503020204020204" pitchFamily="34" charset="-122"/>
                <a:ea typeface="微软雅黑" panose="020B0503020204020204" pitchFamily="34" charset="-122"/>
              </a:rPr>
              <a:t>01010</a:t>
            </a:r>
            <a:r>
              <a:rPr lang="zh-CN" altLang="en-US" sz="2000" dirty="0">
                <a:solidFill>
                  <a:srgbClr val="006600"/>
                </a:solidFill>
                <a:latin typeface="微软雅黑" panose="020B0503020204020204" pitchFamily="34" charset="-122"/>
                <a:ea typeface="微软雅黑" panose="020B0503020204020204" pitchFamily="34" charset="-122"/>
              </a:rPr>
              <a:t>为</a:t>
            </a:r>
            <a:r>
              <a:rPr lang="en-US" altLang="zh-CN" sz="2000">
                <a:solidFill>
                  <a:srgbClr val="006600"/>
                </a:solidFill>
                <a:latin typeface="微软雅黑" panose="020B0503020204020204" pitchFamily="34" charset="-122"/>
                <a:ea typeface="微软雅黑" panose="020B0503020204020204" pitchFamily="34" charset="-122"/>
              </a:rPr>
              <a:t>push</a:t>
            </a:r>
            <a:r>
              <a:rPr lang="zh-CN" altLang="en-US" sz="2000" dirty="0">
                <a:solidFill>
                  <a:srgbClr val="006600"/>
                </a:solidFill>
                <a:latin typeface="微软雅黑" panose="020B0503020204020204" pitchFamily="34" charset="-122"/>
                <a:ea typeface="微软雅黑" panose="020B0503020204020204" pitchFamily="34" charset="-122"/>
              </a:rPr>
              <a:t>指令操作码，</a:t>
            </a:r>
            <a:r>
              <a:rPr lang="en-US" altLang="zh-CN" sz="2000">
                <a:solidFill>
                  <a:srgbClr val="006600"/>
                </a:solidFill>
                <a:latin typeface="微软雅黑" panose="020B0503020204020204" pitchFamily="34" charset="-122"/>
                <a:ea typeface="微软雅黑" panose="020B0503020204020204" pitchFamily="34" charset="-122"/>
              </a:rPr>
              <a:t>101</a:t>
            </a:r>
            <a:r>
              <a:rPr lang="zh-CN" altLang="en-US" sz="2000" dirty="0">
                <a:solidFill>
                  <a:srgbClr val="006600"/>
                </a:solidFill>
                <a:latin typeface="微软雅黑" panose="020B0503020204020204" pitchFamily="34" charset="-122"/>
                <a:ea typeface="微软雅黑" panose="020B0503020204020204" pitchFamily="34" charset="-122"/>
              </a:rPr>
              <a:t>为</a:t>
            </a:r>
            <a:r>
              <a:rPr lang="en-US" altLang="zh-CN" sz="2000">
                <a:solidFill>
                  <a:srgbClr val="006600"/>
                </a:solidFill>
                <a:latin typeface="微软雅黑" panose="020B0503020204020204" pitchFamily="34" charset="-122"/>
                <a:ea typeface="微软雅黑" panose="020B0503020204020204" pitchFamily="34" charset="-122"/>
              </a:rPr>
              <a:t>EBP</a:t>
            </a:r>
            <a:r>
              <a:rPr lang="zh-CN" altLang="en-US" sz="2000" dirty="0">
                <a:solidFill>
                  <a:srgbClr val="006600"/>
                </a:solidFill>
                <a:latin typeface="微软雅黑" panose="020B0503020204020204" pitchFamily="34" charset="-122"/>
                <a:ea typeface="微软雅黑" panose="020B0503020204020204" pitchFamily="34" charset="-122"/>
              </a:rPr>
              <a:t>的编号，“</a:t>
            </a:r>
            <a:r>
              <a:rPr lang="en-US" altLang="zh-CN" sz="2000">
                <a:solidFill>
                  <a:srgbClr val="006600"/>
                </a:solidFill>
                <a:latin typeface="微软雅黑" panose="020B0503020204020204" pitchFamily="34" charset="-122"/>
                <a:ea typeface="微软雅黑" panose="020B0503020204020204" pitchFamily="34" charset="-122"/>
              </a:rPr>
              <a:t>pop %</a:t>
            </a:r>
            <a:r>
              <a:rPr lang="en-US" altLang="zh-CN" sz="2000" err="1">
                <a:solidFill>
                  <a:srgbClr val="006600"/>
                </a:solidFill>
                <a:latin typeface="微软雅黑" panose="020B0503020204020204" pitchFamily="34" charset="-122"/>
                <a:ea typeface="微软雅黑" panose="020B0503020204020204" pitchFamily="34" charset="-122"/>
              </a:rPr>
              <a:t>ebp</a:t>
            </a:r>
            <a:r>
              <a:rPr lang="en-US" altLang="zh-CN" sz="2000">
                <a:solidFill>
                  <a:srgbClr val="006600"/>
                </a:solidFill>
                <a:latin typeface="微软雅黑" panose="020B0503020204020204" pitchFamily="34" charset="-122"/>
                <a:ea typeface="微软雅黑" panose="020B0503020204020204" pitchFamily="34" charset="-122"/>
              </a:rPr>
              <a:t>”</a:t>
            </a:r>
            <a:r>
              <a:rPr lang="zh-CN" altLang="en-US" sz="2000" dirty="0">
                <a:solidFill>
                  <a:srgbClr val="006600"/>
                </a:solidFill>
                <a:latin typeface="微软雅黑" panose="020B0503020204020204" pitchFamily="34" charset="-122"/>
                <a:ea typeface="微软雅黑" panose="020B0503020204020204" pitchFamily="34" charset="-122"/>
              </a:rPr>
              <a:t>为</a:t>
            </a:r>
            <a:r>
              <a:rPr lang="en-US" altLang="zh-CN" sz="2000">
                <a:solidFill>
                  <a:schemeClr val="accent1"/>
                </a:solidFill>
                <a:latin typeface="微软雅黑" panose="020B0503020204020204" pitchFamily="34" charset="-122"/>
                <a:ea typeface="微软雅黑" panose="020B0503020204020204" pitchFamily="34" charset="-122"/>
              </a:rPr>
              <a:t>01011</a:t>
            </a:r>
            <a:r>
              <a:rPr lang="en-US" altLang="zh-CN" sz="2000">
                <a:solidFill>
                  <a:schemeClr val="accent2"/>
                </a:solidFill>
                <a:latin typeface="微软雅黑" panose="020B0503020204020204" pitchFamily="34" charset="-122"/>
                <a:ea typeface="微软雅黑" panose="020B0503020204020204" pitchFamily="34" charset="-122"/>
              </a:rPr>
              <a:t>101</a:t>
            </a:r>
            <a:r>
              <a:rPr lang="en-US" altLang="zh-CN" sz="2000">
                <a:solidFill>
                  <a:srgbClr val="006600"/>
                </a:solidFill>
                <a:latin typeface="微软雅黑" panose="020B0503020204020204" pitchFamily="34" charset="-122"/>
                <a:ea typeface="微软雅黑" panose="020B0503020204020204" pitchFamily="34" charset="-122"/>
              </a:rPr>
              <a:t>B</a:t>
            </a:r>
            <a:r>
              <a:rPr lang="zh-CN" altLang="en-US" sz="2000" dirty="0">
                <a:solidFill>
                  <a:srgbClr val="006600"/>
                </a:solidFill>
                <a:latin typeface="微软雅黑" panose="020B0503020204020204" pitchFamily="34" charset="-122"/>
                <a:ea typeface="微软雅黑" panose="020B0503020204020204" pitchFamily="34" charset="-122"/>
              </a:rPr>
              <a:t>，其中</a:t>
            </a:r>
            <a:r>
              <a:rPr lang="en-US" altLang="zh-CN" sz="2000">
                <a:solidFill>
                  <a:srgbClr val="006600"/>
                </a:solidFill>
                <a:latin typeface="微软雅黑" panose="020B0503020204020204" pitchFamily="34" charset="-122"/>
                <a:ea typeface="微软雅黑" panose="020B0503020204020204" pitchFamily="34" charset="-122"/>
              </a:rPr>
              <a:t>01011</a:t>
            </a:r>
            <a:r>
              <a:rPr lang="zh-CN" altLang="en-US" sz="2000" dirty="0">
                <a:solidFill>
                  <a:srgbClr val="006600"/>
                </a:solidFill>
                <a:latin typeface="微软雅黑" panose="020B0503020204020204" pitchFamily="34" charset="-122"/>
                <a:ea typeface="微软雅黑" panose="020B0503020204020204" pitchFamily="34" charset="-122"/>
              </a:rPr>
              <a:t>为</a:t>
            </a:r>
            <a:r>
              <a:rPr lang="en-US" altLang="zh-CN" sz="2000">
                <a:solidFill>
                  <a:srgbClr val="006600"/>
                </a:solidFill>
                <a:latin typeface="微软雅黑" panose="020B0503020204020204" pitchFamily="34" charset="-122"/>
                <a:ea typeface="微软雅黑" panose="020B0503020204020204" pitchFamily="34" charset="-122"/>
              </a:rPr>
              <a:t>pop</a:t>
            </a:r>
            <a:r>
              <a:rPr lang="zh-CN" altLang="en-US" sz="2000" dirty="0">
                <a:solidFill>
                  <a:srgbClr val="006600"/>
                </a:solidFill>
                <a:latin typeface="微软雅黑" panose="020B0503020204020204" pitchFamily="34" charset="-122"/>
                <a:ea typeface="微软雅黑" panose="020B0503020204020204" pitchFamily="34" charset="-122"/>
              </a:rPr>
              <a:t>指令的操作码。</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
        <p:nvSpPr>
          <p:cNvPr id="452614" name="矩形 452613"/>
          <p:cNvSpPr/>
          <p:nvPr/>
        </p:nvSpPr>
        <p:spPr>
          <a:xfrm>
            <a:off x="5827713" y="1620838"/>
            <a:ext cx="3216275" cy="2860675"/>
          </a:xfrm>
          <a:prstGeom prst="rect">
            <a:avLst/>
          </a:prstGeom>
          <a:noFill/>
          <a:ln w="50800">
            <a:noFill/>
          </a:ln>
        </p:spPr>
        <p:txBody>
          <a:bodyPr anchor="ctr" anchorCtr="0">
            <a:spAutoFit/>
          </a:bodyPr>
          <a:p>
            <a:pPr eaLnBrk="0" hangingPunct="0">
              <a:lnSpc>
                <a:spcPct val="120000"/>
              </a:lnSpc>
            </a:pPr>
            <a:r>
              <a:rPr lang="zh-CN" altLang="en-US" sz="1900" dirty="0">
                <a:solidFill>
                  <a:srgbClr val="993300"/>
                </a:solidFill>
                <a:latin typeface="微软雅黑" panose="020B0503020204020204" pitchFamily="34" charset="-122"/>
                <a:ea typeface="微软雅黑" panose="020B0503020204020204" pitchFamily="34" charset="-122"/>
              </a:rPr>
              <a:t>如何判定每条指令有多长？</a:t>
            </a:r>
            <a:r>
              <a:rPr lang="zh-CN" altLang="en-US" sz="1900" dirty="0">
                <a:solidFill>
                  <a:schemeClr val="accent1"/>
                </a:solidFill>
                <a:latin typeface="微软雅黑" panose="020B0503020204020204" pitchFamily="34" charset="-122"/>
                <a:ea typeface="微软雅黑" panose="020B0503020204020204" pitchFamily="34" charset="-122"/>
              </a:rPr>
              <a:t>如何判定操作类型、寄存器编号、立即数等？</a:t>
            </a:r>
            <a:r>
              <a:rPr lang="zh-CN" altLang="en-US" sz="1900" dirty="0">
                <a:solidFill>
                  <a:srgbClr val="993300"/>
                </a:solidFill>
                <a:latin typeface="微软雅黑" panose="020B0503020204020204" pitchFamily="34" charset="-122"/>
                <a:ea typeface="微软雅黑" panose="020B0503020204020204" pitchFamily="34" charset="-122"/>
              </a:rPr>
              <a:t>如何区分第</a:t>
            </a:r>
            <a:r>
              <a:rPr lang="en-US" altLang="zh-CN" sz="1900">
                <a:solidFill>
                  <a:srgbClr val="993300"/>
                </a:solidFill>
                <a:latin typeface="微软雅黑" panose="020B0503020204020204" pitchFamily="34" charset="-122"/>
                <a:ea typeface="微软雅黑" panose="020B0503020204020204" pitchFamily="34" charset="-122"/>
              </a:rPr>
              <a:t>2</a:t>
            </a:r>
            <a:r>
              <a:rPr lang="zh-CN" altLang="en-US" sz="1900" dirty="0">
                <a:solidFill>
                  <a:srgbClr val="993300"/>
                </a:solidFill>
                <a:latin typeface="微软雅黑" panose="020B0503020204020204" pitchFamily="34" charset="-122"/>
                <a:ea typeface="微软雅黑" panose="020B0503020204020204" pitchFamily="34" charset="-122"/>
              </a:rPr>
              <a:t>行和第</a:t>
            </a:r>
            <a:r>
              <a:rPr lang="en-US" altLang="zh-CN" sz="1900">
                <a:solidFill>
                  <a:srgbClr val="993300"/>
                </a:solidFill>
                <a:latin typeface="微软雅黑" panose="020B0503020204020204" pitchFamily="34" charset="-122"/>
                <a:ea typeface="微软雅黑" panose="020B0503020204020204" pitchFamily="34" charset="-122"/>
              </a:rPr>
              <a:t>3</a:t>
            </a:r>
            <a:r>
              <a:rPr lang="zh-CN" altLang="en-US" sz="1900" dirty="0">
                <a:solidFill>
                  <a:srgbClr val="993300"/>
                </a:solidFill>
                <a:latin typeface="微软雅黑" panose="020B0503020204020204" pitchFamily="34" charset="-122"/>
                <a:ea typeface="微软雅黑" panose="020B0503020204020204" pitchFamily="34" charset="-122"/>
              </a:rPr>
              <a:t>行</a:t>
            </a:r>
            <a:r>
              <a:rPr lang="en-US" altLang="zh-CN" sz="1900" err="1">
                <a:solidFill>
                  <a:srgbClr val="993300"/>
                </a:solidFill>
                <a:latin typeface="微软雅黑" panose="020B0503020204020204" pitchFamily="34" charset="-122"/>
                <a:ea typeface="微软雅黑" panose="020B0503020204020204" pitchFamily="34" charset="-122"/>
              </a:rPr>
              <a:t>mov</a:t>
            </a:r>
            <a:r>
              <a:rPr lang="zh-CN" altLang="en-US" sz="1900" dirty="0">
                <a:solidFill>
                  <a:srgbClr val="993300"/>
                </a:solidFill>
                <a:latin typeface="微软雅黑" panose="020B0503020204020204" pitchFamily="34" charset="-122"/>
                <a:ea typeface="微软雅黑" panose="020B0503020204020204" pitchFamily="34" charset="-122"/>
              </a:rPr>
              <a:t>指令的不同？</a:t>
            </a:r>
            <a:r>
              <a:rPr lang="zh-CN" altLang="en-US" sz="1900" dirty="0">
                <a:solidFill>
                  <a:schemeClr val="accent1"/>
                </a:solidFill>
                <a:latin typeface="微软雅黑" panose="020B0503020204020204" pitchFamily="34" charset="-122"/>
                <a:ea typeface="微软雅黑" panose="020B0503020204020204" pitchFamily="34" charset="-122"/>
              </a:rPr>
              <a:t>如何确定操作数是在寄存器中还是在存储器中？</a:t>
            </a:r>
            <a:r>
              <a:rPr lang="zh-CN" altLang="en-US" sz="1900" dirty="0">
                <a:solidFill>
                  <a:srgbClr val="993300"/>
                </a:solidFill>
                <a:latin typeface="微软雅黑" panose="020B0503020204020204" pitchFamily="34" charset="-122"/>
                <a:ea typeface="微软雅黑" panose="020B0503020204020204" pitchFamily="34" charset="-122"/>
              </a:rPr>
              <a:t>一条指令执行结束后如何正确读取到下一条指令？ </a:t>
            </a:r>
            <a:endParaRPr lang="zh-CN" altLang="en-US" sz="1900" dirty="0">
              <a:solidFill>
                <a:srgbClr val="993300"/>
              </a:solidFill>
              <a:latin typeface="微软雅黑" panose="020B0503020204020204" pitchFamily="34" charset="-122"/>
              <a:ea typeface="微软雅黑" panose="020B0503020204020204" pitchFamily="34" charset="-122"/>
            </a:endParaRPr>
          </a:p>
        </p:txBody>
      </p:sp>
      <p:sp>
        <p:nvSpPr>
          <p:cNvPr id="13318" name="文本框 452615"/>
          <p:cNvSpPr txBox="1"/>
          <p:nvPr/>
        </p:nvSpPr>
        <p:spPr>
          <a:xfrm>
            <a:off x="0" y="1930400"/>
            <a:ext cx="581025" cy="336550"/>
          </a:xfrm>
          <a:prstGeom prst="rect">
            <a:avLst/>
          </a:prstGeom>
          <a:noFill/>
          <a:ln w="50800">
            <a:noFill/>
          </a:ln>
        </p:spPr>
        <p:txBody>
          <a:bodyPr anchor="t" anchorCtr="0">
            <a:spAutoFit/>
          </a:bodyPr>
          <a:p>
            <a:pPr eaLnBrk="0" hangingPunct="0">
              <a:spcBef>
                <a:spcPct val="50000"/>
              </a:spcBef>
            </a:pPr>
            <a:endParaRPr lang="zh-CN" altLang="en-US" dirty="0">
              <a:latin typeface="Arial" panose="020B0604020202020204" pitchFamily="34" charset="0"/>
              <a:ea typeface="宋体" panose="02010600030101010101" pitchFamily="2" charset="-122"/>
            </a:endParaRPr>
          </a:p>
        </p:txBody>
      </p:sp>
      <p:sp>
        <p:nvSpPr>
          <p:cNvPr id="452617" name="文本框 452616"/>
          <p:cNvSpPr txBox="1"/>
          <p:nvPr/>
        </p:nvSpPr>
        <p:spPr>
          <a:xfrm>
            <a:off x="174625" y="1870075"/>
            <a:ext cx="320675" cy="1987550"/>
          </a:xfrm>
          <a:prstGeom prst="rect">
            <a:avLst/>
          </a:prstGeom>
          <a:noFill/>
          <a:ln w="50800">
            <a:noFill/>
          </a:ln>
        </p:spPr>
        <p:txBody>
          <a:bodyPr anchor="t" anchorCtr="0">
            <a:spAutoFit/>
          </a:bodyPr>
          <a:p>
            <a:pPr eaLnBrk="0" hangingPunct="0">
              <a:lnSpc>
                <a:spcPct val="115000"/>
              </a:lnSpc>
            </a:pPr>
            <a:r>
              <a:rPr lang="en-US" altLang="zh-CN" sz="1800">
                <a:latin typeface="Arial" panose="020B0604020202020204" pitchFamily="34" charset="0"/>
                <a:ea typeface="宋体" panose="02010600030101010101" pitchFamily="2" charset="-122"/>
              </a:rPr>
              <a:t>1</a:t>
            </a:r>
            <a:endParaRPr lang="en-US" altLang="zh-CN" sz="1800">
              <a:latin typeface="Arial" panose="020B0604020202020204" pitchFamily="34" charset="0"/>
              <a:ea typeface="宋体" panose="02010600030101010101" pitchFamily="2" charset="-122"/>
            </a:endParaRPr>
          </a:p>
          <a:p>
            <a:pPr eaLnBrk="0" hangingPunct="0">
              <a:lnSpc>
                <a:spcPct val="115000"/>
              </a:lnSpc>
            </a:pPr>
            <a:r>
              <a:rPr lang="en-US" altLang="zh-CN" sz="1800">
                <a:latin typeface="Arial" panose="020B0604020202020204" pitchFamily="34" charset="0"/>
                <a:ea typeface="宋体" panose="02010600030101010101" pitchFamily="2" charset="-122"/>
              </a:rPr>
              <a:t>2</a:t>
            </a:r>
            <a:endParaRPr lang="en-US" altLang="zh-CN" sz="1800">
              <a:latin typeface="Arial" panose="020B0604020202020204" pitchFamily="34" charset="0"/>
              <a:ea typeface="宋体" panose="02010600030101010101" pitchFamily="2" charset="-122"/>
            </a:endParaRPr>
          </a:p>
          <a:p>
            <a:pPr eaLnBrk="0" hangingPunct="0">
              <a:lnSpc>
                <a:spcPct val="115000"/>
              </a:lnSpc>
            </a:pPr>
            <a:r>
              <a:rPr lang="en-US" altLang="zh-CN" sz="1800">
                <a:latin typeface="Arial" panose="020B0604020202020204" pitchFamily="34" charset="0"/>
                <a:ea typeface="宋体" panose="02010600030101010101" pitchFamily="2" charset="-122"/>
              </a:rPr>
              <a:t>3</a:t>
            </a:r>
            <a:endParaRPr lang="en-US" altLang="zh-CN" sz="1800">
              <a:latin typeface="Arial" panose="020B0604020202020204" pitchFamily="34" charset="0"/>
              <a:ea typeface="宋体" panose="02010600030101010101" pitchFamily="2" charset="-122"/>
            </a:endParaRPr>
          </a:p>
          <a:p>
            <a:pPr eaLnBrk="0" hangingPunct="0">
              <a:lnSpc>
                <a:spcPct val="115000"/>
              </a:lnSpc>
            </a:pPr>
            <a:r>
              <a:rPr lang="en-US" altLang="zh-CN" sz="1800">
                <a:latin typeface="Arial" panose="020B0604020202020204" pitchFamily="34" charset="0"/>
                <a:ea typeface="宋体" panose="02010600030101010101" pitchFamily="2" charset="-122"/>
              </a:rPr>
              <a:t>4</a:t>
            </a:r>
            <a:endParaRPr lang="en-US" altLang="zh-CN" sz="1800">
              <a:latin typeface="Arial" panose="020B0604020202020204" pitchFamily="34" charset="0"/>
              <a:ea typeface="宋体" panose="02010600030101010101" pitchFamily="2" charset="-122"/>
            </a:endParaRPr>
          </a:p>
          <a:p>
            <a:pPr eaLnBrk="0" hangingPunct="0">
              <a:lnSpc>
                <a:spcPct val="115000"/>
              </a:lnSpc>
            </a:pPr>
            <a:r>
              <a:rPr lang="en-US" altLang="zh-CN" sz="1800">
                <a:latin typeface="Arial" panose="020B0604020202020204" pitchFamily="34" charset="0"/>
                <a:ea typeface="宋体" panose="02010600030101010101" pitchFamily="2" charset="-122"/>
              </a:rPr>
              <a:t>5</a:t>
            </a:r>
            <a:endParaRPr lang="en-US" altLang="zh-CN" sz="1800">
              <a:latin typeface="Arial" panose="020B0604020202020204" pitchFamily="34" charset="0"/>
              <a:ea typeface="宋体" panose="02010600030101010101" pitchFamily="2" charset="-122"/>
            </a:endParaRPr>
          </a:p>
          <a:p>
            <a:pPr eaLnBrk="0" hangingPunct="0">
              <a:lnSpc>
                <a:spcPct val="115000"/>
              </a:lnSpc>
            </a:pPr>
            <a:r>
              <a:rPr lang="en-US" altLang="zh-CN" sz="1800">
                <a:latin typeface="Arial" panose="020B0604020202020204" pitchFamily="34" charset="0"/>
                <a:ea typeface="宋体" panose="02010600030101010101" pitchFamily="2" charset="-122"/>
              </a:rPr>
              <a:t>6</a:t>
            </a:r>
            <a:endParaRPr lang="en-US" altLang="zh-CN" sz="1800">
              <a:latin typeface="Arial" panose="020B0604020202020204" pitchFamily="34" charset="0"/>
              <a:ea typeface="宋体" panose="02010600030101010101" pitchFamily="2" charset="-122"/>
            </a:endParaRPr>
          </a:p>
        </p:txBody>
      </p:sp>
      <p:sp>
        <p:nvSpPr>
          <p:cNvPr id="452618" name="文本框 452617"/>
          <p:cNvSpPr txBox="1"/>
          <p:nvPr/>
        </p:nvSpPr>
        <p:spPr>
          <a:xfrm>
            <a:off x="5789613" y="1262063"/>
            <a:ext cx="3162300" cy="396875"/>
          </a:xfrm>
          <a:prstGeom prst="rect">
            <a:avLst/>
          </a:prstGeom>
          <a:noFill/>
          <a:ln w="50800">
            <a:noFill/>
          </a:ln>
        </p:spPr>
        <p:txBody>
          <a:bodyPr lIns="0" rIns="0" anchor="t" anchorCtr="0">
            <a:spAutoFit/>
          </a:bodyPr>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程序执行需要解决的问题：</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2611">
                                            <p:txEl>
                                              <p:charRg st="0" end="24"/>
                                            </p:txEl>
                                          </p:spTgt>
                                        </p:tgtEl>
                                        <p:attrNameLst>
                                          <p:attrName>style.visibility</p:attrName>
                                        </p:attrNameLst>
                                      </p:cBhvr>
                                      <p:to>
                                        <p:strVal val="visible"/>
                                      </p:to>
                                    </p:set>
                                    <p:animEffect transition="in" filter="blinds(horizontal)">
                                      <p:cBhvr>
                                        <p:cTn id="7" dur="500"/>
                                        <p:tgtEl>
                                          <p:spTgt spid="452611">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2612"/>
                                        </p:tgtEl>
                                        <p:attrNameLst>
                                          <p:attrName>style.visibility</p:attrName>
                                        </p:attrNameLst>
                                      </p:cBhvr>
                                      <p:to>
                                        <p:strVal val="visible"/>
                                      </p:to>
                                    </p:set>
                                    <p:animEffect transition="in" filter="blinds(horizontal)">
                                      <p:cBhvr>
                                        <p:cTn id="12" dur="500"/>
                                        <p:tgtEl>
                                          <p:spTgt spid="4526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2617"/>
                                        </p:tgtEl>
                                        <p:attrNameLst>
                                          <p:attrName>style.visibility</p:attrName>
                                        </p:attrNameLst>
                                      </p:cBhvr>
                                      <p:to>
                                        <p:strVal val="visible"/>
                                      </p:to>
                                    </p:set>
                                    <p:animEffect transition="in" filter="blinds(horizontal)">
                                      <p:cBhvr>
                                        <p:cTn id="17" dur="500"/>
                                        <p:tgtEl>
                                          <p:spTgt spid="45261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52613">
                                            <p:txEl>
                                              <p:charRg st="0" end="8"/>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52613">
                                            <p:txEl>
                                              <p:charRg st="8" end="35"/>
                                            </p:txEl>
                                          </p:spTgt>
                                        </p:tgtEl>
                                        <p:attrNameLst>
                                          <p:attrName>style.visibility</p:attrName>
                                        </p:attrNameLst>
                                      </p:cBhvr>
                                      <p:to>
                                        <p:strVal val="visible"/>
                                      </p:to>
                                    </p:set>
                                    <p:animEffect transition="in" filter="blinds(horizontal)">
                                      <p:cBhvr>
                                        <p:cTn id="26" dur="500"/>
                                        <p:tgtEl>
                                          <p:spTgt spid="452613">
                                            <p:txEl>
                                              <p:charRg st="8" end="3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52613">
                                            <p:txEl>
                                              <p:charRg st="35" end="105"/>
                                            </p:txEl>
                                          </p:spTgt>
                                        </p:tgtEl>
                                        <p:attrNameLst>
                                          <p:attrName>style.visibility</p:attrName>
                                        </p:attrNameLst>
                                      </p:cBhvr>
                                      <p:to>
                                        <p:strVal val="visible"/>
                                      </p:to>
                                    </p:set>
                                    <p:animEffect transition="in" filter="blinds(horizontal)">
                                      <p:cBhvr>
                                        <p:cTn id="31" dur="500"/>
                                        <p:tgtEl>
                                          <p:spTgt spid="452613">
                                            <p:txEl>
                                              <p:charRg st="35" end="10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52613">
                                            <p:txEl>
                                              <p:charRg st="105" end="219"/>
                                            </p:txEl>
                                          </p:spTgt>
                                        </p:tgtEl>
                                        <p:attrNameLst>
                                          <p:attrName>style.visibility</p:attrName>
                                        </p:attrNameLst>
                                      </p:cBhvr>
                                      <p:to>
                                        <p:strVal val="visible"/>
                                      </p:to>
                                    </p:set>
                                    <p:animEffect transition="in" filter="blinds(horizontal)">
                                      <p:cBhvr>
                                        <p:cTn id="36" dur="500"/>
                                        <p:tgtEl>
                                          <p:spTgt spid="452613">
                                            <p:txEl>
                                              <p:charRg st="105" end="21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452618"/>
                                        </p:tgtEl>
                                        <p:attrNameLst>
                                          <p:attrName>style.visibility</p:attrName>
                                        </p:attrNameLst>
                                      </p:cBhvr>
                                      <p:to>
                                        <p:strVal val="visible"/>
                                      </p:to>
                                    </p:set>
                                    <p:animEffect transition="in" filter="blinds(horizontal)">
                                      <p:cBhvr>
                                        <p:cTn id="41" dur="500"/>
                                        <p:tgtEl>
                                          <p:spTgt spid="45261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52614"/>
                                        </p:tgtEl>
                                        <p:attrNameLst>
                                          <p:attrName>style.visibility</p:attrName>
                                        </p:attrNameLst>
                                      </p:cBhvr>
                                      <p:to>
                                        <p:strVal val="visible"/>
                                      </p:to>
                                    </p:set>
                                    <p:animEffect transition="in" filter="blinds(horizontal)">
                                      <p:cBhvr>
                                        <p:cTn id="46" dur="500"/>
                                        <p:tgtEl>
                                          <p:spTgt spid="452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1" grpId="0" build="p"/>
      <p:bldP spid="452612" grpId="0"/>
      <p:bldP spid="452614" grpId="0"/>
      <p:bldP spid="452617" grpId="0"/>
      <p:bldP spid="4526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标题 456705"/>
          <p:cNvSpPr>
            <a:spLocks noGrp="1"/>
          </p:cNvSpPr>
          <p:nvPr>
            <p:ph type="title"/>
          </p:nvPr>
        </p:nvSpPr>
        <p:spPr>
          <a:xfrm>
            <a:off x="758825" y="174625"/>
            <a:ext cx="7499350" cy="528638"/>
          </a:xfrm>
          <a:ln/>
        </p:spPr>
        <p:txBody>
          <a:bodyPr lIns="63500" tIns="25400" rIns="63500" bIns="25400" anchor="t" anchorCtr="0">
            <a:spAutoFit/>
          </a:bodyPr>
          <a:p>
            <a:r>
              <a:rPr lang="zh-CN" altLang="en-US" dirty="0"/>
              <a:t>程序及指令的执行过程</a:t>
            </a:r>
            <a:endParaRPr lang="zh-CN" altLang="en-US" dirty="0"/>
          </a:p>
        </p:txBody>
      </p:sp>
      <p:pic>
        <p:nvPicPr>
          <p:cNvPr id="456710" name="图片 456709"/>
          <p:cNvPicPr>
            <a:picLocks noChangeAspect="1"/>
          </p:cNvPicPr>
          <p:nvPr/>
        </p:nvPicPr>
        <p:blipFill>
          <a:blip r:embed="rId1"/>
          <a:stretch>
            <a:fillRect/>
          </a:stretch>
        </p:blipFill>
        <p:spPr>
          <a:xfrm>
            <a:off x="198438" y="773113"/>
            <a:ext cx="8585200" cy="4394200"/>
          </a:xfrm>
          <a:prstGeom prst="rect">
            <a:avLst/>
          </a:prstGeom>
          <a:noFill/>
          <a:ln w="9525">
            <a:noFill/>
          </a:ln>
        </p:spPr>
      </p:pic>
      <p:sp>
        <p:nvSpPr>
          <p:cNvPr id="456713" name="直接连接符 456712"/>
          <p:cNvSpPr/>
          <p:nvPr/>
        </p:nvSpPr>
        <p:spPr>
          <a:xfrm>
            <a:off x="0" y="3308350"/>
            <a:ext cx="9144000" cy="44450"/>
          </a:xfrm>
          <a:prstGeom prst="line">
            <a:avLst/>
          </a:prstGeom>
          <a:ln w="50800" cap="flat" cmpd="sng">
            <a:solidFill>
              <a:srgbClr val="FE9AAB"/>
            </a:solidFill>
            <a:prstDash val="solid"/>
            <a:round/>
            <a:headEnd type="none" w="med" len="med"/>
            <a:tailEnd type="none" w="med" len="med"/>
          </a:ln>
        </p:spPr>
      </p:sp>
      <p:sp>
        <p:nvSpPr>
          <p:cNvPr id="456714" name="文本框 456713"/>
          <p:cNvSpPr txBox="1"/>
          <p:nvPr/>
        </p:nvSpPr>
        <p:spPr>
          <a:xfrm>
            <a:off x="347663" y="5646738"/>
            <a:ext cx="8431212" cy="793750"/>
          </a:xfrm>
          <a:prstGeom prst="rect">
            <a:avLst/>
          </a:prstGeom>
          <a:noFill/>
          <a:ln w="50800">
            <a:noFill/>
          </a:ln>
        </p:spPr>
        <p:txBody>
          <a:bodyPr anchor="t" anchorCtr="0">
            <a:spAutoFit/>
          </a:bodyPr>
          <a:p>
            <a:pPr eaLnBrk="0" hangingPunct="0">
              <a:spcBef>
                <a:spcPct val="30000"/>
              </a:spcBef>
            </a:pPr>
            <a:r>
              <a:rPr lang="en-US" altLang="zh-CN" sz="200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运行程序的过程就是执行一条一条指令的过程</a:t>
            </a:r>
            <a:endParaRPr lang="zh-CN" altLang="en-US" sz="2000" dirty="0">
              <a:latin typeface="微软雅黑" panose="020B0503020204020204" pitchFamily="34" charset="-122"/>
              <a:ea typeface="微软雅黑" panose="020B0503020204020204" pitchFamily="34" charset="-122"/>
            </a:endParaRPr>
          </a:p>
          <a:p>
            <a:pPr eaLnBrk="0" hangingPunct="0">
              <a:spcBef>
                <a:spcPct val="30000"/>
              </a:spcBef>
            </a:pPr>
            <a:r>
              <a:rPr lang="en-US" altLang="zh-CN" sz="2000">
                <a:solidFill>
                  <a:srgbClr val="006600"/>
                </a:solidFill>
                <a:latin typeface="微软雅黑" panose="020B0503020204020204" pitchFamily="34" charset="-122"/>
                <a:ea typeface="微软雅黑" panose="020B0503020204020204" pitchFamily="34" charset="-122"/>
              </a:rPr>
              <a:t>CPU</a:t>
            </a:r>
            <a:r>
              <a:rPr lang="zh-CN" altLang="en-US" sz="2000" dirty="0">
                <a:solidFill>
                  <a:srgbClr val="006600"/>
                </a:solidFill>
                <a:latin typeface="微软雅黑" panose="020B0503020204020204" pitchFamily="34" charset="-122"/>
                <a:ea typeface="微软雅黑" panose="020B0503020204020204" pitchFamily="34" charset="-122"/>
              </a:rPr>
              <a:t>执行指令的过程中，包含</a:t>
            </a:r>
            <a:r>
              <a:rPr lang="en-US" altLang="zh-CN" sz="2000">
                <a:solidFill>
                  <a:schemeClr val="accent1"/>
                </a:solidFill>
                <a:latin typeface="微软雅黑" panose="020B0503020204020204" pitchFamily="34" charset="-122"/>
                <a:ea typeface="微软雅黑" panose="020B0503020204020204" pitchFamily="34" charset="-122"/>
              </a:rPr>
              <a:t>CPU</a:t>
            </a:r>
            <a:r>
              <a:rPr lang="zh-CN" altLang="en-US" sz="2000" dirty="0">
                <a:solidFill>
                  <a:schemeClr val="accent1"/>
                </a:solidFill>
                <a:latin typeface="微软雅黑" panose="020B0503020204020204" pitchFamily="34" charset="-122"/>
                <a:ea typeface="微软雅黑" panose="020B0503020204020204" pitchFamily="34" charset="-122"/>
              </a:rPr>
              <a:t>操作</a:t>
            </a:r>
            <a:r>
              <a:rPr lang="zh-CN" altLang="en-US" sz="2000" dirty="0">
                <a:solidFill>
                  <a:srgbClr val="006600"/>
                </a:solidFill>
                <a:latin typeface="微软雅黑" panose="020B0503020204020204" pitchFamily="34" charset="-122"/>
                <a:ea typeface="微软雅黑" panose="020B0503020204020204" pitchFamily="34" charset="-122"/>
              </a:rPr>
              <a:t>、</a:t>
            </a:r>
            <a:r>
              <a:rPr lang="zh-CN" altLang="en-US" sz="2000" dirty="0">
                <a:solidFill>
                  <a:schemeClr val="accent1"/>
                </a:solidFill>
                <a:latin typeface="微软雅黑" panose="020B0503020204020204" pitchFamily="34" charset="-122"/>
                <a:ea typeface="微软雅黑" panose="020B0503020204020204" pitchFamily="34" charset="-122"/>
              </a:rPr>
              <a:t>访问内存或</a:t>
            </a:r>
            <a:r>
              <a:rPr lang="en-US" altLang="zh-CN" sz="2000">
                <a:solidFill>
                  <a:schemeClr val="accent1"/>
                </a:solidFill>
                <a:latin typeface="微软雅黑" panose="020B0503020204020204" pitchFamily="34" charset="-122"/>
                <a:ea typeface="微软雅黑" panose="020B0503020204020204" pitchFamily="34" charset="-122"/>
              </a:rPr>
              <a:t>I/O</a:t>
            </a:r>
            <a:r>
              <a:rPr lang="zh-CN" altLang="en-US" sz="2000" dirty="0">
                <a:solidFill>
                  <a:schemeClr val="accent1"/>
                </a:solidFill>
                <a:latin typeface="微软雅黑" panose="020B0503020204020204" pitchFamily="34" charset="-122"/>
                <a:ea typeface="微软雅黑" panose="020B0503020204020204" pitchFamily="34" charset="-122"/>
              </a:rPr>
              <a:t>端口的操作</a:t>
            </a:r>
            <a:r>
              <a:rPr lang="zh-CN" altLang="en-US" sz="2000" dirty="0">
                <a:solidFill>
                  <a:srgbClr val="006600"/>
                </a:solidFill>
                <a:latin typeface="微软雅黑" panose="020B0503020204020204" pitchFamily="34" charset="-122"/>
                <a:ea typeface="微软雅黑" panose="020B0503020204020204" pitchFamily="34" charset="-122"/>
              </a:rPr>
              <a:t>两类</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
        <p:nvSpPr>
          <p:cNvPr id="456715" name="文本框 456714"/>
          <p:cNvSpPr txBox="1"/>
          <p:nvPr/>
        </p:nvSpPr>
        <p:spPr>
          <a:xfrm>
            <a:off x="177800" y="784225"/>
            <a:ext cx="4408488" cy="706438"/>
          </a:xfrm>
          <a:prstGeom prst="rect">
            <a:avLst/>
          </a:prstGeom>
          <a:noFill/>
          <a:ln w="50800">
            <a:noFill/>
          </a:ln>
        </p:spPr>
        <p:txBody>
          <a:bodyPr anchor="t" anchorCtr="0">
            <a:spAutoFit/>
          </a:bodyPr>
          <a:p>
            <a:pPr eaLnBrk="0" hangingPunct="0">
              <a:spcBef>
                <a:spcPct val="50000"/>
              </a:spcBef>
            </a:pPr>
            <a:r>
              <a:rPr lang="zh-CN" altLang="en-US" sz="2000" dirty="0">
                <a:solidFill>
                  <a:schemeClr val="accent1"/>
                </a:solidFill>
                <a:latin typeface="微软雅黑" panose="020B0503020204020204" pitchFamily="34" charset="-122"/>
                <a:ea typeface="微软雅黑" panose="020B0503020204020204" pitchFamily="34" charset="-122"/>
              </a:rPr>
              <a:t>访存或</a:t>
            </a:r>
            <a:r>
              <a:rPr lang="en-US" altLang="zh-CN" sz="2000">
                <a:solidFill>
                  <a:schemeClr val="accent1"/>
                </a:solidFill>
                <a:latin typeface="微软雅黑" panose="020B0503020204020204" pitchFamily="34" charset="-122"/>
                <a:ea typeface="微软雅黑" panose="020B0503020204020204" pitchFamily="34" charset="-122"/>
              </a:rPr>
              <a:t>I/O</a:t>
            </a:r>
            <a:r>
              <a:rPr lang="zh-CN" altLang="en-US" sz="2000" dirty="0">
                <a:solidFill>
                  <a:schemeClr val="accent1"/>
                </a:solidFill>
                <a:latin typeface="微软雅黑" panose="020B0503020204020204" pitchFamily="34" charset="-122"/>
                <a:ea typeface="微软雅黑" panose="020B0503020204020204" pitchFamily="34" charset="-122"/>
              </a:rPr>
              <a:t>：</a:t>
            </a:r>
            <a:r>
              <a:rPr lang="zh-CN" altLang="en-US" sz="2000" dirty="0">
                <a:solidFill>
                  <a:srgbClr val="006600"/>
                </a:solidFill>
                <a:latin typeface="微软雅黑" panose="020B0503020204020204" pitchFamily="34" charset="-122"/>
                <a:ea typeface="微软雅黑" panose="020B0503020204020204" pitchFamily="34" charset="-122"/>
              </a:rPr>
              <a:t>涉及存储系统、总线和</a:t>
            </a:r>
            <a:r>
              <a:rPr lang="en-US" altLang="zh-CN" sz="2000">
                <a:solidFill>
                  <a:srgbClr val="006600"/>
                </a:solidFill>
                <a:latin typeface="微软雅黑" panose="020B0503020204020204" pitchFamily="34" charset="-122"/>
                <a:ea typeface="微软雅黑" panose="020B0503020204020204" pitchFamily="34" charset="-122"/>
              </a:rPr>
              <a:t>I/O</a:t>
            </a:r>
            <a:r>
              <a:rPr lang="zh-CN" altLang="en-US" sz="2000" dirty="0">
                <a:solidFill>
                  <a:srgbClr val="006600"/>
                </a:solidFill>
                <a:latin typeface="微软雅黑" panose="020B0503020204020204" pitchFamily="34" charset="-122"/>
                <a:ea typeface="微软雅黑" panose="020B0503020204020204" pitchFamily="34" charset="-122"/>
              </a:rPr>
              <a:t>接口等内容</a:t>
            </a:r>
            <a:endParaRPr lang="zh-CN" altLang="en-US" sz="2000" dirty="0">
              <a:solidFill>
                <a:srgbClr val="993300"/>
              </a:solidFill>
              <a:latin typeface="微软雅黑" panose="020B0503020204020204" pitchFamily="34" charset="-122"/>
              <a:ea typeface="微软雅黑" panose="020B0503020204020204" pitchFamily="34" charset="-122"/>
            </a:endParaRPr>
          </a:p>
        </p:txBody>
      </p:sp>
      <p:sp>
        <p:nvSpPr>
          <p:cNvPr id="456716" name="文本框 456715"/>
          <p:cNvSpPr txBox="1"/>
          <p:nvPr/>
        </p:nvSpPr>
        <p:spPr>
          <a:xfrm>
            <a:off x="107950" y="4805363"/>
            <a:ext cx="5019675" cy="701675"/>
          </a:xfrm>
          <a:prstGeom prst="rect">
            <a:avLst/>
          </a:prstGeom>
          <a:noFill/>
          <a:ln w="50800">
            <a:noFill/>
          </a:ln>
        </p:spPr>
        <p:txBody>
          <a:bodyPr anchor="t" anchorCtr="0">
            <a:spAutoFit/>
          </a:bodyPr>
          <a:p>
            <a:pPr eaLnBrk="0" hangingPunct="0"/>
            <a:r>
              <a:rPr lang="en-US" altLang="zh-CN" sz="2000">
                <a:solidFill>
                  <a:schemeClr val="accent1"/>
                </a:solidFill>
                <a:latin typeface="微软雅黑" panose="020B0503020204020204" pitchFamily="34" charset="-122"/>
                <a:ea typeface="微软雅黑" panose="020B0503020204020204" pitchFamily="34" charset="-122"/>
              </a:rPr>
              <a:t>CPU</a:t>
            </a:r>
            <a:r>
              <a:rPr lang="zh-CN" altLang="en-US" sz="2000" dirty="0">
                <a:solidFill>
                  <a:schemeClr val="accent1"/>
                </a:solidFill>
                <a:latin typeface="微软雅黑" panose="020B0503020204020204" pitchFamily="34" charset="-122"/>
                <a:ea typeface="微软雅黑" panose="020B0503020204020204" pitchFamily="34" charset="-122"/>
              </a:rPr>
              <a:t>内部操作：</a:t>
            </a:r>
            <a:endParaRPr lang="zh-CN" altLang="en-US" sz="2000" dirty="0">
              <a:solidFill>
                <a:schemeClr val="accent1"/>
              </a:solidFill>
              <a:latin typeface="微软雅黑" panose="020B0503020204020204" pitchFamily="34" charset="-122"/>
              <a:ea typeface="微软雅黑" panose="020B0503020204020204" pitchFamily="34" charset="-122"/>
            </a:endParaRPr>
          </a:p>
          <a:p>
            <a:pPr eaLnBrk="0" hangingPunct="0"/>
            <a:r>
              <a:rPr lang="zh-CN" altLang="en-US" sz="2000" dirty="0">
                <a:solidFill>
                  <a:srgbClr val="006600"/>
                </a:solidFill>
                <a:latin typeface="微软雅黑" panose="020B0503020204020204" pitchFamily="34" charset="-122"/>
                <a:ea typeface="微软雅黑" panose="020B0503020204020204" pitchFamily="34" charset="-122"/>
              </a:rPr>
              <a:t>涉及</a:t>
            </a:r>
            <a:r>
              <a:rPr lang="en-US" altLang="zh-CN" sz="2000">
                <a:solidFill>
                  <a:srgbClr val="006600"/>
                </a:solidFill>
                <a:latin typeface="微软雅黑" panose="020B0503020204020204" pitchFamily="34" charset="-122"/>
                <a:ea typeface="微软雅黑" panose="020B0503020204020204" pitchFamily="34" charset="-122"/>
              </a:rPr>
              <a:t>CPU</a:t>
            </a:r>
            <a:r>
              <a:rPr lang="zh-CN" altLang="en-US" sz="2000" dirty="0">
                <a:solidFill>
                  <a:srgbClr val="006600"/>
                </a:solidFill>
                <a:latin typeface="微软雅黑" panose="020B0503020204020204" pitchFamily="34" charset="-122"/>
                <a:ea typeface="微软雅黑" panose="020B0503020204020204" pitchFamily="34" charset="-122"/>
              </a:rPr>
              <a:t>内部数据通路</a:t>
            </a:r>
            <a:r>
              <a:rPr lang="zh-CN" altLang="en-US" sz="2000" dirty="0">
                <a:solidFill>
                  <a:srgbClr val="993300"/>
                </a:solidFill>
                <a:latin typeface="微软雅黑" panose="020B0503020204020204" pitchFamily="34" charset="-122"/>
                <a:ea typeface="微软雅黑" panose="020B0503020204020204" pitchFamily="34" charset="-122"/>
              </a:rPr>
              <a:t>（本章节内容）</a:t>
            </a:r>
            <a:endParaRPr lang="zh-CN" altLang="en-US" sz="2000" dirty="0">
              <a:solidFill>
                <a:srgbClr val="9933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6710"/>
                                        </p:tgtEl>
                                        <p:attrNameLst>
                                          <p:attrName>style.visibility</p:attrName>
                                        </p:attrNameLst>
                                      </p:cBhvr>
                                      <p:to>
                                        <p:strVal val="visible"/>
                                      </p:to>
                                    </p:set>
                                    <p:animEffect transition="in" filter="blinds(horizontal)">
                                      <p:cBhvr>
                                        <p:cTn id="7" dur="500"/>
                                        <p:tgtEl>
                                          <p:spTgt spid="4567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6714">
                                            <p:txEl>
                                              <p:charRg st="0" end="24"/>
                                            </p:txEl>
                                          </p:spTgt>
                                        </p:tgtEl>
                                        <p:attrNameLst>
                                          <p:attrName>style.visibility</p:attrName>
                                        </p:attrNameLst>
                                      </p:cBhvr>
                                      <p:to>
                                        <p:strVal val="visible"/>
                                      </p:to>
                                    </p:set>
                                    <p:animEffect transition="in" filter="blinds(horizontal)">
                                      <p:cBhvr>
                                        <p:cTn id="12" dur="500"/>
                                        <p:tgtEl>
                                          <p:spTgt spid="456714">
                                            <p:txEl>
                                              <p:charRg st="0" end="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6714">
                                            <p:txEl>
                                              <p:charRg st="24" end="60"/>
                                            </p:txEl>
                                          </p:spTgt>
                                        </p:tgtEl>
                                        <p:attrNameLst>
                                          <p:attrName>style.visibility</p:attrName>
                                        </p:attrNameLst>
                                      </p:cBhvr>
                                      <p:to>
                                        <p:strVal val="visible"/>
                                      </p:to>
                                    </p:set>
                                    <p:animEffect transition="in" filter="blinds(horizontal)">
                                      <p:cBhvr>
                                        <p:cTn id="17" dur="500"/>
                                        <p:tgtEl>
                                          <p:spTgt spid="456714">
                                            <p:txEl>
                                              <p:charRg st="24" end="6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56713"/>
                                        </p:tgtEl>
                                        <p:attrNameLst>
                                          <p:attrName>style.visibility</p:attrName>
                                        </p:attrNameLst>
                                      </p:cBhvr>
                                      <p:to>
                                        <p:strVal val="visible"/>
                                      </p:to>
                                    </p:set>
                                    <p:animEffect transition="in" filter="blinds(horizontal)">
                                      <p:cBhvr>
                                        <p:cTn id="22" dur="500"/>
                                        <p:tgtEl>
                                          <p:spTgt spid="4567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6716"/>
                                        </p:tgtEl>
                                        <p:attrNameLst>
                                          <p:attrName>style.visibility</p:attrName>
                                        </p:attrNameLst>
                                      </p:cBhvr>
                                      <p:to>
                                        <p:strVal val="visible"/>
                                      </p:to>
                                    </p:set>
                                    <p:animEffect transition="in" filter="blinds(horizontal)">
                                      <p:cBhvr>
                                        <p:cTn id="27" dur="500"/>
                                        <p:tgtEl>
                                          <p:spTgt spid="4567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56715"/>
                                        </p:tgtEl>
                                        <p:attrNameLst>
                                          <p:attrName>style.visibility</p:attrName>
                                        </p:attrNameLst>
                                      </p:cBhvr>
                                      <p:to>
                                        <p:strVal val="visible"/>
                                      </p:to>
                                    </p:set>
                                    <p:animEffect transition="in" filter="blinds(horizontal)">
                                      <p:cBhvr>
                                        <p:cTn id="32" dur="500"/>
                                        <p:tgtEl>
                                          <p:spTgt spid="456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15" grpId="0"/>
      <p:bldP spid="4567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449537"/>
          <p:cNvSpPr>
            <a:spLocks noGrp="1"/>
          </p:cNvSpPr>
          <p:nvPr>
            <p:ph type="title"/>
          </p:nvPr>
        </p:nvSpPr>
        <p:spPr>
          <a:xfrm>
            <a:off x="454025" y="160338"/>
            <a:ext cx="7948613" cy="528637"/>
          </a:xfrm>
          <a:ln/>
        </p:spPr>
        <p:txBody>
          <a:bodyPr wrap="square" lIns="63500" tIns="25400" rIns="63500" bIns="25400" anchor="t" anchorCtr="0">
            <a:spAutoFit/>
          </a:bodyPr>
          <a:p>
            <a:r>
              <a:rPr lang="zh-CN" altLang="en-US" dirty="0"/>
              <a:t>机器指令的执行过程 </a:t>
            </a:r>
            <a:endParaRPr lang="zh-CN" altLang="en-US" dirty="0"/>
          </a:p>
        </p:txBody>
      </p:sp>
      <p:sp>
        <p:nvSpPr>
          <p:cNvPr id="449539" name="内容占位符 449538"/>
          <p:cNvSpPr>
            <a:spLocks noGrp="1"/>
          </p:cNvSpPr>
          <p:nvPr>
            <p:ph idx="1"/>
          </p:nvPr>
        </p:nvSpPr>
        <p:spPr>
          <a:xfrm>
            <a:off x="185738" y="749300"/>
            <a:ext cx="8191500" cy="4006850"/>
          </a:xfrm>
          <a:ln/>
        </p:spPr>
        <p:txBody>
          <a:bodyPr lIns="63500" tIns="25400" rIns="63500" bIns="25400" anchor="t" anchorCtr="0">
            <a:spAutoFit/>
          </a:bodyPr>
          <a:p>
            <a:pPr>
              <a:spcBef>
                <a:spcPct val="10000"/>
              </a:spcBef>
            </a:pPr>
            <a:r>
              <a:rPr lang="en-US" altLang="zh-CN" sz="200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执行指令的过程</a:t>
            </a:r>
            <a:endParaRPr lang="zh-CN" altLang="en-US" sz="2000" dirty="0">
              <a:latin typeface="微软雅黑" panose="020B0503020204020204" pitchFamily="34" charset="-122"/>
              <a:ea typeface="微软雅黑" panose="020B0503020204020204" pitchFamily="34" charset="-122"/>
            </a:endParaRPr>
          </a:p>
          <a:p>
            <a:pPr lvl="2">
              <a:spcBef>
                <a:spcPct val="20000"/>
              </a:spcBef>
            </a:pPr>
            <a:r>
              <a:rPr lang="zh-CN" altLang="en-US" sz="2000" dirty="0">
                <a:latin typeface="微软雅黑" panose="020B0503020204020204" pitchFamily="34" charset="-122"/>
                <a:ea typeface="微软雅黑" panose="020B0503020204020204" pitchFamily="34" charset="-122"/>
              </a:rPr>
              <a:t>取指令</a:t>
            </a:r>
            <a:endParaRPr lang="zh-CN" altLang="en-US" sz="2000" dirty="0">
              <a:latin typeface="微软雅黑" panose="020B0503020204020204" pitchFamily="34" charset="-122"/>
              <a:ea typeface="微软雅黑" panose="020B0503020204020204" pitchFamily="34" charset="-122"/>
            </a:endParaRPr>
          </a:p>
          <a:p>
            <a:pPr lvl="2">
              <a:spcBef>
                <a:spcPct val="20000"/>
              </a:spcBef>
            </a:pPr>
            <a:r>
              <a:rPr lang="en-US" altLang="zh-CN" sz="2000">
                <a:latin typeface="微软雅黑" panose="020B0503020204020204" pitchFamily="34" charset="-122"/>
                <a:ea typeface="微软雅黑" panose="020B0503020204020204" pitchFamily="34" charset="-122"/>
              </a:rPr>
              <a:t>PC+“1”</a:t>
            </a:r>
            <a:endParaRPr lang="zh-CN" altLang="en-US" sz="2000" dirty="0">
              <a:latin typeface="微软雅黑" panose="020B0503020204020204" pitchFamily="34" charset="-122"/>
              <a:ea typeface="微软雅黑" panose="020B0503020204020204" pitchFamily="34" charset="-122"/>
            </a:endParaRPr>
          </a:p>
          <a:p>
            <a:pPr lvl="2">
              <a:spcBef>
                <a:spcPct val="20000"/>
              </a:spcBef>
            </a:pPr>
            <a:r>
              <a:rPr lang="zh-CN" altLang="en-US" sz="2000" dirty="0">
                <a:solidFill>
                  <a:schemeClr val="tx1"/>
                </a:solidFill>
                <a:latin typeface="微软雅黑" panose="020B0503020204020204" pitchFamily="34" charset="-122"/>
                <a:ea typeface="微软雅黑" panose="020B0503020204020204" pitchFamily="34" charset="-122"/>
              </a:rPr>
              <a:t>指令译码</a:t>
            </a:r>
            <a:endParaRPr lang="zh-CN" altLang="en-US" sz="2000" dirty="0">
              <a:solidFill>
                <a:schemeClr val="tx1"/>
              </a:solidFill>
              <a:latin typeface="微软雅黑" panose="020B0503020204020204" pitchFamily="34" charset="-122"/>
              <a:ea typeface="微软雅黑" panose="020B0503020204020204" pitchFamily="34" charset="-122"/>
            </a:endParaRPr>
          </a:p>
          <a:p>
            <a:pPr lvl="2">
              <a:spcBef>
                <a:spcPct val="20000"/>
              </a:spcBef>
            </a:pPr>
            <a:r>
              <a:rPr lang="zh-CN" altLang="en-US" sz="2000" dirty="0">
                <a:latin typeface="微软雅黑" panose="020B0503020204020204" pitchFamily="34" charset="-122"/>
                <a:ea typeface="微软雅黑" panose="020B0503020204020204" pitchFamily="34" charset="-122"/>
              </a:rPr>
              <a:t>进行主存地址运算</a:t>
            </a:r>
            <a:endParaRPr lang="zh-CN" altLang="en-US" sz="2000" dirty="0">
              <a:latin typeface="微软雅黑" panose="020B0503020204020204" pitchFamily="34" charset="-122"/>
              <a:ea typeface="微软雅黑" panose="020B0503020204020204" pitchFamily="34" charset="-122"/>
            </a:endParaRPr>
          </a:p>
          <a:p>
            <a:pPr lvl="2">
              <a:spcBef>
                <a:spcPct val="20000"/>
              </a:spcBef>
            </a:pPr>
            <a:r>
              <a:rPr lang="zh-CN" altLang="en-US" sz="2000" dirty="0">
                <a:latin typeface="微软雅黑" panose="020B0503020204020204" pitchFamily="34" charset="-122"/>
                <a:ea typeface="微软雅黑" panose="020B0503020204020204" pitchFamily="34" charset="-122"/>
              </a:rPr>
              <a:t>取操作数</a:t>
            </a:r>
            <a:endParaRPr lang="zh-CN" altLang="en-US" sz="2000" dirty="0">
              <a:latin typeface="微软雅黑" panose="020B0503020204020204" pitchFamily="34" charset="-122"/>
              <a:ea typeface="微软雅黑" panose="020B0503020204020204" pitchFamily="34" charset="-122"/>
            </a:endParaRPr>
          </a:p>
          <a:p>
            <a:pPr lvl="2">
              <a:spcBef>
                <a:spcPct val="20000"/>
              </a:spcBef>
            </a:pPr>
            <a:r>
              <a:rPr lang="zh-CN" altLang="en-US" sz="2000" dirty="0">
                <a:latin typeface="微软雅黑" panose="020B0503020204020204" pitchFamily="34" charset="-122"/>
                <a:ea typeface="微软雅黑" panose="020B0503020204020204" pitchFamily="34" charset="-122"/>
              </a:rPr>
              <a:t>进行算术 </a:t>
            </a:r>
            <a:r>
              <a:rPr lang="en-US" altLang="zh-CN" sz="200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逻辑运算</a:t>
            </a:r>
            <a:endParaRPr lang="zh-CN" altLang="en-US" sz="2000" dirty="0">
              <a:latin typeface="微软雅黑" panose="020B0503020204020204" pitchFamily="34" charset="-122"/>
              <a:ea typeface="微软雅黑" panose="020B0503020204020204" pitchFamily="34" charset="-122"/>
            </a:endParaRPr>
          </a:p>
          <a:p>
            <a:pPr lvl="2">
              <a:spcBef>
                <a:spcPct val="20000"/>
              </a:spcBef>
            </a:pPr>
            <a:r>
              <a:rPr lang="zh-CN" altLang="en-US" sz="2000" dirty="0">
                <a:latin typeface="微软雅黑" panose="020B0503020204020204" pitchFamily="34" charset="-122"/>
                <a:ea typeface="微软雅黑" panose="020B0503020204020204" pitchFamily="34" charset="-122"/>
              </a:rPr>
              <a:t>存结果</a:t>
            </a:r>
            <a:endParaRPr lang="zh-CN" altLang="en-US" sz="2000" dirty="0">
              <a:latin typeface="微软雅黑" panose="020B0503020204020204" pitchFamily="34" charset="-122"/>
              <a:ea typeface="微软雅黑" panose="020B0503020204020204" pitchFamily="34" charset="-122"/>
            </a:endParaRPr>
          </a:p>
          <a:p>
            <a:pPr lvl="2">
              <a:spcBef>
                <a:spcPct val="20000"/>
              </a:spcBef>
            </a:pPr>
            <a:r>
              <a:rPr lang="zh-CN" altLang="en-US" sz="2000" dirty="0">
                <a:solidFill>
                  <a:schemeClr val="accent2"/>
                </a:solidFill>
                <a:latin typeface="微软雅黑" panose="020B0503020204020204" pitchFamily="34" charset="-122"/>
                <a:ea typeface="微软雅黑" panose="020B0503020204020204" pitchFamily="34" charset="-122"/>
              </a:rPr>
              <a:t>以上每步都需检测“异常”</a:t>
            </a:r>
            <a:endParaRPr lang="zh-CN" altLang="en-US" sz="2000" dirty="0">
              <a:solidFill>
                <a:schemeClr val="accent2"/>
              </a:solidFill>
              <a:latin typeface="微软雅黑" panose="020B0503020204020204" pitchFamily="34" charset="-122"/>
              <a:ea typeface="微软雅黑" panose="020B0503020204020204" pitchFamily="34" charset="-122"/>
            </a:endParaRPr>
          </a:p>
          <a:p>
            <a:pPr lvl="2">
              <a:spcBef>
                <a:spcPct val="20000"/>
              </a:spcBef>
            </a:pPr>
            <a:r>
              <a:rPr lang="zh-CN" altLang="en-US" sz="2000" dirty="0">
                <a:solidFill>
                  <a:schemeClr val="accent2"/>
                </a:solidFill>
                <a:latin typeface="微软雅黑" panose="020B0503020204020204" pitchFamily="34" charset="-122"/>
                <a:ea typeface="微软雅黑" panose="020B0503020204020204" pitchFamily="34" charset="-122"/>
              </a:rPr>
              <a:t>若有异常，则自动切换到异常处理程序</a:t>
            </a:r>
            <a:endParaRPr lang="zh-CN" altLang="en-US" sz="2000" dirty="0">
              <a:solidFill>
                <a:schemeClr val="accent2"/>
              </a:solidFill>
              <a:latin typeface="微软雅黑" panose="020B0503020204020204" pitchFamily="34" charset="-122"/>
              <a:ea typeface="微软雅黑" panose="020B0503020204020204" pitchFamily="34" charset="-122"/>
            </a:endParaRPr>
          </a:p>
          <a:p>
            <a:pPr lvl="2">
              <a:spcBef>
                <a:spcPct val="20000"/>
              </a:spcBef>
            </a:pPr>
            <a:r>
              <a:rPr lang="zh-CN" altLang="en-US" sz="2000" dirty="0">
                <a:solidFill>
                  <a:srgbClr val="006600"/>
                </a:solidFill>
                <a:latin typeface="微软雅黑" panose="020B0503020204020204" pitchFamily="34" charset="-122"/>
                <a:ea typeface="微软雅黑" panose="020B0503020204020204" pitchFamily="34" charset="-122"/>
              </a:rPr>
              <a:t>检测是否有“中断”请求，有则转中断处理</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
        <p:nvSpPr>
          <p:cNvPr id="12291" name="右大括号 449541"/>
          <p:cNvSpPr/>
          <p:nvPr/>
        </p:nvSpPr>
        <p:spPr>
          <a:xfrm>
            <a:off x="6862763" y="1206500"/>
            <a:ext cx="401637" cy="3267075"/>
          </a:xfrm>
          <a:prstGeom prst="rightBrace">
            <a:avLst>
              <a:gd name="adj1" fmla="val 67447"/>
              <a:gd name="adj2" fmla="val 50000"/>
            </a:avLst>
          </a:prstGeom>
          <a:noFill/>
          <a:ln w="28575"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292" name="文本框 449542"/>
          <p:cNvSpPr txBox="1"/>
          <p:nvPr/>
        </p:nvSpPr>
        <p:spPr>
          <a:xfrm>
            <a:off x="7239000" y="1858963"/>
            <a:ext cx="401638" cy="1920875"/>
          </a:xfrm>
          <a:prstGeom prst="rect">
            <a:avLst/>
          </a:prstGeom>
          <a:noFill/>
          <a:ln w="50800">
            <a:noFill/>
          </a:ln>
        </p:spPr>
        <p:txBody>
          <a:bodyPr anchor="t" anchorCtr="0">
            <a:spAutoFit/>
          </a:bodyPr>
          <a:p>
            <a:pPr algn="ctr" eaLnBrk="0" hangingPunct="0">
              <a:spcBef>
                <a:spcPct val="50000"/>
              </a:spcBef>
            </a:pPr>
            <a:r>
              <a:rPr lang="zh-CN" altLang="en-US" sz="2000" dirty="0">
                <a:latin typeface="Times New Roman" panose="02020603050405020304" pitchFamily="18" charset="0"/>
                <a:ea typeface="微软雅黑" panose="020B0503020204020204" pitchFamily="34" charset="-122"/>
              </a:rPr>
              <a:t>指令执行过程</a:t>
            </a:r>
            <a:endParaRPr lang="zh-CN" altLang="en-US" sz="2000" dirty="0">
              <a:latin typeface="Times New Roman" panose="02020603050405020304" pitchFamily="18" charset="0"/>
              <a:ea typeface="微软雅黑" panose="020B0503020204020204" pitchFamily="34" charset="-122"/>
            </a:endParaRPr>
          </a:p>
        </p:txBody>
      </p:sp>
      <p:sp>
        <p:nvSpPr>
          <p:cNvPr id="449544" name="文本框 449543"/>
          <p:cNvSpPr txBox="1"/>
          <p:nvPr/>
        </p:nvSpPr>
        <p:spPr>
          <a:xfrm>
            <a:off x="76200" y="4673600"/>
            <a:ext cx="7723188" cy="1938338"/>
          </a:xfrm>
          <a:prstGeom prst="rect">
            <a:avLst/>
          </a:prstGeom>
          <a:noFill/>
          <a:ln w="50800">
            <a:noFill/>
          </a:ln>
        </p:spPr>
        <p:txBody>
          <a:bodyPr anchor="t" anchorCtr="0">
            <a:spAutoFit/>
          </a:bodyPr>
          <a:p>
            <a:pPr eaLnBrk="0" hangingPunct="0">
              <a:lnSpc>
                <a:spcPct val="120000"/>
              </a:lnSpc>
            </a:pPr>
            <a:r>
              <a:rPr lang="zh-CN" altLang="en-US" sz="2000" dirty="0">
                <a:solidFill>
                  <a:schemeClr val="accent1"/>
                </a:solidFill>
                <a:latin typeface="微软雅黑" panose="020B0503020204020204" pitchFamily="34" charset="-122"/>
                <a:ea typeface="微软雅黑" panose="020B0503020204020204" pitchFamily="34" charset="-122"/>
              </a:rPr>
              <a:t>问题：</a:t>
            </a:r>
            <a:endParaRPr lang="zh-CN" altLang="en-US" sz="2000" dirty="0">
              <a:solidFill>
                <a:schemeClr val="accent1"/>
              </a:solidFill>
              <a:latin typeface="微软雅黑" panose="020B0503020204020204" pitchFamily="34" charset="-122"/>
              <a:ea typeface="微软雅黑" panose="020B0503020204020204" pitchFamily="34" charset="-122"/>
            </a:endParaRPr>
          </a:p>
          <a:p>
            <a:pPr eaLnBrk="0" hangingPunct="0">
              <a:lnSpc>
                <a:spcPct val="120000"/>
              </a:lnSpc>
            </a:pPr>
            <a:r>
              <a:rPr lang="zh-CN" altLang="en-US" sz="2000" dirty="0">
                <a:solidFill>
                  <a:schemeClr val="accent2"/>
                </a:solidFill>
                <a:latin typeface="微软雅黑" panose="020B0503020204020204" pitchFamily="34" charset="-122"/>
                <a:ea typeface="微软雅黑" panose="020B0503020204020204" pitchFamily="34" charset="-122"/>
              </a:rPr>
              <a:t>“取指令”一定在最开始做吗？</a:t>
            </a:r>
            <a:r>
              <a:rPr lang="en-US" altLang="zh-CN" sz="2000">
                <a:solidFill>
                  <a:schemeClr val="accent2"/>
                </a:solidFill>
                <a:latin typeface="微软雅黑" panose="020B0503020204020204" pitchFamily="34" charset="-122"/>
                <a:ea typeface="微软雅黑" panose="020B0503020204020204" pitchFamily="34" charset="-122"/>
              </a:rPr>
              <a:t>PC+“1</a:t>
            </a:r>
            <a:r>
              <a:rPr lang="zh-CN" altLang="en-US" sz="2000" dirty="0">
                <a:solidFill>
                  <a:schemeClr val="accent2"/>
                </a:solidFill>
                <a:latin typeface="微软雅黑" panose="020B0503020204020204" pitchFamily="34" charset="-122"/>
                <a:ea typeface="微软雅黑" panose="020B0503020204020204" pitchFamily="34" charset="-122"/>
              </a:rPr>
              <a:t>”一定在译码之前做吗？</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20000"/>
              </a:lnSpc>
            </a:pPr>
            <a:r>
              <a:rPr lang="zh-CN" altLang="en-US" sz="2000" dirty="0">
                <a:solidFill>
                  <a:schemeClr val="accent2"/>
                </a:solidFill>
                <a:latin typeface="微软雅黑" panose="020B0503020204020204" pitchFamily="34" charset="-122"/>
                <a:ea typeface="微软雅黑" panose="020B0503020204020204" pitchFamily="34" charset="-122"/>
              </a:rPr>
              <a:t>“译码”须在指令执行前做吗？</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20000"/>
              </a:lnSpc>
            </a:pPr>
            <a:r>
              <a:rPr lang="zh-CN" altLang="en-US" sz="2000" dirty="0">
                <a:solidFill>
                  <a:schemeClr val="accent2"/>
                </a:solidFill>
                <a:latin typeface="微软雅黑" panose="020B0503020204020204" pitchFamily="34" charset="-122"/>
                <a:ea typeface="微软雅黑" panose="020B0503020204020204" pitchFamily="34" charset="-122"/>
              </a:rPr>
              <a:t>“异常”和“中断”的差别是什么？</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lnSpc>
                <a:spcPct val="120000"/>
              </a:lnSpc>
            </a:pPr>
            <a:r>
              <a:rPr lang="zh-CN" altLang="en-US" sz="2000" dirty="0">
                <a:solidFill>
                  <a:srgbClr val="006600"/>
                </a:solidFill>
                <a:latin typeface="微软雅黑" panose="020B0503020204020204" pitchFamily="34" charset="-122"/>
                <a:ea typeface="微软雅黑" panose="020B0503020204020204" pitchFamily="34" charset="-122"/>
              </a:rPr>
              <a:t>异常是在</a:t>
            </a:r>
            <a:r>
              <a:rPr lang="en-US" altLang="zh-CN" sz="2000">
                <a:solidFill>
                  <a:srgbClr val="006600"/>
                </a:solidFill>
                <a:latin typeface="微软雅黑" panose="020B0503020204020204" pitchFamily="34" charset="-122"/>
                <a:ea typeface="微软雅黑" panose="020B0503020204020204" pitchFamily="34" charset="-122"/>
              </a:rPr>
              <a:t>CPU</a:t>
            </a:r>
            <a:r>
              <a:rPr lang="zh-CN" altLang="en-US" sz="2000" dirty="0">
                <a:solidFill>
                  <a:srgbClr val="006600"/>
                </a:solidFill>
                <a:latin typeface="微软雅黑" panose="020B0503020204020204" pitchFamily="34" charset="-122"/>
                <a:ea typeface="微软雅黑" panose="020B0503020204020204" pitchFamily="34" charset="-122"/>
              </a:rPr>
              <a:t>内部发生的，中断是由外部事件引起的</a:t>
            </a:r>
            <a:endParaRPr lang="zh-CN" altLang="en-US" sz="2000" dirty="0">
              <a:solidFill>
                <a:srgbClr val="006600"/>
              </a:solidFill>
              <a:latin typeface="微软雅黑" panose="020B0503020204020204" pitchFamily="34" charset="-122"/>
              <a:ea typeface="微软雅黑" panose="020B0503020204020204" pitchFamily="34" charset="-122"/>
            </a:endParaRPr>
          </a:p>
        </p:txBody>
      </p:sp>
      <p:grpSp>
        <p:nvGrpSpPr>
          <p:cNvPr id="449545" name="组合 449544"/>
          <p:cNvGrpSpPr/>
          <p:nvPr/>
        </p:nvGrpSpPr>
        <p:grpSpPr>
          <a:xfrm>
            <a:off x="2770188" y="1262063"/>
            <a:ext cx="979487" cy="669925"/>
            <a:chOff x="1865" y="899"/>
            <a:chExt cx="588" cy="460"/>
          </a:xfrm>
        </p:grpSpPr>
        <p:sp>
          <p:nvSpPr>
            <p:cNvPr id="15367" name="右大括号 449545"/>
            <p:cNvSpPr/>
            <p:nvPr/>
          </p:nvSpPr>
          <p:spPr>
            <a:xfrm>
              <a:off x="1865" y="899"/>
              <a:ext cx="186" cy="366"/>
            </a:xfrm>
            <a:prstGeom prst="rightBrace">
              <a:avLst>
                <a:gd name="adj1" fmla="val 16315"/>
                <a:gd name="adj2" fmla="val 50000"/>
              </a:avLst>
            </a:prstGeom>
            <a:noFill/>
            <a:ln w="28575"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368" name="文本框 449546"/>
            <p:cNvSpPr txBox="1"/>
            <p:nvPr/>
          </p:nvSpPr>
          <p:spPr>
            <a:xfrm>
              <a:off x="2019" y="899"/>
              <a:ext cx="434" cy="460"/>
            </a:xfrm>
            <a:prstGeom prst="rect">
              <a:avLst/>
            </a:prstGeom>
            <a:noFill/>
            <a:ln w="50800">
              <a:noFill/>
            </a:ln>
          </p:spPr>
          <p:txBody>
            <a:bodyPr anchor="t" anchorCtr="0">
              <a:spAutoFit/>
            </a:bodyPr>
            <a:p>
              <a:pPr algn="ctr" eaLnBrk="0" hangingPunct="0">
                <a:spcBef>
                  <a:spcPct val="50000"/>
                </a:spcBef>
              </a:pPr>
              <a:r>
                <a:rPr lang="zh-CN" altLang="en-US" sz="1900" dirty="0">
                  <a:latin typeface="Times New Roman" panose="02020603050405020304" pitchFamily="18" charset="0"/>
                  <a:ea typeface="微软雅黑" panose="020B0503020204020204" pitchFamily="34" charset="-122"/>
                </a:rPr>
                <a:t>取指阶段</a:t>
              </a:r>
              <a:endParaRPr lang="zh-CN" altLang="en-US" sz="1900" dirty="0">
                <a:latin typeface="Times New Roman" panose="02020603050405020304" pitchFamily="18" charset="0"/>
                <a:ea typeface="微软雅黑" panose="020B0503020204020204" pitchFamily="34" charset="-122"/>
              </a:endParaRPr>
            </a:p>
          </p:txBody>
        </p:sp>
      </p:grpSp>
      <p:grpSp>
        <p:nvGrpSpPr>
          <p:cNvPr id="449548" name="组合 449547"/>
          <p:cNvGrpSpPr/>
          <p:nvPr/>
        </p:nvGrpSpPr>
        <p:grpSpPr>
          <a:xfrm>
            <a:off x="6032500" y="2393950"/>
            <a:ext cx="1020763" cy="1995488"/>
            <a:chOff x="2386" y="1390"/>
            <a:chExt cx="588" cy="1428"/>
          </a:xfrm>
        </p:grpSpPr>
        <p:sp>
          <p:nvSpPr>
            <p:cNvPr id="15370" name="右大括号 449548"/>
            <p:cNvSpPr/>
            <p:nvPr/>
          </p:nvSpPr>
          <p:spPr>
            <a:xfrm>
              <a:off x="2386" y="1390"/>
              <a:ext cx="216" cy="1428"/>
            </a:xfrm>
            <a:prstGeom prst="rightBrace">
              <a:avLst>
                <a:gd name="adj1" fmla="val 54817"/>
                <a:gd name="adj2" fmla="val 50000"/>
              </a:avLst>
            </a:prstGeom>
            <a:noFill/>
            <a:ln w="28575"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371" name="文本框 449549"/>
            <p:cNvSpPr txBox="1"/>
            <p:nvPr/>
          </p:nvSpPr>
          <p:spPr>
            <a:xfrm>
              <a:off x="2540" y="1846"/>
              <a:ext cx="434" cy="502"/>
            </a:xfrm>
            <a:prstGeom prst="rect">
              <a:avLst/>
            </a:prstGeom>
            <a:noFill/>
            <a:ln w="50800">
              <a:noFill/>
            </a:ln>
          </p:spPr>
          <p:txBody>
            <a:bodyPr anchor="t" anchorCtr="0">
              <a:spAutoFit/>
            </a:bodyPr>
            <a:p>
              <a:pPr algn="ctr" eaLnBrk="0" hangingPunct="0"/>
              <a:r>
                <a:rPr lang="zh-CN" altLang="en-US" sz="2000" dirty="0">
                  <a:latin typeface="Times New Roman" panose="02020603050405020304" pitchFamily="18" charset="0"/>
                  <a:ea typeface="黑体" panose="02010609060101010101" pitchFamily="49" charset="-122"/>
                </a:rPr>
                <a:t>执行阶段</a:t>
              </a:r>
              <a:endParaRPr lang="zh-CN" altLang="en-US" sz="2000" dirty="0">
                <a:latin typeface="Times New Roman" panose="02020603050405020304" pitchFamily="18" charset="0"/>
                <a:ea typeface="黑体" panose="02010609060101010101" pitchFamily="49" charset="-122"/>
              </a:endParaRPr>
            </a:p>
          </p:txBody>
        </p:sp>
      </p:grpSp>
      <p:sp>
        <p:nvSpPr>
          <p:cNvPr id="449551" name="文本框 449550"/>
          <p:cNvSpPr txBox="1"/>
          <p:nvPr/>
        </p:nvSpPr>
        <p:spPr>
          <a:xfrm>
            <a:off x="4268788" y="900113"/>
            <a:ext cx="1743075" cy="1831975"/>
          </a:xfrm>
          <a:prstGeom prst="rect">
            <a:avLst/>
          </a:prstGeom>
          <a:noFill/>
          <a:ln w="9525" cap="flat" cmpd="sng">
            <a:solidFill>
              <a:srgbClr val="009900"/>
            </a:solidFill>
            <a:prstDash val="solid"/>
            <a:miter/>
            <a:headEnd type="none" w="med" len="med"/>
            <a:tailEnd type="none" w="med" len="med"/>
          </a:ln>
        </p:spPr>
        <p:txBody>
          <a:bodyPr lIns="0" rIns="0" anchor="t" anchorCtr="0">
            <a:spAutoFit/>
          </a:bodyPr>
          <a:p>
            <a:pPr eaLnBrk="0" hangingPunct="0">
              <a:lnSpc>
                <a:spcPct val="120000"/>
              </a:lnSpc>
              <a:spcBef>
                <a:spcPct val="50000"/>
              </a:spcBef>
            </a:pPr>
            <a:r>
              <a:rPr lang="zh-CN" altLang="en-US" sz="1900" dirty="0">
                <a:solidFill>
                  <a:schemeClr val="accent1"/>
                </a:solidFill>
                <a:latin typeface="微软雅黑" panose="020B0503020204020204" pitchFamily="34" charset="-122"/>
                <a:ea typeface="微软雅黑" panose="020B0503020204020204" pitchFamily="34" charset="-122"/>
              </a:rPr>
              <a:t>“</a:t>
            </a:r>
            <a:r>
              <a:rPr lang="en-US" altLang="zh-CN" sz="1900">
                <a:solidFill>
                  <a:schemeClr val="accent1"/>
                </a:solidFill>
                <a:latin typeface="微软雅黑" panose="020B0503020204020204" pitchFamily="34" charset="-122"/>
                <a:ea typeface="微软雅黑" panose="020B0503020204020204" pitchFamily="34" charset="-122"/>
              </a:rPr>
              <a:t>1”</a:t>
            </a:r>
            <a:r>
              <a:rPr lang="zh-CN" altLang="en-US" sz="1900" dirty="0">
                <a:solidFill>
                  <a:schemeClr val="accent1"/>
                </a:solidFill>
                <a:latin typeface="微软雅黑" panose="020B0503020204020204" pitchFamily="34" charset="-122"/>
                <a:ea typeface="微软雅黑" panose="020B0503020204020204" pitchFamily="34" charset="-122"/>
              </a:rPr>
              <a:t>：</a:t>
            </a:r>
            <a:r>
              <a:rPr lang="zh-CN" altLang="en-US" sz="1900" dirty="0">
                <a:solidFill>
                  <a:srgbClr val="993300"/>
                </a:solidFill>
                <a:latin typeface="微软雅黑" panose="020B0503020204020204" pitchFamily="34" charset="-122"/>
                <a:ea typeface="微软雅黑" panose="020B0503020204020204" pitchFamily="34" charset="-122"/>
              </a:rPr>
              <a:t>指一条指令的长度，定长指令字每次都一样；变长指令字每次可能不同</a:t>
            </a:r>
            <a:endParaRPr lang="zh-CN" altLang="en-US" sz="1900" dirty="0">
              <a:solidFill>
                <a:srgbClr val="993300"/>
              </a:solidFill>
              <a:latin typeface="微软雅黑" panose="020B0503020204020204" pitchFamily="34" charset="-122"/>
              <a:ea typeface="微软雅黑" panose="020B0503020204020204" pitchFamily="34" charset="-122"/>
            </a:endParaRPr>
          </a:p>
        </p:txBody>
      </p:sp>
      <p:grpSp>
        <p:nvGrpSpPr>
          <p:cNvPr id="449554" name="组合 449553"/>
          <p:cNvGrpSpPr/>
          <p:nvPr/>
        </p:nvGrpSpPr>
        <p:grpSpPr>
          <a:xfrm>
            <a:off x="4402138" y="4065588"/>
            <a:ext cx="4584700" cy="1257300"/>
            <a:chOff x="2998" y="2862"/>
            <a:chExt cx="2531" cy="444"/>
          </a:xfrm>
        </p:grpSpPr>
        <p:sp>
          <p:nvSpPr>
            <p:cNvPr id="15374" name="文本框 449551"/>
            <p:cNvSpPr txBox="1"/>
            <p:nvPr/>
          </p:nvSpPr>
          <p:spPr>
            <a:xfrm>
              <a:off x="4679" y="2862"/>
              <a:ext cx="850" cy="444"/>
            </a:xfrm>
            <a:prstGeom prst="rect">
              <a:avLst/>
            </a:prstGeom>
            <a:noFill/>
            <a:ln w="9525" cap="flat" cmpd="sng">
              <a:solidFill>
                <a:srgbClr val="009900"/>
              </a:solidFill>
              <a:prstDash val="solid"/>
              <a:miter/>
              <a:headEnd type="none" w="med" len="med"/>
              <a:tailEnd type="none" w="med" len="med"/>
            </a:ln>
          </p:spPr>
          <p:txBody>
            <a:bodyPr lIns="18000" rIns="18000" anchor="t" anchorCtr="0">
              <a:spAutoFit/>
            </a:bodyPr>
            <a:p>
              <a:pPr eaLnBrk="0" hangingPunct="0">
                <a:spcBef>
                  <a:spcPct val="50000"/>
                </a:spcBef>
              </a:pPr>
              <a:r>
                <a:rPr lang="zh-CN" altLang="en-US" sz="1900" dirty="0">
                  <a:latin typeface="微软雅黑" panose="020B0503020204020204" pitchFamily="34" charset="-122"/>
                  <a:ea typeface="微软雅黑" panose="020B0503020204020204" pitchFamily="34" charset="-122"/>
                </a:rPr>
                <a:t>定长指令字通常在译码前做，变长指令字在译码后做！</a:t>
              </a:r>
              <a:endParaRPr lang="zh-CN" altLang="en-US" sz="1900" dirty="0">
                <a:latin typeface="微软雅黑" panose="020B0503020204020204" pitchFamily="34" charset="-122"/>
                <a:ea typeface="微软雅黑" panose="020B0503020204020204" pitchFamily="34" charset="-122"/>
              </a:endParaRPr>
            </a:p>
          </p:txBody>
        </p:sp>
        <p:sp>
          <p:nvSpPr>
            <p:cNvPr id="15375" name="直接连接符 449552"/>
            <p:cNvSpPr/>
            <p:nvPr/>
          </p:nvSpPr>
          <p:spPr>
            <a:xfrm flipH="1">
              <a:off x="2998" y="3016"/>
              <a:ext cx="1701" cy="211"/>
            </a:xfrm>
            <a:prstGeom prst="line">
              <a:avLst/>
            </a:prstGeom>
            <a:ln w="19050" cap="flat" cmpd="sng">
              <a:solidFill>
                <a:srgbClr val="009900"/>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9539">
                                            <p:txEl>
                                              <p:charRg st="0" end="11"/>
                                            </p:txEl>
                                          </p:spTgt>
                                        </p:tgtEl>
                                        <p:attrNameLst>
                                          <p:attrName>style.visibility</p:attrName>
                                        </p:attrNameLst>
                                      </p:cBhvr>
                                      <p:to>
                                        <p:strVal val="visible"/>
                                      </p:to>
                                    </p:set>
                                    <p:animEffect transition="in" filter="blinds(horizontal)">
                                      <p:cBhvr>
                                        <p:cTn id="7" dur="500"/>
                                        <p:tgtEl>
                                          <p:spTgt spid="449539">
                                            <p:txEl>
                                              <p:charRg st="0" end="1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9539">
                                            <p:txEl>
                                              <p:charRg st="11" end="15"/>
                                            </p:txEl>
                                          </p:spTgt>
                                        </p:tgtEl>
                                        <p:attrNameLst>
                                          <p:attrName>style.visibility</p:attrName>
                                        </p:attrNameLst>
                                      </p:cBhvr>
                                      <p:to>
                                        <p:strVal val="visible"/>
                                      </p:to>
                                    </p:set>
                                    <p:animEffect transition="in" filter="blinds(horizontal)">
                                      <p:cBhvr>
                                        <p:cTn id="10" dur="500"/>
                                        <p:tgtEl>
                                          <p:spTgt spid="449539">
                                            <p:txEl>
                                              <p:charRg st="11" end="15"/>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49539">
                                            <p:txEl>
                                              <p:charRg st="15" end="22"/>
                                            </p:txEl>
                                          </p:spTgt>
                                        </p:tgtEl>
                                        <p:attrNameLst>
                                          <p:attrName>style.visibility</p:attrName>
                                        </p:attrNameLst>
                                      </p:cBhvr>
                                      <p:to>
                                        <p:strVal val="visible"/>
                                      </p:to>
                                    </p:set>
                                    <p:animEffect transition="in" filter="blinds(horizontal)">
                                      <p:cBhvr>
                                        <p:cTn id="13" dur="500"/>
                                        <p:tgtEl>
                                          <p:spTgt spid="449539">
                                            <p:txEl>
                                              <p:charRg st="15" end="2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49539">
                                            <p:txEl>
                                              <p:charRg st="22" end="27"/>
                                            </p:txEl>
                                          </p:spTgt>
                                        </p:tgtEl>
                                        <p:attrNameLst>
                                          <p:attrName>style.visibility</p:attrName>
                                        </p:attrNameLst>
                                      </p:cBhvr>
                                      <p:to>
                                        <p:strVal val="visible"/>
                                      </p:to>
                                    </p:set>
                                    <p:animEffect transition="in" filter="blinds(horizontal)">
                                      <p:cBhvr>
                                        <p:cTn id="16" dur="500"/>
                                        <p:tgtEl>
                                          <p:spTgt spid="449539">
                                            <p:txEl>
                                              <p:charRg st="22" end="27"/>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49539">
                                            <p:txEl>
                                              <p:charRg st="27" end="36"/>
                                            </p:txEl>
                                          </p:spTgt>
                                        </p:tgtEl>
                                        <p:attrNameLst>
                                          <p:attrName>style.visibility</p:attrName>
                                        </p:attrNameLst>
                                      </p:cBhvr>
                                      <p:to>
                                        <p:strVal val="visible"/>
                                      </p:to>
                                    </p:set>
                                    <p:animEffect transition="in" filter="blinds(horizontal)">
                                      <p:cBhvr>
                                        <p:cTn id="19" dur="500"/>
                                        <p:tgtEl>
                                          <p:spTgt spid="449539">
                                            <p:txEl>
                                              <p:charRg st="27" end="36"/>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49539">
                                            <p:txEl>
                                              <p:charRg st="36" end="41"/>
                                            </p:txEl>
                                          </p:spTgt>
                                        </p:tgtEl>
                                        <p:attrNameLst>
                                          <p:attrName>style.visibility</p:attrName>
                                        </p:attrNameLst>
                                      </p:cBhvr>
                                      <p:to>
                                        <p:strVal val="visible"/>
                                      </p:to>
                                    </p:set>
                                    <p:animEffect transition="in" filter="blinds(horizontal)">
                                      <p:cBhvr>
                                        <p:cTn id="22" dur="500"/>
                                        <p:tgtEl>
                                          <p:spTgt spid="449539">
                                            <p:txEl>
                                              <p:charRg st="36" end="41"/>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49539">
                                            <p:txEl>
                                              <p:charRg st="41" end="53"/>
                                            </p:txEl>
                                          </p:spTgt>
                                        </p:tgtEl>
                                        <p:attrNameLst>
                                          <p:attrName>style.visibility</p:attrName>
                                        </p:attrNameLst>
                                      </p:cBhvr>
                                      <p:to>
                                        <p:strVal val="visible"/>
                                      </p:to>
                                    </p:set>
                                    <p:animEffect transition="in" filter="blinds(horizontal)">
                                      <p:cBhvr>
                                        <p:cTn id="25" dur="500"/>
                                        <p:tgtEl>
                                          <p:spTgt spid="449539">
                                            <p:txEl>
                                              <p:charRg st="41" end="53"/>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49539">
                                            <p:txEl>
                                              <p:charRg st="53" end="57"/>
                                            </p:txEl>
                                          </p:spTgt>
                                        </p:tgtEl>
                                        <p:attrNameLst>
                                          <p:attrName>style.visibility</p:attrName>
                                        </p:attrNameLst>
                                      </p:cBhvr>
                                      <p:to>
                                        <p:strVal val="visible"/>
                                      </p:to>
                                    </p:set>
                                    <p:animEffect transition="in" filter="blinds(horizontal)">
                                      <p:cBhvr>
                                        <p:cTn id="28" dur="500"/>
                                        <p:tgtEl>
                                          <p:spTgt spid="449539">
                                            <p:txEl>
                                              <p:charRg st="53" end="57"/>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49539">
                                            <p:txEl>
                                              <p:charRg st="57" end="70"/>
                                            </p:txEl>
                                          </p:spTgt>
                                        </p:tgtEl>
                                        <p:attrNameLst>
                                          <p:attrName>style.visibility</p:attrName>
                                        </p:attrNameLst>
                                      </p:cBhvr>
                                      <p:to>
                                        <p:strVal val="visible"/>
                                      </p:to>
                                    </p:set>
                                    <p:animEffect transition="in" filter="blinds(horizontal)">
                                      <p:cBhvr>
                                        <p:cTn id="31" dur="500"/>
                                        <p:tgtEl>
                                          <p:spTgt spid="449539">
                                            <p:txEl>
                                              <p:charRg st="57" end="70"/>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449539">
                                            <p:txEl>
                                              <p:charRg st="70" end="88"/>
                                            </p:txEl>
                                          </p:spTgt>
                                        </p:tgtEl>
                                        <p:attrNameLst>
                                          <p:attrName>style.visibility</p:attrName>
                                        </p:attrNameLst>
                                      </p:cBhvr>
                                      <p:to>
                                        <p:strVal val="visible"/>
                                      </p:to>
                                    </p:set>
                                    <p:animEffect transition="in" filter="blinds(horizontal)">
                                      <p:cBhvr>
                                        <p:cTn id="34" dur="500"/>
                                        <p:tgtEl>
                                          <p:spTgt spid="449539">
                                            <p:txEl>
                                              <p:charRg st="70" end="88"/>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449539">
                                            <p:txEl>
                                              <p:charRg st="88" end="108"/>
                                            </p:txEl>
                                          </p:spTgt>
                                        </p:tgtEl>
                                        <p:attrNameLst>
                                          <p:attrName>style.visibility</p:attrName>
                                        </p:attrNameLst>
                                      </p:cBhvr>
                                      <p:to>
                                        <p:strVal val="visible"/>
                                      </p:to>
                                    </p:set>
                                    <p:animEffect transition="in" filter="blinds(horizontal)">
                                      <p:cBhvr>
                                        <p:cTn id="37" dur="500"/>
                                        <p:tgtEl>
                                          <p:spTgt spid="449539">
                                            <p:txEl>
                                              <p:charRg st="88" end="10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49551"/>
                                        </p:tgtEl>
                                        <p:attrNameLst>
                                          <p:attrName>style.visibility</p:attrName>
                                        </p:attrNameLst>
                                      </p:cBhvr>
                                      <p:to>
                                        <p:strVal val="visible"/>
                                      </p:to>
                                    </p:set>
                                    <p:animEffect transition="in" filter="blinds(horizontal)">
                                      <p:cBhvr>
                                        <p:cTn id="42" dur="500"/>
                                        <p:tgtEl>
                                          <p:spTgt spid="44955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49545"/>
                                        </p:tgtEl>
                                        <p:attrNameLst>
                                          <p:attrName>style.visibility</p:attrName>
                                        </p:attrNameLst>
                                      </p:cBhvr>
                                      <p:to>
                                        <p:strVal val="visible"/>
                                      </p:to>
                                    </p:set>
                                    <p:animEffect transition="in" filter="blinds(horizontal)">
                                      <p:cBhvr>
                                        <p:cTn id="47" dur="500"/>
                                        <p:tgtEl>
                                          <p:spTgt spid="449545"/>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49548"/>
                                        </p:tgtEl>
                                        <p:attrNameLst>
                                          <p:attrName>style.visibility</p:attrName>
                                        </p:attrNameLst>
                                      </p:cBhvr>
                                      <p:to>
                                        <p:strVal val="visible"/>
                                      </p:to>
                                    </p:set>
                                    <p:animEffect transition="in" filter="blinds(horizontal)">
                                      <p:cBhvr>
                                        <p:cTn id="52" dur="500"/>
                                        <p:tgtEl>
                                          <p:spTgt spid="449548"/>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29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29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449544">
                                            <p:txEl>
                                              <p:charRg st="0" end="4"/>
                                            </p:txEl>
                                          </p:spTgt>
                                        </p:tgtEl>
                                        <p:attrNameLst>
                                          <p:attrName>style.visibility</p:attrName>
                                        </p:attrNameLst>
                                      </p:cBhvr>
                                      <p:to>
                                        <p:strVal val="visible"/>
                                      </p:to>
                                    </p:set>
                                    <p:animEffect transition="in" filter="blinds(horizontal)">
                                      <p:cBhvr>
                                        <p:cTn id="63" dur="500"/>
                                        <p:tgtEl>
                                          <p:spTgt spid="449544">
                                            <p:txEl>
                                              <p:charRg st="0"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449544">
                                            <p:txEl>
                                              <p:charRg st="4" end="35"/>
                                            </p:txEl>
                                          </p:spTgt>
                                        </p:tgtEl>
                                        <p:attrNameLst>
                                          <p:attrName>style.visibility</p:attrName>
                                        </p:attrNameLst>
                                      </p:cBhvr>
                                      <p:to>
                                        <p:strVal val="visible"/>
                                      </p:to>
                                    </p:set>
                                    <p:animEffect transition="in" filter="blinds(horizontal)">
                                      <p:cBhvr>
                                        <p:cTn id="68" dur="500"/>
                                        <p:tgtEl>
                                          <p:spTgt spid="449544">
                                            <p:txEl>
                                              <p:charRg st="4" end="35"/>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449554"/>
                                        </p:tgtEl>
                                        <p:attrNameLst>
                                          <p:attrName>style.visibility</p:attrName>
                                        </p:attrNameLst>
                                      </p:cBhvr>
                                      <p:to>
                                        <p:strVal val="visible"/>
                                      </p:to>
                                    </p:set>
                                    <p:animEffect transition="in" filter="blinds(horizontal)">
                                      <p:cBhvr>
                                        <p:cTn id="73" dur="500"/>
                                        <p:tgtEl>
                                          <p:spTgt spid="449554"/>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449544">
                                            <p:txEl>
                                              <p:charRg st="35" end="50"/>
                                            </p:txEl>
                                          </p:spTgt>
                                        </p:tgtEl>
                                        <p:attrNameLst>
                                          <p:attrName>style.visibility</p:attrName>
                                        </p:attrNameLst>
                                      </p:cBhvr>
                                      <p:to>
                                        <p:strVal val="visible"/>
                                      </p:to>
                                    </p:set>
                                    <p:animEffect transition="in" filter="blinds(horizontal)">
                                      <p:cBhvr>
                                        <p:cTn id="78" dur="500"/>
                                        <p:tgtEl>
                                          <p:spTgt spid="449544">
                                            <p:txEl>
                                              <p:charRg st="35" end="5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nodeType="clickEffect">
                                  <p:stCondLst>
                                    <p:cond delay="0"/>
                                  </p:stCondLst>
                                  <p:childTnLst>
                                    <p:set>
                                      <p:cBhvr>
                                        <p:cTn id="82" dur="1" fill="hold">
                                          <p:stCondLst>
                                            <p:cond delay="0"/>
                                          </p:stCondLst>
                                        </p:cTn>
                                        <p:tgtEl>
                                          <p:spTgt spid="449544">
                                            <p:txEl>
                                              <p:charRg st="50" end="80"/>
                                            </p:txEl>
                                          </p:spTgt>
                                        </p:tgtEl>
                                        <p:attrNameLst>
                                          <p:attrName>style.visibility</p:attrName>
                                        </p:attrNameLst>
                                      </p:cBhvr>
                                      <p:to>
                                        <p:strVal val="visible"/>
                                      </p:to>
                                    </p:set>
                                    <p:animEffect transition="in" filter="blinds(horizontal)">
                                      <p:cBhvr>
                                        <p:cTn id="83" dur="500"/>
                                        <p:tgtEl>
                                          <p:spTgt spid="449544">
                                            <p:txEl>
                                              <p:charRg st="50" end="8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449544">
                                            <p:txEl>
                                              <p:charRg st="80" end="105"/>
                                            </p:txEl>
                                          </p:spTgt>
                                        </p:tgtEl>
                                        <p:attrNameLst>
                                          <p:attrName>style.visibility</p:attrName>
                                        </p:attrNameLst>
                                      </p:cBhvr>
                                      <p:to>
                                        <p:strVal val="visible"/>
                                      </p:to>
                                    </p:set>
                                    <p:animEffect transition="in" filter="blinds(horizontal)">
                                      <p:cBhvr>
                                        <p:cTn id="88" dur="500"/>
                                        <p:tgtEl>
                                          <p:spTgt spid="449544">
                                            <p:txEl>
                                              <p:charRg st="80" end="10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9" grpId="0" build="p"/>
      <p:bldP spid="449551" grpId="0" animBg="1"/>
      <p:bldP spid="12292" grpId="0"/>
      <p:bldP spid="1229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标题 457729"/>
          <p:cNvSpPr>
            <a:spLocks noGrp="1"/>
          </p:cNvSpPr>
          <p:nvPr>
            <p:ph type="title"/>
          </p:nvPr>
        </p:nvSpPr>
        <p:spPr>
          <a:ln/>
        </p:spPr>
        <p:txBody>
          <a:bodyPr lIns="63500" tIns="25400" rIns="63500" bIns="25400" anchor="t" anchorCtr="0">
            <a:spAutoFit/>
          </a:bodyPr>
          <a:p>
            <a:r>
              <a:rPr lang="zh-CN" altLang="en-US" dirty="0"/>
              <a:t>机器指令的执行过程</a:t>
            </a:r>
            <a:endParaRPr lang="zh-CN" altLang="en-US" dirty="0"/>
          </a:p>
        </p:txBody>
      </p:sp>
      <p:sp>
        <p:nvSpPr>
          <p:cNvPr id="457731" name="内容占位符 457730"/>
          <p:cNvSpPr>
            <a:spLocks noGrp="1"/>
          </p:cNvSpPr>
          <p:nvPr>
            <p:ph idx="1"/>
          </p:nvPr>
        </p:nvSpPr>
        <p:spPr>
          <a:xfrm>
            <a:off x="334963" y="760413"/>
            <a:ext cx="8510587" cy="5641975"/>
          </a:xfrm>
          <a:ln/>
        </p:spPr>
        <p:txBody>
          <a:bodyPr wrap="square" lIns="63500" tIns="25400" rIns="63500" bIns="25400" anchor="t" anchorCtr="0">
            <a:spAutoFit/>
          </a:bodyPr>
          <a:p>
            <a:pPr>
              <a:lnSpc>
                <a:spcPct val="110000"/>
              </a:lnSpc>
              <a:spcBef>
                <a:spcPct val="25000"/>
              </a:spcBef>
            </a:pPr>
            <a:r>
              <a:rPr lang="zh-CN" altLang="en-US" sz="1900" dirty="0">
                <a:solidFill>
                  <a:schemeClr val="accent1"/>
                </a:solidFill>
                <a:latin typeface="微软雅黑" panose="020B0503020204020204" pitchFamily="34" charset="-122"/>
                <a:ea typeface="微软雅黑" panose="020B0503020204020204" pitchFamily="34" charset="-122"/>
              </a:rPr>
              <a:t>取指令：</a:t>
            </a:r>
            <a:r>
              <a:rPr lang="zh-CN" altLang="en-US" sz="1900" dirty="0">
                <a:latin typeface="微软雅黑" panose="020B0503020204020204" pitchFamily="34" charset="-122"/>
                <a:ea typeface="微软雅黑" panose="020B0503020204020204" pitchFamily="34" charset="-122"/>
              </a:rPr>
              <a:t>从</a:t>
            </a:r>
            <a:r>
              <a:rPr lang="en-US" altLang="zh-CN" sz="1900">
                <a:latin typeface="微软雅黑" panose="020B0503020204020204" pitchFamily="34" charset="-122"/>
                <a:ea typeface="微软雅黑" panose="020B0503020204020204" pitchFamily="34" charset="-122"/>
              </a:rPr>
              <a:t>PC</a:t>
            </a:r>
            <a:r>
              <a:rPr lang="zh-CN" altLang="en-US" sz="1900" dirty="0">
                <a:latin typeface="微软雅黑" panose="020B0503020204020204" pitchFamily="34" charset="-122"/>
                <a:ea typeface="微软雅黑" panose="020B0503020204020204" pitchFamily="34" charset="-122"/>
              </a:rPr>
              <a:t>所指单元取出指令送指令寄存器（</a:t>
            </a:r>
            <a:r>
              <a:rPr lang="en-US" altLang="zh-CN" sz="1900">
                <a:latin typeface="微软雅黑" panose="020B0503020204020204" pitchFamily="34" charset="-122"/>
                <a:ea typeface="微软雅黑" panose="020B0503020204020204" pitchFamily="34" charset="-122"/>
              </a:rPr>
              <a:t>IR</a:t>
            </a:r>
            <a:r>
              <a:rPr lang="zh-CN" altLang="en-US" sz="1900" dirty="0">
                <a:latin typeface="微软雅黑" panose="020B0503020204020204" pitchFamily="34" charset="-122"/>
                <a:ea typeface="微软雅黑" panose="020B0503020204020204" pitchFamily="34" charset="-122"/>
              </a:rPr>
              <a:t>），并增量</a:t>
            </a:r>
            <a:r>
              <a:rPr lang="en-US" altLang="zh-CN" sz="1900">
                <a:latin typeface="微软雅黑" panose="020B0503020204020204" pitchFamily="34" charset="-122"/>
                <a:ea typeface="微软雅黑" panose="020B0503020204020204" pitchFamily="34" charset="-122"/>
              </a:rPr>
              <a:t>PC</a:t>
            </a:r>
            <a:r>
              <a:rPr lang="zh-CN" altLang="en-US" sz="1900" dirty="0">
                <a:latin typeface="微软雅黑" panose="020B0503020204020204" pitchFamily="34" charset="-122"/>
                <a:ea typeface="微软雅黑" panose="020B0503020204020204" pitchFamily="34" charset="-122"/>
              </a:rPr>
              <a:t>。</a:t>
            </a:r>
            <a:endParaRPr lang="zh-CN" altLang="en-US" sz="1900" dirty="0">
              <a:latin typeface="微软雅黑" panose="020B0503020204020204" pitchFamily="34" charset="-122"/>
              <a:ea typeface="微软雅黑" panose="020B0503020204020204" pitchFamily="34" charset="-122"/>
            </a:endParaRPr>
          </a:p>
          <a:p>
            <a:pPr lvl="1">
              <a:lnSpc>
                <a:spcPct val="110000"/>
              </a:lnSpc>
              <a:spcBef>
                <a:spcPct val="25000"/>
              </a:spcBef>
            </a:pPr>
            <a:r>
              <a:rPr lang="zh-CN" altLang="en-US" sz="1900" dirty="0">
                <a:latin typeface="微软雅黑" panose="020B0503020204020204" pitchFamily="34" charset="-122"/>
                <a:ea typeface="微软雅黑" panose="020B0503020204020204" pitchFamily="34" charset="-122"/>
              </a:rPr>
              <a:t>如</a:t>
            </a:r>
            <a:r>
              <a:rPr lang="en-US" altLang="zh-CN" sz="1900">
                <a:latin typeface="微软雅黑" panose="020B0503020204020204" pitchFamily="34" charset="-122"/>
                <a:ea typeface="微软雅黑" panose="020B0503020204020204" pitchFamily="34" charset="-122"/>
              </a:rPr>
              <a:t>add</a:t>
            </a:r>
            <a:r>
              <a:rPr lang="zh-CN" altLang="en-US" sz="1900" dirty="0">
                <a:latin typeface="微软雅黑" panose="020B0503020204020204" pitchFamily="34" charset="-122"/>
                <a:ea typeface="微软雅黑" panose="020B0503020204020204" pitchFamily="34" charset="-122"/>
              </a:rPr>
              <a:t>函数，开始</a:t>
            </a:r>
            <a:r>
              <a:rPr lang="en-US" altLang="zh-CN" sz="1900">
                <a:latin typeface="微软雅黑" panose="020B0503020204020204" pitchFamily="34" charset="-122"/>
                <a:ea typeface="微软雅黑" panose="020B0503020204020204" pitchFamily="34" charset="-122"/>
              </a:rPr>
              <a:t>PC</a:t>
            </a:r>
            <a:r>
              <a:rPr lang="zh-CN" altLang="en-US" sz="1900" dirty="0">
                <a:latin typeface="微软雅黑" panose="020B0503020204020204" pitchFamily="34" charset="-122"/>
                <a:ea typeface="微软雅黑" panose="020B0503020204020204" pitchFamily="34" charset="-122"/>
              </a:rPr>
              <a:t>（</a:t>
            </a:r>
            <a:r>
              <a:rPr lang="en-US" altLang="zh-CN" sz="1900">
                <a:latin typeface="微软雅黑" panose="020B0503020204020204" pitchFamily="34" charset="-122"/>
                <a:ea typeface="微软雅黑" panose="020B0503020204020204" pitchFamily="34" charset="-122"/>
              </a:rPr>
              <a:t>IA-32</a:t>
            </a:r>
            <a:r>
              <a:rPr lang="zh-CN" altLang="en-US" sz="1900" dirty="0">
                <a:latin typeface="微软雅黑" panose="020B0503020204020204" pitchFamily="34" charset="-122"/>
                <a:ea typeface="微软雅黑" panose="020B0503020204020204" pitchFamily="34" charset="-122"/>
              </a:rPr>
              <a:t>的</a:t>
            </a:r>
            <a:r>
              <a:rPr lang="en-US" altLang="zh-CN" sz="1900">
                <a:latin typeface="微软雅黑" panose="020B0503020204020204" pitchFamily="34" charset="-122"/>
                <a:ea typeface="微软雅黑" panose="020B0503020204020204" pitchFamily="34" charset="-122"/>
              </a:rPr>
              <a:t>EIP</a:t>
            </a:r>
            <a:r>
              <a:rPr lang="zh-CN" altLang="en-US" sz="1900" dirty="0">
                <a:latin typeface="微软雅黑" panose="020B0503020204020204" pitchFamily="34" charset="-122"/>
                <a:ea typeface="微软雅黑" panose="020B0503020204020204" pitchFamily="34" charset="-122"/>
              </a:rPr>
              <a:t>）中存放的是</a:t>
            </a:r>
            <a:r>
              <a:rPr lang="en-US" altLang="zh-CN" sz="1900">
                <a:latin typeface="微软雅黑" panose="020B0503020204020204" pitchFamily="34" charset="-122"/>
                <a:ea typeface="微软雅黑" panose="020B0503020204020204" pitchFamily="34" charset="-122"/>
              </a:rPr>
              <a:t>0x0848394</a:t>
            </a:r>
            <a:r>
              <a:rPr lang="zh-CN" altLang="en-US" sz="1900" dirty="0">
                <a:latin typeface="微软雅黑" panose="020B0503020204020204" pitchFamily="34" charset="-122"/>
                <a:ea typeface="微软雅黑" panose="020B0503020204020204" pitchFamily="34" charset="-122"/>
              </a:rPr>
              <a:t>，</a:t>
            </a:r>
            <a:r>
              <a:rPr lang="en-US" altLang="zh-CN" sz="1900">
                <a:latin typeface="微软雅黑" panose="020B0503020204020204" pitchFamily="34" charset="-122"/>
                <a:ea typeface="微软雅黑" panose="020B0503020204020204" pitchFamily="34" charset="-122"/>
              </a:rPr>
              <a:t>CPU</a:t>
            </a:r>
            <a:r>
              <a:rPr lang="zh-CN" altLang="en-US" sz="1900" dirty="0">
                <a:latin typeface="微软雅黑" panose="020B0503020204020204" pitchFamily="34" charset="-122"/>
                <a:ea typeface="微软雅黑" panose="020B0503020204020204" pitchFamily="34" charset="-122"/>
              </a:rPr>
              <a:t>根据</a:t>
            </a:r>
            <a:r>
              <a:rPr lang="en-US" altLang="zh-CN" sz="1900">
                <a:latin typeface="微软雅黑" panose="020B0503020204020204" pitchFamily="34" charset="-122"/>
                <a:ea typeface="微软雅黑" panose="020B0503020204020204" pitchFamily="34" charset="-122"/>
              </a:rPr>
              <a:t>PC</a:t>
            </a:r>
            <a:r>
              <a:rPr lang="zh-CN" altLang="en-US" sz="1900" dirty="0">
                <a:latin typeface="微软雅黑" panose="020B0503020204020204" pitchFamily="34" charset="-122"/>
                <a:ea typeface="微软雅黑" panose="020B0503020204020204" pitchFamily="34" charset="-122"/>
              </a:rPr>
              <a:t>取指令送</a:t>
            </a:r>
            <a:r>
              <a:rPr lang="en-US" altLang="zh-CN" sz="1900">
                <a:latin typeface="微软雅黑" panose="020B0503020204020204" pitchFamily="34" charset="-122"/>
                <a:ea typeface="微软雅黑" panose="020B0503020204020204" pitchFamily="34" charset="-122"/>
              </a:rPr>
              <a:t>IR</a:t>
            </a:r>
            <a:r>
              <a:rPr lang="zh-CN" altLang="en-US" sz="1900" dirty="0">
                <a:latin typeface="微软雅黑" panose="020B0503020204020204" pitchFamily="34" charset="-122"/>
                <a:ea typeface="微软雅黑" panose="020B0503020204020204" pitchFamily="34" charset="-122"/>
              </a:rPr>
              <a:t>，每次总是取最长指令字节数，假定最长指令是</a:t>
            </a:r>
            <a:r>
              <a:rPr lang="en-US" altLang="zh-CN" sz="1900">
                <a:latin typeface="微软雅黑" panose="020B0503020204020204" pitchFamily="34" charset="-122"/>
                <a:ea typeface="微软雅黑" panose="020B0503020204020204" pitchFamily="34" charset="-122"/>
              </a:rPr>
              <a:t>4</a:t>
            </a:r>
            <a:r>
              <a:rPr lang="zh-CN" altLang="en-US" sz="1900" dirty="0">
                <a:latin typeface="微软雅黑" panose="020B0503020204020204" pitchFamily="34" charset="-122"/>
                <a:ea typeface="微软雅黑" panose="020B0503020204020204" pitchFamily="34" charset="-122"/>
              </a:rPr>
              <a:t>个字节，即</a:t>
            </a:r>
            <a:r>
              <a:rPr lang="en-US" altLang="zh-CN" sz="1900">
                <a:latin typeface="微软雅黑" panose="020B0503020204020204" pitchFamily="34" charset="-122"/>
                <a:ea typeface="微软雅黑" panose="020B0503020204020204" pitchFamily="34" charset="-122"/>
              </a:rPr>
              <a:t>IR</a:t>
            </a:r>
            <a:r>
              <a:rPr lang="zh-CN" altLang="en-US" sz="1900" dirty="0">
                <a:latin typeface="微软雅黑" panose="020B0503020204020204" pitchFamily="34" charset="-122"/>
                <a:ea typeface="微软雅黑" panose="020B0503020204020204" pitchFamily="34" charset="-122"/>
              </a:rPr>
              <a:t>为</a:t>
            </a:r>
            <a:r>
              <a:rPr lang="en-US" altLang="zh-CN" sz="1900">
                <a:latin typeface="微软雅黑" panose="020B0503020204020204" pitchFamily="34" charset="-122"/>
                <a:ea typeface="微软雅黑" panose="020B0503020204020204" pitchFamily="34" charset="-122"/>
              </a:rPr>
              <a:t>32</a:t>
            </a:r>
            <a:r>
              <a:rPr lang="zh-CN" altLang="en-US" sz="1900" dirty="0">
                <a:latin typeface="微软雅黑" panose="020B0503020204020204" pitchFamily="34" charset="-122"/>
                <a:ea typeface="微软雅黑" panose="020B0503020204020204" pitchFamily="34" charset="-122"/>
              </a:rPr>
              <a:t>位，此时，也即</a:t>
            </a:r>
            <a:r>
              <a:rPr lang="en-US" altLang="zh-CN" sz="1900">
                <a:latin typeface="微软雅黑" panose="020B0503020204020204" pitchFamily="34" charset="-122"/>
                <a:ea typeface="微软雅黑" panose="020B0503020204020204" pitchFamily="34" charset="-122"/>
              </a:rPr>
              <a:t>55 89 E5 8BH</a:t>
            </a:r>
            <a:r>
              <a:rPr lang="zh-CN" altLang="en-US" sz="1900" dirty="0">
                <a:latin typeface="微软雅黑" panose="020B0503020204020204" pitchFamily="34" charset="-122"/>
                <a:ea typeface="微软雅黑" panose="020B0503020204020204" pitchFamily="34" charset="-122"/>
              </a:rPr>
              <a:t>被取到</a:t>
            </a:r>
            <a:r>
              <a:rPr lang="en-US" altLang="zh-CN" sz="1900">
                <a:latin typeface="微软雅黑" panose="020B0503020204020204" pitchFamily="34" charset="-122"/>
                <a:ea typeface="微软雅黑" panose="020B0503020204020204" pitchFamily="34" charset="-122"/>
              </a:rPr>
              <a:t>IR</a:t>
            </a:r>
            <a:r>
              <a:rPr lang="zh-CN" altLang="en-US" sz="1900" dirty="0">
                <a:latin typeface="微软雅黑" panose="020B0503020204020204" pitchFamily="34" charset="-122"/>
                <a:ea typeface="微软雅黑" panose="020B0503020204020204" pitchFamily="34" charset="-122"/>
              </a:rPr>
              <a:t>中。 </a:t>
            </a:r>
            <a:endParaRPr lang="zh-CN" altLang="en-US" sz="1900" dirty="0">
              <a:latin typeface="微软雅黑" panose="020B0503020204020204" pitchFamily="34" charset="-122"/>
              <a:ea typeface="微软雅黑" panose="020B0503020204020204" pitchFamily="34" charset="-122"/>
            </a:endParaRPr>
          </a:p>
          <a:p>
            <a:pPr>
              <a:lnSpc>
                <a:spcPct val="110000"/>
              </a:lnSpc>
              <a:spcBef>
                <a:spcPct val="25000"/>
              </a:spcBef>
            </a:pPr>
            <a:r>
              <a:rPr lang="zh-CN" altLang="en-US" sz="1900" dirty="0">
                <a:solidFill>
                  <a:schemeClr val="accent1"/>
                </a:solidFill>
                <a:latin typeface="微软雅黑" panose="020B0503020204020204" pitchFamily="34" charset="-122"/>
                <a:ea typeface="微软雅黑" panose="020B0503020204020204" pitchFamily="34" charset="-122"/>
              </a:rPr>
              <a:t>指令译码：</a:t>
            </a:r>
            <a:r>
              <a:rPr lang="zh-CN" altLang="en-US" sz="1900" dirty="0">
                <a:latin typeface="微软雅黑" panose="020B0503020204020204" pitchFamily="34" charset="-122"/>
                <a:ea typeface="微软雅黑" panose="020B0503020204020204" pitchFamily="34" charset="-122"/>
              </a:rPr>
              <a:t>不同指令其功能不同，因而需要不同的操作控制信号。</a:t>
            </a:r>
            <a:endParaRPr lang="zh-CN" altLang="en-US" sz="1900" dirty="0">
              <a:latin typeface="微软雅黑" panose="020B0503020204020204" pitchFamily="34" charset="-122"/>
              <a:ea typeface="微软雅黑" panose="020B0503020204020204" pitchFamily="34" charset="-122"/>
            </a:endParaRPr>
          </a:p>
          <a:p>
            <a:pPr lvl="1">
              <a:lnSpc>
                <a:spcPct val="110000"/>
              </a:lnSpc>
              <a:spcBef>
                <a:spcPct val="25000"/>
              </a:spcBef>
            </a:pPr>
            <a:r>
              <a:rPr lang="en-US" altLang="zh-CN" sz="1900">
                <a:latin typeface="微软雅黑" panose="020B0503020204020204" pitchFamily="34" charset="-122"/>
                <a:ea typeface="微软雅黑" panose="020B0503020204020204" pitchFamily="34" charset="-122"/>
              </a:rPr>
              <a:t>CPU</a:t>
            </a:r>
            <a:r>
              <a:rPr lang="zh-CN" altLang="en-US" sz="1900" dirty="0">
                <a:latin typeface="微软雅黑" panose="020B0503020204020204" pitchFamily="34" charset="-122"/>
                <a:ea typeface="微软雅黑" panose="020B0503020204020204" pitchFamily="34" charset="-122"/>
              </a:rPr>
              <a:t>根据不同操作码译出不同控制信号。对于上述取到</a:t>
            </a:r>
            <a:r>
              <a:rPr lang="en-US" altLang="zh-CN" sz="1900">
                <a:latin typeface="微软雅黑" panose="020B0503020204020204" pitchFamily="34" charset="-122"/>
                <a:ea typeface="微软雅黑" panose="020B0503020204020204" pitchFamily="34" charset="-122"/>
              </a:rPr>
              <a:t>IR</a:t>
            </a:r>
            <a:r>
              <a:rPr lang="zh-CN" altLang="en-US" sz="1900" dirty="0">
                <a:latin typeface="微软雅黑" panose="020B0503020204020204" pitchFamily="34" charset="-122"/>
                <a:ea typeface="微软雅黑" panose="020B0503020204020204" pitchFamily="34" charset="-122"/>
              </a:rPr>
              <a:t>中的</a:t>
            </a:r>
            <a:r>
              <a:rPr lang="en-US" altLang="zh-CN" sz="1900">
                <a:latin typeface="微软雅黑" panose="020B0503020204020204" pitchFamily="34" charset="-122"/>
                <a:ea typeface="微软雅黑" panose="020B0503020204020204" pitchFamily="34" charset="-122"/>
              </a:rPr>
              <a:t>55 89 E5 8BH</a:t>
            </a:r>
            <a:r>
              <a:rPr lang="zh-CN" altLang="en-US" sz="1900" dirty="0">
                <a:latin typeface="微软雅黑" panose="020B0503020204020204" pitchFamily="34" charset="-122"/>
                <a:ea typeface="微软雅黑" panose="020B0503020204020204" pitchFamily="34" charset="-122"/>
              </a:rPr>
              <a:t>译码时，可根据高</a:t>
            </a:r>
            <a:r>
              <a:rPr lang="en-US" altLang="zh-CN" sz="1900">
                <a:latin typeface="微软雅黑" panose="020B0503020204020204" pitchFamily="34" charset="-122"/>
                <a:ea typeface="微软雅黑" panose="020B0503020204020204" pitchFamily="34" charset="-122"/>
              </a:rPr>
              <a:t>5</a:t>
            </a:r>
            <a:r>
              <a:rPr lang="zh-CN" altLang="en-US" sz="1900" dirty="0">
                <a:latin typeface="微软雅黑" panose="020B0503020204020204" pitchFamily="34" charset="-122"/>
                <a:ea typeface="微软雅黑" panose="020B0503020204020204" pitchFamily="34" charset="-122"/>
              </a:rPr>
              <a:t>位</a:t>
            </a:r>
            <a:r>
              <a:rPr lang="en-US" altLang="zh-CN" sz="1900">
                <a:solidFill>
                  <a:schemeClr val="accent1"/>
                </a:solidFill>
                <a:latin typeface="微软雅黑" panose="020B0503020204020204" pitchFamily="34" charset="-122"/>
                <a:ea typeface="微软雅黑" panose="020B0503020204020204" pitchFamily="34" charset="-122"/>
              </a:rPr>
              <a:t>01010</a:t>
            </a:r>
            <a:r>
              <a:rPr lang="zh-CN" altLang="en-US" sz="1900" dirty="0">
                <a:latin typeface="微软雅黑" panose="020B0503020204020204" pitchFamily="34" charset="-122"/>
                <a:ea typeface="微软雅黑" panose="020B0503020204020204" pitchFamily="34" charset="-122"/>
              </a:rPr>
              <a:t>译码得到</a:t>
            </a:r>
            <a:r>
              <a:rPr lang="en-US" altLang="zh-CN" sz="1900">
                <a:latin typeface="微软雅黑" panose="020B0503020204020204" pitchFamily="34" charset="-122"/>
                <a:ea typeface="微软雅黑" panose="020B0503020204020204" pitchFamily="34" charset="-122"/>
              </a:rPr>
              <a:t>push</a:t>
            </a:r>
            <a:r>
              <a:rPr lang="zh-CN" altLang="en-US" sz="1900" dirty="0">
                <a:latin typeface="微软雅黑" panose="020B0503020204020204" pitchFamily="34" charset="-122"/>
                <a:ea typeface="微软雅黑" panose="020B0503020204020204" pitchFamily="34" charset="-122"/>
              </a:rPr>
              <a:t>指令的控制信号。</a:t>
            </a:r>
            <a:endParaRPr lang="zh-CN" altLang="en-US" sz="1900" dirty="0">
              <a:latin typeface="微软雅黑" panose="020B0503020204020204" pitchFamily="34" charset="-122"/>
              <a:ea typeface="微软雅黑" panose="020B0503020204020204" pitchFamily="34" charset="-122"/>
            </a:endParaRPr>
          </a:p>
          <a:p>
            <a:pPr>
              <a:lnSpc>
                <a:spcPct val="110000"/>
              </a:lnSpc>
              <a:spcBef>
                <a:spcPct val="25000"/>
              </a:spcBef>
            </a:pPr>
            <a:r>
              <a:rPr lang="zh-CN" altLang="en-US" sz="1900" dirty="0">
                <a:solidFill>
                  <a:schemeClr val="accent1"/>
                </a:solidFill>
                <a:latin typeface="微软雅黑" panose="020B0503020204020204" pitchFamily="34" charset="-122"/>
                <a:ea typeface="微软雅黑" panose="020B0503020204020204" pitchFamily="34" charset="-122"/>
              </a:rPr>
              <a:t>源操作数地址计算并取操作数：</a:t>
            </a:r>
            <a:r>
              <a:rPr lang="zh-CN" altLang="en-US" sz="1900" dirty="0">
                <a:latin typeface="微软雅黑" panose="020B0503020204020204" pitchFamily="34" charset="-122"/>
                <a:ea typeface="微软雅黑" panose="020B0503020204020204" pitchFamily="34" charset="-122"/>
              </a:rPr>
              <a:t>根据寻址方式确定源操作数地址计算方式，若是存储器数据，则需一次或多次访存；若为间接寻址或两操作数都在存储器的双目运算，则需多次访存；若是寄存器数据，则直接从寄存器取数。</a:t>
            </a:r>
            <a:endParaRPr lang="zh-CN" altLang="en-US" sz="1900" dirty="0">
              <a:latin typeface="微软雅黑" panose="020B0503020204020204" pitchFamily="34" charset="-122"/>
              <a:ea typeface="微软雅黑" panose="020B0503020204020204" pitchFamily="34" charset="-122"/>
            </a:endParaRPr>
          </a:p>
          <a:p>
            <a:pPr>
              <a:lnSpc>
                <a:spcPct val="110000"/>
              </a:lnSpc>
              <a:spcBef>
                <a:spcPct val="25000"/>
              </a:spcBef>
            </a:pPr>
            <a:r>
              <a:rPr lang="zh-CN" altLang="en-US" sz="1900" dirty="0">
                <a:solidFill>
                  <a:schemeClr val="accent1"/>
                </a:solidFill>
                <a:latin typeface="微软雅黑" panose="020B0503020204020204" pitchFamily="34" charset="-122"/>
                <a:ea typeface="微软雅黑" panose="020B0503020204020204" pitchFamily="34" charset="-122"/>
              </a:rPr>
              <a:t>执行数据操作：</a:t>
            </a:r>
            <a:r>
              <a:rPr lang="zh-CN" altLang="en-US" sz="1900" dirty="0">
                <a:latin typeface="微软雅黑" panose="020B0503020204020204" pitchFamily="34" charset="-122"/>
                <a:ea typeface="微软雅黑" panose="020B0503020204020204" pitchFamily="34" charset="-122"/>
              </a:rPr>
              <a:t>在</a:t>
            </a:r>
            <a:r>
              <a:rPr lang="en-US" altLang="zh-CN" sz="1900">
                <a:latin typeface="微软雅黑" panose="020B0503020204020204" pitchFamily="34" charset="-122"/>
                <a:ea typeface="微软雅黑" panose="020B0503020204020204" pitchFamily="34" charset="-122"/>
              </a:rPr>
              <a:t>ALU</a:t>
            </a:r>
            <a:r>
              <a:rPr lang="zh-CN" altLang="en-US" sz="1900" dirty="0">
                <a:latin typeface="微软雅黑" panose="020B0503020204020204" pitchFamily="34" charset="-122"/>
                <a:ea typeface="微软雅黑" panose="020B0503020204020204" pitchFamily="34" charset="-122"/>
              </a:rPr>
              <a:t>或加法器等运算部件中对取出的源操作数进行运算。</a:t>
            </a:r>
            <a:endParaRPr lang="zh-CN" altLang="en-US" sz="1900" dirty="0">
              <a:latin typeface="微软雅黑" panose="020B0503020204020204" pitchFamily="34" charset="-122"/>
              <a:ea typeface="微软雅黑" panose="020B0503020204020204" pitchFamily="34" charset="-122"/>
            </a:endParaRPr>
          </a:p>
          <a:p>
            <a:pPr>
              <a:lnSpc>
                <a:spcPct val="110000"/>
              </a:lnSpc>
              <a:spcBef>
                <a:spcPct val="25000"/>
              </a:spcBef>
            </a:pPr>
            <a:r>
              <a:rPr lang="zh-CN" altLang="en-US" sz="1900" dirty="0">
                <a:solidFill>
                  <a:schemeClr val="accent1"/>
                </a:solidFill>
                <a:latin typeface="微软雅黑" panose="020B0503020204020204" pitchFamily="34" charset="-122"/>
                <a:ea typeface="微软雅黑" panose="020B0503020204020204" pitchFamily="34" charset="-122"/>
              </a:rPr>
              <a:t>目的操作数地址计算并存结果：</a:t>
            </a:r>
            <a:r>
              <a:rPr lang="zh-CN" altLang="en-US" sz="1900" dirty="0">
                <a:latin typeface="微软雅黑" panose="020B0503020204020204" pitchFamily="34" charset="-122"/>
                <a:ea typeface="微软雅黑" panose="020B0503020204020204" pitchFamily="34" charset="-122"/>
              </a:rPr>
              <a:t>根据寻址方式确定目的操作数地址计算方式，若是存储器数据，则需要一次或多次访存（间接寻址时）；若是寄存器数据，则在进行数据操作时直接存结果到寄存器。</a:t>
            </a:r>
            <a:endParaRPr lang="zh-CN" altLang="en-US" sz="1900" dirty="0">
              <a:latin typeface="微软雅黑" panose="020B0503020204020204" pitchFamily="34" charset="-122"/>
              <a:ea typeface="微软雅黑" panose="020B0503020204020204" pitchFamily="34" charset="-122"/>
            </a:endParaRPr>
          </a:p>
          <a:p>
            <a:pPr>
              <a:lnSpc>
                <a:spcPct val="110000"/>
              </a:lnSpc>
              <a:spcBef>
                <a:spcPct val="25000"/>
              </a:spcBef>
            </a:pPr>
            <a:r>
              <a:rPr lang="zh-CN" altLang="en-US" sz="1900" dirty="0">
                <a:solidFill>
                  <a:schemeClr val="accent1"/>
                </a:solidFill>
                <a:latin typeface="微软雅黑" panose="020B0503020204020204" pitchFamily="34" charset="-122"/>
                <a:ea typeface="微软雅黑" panose="020B0503020204020204" pitchFamily="34" charset="-122"/>
              </a:rPr>
              <a:t>指令地址计算并将其送</a:t>
            </a:r>
            <a:r>
              <a:rPr lang="en-US" altLang="zh-CN" sz="1900">
                <a:solidFill>
                  <a:schemeClr val="accent1"/>
                </a:solidFill>
                <a:latin typeface="微软雅黑" panose="020B0503020204020204" pitchFamily="34" charset="-122"/>
                <a:ea typeface="微软雅黑" panose="020B0503020204020204" pitchFamily="34" charset="-122"/>
              </a:rPr>
              <a:t>PC</a:t>
            </a:r>
            <a:r>
              <a:rPr lang="zh-CN" altLang="en-US" sz="1900" dirty="0">
                <a:solidFill>
                  <a:schemeClr val="accent1"/>
                </a:solidFill>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顺序执行时，</a:t>
            </a:r>
            <a:r>
              <a:rPr lang="en-US" altLang="zh-CN" sz="1900">
                <a:latin typeface="微软雅黑" panose="020B0503020204020204" pitchFamily="34" charset="-122"/>
                <a:ea typeface="微软雅黑" panose="020B0503020204020204" pitchFamily="34" charset="-122"/>
              </a:rPr>
              <a:t>PC</a:t>
            </a:r>
            <a:r>
              <a:rPr lang="zh-CN" altLang="en-US" sz="1900" dirty="0">
                <a:latin typeface="微软雅黑" panose="020B0503020204020204" pitchFamily="34" charset="-122"/>
                <a:ea typeface="微软雅黑" panose="020B0503020204020204" pitchFamily="34" charset="-122"/>
              </a:rPr>
              <a:t>加上当前指令长度；遇到转移类指令时，则需要根据条件码、操作码和寻址方式等确定下条指令地址。</a:t>
            </a: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7731">
                                            <p:txEl>
                                              <p:charRg st="0" end="33"/>
                                            </p:txEl>
                                          </p:spTgt>
                                        </p:tgtEl>
                                        <p:attrNameLst>
                                          <p:attrName>style.visibility</p:attrName>
                                        </p:attrNameLst>
                                      </p:cBhvr>
                                      <p:to>
                                        <p:strVal val="visible"/>
                                      </p:to>
                                    </p:set>
                                    <p:animEffect transition="in" filter="blinds(horizontal)">
                                      <p:cBhvr>
                                        <p:cTn id="7" dur="500"/>
                                        <p:tgtEl>
                                          <p:spTgt spid="457731">
                                            <p:txEl>
                                              <p:charRg st="0" end="3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7731">
                                            <p:txEl>
                                              <p:charRg st="33" end="143"/>
                                            </p:txEl>
                                          </p:spTgt>
                                        </p:tgtEl>
                                        <p:attrNameLst>
                                          <p:attrName>style.visibility</p:attrName>
                                        </p:attrNameLst>
                                      </p:cBhvr>
                                      <p:to>
                                        <p:strVal val="visible"/>
                                      </p:to>
                                    </p:set>
                                    <p:animEffect transition="in" filter="blinds(horizontal)">
                                      <p:cBhvr>
                                        <p:cTn id="10" dur="500"/>
                                        <p:tgtEl>
                                          <p:spTgt spid="457731">
                                            <p:txEl>
                                              <p:charRg st="33" end="14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57731">
                                            <p:txEl>
                                              <p:charRg st="143" end="173"/>
                                            </p:txEl>
                                          </p:spTgt>
                                        </p:tgtEl>
                                        <p:attrNameLst>
                                          <p:attrName>style.visibility</p:attrName>
                                        </p:attrNameLst>
                                      </p:cBhvr>
                                      <p:to>
                                        <p:strVal val="visible"/>
                                      </p:to>
                                    </p:set>
                                    <p:animEffect transition="in" filter="blinds(horizontal)">
                                      <p:cBhvr>
                                        <p:cTn id="15" dur="500"/>
                                        <p:tgtEl>
                                          <p:spTgt spid="457731">
                                            <p:txEl>
                                              <p:charRg st="143" end="17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57731">
                                            <p:txEl>
                                              <p:charRg st="173" end="246"/>
                                            </p:txEl>
                                          </p:spTgt>
                                        </p:tgtEl>
                                        <p:attrNameLst>
                                          <p:attrName>style.visibility</p:attrName>
                                        </p:attrNameLst>
                                      </p:cBhvr>
                                      <p:to>
                                        <p:strVal val="visible"/>
                                      </p:to>
                                    </p:set>
                                    <p:animEffect transition="in" filter="blinds(horizontal)">
                                      <p:cBhvr>
                                        <p:cTn id="18" dur="500"/>
                                        <p:tgtEl>
                                          <p:spTgt spid="457731">
                                            <p:txEl>
                                              <p:charRg st="173" end="24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57731">
                                            <p:txEl>
                                              <p:charRg st="246" end="345"/>
                                            </p:txEl>
                                          </p:spTgt>
                                        </p:tgtEl>
                                        <p:attrNameLst>
                                          <p:attrName>style.visibility</p:attrName>
                                        </p:attrNameLst>
                                      </p:cBhvr>
                                      <p:to>
                                        <p:strVal val="visible"/>
                                      </p:to>
                                    </p:set>
                                    <p:animEffect transition="in" filter="blinds(horizontal)">
                                      <p:cBhvr>
                                        <p:cTn id="23" dur="500"/>
                                        <p:tgtEl>
                                          <p:spTgt spid="457731">
                                            <p:txEl>
                                              <p:charRg st="246" end="34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57731">
                                            <p:txEl>
                                              <p:charRg st="345" end="380"/>
                                            </p:txEl>
                                          </p:spTgt>
                                        </p:tgtEl>
                                        <p:attrNameLst>
                                          <p:attrName>style.visibility</p:attrName>
                                        </p:attrNameLst>
                                      </p:cBhvr>
                                      <p:to>
                                        <p:strVal val="visible"/>
                                      </p:to>
                                    </p:set>
                                    <p:animEffect transition="in" filter="blinds(horizontal)">
                                      <p:cBhvr>
                                        <p:cTn id="28" dur="500"/>
                                        <p:tgtEl>
                                          <p:spTgt spid="457731">
                                            <p:txEl>
                                              <p:charRg st="345" end="38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57731">
                                            <p:txEl>
                                              <p:charRg st="380" end="468"/>
                                            </p:txEl>
                                          </p:spTgt>
                                        </p:tgtEl>
                                        <p:attrNameLst>
                                          <p:attrName>style.visibility</p:attrName>
                                        </p:attrNameLst>
                                      </p:cBhvr>
                                      <p:to>
                                        <p:strVal val="visible"/>
                                      </p:to>
                                    </p:set>
                                    <p:animEffect transition="in" filter="blinds(horizontal)">
                                      <p:cBhvr>
                                        <p:cTn id="33" dur="500"/>
                                        <p:tgtEl>
                                          <p:spTgt spid="457731">
                                            <p:txEl>
                                              <p:charRg st="380" end="46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57731">
                                            <p:txEl>
                                              <p:charRg st="468" end="536"/>
                                            </p:txEl>
                                          </p:spTgt>
                                        </p:tgtEl>
                                        <p:attrNameLst>
                                          <p:attrName>style.visibility</p:attrName>
                                        </p:attrNameLst>
                                      </p:cBhvr>
                                      <p:to>
                                        <p:strVal val="visible"/>
                                      </p:to>
                                    </p:set>
                                    <p:animEffect transition="in" filter="blinds(horizontal)">
                                      <p:cBhvr>
                                        <p:cTn id="38" dur="500"/>
                                        <p:tgtEl>
                                          <p:spTgt spid="457731">
                                            <p:txEl>
                                              <p:charRg st="468" end="5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标题 392193"/>
          <p:cNvSpPr>
            <a:spLocks noGrp="1"/>
          </p:cNvSpPr>
          <p:nvPr>
            <p:ph type="title"/>
          </p:nvPr>
        </p:nvSpPr>
        <p:spPr>
          <a:xfrm>
            <a:off x="236538" y="171450"/>
            <a:ext cx="8807450" cy="528638"/>
          </a:xfrm>
          <a:ln/>
        </p:spPr>
        <p:txBody>
          <a:bodyPr lIns="63500" tIns="25400" rIns="63500" bIns="25400" anchor="t" anchorCtr="0">
            <a:spAutoFit/>
          </a:bodyPr>
          <a:p>
            <a:r>
              <a:rPr lang="zh-CN" altLang="en-US" dirty="0"/>
              <a:t>机器指令的执行过程</a:t>
            </a:r>
            <a:endParaRPr lang="zh-CN" altLang="en-US" dirty="0"/>
          </a:p>
        </p:txBody>
      </p:sp>
      <p:sp>
        <p:nvSpPr>
          <p:cNvPr id="392195" name="内容占位符 392194"/>
          <p:cNvSpPr>
            <a:spLocks noGrp="1"/>
          </p:cNvSpPr>
          <p:nvPr>
            <p:ph idx="1"/>
          </p:nvPr>
        </p:nvSpPr>
        <p:spPr>
          <a:xfrm>
            <a:off x="128588" y="896938"/>
            <a:ext cx="8902700" cy="5051425"/>
          </a:xfrm>
          <a:ln/>
        </p:spPr>
        <p:txBody>
          <a:bodyPr wrap="square" lIns="63500" tIns="25400" rIns="63500" bIns="25400" anchor="t" anchorCtr="0">
            <a:spAutoFit/>
          </a:bodyPr>
          <a:p>
            <a:pPr>
              <a:lnSpc>
                <a:spcPct val="115000"/>
              </a:lnSpc>
              <a:spcBef>
                <a:spcPct val="25000"/>
              </a:spcBef>
            </a:pPr>
            <a:r>
              <a:rPr lang="zh-CN" altLang="en-US" sz="2200" dirty="0">
                <a:latin typeface="微软雅黑" panose="020B0503020204020204" pitchFamily="34" charset="-122"/>
                <a:ea typeface="微软雅黑" panose="020B0503020204020204" pitchFamily="34" charset="-122"/>
              </a:rPr>
              <a:t>每条指令的功能总是由以下四种基本操作来实现：</a:t>
            </a:r>
            <a:endParaRPr lang="zh-CN" altLang="en-US" sz="2200" dirty="0">
              <a:latin typeface="微软雅黑" panose="020B0503020204020204" pitchFamily="34" charset="-122"/>
              <a:ea typeface="微软雅黑" panose="020B0503020204020204" pitchFamily="34" charset="-122"/>
            </a:endParaRPr>
          </a:p>
          <a:p>
            <a:pPr lvl="1">
              <a:lnSpc>
                <a:spcPct val="115000"/>
              </a:lnSpc>
              <a:spcBef>
                <a:spcPct val="25000"/>
              </a:spcBef>
              <a:buNone/>
            </a:pPr>
            <a:r>
              <a:rPr lang="zh-CN" altLang="en-US" sz="2200" dirty="0">
                <a:latin typeface="微软雅黑" panose="020B0503020204020204" pitchFamily="34" charset="-122"/>
                <a:ea typeface="微软雅黑" panose="020B0503020204020204" pitchFamily="34" charset="-122"/>
              </a:rPr>
              <a:t>读取某一主存单元的内容，并将其装入某个寄存器</a:t>
            </a:r>
            <a:r>
              <a:rPr lang="zh-CN" altLang="en-US" sz="2200" dirty="0">
                <a:solidFill>
                  <a:srgbClr val="993300"/>
                </a:solidFill>
                <a:latin typeface="微软雅黑" panose="020B0503020204020204" pitchFamily="34" charset="-122"/>
                <a:ea typeface="微软雅黑" panose="020B0503020204020204" pitchFamily="34" charset="-122"/>
              </a:rPr>
              <a:t>（取指， 取数）</a:t>
            </a:r>
            <a:endParaRPr lang="zh-CN" altLang="en-US" sz="2200" dirty="0">
              <a:solidFill>
                <a:srgbClr val="993300"/>
              </a:solidFill>
              <a:latin typeface="微软雅黑" panose="020B0503020204020204" pitchFamily="34" charset="-122"/>
              <a:ea typeface="微软雅黑" panose="020B0503020204020204" pitchFamily="34" charset="-122"/>
            </a:endParaRPr>
          </a:p>
          <a:p>
            <a:pPr lvl="1">
              <a:lnSpc>
                <a:spcPct val="115000"/>
              </a:lnSpc>
              <a:spcBef>
                <a:spcPct val="25000"/>
              </a:spcBef>
              <a:buNone/>
            </a:pPr>
            <a:r>
              <a:rPr lang="zh-CN" altLang="en-US" sz="2200" dirty="0">
                <a:latin typeface="微软雅黑" panose="020B0503020204020204" pitchFamily="34" charset="-122"/>
                <a:ea typeface="微软雅黑" panose="020B0503020204020204" pitchFamily="34" charset="-122"/>
              </a:rPr>
              <a:t>把一个数据从某个寄存器存入给定的主存单元中</a:t>
            </a:r>
            <a:r>
              <a:rPr lang="zh-CN" altLang="en-US" sz="2200" dirty="0">
                <a:solidFill>
                  <a:srgbClr val="993300"/>
                </a:solidFill>
                <a:latin typeface="微软雅黑" panose="020B0503020204020204" pitchFamily="34" charset="-122"/>
                <a:ea typeface="微软雅黑" panose="020B0503020204020204" pitchFamily="34" charset="-122"/>
              </a:rPr>
              <a:t>（存结果）</a:t>
            </a:r>
            <a:endParaRPr lang="zh-CN" altLang="en-US" sz="2200" dirty="0">
              <a:solidFill>
                <a:srgbClr val="993300"/>
              </a:solidFill>
              <a:latin typeface="微软雅黑" panose="020B0503020204020204" pitchFamily="34" charset="-122"/>
              <a:ea typeface="微软雅黑" panose="020B0503020204020204" pitchFamily="34" charset="-122"/>
            </a:endParaRPr>
          </a:p>
          <a:p>
            <a:pPr lvl="1">
              <a:lnSpc>
                <a:spcPct val="115000"/>
              </a:lnSpc>
              <a:spcBef>
                <a:spcPct val="25000"/>
              </a:spcBef>
              <a:buNone/>
            </a:pPr>
            <a:r>
              <a:rPr lang="zh-CN" altLang="en-US" sz="2200" dirty="0">
                <a:latin typeface="微软雅黑" panose="020B0503020204020204" pitchFamily="34" charset="-122"/>
                <a:ea typeface="微软雅黑" panose="020B0503020204020204" pitchFamily="34" charset="-122"/>
              </a:rPr>
              <a:t>把一个数据从某寄存器送到另一寄存器或者</a:t>
            </a:r>
            <a:r>
              <a:rPr lang="en-US" altLang="zh-CN" sz="2200">
                <a:latin typeface="微软雅黑" panose="020B0503020204020204" pitchFamily="34" charset="-122"/>
                <a:ea typeface="微软雅黑" panose="020B0503020204020204" pitchFamily="34" charset="-122"/>
              </a:rPr>
              <a:t>ALU</a:t>
            </a:r>
            <a:r>
              <a:rPr lang="zh-CN" altLang="en-US" sz="2200" dirty="0">
                <a:solidFill>
                  <a:srgbClr val="993300"/>
                </a:solidFill>
                <a:latin typeface="微软雅黑" panose="020B0503020204020204" pitchFamily="34" charset="-122"/>
                <a:ea typeface="微软雅黑" panose="020B0503020204020204" pitchFamily="34" charset="-122"/>
              </a:rPr>
              <a:t>（取数，存结果）</a:t>
            </a:r>
            <a:endParaRPr lang="zh-CN" altLang="en-US" sz="2200" dirty="0">
              <a:solidFill>
                <a:srgbClr val="993300"/>
              </a:solidFill>
              <a:latin typeface="微软雅黑" panose="020B0503020204020204" pitchFamily="34" charset="-122"/>
              <a:ea typeface="微软雅黑" panose="020B0503020204020204" pitchFamily="34" charset="-122"/>
            </a:endParaRPr>
          </a:p>
          <a:p>
            <a:pPr lvl="1">
              <a:lnSpc>
                <a:spcPct val="115000"/>
              </a:lnSpc>
              <a:spcBef>
                <a:spcPct val="25000"/>
              </a:spcBef>
              <a:buNone/>
            </a:pPr>
            <a:r>
              <a:rPr lang="zh-CN" altLang="en-US" sz="2200" dirty="0">
                <a:latin typeface="微软雅黑" panose="020B0503020204020204" pitchFamily="34" charset="-122"/>
                <a:ea typeface="微软雅黑" panose="020B0503020204020204" pitchFamily="34" charset="-122"/>
              </a:rPr>
              <a:t>进行算术或逻辑运算</a:t>
            </a:r>
            <a:r>
              <a:rPr lang="zh-CN" altLang="en-US" sz="2200" dirty="0">
                <a:solidFill>
                  <a:srgbClr val="993300"/>
                </a:solidFill>
                <a:latin typeface="微软雅黑" panose="020B0503020204020204" pitchFamily="34" charset="-122"/>
                <a:ea typeface="微软雅黑" panose="020B0503020204020204" pitchFamily="34" charset="-122"/>
              </a:rPr>
              <a:t>（</a:t>
            </a:r>
            <a:r>
              <a:rPr lang="en-US" altLang="zh-CN" sz="2200">
                <a:solidFill>
                  <a:srgbClr val="993300"/>
                </a:solidFill>
                <a:latin typeface="微软雅黑" panose="020B0503020204020204" pitchFamily="34" charset="-122"/>
                <a:ea typeface="微软雅黑" panose="020B0503020204020204" pitchFamily="34" charset="-122"/>
              </a:rPr>
              <a:t>PC+1</a:t>
            </a:r>
            <a:r>
              <a:rPr lang="zh-CN" altLang="en-US" sz="2200" dirty="0">
                <a:solidFill>
                  <a:srgbClr val="993300"/>
                </a:solidFill>
                <a:latin typeface="微软雅黑" panose="020B0503020204020204" pitchFamily="34" charset="-122"/>
                <a:ea typeface="微软雅黑" panose="020B0503020204020204" pitchFamily="34" charset="-122"/>
              </a:rPr>
              <a:t>，计算地址，运算）</a:t>
            </a:r>
            <a:endParaRPr lang="zh-CN" altLang="en-US" sz="2200" dirty="0">
              <a:solidFill>
                <a:srgbClr val="993300"/>
              </a:solidFill>
              <a:latin typeface="微软雅黑" panose="020B0503020204020204" pitchFamily="34" charset="-122"/>
              <a:ea typeface="微软雅黑" panose="020B0503020204020204" pitchFamily="34" charset="-122"/>
            </a:endParaRPr>
          </a:p>
          <a:p>
            <a:pPr lvl="1">
              <a:lnSpc>
                <a:spcPct val="115000"/>
              </a:lnSpc>
              <a:spcBef>
                <a:spcPct val="25000"/>
              </a:spcBef>
              <a:buNone/>
            </a:pPr>
            <a:r>
              <a:rPr lang="zh-CN" altLang="en-US" sz="2200" dirty="0">
                <a:solidFill>
                  <a:srgbClr val="006600"/>
                </a:solidFill>
                <a:latin typeface="微软雅黑" panose="020B0503020204020204" pitchFamily="34" charset="-122"/>
                <a:ea typeface="微软雅黑" panose="020B0503020204020204" pitchFamily="34" charset="-122"/>
              </a:rPr>
              <a:t>指令执行过程中查询各种异常情况，并在发现异常时转异常处理</a:t>
            </a:r>
            <a:endParaRPr lang="zh-CN" altLang="en-US" sz="2200" dirty="0">
              <a:solidFill>
                <a:srgbClr val="006600"/>
              </a:solidFill>
              <a:latin typeface="微软雅黑" panose="020B0503020204020204" pitchFamily="34" charset="-122"/>
              <a:ea typeface="微软雅黑" panose="020B0503020204020204" pitchFamily="34" charset="-122"/>
            </a:endParaRPr>
          </a:p>
          <a:p>
            <a:pPr lvl="1">
              <a:lnSpc>
                <a:spcPct val="115000"/>
              </a:lnSpc>
              <a:spcBef>
                <a:spcPct val="25000"/>
              </a:spcBef>
              <a:buNone/>
            </a:pPr>
            <a:r>
              <a:rPr lang="zh-CN" altLang="en-US" sz="2200" dirty="0">
                <a:solidFill>
                  <a:srgbClr val="006600"/>
                </a:solidFill>
                <a:latin typeface="微软雅黑" panose="020B0503020204020204" pitchFamily="34" charset="-122"/>
                <a:ea typeface="微软雅黑" panose="020B0503020204020204" pitchFamily="34" charset="-122"/>
              </a:rPr>
              <a:t>指令执行结束时查询中断请求，并在发现中断请求时响应中断</a:t>
            </a:r>
            <a:endParaRPr lang="zh-CN" altLang="en-US" sz="2200" dirty="0">
              <a:solidFill>
                <a:srgbClr val="006600"/>
              </a:solidFill>
              <a:latin typeface="微软雅黑" panose="020B0503020204020204" pitchFamily="34" charset="-122"/>
              <a:ea typeface="微软雅黑" panose="020B0503020204020204" pitchFamily="34" charset="-122"/>
            </a:endParaRPr>
          </a:p>
          <a:p>
            <a:pPr>
              <a:lnSpc>
                <a:spcPct val="115000"/>
              </a:lnSpc>
              <a:spcBef>
                <a:spcPct val="25000"/>
              </a:spcBef>
            </a:pPr>
            <a:r>
              <a:rPr lang="zh-CN" altLang="en-US" sz="2200" dirty="0">
                <a:latin typeface="微软雅黑" panose="020B0503020204020204" pitchFamily="34" charset="-122"/>
                <a:ea typeface="微软雅黑" panose="020B0503020204020204" pitchFamily="34" charset="-122"/>
              </a:rPr>
              <a:t>操作功能可形式化描述</a:t>
            </a:r>
            <a:endParaRPr lang="zh-CN" altLang="en-US" sz="2200" dirty="0">
              <a:latin typeface="微软雅黑" panose="020B0503020204020204" pitchFamily="34" charset="-122"/>
              <a:ea typeface="微软雅黑" panose="020B0503020204020204" pitchFamily="34" charset="-122"/>
            </a:endParaRPr>
          </a:p>
          <a:p>
            <a:pPr lvl="1">
              <a:lnSpc>
                <a:spcPct val="115000"/>
              </a:lnSpc>
              <a:spcBef>
                <a:spcPct val="25000"/>
              </a:spcBef>
              <a:buNone/>
            </a:pPr>
            <a:r>
              <a:rPr lang="zh-CN" altLang="en-US" sz="2200" dirty="0">
                <a:latin typeface="微软雅黑" panose="020B0503020204020204" pitchFamily="34" charset="-122"/>
                <a:ea typeface="微软雅黑" panose="020B0503020204020204" pitchFamily="34" charset="-122"/>
              </a:rPr>
              <a:t>描述语言称为寄存器传送语言</a:t>
            </a:r>
            <a:r>
              <a:rPr lang="en-US" altLang="zh-CN" sz="2200">
                <a:latin typeface="微软雅黑" panose="020B0503020204020204" pitchFamily="34" charset="-122"/>
                <a:ea typeface="微软雅黑" panose="020B0503020204020204" pitchFamily="34" charset="-122"/>
              </a:rPr>
              <a:t>RTL (Register Transfer Language)</a:t>
            </a:r>
            <a:endParaRPr lang="zh-CN" altLang="en-US" sz="2200" dirty="0">
              <a:latin typeface="微软雅黑" panose="020B0503020204020204" pitchFamily="34" charset="-122"/>
              <a:ea typeface="微软雅黑" panose="020B0503020204020204" pitchFamily="34" charset="-122"/>
            </a:endParaRPr>
          </a:p>
          <a:p>
            <a:pPr lvl="1">
              <a:lnSpc>
                <a:spcPct val="115000"/>
              </a:lnSpc>
              <a:spcBef>
                <a:spcPct val="25000"/>
              </a:spcBef>
              <a:buNone/>
            </a:pP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2195">
                                            <p:txEl>
                                              <p:charRg st="23" end="54"/>
                                            </p:txEl>
                                          </p:spTgt>
                                        </p:tgtEl>
                                        <p:attrNameLst>
                                          <p:attrName>style.visibility</p:attrName>
                                        </p:attrNameLst>
                                      </p:cBhvr>
                                      <p:to>
                                        <p:strVal val="visible"/>
                                      </p:to>
                                    </p:set>
                                    <p:animEffect transition="in" filter="blinds(horizontal)">
                                      <p:cBhvr>
                                        <p:cTn id="7" dur="500"/>
                                        <p:tgtEl>
                                          <p:spTgt spid="392195">
                                            <p:txEl>
                                              <p:charRg st="23" end="5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2195">
                                            <p:txEl>
                                              <p:charRg st="54" end="81"/>
                                            </p:txEl>
                                          </p:spTgt>
                                        </p:tgtEl>
                                        <p:attrNameLst>
                                          <p:attrName>style.visibility</p:attrName>
                                        </p:attrNameLst>
                                      </p:cBhvr>
                                      <p:to>
                                        <p:strVal val="visible"/>
                                      </p:to>
                                    </p:set>
                                    <p:animEffect transition="in" filter="blinds(horizontal)">
                                      <p:cBhvr>
                                        <p:cTn id="12" dur="500"/>
                                        <p:tgtEl>
                                          <p:spTgt spid="392195">
                                            <p:txEl>
                                              <p:charRg st="54" end="8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2195">
                                            <p:txEl>
                                              <p:charRg st="81" end="112"/>
                                            </p:txEl>
                                          </p:spTgt>
                                        </p:tgtEl>
                                        <p:attrNameLst>
                                          <p:attrName>style.visibility</p:attrName>
                                        </p:attrNameLst>
                                      </p:cBhvr>
                                      <p:to>
                                        <p:strVal val="visible"/>
                                      </p:to>
                                    </p:set>
                                    <p:animEffect transition="in" filter="blinds(horizontal)">
                                      <p:cBhvr>
                                        <p:cTn id="17" dur="500"/>
                                        <p:tgtEl>
                                          <p:spTgt spid="392195">
                                            <p:txEl>
                                              <p:charRg st="81" end="11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92195">
                                            <p:txEl>
                                              <p:charRg st="112" end="136"/>
                                            </p:txEl>
                                          </p:spTgt>
                                        </p:tgtEl>
                                        <p:attrNameLst>
                                          <p:attrName>style.visibility</p:attrName>
                                        </p:attrNameLst>
                                      </p:cBhvr>
                                      <p:to>
                                        <p:strVal val="visible"/>
                                      </p:to>
                                    </p:set>
                                    <p:animEffect transition="in" filter="blinds(horizontal)">
                                      <p:cBhvr>
                                        <p:cTn id="22" dur="500"/>
                                        <p:tgtEl>
                                          <p:spTgt spid="392195">
                                            <p:txEl>
                                              <p:charRg st="112" end="13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92195">
                                            <p:txEl>
                                              <p:charRg st="136" end="165"/>
                                            </p:txEl>
                                          </p:spTgt>
                                        </p:tgtEl>
                                        <p:attrNameLst>
                                          <p:attrName>style.visibility</p:attrName>
                                        </p:attrNameLst>
                                      </p:cBhvr>
                                      <p:to>
                                        <p:strVal val="visible"/>
                                      </p:to>
                                    </p:set>
                                    <p:animEffect transition="in" filter="blinds(horizontal)">
                                      <p:cBhvr>
                                        <p:cTn id="27" dur="500"/>
                                        <p:tgtEl>
                                          <p:spTgt spid="392195">
                                            <p:txEl>
                                              <p:charRg st="136" end="16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92195">
                                            <p:txEl>
                                              <p:charRg st="165" end="193"/>
                                            </p:txEl>
                                          </p:spTgt>
                                        </p:tgtEl>
                                        <p:attrNameLst>
                                          <p:attrName>style.visibility</p:attrName>
                                        </p:attrNameLst>
                                      </p:cBhvr>
                                      <p:to>
                                        <p:strVal val="visible"/>
                                      </p:to>
                                    </p:set>
                                    <p:animEffect transition="in" filter="blinds(horizontal)">
                                      <p:cBhvr>
                                        <p:cTn id="32" dur="500"/>
                                        <p:tgtEl>
                                          <p:spTgt spid="392195">
                                            <p:txEl>
                                              <p:charRg st="165" end="19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92195">
                                            <p:txEl>
                                              <p:charRg st="204" end="250"/>
                                            </p:txEl>
                                          </p:spTgt>
                                        </p:tgtEl>
                                        <p:attrNameLst>
                                          <p:attrName>style.visibility</p:attrName>
                                        </p:attrNameLst>
                                      </p:cBhvr>
                                      <p:to>
                                        <p:strVal val="visible"/>
                                      </p:to>
                                    </p:set>
                                    <p:animEffect transition="in" filter="blinds(horizontal)">
                                      <p:cBhvr>
                                        <p:cTn id="37" dur="500"/>
                                        <p:tgtEl>
                                          <p:spTgt spid="392195">
                                            <p:txEl>
                                              <p:charRg st="204" end="2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标题 393217"/>
          <p:cNvSpPr>
            <a:spLocks noGrp="1"/>
          </p:cNvSpPr>
          <p:nvPr>
            <p:ph type="title"/>
          </p:nvPr>
        </p:nvSpPr>
        <p:spPr>
          <a:xfrm>
            <a:off x="444500" y="174625"/>
            <a:ext cx="7499350" cy="528638"/>
          </a:xfrm>
          <a:ln/>
        </p:spPr>
        <p:txBody>
          <a:bodyPr lIns="63500" tIns="25400" rIns="63500" bIns="25400" anchor="t" anchorCtr="0">
            <a:spAutoFit/>
          </a:bodyPr>
          <a:p>
            <a:r>
              <a:rPr lang="en-US" altLang="zh-CN"/>
              <a:t>CPU</a:t>
            </a:r>
            <a:r>
              <a:rPr lang="zh-CN" altLang="en-US" dirty="0"/>
              <a:t>基本组成原理图</a:t>
            </a:r>
            <a:endParaRPr lang="zh-CN" altLang="en-US" dirty="0"/>
          </a:p>
        </p:txBody>
      </p:sp>
      <p:pic>
        <p:nvPicPr>
          <p:cNvPr id="18434" name="图片 393219"/>
          <p:cNvPicPr>
            <a:picLocks noChangeAspect="1"/>
          </p:cNvPicPr>
          <p:nvPr/>
        </p:nvPicPr>
        <p:blipFill>
          <a:blip r:embed="rId1"/>
          <a:stretch>
            <a:fillRect/>
          </a:stretch>
        </p:blipFill>
        <p:spPr>
          <a:xfrm>
            <a:off x="600075" y="819150"/>
            <a:ext cx="8047038" cy="4451350"/>
          </a:xfrm>
          <a:prstGeom prst="rect">
            <a:avLst/>
          </a:prstGeom>
          <a:noFill/>
          <a:ln w="9525">
            <a:noFill/>
          </a:ln>
        </p:spPr>
      </p:pic>
      <p:grpSp>
        <p:nvGrpSpPr>
          <p:cNvPr id="393225" name="组合 393224"/>
          <p:cNvGrpSpPr/>
          <p:nvPr/>
        </p:nvGrpSpPr>
        <p:grpSpPr>
          <a:xfrm>
            <a:off x="127000" y="1397000"/>
            <a:ext cx="2695575" cy="4492625"/>
            <a:chOff x="90" y="960"/>
            <a:chExt cx="1698" cy="2830"/>
          </a:xfrm>
        </p:grpSpPr>
        <p:sp>
          <p:nvSpPr>
            <p:cNvPr id="18436" name="椭圆 393220"/>
            <p:cNvSpPr/>
            <p:nvPr/>
          </p:nvSpPr>
          <p:spPr>
            <a:xfrm>
              <a:off x="90" y="960"/>
              <a:ext cx="1698" cy="2214"/>
            </a:xfrm>
            <a:prstGeom prst="ellipse">
              <a:avLst/>
            </a:prstGeom>
            <a:noFill/>
            <a:ln w="50800" cap="flat" cmpd="sng">
              <a:solidFill>
                <a:srgbClr val="FE9AAB"/>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8437" name="文本框 393222"/>
            <p:cNvSpPr txBox="1"/>
            <p:nvPr/>
          </p:nvSpPr>
          <p:spPr>
            <a:xfrm>
              <a:off x="714" y="3540"/>
              <a:ext cx="822" cy="250"/>
            </a:xfrm>
            <a:prstGeom prst="rect">
              <a:avLst/>
            </a:prstGeom>
            <a:noFill/>
            <a:ln w="50800">
              <a:noFill/>
            </a:ln>
          </p:spPr>
          <p:txBody>
            <a:bodyPr anchor="t" anchorCtr="0">
              <a:spAutoFit/>
            </a:bodyPr>
            <a:p>
              <a:pPr eaLnBrk="0" hangingPunct="0">
                <a:spcBef>
                  <a:spcPct val="50000"/>
                </a:spcBef>
              </a:pPr>
              <a:r>
                <a:rPr lang="zh-CN" altLang="en-US" sz="2000" dirty="0">
                  <a:solidFill>
                    <a:srgbClr val="006600"/>
                  </a:solidFill>
                  <a:latin typeface="Times New Roman" panose="02020603050405020304" pitchFamily="18" charset="0"/>
                  <a:ea typeface="微软雅黑" panose="020B0503020204020204" pitchFamily="34" charset="-122"/>
                </a:rPr>
                <a:t>执行部件</a:t>
              </a:r>
              <a:endParaRPr lang="zh-CN" altLang="en-US" sz="2000" dirty="0">
                <a:solidFill>
                  <a:srgbClr val="006600"/>
                </a:solidFill>
                <a:latin typeface="Times New Roman" panose="02020603050405020304" pitchFamily="18" charset="0"/>
                <a:ea typeface="微软雅黑" panose="020B0503020204020204" pitchFamily="34" charset="-122"/>
              </a:endParaRPr>
            </a:p>
          </p:txBody>
        </p:sp>
        <p:sp>
          <p:nvSpPr>
            <p:cNvPr id="18438" name="直接连接符 393223"/>
            <p:cNvSpPr/>
            <p:nvPr/>
          </p:nvSpPr>
          <p:spPr>
            <a:xfrm flipH="1" flipV="1">
              <a:off x="1032" y="3186"/>
              <a:ext cx="54" cy="360"/>
            </a:xfrm>
            <a:prstGeom prst="line">
              <a:avLst/>
            </a:prstGeom>
            <a:ln w="50800" cap="flat" cmpd="sng">
              <a:solidFill>
                <a:srgbClr val="FE9AAB"/>
              </a:solidFill>
              <a:prstDash val="solid"/>
              <a:round/>
              <a:headEnd type="none" w="med" len="med"/>
              <a:tailEnd type="triangle" w="med" len="med"/>
            </a:ln>
          </p:spPr>
        </p:sp>
      </p:grpSp>
      <p:grpSp>
        <p:nvGrpSpPr>
          <p:cNvPr id="393228" name="组合 393227"/>
          <p:cNvGrpSpPr/>
          <p:nvPr/>
        </p:nvGrpSpPr>
        <p:grpSpPr>
          <a:xfrm>
            <a:off x="2941638" y="904875"/>
            <a:ext cx="4330700" cy="4760913"/>
            <a:chOff x="1926" y="528"/>
            <a:chExt cx="2532" cy="3411"/>
          </a:xfrm>
        </p:grpSpPr>
        <p:sp>
          <p:nvSpPr>
            <p:cNvPr id="18440" name="椭圆 393221"/>
            <p:cNvSpPr/>
            <p:nvPr/>
          </p:nvSpPr>
          <p:spPr>
            <a:xfrm>
              <a:off x="1926" y="528"/>
              <a:ext cx="2532" cy="2604"/>
            </a:xfrm>
            <a:prstGeom prst="ellipse">
              <a:avLst/>
            </a:prstGeom>
            <a:noFill/>
            <a:ln w="50800" cap="flat" cmpd="sng">
              <a:solidFill>
                <a:srgbClr val="FE9AAB"/>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8441" name="直接连接符 393225"/>
            <p:cNvSpPr/>
            <p:nvPr/>
          </p:nvSpPr>
          <p:spPr>
            <a:xfrm flipH="1" flipV="1">
              <a:off x="3474" y="3102"/>
              <a:ext cx="180" cy="540"/>
            </a:xfrm>
            <a:prstGeom prst="line">
              <a:avLst/>
            </a:prstGeom>
            <a:ln w="50800" cap="flat" cmpd="sng">
              <a:solidFill>
                <a:srgbClr val="FE9AAB"/>
              </a:solidFill>
              <a:prstDash val="solid"/>
              <a:round/>
              <a:headEnd type="none" w="med" len="med"/>
              <a:tailEnd type="triangle" w="med" len="med"/>
            </a:ln>
          </p:spPr>
        </p:sp>
        <p:sp>
          <p:nvSpPr>
            <p:cNvPr id="18442" name="文本框 393226"/>
            <p:cNvSpPr txBox="1"/>
            <p:nvPr/>
          </p:nvSpPr>
          <p:spPr>
            <a:xfrm>
              <a:off x="3324" y="3666"/>
              <a:ext cx="702" cy="273"/>
            </a:xfrm>
            <a:prstGeom prst="rect">
              <a:avLst/>
            </a:prstGeom>
            <a:noFill/>
            <a:ln w="50800">
              <a:noFill/>
            </a:ln>
          </p:spPr>
          <p:txBody>
            <a:bodyPr anchor="t" anchorCtr="0">
              <a:spAutoFit/>
            </a:bodyPr>
            <a:p>
              <a:pPr eaLnBrk="0" hangingPunct="0">
                <a:spcBef>
                  <a:spcPct val="50000"/>
                </a:spcBef>
              </a:pPr>
              <a:r>
                <a:rPr lang="zh-CN" altLang="en-US" sz="1900" dirty="0">
                  <a:solidFill>
                    <a:srgbClr val="006600"/>
                  </a:solidFill>
                  <a:latin typeface="Times New Roman" panose="02020603050405020304" pitchFamily="18" charset="0"/>
                  <a:ea typeface="微软雅黑" panose="020B0503020204020204" pitchFamily="34" charset="-122"/>
                </a:rPr>
                <a:t>控制部件</a:t>
              </a:r>
              <a:endParaRPr lang="zh-CN" altLang="en-US" sz="1900" dirty="0">
                <a:solidFill>
                  <a:srgbClr val="006600"/>
                </a:solidFill>
                <a:latin typeface="Times New Roman" panose="02020603050405020304" pitchFamily="18" charset="0"/>
                <a:ea typeface="微软雅黑" panose="020B0503020204020204" pitchFamily="34" charset="-122"/>
              </a:endParaRPr>
            </a:p>
          </p:txBody>
        </p:sp>
      </p:grpSp>
      <p:sp>
        <p:nvSpPr>
          <p:cNvPr id="393229" name="文本框 393228"/>
          <p:cNvSpPr txBox="1"/>
          <p:nvPr/>
        </p:nvSpPr>
        <p:spPr>
          <a:xfrm>
            <a:off x="114300" y="5938838"/>
            <a:ext cx="6935788" cy="762000"/>
          </a:xfrm>
          <a:prstGeom prst="rect">
            <a:avLst/>
          </a:prstGeom>
          <a:noFill/>
          <a:ln w="50800">
            <a:noFill/>
          </a:ln>
        </p:spPr>
        <p:txBody>
          <a:bodyPr anchor="t" anchorCtr="0">
            <a:spAutoFit/>
          </a:bodyPr>
          <a:p>
            <a:pPr eaLnBrk="0" hangingPunct="0">
              <a:spcBef>
                <a:spcPct val="20000"/>
              </a:spcBef>
            </a:pPr>
            <a:r>
              <a:rPr lang="en-US" altLang="zh-CN" sz="2000">
                <a:solidFill>
                  <a:schemeClr val="accent1"/>
                </a:solidFill>
                <a:latin typeface="微软雅黑" panose="020B0503020204020204" pitchFamily="34" charset="-122"/>
                <a:ea typeface="微软雅黑" panose="020B0503020204020204" pitchFamily="34" charset="-122"/>
              </a:rPr>
              <a:t>CPU </a:t>
            </a:r>
            <a:r>
              <a:rPr lang="zh-CN" altLang="en-US" sz="2000" dirty="0">
                <a:solidFill>
                  <a:schemeClr val="accent1"/>
                </a:solidFill>
                <a:latin typeface="微软雅黑" panose="020B0503020204020204" pitchFamily="34" charset="-122"/>
                <a:ea typeface="微软雅黑" panose="020B0503020204020204" pitchFamily="34" charset="-122"/>
              </a:rPr>
              <a:t>由 </a:t>
            </a:r>
            <a:r>
              <a:rPr lang="zh-CN" altLang="en-US" sz="2000" dirty="0">
                <a:solidFill>
                  <a:srgbClr val="006600"/>
                </a:solidFill>
                <a:latin typeface="微软雅黑" panose="020B0503020204020204" pitchFamily="34" charset="-122"/>
                <a:ea typeface="微软雅黑" panose="020B0503020204020204" pitchFamily="34" charset="-122"/>
              </a:rPr>
              <a:t>执行部件</a:t>
            </a:r>
            <a:r>
              <a:rPr lang="zh-CN" altLang="en-US" sz="2000" dirty="0">
                <a:solidFill>
                  <a:schemeClr val="accent1"/>
                </a:solidFill>
                <a:latin typeface="微软雅黑" panose="020B0503020204020204" pitchFamily="34" charset="-122"/>
                <a:ea typeface="微软雅黑" panose="020B0503020204020204" pitchFamily="34" charset="-122"/>
              </a:rPr>
              <a:t> 和 </a:t>
            </a:r>
            <a:r>
              <a:rPr lang="zh-CN" altLang="en-US" sz="2000" dirty="0">
                <a:solidFill>
                  <a:srgbClr val="006600"/>
                </a:solidFill>
                <a:latin typeface="微软雅黑" panose="020B0503020204020204" pitchFamily="34" charset="-122"/>
                <a:ea typeface="微软雅黑" panose="020B0503020204020204" pitchFamily="34" charset="-122"/>
              </a:rPr>
              <a:t>控制部件</a:t>
            </a:r>
            <a:r>
              <a:rPr lang="zh-CN" altLang="en-US" sz="2000" dirty="0">
                <a:solidFill>
                  <a:schemeClr val="accent1"/>
                </a:solidFill>
                <a:latin typeface="微软雅黑" panose="020B0503020204020204" pitchFamily="34" charset="-122"/>
                <a:ea typeface="微软雅黑" panose="020B0503020204020204" pitchFamily="34" charset="-122"/>
              </a:rPr>
              <a:t>组成</a:t>
            </a:r>
            <a:endParaRPr lang="zh-CN" altLang="en-US" sz="2000" dirty="0">
              <a:solidFill>
                <a:schemeClr val="accent1"/>
              </a:solidFill>
              <a:latin typeface="微软雅黑" panose="020B0503020204020204" pitchFamily="34" charset="-122"/>
              <a:ea typeface="微软雅黑" panose="020B0503020204020204" pitchFamily="34" charset="-122"/>
            </a:endParaRPr>
          </a:p>
          <a:p>
            <a:pPr eaLnBrk="0" hangingPunct="0">
              <a:spcBef>
                <a:spcPct val="20000"/>
              </a:spcBef>
            </a:pPr>
            <a:r>
              <a:rPr lang="en-US" altLang="zh-CN" sz="2000">
                <a:solidFill>
                  <a:schemeClr val="accent1"/>
                </a:solidFill>
                <a:latin typeface="微软雅黑" panose="020B0503020204020204" pitchFamily="34" charset="-122"/>
                <a:ea typeface="微软雅黑" panose="020B0503020204020204" pitchFamily="34" charset="-122"/>
              </a:rPr>
              <a:t>CPU </a:t>
            </a:r>
            <a:r>
              <a:rPr lang="zh-CN" altLang="en-US" sz="2000" dirty="0">
                <a:solidFill>
                  <a:schemeClr val="accent1"/>
                </a:solidFill>
                <a:latin typeface="微软雅黑" panose="020B0503020204020204" pitchFamily="34" charset="-122"/>
                <a:ea typeface="微软雅黑" panose="020B0503020204020204" pitchFamily="34" charset="-122"/>
              </a:rPr>
              <a:t>包含 </a:t>
            </a:r>
            <a:r>
              <a:rPr lang="zh-CN" altLang="en-US" sz="2000" dirty="0">
                <a:solidFill>
                  <a:srgbClr val="006600"/>
                </a:solidFill>
                <a:latin typeface="微软雅黑" panose="020B0503020204020204" pitchFamily="34" charset="-122"/>
                <a:ea typeface="微软雅黑" panose="020B0503020204020204" pitchFamily="34" charset="-122"/>
              </a:rPr>
              <a:t>数据通路</a:t>
            </a:r>
            <a:r>
              <a:rPr lang="en-US" altLang="zh-CN" sz="2000">
                <a:solidFill>
                  <a:srgbClr val="006600"/>
                </a:solidFill>
                <a:latin typeface="微软雅黑" panose="020B0503020204020204" pitchFamily="34" charset="-122"/>
                <a:ea typeface="微软雅黑" panose="020B0503020204020204" pitchFamily="34" charset="-122"/>
              </a:rPr>
              <a:t>(</a:t>
            </a:r>
            <a:r>
              <a:rPr lang="zh-CN" altLang="en-US" sz="2000" dirty="0">
                <a:solidFill>
                  <a:srgbClr val="006600"/>
                </a:solidFill>
                <a:latin typeface="微软雅黑" panose="020B0503020204020204" pitchFamily="34" charset="-122"/>
                <a:ea typeface="微软雅黑" panose="020B0503020204020204" pitchFamily="34" charset="-122"/>
              </a:rPr>
              <a:t>执行部件</a:t>
            </a:r>
            <a:r>
              <a:rPr lang="en-US" altLang="zh-CN" sz="2000">
                <a:solidFill>
                  <a:srgbClr val="006600"/>
                </a:solidFill>
                <a:latin typeface="微软雅黑" panose="020B0503020204020204" pitchFamily="34" charset="-122"/>
                <a:ea typeface="微软雅黑" panose="020B0503020204020204" pitchFamily="34" charset="-122"/>
              </a:rPr>
              <a:t>)</a:t>
            </a:r>
            <a:r>
              <a:rPr lang="en-US" altLang="zh-CN" sz="2000">
                <a:solidFill>
                  <a:schemeClr val="accent1"/>
                </a:solidFill>
                <a:latin typeface="微软雅黑" panose="020B0503020204020204" pitchFamily="34" charset="-122"/>
                <a:ea typeface="微软雅黑" panose="020B0503020204020204" pitchFamily="34" charset="-122"/>
              </a:rPr>
              <a:t> </a:t>
            </a:r>
            <a:r>
              <a:rPr lang="zh-CN" altLang="en-US" sz="2000" dirty="0">
                <a:solidFill>
                  <a:schemeClr val="accent1"/>
                </a:solidFill>
                <a:latin typeface="微软雅黑" panose="020B0503020204020204" pitchFamily="34" charset="-122"/>
                <a:ea typeface="微软雅黑" panose="020B0503020204020204" pitchFamily="34" charset="-122"/>
              </a:rPr>
              <a:t>和 </a:t>
            </a:r>
            <a:r>
              <a:rPr lang="zh-CN" altLang="en-US" sz="2000" dirty="0">
                <a:solidFill>
                  <a:srgbClr val="006600"/>
                </a:solidFill>
                <a:latin typeface="微软雅黑" panose="020B0503020204020204" pitchFamily="34" charset="-122"/>
                <a:ea typeface="微软雅黑" panose="020B0503020204020204" pitchFamily="34" charset="-122"/>
              </a:rPr>
              <a:t>控制器（控制部件）</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
        <p:nvSpPr>
          <p:cNvPr id="393230" name="文本框 393229"/>
          <p:cNvSpPr txBox="1"/>
          <p:nvPr/>
        </p:nvSpPr>
        <p:spPr>
          <a:xfrm>
            <a:off x="5011738" y="5635625"/>
            <a:ext cx="3879850" cy="701675"/>
          </a:xfrm>
          <a:prstGeom prst="rect">
            <a:avLst/>
          </a:prstGeom>
          <a:noFill/>
          <a:ln w="508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控制器 由 </a:t>
            </a:r>
            <a:r>
              <a:rPr lang="zh-CN" altLang="en-US" sz="2000" dirty="0">
                <a:solidFill>
                  <a:srgbClr val="993300"/>
                </a:solidFill>
                <a:latin typeface="微软雅黑" panose="020B0503020204020204" pitchFamily="34" charset="-122"/>
                <a:ea typeface="微软雅黑" panose="020B0503020204020204" pitchFamily="34" charset="-122"/>
              </a:rPr>
              <a:t>指令译码器</a:t>
            </a:r>
            <a:r>
              <a:rPr lang="zh-CN" altLang="en-US" sz="2000" dirty="0">
                <a:latin typeface="微软雅黑" panose="020B0503020204020204" pitchFamily="34" charset="-122"/>
                <a:ea typeface="微软雅黑" panose="020B0503020204020204" pitchFamily="34" charset="-122"/>
              </a:rPr>
              <a:t> 和 </a:t>
            </a:r>
            <a:r>
              <a:rPr lang="zh-CN" altLang="en-US" sz="2000" dirty="0">
                <a:solidFill>
                  <a:srgbClr val="993300"/>
                </a:solidFill>
                <a:latin typeface="微软雅黑" panose="020B0503020204020204" pitchFamily="34" charset="-122"/>
                <a:ea typeface="微软雅黑" panose="020B0503020204020204" pitchFamily="34" charset="-122"/>
              </a:rPr>
              <a:t>控制信号形成部件</a:t>
            </a:r>
            <a:r>
              <a:rPr lang="zh-CN" altLang="en-US" sz="2000" dirty="0">
                <a:latin typeface="微软雅黑" panose="020B0503020204020204" pitchFamily="34" charset="-122"/>
                <a:ea typeface="微软雅黑" panose="020B0503020204020204" pitchFamily="34" charset="-122"/>
              </a:rPr>
              <a:t> 组成</a:t>
            </a:r>
            <a:endParaRPr lang="zh-CN" altLang="en-US" sz="2000" dirty="0">
              <a:latin typeface="微软雅黑" panose="020B0503020204020204" pitchFamily="34" charset="-122"/>
              <a:ea typeface="微软雅黑" panose="020B0503020204020204" pitchFamily="34" charset="-122"/>
            </a:endParaRPr>
          </a:p>
        </p:txBody>
      </p:sp>
      <p:sp>
        <p:nvSpPr>
          <p:cNvPr id="18445" name="文本框 393230"/>
          <p:cNvSpPr txBox="1"/>
          <p:nvPr/>
        </p:nvSpPr>
        <p:spPr>
          <a:xfrm>
            <a:off x="6553200" y="228600"/>
            <a:ext cx="2171700" cy="701675"/>
          </a:xfrm>
          <a:prstGeom prst="rect">
            <a:avLst/>
          </a:prstGeom>
          <a:solidFill>
            <a:schemeClr val="bg1"/>
          </a:solidFill>
          <a:ln w="50800">
            <a:noFill/>
          </a:ln>
        </p:spPr>
        <p:txBody>
          <a:bodyPr anchor="t" anchorCtr="0">
            <a:spAutoFit/>
          </a:bodyPr>
          <a:p>
            <a:pPr eaLnBrk="0" hangingPunct="0"/>
            <a:r>
              <a:rPr lang="zh-CN" altLang="en-US" sz="2000" dirty="0">
                <a:solidFill>
                  <a:schemeClr val="accent2"/>
                </a:solidFill>
                <a:latin typeface="Arial" panose="020B0604020202020204" pitchFamily="34" charset="0"/>
                <a:ea typeface="黑体" panose="02010609060101010101" pitchFamily="49" charset="-122"/>
              </a:rPr>
              <a:t>指令寄存器</a:t>
            </a:r>
            <a:r>
              <a:rPr lang="en-US" altLang="zh-CN" sz="2000">
                <a:solidFill>
                  <a:schemeClr val="accent2"/>
                </a:solidFill>
                <a:latin typeface="Arial" panose="020B0604020202020204" pitchFamily="34" charset="0"/>
                <a:ea typeface="黑体" panose="02010609060101010101" pitchFamily="49" charset="-122"/>
              </a:rPr>
              <a:t>----IR</a:t>
            </a:r>
            <a:endParaRPr lang="en-US" altLang="zh-CN" sz="2000">
              <a:solidFill>
                <a:schemeClr val="accent2"/>
              </a:solidFill>
              <a:latin typeface="Arial" panose="020B0604020202020204" pitchFamily="34" charset="0"/>
              <a:ea typeface="黑体" panose="02010609060101010101" pitchFamily="49" charset="-122"/>
            </a:endParaRPr>
          </a:p>
          <a:p>
            <a:pPr eaLnBrk="0" hangingPunct="0"/>
            <a:r>
              <a:rPr lang="zh-CN" altLang="en-US" sz="2000" dirty="0">
                <a:solidFill>
                  <a:schemeClr val="accent2"/>
                </a:solidFill>
                <a:latin typeface="Arial" panose="020B0604020202020204" pitchFamily="34" charset="0"/>
                <a:ea typeface="黑体" panose="02010609060101010101" pitchFamily="49" charset="-122"/>
              </a:rPr>
              <a:t>程序计数器</a:t>
            </a:r>
            <a:r>
              <a:rPr lang="en-US" altLang="zh-CN" sz="2000">
                <a:solidFill>
                  <a:schemeClr val="accent2"/>
                </a:solidFill>
                <a:latin typeface="Arial" panose="020B0604020202020204" pitchFamily="34" charset="0"/>
                <a:ea typeface="黑体" panose="02010609060101010101" pitchFamily="49" charset="-122"/>
              </a:rPr>
              <a:t>---PC</a:t>
            </a:r>
            <a:endParaRPr lang="en-US" altLang="zh-CN" sz="2000">
              <a:solidFill>
                <a:schemeClr val="accent2"/>
              </a:solidFill>
              <a:latin typeface="Arial" panose="020B0604020202020204" pitchFamily="34" charset="0"/>
              <a:ea typeface="黑体" panose="02010609060101010101" pitchFamily="49" charset="-122"/>
            </a:endParaRPr>
          </a:p>
        </p:txBody>
      </p:sp>
      <p:sp>
        <p:nvSpPr>
          <p:cNvPr id="393233" name="文本框 393232"/>
          <p:cNvSpPr txBox="1"/>
          <p:nvPr/>
        </p:nvSpPr>
        <p:spPr>
          <a:xfrm>
            <a:off x="7083425" y="1058863"/>
            <a:ext cx="1960563" cy="1311275"/>
          </a:xfrm>
          <a:prstGeom prst="rect">
            <a:avLst/>
          </a:prstGeom>
          <a:noFill/>
          <a:ln w="50800">
            <a:noFill/>
          </a:ln>
        </p:spPr>
        <p:txBody>
          <a:bodyPr anchor="t" anchorCtr="0">
            <a:spAutoFit/>
          </a:bodyPr>
          <a:p>
            <a:pPr eaLnBrk="0" hangingPunct="0">
              <a:spcBef>
                <a:spcPct val="50000"/>
              </a:spcBef>
            </a:pPr>
            <a:r>
              <a:rPr lang="en-US" altLang="zh-CN" sz="2000">
                <a:solidFill>
                  <a:schemeClr val="accent1"/>
                </a:solidFill>
                <a:latin typeface="微软雅黑" panose="020B0503020204020204" pitchFamily="34" charset="-122"/>
                <a:ea typeface="微软雅黑" panose="020B0503020204020204" pitchFamily="34" charset="-122"/>
              </a:rPr>
              <a:t>CPU</a:t>
            </a:r>
            <a:r>
              <a:rPr lang="zh-CN" altLang="en-US" sz="2000" dirty="0">
                <a:solidFill>
                  <a:schemeClr val="accent1"/>
                </a:solidFill>
                <a:latin typeface="微软雅黑" panose="020B0503020204020204" pitchFamily="34" charset="-122"/>
                <a:ea typeface="微软雅黑" panose="020B0503020204020204" pitchFamily="34" charset="-122"/>
              </a:rPr>
              <a:t>功能：</a:t>
            </a:r>
            <a:r>
              <a:rPr lang="zh-CN" altLang="en-US" sz="2000" dirty="0">
                <a:latin typeface="微软雅黑" panose="020B0503020204020204" pitchFamily="34" charset="-122"/>
                <a:ea typeface="微软雅黑" panose="020B0503020204020204" pitchFamily="34" charset="-122"/>
              </a:rPr>
              <a:t>执行指令（最后一步查询并响应中断请求）</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3233"/>
                                        </p:tgtEl>
                                        <p:attrNameLst>
                                          <p:attrName>style.visibility</p:attrName>
                                        </p:attrNameLst>
                                      </p:cBhvr>
                                      <p:to>
                                        <p:strVal val="visible"/>
                                      </p:to>
                                    </p:set>
                                    <p:animEffect transition="in" filter="blinds(horizontal)">
                                      <p:cBhvr>
                                        <p:cTn id="7" dur="500"/>
                                        <p:tgtEl>
                                          <p:spTgt spid="3932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3225"/>
                                        </p:tgtEl>
                                        <p:attrNameLst>
                                          <p:attrName>style.visibility</p:attrName>
                                        </p:attrNameLst>
                                      </p:cBhvr>
                                      <p:to>
                                        <p:strVal val="visible"/>
                                      </p:to>
                                    </p:set>
                                    <p:animEffect transition="in" filter="blinds(horizontal)">
                                      <p:cBhvr>
                                        <p:cTn id="12" dur="500"/>
                                        <p:tgtEl>
                                          <p:spTgt spid="3932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3228"/>
                                        </p:tgtEl>
                                        <p:attrNameLst>
                                          <p:attrName>style.visibility</p:attrName>
                                        </p:attrNameLst>
                                      </p:cBhvr>
                                      <p:to>
                                        <p:strVal val="visible"/>
                                      </p:to>
                                    </p:set>
                                    <p:animEffect transition="in" filter="blinds(horizontal)">
                                      <p:cBhvr>
                                        <p:cTn id="17" dur="500"/>
                                        <p:tgtEl>
                                          <p:spTgt spid="39322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3229"/>
                                        </p:tgtEl>
                                        <p:attrNameLst>
                                          <p:attrName>style.visibility</p:attrName>
                                        </p:attrNameLst>
                                      </p:cBhvr>
                                      <p:to>
                                        <p:strVal val="visible"/>
                                      </p:to>
                                    </p:set>
                                    <p:animEffect transition="in" filter="blinds(horizontal)">
                                      <p:cBhvr>
                                        <p:cTn id="22" dur="500"/>
                                        <p:tgtEl>
                                          <p:spTgt spid="39322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93230"/>
                                        </p:tgtEl>
                                        <p:attrNameLst>
                                          <p:attrName>style.visibility</p:attrName>
                                        </p:attrNameLst>
                                      </p:cBhvr>
                                      <p:to>
                                        <p:strVal val="visible"/>
                                      </p:to>
                                    </p:set>
                                    <p:animEffect transition="in" filter="blinds(horizontal)">
                                      <p:cBhvr>
                                        <p:cTn id="27" dur="500"/>
                                        <p:tgtEl>
                                          <p:spTgt spid="393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9" grpId="0"/>
      <p:bldP spid="393230" grpId="0"/>
      <p:bldP spid="3932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545793"/>
          <p:cNvSpPr>
            <a:spLocks noGrp="1"/>
          </p:cNvSpPr>
          <p:nvPr>
            <p:ph type="title"/>
          </p:nvPr>
        </p:nvSpPr>
        <p:spPr>
          <a:xfrm>
            <a:off x="515938" y="57150"/>
            <a:ext cx="7499350" cy="581025"/>
          </a:xfrm>
          <a:ln/>
        </p:spPr>
        <p:txBody>
          <a:bodyPr lIns="63500" tIns="25400" rIns="63500" bIns="25400" anchor="t" anchorCtr="0">
            <a:spAutoFit/>
          </a:bodyPr>
          <a:p>
            <a:r>
              <a:rPr lang="zh-CN" altLang="en-US" sz="4000" dirty="0"/>
              <a:t>程序的执行机制</a:t>
            </a:r>
            <a:endParaRPr lang="zh-CN" altLang="en-US" sz="4000" dirty="0"/>
          </a:p>
        </p:txBody>
      </p:sp>
      <p:sp>
        <p:nvSpPr>
          <p:cNvPr id="19458" name="文本占位符 545794"/>
          <p:cNvSpPr>
            <a:spLocks noGrp="1"/>
          </p:cNvSpPr>
          <p:nvPr>
            <p:ph idx="1"/>
          </p:nvPr>
        </p:nvSpPr>
        <p:spPr>
          <a:xfrm>
            <a:off x="454025" y="715963"/>
            <a:ext cx="8229600" cy="6040437"/>
          </a:xfrm>
          <a:ln/>
        </p:spPr>
        <p:txBody>
          <a:bodyPr wrap="square" lIns="63500" tIns="25400" rIns="63500" bIns="25400" anchor="t" anchorCtr="0">
            <a:spAutoFit/>
          </a:bodyPr>
          <a:p>
            <a:r>
              <a:rPr lang="zh-CN" altLang="en-US" sz="2200" dirty="0">
                <a:latin typeface="微软雅黑" panose="020B0503020204020204" pitchFamily="34" charset="-122"/>
                <a:ea typeface="微软雅黑" panose="020B0503020204020204" pitchFamily="34" charset="-122"/>
              </a:rPr>
              <a:t>分以下三个部分介绍</a:t>
            </a:r>
            <a:endParaRPr lang="zh-CN" altLang="en-US" sz="2200" dirty="0">
              <a:latin typeface="微软雅黑" panose="020B0503020204020204" pitchFamily="34" charset="-122"/>
              <a:ea typeface="微软雅黑" panose="020B0503020204020204" pitchFamily="34" charset="-122"/>
            </a:endParaRPr>
          </a:p>
          <a:p>
            <a:pPr lvl="1">
              <a:spcBef>
                <a:spcPct val="30000"/>
              </a:spcBef>
            </a:pPr>
            <a:r>
              <a:rPr lang="zh-CN" altLang="en-US" sz="2200" dirty="0">
                <a:latin typeface="微软雅黑" panose="020B0503020204020204" pitchFamily="34" charset="-122"/>
                <a:ea typeface="微软雅黑" panose="020B0503020204020204" pitchFamily="34" charset="-122"/>
              </a:rPr>
              <a:t>第一讲：程序执行概述</a:t>
            </a:r>
            <a:endParaRPr lang="zh-CN" altLang="en-US" sz="2200" dirty="0">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程序及指令的执行过程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en-US" altLang="zh-CN" sz="2200">
                <a:solidFill>
                  <a:srgbClr val="006600"/>
                </a:solidFill>
                <a:latin typeface="微软雅黑" panose="020B0503020204020204" pitchFamily="34" charset="-122"/>
                <a:ea typeface="微软雅黑" panose="020B0503020204020204" pitchFamily="34" charset="-122"/>
              </a:rPr>
              <a:t>CPU</a:t>
            </a:r>
            <a:r>
              <a:rPr lang="zh-CN" altLang="en-US" sz="2200" dirty="0">
                <a:solidFill>
                  <a:srgbClr val="006600"/>
                </a:solidFill>
                <a:latin typeface="微软雅黑" panose="020B0503020204020204" pitchFamily="34" charset="-122"/>
                <a:ea typeface="微软雅黑" panose="020B0503020204020204" pitchFamily="34" charset="-122"/>
              </a:rPr>
              <a:t>的基本功能和基本组成</a:t>
            </a:r>
            <a:endParaRPr lang="zh-CN" altLang="en-US" sz="2200" dirty="0">
              <a:solidFill>
                <a:srgbClr val="006600"/>
              </a:solidFill>
              <a:latin typeface="微软雅黑" panose="020B0503020204020204" pitchFamily="34" charset="-122"/>
              <a:ea typeface="微软雅黑" panose="020B0503020204020204" pitchFamily="34" charset="-122"/>
            </a:endParaRPr>
          </a:p>
          <a:p>
            <a:pPr lvl="1">
              <a:spcBef>
                <a:spcPct val="30000"/>
              </a:spcBef>
            </a:pPr>
            <a:r>
              <a:rPr lang="zh-CN" altLang="en-US" sz="2200" dirty="0">
                <a:solidFill>
                  <a:schemeClr val="accent1"/>
                </a:solidFill>
                <a:latin typeface="微软雅黑" panose="020B0503020204020204" pitchFamily="34" charset="-122"/>
                <a:ea typeface="微软雅黑" panose="020B0503020204020204" pitchFamily="34" charset="-122"/>
              </a:rPr>
              <a:t>第二讲：数据通路基本结构和工作原理</a:t>
            </a:r>
            <a:endParaRPr lang="zh-CN" altLang="en-US" sz="2200" dirty="0">
              <a:solidFill>
                <a:schemeClr val="accent1"/>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数据通路基本结构</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数据通路的时序控制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数据通路基本工作原理</a:t>
            </a:r>
            <a:r>
              <a:rPr lang="zh-CN" altLang="en-US" sz="2200" dirty="0">
                <a:solidFill>
                  <a:srgbClr val="009900"/>
                </a:solidFill>
                <a:latin typeface="微软雅黑" panose="020B0503020204020204" pitchFamily="34" charset="-122"/>
                <a:ea typeface="微软雅黑" panose="020B0503020204020204" pitchFamily="34" charset="-122"/>
              </a:rPr>
              <a:t> </a:t>
            </a:r>
            <a:endParaRPr lang="zh-CN" altLang="en-US" sz="2200" dirty="0">
              <a:solidFill>
                <a:srgbClr val="009900"/>
              </a:solidFill>
              <a:latin typeface="微软雅黑" panose="020B0503020204020204" pitchFamily="34" charset="-122"/>
              <a:ea typeface="微软雅黑" panose="020B0503020204020204" pitchFamily="34" charset="-122"/>
            </a:endParaRPr>
          </a:p>
          <a:p>
            <a:pPr lvl="1">
              <a:spcBef>
                <a:spcPct val="30000"/>
              </a:spcBef>
            </a:pPr>
            <a:r>
              <a:rPr lang="zh-CN" altLang="en-US" sz="2200" dirty="0">
                <a:latin typeface="微软雅黑" panose="020B0503020204020204" pitchFamily="34" charset="-122"/>
                <a:ea typeface="微软雅黑" panose="020B0503020204020204" pitchFamily="34" charset="-122"/>
              </a:rPr>
              <a:t>第三讲：流水线方式下指令的执行 </a:t>
            </a:r>
            <a:endParaRPr lang="zh-CN" altLang="en-US" sz="2200" dirty="0">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指令流水线的基本原理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适合流水线的指令集特征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en-US" altLang="zh-CN" sz="2200">
                <a:solidFill>
                  <a:srgbClr val="006600"/>
                </a:solidFill>
                <a:latin typeface="微软雅黑" panose="020B0503020204020204" pitchFamily="34" charset="-122"/>
                <a:ea typeface="微软雅黑" panose="020B0503020204020204" pitchFamily="34" charset="-122"/>
              </a:rPr>
              <a:t>CISC</a:t>
            </a:r>
            <a:r>
              <a:rPr lang="zh-CN" altLang="en-US" sz="2200" dirty="0">
                <a:solidFill>
                  <a:srgbClr val="006600"/>
                </a:solidFill>
                <a:latin typeface="微软雅黑" panose="020B0503020204020204" pitchFamily="34" charset="-122"/>
                <a:ea typeface="微软雅黑" panose="020B0503020204020204" pitchFamily="34" charset="-122"/>
              </a:rPr>
              <a:t>和</a:t>
            </a:r>
            <a:r>
              <a:rPr lang="en-US" altLang="zh-CN" sz="2200">
                <a:solidFill>
                  <a:srgbClr val="006600"/>
                </a:solidFill>
                <a:latin typeface="微软雅黑" panose="020B0503020204020204" pitchFamily="34" charset="-122"/>
                <a:ea typeface="微软雅黑" panose="020B0503020204020204" pitchFamily="34" charset="-122"/>
              </a:rPr>
              <a:t>RISC</a:t>
            </a:r>
            <a:r>
              <a:rPr lang="zh-CN" altLang="en-US" sz="2200" dirty="0">
                <a:solidFill>
                  <a:srgbClr val="006600"/>
                </a:solidFill>
                <a:latin typeface="微软雅黑" panose="020B0503020204020204" pitchFamily="34" charset="-122"/>
                <a:ea typeface="微软雅黑" panose="020B0503020204020204" pitchFamily="34" charset="-122"/>
              </a:rPr>
              <a:t>风格指令集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指令流水线的实现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高级流水线实现技术</a:t>
            </a:r>
            <a:r>
              <a:rPr lang="zh-CN" altLang="en-US" sz="2000" dirty="0">
                <a:solidFill>
                  <a:srgbClr val="006600"/>
                </a:solidFill>
                <a:latin typeface="微软雅黑" panose="020B0503020204020204" pitchFamily="34" charset="-122"/>
                <a:ea typeface="微软雅黑" panose="020B0503020204020204" pitchFamily="34" charset="-122"/>
              </a:rPr>
              <a:t> </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77153"/>
          <p:cNvSpPr>
            <a:spLocks noGrp="1"/>
          </p:cNvSpPr>
          <p:nvPr>
            <p:ph type="title"/>
          </p:nvPr>
        </p:nvSpPr>
        <p:spPr>
          <a:xfrm>
            <a:off x="236538" y="128588"/>
            <a:ext cx="8710612" cy="528637"/>
          </a:xfrm>
          <a:ln/>
        </p:spPr>
        <p:txBody>
          <a:bodyPr vert="horz" wrap="square" lIns="63500" tIns="25400" rIns="63500" bIns="25400" anchor="t" anchorCtr="0">
            <a:spAutoFit/>
          </a:bodyPr>
          <a:p>
            <a:r>
              <a:rPr lang="zh-CN" altLang="en-US" dirty="0"/>
              <a:t>数据通路的位置</a:t>
            </a:r>
            <a:endParaRPr lang="zh-CN" altLang="en-US" dirty="0"/>
          </a:p>
        </p:txBody>
      </p:sp>
      <p:sp>
        <p:nvSpPr>
          <p:cNvPr id="177155" name="内容占位符 177154"/>
          <p:cNvSpPr>
            <a:spLocks noGrp="1"/>
          </p:cNvSpPr>
          <p:nvPr>
            <p:ph idx="1"/>
          </p:nvPr>
        </p:nvSpPr>
        <p:spPr>
          <a:xfrm>
            <a:off x="406400" y="762000"/>
            <a:ext cx="8483600" cy="5495925"/>
          </a:xfrm>
          <a:ln/>
        </p:spPr>
        <p:txBody>
          <a:bodyPr vert="horz" wrap="square" lIns="63500" tIns="25400" rIns="63500" bIns="25400" anchor="t" anchorCtr="0">
            <a:spAutoFit/>
          </a:bodyPr>
          <a:p>
            <a:r>
              <a:rPr lang="zh-CN" altLang="en-US" sz="2400" dirty="0">
                <a:ea typeface="微软雅黑" panose="020B0503020204020204" pitchFamily="34" charset="-122"/>
              </a:rPr>
              <a:t>计算机的五大组成部分：</a:t>
            </a:r>
            <a:endParaRPr lang="zh-CN" altLang="en-US" sz="2400" dirty="0">
              <a:ea typeface="微软雅黑" panose="020B0503020204020204" pitchFamily="34" charset="-122"/>
            </a:endParaRPr>
          </a:p>
          <a:p>
            <a:pPr>
              <a:buNone/>
            </a:pPr>
            <a:endParaRPr lang="en-US" altLang="zh-CN" sz="2400">
              <a:ea typeface="微软雅黑" panose="020B0503020204020204" pitchFamily="34" charset="-122"/>
            </a:endParaRPr>
          </a:p>
          <a:p>
            <a:pPr>
              <a:buNone/>
            </a:pPr>
            <a:endParaRPr lang="en-US" altLang="zh-CN" sz="2000">
              <a:ea typeface="黑体" panose="02010609060101010101" pitchFamily="49" charset="-122"/>
            </a:endParaRPr>
          </a:p>
          <a:p>
            <a:pPr>
              <a:buNone/>
            </a:pPr>
            <a:endParaRPr lang="en-US" altLang="zh-CN" sz="2000">
              <a:ea typeface="黑体" panose="02010609060101010101" pitchFamily="49" charset="-122"/>
            </a:endParaRPr>
          </a:p>
          <a:p>
            <a:pPr>
              <a:buNone/>
            </a:pPr>
            <a:endParaRPr lang="en-US" altLang="zh-CN" sz="2000">
              <a:ea typeface="黑体" panose="02010609060101010101" pitchFamily="49" charset="-122"/>
            </a:endParaRPr>
          </a:p>
          <a:p>
            <a:pPr>
              <a:buNone/>
            </a:pPr>
            <a:endParaRPr lang="en-US" altLang="zh-CN" sz="2000">
              <a:ea typeface="黑体" panose="02010609060101010101" pitchFamily="49" charset="-122"/>
            </a:endParaRPr>
          </a:p>
          <a:p>
            <a:pPr>
              <a:buNone/>
            </a:pPr>
            <a:endParaRPr lang="en-US" altLang="zh-CN" sz="2000">
              <a:ea typeface="黑体" panose="02010609060101010101" pitchFamily="49" charset="-122"/>
            </a:endParaRPr>
          </a:p>
          <a:p>
            <a:pPr>
              <a:lnSpc>
                <a:spcPct val="115000"/>
              </a:lnSpc>
              <a:spcBef>
                <a:spcPct val="25000"/>
              </a:spcBef>
            </a:pPr>
            <a:r>
              <a:rPr lang="zh-CN" altLang="en-US" sz="2000" dirty="0">
                <a:solidFill>
                  <a:srgbClr val="FF0000"/>
                </a:solidFill>
                <a:latin typeface="微软雅黑" panose="020B0503020204020204" pitchFamily="34" charset="-122"/>
                <a:ea typeface="微软雅黑" panose="020B0503020204020204" pitchFamily="34" charset="-122"/>
              </a:rPr>
              <a:t>什么是数据通路（</a:t>
            </a:r>
            <a:r>
              <a:rPr lang="en-US" altLang="zh-CN" sz="2000" err="1">
                <a:solidFill>
                  <a:srgbClr val="FF0000"/>
                </a:solidFill>
                <a:latin typeface="微软雅黑" panose="020B0503020204020204" pitchFamily="34" charset="-122"/>
                <a:ea typeface="微软雅黑" panose="020B0503020204020204" pitchFamily="34" charset="-122"/>
              </a:rPr>
              <a:t>DataPath</a:t>
            </a:r>
            <a:r>
              <a:rPr lang="zh-CN" altLang="en-US" sz="2000" dirty="0">
                <a:solidFill>
                  <a:srgbClr val="FF0000"/>
                </a:solidFill>
                <a:latin typeface="微软雅黑" panose="020B0503020204020204" pitchFamily="34" charset="-122"/>
                <a:ea typeface="微软雅黑" panose="020B0503020204020204" pitchFamily="34" charset="-122"/>
              </a:rPr>
              <a:t>）</a:t>
            </a:r>
            <a:r>
              <a:rPr lang="en-US" altLang="zh-CN" sz="2000">
                <a:solidFill>
                  <a:srgbClr val="FF0000"/>
                </a:solidFill>
                <a:latin typeface="微软雅黑" panose="020B0503020204020204" pitchFamily="34" charset="-122"/>
                <a:ea typeface="微软雅黑" panose="020B0503020204020204" pitchFamily="34" charset="-122"/>
              </a:rPr>
              <a:t>?</a:t>
            </a:r>
            <a:endParaRPr lang="en-US" altLang="zh-CN" sz="2000">
              <a:solidFill>
                <a:srgbClr val="FF0000"/>
              </a:solidFill>
              <a:latin typeface="微软雅黑" panose="020B0503020204020204" pitchFamily="34" charset="-122"/>
              <a:ea typeface="微软雅黑" panose="020B0503020204020204" pitchFamily="34" charset="-122"/>
            </a:endParaRPr>
          </a:p>
          <a:p>
            <a:pPr lvl="1">
              <a:lnSpc>
                <a:spcPct val="125000"/>
              </a:lnSpc>
              <a:spcBef>
                <a:spcPct val="25000"/>
              </a:spcBef>
            </a:pPr>
            <a:r>
              <a:rPr lang="zh-CN" altLang="en-US" sz="2000" dirty="0">
                <a:latin typeface="微软雅黑" panose="020B0503020204020204" pitchFamily="34" charset="-122"/>
                <a:ea typeface="微软雅黑" panose="020B0503020204020204" pitchFamily="34" charset="-122"/>
              </a:rPr>
              <a:t>指令执行过程中，数据所经过的路径，包括路径中的部件。它是</a:t>
            </a:r>
            <a:r>
              <a:rPr lang="zh-CN" altLang="en-US" sz="2000" dirty="0">
                <a:solidFill>
                  <a:srgbClr val="CC0000"/>
                </a:solidFill>
                <a:latin typeface="微软雅黑" panose="020B0503020204020204" pitchFamily="34" charset="-122"/>
                <a:ea typeface="微软雅黑" panose="020B0503020204020204" pitchFamily="34" charset="-122"/>
              </a:rPr>
              <a:t>指令的执行部件</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a:lnSpc>
                <a:spcPct val="115000"/>
              </a:lnSpc>
              <a:spcBef>
                <a:spcPct val="25000"/>
              </a:spcBef>
            </a:pPr>
            <a:r>
              <a:rPr lang="zh-CN" altLang="en-US" sz="2000" dirty="0">
                <a:solidFill>
                  <a:schemeClr val="accent1"/>
                </a:solidFill>
                <a:latin typeface="微软雅黑" panose="020B0503020204020204" pitchFamily="34" charset="-122"/>
                <a:ea typeface="微软雅黑" panose="020B0503020204020204" pitchFamily="34" charset="-122"/>
              </a:rPr>
              <a:t>控制器（</a:t>
            </a:r>
            <a:r>
              <a:rPr lang="en-US" altLang="zh-CN" sz="2000">
                <a:solidFill>
                  <a:schemeClr val="accent1"/>
                </a:solidFill>
                <a:latin typeface="微软雅黑" panose="020B0503020204020204" pitchFamily="34" charset="-122"/>
                <a:ea typeface="微软雅黑" panose="020B0503020204020204" pitchFamily="34" charset="-122"/>
              </a:rPr>
              <a:t>Control</a:t>
            </a:r>
            <a:r>
              <a:rPr lang="zh-CN" altLang="en-US" sz="2000" dirty="0">
                <a:solidFill>
                  <a:schemeClr val="accent1"/>
                </a:solidFill>
                <a:latin typeface="微软雅黑" panose="020B0503020204020204" pitchFamily="34" charset="-122"/>
                <a:ea typeface="微软雅黑" panose="020B0503020204020204" pitchFamily="34" charset="-122"/>
              </a:rPr>
              <a:t>）的功能是什么？</a:t>
            </a:r>
            <a:endParaRPr lang="zh-CN" altLang="en-US" sz="2000" dirty="0">
              <a:solidFill>
                <a:schemeClr val="accent1"/>
              </a:solidFill>
              <a:latin typeface="微软雅黑" panose="020B0503020204020204" pitchFamily="34" charset="-122"/>
              <a:ea typeface="微软雅黑" panose="020B0503020204020204" pitchFamily="34" charset="-122"/>
            </a:endParaRPr>
          </a:p>
          <a:p>
            <a:pPr lvl="1">
              <a:lnSpc>
                <a:spcPct val="125000"/>
              </a:lnSpc>
              <a:spcBef>
                <a:spcPct val="25000"/>
              </a:spcBef>
            </a:pPr>
            <a:r>
              <a:rPr lang="zh-CN" altLang="en-US" sz="2000" dirty="0">
                <a:latin typeface="微软雅黑" panose="020B0503020204020204" pitchFamily="34" charset="-122"/>
                <a:ea typeface="微软雅黑" panose="020B0503020204020204" pitchFamily="34" charset="-122"/>
              </a:rPr>
              <a:t>对指令进行译码，生成指令对应的控制信号，控制数据通路的动作。能对执行部件发出控制信号，是</a:t>
            </a:r>
            <a:r>
              <a:rPr lang="zh-CN" altLang="en-US" sz="2000" dirty="0">
                <a:solidFill>
                  <a:srgbClr val="CC0000"/>
                </a:solidFill>
                <a:latin typeface="微软雅黑" panose="020B0503020204020204" pitchFamily="34" charset="-122"/>
                <a:ea typeface="微软雅黑" panose="020B0503020204020204" pitchFamily="34" charset="-122"/>
              </a:rPr>
              <a:t>指令的控制部件</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20483" name="矩形 177157"/>
          <p:cNvSpPr/>
          <p:nvPr/>
        </p:nvSpPr>
        <p:spPr>
          <a:xfrm>
            <a:off x="1663700" y="1804988"/>
            <a:ext cx="1558925" cy="736600"/>
          </a:xfrm>
          <a:prstGeom prst="rect">
            <a:avLst/>
          </a:prstGeom>
          <a:solidFill>
            <a:schemeClr val="accent1">
              <a:alpha val="30000"/>
            </a:schemeClr>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0484" name="矩形 177158"/>
          <p:cNvSpPr/>
          <p:nvPr/>
        </p:nvSpPr>
        <p:spPr>
          <a:xfrm>
            <a:off x="1895475" y="2006600"/>
            <a:ext cx="942975" cy="363538"/>
          </a:xfrm>
          <a:prstGeom prst="rect">
            <a:avLst/>
          </a:prstGeom>
          <a:noFill/>
          <a:ln w="12700">
            <a:noFill/>
          </a:ln>
        </p:spPr>
        <p:txBody>
          <a:bodyPr wrap="none" lIns="90488" tIns="44450" rIns="90488" bIns="44450" anchor="t" anchorCtr="0">
            <a:spAutoFit/>
          </a:bodyPr>
          <a:p>
            <a:pPr eaLnBrk="0" hangingPunct="0"/>
            <a:r>
              <a:rPr lang="en-US" altLang="zh-CN" sz="1800">
                <a:solidFill>
                  <a:srgbClr val="0000FF"/>
                </a:solidFill>
                <a:latin typeface="Times New Roman" panose="02020603050405020304" pitchFamily="18" charset="0"/>
                <a:ea typeface="宋体" panose="02010600030101010101" pitchFamily="2" charset="-122"/>
              </a:rPr>
              <a:t>Control</a:t>
            </a:r>
            <a:endParaRPr lang="en-US" altLang="zh-CN" sz="1800">
              <a:solidFill>
                <a:srgbClr val="0000FF"/>
              </a:solidFill>
              <a:latin typeface="Times New Roman" panose="02020603050405020304" pitchFamily="18" charset="0"/>
              <a:ea typeface="宋体" panose="02010600030101010101" pitchFamily="2" charset="-122"/>
            </a:endParaRPr>
          </a:p>
        </p:txBody>
      </p:sp>
      <p:sp>
        <p:nvSpPr>
          <p:cNvPr id="20485" name="矩形 177162"/>
          <p:cNvSpPr/>
          <p:nvPr/>
        </p:nvSpPr>
        <p:spPr>
          <a:xfrm>
            <a:off x="3613150" y="1392238"/>
            <a:ext cx="1277938" cy="21844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0486" name="矩形 177163"/>
          <p:cNvSpPr/>
          <p:nvPr/>
        </p:nvSpPr>
        <p:spPr>
          <a:xfrm>
            <a:off x="3700463" y="2244725"/>
            <a:ext cx="1019175" cy="363538"/>
          </a:xfrm>
          <a:prstGeom prst="rect">
            <a:avLst/>
          </a:prstGeom>
          <a:noFill/>
          <a:ln w="12700">
            <a:noFill/>
          </a:ln>
        </p:spPr>
        <p:txBody>
          <a:bodyPr wrap="none" lIns="90488" tIns="44450" rIns="90488" bIns="44450" anchor="t" anchorCtr="0">
            <a:spAutoFit/>
          </a:bodyPr>
          <a:p>
            <a:pPr eaLnBrk="0" hangingPunct="0"/>
            <a:r>
              <a:rPr lang="en-US" altLang="zh-CN" sz="1800">
                <a:latin typeface="Times New Roman" panose="02020603050405020304" pitchFamily="18" charset="0"/>
                <a:ea typeface="宋体" panose="02010600030101010101" pitchFamily="2" charset="-122"/>
              </a:rPr>
              <a:t>Memory</a:t>
            </a:r>
            <a:endParaRPr lang="en-US" altLang="zh-CN" sz="1800">
              <a:latin typeface="Times New Roman" panose="02020603050405020304" pitchFamily="18" charset="0"/>
              <a:ea typeface="宋体" panose="02010600030101010101" pitchFamily="2" charset="-122"/>
            </a:endParaRPr>
          </a:p>
        </p:txBody>
      </p:sp>
      <p:sp>
        <p:nvSpPr>
          <p:cNvPr id="20487" name="矩形 177164"/>
          <p:cNvSpPr/>
          <p:nvPr/>
        </p:nvSpPr>
        <p:spPr>
          <a:xfrm>
            <a:off x="1460500" y="1392238"/>
            <a:ext cx="1933575" cy="2184400"/>
          </a:xfrm>
          <a:prstGeom prst="rect">
            <a:avLst/>
          </a:prstGeom>
          <a:noFill/>
          <a:ln w="25400" cap="flat" cmpd="sng">
            <a:solidFill>
              <a:srgbClr val="A5002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0488" name="矩形 177165"/>
          <p:cNvSpPr/>
          <p:nvPr/>
        </p:nvSpPr>
        <p:spPr>
          <a:xfrm>
            <a:off x="1801813" y="1379538"/>
            <a:ext cx="704850" cy="393700"/>
          </a:xfrm>
          <a:prstGeom prst="rect">
            <a:avLst/>
          </a:prstGeom>
          <a:noFill/>
          <a:ln w="12700">
            <a:noFill/>
          </a:ln>
        </p:spPr>
        <p:txBody>
          <a:bodyPr wrap="none" lIns="90488" tIns="44450" rIns="90488" bIns="44450" anchor="t" anchorCtr="0">
            <a:spAutoFit/>
          </a:bodyPr>
          <a:p>
            <a:pPr eaLnBrk="0" hangingPunct="0"/>
            <a:r>
              <a:rPr lang="en-US" altLang="zh-CN" sz="2000">
                <a:solidFill>
                  <a:srgbClr val="CC0000"/>
                </a:solidFill>
                <a:latin typeface="Times New Roman" panose="02020603050405020304" pitchFamily="18" charset="0"/>
                <a:ea typeface="宋体" panose="02010600030101010101" pitchFamily="2" charset="-122"/>
              </a:rPr>
              <a:t>CPU</a:t>
            </a:r>
            <a:endParaRPr lang="en-US" altLang="zh-CN" sz="2000">
              <a:solidFill>
                <a:srgbClr val="CC0000"/>
              </a:solidFill>
              <a:latin typeface="Times New Roman" panose="02020603050405020304" pitchFamily="18" charset="0"/>
              <a:ea typeface="宋体" panose="02010600030101010101" pitchFamily="2" charset="-122"/>
            </a:endParaRPr>
          </a:p>
        </p:txBody>
      </p:sp>
      <p:sp>
        <p:nvSpPr>
          <p:cNvPr id="20489" name="矩形 177166"/>
          <p:cNvSpPr/>
          <p:nvPr/>
        </p:nvSpPr>
        <p:spPr>
          <a:xfrm>
            <a:off x="5110163" y="1392238"/>
            <a:ext cx="1277937" cy="889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0490" name="矩形 177167"/>
          <p:cNvSpPr/>
          <p:nvPr/>
        </p:nvSpPr>
        <p:spPr>
          <a:xfrm>
            <a:off x="5376863" y="1684338"/>
            <a:ext cx="727075" cy="363537"/>
          </a:xfrm>
          <a:prstGeom prst="rect">
            <a:avLst/>
          </a:prstGeom>
          <a:noFill/>
          <a:ln w="12700">
            <a:noFill/>
          </a:ln>
        </p:spPr>
        <p:txBody>
          <a:bodyPr wrap="none" lIns="90488" tIns="44450" rIns="90488" bIns="44450" anchor="t" anchorCtr="0">
            <a:spAutoFit/>
          </a:bodyPr>
          <a:p>
            <a:pPr algn="ctr" eaLnBrk="0" hangingPunct="0"/>
            <a:r>
              <a:rPr lang="en-US" altLang="zh-CN" sz="1800">
                <a:latin typeface="Times New Roman" panose="02020603050405020304" pitchFamily="18" charset="0"/>
                <a:ea typeface="宋体" panose="02010600030101010101" pitchFamily="2" charset="-122"/>
              </a:rPr>
              <a:t>Input</a:t>
            </a:r>
            <a:endParaRPr lang="en-US" altLang="zh-CN" sz="1800">
              <a:latin typeface="Times New Roman" panose="02020603050405020304" pitchFamily="18" charset="0"/>
              <a:ea typeface="宋体" panose="02010600030101010101" pitchFamily="2" charset="-122"/>
            </a:endParaRPr>
          </a:p>
        </p:txBody>
      </p:sp>
      <p:sp>
        <p:nvSpPr>
          <p:cNvPr id="20491" name="矩形 177168"/>
          <p:cNvSpPr/>
          <p:nvPr/>
        </p:nvSpPr>
        <p:spPr>
          <a:xfrm>
            <a:off x="5110163" y="2687638"/>
            <a:ext cx="1277937" cy="889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0492" name="矩形 177169"/>
          <p:cNvSpPr/>
          <p:nvPr/>
        </p:nvSpPr>
        <p:spPr>
          <a:xfrm>
            <a:off x="5295900" y="2979738"/>
            <a:ext cx="892175" cy="363537"/>
          </a:xfrm>
          <a:prstGeom prst="rect">
            <a:avLst/>
          </a:prstGeom>
          <a:noFill/>
          <a:ln w="12700">
            <a:noFill/>
          </a:ln>
        </p:spPr>
        <p:txBody>
          <a:bodyPr wrap="none" lIns="90488" tIns="44450" rIns="90488" bIns="44450" anchor="t" anchorCtr="0">
            <a:spAutoFit/>
          </a:bodyPr>
          <a:p>
            <a:pPr algn="ctr" eaLnBrk="0" hangingPunct="0"/>
            <a:r>
              <a:rPr lang="en-US" altLang="zh-CN" sz="1800">
                <a:latin typeface="Times New Roman" panose="02020603050405020304" pitchFamily="18" charset="0"/>
                <a:ea typeface="宋体" panose="02010600030101010101" pitchFamily="2" charset="-122"/>
              </a:rPr>
              <a:t>Output</a:t>
            </a:r>
            <a:endParaRPr lang="en-US" altLang="zh-CN" sz="1800">
              <a:latin typeface="Times New Roman" panose="02020603050405020304" pitchFamily="18" charset="0"/>
              <a:ea typeface="宋体" panose="02010600030101010101" pitchFamily="2" charset="-122"/>
            </a:endParaRPr>
          </a:p>
        </p:txBody>
      </p:sp>
      <p:grpSp>
        <p:nvGrpSpPr>
          <p:cNvPr id="20493" name="组合 177171"/>
          <p:cNvGrpSpPr/>
          <p:nvPr/>
        </p:nvGrpSpPr>
        <p:grpSpPr>
          <a:xfrm>
            <a:off x="1641475" y="2709863"/>
            <a:ext cx="1589088" cy="736600"/>
            <a:chOff x="1016" y="2072"/>
            <a:chExt cx="800" cy="464"/>
          </a:xfrm>
        </p:grpSpPr>
        <p:sp>
          <p:nvSpPr>
            <p:cNvPr id="20494" name="矩形 177172"/>
            <p:cNvSpPr/>
            <p:nvPr/>
          </p:nvSpPr>
          <p:spPr>
            <a:xfrm>
              <a:off x="1016" y="2072"/>
              <a:ext cx="800" cy="464"/>
            </a:xfrm>
            <a:prstGeom prst="rect">
              <a:avLst/>
            </a:prstGeom>
            <a:solidFill>
              <a:schemeClr val="bg1"/>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0495" name="矩形 177173"/>
            <p:cNvSpPr/>
            <p:nvPr/>
          </p:nvSpPr>
          <p:spPr>
            <a:xfrm>
              <a:off x="1095" y="2193"/>
              <a:ext cx="510" cy="210"/>
            </a:xfrm>
            <a:prstGeom prst="rect">
              <a:avLst/>
            </a:prstGeom>
            <a:solidFill>
              <a:schemeClr val="bg1"/>
            </a:solidFill>
            <a:ln w="12700">
              <a:noFill/>
            </a:ln>
          </p:spPr>
          <p:txBody>
            <a:bodyPr lIns="90488" tIns="44450" rIns="90488" bIns="44450" anchor="t" anchorCtr="0">
              <a:spAutoFit/>
            </a:bodyPr>
            <a:p>
              <a:pPr eaLnBrk="0" hangingPunct="0"/>
              <a:r>
                <a:rPr lang="en-US" altLang="zh-CN" err="1">
                  <a:solidFill>
                    <a:srgbClr val="CC3300"/>
                  </a:solidFill>
                  <a:latin typeface="Times New Roman" panose="02020603050405020304" pitchFamily="18" charset="0"/>
                  <a:ea typeface="宋体" panose="02010600030101010101" pitchFamily="2" charset="-122"/>
                </a:rPr>
                <a:t>Datapath</a:t>
              </a:r>
              <a:endParaRPr lang="en-US" altLang="zh-CN">
                <a:solidFill>
                  <a:srgbClr val="CC3300"/>
                </a:solidFill>
                <a:latin typeface="Times New Roman" panose="02020603050405020304" pitchFamily="18" charset="0"/>
                <a:ea typeface="宋体" panose="02010600030101010101" pitchFamily="2" charset="-122"/>
              </a:endParaRPr>
            </a:p>
          </p:txBody>
        </p:sp>
      </p:grpSp>
      <p:sp>
        <p:nvSpPr>
          <p:cNvPr id="20496" name="矩形 177160"/>
          <p:cNvSpPr/>
          <p:nvPr/>
        </p:nvSpPr>
        <p:spPr>
          <a:xfrm>
            <a:off x="1641475" y="2716213"/>
            <a:ext cx="1589088" cy="736600"/>
          </a:xfrm>
          <a:prstGeom prst="rect">
            <a:avLst/>
          </a:prstGeom>
          <a:solidFill>
            <a:srgbClr val="91B3F1"/>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0497" name="矩形 177161"/>
          <p:cNvSpPr/>
          <p:nvPr/>
        </p:nvSpPr>
        <p:spPr>
          <a:xfrm>
            <a:off x="1887538" y="2908300"/>
            <a:ext cx="1203325" cy="363538"/>
          </a:xfrm>
          <a:prstGeom prst="rect">
            <a:avLst/>
          </a:prstGeom>
          <a:solidFill>
            <a:srgbClr val="91B3F1"/>
          </a:solidFill>
          <a:ln w="12700">
            <a:noFill/>
          </a:ln>
        </p:spPr>
        <p:txBody>
          <a:bodyPr lIns="90488" tIns="44450" rIns="90488" bIns="44450" anchor="t" anchorCtr="0">
            <a:spAutoFit/>
          </a:bodyPr>
          <a:p>
            <a:pPr eaLnBrk="0" hangingPunct="0"/>
            <a:r>
              <a:rPr lang="en-US" altLang="zh-CN" sz="1800" err="1">
                <a:solidFill>
                  <a:srgbClr val="CC3300"/>
                </a:solidFill>
                <a:latin typeface="Times New Roman" panose="02020603050405020304" pitchFamily="18" charset="0"/>
                <a:ea typeface="宋体" panose="02010600030101010101" pitchFamily="2" charset="-122"/>
              </a:rPr>
              <a:t>Datapath</a:t>
            </a:r>
            <a:endParaRPr lang="en-US" altLang="zh-CN" sz="1800">
              <a:solidFill>
                <a:srgbClr val="CC33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7155">
                                            <p:txEl>
                                              <p:charRg st="18" end="37"/>
                                            </p:txEl>
                                          </p:spTgt>
                                        </p:tgtEl>
                                        <p:attrNameLst>
                                          <p:attrName>style.visibility</p:attrName>
                                        </p:attrNameLst>
                                      </p:cBhvr>
                                      <p:to>
                                        <p:strVal val="visible"/>
                                      </p:to>
                                    </p:set>
                                    <p:animEffect transition="in" filter="blinds(horizontal)">
                                      <p:cBhvr>
                                        <p:cTn id="7" dur="500"/>
                                        <p:tgtEl>
                                          <p:spTgt spid="177155">
                                            <p:txEl>
                                              <p:charRg st="18" end="3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7155">
                                            <p:txEl>
                                              <p:charRg st="37" end="74"/>
                                            </p:txEl>
                                          </p:spTgt>
                                        </p:tgtEl>
                                        <p:attrNameLst>
                                          <p:attrName>style.visibility</p:attrName>
                                        </p:attrNameLst>
                                      </p:cBhvr>
                                      <p:to>
                                        <p:strVal val="visible"/>
                                      </p:to>
                                    </p:set>
                                    <p:animEffect transition="in" filter="blinds(horizontal)">
                                      <p:cBhvr>
                                        <p:cTn id="12" dur="500"/>
                                        <p:tgtEl>
                                          <p:spTgt spid="177155">
                                            <p:txEl>
                                              <p:charRg st="37" end="7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7155">
                                            <p:txEl>
                                              <p:charRg st="74" end="94"/>
                                            </p:txEl>
                                          </p:spTgt>
                                        </p:tgtEl>
                                        <p:attrNameLst>
                                          <p:attrName>style.visibility</p:attrName>
                                        </p:attrNameLst>
                                      </p:cBhvr>
                                      <p:to>
                                        <p:strVal val="visible"/>
                                      </p:to>
                                    </p:set>
                                    <p:animEffect transition="in" filter="blinds(horizontal)">
                                      <p:cBhvr>
                                        <p:cTn id="17" dur="500"/>
                                        <p:tgtEl>
                                          <p:spTgt spid="177155">
                                            <p:txEl>
                                              <p:charRg st="74" end="9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7155">
                                            <p:txEl>
                                              <p:charRg st="94" end="147"/>
                                            </p:txEl>
                                          </p:spTgt>
                                        </p:tgtEl>
                                        <p:attrNameLst>
                                          <p:attrName>style.visibility</p:attrName>
                                        </p:attrNameLst>
                                      </p:cBhvr>
                                      <p:to>
                                        <p:strVal val="visible"/>
                                      </p:to>
                                    </p:set>
                                    <p:animEffect transition="in" filter="blinds(horizontal)">
                                      <p:cBhvr>
                                        <p:cTn id="22" dur="500"/>
                                        <p:tgtEl>
                                          <p:spTgt spid="177155">
                                            <p:txEl>
                                              <p:charRg st="94" end="1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394241"/>
          <p:cNvSpPr>
            <a:spLocks noGrp="1"/>
          </p:cNvSpPr>
          <p:nvPr>
            <p:ph type="title"/>
          </p:nvPr>
        </p:nvSpPr>
        <p:spPr>
          <a:ln/>
        </p:spPr>
        <p:txBody>
          <a:bodyPr lIns="63500" tIns="25400" rIns="63500" bIns="25400" anchor="t" anchorCtr="0">
            <a:spAutoFit/>
          </a:bodyPr>
          <a:p>
            <a:r>
              <a:rPr lang="zh-CN" altLang="en-US" dirty="0"/>
              <a:t>数据通路的基本结构</a:t>
            </a:r>
            <a:endParaRPr lang="zh-CN" altLang="en-US" dirty="0"/>
          </a:p>
        </p:txBody>
      </p:sp>
      <p:sp>
        <p:nvSpPr>
          <p:cNvPr id="394243" name="内容占位符 394242"/>
          <p:cNvSpPr>
            <a:spLocks noGrp="1"/>
          </p:cNvSpPr>
          <p:nvPr>
            <p:ph idx="1"/>
          </p:nvPr>
        </p:nvSpPr>
        <p:spPr>
          <a:xfrm>
            <a:off x="473075" y="819150"/>
            <a:ext cx="8201025" cy="4348163"/>
          </a:xfrm>
          <a:ln/>
        </p:spPr>
        <p:txBody>
          <a:bodyPr wrap="square" lIns="63500" tIns="25400" rIns="63500" bIns="25400" anchor="t" anchorCtr="0">
            <a:spAutoFit/>
          </a:bodyPr>
          <a:p>
            <a:pPr>
              <a:spcBef>
                <a:spcPct val="30000"/>
              </a:spcBef>
            </a:pPr>
            <a:r>
              <a:rPr lang="zh-CN" altLang="en-US" sz="2200" dirty="0">
                <a:ea typeface="微软雅黑" panose="020B0503020204020204" pitchFamily="34" charset="-122"/>
              </a:rPr>
              <a:t>数据通路由两类元件组成</a:t>
            </a:r>
            <a:endParaRPr lang="zh-CN" altLang="en-US" sz="2200" dirty="0">
              <a:ea typeface="微软雅黑" panose="020B0503020204020204" pitchFamily="34" charset="-122"/>
            </a:endParaRPr>
          </a:p>
          <a:p>
            <a:pPr lvl="1">
              <a:spcBef>
                <a:spcPct val="30000"/>
              </a:spcBef>
            </a:pPr>
            <a:r>
              <a:rPr lang="zh-CN" altLang="en-US" sz="2200" dirty="0">
                <a:ea typeface="微软雅黑" panose="020B0503020204020204" pitchFamily="34" charset="-122"/>
              </a:rPr>
              <a:t>组合逻辑元件（也称操作元件）</a:t>
            </a:r>
            <a:endParaRPr lang="zh-CN" altLang="en-US" sz="2200" dirty="0">
              <a:ea typeface="微软雅黑" panose="020B0503020204020204" pitchFamily="34" charset="-122"/>
            </a:endParaRPr>
          </a:p>
          <a:p>
            <a:pPr lvl="1">
              <a:spcBef>
                <a:spcPct val="30000"/>
              </a:spcBef>
            </a:pPr>
            <a:r>
              <a:rPr lang="zh-CN" altLang="en-US" sz="2200" dirty="0">
                <a:ea typeface="微软雅黑" panose="020B0503020204020204" pitchFamily="34" charset="-122"/>
              </a:rPr>
              <a:t>时序逻辑元件（也称状态元件，存储元件）</a:t>
            </a:r>
            <a:endParaRPr lang="zh-CN" altLang="en-US" sz="2200" dirty="0">
              <a:ea typeface="微软雅黑" panose="020B0503020204020204" pitchFamily="34" charset="-122"/>
            </a:endParaRPr>
          </a:p>
          <a:p>
            <a:pPr>
              <a:spcBef>
                <a:spcPct val="30000"/>
              </a:spcBef>
            </a:pPr>
            <a:r>
              <a:rPr lang="zh-CN" altLang="en-US" sz="2200" dirty="0">
                <a:ea typeface="微软雅黑" panose="020B0503020204020204" pitchFamily="34" charset="-122"/>
              </a:rPr>
              <a:t>元件间的连接方式</a:t>
            </a:r>
            <a:endParaRPr lang="zh-CN" altLang="en-US" sz="2200" dirty="0">
              <a:ea typeface="微软雅黑" panose="020B0503020204020204" pitchFamily="34" charset="-122"/>
            </a:endParaRPr>
          </a:p>
          <a:p>
            <a:pPr lvl="1">
              <a:spcBef>
                <a:spcPct val="30000"/>
              </a:spcBef>
            </a:pPr>
            <a:r>
              <a:rPr lang="zh-CN" altLang="en-US" sz="2200" dirty="0">
                <a:ea typeface="微软雅黑" panose="020B0503020204020204" pitchFamily="34" charset="-122"/>
              </a:rPr>
              <a:t>总线连接方式</a:t>
            </a:r>
            <a:endParaRPr lang="zh-CN" altLang="en-US" sz="2200" dirty="0">
              <a:ea typeface="微软雅黑" panose="020B0503020204020204" pitchFamily="34" charset="-122"/>
            </a:endParaRPr>
          </a:p>
          <a:p>
            <a:pPr lvl="1">
              <a:spcBef>
                <a:spcPct val="30000"/>
              </a:spcBef>
            </a:pPr>
            <a:r>
              <a:rPr lang="zh-CN" altLang="en-US" sz="2200" dirty="0">
                <a:ea typeface="微软雅黑" panose="020B0503020204020204" pitchFamily="34" charset="-122"/>
              </a:rPr>
              <a:t>分散连接方式</a:t>
            </a:r>
            <a:endParaRPr lang="zh-CN" altLang="en-US" sz="2200" dirty="0">
              <a:ea typeface="微软雅黑" panose="020B0503020204020204" pitchFamily="34" charset="-122"/>
            </a:endParaRPr>
          </a:p>
          <a:p>
            <a:pPr>
              <a:spcBef>
                <a:spcPct val="30000"/>
              </a:spcBef>
            </a:pPr>
            <a:r>
              <a:rPr lang="zh-CN" altLang="en-US" sz="2200" dirty="0">
                <a:ea typeface="微软雅黑" panose="020B0503020204020204" pitchFamily="34" charset="-122"/>
              </a:rPr>
              <a:t>数据通路如何构成？</a:t>
            </a:r>
            <a:endParaRPr lang="zh-CN" altLang="en-US" sz="2200" dirty="0">
              <a:ea typeface="微软雅黑" panose="020B0503020204020204" pitchFamily="34" charset="-122"/>
            </a:endParaRPr>
          </a:p>
          <a:p>
            <a:pPr lvl="1">
              <a:spcBef>
                <a:spcPct val="30000"/>
              </a:spcBef>
            </a:pPr>
            <a:r>
              <a:rPr lang="zh-CN" altLang="en-US" sz="2200" dirty="0">
                <a:ea typeface="微软雅黑" panose="020B0503020204020204" pitchFamily="34" charset="-122"/>
              </a:rPr>
              <a:t>“操作元件”和“存储元件”总线方式或分散方式连接而成</a:t>
            </a:r>
            <a:endParaRPr lang="zh-CN" altLang="en-US" sz="2200" dirty="0">
              <a:ea typeface="微软雅黑" panose="020B0503020204020204" pitchFamily="34" charset="-122"/>
            </a:endParaRPr>
          </a:p>
          <a:p>
            <a:pPr>
              <a:spcBef>
                <a:spcPct val="30000"/>
              </a:spcBef>
            </a:pPr>
            <a:r>
              <a:rPr lang="zh-CN" altLang="en-US" sz="2200" dirty="0">
                <a:ea typeface="微软雅黑" panose="020B0503020204020204" pitchFamily="34" charset="-122"/>
              </a:rPr>
              <a:t>数据通路的功能是什么？</a:t>
            </a:r>
            <a:endParaRPr lang="zh-CN" altLang="en-US" sz="2200" dirty="0">
              <a:ea typeface="微软雅黑" panose="020B0503020204020204" pitchFamily="34" charset="-122"/>
            </a:endParaRPr>
          </a:p>
          <a:p>
            <a:pPr lvl="1">
              <a:spcBef>
                <a:spcPct val="30000"/>
              </a:spcBef>
            </a:pPr>
            <a:r>
              <a:rPr lang="zh-CN" altLang="en-US" sz="2200" dirty="0">
                <a:ea typeface="微软雅黑" panose="020B0503020204020204" pitchFamily="34" charset="-122"/>
              </a:rPr>
              <a:t>进行数据存储、处理、传送</a:t>
            </a:r>
            <a:endParaRPr lang="zh-CN" altLang="en-US" sz="2200" dirty="0">
              <a:ea typeface="微软雅黑" panose="020B0503020204020204" pitchFamily="34" charset="-122"/>
            </a:endParaRPr>
          </a:p>
        </p:txBody>
      </p:sp>
      <p:sp>
        <p:nvSpPr>
          <p:cNvPr id="394244" name="矩形 394243"/>
          <p:cNvSpPr/>
          <p:nvPr/>
        </p:nvSpPr>
        <p:spPr>
          <a:xfrm>
            <a:off x="728663" y="5627688"/>
            <a:ext cx="7413625" cy="962025"/>
          </a:xfrm>
          <a:prstGeom prst="rect">
            <a:avLst/>
          </a:prstGeom>
          <a:noFill/>
          <a:ln w="50800">
            <a:noFill/>
          </a:ln>
        </p:spPr>
        <p:txBody>
          <a:bodyPr anchor="ctr" anchorCtr="0">
            <a:spAutoFit/>
          </a:bodyPr>
          <a:p>
            <a:pPr eaLnBrk="0" hangingPunct="0">
              <a:lnSpc>
                <a:spcPct val="130000"/>
              </a:lnSpc>
              <a:spcBef>
                <a:spcPct val="25000"/>
              </a:spcBef>
            </a:pPr>
            <a:r>
              <a:rPr lang="zh-CN" altLang="en-US" sz="2200" dirty="0">
                <a:solidFill>
                  <a:srgbClr val="006600"/>
                </a:solidFill>
                <a:latin typeface="微软雅黑" panose="020B0503020204020204" pitchFamily="34" charset="-122"/>
                <a:ea typeface="微软雅黑" panose="020B0503020204020204" pitchFamily="34" charset="-122"/>
              </a:rPr>
              <a:t>因此，数据通路是由</a:t>
            </a:r>
            <a:r>
              <a:rPr lang="zh-CN" altLang="en-US" sz="2200" dirty="0">
                <a:solidFill>
                  <a:schemeClr val="accent1"/>
                </a:solidFill>
                <a:latin typeface="微软雅黑" panose="020B0503020204020204" pitchFamily="34" charset="-122"/>
                <a:ea typeface="微软雅黑" panose="020B0503020204020204" pitchFamily="34" charset="-122"/>
              </a:rPr>
              <a:t>操作元件</a:t>
            </a:r>
            <a:r>
              <a:rPr lang="zh-CN" altLang="en-US" sz="2200" dirty="0">
                <a:solidFill>
                  <a:srgbClr val="006600"/>
                </a:solidFill>
                <a:latin typeface="微软雅黑" panose="020B0503020204020204" pitchFamily="34" charset="-122"/>
                <a:ea typeface="微软雅黑" panose="020B0503020204020204" pitchFamily="34" charset="-122"/>
              </a:rPr>
              <a:t>和</a:t>
            </a:r>
            <a:r>
              <a:rPr lang="zh-CN" altLang="en-US" sz="2200" dirty="0">
                <a:solidFill>
                  <a:schemeClr val="accent1"/>
                </a:solidFill>
                <a:latin typeface="微软雅黑" panose="020B0503020204020204" pitchFamily="34" charset="-122"/>
                <a:ea typeface="微软雅黑" panose="020B0503020204020204" pitchFamily="34" charset="-122"/>
              </a:rPr>
              <a:t>存储元件</a:t>
            </a:r>
            <a:r>
              <a:rPr lang="zh-CN" altLang="en-US" sz="2200" dirty="0">
                <a:solidFill>
                  <a:srgbClr val="006600"/>
                </a:solidFill>
                <a:latin typeface="微软雅黑" panose="020B0503020204020204" pitchFamily="34" charset="-122"/>
                <a:ea typeface="微软雅黑" panose="020B0503020204020204" pitchFamily="34" charset="-122"/>
              </a:rPr>
              <a:t>通过总线方式或分散方式连接而成的进行数据存储、处理、传送的路径。</a:t>
            </a:r>
            <a:r>
              <a:rPr lang="zh-CN" altLang="en-US" sz="2200" dirty="0">
                <a:solidFill>
                  <a:srgbClr val="009900"/>
                </a:solidFill>
                <a:latin typeface="微软雅黑" panose="020B0503020204020204" pitchFamily="34" charset="-122"/>
                <a:ea typeface="微软雅黑" panose="020B0503020204020204" pitchFamily="34" charset="-122"/>
              </a:rPr>
              <a:t> </a:t>
            </a:r>
            <a:endParaRPr lang="zh-CN" altLang="en-US" sz="2200" dirty="0">
              <a:solidFill>
                <a:srgbClr val="0099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4243">
                                            <p:txEl>
                                              <p:charRg st="12" end="27"/>
                                            </p:txEl>
                                          </p:spTgt>
                                        </p:tgtEl>
                                        <p:attrNameLst>
                                          <p:attrName>style.visibility</p:attrName>
                                        </p:attrNameLst>
                                      </p:cBhvr>
                                      <p:to>
                                        <p:strVal val="visible"/>
                                      </p:to>
                                    </p:set>
                                    <p:animEffect transition="in" filter="blinds(horizontal)">
                                      <p:cBhvr>
                                        <p:cTn id="7" dur="500"/>
                                        <p:tgtEl>
                                          <p:spTgt spid="394243">
                                            <p:txEl>
                                              <p:charRg st="12" end="2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4243">
                                            <p:txEl>
                                              <p:charRg st="27" end="47"/>
                                            </p:txEl>
                                          </p:spTgt>
                                        </p:tgtEl>
                                        <p:attrNameLst>
                                          <p:attrName>style.visibility</p:attrName>
                                        </p:attrNameLst>
                                      </p:cBhvr>
                                      <p:to>
                                        <p:strVal val="visible"/>
                                      </p:to>
                                    </p:set>
                                    <p:animEffect transition="in" filter="blinds(horizontal)">
                                      <p:cBhvr>
                                        <p:cTn id="10" dur="500"/>
                                        <p:tgtEl>
                                          <p:spTgt spid="394243">
                                            <p:txEl>
                                              <p:charRg st="27" end="4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94243">
                                            <p:txEl>
                                              <p:charRg st="56" end="63"/>
                                            </p:txEl>
                                          </p:spTgt>
                                        </p:tgtEl>
                                        <p:attrNameLst>
                                          <p:attrName>style.visibility</p:attrName>
                                        </p:attrNameLst>
                                      </p:cBhvr>
                                      <p:to>
                                        <p:strVal val="visible"/>
                                      </p:to>
                                    </p:set>
                                    <p:animEffect transition="in" filter="blinds(horizontal)">
                                      <p:cBhvr>
                                        <p:cTn id="15" dur="500"/>
                                        <p:tgtEl>
                                          <p:spTgt spid="394243">
                                            <p:txEl>
                                              <p:charRg st="56" end="6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94243">
                                            <p:txEl>
                                              <p:charRg st="63" end="70"/>
                                            </p:txEl>
                                          </p:spTgt>
                                        </p:tgtEl>
                                        <p:attrNameLst>
                                          <p:attrName>style.visibility</p:attrName>
                                        </p:attrNameLst>
                                      </p:cBhvr>
                                      <p:to>
                                        <p:strVal val="visible"/>
                                      </p:to>
                                    </p:set>
                                    <p:animEffect transition="in" filter="blinds(horizontal)">
                                      <p:cBhvr>
                                        <p:cTn id="18" dur="500"/>
                                        <p:tgtEl>
                                          <p:spTgt spid="394243">
                                            <p:txEl>
                                              <p:charRg st="63" end="7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94243">
                                            <p:txEl>
                                              <p:charRg st="80" end="110"/>
                                            </p:txEl>
                                          </p:spTgt>
                                        </p:tgtEl>
                                        <p:attrNameLst>
                                          <p:attrName>style.visibility</p:attrName>
                                        </p:attrNameLst>
                                      </p:cBhvr>
                                      <p:to>
                                        <p:strVal val="visible"/>
                                      </p:to>
                                    </p:set>
                                    <p:animEffect transition="in" filter="blinds(horizontal)">
                                      <p:cBhvr>
                                        <p:cTn id="23" dur="500"/>
                                        <p:tgtEl>
                                          <p:spTgt spid="394243">
                                            <p:txEl>
                                              <p:charRg st="80" end="11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94243">
                                            <p:txEl>
                                              <p:charRg st="122" end="135"/>
                                            </p:txEl>
                                          </p:spTgt>
                                        </p:tgtEl>
                                        <p:attrNameLst>
                                          <p:attrName>style.visibility</p:attrName>
                                        </p:attrNameLst>
                                      </p:cBhvr>
                                      <p:to>
                                        <p:strVal val="visible"/>
                                      </p:to>
                                    </p:set>
                                    <p:animEffect transition="in" filter="blinds(horizontal)">
                                      <p:cBhvr>
                                        <p:cTn id="28" dur="500"/>
                                        <p:tgtEl>
                                          <p:spTgt spid="394243">
                                            <p:txEl>
                                              <p:charRg st="122" end="13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94244"/>
                                        </p:tgtEl>
                                        <p:attrNameLst>
                                          <p:attrName>style.visibility</p:attrName>
                                        </p:attrNameLst>
                                      </p:cBhvr>
                                      <p:to>
                                        <p:strVal val="visible"/>
                                      </p:to>
                                    </p:set>
                                    <p:animEffect transition="in" filter="blinds(horizontal)">
                                      <p:cBhvr>
                                        <p:cTn id="33" dur="500"/>
                                        <p:tgtEl>
                                          <p:spTgt spid="394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87393"/>
          <p:cNvSpPr>
            <a:spLocks noGrp="1"/>
          </p:cNvSpPr>
          <p:nvPr>
            <p:ph type="title"/>
          </p:nvPr>
        </p:nvSpPr>
        <p:spPr>
          <a:xfrm>
            <a:off x="236538" y="128588"/>
            <a:ext cx="6880225" cy="528637"/>
          </a:xfrm>
          <a:ln/>
        </p:spPr>
        <p:txBody>
          <a:bodyPr vert="horz" wrap="square" lIns="63500" tIns="25400" rIns="63500" bIns="25400" anchor="t" anchorCtr="0">
            <a:spAutoFit/>
          </a:bodyPr>
          <a:p>
            <a:r>
              <a:rPr lang="zh-CN" altLang="en-US" dirty="0"/>
              <a:t>操作元件：组合逻辑电路</a:t>
            </a:r>
            <a:endParaRPr lang="en-US" altLang="zh-CN"/>
          </a:p>
        </p:txBody>
      </p:sp>
      <p:sp>
        <p:nvSpPr>
          <p:cNvPr id="23554" name="文本占位符 187394"/>
          <p:cNvSpPr>
            <a:spLocks noGrp="1"/>
          </p:cNvSpPr>
          <p:nvPr>
            <p:ph idx="1"/>
          </p:nvPr>
        </p:nvSpPr>
        <p:spPr>
          <a:xfrm>
            <a:off x="222250" y="914400"/>
            <a:ext cx="1708150" cy="4559300"/>
          </a:xfrm>
          <a:ln/>
        </p:spPr>
        <p:txBody>
          <a:bodyPr vert="horz" wrap="square" lIns="63500" tIns="25400" rIns="63500" bIns="25400" anchor="t" anchorCtr="0">
            <a:spAutoFit/>
          </a:bodyPr>
          <a:p>
            <a:r>
              <a:rPr lang="zh-CN" altLang="en-US" sz="2000" dirty="0">
                <a:latin typeface="微软雅黑" panose="020B0503020204020204" pitchFamily="34" charset="-122"/>
                <a:ea typeface="微软雅黑" panose="020B0503020204020204" pitchFamily="34" charset="-122"/>
              </a:rPr>
              <a:t>加法器</a:t>
            </a:r>
            <a:r>
              <a:rPr lang="en-US" altLang="zh-CN" sz="2000">
                <a:latin typeface="微软雅黑" panose="020B0503020204020204" pitchFamily="34" charset="-122"/>
                <a:ea typeface="微软雅黑" panose="020B0503020204020204" pitchFamily="34" charset="-122"/>
              </a:rPr>
              <a:t>(Adder)</a:t>
            </a:r>
            <a:endParaRPr lang="en-US" altLang="zh-CN" sz="2000">
              <a:latin typeface="微软雅黑" panose="020B0503020204020204" pitchFamily="34" charset="-122"/>
              <a:ea typeface="微软雅黑" panose="020B0503020204020204" pitchFamily="34" charset="-122"/>
            </a:endParaRPr>
          </a:p>
          <a:p>
            <a:pPr>
              <a:buNone/>
            </a:pPr>
            <a:endParaRPr lang="en-US" altLang="zh-CN" sz="2000">
              <a:latin typeface="微软雅黑" panose="020B0503020204020204" pitchFamily="34" charset="-122"/>
              <a:ea typeface="微软雅黑" panose="020B0503020204020204" pitchFamily="34" charset="-122"/>
            </a:endParaRPr>
          </a:p>
          <a:p>
            <a:pPr>
              <a:buNone/>
            </a:pPr>
            <a:endParaRPr lang="en-US" altLang="zh-CN" sz="2000">
              <a:latin typeface="微软雅黑" panose="020B0503020204020204" pitchFamily="34" charset="-122"/>
              <a:ea typeface="微软雅黑" panose="020B0503020204020204" pitchFamily="34" charset="-122"/>
            </a:endParaRPr>
          </a:p>
          <a:p>
            <a:pPr>
              <a:buNone/>
            </a:pPr>
            <a:endParaRPr lang="en-US" altLang="zh-CN" sz="200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多路选择器     </a:t>
            </a:r>
            <a:r>
              <a:rPr lang="en-US" altLang="zh-CN" sz="2000">
                <a:latin typeface="微软雅黑" panose="020B0503020204020204" pitchFamily="34" charset="-122"/>
                <a:ea typeface="微软雅黑" panose="020B0503020204020204" pitchFamily="34" charset="-122"/>
              </a:rPr>
              <a:t>(MUX)</a:t>
            </a:r>
            <a:endParaRPr lang="en-US" altLang="zh-CN" sz="2000">
              <a:latin typeface="微软雅黑" panose="020B0503020204020204" pitchFamily="34" charset="-122"/>
              <a:ea typeface="微软雅黑" panose="020B0503020204020204" pitchFamily="34" charset="-122"/>
            </a:endParaRPr>
          </a:p>
          <a:p>
            <a:pPr>
              <a:buNone/>
            </a:pPr>
            <a:endParaRPr lang="en-US" altLang="zh-CN" sz="2000">
              <a:latin typeface="微软雅黑" panose="020B0503020204020204" pitchFamily="34" charset="-122"/>
              <a:ea typeface="微软雅黑" panose="020B0503020204020204" pitchFamily="34" charset="-122"/>
            </a:endParaRPr>
          </a:p>
          <a:p>
            <a:pPr>
              <a:buNone/>
            </a:pPr>
            <a:endParaRPr lang="en-US" altLang="zh-CN" sz="2000">
              <a:latin typeface="微软雅黑" panose="020B0503020204020204" pitchFamily="34" charset="-122"/>
              <a:ea typeface="微软雅黑" panose="020B0503020204020204" pitchFamily="34" charset="-122"/>
            </a:endParaRPr>
          </a:p>
          <a:p>
            <a:pPr>
              <a:buNone/>
            </a:pPr>
            <a:endParaRPr lang="en-US" altLang="zh-CN" sz="200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算逻部件</a:t>
            </a:r>
            <a:r>
              <a:rPr lang="en-US" altLang="zh-CN" sz="2000">
                <a:latin typeface="微软雅黑" panose="020B0503020204020204" pitchFamily="34" charset="-122"/>
                <a:ea typeface="微软雅黑" panose="020B0503020204020204" pitchFamily="34" charset="-122"/>
              </a:rPr>
              <a:t>(ALU)</a:t>
            </a:r>
            <a:endParaRPr lang="en-US" altLang="zh-CN" sz="2000">
              <a:latin typeface="微软雅黑" panose="020B0503020204020204" pitchFamily="34" charset="-122"/>
              <a:ea typeface="微软雅黑" panose="020B0503020204020204" pitchFamily="34" charset="-122"/>
            </a:endParaRPr>
          </a:p>
        </p:txBody>
      </p:sp>
      <p:grpSp>
        <p:nvGrpSpPr>
          <p:cNvPr id="187488" name="组合 187487"/>
          <p:cNvGrpSpPr/>
          <p:nvPr/>
        </p:nvGrpSpPr>
        <p:grpSpPr>
          <a:xfrm>
            <a:off x="1614488" y="2667000"/>
            <a:ext cx="2466975" cy="1735138"/>
            <a:chOff x="1431" y="1680"/>
            <a:chExt cx="1554" cy="1093"/>
          </a:xfrm>
        </p:grpSpPr>
        <p:sp>
          <p:nvSpPr>
            <p:cNvPr id="23556" name="直接连接符 187442"/>
            <p:cNvSpPr/>
            <p:nvPr/>
          </p:nvSpPr>
          <p:spPr>
            <a:xfrm>
              <a:off x="2112" y="1976"/>
              <a:ext cx="0" cy="704"/>
            </a:xfrm>
            <a:prstGeom prst="line">
              <a:avLst/>
            </a:prstGeom>
            <a:ln w="25400" cap="flat" cmpd="sng">
              <a:solidFill>
                <a:schemeClr val="tx1"/>
              </a:solidFill>
              <a:prstDash val="solid"/>
              <a:round/>
              <a:headEnd type="none" w="med" len="med"/>
              <a:tailEnd type="none" w="med" len="med"/>
            </a:ln>
          </p:spPr>
        </p:sp>
        <p:sp>
          <p:nvSpPr>
            <p:cNvPr id="23557" name="直接连接符 187443"/>
            <p:cNvSpPr/>
            <p:nvPr/>
          </p:nvSpPr>
          <p:spPr>
            <a:xfrm>
              <a:off x="2120" y="1976"/>
              <a:ext cx="194" cy="107"/>
            </a:xfrm>
            <a:prstGeom prst="line">
              <a:avLst/>
            </a:prstGeom>
            <a:ln w="25400" cap="flat" cmpd="sng">
              <a:solidFill>
                <a:schemeClr val="tx1"/>
              </a:solidFill>
              <a:prstDash val="solid"/>
              <a:round/>
              <a:headEnd type="none" w="med" len="med"/>
              <a:tailEnd type="none" w="med" len="med"/>
            </a:ln>
          </p:spPr>
        </p:sp>
        <p:sp>
          <p:nvSpPr>
            <p:cNvPr id="23558" name="直接连接符 187444"/>
            <p:cNvSpPr/>
            <p:nvPr/>
          </p:nvSpPr>
          <p:spPr>
            <a:xfrm flipV="1">
              <a:off x="2102" y="2566"/>
              <a:ext cx="194" cy="121"/>
            </a:xfrm>
            <a:prstGeom prst="line">
              <a:avLst/>
            </a:prstGeom>
            <a:ln w="25400" cap="flat" cmpd="sng">
              <a:solidFill>
                <a:schemeClr val="tx1"/>
              </a:solidFill>
              <a:prstDash val="solid"/>
              <a:round/>
              <a:headEnd type="none" w="med" len="med"/>
              <a:tailEnd type="none" w="med" len="med"/>
            </a:ln>
          </p:spPr>
        </p:sp>
        <p:sp>
          <p:nvSpPr>
            <p:cNvPr id="23559" name="直接连接符 187445"/>
            <p:cNvSpPr/>
            <p:nvPr/>
          </p:nvSpPr>
          <p:spPr>
            <a:xfrm>
              <a:off x="2304" y="2072"/>
              <a:ext cx="0" cy="512"/>
            </a:xfrm>
            <a:prstGeom prst="line">
              <a:avLst/>
            </a:prstGeom>
            <a:ln w="25400" cap="flat" cmpd="sng">
              <a:solidFill>
                <a:schemeClr val="tx1"/>
              </a:solidFill>
              <a:prstDash val="solid"/>
              <a:round/>
              <a:headEnd type="none" w="med" len="med"/>
              <a:tailEnd type="none" w="med" len="med"/>
            </a:ln>
          </p:spPr>
        </p:sp>
        <p:sp>
          <p:nvSpPr>
            <p:cNvPr id="23560" name="直接连接符 187446"/>
            <p:cNvSpPr/>
            <p:nvPr/>
          </p:nvSpPr>
          <p:spPr>
            <a:xfrm flipH="1">
              <a:off x="1624" y="2112"/>
              <a:ext cx="496" cy="0"/>
            </a:xfrm>
            <a:prstGeom prst="line">
              <a:avLst/>
            </a:prstGeom>
            <a:ln w="25400" cap="flat" cmpd="sng">
              <a:solidFill>
                <a:schemeClr val="tx1"/>
              </a:solidFill>
              <a:prstDash val="solid"/>
              <a:round/>
              <a:headEnd type="triangle" w="med" len="med"/>
              <a:tailEnd type="none" w="med" len="med"/>
            </a:ln>
          </p:spPr>
        </p:sp>
        <p:sp>
          <p:nvSpPr>
            <p:cNvPr id="23561" name="直接连接符 187447"/>
            <p:cNvSpPr/>
            <p:nvPr/>
          </p:nvSpPr>
          <p:spPr>
            <a:xfrm flipH="1">
              <a:off x="1868" y="2068"/>
              <a:ext cx="56" cy="88"/>
            </a:xfrm>
            <a:prstGeom prst="line">
              <a:avLst/>
            </a:prstGeom>
            <a:ln w="12700" cap="flat" cmpd="sng">
              <a:solidFill>
                <a:schemeClr val="tx1"/>
              </a:solidFill>
              <a:prstDash val="solid"/>
              <a:round/>
              <a:headEnd type="none" w="med" len="med"/>
              <a:tailEnd type="none" w="med" len="med"/>
            </a:ln>
          </p:spPr>
        </p:sp>
        <p:sp>
          <p:nvSpPr>
            <p:cNvPr id="23562" name="矩形 187448"/>
            <p:cNvSpPr/>
            <p:nvPr/>
          </p:nvSpPr>
          <p:spPr>
            <a:xfrm>
              <a:off x="1671" y="2112"/>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3563" name="直接连接符 187449"/>
            <p:cNvSpPr/>
            <p:nvPr/>
          </p:nvSpPr>
          <p:spPr>
            <a:xfrm flipH="1">
              <a:off x="1624" y="2544"/>
              <a:ext cx="496" cy="0"/>
            </a:xfrm>
            <a:prstGeom prst="line">
              <a:avLst/>
            </a:prstGeom>
            <a:ln w="25400" cap="flat" cmpd="sng">
              <a:solidFill>
                <a:schemeClr val="tx1"/>
              </a:solidFill>
              <a:prstDash val="solid"/>
              <a:round/>
              <a:headEnd type="triangle" w="med" len="med"/>
              <a:tailEnd type="none" w="med" len="med"/>
            </a:ln>
          </p:spPr>
        </p:sp>
        <p:sp>
          <p:nvSpPr>
            <p:cNvPr id="23564" name="直接连接符 187450"/>
            <p:cNvSpPr/>
            <p:nvPr/>
          </p:nvSpPr>
          <p:spPr>
            <a:xfrm flipH="1">
              <a:off x="1868" y="2500"/>
              <a:ext cx="56" cy="88"/>
            </a:xfrm>
            <a:prstGeom prst="line">
              <a:avLst/>
            </a:prstGeom>
            <a:ln w="12700" cap="flat" cmpd="sng">
              <a:solidFill>
                <a:schemeClr val="tx1"/>
              </a:solidFill>
              <a:prstDash val="solid"/>
              <a:round/>
              <a:headEnd type="none" w="med" len="med"/>
              <a:tailEnd type="none" w="med" len="med"/>
            </a:ln>
          </p:spPr>
        </p:sp>
        <p:sp>
          <p:nvSpPr>
            <p:cNvPr id="23565" name="矩形 187451"/>
            <p:cNvSpPr/>
            <p:nvPr/>
          </p:nvSpPr>
          <p:spPr>
            <a:xfrm>
              <a:off x="1431" y="2016"/>
              <a:ext cx="21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a:t>
              </a:r>
              <a:endParaRPr lang="en-US" altLang="zh-CN" sz="1800">
                <a:latin typeface="Arial" panose="020B0604020202020204" pitchFamily="34" charset="0"/>
                <a:ea typeface="宋体" panose="02010600030101010101" pitchFamily="2" charset="-122"/>
              </a:endParaRPr>
            </a:p>
          </p:txBody>
        </p:sp>
        <p:sp>
          <p:nvSpPr>
            <p:cNvPr id="23566" name="矩形 187452"/>
            <p:cNvSpPr/>
            <p:nvPr/>
          </p:nvSpPr>
          <p:spPr>
            <a:xfrm>
              <a:off x="1431" y="2448"/>
              <a:ext cx="21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a:t>
              </a:r>
              <a:endParaRPr lang="en-US" altLang="zh-CN" sz="1800">
                <a:latin typeface="Arial" panose="020B0604020202020204" pitchFamily="34" charset="0"/>
                <a:ea typeface="宋体" panose="02010600030101010101" pitchFamily="2" charset="-122"/>
              </a:endParaRPr>
            </a:p>
          </p:txBody>
        </p:sp>
        <p:sp>
          <p:nvSpPr>
            <p:cNvPr id="23567" name="矩形 187453"/>
            <p:cNvSpPr/>
            <p:nvPr/>
          </p:nvSpPr>
          <p:spPr>
            <a:xfrm>
              <a:off x="1671" y="254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3568" name="直接连接符 187454"/>
            <p:cNvSpPr/>
            <p:nvPr/>
          </p:nvSpPr>
          <p:spPr>
            <a:xfrm flipH="1">
              <a:off x="2296" y="2352"/>
              <a:ext cx="496" cy="0"/>
            </a:xfrm>
            <a:prstGeom prst="line">
              <a:avLst/>
            </a:prstGeom>
            <a:ln w="25400" cap="flat" cmpd="sng">
              <a:solidFill>
                <a:schemeClr val="tx1"/>
              </a:solidFill>
              <a:prstDash val="solid"/>
              <a:round/>
              <a:headEnd type="triangle" w="med" len="med"/>
              <a:tailEnd type="none" w="med" len="med"/>
            </a:ln>
          </p:spPr>
        </p:sp>
        <p:sp>
          <p:nvSpPr>
            <p:cNvPr id="23569" name="直接连接符 187455"/>
            <p:cNvSpPr/>
            <p:nvPr/>
          </p:nvSpPr>
          <p:spPr>
            <a:xfrm flipH="1">
              <a:off x="2540" y="2308"/>
              <a:ext cx="56" cy="88"/>
            </a:xfrm>
            <a:prstGeom prst="line">
              <a:avLst/>
            </a:prstGeom>
            <a:ln w="12700" cap="flat" cmpd="sng">
              <a:solidFill>
                <a:schemeClr val="tx1"/>
              </a:solidFill>
              <a:prstDash val="solid"/>
              <a:round/>
              <a:headEnd type="none" w="med" len="med"/>
              <a:tailEnd type="none" w="med" len="med"/>
            </a:ln>
          </p:spPr>
        </p:sp>
        <p:sp>
          <p:nvSpPr>
            <p:cNvPr id="23570" name="矩形 187456"/>
            <p:cNvSpPr/>
            <p:nvPr/>
          </p:nvSpPr>
          <p:spPr>
            <a:xfrm>
              <a:off x="2775" y="2256"/>
              <a:ext cx="21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Y</a:t>
              </a:r>
              <a:endParaRPr lang="en-US" altLang="zh-CN" sz="1800">
                <a:latin typeface="Arial" panose="020B0604020202020204" pitchFamily="34" charset="0"/>
                <a:ea typeface="宋体" panose="02010600030101010101" pitchFamily="2" charset="-122"/>
              </a:endParaRPr>
            </a:p>
          </p:txBody>
        </p:sp>
        <p:sp>
          <p:nvSpPr>
            <p:cNvPr id="23571" name="矩形 187457"/>
            <p:cNvSpPr/>
            <p:nvPr/>
          </p:nvSpPr>
          <p:spPr>
            <a:xfrm>
              <a:off x="2343" y="2352"/>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3572" name="直接连接符 187458"/>
            <p:cNvSpPr/>
            <p:nvPr/>
          </p:nvSpPr>
          <p:spPr>
            <a:xfrm>
              <a:off x="2208" y="1736"/>
              <a:ext cx="0" cy="272"/>
            </a:xfrm>
            <a:prstGeom prst="line">
              <a:avLst/>
            </a:prstGeom>
            <a:ln w="38100" cap="flat" cmpd="sng">
              <a:solidFill>
                <a:srgbClr val="D90125"/>
              </a:solidFill>
              <a:prstDash val="sysDot"/>
              <a:round/>
              <a:headEnd type="none" w="med" len="med"/>
              <a:tailEnd type="triangle" w="med" len="med"/>
            </a:ln>
          </p:spPr>
        </p:sp>
        <p:sp>
          <p:nvSpPr>
            <p:cNvPr id="23573" name="矩形 187459"/>
            <p:cNvSpPr/>
            <p:nvPr/>
          </p:nvSpPr>
          <p:spPr>
            <a:xfrm>
              <a:off x="1697" y="1680"/>
              <a:ext cx="543" cy="229"/>
            </a:xfrm>
            <a:prstGeom prst="rect">
              <a:avLst/>
            </a:prstGeom>
            <a:noFill/>
            <a:ln w="12700">
              <a:noFill/>
            </a:ln>
          </p:spPr>
          <p:txBody>
            <a:bodyPr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Select</a:t>
              </a:r>
              <a:endParaRPr lang="en-US" altLang="zh-CN" sz="1800">
                <a:latin typeface="Arial" panose="020B0604020202020204" pitchFamily="34" charset="0"/>
                <a:ea typeface="宋体" panose="02010600030101010101" pitchFamily="2" charset="-122"/>
              </a:endParaRPr>
            </a:p>
          </p:txBody>
        </p:sp>
        <p:sp>
          <p:nvSpPr>
            <p:cNvPr id="23574" name="矩形 187461"/>
            <p:cNvSpPr/>
            <p:nvPr/>
          </p:nvSpPr>
          <p:spPr>
            <a:xfrm rot="5400000">
              <a:off x="1958" y="2229"/>
              <a:ext cx="43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grpSp>
      <p:grpSp>
        <p:nvGrpSpPr>
          <p:cNvPr id="187489" name="组合 187488"/>
          <p:cNvGrpSpPr/>
          <p:nvPr/>
        </p:nvGrpSpPr>
        <p:grpSpPr>
          <a:xfrm>
            <a:off x="1266825" y="4738688"/>
            <a:ext cx="3165475" cy="1797050"/>
            <a:chOff x="1383" y="2985"/>
            <a:chExt cx="1994" cy="1132"/>
          </a:xfrm>
        </p:grpSpPr>
        <p:sp>
          <p:nvSpPr>
            <p:cNvPr id="23576" name="矩形 187431"/>
            <p:cNvSpPr/>
            <p:nvPr/>
          </p:nvSpPr>
          <p:spPr>
            <a:xfrm>
              <a:off x="1623" y="3888"/>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3577" name="直接连接符 187417"/>
            <p:cNvSpPr/>
            <p:nvPr/>
          </p:nvSpPr>
          <p:spPr>
            <a:xfrm flipH="1">
              <a:off x="1576" y="3312"/>
              <a:ext cx="496" cy="0"/>
            </a:xfrm>
            <a:prstGeom prst="line">
              <a:avLst/>
            </a:prstGeom>
            <a:ln w="25400" cap="flat" cmpd="sng">
              <a:solidFill>
                <a:schemeClr val="tx1"/>
              </a:solidFill>
              <a:prstDash val="solid"/>
              <a:round/>
              <a:headEnd type="triangle" w="med" len="med"/>
              <a:tailEnd type="none" w="med" len="med"/>
            </a:ln>
          </p:spPr>
        </p:sp>
        <p:grpSp>
          <p:nvGrpSpPr>
            <p:cNvPr id="23578" name="组合 187418"/>
            <p:cNvGrpSpPr/>
            <p:nvPr/>
          </p:nvGrpSpPr>
          <p:grpSpPr>
            <a:xfrm>
              <a:off x="2064" y="3224"/>
              <a:ext cx="288" cy="768"/>
              <a:chOff x="2064" y="3224"/>
              <a:chExt cx="288" cy="768"/>
            </a:xfrm>
          </p:grpSpPr>
          <p:sp>
            <p:nvSpPr>
              <p:cNvPr id="23579" name="直接连接符 187419"/>
              <p:cNvSpPr/>
              <p:nvPr/>
            </p:nvSpPr>
            <p:spPr>
              <a:xfrm>
                <a:off x="2064" y="3224"/>
                <a:ext cx="0" cy="176"/>
              </a:xfrm>
              <a:prstGeom prst="line">
                <a:avLst/>
              </a:prstGeom>
              <a:ln w="25400" cap="flat" cmpd="sng">
                <a:solidFill>
                  <a:schemeClr val="tx1"/>
                </a:solidFill>
                <a:prstDash val="solid"/>
                <a:round/>
                <a:headEnd type="none" w="med" len="med"/>
                <a:tailEnd type="none" w="med" len="med"/>
              </a:ln>
            </p:spPr>
          </p:sp>
          <p:sp>
            <p:nvSpPr>
              <p:cNvPr id="23580" name="直接连接符 187420"/>
              <p:cNvSpPr/>
              <p:nvPr/>
            </p:nvSpPr>
            <p:spPr>
              <a:xfrm>
                <a:off x="2072" y="3224"/>
                <a:ext cx="272" cy="176"/>
              </a:xfrm>
              <a:prstGeom prst="line">
                <a:avLst/>
              </a:prstGeom>
              <a:ln w="25400" cap="flat" cmpd="sng">
                <a:solidFill>
                  <a:schemeClr val="tx1"/>
                </a:solidFill>
                <a:prstDash val="solid"/>
                <a:round/>
                <a:headEnd type="none" w="med" len="med"/>
                <a:tailEnd type="none" w="med" len="med"/>
              </a:ln>
            </p:spPr>
          </p:sp>
          <p:sp>
            <p:nvSpPr>
              <p:cNvPr id="23581" name="直接连接符 187421"/>
              <p:cNvSpPr/>
              <p:nvPr/>
            </p:nvSpPr>
            <p:spPr>
              <a:xfrm>
                <a:off x="2072" y="3416"/>
                <a:ext cx="128" cy="80"/>
              </a:xfrm>
              <a:prstGeom prst="line">
                <a:avLst/>
              </a:prstGeom>
              <a:ln w="25400" cap="flat" cmpd="sng">
                <a:solidFill>
                  <a:schemeClr val="tx1"/>
                </a:solidFill>
                <a:prstDash val="solid"/>
                <a:round/>
                <a:headEnd type="none" w="med" len="med"/>
                <a:tailEnd type="none" w="med" len="med"/>
              </a:ln>
            </p:spPr>
          </p:sp>
          <p:sp>
            <p:nvSpPr>
              <p:cNvPr id="23582" name="直接连接符 187422"/>
              <p:cNvSpPr/>
              <p:nvPr/>
            </p:nvSpPr>
            <p:spPr>
              <a:xfrm>
                <a:off x="2208" y="3512"/>
                <a:ext cx="0" cy="176"/>
              </a:xfrm>
              <a:prstGeom prst="line">
                <a:avLst/>
              </a:prstGeom>
              <a:ln w="25400" cap="flat" cmpd="sng">
                <a:solidFill>
                  <a:schemeClr val="tx1"/>
                </a:solidFill>
                <a:prstDash val="solid"/>
                <a:round/>
                <a:headEnd type="none" w="med" len="med"/>
                <a:tailEnd type="none" w="med" len="med"/>
              </a:ln>
            </p:spPr>
          </p:sp>
          <p:sp>
            <p:nvSpPr>
              <p:cNvPr id="23583" name="直接连接符 187423"/>
              <p:cNvSpPr/>
              <p:nvPr/>
            </p:nvSpPr>
            <p:spPr>
              <a:xfrm>
                <a:off x="2352" y="3416"/>
                <a:ext cx="0" cy="368"/>
              </a:xfrm>
              <a:prstGeom prst="line">
                <a:avLst/>
              </a:prstGeom>
              <a:ln w="25400" cap="flat" cmpd="sng">
                <a:solidFill>
                  <a:schemeClr val="tx1"/>
                </a:solidFill>
                <a:prstDash val="solid"/>
                <a:round/>
                <a:headEnd type="none" w="med" len="med"/>
                <a:tailEnd type="none" w="med" len="med"/>
              </a:ln>
            </p:spPr>
          </p:sp>
          <p:sp>
            <p:nvSpPr>
              <p:cNvPr id="23584" name="直接连接符 187424"/>
              <p:cNvSpPr/>
              <p:nvPr/>
            </p:nvSpPr>
            <p:spPr>
              <a:xfrm flipV="1">
                <a:off x="2072" y="3688"/>
                <a:ext cx="128" cy="112"/>
              </a:xfrm>
              <a:prstGeom prst="line">
                <a:avLst/>
              </a:prstGeom>
              <a:ln w="25400" cap="flat" cmpd="sng">
                <a:solidFill>
                  <a:schemeClr val="tx1"/>
                </a:solidFill>
                <a:prstDash val="solid"/>
                <a:round/>
                <a:headEnd type="none" w="med" len="med"/>
                <a:tailEnd type="none" w="med" len="med"/>
              </a:ln>
            </p:spPr>
          </p:sp>
          <p:sp>
            <p:nvSpPr>
              <p:cNvPr id="23585" name="直接连接符 187425"/>
              <p:cNvSpPr/>
              <p:nvPr/>
            </p:nvSpPr>
            <p:spPr>
              <a:xfrm>
                <a:off x="2064" y="3800"/>
                <a:ext cx="0" cy="176"/>
              </a:xfrm>
              <a:prstGeom prst="line">
                <a:avLst/>
              </a:prstGeom>
              <a:ln w="25400" cap="flat" cmpd="sng">
                <a:solidFill>
                  <a:schemeClr val="tx1"/>
                </a:solidFill>
                <a:prstDash val="solid"/>
                <a:round/>
                <a:headEnd type="none" w="med" len="med"/>
                <a:tailEnd type="none" w="med" len="med"/>
              </a:ln>
            </p:spPr>
          </p:sp>
          <p:sp>
            <p:nvSpPr>
              <p:cNvPr id="23586" name="直接连接符 187426"/>
              <p:cNvSpPr/>
              <p:nvPr/>
            </p:nvSpPr>
            <p:spPr>
              <a:xfrm flipV="1">
                <a:off x="2072" y="3784"/>
                <a:ext cx="272" cy="208"/>
              </a:xfrm>
              <a:prstGeom prst="line">
                <a:avLst/>
              </a:prstGeom>
              <a:ln w="25400" cap="flat" cmpd="sng">
                <a:solidFill>
                  <a:schemeClr val="tx1"/>
                </a:solidFill>
                <a:prstDash val="solid"/>
                <a:round/>
                <a:headEnd type="none" w="med" len="med"/>
                <a:tailEnd type="none" w="med" len="med"/>
              </a:ln>
            </p:spPr>
          </p:sp>
        </p:grpSp>
        <p:sp>
          <p:nvSpPr>
            <p:cNvPr id="23587" name="直接连接符 187427"/>
            <p:cNvSpPr/>
            <p:nvPr/>
          </p:nvSpPr>
          <p:spPr>
            <a:xfrm flipH="1">
              <a:off x="1820" y="3268"/>
              <a:ext cx="56" cy="88"/>
            </a:xfrm>
            <a:prstGeom prst="line">
              <a:avLst/>
            </a:prstGeom>
            <a:ln w="12700" cap="flat" cmpd="sng">
              <a:solidFill>
                <a:schemeClr val="tx1"/>
              </a:solidFill>
              <a:prstDash val="solid"/>
              <a:round/>
              <a:headEnd type="none" w="med" len="med"/>
              <a:tailEnd type="none" w="med" len="med"/>
            </a:ln>
          </p:spPr>
        </p:sp>
        <p:sp>
          <p:nvSpPr>
            <p:cNvPr id="23588" name="矩形 187428"/>
            <p:cNvSpPr/>
            <p:nvPr/>
          </p:nvSpPr>
          <p:spPr>
            <a:xfrm>
              <a:off x="1623" y="3312"/>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3589" name="直接连接符 187429"/>
            <p:cNvSpPr/>
            <p:nvPr/>
          </p:nvSpPr>
          <p:spPr>
            <a:xfrm flipH="1">
              <a:off x="1576" y="3888"/>
              <a:ext cx="496" cy="0"/>
            </a:xfrm>
            <a:prstGeom prst="line">
              <a:avLst/>
            </a:prstGeom>
            <a:ln w="25400" cap="flat" cmpd="sng">
              <a:solidFill>
                <a:schemeClr val="tx1"/>
              </a:solidFill>
              <a:prstDash val="solid"/>
              <a:round/>
              <a:headEnd type="triangle" w="med" len="med"/>
              <a:tailEnd type="none" w="med" len="med"/>
            </a:ln>
          </p:spPr>
        </p:sp>
        <p:sp>
          <p:nvSpPr>
            <p:cNvPr id="23590" name="直接连接符 187430"/>
            <p:cNvSpPr/>
            <p:nvPr/>
          </p:nvSpPr>
          <p:spPr>
            <a:xfrm flipH="1">
              <a:off x="1820" y="3844"/>
              <a:ext cx="56" cy="88"/>
            </a:xfrm>
            <a:prstGeom prst="line">
              <a:avLst/>
            </a:prstGeom>
            <a:ln w="12700" cap="flat" cmpd="sng">
              <a:solidFill>
                <a:schemeClr val="tx1"/>
              </a:solidFill>
              <a:prstDash val="solid"/>
              <a:round/>
              <a:headEnd type="none" w="med" len="med"/>
              <a:tailEnd type="none" w="med" len="med"/>
            </a:ln>
          </p:spPr>
        </p:sp>
        <p:sp>
          <p:nvSpPr>
            <p:cNvPr id="23591" name="矩形 187432"/>
            <p:cNvSpPr/>
            <p:nvPr/>
          </p:nvSpPr>
          <p:spPr>
            <a:xfrm>
              <a:off x="1383" y="3216"/>
              <a:ext cx="21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a:t>
              </a:r>
              <a:endParaRPr lang="en-US" altLang="zh-CN" sz="1800">
                <a:latin typeface="Arial" panose="020B0604020202020204" pitchFamily="34" charset="0"/>
                <a:ea typeface="宋体" panose="02010600030101010101" pitchFamily="2" charset="-122"/>
              </a:endParaRPr>
            </a:p>
          </p:txBody>
        </p:sp>
        <p:sp>
          <p:nvSpPr>
            <p:cNvPr id="23592" name="矩形 187433"/>
            <p:cNvSpPr/>
            <p:nvPr/>
          </p:nvSpPr>
          <p:spPr>
            <a:xfrm>
              <a:off x="1383" y="3792"/>
              <a:ext cx="21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a:t>
              </a:r>
              <a:endParaRPr lang="en-US" altLang="zh-CN" sz="1800">
                <a:latin typeface="Arial" panose="020B0604020202020204" pitchFamily="34" charset="0"/>
                <a:ea typeface="宋体" panose="02010600030101010101" pitchFamily="2" charset="-122"/>
              </a:endParaRPr>
            </a:p>
          </p:txBody>
        </p:sp>
        <p:sp>
          <p:nvSpPr>
            <p:cNvPr id="23593" name="直接连接符 187434"/>
            <p:cNvSpPr/>
            <p:nvPr/>
          </p:nvSpPr>
          <p:spPr>
            <a:xfrm flipH="1">
              <a:off x="2344" y="3600"/>
              <a:ext cx="496" cy="0"/>
            </a:xfrm>
            <a:prstGeom prst="line">
              <a:avLst/>
            </a:prstGeom>
            <a:ln w="25400" cap="flat" cmpd="sng">
              <a:solidFill>
                <a:schemeClr val="tx1"/>
              </a:solidFill>
              <a:prstDash val="solid"/>
              <a:round/>
              <a:headEnd type="triangle" w="med" len="med"/>
              <a:tailEnd type="none" w="med" len="med"/>
            </a:ln>
          </p:spPr>
        </p:sp>
        <p:sp>
          <p:nvSpPr>
            <p:cNvPr id="23594" name="直接连接符 187435"/>
            <p:cNvSpPr/>
            <p:nvPr/>
          </p:nvSpPr>
          <p:spPr>
            <a:xfrm flipH="1">
              <a:off x="2588" y="3556"/>
              <a:ext cx="56" cy="88"/>
            </a:xfrm>
            <a:prstGeom prst="line">
              <a:avLst/>
            </a:prstGeom>
            <a:ln w="12700" cap="flat" cmpd="sng">
              <a:solidFill>
                <a:schemeClr val="tx1"/>
              </a:solidFill>
              <a:prstDash val="solid"/>
              <a:round/>
              <a:headEnd type="none" w="med" len="med"/>
              <a:tailEnd type="none" w="med" len="med"/>
            </a:ln>
          </p:spPr>
        </p:sp>
        <p:sp>
          <p:nvSpPr>
            <p:cNvPr id="23595" name="矩形 187436"/>
            <p:cNvSpPr/>
            <p:nvPr/>
          </p:nvSpPr>
          <p:spPr>
            <a:xfrm>
              <a:off x="2391" y="3600"/>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3596" name="矩形 187437"/>
            <p:cNvSpPr/>
            <p:nvPr/>
          </p:nvSpPr>
          <p:spPr>
            <a:xfrm>
              <a:off x="2823" y="3504"/>
              <a:ext cx="55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Result</a:t>
              </a:r>
              <a:endParaRPr lang="en-US" altLang="zh-CN" sz="1800">
                <a:latin typeface="Arial" panose="020B0604020202020204" pitchFamily="34" charset="0"/>
                <a:ea typeface="宋体" panose="02010600030101010101" pitchFamily="2" charset="-122"/>
              </a:endParaRPr>
            </a:p>
          </p:txBody>
        </p:sp>
        <p:sp>
          <p:nvSpPr>
            <p:cNvPr id="23597" name="直接连接符 187438"/>
            <p:cNvSpPr/>
            <p:nvPr/>
          </p:nvSpPr>
          <p:spPr>
            <a:xfrm>
              <a:off x="2216" y="3888"/>
              <a:ext cx="608" cy="0"/>
            </a:xfrm>
            <a:prstGeom prst="line">
              <a:avLst/>
            </a:prstGeom>
            <a:ln w="25400" cap="flat" cmpd="sng">
              <a:solidFill>
                <a:schemeClr val="tx1"/>
              </a:solidFill>
              <a:prstDash val="solid"/>
              <a:round/>
              <a:headEnd type="none" w="med" len="med"/>
              <a:tailEnd type="triangle" w="med" len="med"/>
            </a:ln>
          </p:spPr>
        </p:sp>
        <p:sp>
          <p:nvSpPr>
            <p:cNvPr id="23598" name="矩形 187439"/>
            <p:cNvSpPr/>
            <p:nvPr/>
          </p:nvSpPr>
          <p:spPr>
            <a:xfrm>
              <a:off x="2823" y="3792"/>
              <a:ext cx="4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Zero</a:t>
              </a:r>
              <a:endParaRPr lang="en-US" altLang="zh-CN" sz="1800">
                <a:latin typeface="Arial" panose="020B0604020202020204" pitchFamily="34" charset="0"/>
                <a:ea typeface="宋体" panose="02010600030101010101" pitchFamily="2" charset="-122"/>
              </a:endParaRPr>
            </a:p>
          </p:txBody>
        </p:sp>
        <p:sp>
          <p:nvSpPr>
            <p:cNvPr id="23599" name="直接连接符 187440"/>
            <p:cNvSpPr/>
            <p:nvPr/>
          </p:nvSpPr>
          <p:spPr>
            <a:xfrm>
              <a:off x="2208" y="3032"/>
              <a:ext cx="0" cy="272"/>
            </a:xfrm>
            <a:prstGeom prst="line">
              <a:avLst/>
            </a:prstGeom>
            <a:ln w="38100" cap="flat" cmpd="sng">
              <a:solidFill>
                <a:srgbClr val="D90125"/>
              </a:solidFill>
              <a:prstDash val="sysDot"/>
              <a:round/>
              <a:headEnd type="none" w="med" len="med"/>
              <a:tailEnd type="triangle" w="med" len="med"/>
            </a:ln>
          </p:spPr>
        </p:sp>
        <p:sp>
          <p:nvSpPr>
            <p:cNvPr id="23600" name="矩形 187441"/>
            <p:cNvSpPr/>
            <p:nvPr/>
          </p:nvSpPr>
          <p:spPr>
            <a:xfrm>
              <a:off x="1929" y="2985"/>
              <a:ext cx="442" cy="210"/>
            </a:xfrm>
            <a:prstGeom prst="rect">
              <a:avLst/>
            </a:prstGeom>
            <a:noFill/>
            <a:ln w="12700">
              <a:noFill/>
            </a:ln>
          </p:spPr>
          <p:txBody>
            <a:bodyPr lIns="90488" tIns="44450" rIns="90488" bIns="44450" anchor="t" anchorCtr="0">
              <a:spAutoFit/>
            </a:bodyPr>
            <a:p>
              <a:pPr eaLnBrk="0" hangingPunct="0"/>
              <a:r>
                <a:rPr lang="en-US" altLang="zh-CN">
                  <a:solidFill>
                    <a:srgbClr val="B7011F"/>
                  </a:solidFill>
                  <a:latin typeface="Arial" panose="020B0604020202020204" pitchFamily="34" charset="0"/>
                  <a:ea typeface="宋体" panose="02010600030101010101" pitchFamily="2" charset="-122"/>
                </a:rPr>
                <a:t>OP</a:t>
              </a:r>
              <a:endParaRPr lang="en-US" altLang="zh-CN">
                <a:solidFill>
                  <a:srgbClr val="B7011F"/>
                </a:solidFill>
                <a:latin typeface="Arial" panose="020B0604020202020204" pitchFamily="34" charset="0"/>
                <a:ea typeface="宋体" panose="02010600030101010101" pitchFamily="2" charset="-122"/>
              </a:endParaRPr>
            </a:p>
          </p:txBody>
        </p:sp>
        <p:sp>
          <p:nvSpPr>
            <p:cNvPr id="23601" name="矩形 187462"/>
            <p:cNvSpPr/>
            <p:nvPr/>
          </p:nvSpPr>
          <p:spPr>
            <a:xfrm rot="5400000">
              <a:off x="2044" y="3493"/>
              <a:ext cx="41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grpSp>
      <p:grpSp>
        <p:nvGrpSpPr>
          <p:cNvPr id="187485" name="组合 187484"/>
          <p:cNvGrpSpPr/>
          <p:nvPr/>
        </p:nvGrpSpPr>
        <p:grpSpPr>
          <a:xfrm>
            <a:off x="1474788" y="687388"/>
            <a:ext cx="3063875" cy="1735137"/>
            <a:chOff x="1431" y="432"/>
            <a:chExt cx="1930" cy="1093"/>
          </a:xfrm>
        </p:grpSpPr>
        <p:sp>
          <p:nvSpPr>
            <p:cNvPr id="23603" name="直接连接符 187395"/>
            <p:cNvSpPr/>
            <p:nvPr/>
          </p:nvSpPr>
          <p:spPr>
            <a:xfrm flipH="1">
              <a:off x="1624" y="720"/>
              <a:ext cx="496" cy="0"/>
            </a:xfrm>
            <a:prstGeom prst="line">
              <a:avLst/>
            </a:prstGeom>
            <a:ln w="25400" cap="flat" cmpd="sng">
              <a:solidFill>
                <a:schemeClr val="tx1"/>
              </a:solidFill>
              <a:prstDash val="solid"/>
              <a:round/>
              <a:headEnd type="triangle" w="med" len="med"/>
              <a:tailEnd type="none" w="med" len="med"/>
            </a:ln>
          </p:spPr>
        </p:sp>
        <p:sp>
          <p:nvSpPr>
            <p:cNvPr id="23604" name="直接连接符 187396"/>
            <p:cNvSpPr/>
            <p:nvPr/>
          </p:nvSpPr>
          <p:spPr>
            <a:xfrm>
              <a:off x="2112" y="632"/>
              <a:ext cx="0" cy="213"/>
            </a:xfrm>
            <a:prstGeom prst="line">
              <a:avLst/>
            </a:prstGeom>
            <a:ln w="25400" cap="flat" cmpd="sng">
              <a:solidFill>
                <a:schemeClr val="tx1"/>
              </a:solidFill>
              <a:prstDash val="solid"/>
              <a:round/>
              <a:headEnd type="none" w="med" len="med"/>
              <a:tailEnd type="none" w="med" len="med"/>
            </a:ln>
          </p:spPr>
        </p:sp>
        <p:sp>
          <p:nvSpPr>
            <p:cNvPr id="23605" name="直接连接符 187397"/>
            <p:cNvSpPr/>
            <p:nvPr/>
          </p:nvSpPr>
          <p:spPr>
            <a:xfrm>
              <a:off x="2120" y="632"/>
              <a:ext cx="282" cy="194"/>
            </a:xfrm>
            <a:prstGeom prst="line">
              <a:avLst/>
            </a:prstGeom>
            <a:ln w="25400" cap="flat" cmpd="sng">
              <a:solidFill>
                <a:schemeClr val="tx1"/>
              </a:solidFill>
              <a:prstDash val="solid"/>
              <a:round/>
              <a:headEnd type="none" w="med" len="med"/>
              <a:tailEnd type="none" w="med" len="med"/>
            </a:ln>
          </p:spPr>
        </p:sp>
        <p:sp>
          <p:nvSpPr>
            <p:cNvPr id="23606" name="直接连接符 187398"/>
            <p:cNvSpPr/>
            <p:nvPr/>
          </p:nvSpPr>
          <p:spPr>
            <a:xfrm>
              <a:off x="2102" y="815"/>
              <a:ext cx="164" cy="107"/>
            </a:xfrm>
            <a:prstGeom prst="line">
              <a:avLst/>
            </a:prstGeom>
            <a:ln w="25400" cap="flat" cmpd="sng">
              <a:solidFill>
                <a:schemeClr val="tx1"/>
              </a:solidFill>
              <a:prstDash val="solid"/>
              <a:round/>
              <a:headEnd type="none" w="med" len="med"/>
              <a:tailEnd type="none" w="med" len="med"/>
            </a:ln>
          </p:spPr>
        </p:sp>
        <p:sp>
          <p:nvSpPr>
            <p:cNvPr id="23607" name="直接连接符 187399"/>
            <p:cNvSpPr/>
            <p:nvPr/>
          </p:nvSpPr>
          <p:spPr>
            <a:xfrm>
              <a:off x="2256" y="920"/>
              <a:ext cx="0" cy="176"/>
            </a:xfrm>
            <a:prstGeom prst="line">
              <a:avLst/>
            </a:prstGeom>
            <a:ln w="25400" cap="flat" cmpd="sng">
              <a:solidFill>
                <a:schemeClr val="tx1"/>
              </a:solidFill>
              <a:prstDash val="solid"/>
              <a:round/>
              <a:headEnd type="none" w="med" len="med"/>
              <a:tailEnd type="none" w="med" len="med"/>
            </a:ln>
          </p:spPr>
        </p:sp>
        <p:sp>
          <p:nvSpPr>
            <p:cNvPr id="23608" name="直接连接符 187400"/>
            <p:cNvSpPr/>
            <p:nvPr/>
          </p:nvSpPr>
          <p:spPr>
            <a:xfrm>
              <a:off x="2400" y="824"/>
              <a:ext cx="0" cy="368"/>
            </a:xfrm>
            <a:prstGeom prst="line">
              <a:avLst/>
            </a:prstGeom>
            <a:ln w="25400" cap="flat" cmpd="sng">
              <a:solidFill>
                <a:schemeClr val="tx1"/>
              </a:solidFill>
              <a:prstDash val="solid"/>
              <a:round/>
              <a:headEnd type="none" w="med" len="med"/>
              <a:tailEnd type="none" w="med" len="med"/>
            </a:ln>
          </p:spPr>
        </p:sp>
        <p:sp>
          <p:nvSpPr>
            <p:cNvPr id="23609" name="直接连接符 187401"/>
            <p:cNvSpPr/>
            <p:nvPr/>
          </p:nvSpPr>
          <p:spPr>
            <a:xfrm flipV="1">
              <a:off x="2120" y="1096"/>
              <a:ext cx="128" cy="112"/>
            </a:xfrm>
            <a:prstGeom prst="line">
              <a:avLst/>
            </a:prstGeom>
            <a:ln w="25400" cap="flat" cmpd="sng">
              <a:solidFill>
                <a:schemeClr val="tx1"/>
              </a:solidFill>
              <a:prstDash val="solid"/>
              <a:round/>
              <a:headEnd type="none" w="med" len="med"/>
              <a:tailEnd type="none" w="med" len="med"/>
            </a:ln>
          </p:spPr>
        </p:sp>
        <p:sp>
          <p:nvSpPr>
            <p:cNvPr id="23610" name="直接连接符 187402"/>
            <p:cNvSpPr/>
            <p:nvPr/>
          </p:nvSpPr>
          <p:spPr>
            <a:xfrm flipH="1">
              <a:off x="2103" y="1208"/>
              <a:ext cx="9" cy="194"/>
            </a:xfrm>
            <a:prstGeom prst="line">
              <a:avLst/>
            </a:prstGeom>
            <a:ln w="25400" cap="flat" cmpd="sng">
              <a:solidFill>
                <a:schemeClr val="tx1"/>
              </a:solidFill>
              <a:prstDash val="solid"/>
              <a:round/>
              <a:headEnd type="none" w="med" len="med"/>
              <a:tailEnd type="none" w="med" len="med"/>
            </a:ln>
          </p:spPr>
        </p:sp>
        <p:sp>
          <p:nvSpPr>
            <p:cNvPr id="23611" name="直接连接符 187403"/>
            <p:cNvSpPr/>
            <p:nvPr/>
          </p:nvSpPr>
          <p:spPr>
            <a:xfrm flipV="1">
              <a:off x="2120" y="1192"/>
              <a:ext cx="272" cy="208"/>
            </a:xfrm>
            <a:prstGeom prst="line">
              <a:avLst/>
            </a:prstGeom>
            <a:ln w="25400" cap="flat" cmpd="sng">
              <a:solidFill>
                <a:schemeClr val="tx1"/>
              </a:solidFill>
              <a:prstDash val="solid"/>
              <a:round/>
              <a:headEnd type="none" w="med" len="med"/>
              <a:tailEnd type="none" w="med" len="med"/>
            </a:ln>
          </p:spPr>
        </p:sp>
        <p:sp>
          <p:nvSpPr>
            <p:cNvPr id="23612" name="直接连接符 187404"/>
            <p:cNvSpPr/>
            <p:nvPr/>
          </p:nvSpPr>
          <p:spPr>
            <a:xfrm flipH="1">
              <a:off x="1868" y="676"/>
              <a:ext cx="56" cy="88"/>
            </a:xfrm>
            <a:prstGeom prst="line">
              <a:avLst/>
            </a:prstGeom>
            <a:ln w="12700" cap="flat" cmpd="sng">
              <a:solidFill>
                <a:schemeClr val="tx1"/>
              </a:solidFill>
              <a:prstDash val="solid"/>
              <a:round/>
              <a:headEnd type="none" w="med" len="med"/>
              <a:tailEnd type="none" w="med" len="med"/>
            </a:ln>
          </p:spPr>
        </p:sp>
        <p:sp>
          <p:nvSpPr>
            <p:cNvPr id="23613" name="矩形 187405"/>
            <p:cNvSpPr/>
            <p:nvPr/>
          </p:nvSpPr>
          <p:spPr>
            <a:xfrm>
              <a:off x="1671" y="720"/>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3614" name="直接连接符 187406"/>
            <p:cNvSpPr/>
            <p:nvPr/>
          </p:nvSpPr>
          <p:spPr>
            <a:xfrm flipH="1">
              <a:off x="1624" y="1296"/>
              <a:ext cx="496" cy="0"/>
            </a:xfrm>
            <a:prstGeom prst="line">
              <a:avLst/>
            </a:prstGeom>
            <a:ln w="25400" cap="flat" cmpd="sng">
              <a:solidFill>
                <a:schemeClr val="tx1"/>
              </a:solidFill>
              <a:prstDash val="solid"/>
              <a:round/>
              <a:headEnd type="triangle" w="med" len="med"/>
              <a:tailEnd type="none" w="med" len="med"/>
            </a:ln>
          </p:spPr>
        </p:sp>
        <p:sp>
          <p:nvSpPr>
            <p:cNvPr id="23615" name="直接连接符 187407"/>
            <p:cNvSpPr/>
            <p:nvPr/>
          </p:nvSpPr>
          <p:spPr>
            <a:xfrm flipH="1">
              <a:off x="1868" y="1252"/>
              <a:ext cx="56" cy="88"/>
            </a:xfrm>
            <a:prstGeom prst="line">
              <a:avLst/>
            </a:prstGeom>
            <a:ln w="12700" cap="flat" cmpd="sng">
              <a:solidFill>
                <a:schemeClr val="tx1"/>
              </a:solidFill>
              <a:prstDash val="solid"/>
              <a:round/>
              <a:headEnd type="none" w="med" len="med"/>
              <a:tailEnd type="none" w="med" len="med"/>
            </a:ln>
          </p:spPr>
        </p:sp>
        <p:sp>
          <p:nvSpPr>
            <p:cNvPr id="23616" name="矩形 187408"/>
            <p:cNvSpPr/>
            <p:nvPr/>
          </p:nvSpPr>
          <p:spPr>
            <a:xfrm>
              <a:off x="1671" y="1296"/>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3617" name="矩形 187409"/>
            <p:cNvSpPr/>
            <p:nvPr/>
          </p:nvSpPr>
          <p:spPr>
            <a:xfrm>
              <a:off x="1431" y="624"/>
              <a:ext cx="21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a:t>
              </a:r>
              <a:endParaRPr lang="en-US" altLang="zh-CN" sz="1800">
                <a:latin typeface="Arial" panose="020B0604020202020204" pitchFamily="34" charset="0"/>
                <a:ea typeface="宋体" panose="02010600030101010101" pitchFamily="2" charset="-122"/>
              </a:endParaRPr>
            </a:p>
          </p:txBody>
        </p:sp>
        <p:sp>
          <p:nvSpPr>
            <p:cNvPr id="23618" name="矩形 187410"/>
            <p:cNvSpPr/>
            <p:nvPr/>
          </p:nvSpPr>
          <p:spPr>
            <a:xfrm>
              <a:off x="1431" y="1200"/>
              <a:ext cx="21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a:t>
              </a:r>
              <a:endParaRPr lang="en-US" altLang="zh-CN" sz="1800">
                <a:latin typeface="Arial" panose="020B0604020202020204" pitchFamily="34" charset="0"/>
                <a:ea typeface="宋体" panose="02010600030101010101" pitchFamily="2" charset="-122"/>
              </a:endParaRPr>
            </a:p>
          </p:txBody>
        </p:sp>
        <p:sp>
          <p:nvSpPr>
            <p:cNvPr id="23619" name="直接连接符 187411"/>
            <p:cNvSpPr/>
            <p:nvPr/>
          </p:nvSpPr>
          <p:spPr>
            <a:xfrm flipH="1">
              <a:off x="2392" y="1008"/>
              <a:ext cx="496" cy="0"/>
            </a:xfrm>
            <a:prstGeom prst="line">
              <a:avLst/>
            </a:prstGeom>
            <a:ln w="25400" cap="flat" cmpd="sng">
              <a:solidFill>
                <a:schemeClr val="tx1"/>
              </a:solidFill>
              <a:prstDash val="solid"/>
              <a:round/>
              <a:headEnd type="triangle" w="med" len="med"/>
              <a:tailEnd type="none" w="med" len="med"/>
            </a:ln>
          </p:spPr>
        </p:sp>
        <p:sp>
          <p:nvSpPr>
            <p:cNvPr id="23620" name="直接连接符 187412"/>
            <p:cNvSpPr/>
            <p:nvPr/>
          </p:nvSpPr>
          <p:spPr>
            <a:xfrm flipH="1">
              <a:off x="2636" y="964"/>
              <a:ext cx="56" cy="88"/>
            </a:xfrm>
            <a:prstGeom prst="line">
              <a:avLst/>
            </a:prstGeom>
            <a:ln w="12700" cap="flat" cmpd="sng">
              <a:solidFill>
                <a:schemeClr val="tx1"/>
              </a:solidFill>
              <a:prstDash val="solid"/>
              <a:round/>
              <a:headEnd type="none" w="med" len="med"/>
              <a:tailEnd type="none" w="med" len="med"/>
            </a:ln>
          </p:spPr>
        </p:sp>
        <p:sp>
          <p:nvSpPr>
            <p:cNvPr id="23621" name="矩形 187413"/>
            <p:cNvSpPr/>
            <p:nvPr/>
          </p:nvSpPr>
          <p:spPr>
            <a:xfrm>
              <a:off x="2439" y="1008"/>
              <a:ext cx="242"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32</a:t>
              </a:r>
              <a:endParaRPr lang="zh-CN" altLang="en-US" b="0" dirty="0">
                <a:latin typeface="Times New Roman" panose="02020603050405020304" pitchFamily="18" charset="0"/>
                <a:ea typeface="宋体" panose="02010600030101010101" pitchFamily="2" charset="-122"/>
              </a:endParaRPr>
            </a:p>
          </p:txBody>
        </p:sp>
        <p:sp>
          <p:nvSpPr>
            <p:cNvPr id="23622" name="矩形 187414"/>
            <p:cNvSpPr/>
            <p:nvPr/>
          </p:nvSpPr>
          <p:spPr>
            <a:xfrm>
              <a:off x="2871" y="912"/>
              <a:ext cx="4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Sum</a:t>
              </a:r>
              <a:endParaRPr lang="en-US" altLang="zh-CN" sz="1800">
                <a:latin typeface="Arial" panose="020B0604020202020204" pitchFamily="34" charset="0"/>
                <a:ea typeface="宋体" panose="02010600030101010101" pitchFamily="2" charset="-122"/>
              </a:endParaRPr>
            </a:p>
          </p:txBody>
        </p:sp>
        <p:sp>
          <p:nvSpPr>
            <p:cNvPr id="23623" name="直接连接符 187415"/>
            <p:cNvSpPr/>
            <p:nvPr/>
          </p:nvSpPr>
          <p:spPr>
            <a:xfrm>
              <a:off x="2264" y="1296"/>
              <a:ext cx="608" cy="0"/>
            </a:xfrm>
            <a:prstGeom prst="line">
              <a:avLst/>
            </a:prstGeom>
            <a:ln w="25400" cap="flat" cmpd="sng">
              <a:solidFill>
                <a:schemeClr val="tx1"/>
              </a:solidFill>
              <a:prstDash val="solid"/>
              <a:round/>
              <a:headEnd type="none" w="med" len="med"/>
              <a:tailEnd type="triangle" w="med" len="med"/>
            </a:ln>
          </p:spPr>
        </p:sp>
        <p:sp>
          <p:nvSpPr>
            <p:cNvPr id="23624" name="矩形 187416"/>
            <p:cNvSpPr/>
            <p:nvPr/>
          </p:nvSpPr>
          <p:spPr>
            <a:xfrm>
              <a:off x="2871" y="1200"/>
              <a:ext cx="4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Carry</a:t>
              </a:r>
              <a:endParaRPr lang="en-US" altLang="zh-CN" sz="1800">
                <a:latin typeface="Arial" panose="020B0604020202020204" pitchFamily="34" charset="0"/>
                <a:ea typeface="宋体" panose="02010600030101010101" pitchFamily="2" charset="-122"/>
              </a:endParaRPr>
            </a:p>
          </p:txBody>
        </p:sp>
        <p:sp>
          <p:nvSpPr>
            <p:cNvPr id="23625" name="矩形 187460"/>
            <p:cNvSpPr/>
            <p:nvPr/>
          </p:nvSpPr>
          <p:spPr>
            <a:xfrm rot="5400000">
              <a:off x="2054" y="926"/>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sp>
          <p:nvSpPr>
            <p:cNvPr id="23626" name="直接连接符 187463"/>
            <p:cNvSpPr/>
            <p:nvPr/>
          </p:nvSpPr>
          <p:spPr>
            <a:xfrm>
              <a:off x="2304" y="488"/>
              <a:ext cx="0" cy="272"/>
            </a:xfrm>
            <a:prstGeom prst="line">
              <a:avLst/>
            </a:prstGeom>
            <a:ln w="25400" cap="flat" cmpd="sng">
              <a:solidFill>
                <a:schemeClr val="tx1"/>
              </a:solidFill>
              <a:prstDash val="solid"/>
              <a:round/>
              <a:headEnd type="none" w="med" len="med"/>
              <a:tailEnd type="triangle" w="med" len="med"/>
            </a:ln>
          </p:spPr>
        </p:sp>
        <p:sp>
          <p:nvSpPr>
            <p:cNvPr id="23627" name="矩形 187464"/>
            <p:cNvSpPr/>
            <p:nvPr/>
          </p:nvSpPr>
          <p:spPr>
            <a:xfrm>
              <a:off x="2295" y="432"/>
              <a:ext cx="618"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CarryIn</a:t>
              </a:r>
              <a:endParaRPr lang="en-US" altLang="zh-CN" sz="1800">
                <a:latin typeface="Arial" panose="020B0604020202020204" pitchFamily="34" charset="0"/>
                <a:ea typeface="宋体" panose="02010600030101010101" pitchFamily="2" charset="-122"/>
              </a:endParaRPr>
            </a:p>
          </p:txBody>
        </p:sp>
      </p:grpSp>
      <p:grpSp>
        <p:nvGrpSpPr>
          <p:cNvPr id="187493" name="组合 187492"/>
          <p:cNvGrpSpPr/>
          <p:nvPr/>
        </p:nvGrpSpPr>
        <p:grpSpPr>
          <a:xfrm>
            <a:off x="6305550" y="993775"/>
            <a:ext cx="2451100" cy="1676400"/>
            <a:chOff x="3843" y="1056"/>
            <a:chExt cx="1544" cy="864"/>
          </a:xfrm>
        </p:grpSpPr>
        <p:sp>
          <p:nvSpPr>
            <p:cNvPr id="23629" name="直接连接符 187465"/>
            <p:cNvSpPr/>
            <p:nvPr/>
          </p:nvSpPr>
          <p:spPr>
            <a:xfrm>
              <a:off x="4359" y="1115"/>
              <a:ext cx="0" cy="713"/>
            </a:xfrm>
            <a:prstGeom prst="line">
              <a:avLst/>
            </a:prstGeom>
            <a:ln w="25400" cap="flat" cmpd="sng">
              <a:solidFill>
                <a:schemeClr val="tx1"/>
              </a:solidFill>
              <a:prstDash val="solid"/>
              <a:round/>
              <a:headEnd type="none" w="med" len="med"/>
              <a:tailEnd type="none" w="med" len="med"/>
            </a:ln>
          </p:spPr>
        </p:sp>
        <p:sp>
          <p:nvSpPr>
            <p:cNvPr id="23630" name="直接连接符 187466"/>
            <p:cNvSpPr/>
            <p:nvPr/>
          </p:nvSpPr>
          <p:spPr>
            <a:xfrm flipV="1">
              <a:off x="4367" y="1112"/>
              <a:ext cx="167" cy="3"/>
            </a:xfrm>
            <a:prstGeom prst="line">
              <a:avLst/>
            </a:prstGeom>
            <a:ln w="25400" cap="flat" cmpd="sng">
              <a:solidFill>
                <a:schemeClr val="tx1"/>
              </a:solidFill>
              <a:prstDash val="solid"/>
              <a:round/>
              <a:headEnd type="none" w="med" len="med"/>
              <a:tailEnd type="none" w="med" len="med"/>
            </a:ln>
          </p:spPr>
        </p:sp>
        <p:sp>
          <p:nvSpPr>
            <p:cNvPr id="23631" name="直接连接符 187467"/>
            <p:cNvSpPr/>
            <p:nvPr/>
          </p:nvSpPr>
          <p:spPr>
            <a:xfrm>
              <a:off x="4340" y="1835"/>
              <a:ext cx="212" cy="7"/>
            </a:xfrm>
            <a:prstGeom prst="line">
              <a:avLst/>
            </a:prstGeom>
            <a:ln w="25400" cap="flat" cmpd="sng">
              <a:solidFill>
                <a:schemeClr val="tx1"/>
              </a:solidFill>
              <a:prstDash val="solid"/>
              <a:round/>
              <a:headEnd type="none" w="med" len="med"/>
              <a:tailEnd type="none" w="med" len="med"/>
            </a:ln>
          </p:spPr>
        </p:sp>
        <p:sp>
          <p:nvSpPr>
            <p:cNvPr id="23632" name="直接连接符 187468"/>
            <p:cNvSpPr/>
            <p:nvPr/>
          </p:nvSpPr>
          <p:spPr>
            <a:xfrm>
              <a:off x="4551" y="1119"/>
              <a:ext cx="0" cy="724"/>
            </a:xfrm>
            <a:prstGeom prst="line">
              <a:avLst/>
            </a:prstGeom>
            <a:ln w="25400" cap="flat" cmpd="sng">
              <a:solidFill>
                <a:schemeClr val="tx1"/>
              </a:solidFill>
              <a:prstDash val="solid"/>
              <a:round/>
              <a:headEnd type="none" w="med" len="med"/>
              <a:tailEnd type="none" w="med" len="med"/>
            </a:ln>
          </p:spPr>
        </p:sp>
        <p:sp>
          <p:nvSpPr>
            <p:cNvPr id="23633" name="直接连接符 187469"/>
            <p:cNvSpPr/>
            <p:nvPr/>
          </p:nvSpPr>
          <p:spPr>
            <a:xfrm flipH="1">
              <a:off x="3843" y="1427"/>
              <a:ext cx="496" cy="1"/>
            </a:xfrm>
            <a:prstGeom prst="line">
              <a:avLst/>
            </a:prstGeom>
            <a:ln w="25400" cap="flat" cmpd="sng">
              <a:solidFill>
                <a:schemeClr val="tx1"/>
              </a:solidFill>
              <a:prstDash val="solid"/>
              <a:round/>
              <a:headEnd type="triangle" w="med" len="med"/>
              <a:tailEnd type="none" w="med" len="med"/>
            </a:ln>
          </p:spPr>
        </p:sp>
        <p:sp>
          <p:nvSpPr>
            <p:cNvPr id="23634" name="直接连接符 187470"/>
            <p:cNvSpPr/>
            <p:nvPr/>
          </p:nvSpPr>
          <p:spPr>
            <a:xfrm flipH="1">
              <a:off x="4096" y="1392"/>
              <a:ext cx="56" cy="88"/>
            </a:xfrm>
            <a:prstGeom prst="line">
              <a:avLst/>
            </a:prstGeom>
            <a:ln w="12700" cap="flat" cmpd="sng">
              <a:solidFill>
                <a:schemeClr val="tx1"/>
              </a:solidFill>
              <a:prstDash val="solid"/>
              <a:round/>
              <a:headEnd type="none" w="med" len="med"/>
              <a:tailEnd type="none" w="med" len="med"/>
            </a:ln>
          </p:spPr>
        </p:sp>
        <p:sp>
          <p:nvSpPr>
            <p:cNvPr id="23635" name="矩形 187471"/>
            <p:cNvSpPr/>
            <p:nvPr/>
          </p:nvSpPr>
          <p:spPr>
            <a:xfrm>
              <a:off x="3992" y="1427"/>
              <a:ext cx="178" cy="171"/>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3</a:t>
              </a:r>
              <a:endParaRPr lang="zh-CN" altLang="en-US" b="0" dirty="0">
                <a:latin typeface="Times New Roman" panose="02020603050405020304" pitchFamily="18" charset="0"/>
                <a:ea typeface="宋体" panose="02010600030101010101" pitchFamily="2" charset="-122"/>
              </a:endParaRPr>
            </a:p>
          </p:txBody>
        </p:sp>
        <p:sp>
          <p:nvSpPr>
            <p:cNvPr id="23636" name="直接连接符 187472"/>
            <p:cNvSpPr/>
            <p:nvPr/>
          </p:nvSpPr>
          <p:spPr>
            <a:xfrm flipH="1">
              <a:off x="4542" y="1171"/>
              <a:ext cx="496" cy="1"/>
            </a:xfrm>
            <a:prstGeom prst="line">
              <a:avLst/>
            </a:prstGeom>
            <a:ln w="38100" cap="flat" cmpd="sng">
              <a:solidFill>
                <a:srgbClr val="D90125"/>
              </a:solidFill>
              <a:prstDash val="sysDot"/>
              <a:round/>
              <a:headEnd type="triangle" w="med" len="med"/>
              <a:tailEnd type="none" w="med" len="med"/>
            </a:ln>
          </p:spPr>
        </p:sp>
        <p:sp>
          <p:nvSpPr>
            <p:cNvPr id="23637" name="矩形 187473"/>
            <p:cNvSpPr/>
            <p:nvPr/>
          </p:nvSpPr>
          <p:spPr>
            <a:xfrm rot="5400000">
              <a:off x="4094" y="1451"/>
              <a:ext cx="690" cy="229"/>
            </a:xfrm>
            <a:prstGeom prst="rect">
              <a:avLst/>
            </a:prstGeom>
            <a:noFill/>
            <a:ln w="12700">
              <a:noFill/>
            </a:ln>
          </p:spPr>
          <p:txBody>
            <a:bodyPr lIns="90488" tIns="44450" rIns="90488" bIns="44450" anchor="t" anchorCtr="0">
              <a:spAutoFit/>
            </a:bodyPr>
            <a:p>
              <a:pPr eaLnBrk="0" hangingPunct="0"/>
              <a:r>
                <a:rPr lang="en-US" altLang="zh-CN" sz="1800">
                  <a:latin typeface="微软雅黑" panose="020B0503020204020204" pitchFamily="34" charset="-122"/>
                  <a:ea typeface="微软雅黑" panose="020B0503020204020204" pitchFamily="34" charset="-122"/>
                </a:rPr>
                <a:t>Decoder</a:t>
              </a:r>
              <a:endParaRPr lang="en-US" altLang="zh-CN" sz="1800">
                <a:latin typeface="微软雅黑" panose="020B0503020204020204" pitchFamily="34" charset="-122"/>
                <a:ea typeface="微软雅黑" panose="020B0503020204020204" pitchFamily="34" charset="-122"/>
              </a:endParaRPr>
            </a:p>
          </p:txBody>
        </p:sp>
        <p:sp>
          <p:nvSpPr>
            <p:cNvPr id="23638" name="直接连接符 187474"/>
            <p:cNvSpPr/>
            <p:nvPr/>
          </p:nvSpPr>
          <p:spPr>
            <a:xfrm flipH="1">
              <a:off x="4546" y="1331"/>
              <a:ext cx="496" cy="1"/>
            </a:xfrm>
            <a:prstGeom prst="line">
              <a:avLst/>
            </a:prstGeom>
            <a:ln w="38100" cap="flat" cmpd="sng">
              <a:solidFill>
                <a:srgbClr val="D90125"/>
              </a:solidFill>
              <a:prstDash val="sysDot"/>
              <a:round/>
              <a:headEnd type="triangle" w="med" len="med"/>
              <a:tailEnd type="none" w="med" len="med"/>
            </a:ln>
          </p:spPr>
        </p:sp>
        <p:sp>
          <p:nvSpPr>
            <p:cNvPr id="23639" name="直接连接符 187475"/>
            <p:cNvSpPr/>
            <p:nvPr/>
          </p:nvSpPr>
          <p:spPr>
            <a:xfrm flipH="1">
              <a:off x="4542" y="1473"/>
              <a:ext cx="496" cy="1"/>
            </a:xfrm>
            <a:prstGeom prst="line">
              <a:avLst/>
            </a:prstGeom>
            <a:ln w="38100" cap="flat" cmpd="sng">
              <a:solidFill>
                <a:srgbClr val="D90125"/>
              </a:solidFill>
              <a:prstDash val="sysDot"/>
              <a:round/>
              <a:headEnd type="triangle" w="med" len="med"/>
              <a:tailEnd type="none" w="med" len="med"/>
            </a:ln>
          </p:spPr>
        </p:sp>
        <p:sp>
          <p:nvSpPr>
            <p:cNvPr id="23640" name="直接连接符 187476"/>
            <p:cNvSpPr/>
            <p:nvPr/>
          </p:nvSpPr>
          <p:spPr>
            <a:xfrm flipH="1">
              <a:off x="4546" y="1788"/>
              <a:ext cx="496" cy="1"/>
            </a:xfrm>
            <a:prstGeom prst="line">
              <a:avLst/>
            </a:prstGeom>
            <a:ln w="38100" cap="flat" cmpd="sng">
              <a:solidFill>
                <a:srgbClr val="D90125"/>
              </a:solidFill>
              <a:prstDash val="sysDot"/>
              <a:round/>
              <a:headEnd type="triangle" w="med" len="med"/>
              <a:tailEnd type="none" w="med" len="med"/>
            </a:ln>
          </p:spPr>
        </p:sp>
        <p:sp>
          <p:nvSpPr>
            <p:cNvPr id="23641" name="文本框 187477"/>
            <p:cNvSpPr txBox="1"/>
            <p:nvPr/>
          </p:nvSpPr>
          <p:spPr>
            <a:xfrm>
              <a:off x="5028" y="1056"/>
              <a:ext cx="358" cy="173"/>
            </a:xfrm>
            <a:prstGeom prst="rect">
              <a:avLst/>
            </a:prstGeom>
            <a:noFill/>
            <a:ln w="12700">
              <a:noFill/>
            </a:ln>
          </p:spPr>
          <p:txBody>
            <a:bodyPr wrap="none" anchor="t" anchorCtr="0">
              <a:spAutoFit/>
            </a:bodyPr>
            <a:p>
              <a:pPr eaLnBrk="0" hangingPunct="0"/>
              <a:r>
                <a:rPr lang="en-US" altLang="zh-CN">
                  <a:solidFill>
                    <a:srgbClr val="B7011F"/>
                  </a:solidFill>
                  <a:latin typeface="Times New Roman" panose="02020603050405020304" pitchFamily="18" charset="0"/>
                  <a:ea typeface="宋体" panose="02010600030101010101" pitchFamily="2" charset="-122"/>
                </a:rPr>
                <a:t>out0</a:t>
              </a:r>
              <a:endParaRPr lang="en-US" altLang="zh-CN">
                <a:solidFill>
                  <a:srgbClr val="B7011F"/>
                </a:solidFill>
                <a:latin typeface="Times New Roman" panose="02020603050405020304" pitchFamily="18" charset="0"/>
                <a:ea typeface="宋体" panose="02010600030101010101" pitchFamily="2" charset="-122"/>
              </a:endParaRPr>
            </a:p>
          </p:txBody>
        </p:sp>
        <p:sp>
          <p:nvSpPr>
            <p:cNvPr id="23642" name="文本框 187478"/>
            <p:cNvSpPr txBox="1"/>
            <p:nvPr/>
          </p:nvSpPr>
          <p:spPr>
            <a:xfrm>
              <a:off x="5025" y="1197"/>
              <a:ext cx="358" cy="173"/>
            </a:xfrm>
            <a:prstGeom prst="rect">
              <a:avLst/>
            </a:prstGeom>
            <a:noFill/>
            <a:ln w="12700">
              <a:noFill/>
            </a:ln>
          </p:spPr>
          <p:txBody>
            <a:bodyPr wrap="none" anchor="t" anchorCtr="0">
              <a:spAutoFit/>
            </a:bodyPr>
            <a:p>
              <a:pPr eaLnBrk="0" hangingPunct="0"/>
              <a:r>
                <a:rPr lang="en-US" altLang="zh-CN">
                  <a:solidFill>
                    <a:srgbClr val="B7011F"/>
                  </a:solidFill>
                  <a:latin typeface="Times New Roman" panose="02020603050405020304" pitchFamily="18" charset="0"/>
                  <a:ea typeface="宋体" panose="02010600030101010101" pitchFamily="2" charset="-122"/>
                </a:rPr>
                <a:t>out1</a:t>
              </a:r>
              <a:endParaRPr lang="en-US" altLang="zh-CN">
                <a:solidFill>
                  <a:srgbClr val="B7011F"/>
                </a:solidFill>
                <a:latin typeface="Times New Roman" panose="02020603050405020304" pitchFamily="18" charset="0"/>
                <a:ea typeface="宋体" panose="02010600030101010101" pitchFamily="2" charset="-122"/>
              </a:endParaRPr>
            </a:p>
          </p:txBody>
        </p:sp>
        <p:sp>
          <p:nvSpPr>
            <p:cNvPr id="23643" name="文本框 187479"/>
            <p:cNvSpPr txBox="1"/>
            <p:nvPr/>
          </p:nvSpPr>
          <p:spPr>
            <a:xfrm>
              <a:off x="5029" y="1669"/>
              <a:ext cx="358" cy="173"/>
            </a:xfrm>
            <a:prstGeom prst="rect">
              <a:avLst/>
            </a:prstGeom>
            <a:noFill/>
            <a:ln w="12700">
              <a:noFill/>
            </a:ln>
          </p:spPr>
          <p:txBody>
            <a:bodyPr wrap="none" anchor="t" anchorCtr="0">
              <a:spAutoFit/>
            </a:bodyPr>
            <a:p>
              <a:pPr eaLnBrk="0" hangingPunct="0"/>
              <a:r>
                <a:rPr lang="en-US" altLang="zh-CN">
                  <a:solidFill>
                    <a:srgbClr val="B7011F"/>
                  </a:solidFill>
                  <a:latin typeface="Times New Roman" panose="02020603050405020304" pitchFamily="18" charset="0"/>
                  <a:ea typeface="宋体" panose="02010600030101010101" pitchFamily="2" charset="-122"/>
                </a:rPr>
                <a:t>out7</a:t>
              </a:r>
              <a:endParaRPr lang="en-US" altLang="zh-CN">
                <a:solidFill>
                  <a:srgbClr val="B7011F"/>
                </a:solidFill>
                <a:latin typeface="Times New Roman" panose="02020603050405020304" pitchFamily="18" charset="0"/>
                <a:ea typeface="宋体" panose="02010600030101010101" pitchFamily="2" charset="-122"/>
              </a:endParaRPr>
            </a:p>
          </p:txBody>
        </p:sp>
        <p:sp>
          <p:nvSpPr>
            <p:cNvPr id="23644" name="文本框 187480"/>
            <p:cNvSpPr txBox="1"/>
            <p:nvPr/>
          </p:nvSpPr>
          <p:spPr>
            <a:xfrm>
              <a:off x="5029" y="1356"/>
              <a:ext cx="358" cy="174"/>
            </a:xfrm>
            <a:prstGeom prst="rect">
              <a:avLst/>
            </a:prstGeom>
            <a:noFill/>
            <a:ln w="12700">
              <a:noFill/>
            </a:ln>
          </p:spPr>
          <p:txBody>
            <a:bodyPr wrap="none" anchor="t" anchorCtr="0">
              <a:spAutoFit/>
            </a:bodyPr>
            <a:p>
              <a:pPr eaLnBrk="0" hangingPunct="0"/>
              <a:r>
                <a:rPr lang="en-US" altLang="zh-CN">
                  <a:solidFill>
                    <a:srgbClr val="B7011F"/>
                  </a:solidFill>
                  <a:latin typeface="Times New Roman" panose="02020603050405020304" pitchFamily="18" charset="0"/>
                  <a:ea typeface="宋体" panose="02010600030101010101" pitchFamily="2" charset="-122"/>
                </a:rPr>
                <a:t>out2</a:t>
              </a:r>
              <a:endParaRPr lang="en-US" altLang="zh-CN">
                <a:solidFill>
                  <a:srgbClr val="B7011F"/>
                </a:solidFill>
                <a:latin typeface="Times New Roman" panose="02020603050405020304" pitchFamily="18" charset="0"/>
                <a:ea typeface="宋体" panose="02010600030101010101" pitchFamily="2" charset="-122"/>
              </a:endParaRPr>
            </a:p>
          </p:txBody>
        </p:sp>
      </p:grpSp>
      <p:sp>
        <p:nvSpPr>
          <p:cNvPr id="23645" name="矩形 187481"/>
          <p:cNvSpPr/>
          <p:nvPr/>
        </p:nvSpPr>
        <p:spPr>
          <a:xfrm>
            <a:off x="5183188" y="854075"/>
            <a:ext cx="2027237" cy="568325"/>
          </a:xfrm>
          <a:prstGeom prst="rect">
            <a:avLst/>
          </a:prstGeom>
          <a:noFill/>
          <a:ln w="12700">
            <a:noFill/>
          </a:ln>
        </p:spPr>
        <p:txBody>
          <a:bodyPr lIns="63500" tIns="25400" rIns="63500" bIns="25400" anchor="t" anchorCtr="0">
            <a:spAutoFit/>
          </a:bodyPr>
          <a:p>
            <a:pPr marL="203200" indent="-203200" eaLnBrk="0" hangingPunct="0">
              <a:lnSpc>
                <a:spcPct val="85000"/>
              </a:lnSpc>
              <a:spcBef>
                <a:spcPct val="100000"/>
              </a:spcBef>
              <a:buChar char="°"/>
            </a:pPr>
            <a:r>
              <a:rPr lang="zh-CN" altLang="en-US" sz="2000" dirty="0">
                <a:latin typeface="微软雅黑" panose="020B0503020204020204" pitchFamily="34" charset="-122"/>
                <a:ea typeface="微软雅黑" panose="020B0503020204020204" pitchFamily="34" charset="-122"/>
              </a:rPr>
              <a:t>译码器</a:t>
            </a:r>
            <a:r>
              <a:rPr lang="en-US" altLang="zh-CN" sz="2000">
                <a:latin typeface="微软雅黑" panose="020B0503020204020204" pitchFamily="34" charset="-122"/>
                <a:ea typeface="微软雅黑" panose="020B0503020204020204" pitchFamily="34" charset="-122"/>
              </a:rPr>
              <a:t>(Decoder)</a:t>
            </a:r>
            <a:endParaRPr lang="en-US" altLang="zh-CN" sz="2000">
              <a:latin typeface="微软雅黑" panose="020B0503020204020204" pitchFamily="34" charset="-122"/>
              <a:ea typeface="微软雅黑" panose="020B0503020204020204" pitchFamily="34" charset="-122"/>
            </a:endParaRPr>
          </a:p>
        </p:txBody>
      </p:sp>
      <p:sp>
        <p:nvSpPr>
          <p:cNvPr id="187483" name="云形标注 187482"/>
          <p:cNvSpPr/>
          <p:nvPr/>
        </p:nvSpPr>
        <p:spPr>
          <a:xfrm>
            <a:off x="5318125" y="3081338"/>
            <a:ext cx="3405188" cy="1168400"/>
          </a:xfrm>
          <a:prstGeom prst="cloudCallout">
            <a:avLst>
              <a:gd name="adj1" fmla="val 52981"/>
              <a:gd name="adj2" fmla="val 38722"/>
            </a:avLst>
          </a:prstGeom>
          <a:noFill/>
          <a:ln w="12700" cap="flat" cmpd="sng">
            <a:solidFill>
              <a:srgbClr val="0000FF"/>
            </a:solidFill>
            <a:prstDash val="solid"/>
            <a:round/>
            <a:headEnd type="none" w="med" len="med"/>
            <a:tailEnd type="none" w="med" len="med"/>
          </a:ln>
        </p:spPr>
        <p:txBody>
          <a:bodyPr anchor="t" anchorCtr="0"/>
          <a:p>
            <a:pPr algn="ctr" eaLnBrk="0" hangingPunct="0"/>
            <a:r>
              <a:rPr lang="zh-CN" altLang="en-US" sz="2000" dirty="0">
                <a:solidFill>
                  <a:schemeClr val="accent2"/>
                </a:solidFill>
                <a:latin typeface="微软雅黑" panose="020B0503020204020204" pitchFamily="34" charset="-122"/>
                <a:ea typeface="微软雅黑" panose="020B0503020204020204" pitchFamily="34" charset="-122"/>
              </a:rPr>
              <a:t>何时要用到</a:t>
            </a:r>
            <a:r>
              <a:rPr lang="en-US" altLang="zh-CN" sz="2000">
                <a:solidFill>
                  <a:schemeClr val="accent2"/>
                </a:solidFill>
                <a:latin typeface="微软雅黑" panose="020B0503020204020204" pitchFamily="34" charset="-122"/>
                <a:ea typeface="微软雅黑" panose="020B0503020204020204" pitchFamily="34" charset="-122"/>
              </a:rPr>
              <a:t>adder, ALU, MUX or Decoder?</a:t>
            </a:r>
            <a:endParaRPr lang="en-US" altLang="zh-CN" sz="2000">
              <a:solidFill>
                <a:schemeClr val="accent2"/>
              </a:solidFill>
              <a:latin typeface="微软雅黑" panose="020B0503020204020204" pitchFamily="34" charset="-122"/>
              <a:ea typeface="微软雅黑" panose="020B0503020204020204" pitchFamily="34" charset="-122"/>
            </a:endParaRPr>
          </a:p>
        </p:txBody>
      </p:sp>
      <p:grpSp>
        <p:nvGrpSpPr>
          <p:cNvPr id="187492" name="组合 187491"/>
          <p:cNvGrpSpPr/>
          <p:nvPr/>
        </p:nvGrpSpPr>
        <p:grpSpPr>
          <a:xfrm>
            <a:off x="6788150" y="273050"/>
            <a:ext cx="2001838" cy="396875"/>
            <a:chOff x="3273" y="2076"/>
            <a:chExt cx="1261" cy="250"/>
          </a:xfrm>
        </p:grpSpPr>
        <p:sp>
          <p:nvSpPr>
            <p:cNvPr id="23648" name="直接连接符 187489"/>
            <p:cNvSpPr/>
            <p:nvPr/>
          </p:nvSpPr>
          <p:spPr>
            <a:xfrm>
              <a:off x="3273" y="2194"/>
              <a:ext cx="357" cy="0"/>
            </a:xfrm>
            <a:prstGeom prst="line">
              <a:avLst/>
            </a:prstGeom>
            <a:ln w="50800" cap="flat" cmpd="sng">
              <a:solidFill>
                <a:srgbClr val="D90125"/>
              </a:solidFill>
              <a:prstDash val="sysDot"/>
              <a:round/>
              <a:headEnd type="none" w="med" len="med"/>
              <a:tailEnd type="triangle" w="med" len="med"/>
            </a:ln>
          </p:spPr>
        </p:sp>
        <p:sp>
          <p:nvSpPr>
            <p:cNvPr id="23649" name="文本框 187490"/>
            <p:cNvSpPr txBox="1"/>
            <p:nvPr/>
          </p:nvSpPr>
          <p:spPr>
            <a:xfrm>
              <a:off x="3656" y="2076"/>
              <a:ext cx="878" cy="250"/>
            </a:xfrm>
            <a:prstGeom prst="rect">
              <a:avLst/>
            </a:prstGeom>
            <a:noFill/>
            <a:ln w="50800">
              <a:noFill/>
            </a:ln>
          </p:spPr>
          <p:txBody>
            <a:bodyPr anchor="t" anchorCtr="0">
              <a:spAutoFit/>
            </a:bodyPr>
            <a:p>
              <a:pPr eaLnBrk="0" hangingPunct="0">
                <a:spcBef>
                  <a:spcPct val="50000"/>
                </a:spcBef>
              </a:pPr>
              <a:r>
                <a:rPr lang="zh-CN" altLang="en-US" sz="2000" dirty="0">
                  <a:solidFill>
                    <a:srgbClr val="B7011F"/>
                  </a:solidFill>
                  <a:latin typeface="Times New Roman" panose="02020603050405020304" pitchFamily="18" charset="0"/>
                  <a:ea typeface="黑体" panose="02010609060101010101" pitchFamily="49" charset="-122"/>
                </a:rPr>
                <a:t>控制信号</a:t>
              </a:r>
              <a:endParaRPr lang="zh-CN" altLang="en-US" sz="2000" dirty="0">
                <a:solidFill>
                  <a:srgbClr val="B7011F"/>
                </a:solidFill>
                <a:latin typeface="Times New Roman" panose="02020603050405020304" pitchFamily="18" charset="0"/>
                <a:ea typeface="黑体" panose="02010609060101010101" pitchFamily="49" charset="-122"/>
              </a:endParaRPr>
            </a:p>
          </p:txBody>
        </p:sp>
      </p:grpSp>
      <p:sp>
        <p:nvSpPr>
          <p:cNvPr id="187494" name="文本框 187493"/>
          <p:cNvSpPr txBox="1"/>
          <p:nvPr/>
        </p:nvSpPr>
        <p:spPr>
          <a:xfrm>
            <a:off x="4838700" y="4457700"/>
            <a:ext cx="4051300" cy="2114550"/>
          </a:xfrm>
          <a:prstGeom prst="rect">
            <a:avLst/>
          </a:prstGeom>
          <a:noFill/>
          <a:ln w="50800">
            <a:noFill/>
          </a:ln>
        </p:spPr>
        <p:txBody>
          <a:bodyPr anchor="t" anchorCtr="0">
            <a:spAutoFit/>
          </a:bodyPr>
          <a:p>
            <a:pPr eaLnBrk="0" hangingPunct="0">
              <a:spcBef>
                <a:spcPct val="50000"/>
              </a:spcBef>
            </a:pPr>
            <a:r>
              <a:rPr lang="zh-CN" altLang="en-US" sz="1900" dirty="0">
                <a:latin typeface="Arial" panose="020B0604020202020204" pitchFamily="34" charset="0"/>
                <a:ea typeface="微软雅黑" panose="020B0503020204020204" pitchFamily="34" charset="-122"/>
              </a:rPr>
              <a:t>组合逻辑元件的特点：</a:t>
            </a:r>
            <a:endParaRPr lang="zh-CN" altLang="en-US" sz="1900" dirty="0">
              <a:latin typeface="Arial" panose="020B0604020202020204" pitchFamily="34" charset="0"/>
              <a:ea typeface="微软雅黑" panose="020B0503020204020204" pitchFamily="34" charset="-122"/>
            </a:endParaRPr>
          </a:p>
          <a:p>
            <a:pPr eaLnBrk="0" hangingPunct="0">
              <a:spcBef>
                <a:spcPct val="50000"/>
              </a:spcBef>
            </a:pPr>
            <a:r>
              <a:rPr lang="zh-CN" altLang="en-US" sz="1900" dirty="0">
                <a:solidFill>
                  <a:srgbClr val="B7011F"/>
                </a:solidFill>
                <a:latin typeface="Arial" panose="020B0604020202020204" pitchFamily="34" charset="0"/>
                <a:ea typeface="微软雅黑" panose="020B0503020204020204" pitchFamily="34" charset="-122"/>
              </a:rPr>
              <a:t>其输出只取决于当前的输入。即：若输入一样，则其输出也一样</a:t>
            </a:r>
            <a:endParaRPr lang="zh-CN" altLang="en-US" sz="1900" dirty="0">
              <a:solidFill>
                <a:srgbClr val="B7011F"/>
              </a:solidFill>
              <a:latin typeface="Arial" panose="020B0604020202020204" pitchFamily="34" charset="0"/>
              <a:ea typeface="微软雅黑" panose="020B0503020204020204" pitchFamily="34" charset="-122"/>
            </a:endParaRPr>
          </a:p>
          <a:p>
            <a:pPr eaLnBrk="0" hangingPunct="0">
              <a:spcBef>
                <a:spcPct val="50000"/>
              </a:spcBef>
            </a:pPr>
            <a:r>
              <a:rPr lang="zh-CN" altLang="en-US" sz="1900" dirty="0">
                <a:solidFill>
                  <a:srgbClr val="B7011F"/>
                </a:solidFill>
                <a:latin typeface="Arial" panose="020B0604020202020204" pitchFamily="34" charset="0"/>
                <a:ea typeface="微软雅黑" panose="020B0503020204020204" pitchFamily="34" charset="-122"/>
              </a:rPr>
              <a:t>定时：所有输入到达后，经过一定的逻辑门延时，输出端改变，并保持到</a:t>
            </a:r>
            <a:r>
              <a:rPr lang="zh-CN" altLang="en-US" sz="1900" dirty="0">
                <a:solidFill>
                  <a:srgbClr val="B7011F"/>
                </a:solidFill>
                <a:latin typeface="Times New Roman" panose="02020603050405020304" pitchFamily="18" charset="0"/>
                <a:ea typeface="微软雅黑" panose="020B0503020204020204" pitchFamily="34" charset="-122"/>
              </a:rPr>
              <a:t>下次改变，不需要时钟信号来定时</a:t>
            </a:r>
            <a:endParaRPr lang="zh-CN" altLang="en-US" sz="1900" dirty="0">
              <a:solidFill>
                <a:srgbClr val="B7011F"/>
              </a:solidFill>
              <a:latin typeface="Times New Roman" panose="02020603050405020304" pitchFamily="18" charset="0"/>
              <a:ea typeface="微软雅黑" panose="020B0503020204020204" pitchFamily="34" charset="-122"/>
            </a:endParaRPr>
          </a:p>
        </p:txBody>
      </p:sp>
      <p:sp>
        <p:nvSpPr>
          <p:cNvPr id="187497" name="云形标注 187496"/>
          <p:cNvSpPr/>
          <p:nvPr/>
        </p:nvSpPr>
        <p:spPr>
          <a:xfrm>
            <a:off x="3354388" y="2185988"/>
            <a:ext cx="2901950" cy="1112837"/>
          </a:xfrm>
          <a:prstGeom prst="cloudCallout">
            <a:avLst>
              <a:gd name="adj1" fmla="val 37690"/>
              <a:gd name="adj2" fmla="val -2352"/>
            </a:avLst>
          </a:prstGeom>
          <a:noFill/>
          <a:ln w="12700" cap="flat" cmpd="sng">
            <a:solidFill>
              <a:srgbClr val="0000FF"/>
            </a:solidFill>
            <a:prstDash val="solid"/>
            <a:round/>
            <a:headEnd type="none" w="med" len="med"/>
            <a:tailEnd type="none" w="med" len="med"/>
          </a:ln>
        </p:spPr>
        <p:txBody>
          <a:bodyPr anchor="t" anchorCtr="0"/>
          <a:p>
            <a:pPr algn="ctr" eaLnBrk="0" hangingPunct="0"/>
            <a:r>
              <a:rPr lang="zh-CN" altLang="en-US" sz="2200" dirty="0">
                <a:solidFill>
                  <a:schemeClr val="accent2"/>
                </a:solidFill>
                <a:latin typeface="微软雅黑" panose="020B0503020204020204" pitchFamily="34" charset="-122"/>
                <a:ea typeface="微软雅黑" panose="020B0503020204020204" pitchFamily="34" charset="-122"/>
              </a:rPr>
              <a:t>加法器需要什么控制信号</a:t>
            </a:r>
            <a:r>
              <a:rPr lang="en-US" altLang="zh-CN" sz="2200">
                <a:solidFill>
                  <a:schemeClr val="accent2"/>
                </a:solidFill>
                <a:latin typeface="微软雅黑" panose="020B0503020204020204" pitchFamily="34" charset="-122"/>
                <a:ea typeface="微软雅黑" panose="020B0503020204020204" pitchFamily="34" charset="-122"/>
              </a:rPr>
              <a:t>?</a:t>
            </a:r>
            <a:endParaRPr lang="en-US" altLang="zh-CN" sz="220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7485"/>
                                        </p:tgtEl>
                                        <p:attrNameLst>
                                          <p:attrName>style.visibility</p:attrName>
                                        </p:attrNameLst>
                                      </p:cBhvr>
                                      <p:to>
                                        <p:strVal val="visible"/>
                                      </p:to>
                                    </p:set>
                                    <p:animEffect transition="in" filter="blinds(horizontal)">
                                      <p:cBhvr>
                                        <p:cTn id="7" dur="500"/>
                                        <p:tgtEl>
                                          <p:spTgt spid="18748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7488"/>
                                        </p:tgtEl>
                                        <p:attrNameLst>
                                          <p:attrName>style.visibility</p:attrName>
                                        </p:attrNameLst>
                                      </p:cBhvr>
                                      <p:to>
                                        <p:strVal val="visible"/>
                                      </p:to>
                                    </p:set>
                                    <p:animEffect transition="in" filter="blinds(horizontal)">
                                      <p:cBhvr>
                                        <p:cTn id="12" dur="500"/>
                                        <p:tgtEl>
                                          <p:spTgt spid="1874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7489"/>
                                        </p:tgtEl>
                                        <p:attrNameLst>
                                          <p:attrName>style.visibility</p:attrName>
                                        </p:attrNameLst>
                                      </p:cBhvr>
                                      <p:to>
                                        <p:strVal val="visible"/>
                                      </p:to>
                                    </p:set>
                                    <p:animEffect transition="in" filter="blinds(horizontal)">
                                      <p:cBhvr>
                                        <p:cTn id="17" dur="500"/>
                                        <p:tgtEl>
                                          <p:spTgt spid="18748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7493"/>
                                        </p:tgtEl>
                                        <p:attrNameLst>
                                          <p:attrName>style.visibility</p:attrName>
                                        </p:attrNameLst>
                                      </p:cBhvr>
                                      <p:to>
                                        <p:strVal val="visible"/>
                                      </p:to>
                                    </p:set>
                                    <p:animEffect transition="in" filter="blinds(horizontal)">
                                      <p:cBhvr>
                                        <p:cTn id="22" dur="500"/>
                                        <p:tgtEl>
                                          <p:spTgt spid="18749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7492"/>
                                        </p:tgtEl>
                                        <p:attrNameLst>
                                          <p:attrName>style.visibility</p:attrName>
                                        </p:attrNameLst>
                                      </p:cBhvr>
                                      <p:to>
                                        <p:strVal val="visible"/>
                                      </p:to>
                                    </p:set>
                                    <p:animEffect transition="in" filter="blinds(horizontal)">
                                      <p:cBhvr>
                                        <p:cTn id="27" dur="500"/>
                                        <p:tgtEl>
                                          <p:spTgt spid="18749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7497"/>
                                        </p:tgtEl>
                                        <p:attrNameLst>
                                          <p:attrName>style.visibility</p:attrName>
                                        </p:attrNameLst>
                                      </p:cBhvr>
                                      <p:to>
                                        <p:strVal val="visible"/>
                                      </p:to>
                                    </p:set>
                                    <p:animEffect transition="in" filter="blinds(horizontal)">
                                      <p:cBhvr>
                                        <p:cTn id="32" dur="500"/>
                                        <p:tgtEl>
                                          <p:spTgt spid="18749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7483"/>
                                        </p:tgtEl>
                                        <p:attrNameLst>
                                          <p:attrName>style.visibility</p:attrName>
                                        </p:attrNameLst>
                                      </p:cBhvr>
                                      <p:to>
                                        <p:strVal val="visible"/>
                                      </p:to>
                                    </p:set>
                                    <p:animEffect transition="in" filter="blinds(horizontal)">
                                      <p:cBhvr>
                                        <p:cTn id="37" dur="500"/>
                                        <p:tgtEl>
                                          <p:spTgt spid="18748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87494">
                                            <p:txEl>
                                              <p:charRg st="0" end="11"/>
                                            </p:txEl>
                                          </p:spTgt>
                                        </p:tgtEl>
                                        <p:attrNameLst>
                                          <p:attrName>style.visibility</p:attrName>
                                        </p:attrNameLst>
                                      </p:cBhvr>
                                      <p:to>
                                        <p:strVal val="visible"/>
                                      </p:to>
                                    </p:set>
                                    <p:animEffect transition="in" filter="blinds(horizontal)">
                                      <p:cBhvr>
                                        <p:cTn id="42" dur="500"/>
                                        <p:tgtEl>
                                          <p:spTgt spid="187494">
                                            <p:txEl>
                                              <p:charRg st="0"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87494">
                                            <p:txEl>
                                              <p:charRg st="11" end="40"/>
                                            </p:txEl>
                                          </p:spTgt>
                                        </p:tgtEl>
                                        <p:attrNameLst>
                                          <p:attrName>style.visibility</p:attrName>
                                        </p:attrNameLst>
                                      </p:cBhvr>
                                      <p:to>
                                        <p:strVal val="visible"/>
                                      </p:to>
                                    </p:set>
                                    <p:animEffect transition="in" filter="blinds(horizontal)">
                                      <p:cBhvr>
                                        <p:cTn id="47" dur="500"/>
                                        <p:tgtEl>
                                          <p:spTgt spid="187494">
                                            <p:txEl>
                                              <p:charRg st="11" end="4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87494">
                                            <p:txEl>
                                              <p:charRg st="40" end="88"/>
                                            </p:txEl>
                                          </p:spTgt>
                                        </p:tgtEl>
                                        <p:attrNameLst>
                                          <p:attrName>style.visibility</p:attrName>
                                        </p:attrNameLst>
                                      </p:cBhvr>
                                      <p:to>
                                        <p:strVal val="visible"/>
                                      </p:to>
                                    </p:set>
                                    <p:animEffect transition="in" filter="blinds(horizontal)">
                                      <p:cBhvr>
                                        <p:cTn id="52" dur="500"/>
                                        <p:tgtEl>
                                          <p:spTgt spid="187494">
                                            <p:txEl>
                                              <p:charRg st="40" end="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83" grpId="0" animBg="1"/>
      <p:bldP spid="18749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301057"/>
          <p:cNvSpPr>
            <a:spLocks noGrp="1"/>
          </p:cNvSpPr>
          <p:nvPr>
            <p:ph type="title"/>
          </p:nvPr>
        </p:nvSpPr>
        <p:spPr>
          <a:xfrm>
            <a:off x="857250" y="133350"/>
            <a:ext cx="7716838" cy="528638"/>
          </a:xfrm>
          <a:ln/>
        </p:spPr>
        <p:txBody>
          <a:bodyPr wrap="square" lIns="63500" tIns="25400" rIns="63500" bIns="25400" anchor="t" anchorCtr="0">
            <a:spAutoFit/>
          </a:bodyPr>
          <a:p>
            <a:r>
              <a:rPr lang="zh-CN" altLang="en-US" dirty="0"/>
              <a:t>状态元件：时序逻辑电路</a:t>
            </a:r>
            <a:endParaRPr lang="zh-CN" altLang="en-US" dirty="0"/>
          </a:p>
        </p:txBody>
      </p:sp>
      <p:sp>
        <p:nvSpPr>
          <p:cNvPr id="301059" name="内容占位符 301058"/>
          <p:cNvSpPr>
            <a:spLocks noGrp="1"/>
          </p:cNvSpPr>
          <p:nvPr>
            <p:ph idx="1"/>
          </p:nvPr>
        </p:nvSpPr>
        <p:spPr>
          <a:xfrm>
            <a:off x="223838" y="746125"/>
            <a:ext cx="8567737" cy="5781675"/>
          </a:xfrm>
          <a:ln/>
        </p:spPr>
        <p:txBody>
          <a:bodyPr wrap="square" lIns="63500" tIns="25400" rIns="63500" bIns="25400" anchor="t" anchorCtr="0">
            <a:spAutoFit/>
          </a:bodyPr>
          <a:p>
            <a:r>
              <a:rPr lang="zh-CN" altLang="en-US" sz="2000" dirty="0">
                <a:latin typeface="微软雅黑" panose="020B0503020204020204" pitchFamily="34" charset="-122"/>
                <a:ea typeface="微软雅黑" panose="020B0503020204020204" pitchFamily="34" charset="-122"/>
              </a:rPr>
              <a:t>状态（存储）元件的特点：</a:t>
            </a:r>
            <a:endParaRPr lang="zh-CN" alt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具有存储功能，在</a:t>
            </a:r>
            <a:r>
              <a:rPr lang="zh-CN" altLang="en-US" sz="2000" dirty="0">
                <a:solidFill>
                  <a:schemeClr val="accent1"/>
                </a:solidFill>
                <a:latin typeface="微软雅黑" panose="020B0503020204020204" pitchFamily="34" charset="-122"/>
                <a:ea typeface="微软雅黑" panose="020B0503020204020204" pitchFamily="34" charset="-122"/>
              </a:rPr>
              <a:t>时钟控制下</a:t>
            </a:r>
            <a:r>
              <a:rPr lang="zh-CN" altLang="en-US" sz="2000" dirty="0">
                <a:latin typeface="微软雅黑" panose="020B0503020204020204" pitchFamily="34" charset="-122"/>
                <a:ea typeface="微软雅黑" panose="020B0503020204020204" pitchFamily="34" charset="-122"/>
              </a:rPr>
              <a:t>输入被写到电路中，直到下个时钟到达</a:t>
            </a:r>
            <a:endParaRPr lang="zh-CN" alt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输入端状态由时钟决定何时被写入，输出端状态随时可以读出</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定时方式：规定信号何时写入状态元件或何时从状态元件读出</a:t>
            </a:r>
            <a:endParaRPr lang="zh-CN" alt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边沿触发（</a:t>
            </a:r>
            <a:r>
              <a:rPr lang="en-US" altLang="zh-CN" sz="2000">
                <a:latin typeface="微软雅黑" panose="020B0503020204020204" pitchFamily="34" charset="-122"/>
                <a:ea typeface="微软雅黑" panose="020B0503020204020204" pitchFamily="34" charset="-122"/>
              </a:rPr>
              <a:t>edge-triggered</a:t>
            </a:r>
            <a:r>
              <a:rPr lang="zh-CN" altLang="en-US" sz="2000" dirty="0">
                <a:latin typeface="微软雅黑" panose="020B0503020204020204" pitchFamily="34" charset="-122"/>
                <a:ea typeface="微软雅黑" panose="020B0503020204020204" pitchFamily="34" charset="-122"/>
              </a:rPr>
              <a:t>）方式：</a:t>
            </a:r>
            <a:endParaRPr lang="zh-CN" altLang="en-US" sz="2000" dirty="0">
              <a:latin typeface="微软雅黑" panose="020B0503020204020204" pitchFamily="34" charset="-122"/>
              <a:ea typeface="微软雅黑" panose="020B0503020204020204" pitchFamily="34" charset="-122"/>
            </a:endParaRPr>
          </a:p>
          <a:p>
            <a:pPr lvl="2">
              <a:lnSpc>
                <a:spcPct val="110000"/>
              </a:lnSpc>
            </a:pPr>
            <a:r>
              <a:rPr lang="zh-CN" altLang="en-US" sz="2000" dirty="0">
                <a:latin typeface="微软雅黑" panose="020B0503020204020204" pitchFamily="34" charset="-122"/>
                <a:ea typeface="微软雅黑" panose="020B0503020204020204" pitchFamily="34" charset="-122"/>
              </a:rPr>
              <a:t>状态单元中的值只在时钟边沿改变。每个时钟周期改变一次。</a:t>
            </a:r>
            <a:endParaRPr lang="en-US" altLang="zh-CN" sz="2000">
              <a:latin typeface="微软雅黑" panose="020B0503020204020204" pitchFamily="34" charset="-122"/>
              <a:ea typeface="微软雅黑" panose="020B0503020204020204" pitchFamily="34" charset="-122"/>
            </a:endParaRPr>
          </a:p>
          <a:p>
            <a:pPr lvl="3">
              <a:lnSpc>
                <a:spcPct val="110000"/>
              </a:lnSpc>
              <a:buChar char="•"/>
            </a:pPr>
            <a:r>
              <a:rPr lang="zh-CN" altLang="en-US" b="1" dirty="0">
                <a:solidFill>
                  <a:srgbClr val="006600"/>
                </a:solidFill>
                <a:latin typeface="微软雅黑" panose="020B0503020204020204" pitchFamily="34" charset="-122"/>
                <a:ea typeface="微软雅黑" panose="020B0503020204020204" pitchFamily="34" charset="-122"/>
              </a:rPr>
              <a:t>上升沿（</a:t>
            </a:r>
            <a:r>
              <a:rPr lang="en-US" altLang="zh-CN" b="1">
                <a:solidFill>
                  <a:srgbClr val="006600"/>
                </a:solidFill>
                <a:latin typeface="微软雅黑" panose="020B0503020204020204" pitchFamily="34" charset="-122"/>
                <a:ea typeface="微软雅黑" panose="020B0503020204020204" pitchFamily="34" charset="-122"/>
              </a:rPr>
              <a:t>rising edge</a:t>
            </a:r>
            <a:r>
              <a:rPr lang="zh-CN" altLang="en-US" b="1" dirty="0">
                <a:solidFill>
                  <a:srgbClr val="006600"/>
                </a:solidFill>
                <a:latin typeface="微软雅黑" panose="020B0503020204020204" pitchFamily="34" charset="-122"/>
                <a:ea typeface="微软雅黑" panose="020B0503020204020204" pitchFamily="34" charset="-122"/>
              </a:rPr>
              <a:t>） 触发：在时钟正跳变时进行读</a:t>
            </a:r>
            <a:r>
              <a:rPr lang="en-US" altLang="zh-CN" b="1">
                <a:solidFill>
                  <a:srgbClr val="006600"/>
                </a:solidFill>
                <a:latin typeface="微软雅黑" panose="020B0503020204020204" pitchFamily="34" charset="-122"/>
                <a:ea typeface="微软雅黑" panose="020B0503020204020204" pitchFamily="34" charset="-122"/>
              </a:rPr>
              <a:t>/</a:t>
            </a:r>
            <a:r>
              <a:rPr lang="zh-CN" altLang="en-US" b="1" dirty="0">
                <a:solidFill>
                  <a:srgbClr val="006600"/>
                </a:solidFill>
                <a:latin typeface="微软雅黑" panose="020B0503020204020204" pitchFamily="34" charset="-122"/>
                <a:ea typeface="微软雅黑" panose="020B0503020204020204" pitchFamily="34" charset="-122"/>
              </a:rPr>
              <a:t>写。</a:t>
            </a:r>
            <a:endParaRPr lang="zh-CN" altLang="en-US" b="1" dirty="0">
              <a:solidFill>
                <a:srgbClr val="006600"/>
              </a:solidFill>
              <a:latin typeface="微软雅黑" panose="020B0503020204020204" pitchFamily="34" charset="-122"/>
              <a:ea typeface="微软雅黑" panose="020B0503020204020204" pitchFamily="34" charset="-122"/>
            </a:endParaRPr>
          </a:p>
          <a:p>
            <a:pPr lvl="3">
              <a:lnSpc>
                <a:spcPct val="110000"/>
              </a:lnSpc>
              <a:buChar char="•"/>
            </a:pPr>
            <a:r>
              <a:rPr lang="zh-CN" altLang="en-US" b="1" dirty="0">
                <a:solidFill>
                  <a:srgbClr val="006600"/>
                </a:solidFill>
                <a:latin typeface="微软雅黑" panose="020B0503020204020204" pitchFamily="34" charset="-122"/>
                <a:ea typeface="微软雅黑" panose="020B0503020204020204" pitchFamily="34" charset="-122"/>
              </a:rPr>
              <a:t>下降沿（</a:t>
            </a:r>
            <a:r>
              <a:rPr lang="en-US" altLang="zh-CN" b="1">
                <a:solidFill>
                  <a:srgbClr val="006600"/>
                </a:solidFill>
                <a:latin typeface="微软雅黑" panose="020B0503020204020204" pitchFamily="34" charset="-122"/>
                <a:ea typeface="微软雅黑" panose="020B0503020204020204" pitchFamily="34" charset="-122"/>
              </a:rPr>
              <a:t>falling edge</a:t>
            </a:r>
            <a:r>
              <a:rPr lang="zh-CN" altLang="en-US" b="1" dirty="0">
                <a:solidFill>
                  <a:srgbClr val="006600"/>
                </a:solidFill>
                <a:latin typeface="微软雅黑" panose="020B0503020204020204" pitchFamily="34" charset="-122"/>
                <a:ea typeface="微软雅黑" panose="020B0503020204020204" pitchFamily="34" charset="-122"/>
              </a:rPr>
              <a:t>）触发：在时钟负跳变时进行读</a:t>
            </a:r>
            <a:r>
              <a:rPr lang="en-US" altLang="zh-CN" b="1">
                <a:solidFill>
                  <a:srgbClr val="006600"/>
                </a:solidFill>
                <a:latin typeface="微软雅黑" panose="020B0503020204020204" pitchFamily="34" charset="-122"/>
                <a:ea typeface="微软雅黑" panose="020B0503020204020204" pitchFamily="34" charset="-122"/>
              </a:rPr>
              <a:t>/</a:t>
            </a:r>
            <a:r>
              <a:rPr lang="zh-CN" altLang="en-US" b="1" dirty="0">
                <a:solidFill>
                  <a:srgbClr val="006600"/>
                </a:solidFill>
                <a:latin typeface="微软雅黑" panose="020B0503020204020204" pitchFamily="34" charset="-122"/>
                <a:ea typeface="微软雅黑" panose="020B0503020204020204" pitchFamily="34" charset="-122"/>
              </a:rPr>
              <a:t>写。</a:t>
            </a:r>
            <a:endParaRPr lang="zh-CN" altLang="en-US" b="1" dirty="0">
              <a:solidFill>
                <a:srgbClr val="006600"/>
              </a:solidFill>
              <a:latin typeface="微软雅黑" panose="020B0503020204020204" pitchFamily="34" charset="-122"/>
              <a:ea typeface="微软雅黑" panose="020B0503020204020204" pitchFamily="34" charset="-122"/>
            </a:endParaRPr>
          </a:p>
          <a:p>
            <a:pPr lvl="3">
              <a:buChar char="•"/>
            </a:pPr>
            <a:endParaRPr lang="zh-CN" altLang="en-US" b="1" dirty="0">
              <a:solidFill>
                <a:srgbClr val="339933"/>
              </a:solidFill>
              <a:latin typeface="微软雅黑" panose="020B0503020204020204" pitchFamily="34" charset="-122"/>
              <a:ea typeface="微软雅黑" panose="020B0503020204020204" pitchFamily="34" charset="-122"/>
            </a:endParaRPr>
          </a:p>
          <a:p>
            <a:pPr lvl="3">
              <a:buChar char="•"/>
            </a:pPr>
            <a:endParaRPr lang="zh-CN" altLang="en-US" sz="1800" b="1" dirty="0">
              <a:solidFill>
                <a:srgbClr val="339933"/>
              </a:solidFill>
              <a:latin typeface="Arial" panose="020B0604020202020204" pitchFamily="34" charset="0"/>
              <a:ea typeface="黑体" panose="02010609060101010101" pitchFamily="49" charset="-122"/>
            </a:endParaRPr>
          </a:p>
          <a:p>
            <a:pPr lvl="3">
              <a:buChar char="•"/>
            </a:pPr>
            <a:endParaRPr lang="zh-CN" altLang="en-US" sz="1800" b="1" dirty="0">
              <a:solidFill>
                <a:srgbClr val="339933"/>
              </a:solidFill>
              <a:latin typeface="Arial" panose="020B0604020202020204" pitchFamily="34" charset="0"/>
              <a:ea typeface="黑体" panose="02010609060101010101" pitchFamily="49" charset="-122"/>
            </a:endParaRPr>
          </a:p>
          <a:p>
            <a:pPr lvl="3">
              <a:buChar char="•"/>
            </a:pPr>
            <a:endParaRPr lang="zh-CN" altLang="en-US" sz="1800" b="1" dirty="0">
              <a:solidFill>
                <a:srgbClr val="339933"/>
              </a:solidFill>
              <a:latin typeface="Arial" panose="020B0604020202020204" pitchFamily="34" charset="0"/>
              <a:ea typeface="黑体" panose="02010609060101010101" pitchFamily="49" charset="-122"/>
            </a:endParaRPr>
          </a:p>
          <a:p>
            <a:endParaRPr lang="zh-CN" altLang="en-US" dirty="0">
              <a:ea typeface="黑体" panose="02010609060101010101" pitchFamily="49" charset="-122"/>
            </a:endParaRPr>
          </a:p>
          <a:p>
            <a:r>
              <a:rPr lang="zh-CN" altLang="en-US" sz="2000" dirty="0">
                <a:latin typeface="微软雅黑" panose="020B0503020204020204" pitchFamily="34" charset="-122"/>
                <a:ea typeface="微软雅黑" panose="020B0503020204020204" pitchFamily="34" charset="-122"/>
              </a:rPr>
              <a:t>最简单的状态单元（回顾：数字逻辑电路课程内容）：</a:t>
            </a:r>
            <a:endParaRPr lang="zh-CN" altLang="en-US" sz="2000" dirty="0">
              <a:latin typeface="微软雅黑" panose="020B0503020204020204" pitchFamily="34" charset="-122"/>
              <a:ea typeface="微软雅黑" panose="020B0503020204020204" pitchFamily="34" charset="-122"/>
            </a:endParaRPr>
          </a:p>
          <a:p>
            <a:pPr lvl="1"/>
            <a:r>
              <a:rPr lang="en-US" altLang="zh-CN" sz="200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触发器：一个时钟输入、一个状态输入、一个状态输出</a:t>
            </a:r>
            <a:endParaRPr lang="zh-CN" altLang="en-US" sz="2000" dirty="0">
              <a:latin typeface="微软雅黑" panose="020B0503020204020204" pitchFamily="34" charset="-122"/>
              <a:ea typeface="微软雅黑" panose="020B0503020204020204" pitchFamily="34" charset="-122"/>
            </a:endParaRPr>
          </a:p>
        </p:txBody>
      </p:sp>
      <p:grpSp>
        <p:nvGrpSpPr>
          <p:cNvPr id="301086" name="组合 301085"/>
          <p:cNvGrpSpPr/>
          <p:nvPr/>
        </p:nvGrpSpPr>
        <p:grpSpPr>
          <a:xfrm>
            <a:off x="1381125" y="4095750"/>
            <a:ext cx="6283325" cy="1577975"/>
            <a:chOff x="897" y="2384"/>
            <a:chExt cx="3958" cy="994"/>
          </a:xfrm>
        </p:grpSpPr>
        <p:sp>
          <p:nvSpPr>
            <p:cNvPr id="25604" name="直接连接符 301060"/>
            <p:cNvSpPr/>
            <p:nvPr/>
          </p:nvSpPr>
          <p:spPr>
            <a:xfrm flipV="1">
              <a:off x="1155" y="2717"/>
              <a:ext cx="0" cy="293"/>
            </a:xfrm>
            <a:prstGeom prst="line">
              <a:avLst/>
            </a:prstGeom>
            <a:ln w="50800" cap="flat" cmpd="sng">
              <a:solidFill>
                <a:srgbClr val="000000"/>
              </a:solidFill>
              <a:prstDash val="solid"/>
              <a:round/>
              <a:headEnd type="none" w="med" len="med"/>
              <a:tailEnd type="none" w="med" len="med"/>
            </a:ln>
          </p:spPr>
        </p:sp>
        <p:sp>
          <p:nvSpPr>
            <p:cNvPr id="25605" name="直接连接符 301061"/>
            <p:cNvSpPr/>
            <p:nvPr/>
          </p:nvSpPr>
          <p:spPr>
            <a:xfrm>
              <a:off x="1145" y="2730"/>
              <a:ext cx="660" cy="0"/>
            </a:xfrm>
            <a:prstGeom prst="line">
              <a:avLst/>
            </a:prstGeom>
            <a:ln w="50800" cap="flat" cmpd="sng">
              <a:solidFill>
                <a:srgbClr val="000000"/>
              </a:solidFill>
              <a:prstDash val="solid"/>
              <a:round/>
              <a:headEnd type="none" w="med" len="med"/>
              <a:tailEnd type="none" w="med" len="med"/>
            </a:ln>
          </p:spPr>
        </p:sp>
        <p:sp>
          <p:nvSpPr>
            <p:cNvPr id="25606" name="直接连接符 301062"/>
            <p:cNvSpPr/>
            <p:nvPr/>
          </p:nvSpPr>
          <p:spPr>
            <a:xfrm>
              <a:off x="1794" y="2721"/>
              <a:ext cx="0" cy="285"/>
            </a:xfrm>
            <a:prstGeom prst="line">
              <a:avLst/>
            </a:prstGeom>
            <a:ln w="50800" cap="flat" cmpd="sng">
              <a:solidFill>
                <a:srgbClr val="000000"/>
              </a:solidFill>
              <a:prstDash val="solid"/>
              <a:round/>
              <a:headEnd type="none" w="med" len="med"/>
              <a:tailEnd type="none" w="med" len="med"/>
            </a:ln>
          </p:spPr>
        </p:sp>
        <p:sp>
          <p:nvSpPr>
            <p:cNvPr id="25607" name="直接连接符 301063"/>
            <p:cNvSpPr/>
            <p:nvPr/>
          </p:nvSpPr>
          <p:spPr>
            <a:xfrm>
              <a:off x="1784" y="2995"/>
              <a:ext cx="305" cy="0"/>
            </a:xfrm>
            <a:prstGeom prst="line">
              <a:avLst/>
            </a:prstGeom>
            <a:ln w="50800" cap="flat" cmpd="sng">
              <a:solidFill>
                <a:srgbClr val="000000"/>
              </a:solidFill>
              <a:prstDash val="solid"/>
              <a:round/>
              <a:headEnd type="none" w="med" len="med"/>
              <a:tailEnd type="none" w="med" len="med"/>
            </a:ln>
          </p:spPr>
        </p:sp>
        <p:sp>
          <p:nvSpPr>
            <p:cNvPr id="25608" name="直接连接符 301064"/>
            <p:cNvSpPr/>
            <p:nvPr/>
          </p:nvSpPr>
          <p:spPr>
            <a:xfrm>
              <a:off x="897" y="2995"/>
              <a:ext cx="269" cy="0"/>
            </a:xfrm>
            <a:prstGeom prst="line">
              <a:avLst/>
            </a:prstGeom>
            <a:ln w="50800" cap="flat" cmpd="sng">
              <a:solidFill>
                <a:srgbClr val="000000"/>
              </a:solidFill>
              <a:prstDash val="solid"/>
              <a:round/>
              <a:headEnd type="none" w="med" len="med"/>
              <a:tailEnd type="none" w="med" len="med"/>
            </a:ln>
          </p:spPr>
        </p:sp>
        <p:sp>
          <p:nvSpPr>
            <p:cNvPr id="25609" name="直接连接符 301065"/>
            <p:cNvSpPr/>
            <p:nvPr/>
          </p:nvSpPr>
          <p:spPr>
            <a:xfrm>
              <a:off x="1152" y="3108"/>
              <a:ext cx="914" cy="0"/>
            </a:xfrm>
            <a:prstGeom prst="line">
              <a:avLst/>
            </a:prstGeom>
            <a:ln w="28575" cap="flat" cmpd="sng">
              <a:solidFill>
                <a:schemeClr val="accent1"/>
              </a:solidFill>
              <a:prstDash val="solid"/>
              <a:round/>
              <a:headEnd type="triangle" w="med" len="med"/>
              <a:tailEnd type="triangle" w="med" len="med"/>
            </a:ln>
          </p:spPr>
        </p:sp>
        <p:sp>
          <p:nvSpPr>
            <p:cNvPr id="25610" name="矩形 301066"/>
            <p:cNvSpPr/>
            <p:nvPr/>
          </p:nvSpPr>
          <p:spPr>
            <a:xfrm>
              <a:off x="1305" y="3118"/>
              <a:ext cx="687" cy="228"/>
            </a:xfrm>
            <a:prstGeom prst="rect">
              <a:avLst/>
            </a:prstGeom>
            <a:noFill/>
            <a:ln w="12700">
              <a:noFill/>
            </a:ln>
          </p:spPr>
          <p:txBody>
            <a:bodyPr wrap="none" lIns="19050" tIns="26988" rIns="19050" bIns="26988" anchor="t" anchorCtr="0"/>
            <a:p>
              <a:pPr defTabSz="904875" eaLnBrk="0" hangingPunct="0">
                <a:lnSpc>
                  <a:spcPts val="2100"/>
                </a:lnSpc>
                <a:tabLst>
                  <a:tab pos="452755" algn="l"/>
                  <a:tab pos="904875" algn="l"/>
                  <a:tab pos="1357630" algn="l"/>
                </a:tabLst>
              </a:pPr>
              <a:r>
                <a:rPr lang="zh-CN" altLang="en-US" sz="2000" dirty="0">
                  <a:solidFill>
                    <a:schemeClr val="accent1"/>
                  </a:solidFill>
                  <a:latin typeface="Times New Roman" panose="02020603050405020304" pitchFamily="18" charset="0"/>
                  <a:ea typeface="微软雅黑" panose="020B0503020204020204" pitchFamily="34" charset="-122"/>
                </a:rPr>
                <a:t>时钟周期</a:t>
              </a:r>
              <a:endParaRPr lang="zh-CN" altLang="en-US" sz="2000" dirty="0">
                <a:solidFill>
                  <a:schemeClr val="accent1"/>
                </a:solidFill>
                <a:latin typeface="Times New Roman" panose="02020603050405020304" pitchFamily="18" charset="0"/>
                <a:ea typeface="微软雅黑" panose="020B0503020204020204" pitchFamily="34" charset="-122"/>
              </a:endParaRPr>
            </a:p>
          </p:txBody>
        </p:sp>
        <p:sp>
          <p:nvSpPr>
            <p:cNvPr id="25611" name="直接连接符 301067"/>
            <p:cNvSpPr/>
            <p:nvPr/>
          </p:nvSpPr>
          <p:spPr>
            <a:xfrm>
              <a:off x="2117" y="2868"/>
              <a:ext cx="692" cy="373"/>
            </a:xfrm>
            <a:prstGeom prst="line">
              <a:avLst/>
            </a:prstGeom>
            <a:ln w="28575" cap="flat" cmpd="sng">
              <a:solidFill>
                <a:schemeClr val="accent1"/>
              </a:solidFill>
              <a:prstDash val="solid"/>
              <a:round/>
              <a:headEnd type="triangle" w="med" len="med"/>
              <a:tailEnd type="none" w="med" len="med"/>
            </a:ln>
          </p:spPr>
        </p:sp>
        <p:sp>
          <p:nvSpPr>
            <p:cNvPr id="25612" name="矩形 301068"/>
            <p:cNvSpPr/>
            <p:nvPr/>
          </p:nvSpPr>
          <p:spPr>
            <a:xfrm>
              <a:off x="2839" y="3149"/>
              <a:ext cx="971" cy="229"/>
            </a:xfrm>
            <a:prstGeom prst="rect">
              <a:avLst/>
            </a:prstGeom>
            <a:noFill/>
            <a:ln w="12700">
              <a:noFill/>
            </a:ln>
          </p:spPr>
          <p:txBody>
            <a:bodyPr wrap="none" lIns="19050" tIns="26988" rIns="19050" bIns="26988" anchor="t" anchorCtr="0"/>
            <a:p>
              <a:pPr defTabSz="904875" eaLnBrk="0" hangingPunct="0">
                <a:lnSpc>
                  <a:spcPts val="2100"/>
                </a:lnSpc>
                <a:tabLst>
                  <a:tab pos="452755" algn="l"/>
                  <a:tab pos="904875" algn="l"/>
                  <a:tab pos="1357630" algn="l"/>
                </a:tabLst>
              </a:pPr>
              <a:r>
                <a:rPr lang="zh-CN" altLang="en-US" sz="2000" dirty="0">
                  <a:solidFill>
                    <a:schemeClr val="accent1"/>
                  </a:solidFill>
                  <a:latin typeface="Times New Roman" panose="02020603050405020304" pitchFamily="18" charset="0"/>
                  <a:ea typeface="微软雅黑" panose="020B0503020204020204" pitchFamily="34" charset="-122"/>
                </a:rPr>
                <a:t>上升沿</a:t>
              </a:r>
              <a:endParaRPr lang="zh-CN" altLang="en-US" sz="2000" dirty="0">
                <a:solidFill>
                  <a:schemeClr val="accent1"/>
                </a:solidFill>
                <a:latin typeface="Times New Roman" panose="02020603050405020304" pitchFamily="18" charset="0"/>
                <a:ea typeface="微软雅黑" panose="020B0503020204020204" pitchFamily="34" charset="-122"/>
              </a:endParaRPr>
            </a:p>
          </p:txBody>
        </p:sp>
        <p:sp>
          <p:nvSpPr>
            <p:cNvPr id="25613" name="直接连接符 301069"/>
            <p:cNvSpPr/>
            <p:nvPr/>
          </p:nvSpPr>
          <p:spPr>
            <a:xfrm flipV="1">
              <a:off x="2749" y="2462"/>
              <a:ext cx="462" cy="396"/>
            </a:xfrm>
            <a:prstGeom prst="line">
              <a:avLst/>
            </a:prstGeom>
            <a:ln w="28575" cap="flat" cmpd="sng">
              <a:solidFill>
                <a:schemeClr val="accent1"/>
              </a:solidFill>
              <a:prstDash val="solid"/>
              <a:round/>
              <a:headEnd type="triangle" w="med" len="med"/>
              <a:tailEnd type="none" w="med" len="med"/>
            </a:ln>
          </p:spPr>
        </p:sp>
        <p:sp>
          <p:nvSpPr>
            <p:cNvPr id="25614" name="矩形 301070"/>
            <p:cNvSpPr/>
            <p:nvPr/>
          </p:nvSpPr>
          <p:spPr>
            <a:xfrm>
              <a:off x="3222" y="2384"/>
              <a:ext cx="963" cy="228"/>
            </a:xfrm>
            <a:prstGeom prst="rect">
              <a:avLst/>
            </a:prstGeom>
            <a:noFill/>
            <a:ln w="12700">
              <a:noFill/>
            </a:ln>
          </p:spPr>
          <p:txBody>
            <a:bodyPr wrap="none" lIns="19050" tIns="26988" rIns="19050" bIns="26988" anchor="t" anchorCtr="0"/>
            <a:p>
              <a:pPr defTabSz="904875" eaLnBrk="0" hangingPunct="0">
                <a:lnSpc>
                  <a:spcPts val="2100"/>
                </a:lnSpc>
                <a:tabLst>
                  <a:tab pos="452755" algn="l"/>
                  <a:tab pos="904875" algn="l"/>
                  <a:tab pos="1357630" algn="l"/>
                </a:tabLst>
              </a:pPr>
              <a:r>
                <a:rPr lang="zh-CN" altLang="en-US" sz="2000" dirty="0">
                  <a:solidFill>
                    <a:schemeClr val="accent1"/>
                  </a:solidFill>
                  <a:latin typeface="微软雅黑" panose="020B0503020204020204" pitchFamily="34" charset="-122"/>
                  <a:ea typeface="微软雅黑" panose="020B0503020204020204" pitchFamily="34" charset="-122"/>
                </a:rPr>
                <a:t>下降沿</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25615" name="直接连接符 301071"/>
            <p:cNvSpPr/>
            <p:nvPr/>
          </p:nvSpPr>
          <p:spPr>
            <a:xfrm flipV="1">
              <a:off x="2079" y="2732"/>
              <a:ext cx="0" cy="276"/>
            </a:xfrm>
            <a:prstGeom prst="line">
              <a:avLst/>
            </a:prstGeom>
            <a:ln w="50800" cap="flat" cmpd="sng">
              <a:solidFill>
                <a:srgbClr val="000000"/>
              </a:solidFill>
              <a:prstDash val="solid"/>
              <a:round/>
              <a:headEnd type="none" w="med" len="med"/>
              <a:tailEnd type="none" w="med" len="med"/>
            </a:ln>
          </p:spPr>
        </p:sp>
        <p:sp>
          <p:nvSpPr>
            <p:cNvPr id="25616" name="直接连接符 301072"/>
            <p:cNvSpPr/>
            <p:nvPr/>
          </p:nvSpPr>
          <p:spPr>
            <a:xfrm>
              <a:off x="2069" y="2728"/>
              <a:ext cx="660" cy="0"/>
            </a:xfrm>
            <a:prstGeom prst="line">
              <a:avLst/>
            </a:prstGeom>
            <a:ln w="50800" cap="flat" cmpd="sng">
              <a:solidFill>
                <a:srgbClr val="000000"/>
              </a:solidFill>
              <a:prstDash val="solid"/>
              <a:round/>
              <a:headEnd type="none" w="med" len="med"/>
              <a:tailEnd type="none" w="med" len="med"/>
            </a:ln>
          </p:spPr>
        </p:sp>
        <p:sp>
          <p:nvSpPr>
            <p:cNvPr id="25617" name="直接连接符 301073"/>
            <p:cNvSpPr/>
            <p:nvPr/>
          </p:nvSpPr>
          <p:spPr>
            <a:xfrm>
              <a:off x="2718" y="2718"/>
              <a:ext cx="0" cy="285"/>
            </a:xfrm>
            <a:prstGeom prst="line">
              <a:avLst/>
            </a:prstGeom>
            <a:ln w="50800" cap="flat" cmpd="sng">
              <a:solidFill>
                <a:srgbClr val="000000"/>
              </a:solidFill>
              <a:prstDash val="solid"/>
              <a:round/>
              <a:headEnd type="none" w="med" len="med"/>
              <a:tailEnd type="none" w="med" len="med"/>
            </a:ln>
          </p:spPr>
        </p:sp>
        <p:sp>
          <p:nvSpPr>
            <p:cNvPr id="25618" name="直接连接符 301074"/>
            <p:cNvSpPr/>
            <p:nvPr/>
          </p:nvSpPr>
          <p:spPr>
            <a:xfrm>
              <a:off x="2708" y="2993"/>
              <a:ext cx="305" cy="0"/>
            </a:xfrm>
            <a:prstGeom prst="line">
              <a:avLst/>
            </a:prstGeom>
            <a:ln w="50800" cap="flat" cmpd="sng">
              <a:solidFill>
                <a:srgbClr val="000000"/>
              </a:solidFill>
              <a:prstDash val="solid"/>
              <a:round/>
              <a:headEnd type="none" w="med" len="med"/>
              <a:tailEnd type="none" w="med" len="med"/>
            </a:ln>
          </p:spPr>
        </p:sp>
        <p:sp>
          <p:nvSpPr>
            <p:cNvPr id="25619" name="直接连接符 301075"/>
            <p:cNvSpPr/>
            <p:nvPr/>
          </p:nvSpPr>
          <p:spPr>
            <a:xfrm flipV="1">
              <a:off x="3003" y="2712"/>
              <a:ext cx="0" cy="293"/>
            </a:xfrm>
            <a:prstGeom prst="line">
              <a:avLst/>
            </a:prstGeom>
            <a:ln w="50800" cap="flat" cmpd="sng">
              <a:solidFill>
                <a:srgbClr val="000000"/>
              </a:solidFill>
              <a:prstDash val="solid"/>
              <a:round/>
              <a:headEnd type="none" w="med" len="med"/>
              <a:tailEnd type="none" w="med" len="med"/>
            </a:ln>
          </p:spPr>
        </p:sp>
        <p:sp>
          <p:nvSpPr>
            <p:cNvPr id="25620" name="直接连接符 301076"/>
            <p:cNvSpPr/>
            <p:nvPr/>
          </p:nvSpPr>
          <p:spPr>
            <a:xfrm>
              <a:off x="2993" y="2725"/>
              <a:ext cx="660" cy="0"/>
            </a:xfrm>
            <a:prstGeom prst="line">
              <a:avLst/>
            </a:prstGeom>
            <a:ln w="50800" cap="flat" cmpd="sng">
              <a:solidFill>
                <a:srgbClr val="000000"/>
              </a:solidFill>
              <a:prstDash val="solid"/>
              <a:round/>
              <a:headEnd type="none" w="med" len="med"/>
              <a:tailEnd type="none" w="med" len="med"/>
            </a:ln>
          </p:spPr>
        </p:sp>
        <p:sp>
          <p:nvSpPr>
            <p:cNvPr id="25621" name="直接连接符 301077"/>
            <p:cNvSpPr/>
            <p:nvPr/>
          </p:nvSpPr>
          <p:spPr>
            <a:xfrm>
              <a:off x="3642" y="2715"/>
              <a:ext cx="0" cy="285"/>
            </a:xfrm>
            <a:prstGeom prst="line">
              <a:avLst/>
            </a:prstGeom>
            <a:ln w="50800" cap="flat" cmpd="sng">
              <a:solidFill>
                <a:srgbClr val="000000"/>
              </a:solidFill>
              <a:prstDash val="solid"/>
              <a:round/>
              <a:headEnd type="none" w="med" len="med"/>
              <a:tailEnd type="none" w="med" len="med"/>
            </a:ln>
          </p:spPr>
        </p:sp>
        <p:sp>
          <p:nvSpPr>
            <p:cNvPr id="25622" name="直接连接符 301078"/>
            <p:cNvSpPr/>
            <p:nvPr/>
          </p:nvSpPr>
          <p:spPr>
            <a:xfrm>
              <a:off x="3632" y="2990"/>
              <a:ext cx="305" cy="0"/>
            </a:xfrm>
            <a:prstGeom prst="line">
              <a:avLst/>
            </a:prstGeom>
            <a:ln w="50800" cap="flat" cmpd="sng">
              <a:solidFill>
                <a:srgbClr val="000000"/>
              </a:solidFill>
              <a:prstDash val="solid"/>
              <a:round/>
              <a:headEnd type="none" w="med" len="med"/>
              <a:tailEnd type="none" w="med" len="med"/>
            </a:ln>
          </p:spPr>
        </p:sp>
        <p:sp>
          <p:nvSpPr>
            <p:cNvPr id="25623" name="直接连接符 301079"/>
            <p:cNvSpPr/>
            <p:nvPr/>
          </p:nvSpPr>
          <p:spPr>
            <a:xfrm flipV="1">
              <a:off x="3921" y="2712"/>
              <a:ext cx="0" cy="293"/>
            </a:xfrm>
            <a:prstGeom prst="line">
              <a:avLst/>
            </a:prstGeom>
            <a:ln w="50800" cap="flat" cmpd="sng">
              <a:solidFill>
                <a:srgbClr val="000000"/>
              </a:solidFill>
              <a:prstDash val="solid"/>
              <a:round/>
              <a:headEnd type="none" w="med" len="med"/>
              <a:tailEnd type="none" w="med" len="med"/>
            </a:ln>
          </p:spPr>
        </p:sp>
        <p:sp>
          <p:nvSpPr>
            <p:cNvPr id="25624" name="直接连接符 301080"/>
            <p:cNvSpPr/>
            <p:nvPr/>
          </p:nvSpPr>
          <p:spPr>
            <a:xfrm>
              <a:off x="3911" y="2725"/>
              <a:ext cx="660" cy="0"/>
            </a:xfrm>
            <a:prstGeom prst="line">
              <a:avLst/>
            </a:prstGeom>
            <a:ln w="50800" cap="flat" cmpd="sng">
              <a:solidFill>
                <a:srgbClr val="000000"/>
              </a:solidFill>
              <a:prstDash val="solid"/>
              <a:round/>
              <a:headEnd type="none" w="med" len="med"/>
              <a:tailEnd type="none" w="med" len="med"/>
            </a:ln>
          </p:spPr>
        </p:sp>
        <p:sp>
          <p:nvSpPr>
            <p:cNvPr id="25625" name="直接连接符 301081"/>
            <p:cNvSpPr/>
            <p:nvPr/>
          </p:nvSpPr>
          <p:spPr>
            <a:xfrm>
              <a:off x="4560" y="2715"/>
              <a:ext cx="0" cy="285"/>
            </a:xfrm>
            <a:prstGeom prst="line">
              <a:avLst/>
            </a:prstGeom>
            <a:ln w="50800" cap="flat" cmpd="sng">
              <a:solidFill>
                <a:srgbClr val="000000"/>
              </a:solidFill>
              <a:prstDash val="solid"/>
              <a:round/>
              <a:headEnd type="none" w="med" len="med"/>
              <a:tailEnd type="none" w="med" len="med"/>
            </a:ln>
          </p:spPr>
        </p:sp>
        <p:sp>
          <p:nvSpPr>
            <p:cNvPr id="25626" name="直接连接符 301082"/>
            <p:cNvSpPr/>
            <p:nvPr/>
          </p:nvSpPr>
          <p:spPr>
            <a:xfrm>
              <a:off x="4550" y="2990"/>
              <a:ext cx="305" cy="0"/>
            </a:xfrm>
            <a:prstGeom prst="line">
              <a:avLst/>
            </a:prstGeom>
            <a:ln w="50800" cap="flat" cmpd="sng">
              <a:solidFill>
                <a:srgbClr val="000000"/>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1059">
                                            <p:txEl>
                                              <p:charRg st="13" end="44"/>
                                            </p:txEl>
                                          </p:spTgt>
                                        </p:tgtEl>
                                        <p:attrNameLst>
                                          <p:attrName>style.visibility</p:attrName>
                                        </p:attrNameLst>
                                      </p:cBhvr>
                                      <p:to>
                                        <p:strVal val="visible"/>
                                      </p:to>
                                    </p:set>
                                    <p:animEffect transition="in" filter="blinds(horizontal)">
                                      <p:cBhvr>
                                        <p:cTn id="7" dur="500"/>
                                        <p:tgtEl>
                                          <p:spTgt spid="301059">
                                            <p:txEl>
                                              <p:charRg st="13" end="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1059">
                                            <p:txEl>
                                              <p:charRg st="44" end="72"/>
                                            </p:txEl>
                                          </p:spTgt>
                                        </p:tgtEl>
                                        <p:attrNameLst>
                                          <p:attrName>style.visibility</p:attrName>
                                        </p:attrNameLst>
                                      </p:cBhvr>
                                      <p:to>
                                        <p:strVal val="visible"/>
                                      </p:to>
                                    </p:set>
                                    <p:animEffect transition="in" filter="blinds(horizontal)">
                                      <p:cBhvr>
                                        <p:cTn id="12" dur="500"/>
                                        <p:tgtEl>
                                          <p:spTgt spid="301059">
                                            <p:txEl>
                                              <p:charRg st="44" end="7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1059">
                                            <p:txEl>
                                              <p:charRg st="100" end="124"/>
                                            </p:txEl>
                                          </p:spTgt>
                                        </p:tgtEl>
                                        <p:attrNameLst>
                                          <p:attrName>style.visibility</p:attrName>
                                        </p:attrNameLst>
                                      </p:cBhvr>
                                      <p:to>
                                        <p:strVal val="visible"/>
                                      </p:to>
                                    </p:set>
                                    <p:animEffect transition="in" filter="blinds(horizontal)">
                                      <p:cBhvr>
                                        <p:cTn id="17" dur="500"/>
                                        <p:tgtEl>
                                          <p:spTgt spid="301059">
                                            <p:txEl>
                                              <p:charRg st="100" end="12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01059">
                                            <p:txEl>
                                              <p:charRg st="124" end="152"/>
                                            </p:txEl>
                                          </p:spTgt>
                                        </p:tgtEl>
                                        <p:attrNameLst>
                                          <p:attrName>style.visibility</p:attrName>
                                        </p:attrNameLst>
                                      </p:cBhvr>
                                      <p:to>
                                        <p:strVal val="visible"/>
                                      </p:to>
                                    </p:set>
                                    <p:animEffect transition="in" filter="blinds(horizontal)">
                                      <p:cBhvr>
                                        <p:cTn id="22" dur="500"/>
                                        <p:tgtEl>
                                          <p:spTgt spid="301059">
                                            <p:txEl>
                                              <p:charRg st="124" end="15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01059">
                                            <p:txEl>
                                              <p:charRg st="152" end="186"/>
                                            </p:txEl>
                                          </p:spTgt>
                                        </p:tgtEl>
                                        <p:attrNameLst>
                                          <p:attrName>style.visibility</p:attrName>
                                        </p:attrNameLst>
                                      </p:cBhvr>
                                      <p:to>
                                        <p:strVal val="visible"/>
                                      </p:to>
                                    </p:set>
                                    <p:animEffect transition="in" filter="blinds(horizontal)">
                                      <p:cBhvr>
                                        <p:cTn id="27" dur="500"/>
                                        <p:tgtEl>
                                          <p:spTgt spid="301059">
                                            <p:txEl>
                                              <p:charRg st="152" end="18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01059">
                                            <p:txEl>
                                              <p:charRg st="186" end="220"/>
                                            </p:txEl>
                                          </p:spTgt>
                                        </p:tgtEl>
                                        <p:attrNameLst>
                                          <p:attrName>style.visibility</p:attrName>
                                        </p:attrNameLst>
                                      </p:cBhvr>
                                      <p:to>
                                        <p:strVal val="visible"/>
                                      </p:to>
                                    </p:set>
                                    <p:animEffect transition="in" filter="blinds(horizontal)">
                                      <p:cBhvr>
                                        <p:cTn id="32" dur="500"/>
                                        <p:tgtEl>
                                          <p:spTgt spid="301059">
                                            <p:txEl>
                                              <p:charRg st="186" end="22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01086"/>
                                        </p:tgtEl>
                                        <p:attrNameLst>
                                          <p:attrName>style.visibility</p:attrName>
                                        </p:attrNameLst>
                                      </p:cBhvr>
                                      <p:to>
                                        <p:strVal val="visible"/>
                                      </p:to>
                                    </p:set>
                                    <p:animEffect transition="in" filter="blinds(horizontal)">
                                      <p:cBhvr>
                                        <p:cTn id="37" dur="500"/>
                                        <p:tgtEl>
                                          <p:spTgt spid="30108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01059">
                                            <p:txEl>
                                              <p:charRg st="225" end="250"/>
                                            </p:txEl>
                                          </p:spTgt>
                                        </p:tgtEl>
                                        <p:attrNameLst>
                                          <p:attrName>style.visibility</p:attrName>
                                        </p:attrNameLst>
                                      </p:cBhvr>
                                      <p:to>
                                        <p:strVal val="visible"/>
                                      </p:to>
                                    </p:set>
                                    <p:animEffect transition="in" filter="blinds(horizontal)">
                                      <p:cBhvr>
                                        <p:cTn id="42" dur="500"/>
                                        <p:tgtEl>
                                          <p:spTgt spid="301059">
                                            <p:txEl>
                                              <p:charRg st="225" end="25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01059">
                                            <p:txEl>
                                              <p:charRg st="250" end="276"/>
                                            </p:txEl>
                                          </p:spTgt>
                                        </p:tgtEl>
                                        <p:attrNameLst>
                                          <p:attrName>style.visibility</p:attrName>
                                        </p:attrNameLst>
                                      </p:cBhvr>
                                      <p:to>
                                        <p:strVal val="visible"/>
                                      </p:to>
                                    </p:set>
                                    <p:animEffect transition="in" filter="blinds(horizontal)">
                                      <p:cBhvr>
                                        <p:cTn id="47" dur="500"/>
                                        <p:tgtEl>
                                          <p:spTgt spid="301059">
                                            <p:txEl>
                                              <p:charRg st="250" end="2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91489"/>
          <p:cNvSpPr>
            <a:spLocks noGrp="1"/>
          </p:cNvSpPr>
          <p:nvPr>
            <p:ph type="title"/>
          </p:nvPr>
        </p:nvSpPr>
        <p:spPr>
          <a:xfrm>
            <a:off x="1598613" y="133350"/>
            <a:ext cx="7397750" cy="528638"/>
          </a:xfrm>
          <a:ln/>
        </p:spPr>
        <p:txBody>
          <a:bodyPr wrap="square" lIns="63500" tIns="25400" rIns="63500" bIns="25400" anchor="t" anchorCtr="0">
            <a:spAutoFit/>
          </a:bodyPr>
          <a:p>
            <a:r>
              <a:rPr lang="zh-CN" altLang="en-US" dirty="0"/>
              <a:t>存储元件中何时状态被改变？</a:t>
            </a:r>
            <a:endParaRPr lang="en-US" altLang="zh-CN"/>
          </a:p>
        </p:txBody>
      </p:sp>
      <p:grpSp>
        <p:nvGrpSpPr>
          <p:cNvPr id="26626" name="组合 191493"/>
          <p:cNvGrpSpPr/>
          <p:nvPr/>
        </p:nvGrpSpPr>
        <p:grpSpPr>
          <a:xfrm>
            <a:off x="511175" y="892175"/>
            <a:ext cx="8197850" cy="4237038"/>
            <a:chOff x="259" y="1440"/>
            <a:chExt cx="5347" cy="2577"/>
          </a:xfrm>
        </p:grpSpPr>
        <p:pic>
          <p:nvPicPr>
            <p:cNvPr id="26627" name="内容占位符 191490"/>
            <p:cNvPicPr>
              <a:picLocks noGrp="1" noChangeAspect="1"/>
            </p:cNvPicPr>
            <p:nvPr>
              <p:ph idx="4294967295"/>
            </p:nvPr>
          </p:nvPicPr>
          <p:blipFill>
            <a:blip r:embed="rId1"/>
            <a:stretch>
              <a:fillRect/>
            </a:stretch>
          </p:blipFill>
          <p:spPr>
            <a:xfrm>
              <a:off x="259" y="1440"/>
              <a:ext cx="5347" cy="2577"/>
            </a:xfrm>
            <a:ln/>
          </p:spPr>
        </p:pic>
        <p:sp>
          <p:nvSpPr>
            <p:cNvPr id="26628" name="文本框 191491"/>
            <p:cNvSpPr txBox="1"/>
            <p:nvPr/>
          </p:nvSpPr>
          <p:spPr>
            <a:xfrm>
              <a:off x="411" y="1491"/>
              <a:ext cx="2880" cy="205"/>
            </a:xfrm>
            <a:prstGeom prst="rect">
              <a:avLst/>
            </a:prstGeom>
            <a:solidFill>
              <a:schemeClr val="bg1"/>
            </a:solidFill>
            <a:ln w="50800">
              <a:noFill/>
            </a:ln>
          </p:spPr>
          <p:txBody>
            <a:bodyPr anchor="t" anchorCtr="0">
              <a:spAutoFit/>
            </a:bodyPr>
            <a:p>
              <a:pPr eaLnBrk="0" hangingPunct="0">
                <a:spcBef>
                  <a:spcPct val="50000"/>
                </a:spcBef>
              </a:pPr>
              <a:endParaRPr lang="zh-CN" altLang="en-US" dirty="0">
                <a:latin typeface="Times New Roman" panose="02020603050405020304" pitchFamily="18" charset="0"/>
                <a:ea typeface="宋体" panose="02010600030101010101" pitchFamily="2" charset="-122"/>
              </a:endParaRPr>
            </a:p>
          </p:txBody>
        </p:sp>
      </p:grpSp>
      <p:sp>
        <p:nvSpPr>
          <p:cNvPr id="191496" name="文本框 191495"/>
          <p:cNvSpPr txBox="1"/>
          <p:nvPr/>
        </p:nvSpPr>
        <p:spPr>
          <a:xfrm>
            <a:off x="233363" y="5260975"/>
            <a:ext cx="7707312" cy="762000"/>
          </a:xfrm>
          <a:prstGeom prst="rect">
            <a:avLst/>
          </a:prstGeom>
          <a:noFill/>
          <a:ln w="50800">
            <a:noFill/>
          </a:ln>
        </p:spPr>
        <p:txBody>
          <a:bodyPr anchor="t" anchorCtr="0">
            <a:spAutoFit/>
          </a:bodyPr>
          <a:p>
            <a:pPr eaLnBrk="0" hangingPunct="0">
              <a:spcBef>
                <a:spcPct val="20000"/>
              </a:spcBef>
            </a:pPr>
            <a:r>
              <a:rPr lang="zh-CN" altLang="en-US" sz="2200" dirty="0">
                <a:solidFill>
                  <a:schemeClr val="accent1"/>
                </a:solidFill>
                <a:latin typeface="微软雅黑" panose="020B0503020204020204" pitchFamily="34" charset="-122"/>
                <a:ea typeface="微软雅黑" panose="020B0503020204020204" pitchFamily="34" charset="-122"/>
              </a:rPr>
              <a:t>切记：状态单元的输入信息总是在一个时钟边沿到达后的“</a:t>
            </a:r>
            <a:r>
              <a:rPr lang="en-US" altLang="zh-CN" sz="2200" err="1">
                <a:solidFill>
                  <a:schemeClr val="accent1"/>
                </a:solidFill>
                <a:latin typeface="微软雅黑" panose="020B0503020204020204" pitchFamily="34" charset="-122"/>
                <a:ea typeface="微软雅黑" panose="020B0503020204020204" pitchFamily="34" charset="-122"/>
              </a:rPr>
              <a:t>Clk</a:t>
            </a:r>
            <a:r>
              <a:rPr lang="en-US" altLang="zh-CN" sz="2200">
                <a:solidFill>
                  <a:schemeClr val="accent1"/>
                </a:solidFill>
                <a:latin typeface="微软雅黑" panose="020B0503020204020204" pitchFamily="34" charset="-122"/>
                <a:ea typeface="微软雅黑" panose="020B0503020204020204" pitchFamily="34" charset="-122"/>
              </a:rPr>
              <a:t>-to-Q</a:t>
            </a:r>
            <a:r>
              <a:rPr lang="zh-CN" altLang="en-US" sz="2200" dirty="0">
                <a:solidFill>
                  <a:schemeClr val="accent1"/>
                </a:solidFill>
                <a:latin typeface="微软雅黑" panose="020B0503020204020204" pitchFamily="34" charset="-122"/>
                <a:ea typeface="微软雅黑" panose="020B0503020204020204" pitchFamily="34" charset="-122"/>
              </a:rPr>
              <a:t>”时间才被写入，此时的输出才反映新的状态值</a:t>
            </a:r>
            <a:endParaRPr lang="zh-CN" altLang="en-US" sz="2200" dirty="0">
              <a:solidFill>
                <a:schemeClr val="accent1"/>
              </a:solidFill>
              <a:latin typeface="微软雅黑" panose="020B0503020204020204" pitchFamily="34" charset="-122"/>
              <a:ea typeface="微软雅黑" panose="020B0503020204020204" pitchFamily="34" charset="-122"/>
            </a:endParaRPr>
          </a:p>
        </p:txBody>
      </p:sp>
      <p:sp>
        <p:nvSpPr>
          <p:cNvPr id="191497" name="文本框 191496"/>
          <p:cNvSpPr txBox="1"/>
          <p:nvPr/>
        </p:nvSpPr>
        <p:spPr>
          <a:xfrm>
            <a:off x="963613" y="6192838"/>
            <a:ext cx="7321550" cy="427037"/>
          </a:xfrm>
          <a:prstGeom prst="rect">
            <a:avLst/>
          </a:prstGeom>
          <a:noFill/>
          <a:ln w="50800">
            <a:noFill/>
          </a:ln>
        </p:spPr>
        <p:txBody>
          <a:bodyPr anchor="t" anchorCtr="0">
            <a:spAutoFit/>
          </a:bodyPr>
          <a:p>
            <a:pPr eaLnBrk="0" hangingPunct="0">
              <a:spcBef>
                <a:spcPct val="50000"/>
              </a:spcBef>
            </a:pPr>
            <a:r>
              <a:rPr lang="zh-CN" altLang="en-US" sz="2200" dirty="0">
                <a:solidFill>
                  <a:schemeClr val="accent2"/>
                </a:solidFill>
                <a:latin typeface="微软雅黑" panose="020B0503020204020204" pitchFamily="34" charset="-122"/>
                <a:ea typeface="微软雅黑" panose="020B0503020204020204" pitchFamily="34" charset="-122"/>
              </a:rPr>
              <a:t>数据通路中的状态元件有两种：寄存器</a:t>
            </a:r>
            <a:r>
              <a:rPr lang="en-US" altLang="zh-CN" sz="2200">
                <a:solidFill>
                  <a:schemeClr val="accent2"/>
                </a:solidFill>
                <a:latin typeface="微软雅黑" panose="020B0503020204020204" pitchFamily="34" charset="-122"/>
                <a:ea typeface="微软雅黑" panose="020B0503020204020204" pitchFamily="34" charset="-122"/>
              </a:rPr>
              <a:t>(</a:t>
            </a:r>
            <a:r>
              <a:rPr lang="zh-CN" altLang="en-US" sz="2200" dirty="0">
                <a:solidFill>
                  <a:schemeClr val="accent2"/>
                </a:solidFill>
                <a:latin typeface="微软雅黑" panose="020B0503020204020204" pitchFamily="34" charset="-122"/>
                <a:ea typeface="微软雅黑" panose="020B0503020204020204" pitchFamily="34" charset="-122"/>
              </a:rPr>
              <a:t>组</a:t>
            </a:r>
            <a:r>
              <a:rPr lang="en-US" altLang="zh-CN" sz="2200">
                <a:solidFill>
                  <a:schemeClr val="accent2"/>
                </a:solidFill>
                <a:latin typeface="微软雅黑" panose="020B0503020204020204" pitchFamily="34" charset="-122"/>
                <a:ea typeface="微软雅黑" panose="020B0503020204020204" pitchFamily="34" charset="-122"/>
              </a:rPr>
              <a:t>) + </a:t>
            </a:r>
            <a:r>
              <a:rPr lang="zh-CN" altLang="en-US" sz="2200" dirty="0">
                <a:solidFill>
                  <a:schemeClr val="accent2"/>
                </a:solidFill>
                <a:latin typeface="微软雅黑" panose="020B0503020204020204" pitchFamily="34" charset="-122"/>
                <a:ea typeface="微软雅黑" panose="020B0503020204020204" pitchFamily="34" charset="-122"/>
              </a:rPr>
              <a:t>存储器</a:t>
            </a:r>
            <a:endParaRPr lang="zh-CN" altLang="en-US" sz="2200" dirty="0">
              <a:solidFill>
                <a:schemeClr val="accent2"/>
              </a:solidFill>
              <a:latin typeface="微软雅黑" panose="020B0503020204020204" pitchFamily="34" charset="-122"/>
              <a:ea typeface="微软雅黑" panose="020B0503020204020204" pitchFamily="34" charset="-122"/>
            </a:endParaRPr>
          </a:p>
        </p:txBody>
      </p:sp>
      <p:sp>
        <p:nvSpPr>
          <p:cNvPr id="26631" name="文本框 191497"/>
          <p:cNvSpPr txBox="1"/>
          <p:nvPr/>
        </p:nvSpPr>
        <p:spPr>
          <a:xfrm>
            <a:off x="2613025" y="4406900"/>
            <a:ext cx="3827463" cy="366713"/>
          </a:xfrm>
          <a:prstGeom prst="rect">
            <a:avLst/>
          </a:prstGeom>
          <a:noFill/>
          <a:ln w="50800">
            <a:noFill/>
          </a:ln>
        </p:spPr>
        <p:txBody>
          <a:bodyPr anchor="t" anchorCtr="0">
            <a:spAutoFit/>
          </a:bodyPr>
          <a:p>
            <a:pPr eaLnBrk="0" hangingPunct="0">
              <a:spcBef>
                <a:spcPct val="50000"/>
              </a:spcBef>
            </a:pPr>
            <a:r>
              <a:rPr lang="en-US" altLang="zh-CN" sz="1800">
                <a:latin typeface="微软雅黑" panose="020B0503020204020204" pitchFamily="34" charset="-122"/>
                <a:ea typeface="微软雅黑" panose="020B0503020204020204" pitchFamily="34" charset="-122"/>
              </a:rPr>
              <a:t> ( Latch Prop - </a:t>
            </a:r>
            <a:r>
              <a:rPr lang="zh-CN" altLang="en-US" sz="1800" dirty="0">
                <a:latin typeface="微软雅黑" panose="020B0503020204020204" pitchFamily="34" charset="-122"/>
                <a:ea typeface="微软雅黑" panose="020B0503020204020204" pitchFamily="34" charset="-122"/>
              </a:rPr>
              <a:t>锁存延迟 </a:t>
            </a:r>
            <a:r>
              <a:rPr lang="en-US" altLang="zh-CN" sz="1800">
                <a:latin typeface="微软雅黑" panose="020B0503020204020204" pitchFamily="34" charset="-122"/>
                <a:ea typeface="微软雅黑" panose="020B0503020204020204" pitchFamily="34" charset="-122"/>
              </a:rPr>
              <a:t>)</a:t>
            </a:r>
            <a:endParaRPr lang="en-US" altLang="zh-CN" sz="1800">
              <a:latin typeface="微软雅黑" panose="020B0503020204020204" pitchFamily="34" charset="-122"/>
              <a:ea typeface="微软雅黑" panose="020B0503020204020204" pitchFamily="34" charset="-122"/>
            </a:endParaRPr>
          </a:p>
        </p:txBody>
      </p:sp>
      <p:sp>
        <p:nvSpPr>
          <p:cNvPr id="191499" name="直接连接符 191498"/>
          <p:cNvSpPr/>
          <p:nvPr/>
        </p:nvSpPr>
        <p:spPr>
          <a:xfrm>
            <a:off x="4208463" y="2200275"/>
            <a:ext cx="1060450" cy="1588"/>
          </a:xfrm>
          <a:prstGeom prst="line">
            <a:avLst/>
          </a:prstGeom>
          <a:ln w="50800" cap="flat" cmpd="sng">
            <a:solidFill>
              <a:srgbClr val="FE9AAB"/>
            </a:solidFill>
            <a:prstDash val="solid"/>
            <a:round/>
            <a:headEnd type="none" w="med" len="med"/>
            <a:tailEnd type="none" w="med" len="med"/>
          </a:ln>
        </p:spPr>
      </p:sp>
      <p:sp>
        <p:nvSpPr>
          <p:cNvPr id="191500" name="直接连接符 191499"/>
          <p:cNvSpPr/>
          <p:nvPr/>
        </p:nvSpPr>
        <p:spPr>
          <a:xfrm flipV="1">
            <a:off x="7104063" y="1960563"/>
            <a:ext cx="1073150" cy="14287"/>
          </a:xfrm>
          <a:prstGeom prst="line">
            <a:avLst/>
          </a:prstGeom>
          <a:ln w="50800" cap="flat" cmpd="sng">
            <a:solidFill>
              <a:srgbClr val="FE9AAB"/>
            </a:solidFill>
            <a:prstDash val="solid"/>
            <a:round/>
            <a:headEnd type="none" w="med" len="med"/>
            <a:tailEnd type="none" w="med" len="med"/>
          </a:ln>
        </p:spPr>
      </p:sp>
      <p:sp>
        <p:nvSpPr>
          <p:cNvPr id="191501" name="直接连接符 191500"/>
          <p:cNvSpPr/>
          <p:nvPr/>
        </p:nvSpPr>
        <p:spPr>
          <a:xfrm>
            <a:off x="4983163" y="2844800"/>
            <a:ext cx="2903537" cy="1588"/>
          </a:xfrm>
          <a:prstGeom prst="line">
            <a:avLst/>
          </a:prstGeom>
          <a:ln w="50800" cap="flat" cmpd="sng">
            <a:solidFill>
              <a:srgbClr val="008000"/>
            </a:solidFill>
            <a:prstDash val="solid"/>
            <a:round/>
            <a:headEnd type="none" w="med" len="med"/>
            <a:tailEnd type="none" w="med" len="med"/>
          </a:ln>
        </p:spPr>
      </p:sp>
      <p:sp>
        <p:nvSpPr>
          <p:cNvPr id="191502" name="直接连接符 191501"/>
          <p:cNvSpPr/>
          <p:nvPr/>
        </p:nvSpPr>
        <p:spPr>
          <a:xfrm>
            <a:off x="7910513" y="2579688"/>
            <a:ext cx="681037" cy="0"/>
          </a:xfrm>
          <a:prstGeom prst="line">
            <a:avLst/>
          </a:prstGeom>
          <a:ln w="50800" cap="flat" cmpd="sng">
            <a:solidFill>
              <a:srgbClr val="008000"/>
            </a:solidFill>
            <a:prstDash val="solid"/>
            <a:round/>
            <a:headEnd type="none" w="med" len="med"/>
            <a:tailEnd type="none" w="med" len="med"/>
          </a:ln>
        </p:spPr>
      </p:sp>
      <p:sp>
        <p:nvSpPr>
          <p:cNvPr id="191503" name="文本框 191502"/>
          <p:cNvSpPr txBox="1"/>
          <p:nvPr/>
        </p:nvSpPr>
        <p:spPr>
          <a:xfrm>
            <a:off x="4621213" y="2967038"/>
            <a:ext cx="4041775" cy="396875"/>
          </a:xfrm>
          <a:prstGeom prst="rect">
            <a:avLst/>
          </a:prstGeom>
          <a:noFill/>
          <a:ln w="50800">
            <a:noFill/>
          </a:ln>
        </p:spPr>
        <p:txBody>
          <a:bodyPr anchor="t" anchorCtr="0">
            <a:spAutoFit/>
          </a:bodyPr>
          <a:p>
            <a:pPr eaLnBrk="0" hangingPunct="0">
              <a:spcBef>
                <a:spcPct val="50000"/>
              </a:spcBef>
            </a:pPr>
            <a:r>
              <a:rPr lang="en-US" altLang="zh-CN" sz="2000">
                <a:solidFill>
                  <a:schemeClr val="accent2"/>
                </a:solidFill>
                <a:latin typeface="微软雅黑" panose="020B0503020204020204" pitchFamily="34" charset="-122"/>
                <a:ea typeface="微软雅黑" panose="020B0503020204020204" pitchFamily="34" charset="-122"/>
              </a:rPr>
              <a:t>Q</a:t>
            </a:r>
            <a:r>
              <a:rPr lang="zh-CN" altLang="en-US" sz="2000" dirty="0">
                <a:solidFill>
                  <a:schemeClr val="accent2"/>
                </a:solidFill>
                <a:latin typeface="微软雅黑" panose="020B0503020204020204" pitchFamily="34" charset="-122"/>
                <a:ea typeface="微软雅黑" panose="020B0503020204020204" pitchFamily="34" charset="-122"/>
              </a:rPr>
              <a:t>总是在</a:t>
            </a:r>
            <a:r>
              <a:rPr lang="en-US" altLang="zh-CN" sz="2000">
                <a:solidFill>
                  <a:schemeClr val="accent2"/>
                </a:solidFill>
                <a:latin typeface="微软雅黑" panose="020B0503020204020204" pitchFamily="34" charset="-122"/>
                <a:ea typeface="微软雅黑" panose="020B0503020204020204" pitchFamily="34" charset="-122"/>
              </a:rPr>
              <a:t>clock-to-Q</a:t>
            </a:r>
            <a:r>
              <a:rPr lang="zh-CN" altLang="en-US" sz="2000" dirty="0">
                <a:solidFill>
                  <a:schemeClr val="accent2"/>
                </a:solidFill>
                <a:latin typeface="微软雅黑" panose="020B0503020204020204" pitchFamily="34" charset="-122"/>
                <a:ea typeface="微软雅黑" panose="020B0503020204020204" pitchFamily="34" charset="-122"/>
              </a:rPr>
              <a:t>后跟着</a:t>
            </a:r>
            <a:r>
              <a:rPr lang="en-US" altLang="zh-CN" sz="2000">
                <a:solidFill>
                  <a:schemeClr val="accent2"/>
                </a:solidFill>
                <a:latin typeface="微软雅黑" panose="020B0503020204020204" pitchFamily="34" charset="-122"/>
                <a:ea typeface="微软雅黑" panose="020B0503020204020204" pitchFamily="34" charset="-122"/>
              </a:rPr>
              <a:t>D</a:t>
            </a:r>
            <a:r>
              <a:rPr lang="zh-CN" altLang="en-US" sz="2000" dirty="0">
                <a:solidFill>
                  <a:schemeClr val="accent2"/>
                </a:solidFill>
                <a:latin typeface="微软雅黑" panose="020B0503020204020204" pitchFamily="34" charset="-122"/>
                <a:ea typeface="微软雅黑" panose="020B0503020204020204" pitchFamily="34" charset="-122"/>
              </a:rPr>
              <a:t>变化</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grpSp>
        <p:nvGrpSpPr>
          <p:cNvPr id="191507" name="组合 191506"/>
          <p:cNvGrpSpPr/>
          <p:nvPr/>
        </p:nvGrpSpPr>
        <p:grpSpPr>
          <a:xfrm>
            <a:off x="3749675" y="947738"/>
            <a:ext cx="4127500" cy="962025"/>
            <a:chOff x="2394" y="426"/>
            <a:chExt cx="2274" cy="606"/>
          </a:xfrm>
        </p:grpSpPr>
        <p:sp>
          <p:nvSpPr>
            <p:cNvPr id="26638" name="文本框 191503"/>
            <p:cNvSpPr txBox="1"/>
            <p:nvPr/>
          </p:nvSpPr>
          <p:spPr>
            <a:xfrm>
              <a:off x="3072" y="426"/>
              <a:ext cx="1596" cy="250"/>
            </a:xfrm>
            <a:prstGeom prst="rect">
              <a:avLst/>
            </a:prstGeom>
            <a:noFill/>
            <a:ln w="50800">
              <a:noFill/>
            </a:ln>
          </p:spPr>
          <p:txBody>
            <a:bodyPr anchor="t" anchorCtr="0">
              <a:spAutoFit/>
            </a:bodyPr>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这期间</a:t>
              </a:r>
              <a:r>
                <a:rPr lang="en-US" altLang="zh-CN" sz="2000">
                  <a:solidFill>
                    <a:schemeClr val="accent2"/>
                  </a:solidFill>
                  <a:latin typeface="微软雅黑" panose="020B0503020204020204" pitchFamily="34" charset="-122"/>
                  <a:ea typeface="微软雅黑" panose="020B0503020204020204" pitchFamily="34" charset="-122"/>
                </a:rPr>
                <a:t>D</a:t>
              </a:r>
              <a:r>
                <a:rPr lang="zh-CN" altLang="en-US" sz="2000" dirty="0">
                  <a:solidFill>
                    <a:schemeClr val="accent2"/>
                  </a:solidFill>
                  <a:latin typeface="微软雅黑" panose="020B0503020204020204" pitchFamily="34" charset="-122"/>
                  <a:ea typeface="微软雅黑" panose="020B0503020204020204" pitchFamily="34" charset="-122"/>
                </a:rPr>
                <a:t>的变化不影响</a:t>
              </a:r>
              <a:r>
                <a:rPr lang="en-US" altLang="zh-CN" sz="2000">
                  <a:solidFill>
                    <a:schemeClr val="accent2"/>
                  </a:solidFill>
                  <a:latin typeface="微软雅黑" panose="020B0503020204020204" pitchFamily="34" charset="-122"/>
                  <a:ea typeface="微软雅黑" panose="020B0503020204020204" pitchFamily="34" charset="-122"/>
                </a:rPr>
                <a:t>Q</a:t>
              </a:r>
              <a:endParaRPr lang="en-US" altLang="zh-CN" sz="2000">
                <a:solidFill>
                  <a:schemeClr val="accent2"/>
                </a:solidFill>
                <a:latin typeface="微软雅黑" panose="020B0503020204020204" pitchFamily="34" charset="-122"/>
                <a:ea typeface="微软雅黑" panose="020B0503020204020204" pitchFamily="34" charset="-122"/>
              </a:endParaRPr>
            </a:p>
          </p:txBody>
        </p:sp>
        <p:sp>
          <p:nvSpPr>
            <p:cNvPr id="26639" name="直接连接符 191504"/>
            <p:cNvSpPr/>
            <p:nvPr/>
          </p:nvSpPr>
          <p:spPr>
            <a:xfrm flipH="1">
              <a:off x="2394" y="624"/>
              <a:ext cx="876" cy="408"/>
            </a:xfrm>
            <a:prstGeom prst="line">
              <a:avLst/>
            </a:prstGeom>
            <a:ln w="50800" cap="flat" cmpd="sng">
              <a:solidFill>
                <a:srgbClr val="FE9AAB"/>
              </a:solidFill>
              <a:prstDash val="solid"/>
              <a:round/>
              <a:headEnd type="none" w="med" len="med"/>
              <a:tailEnd type="triangle" w="med" len="med"/>
            </a:ln>
          </p:spPr>
        </p:sp>
        <p:sp>
          <p:nvSpPr>
            <p:cNvPr id="26640" name="直接连接符 191505"/>
            <p:cNvSpPr/>
            <p:nvPr/>
          </p:nvSpPr>
          <p:spPr>
            <a:xfrm>
              <a:off x="3606" y="624"/>
              <a:ext cx="252" cy="384"/>
            </a:xfrm>
            <a:prstGeom prst="line">
              <a:avLst/>
            </a:prstGeom>
            <a:ln w="50800" cap="flat" cmpd="sng">
              <a:solidFill>
                <a:srgbClr val="FE9AAB"/>
              </a:solidFill>
              <a:prstDash val="solid"/>
              <a:roun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1499"/>
                                        </p:tgtEl>
                                        <p:attrNameLst>
                                          <p:attrName>style.visibility</p:attrName>
                                        </p:attrNameLst>
                                      </p:cBhvr>
                                      <p:to>
                                        <p:strVal val="visible"/>
                                      </p:to>
                                    </p:set>
                                    <p:animEffect transition="in" filter="blinds(horizontal)">
                                      <p:cBhvr>
                                        <p:cTn id="7" dur="500"/>
                                        <p:tgtEl>
                                          <p:spTgt spid="1914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1501"/>
                                        </p:tgtEl>
                                        <p:attrNameLst>
                                          <p:attrName>style.visibility</p:attrName>
                                        </p:attrNameLst>
                                      </p:cBhvr>
                                      <p:to>
                                        <p:strVal val="visible"/>
                                      </p:to>
                                    </p:set>
                                    <p:animEffect transition="in" filter="blinds(horizontal)">
                                      <p:cBhvr>
                                        <p:cTn id="12" dur="500"/>
                                        <p:tgtEl>
                                          <p:spTgt spid="19150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1500"/>
                                        </p:tgtEl>
                                        <p:attrNameLst>
                                          <p:attrName>style.visibility</p:attrName>
                                        </p:attrNameLst>
                                      </p:cBhvr>
                                      <p:to>
                                        <p:strVal val="visible"/>
                                      </p:to>
                                    </p:set>
                                    <p:animEffect transition="in" filter="blinds(horizontal)">
                                      <p:cBhvr>
                                        <p:cTn id="17" dur="500"/>
                                        <p:tgtEl>
                                          <p:spTgt spid="1915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1502"/>
                                        </p:tgtEl>
                                        <p:attrNameLst>
                                          <p:attrName>style.visibility</p:attrName>
                                        </p:attrNameLst>
                                      </p:cBhvr>
                                      <p:to>
                                        <p:strVal val="visible"/>
                                      </p:to>
                                    </p:set>
                                    <p:animEffect transition="in" filter="blinds(horizontal)">
                                      <p:cBhvr>
                                        <p:cTn id="22" dur="500"/>
                                        <p:tgtEl>
                                          <p:spTgt spid="19150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1503"/>
                                        </p:tgtEl>
                                        <p:attrNameLst>
                                          <p:attrName>style.visibility</p:attrName>
                                        </p:attrNameLst>
                                      </p:cBhvr>
                                      <p:to>
                                        <p:strVal val="visible"/>
                                      </p:to>
                                    </p:set>
                                    <p:animEffect transition="in" filter="blinds(horizontal)">
                                      <p:cBhvr>
                                        <p:cTn id="27" dur="500"/>
                                        <p:tgtEl>
                                          <p:spTgt spid="19150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1507"/>
                                        </p:tgtEl>
                                        <p:attrNameLst>
                                          <p:attrName>style.visibility</p:attrName>
                                        </p:attrNameLst>
                                      </p:cBhvr>
                                      <p:to>
                                        <p:strVal val="visible"/>
                                      </p:to>
                                    </p:set>
                                    <p:animEffect transition="in" filter="blinds(horizontal)">
                                      <p:cBhvr>
                                        <p:cTn id="32" dur="500"/>
                                        <p:tgtEl>
                                          <p:spTgt spid="19150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1496"/>
                                        </p:tgtEl>
                                        <p:attrNameLst>
                                          <p:attrName>style.visibility</p:attrName>
                                        </p:attrNameLst>
                                      </p:cBhvr>
                                      <p:to>
                                        <p:strVal val="visible"/>
                                      </p:to>
                                    </p:set>
                                    <p:animEffect transition="in" filter="blinds(horizontal)">
                                      <p:cBhvr>
                                        <p:cTn id="37" dur="500"/>
                                        <p:tgtEl>
                                          <p:spTgt spid="19149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91497">
                                            <p:txEl>
                                              <p:charRg st="0" end="27"/>
                                            </p:txEl>
                                          </p:spTgt>
                                        </p:tgtEl>
                                        <p:attrNameLst>
                                          <p:attrName>style.visibility</p:attrName>
                                        </p:attrNameLst>
                                      </p:cBhvr>
                                      <p:to>
                                        <p:strVal val="visible"/>
                                      </p:to>
                                    </p:set>
                                    <p:animEffect transition="in" filter="blinds(horizontal)">
                                      <p:cBhvr>
                                        <p:cTn id="42" dur="500"/>
                                        <p:tgtEl>
                                          <p:spTgt spid="191497">
                                            <p:txEl>
                                              <p:charRg st="0" end="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6" grpId="0"/>
      <p:bldP spid="19150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4722" name="图片 414721"/>
          <p:cNvPicPr>
            <a:picLocks noChangeAspect="1"/>
          </p:cNvPicPr>
          <p:nvPr/>
        </p:nvPicPr>
        <p:blipFill>
          <a:blip r:embed="rId1"/>
          <a:stretch>
            <a:fillRect/>
          </a:stretch>
        </p:blipFill>
        <p:spPr>
          <a:xfrm>
            <a:off x="195263" y="774700"/>
            <a:ext cx="8770937" cy="4662488"/>
          </a:xfrm>
          <a:prstGeom prst="rect">
            <a:avLst/>
          </a:prstGeom>
          <a:solidFill>
            <a:srgbClr val="008080">
              <a:alpha val="17998"/>
            </a:srgbClr>
          </a:solidFill>
          <a:ln w="9525">
            <a:noFill/>
          </a:ln>
        </p:spPr>
      </p:pic>
      <p:sp>
        <p:nvSpPr>
          <p:cNvPr id="27650" name="标题 414722"/>
          <p:cNvSpPr>
            <a:spLocks noGrp="1"/>
          </p:cNvSpPr>
          <p:nvPr>
            <p:ph type="title"/>
          </p:nvPr>
        </p:nvSpPr>
        <p:spPr>
          <a:ln/>
        </p:spPr>
        <p:txBody>
          <a:bodyPr lIns="63500" tIns="25400" rIns="63500" bIns="25400" anchor="t" anchorCtr="0">
            <a:spAutoFit/>
          </a:bodyPr>
          <a:p>
            <a:r>
              <a:rPr lang="zh-CN" altLang="en-US" dirty="0">
                <a:ea typeface="宋体" panose="02010600030101010101" pitchFamily="2" charset="-122"/>
              </a:rPr>
              <a:t>数据通路与时序控制</a:t>
            </a:r>
            <a:endParaRPr lang="zh-CN" altLang="en-US" dirty="0">
              <a:ea typeface="宋体" panose="02010600030101010101" pitchFamily="2" charset="-122"/>
            </a:endParaRPr>
          </a:p>
        </p:txBody>
      </p:sp>
      <p:sp>
        <p:nvSpPr>
          <p:cNvPr id="414725" name="文本框 414724"/>
          <p:cNvSpPr txBox="1"/>
          <p:nvPr/>
        </p:nvSpPr>
        <p:spPr>
          <a:xfrm>
            <a:off x="273050" y="5699125"/>
            <a:ext cx="8693150" cy="828675"/>
          </a:xfrm>
          <a:prstGeom prst="rect">
            <a:avLst/>
          </a:prstGeom>
          <a:noFill/>
          <a:ln w="50800">
            <a:noFill/>
          </a:ln>
        </p:spPr>
        <p:txBody>
          <a:bodyPr anchor="t" anchorCtr="0">
            <a:spAutoFit/>
          </a:bodyPr>
          <a:p>
            <a:pPr>
              <a:spcBef>
                <a:spcPct val="20000"/>
              </a:spcBef>
            </a:pPr>
            <a:r>
              <a:rPr lang="zh-CN" altLang="en-US" sz="2200" dirty="0">
                <a:solidFill>
                  <a:schemeClr val="accent1"/>
                </a:solidFill>
                <a:latin typeface="Arial" panose="020B0604020202020204" pitchFamily="34" charset="0"/>
                <a:ea typeface="黑体" panose="02010609060101010101" pitchFamily="49" charset="-122"/>
              </a:rPr>
              <a:t>现代计算机已不再采用三级时序系统，机器周期的概念已逐渐消失。</a:t>
            </a:r>
            <a:endParaRPr lang="zh-CN" altLang="en-US" sz="2200" dirty="0">
              <a:solidFill>
                <a:schemeClr val="accent1"/>
              </a:solidFill>
              <a:latin typeface="Arial" panose="020B0604020202020204" pitchFamily="34" charset="0"/>
              <a:ea typeface="黑体" panose="02010609060101010101" pitchFamily="49" charset="-122"/>
            </a:endParaRPr>
          </a:p>
          <a:p>
            <a:pPr>
              <a:spcBef>
                <a:spcPct val="20000"/>
              </a:spcBef>
            </a:pPr>
            <a:r>
              <a:rPr lang="zh-CN" altLang="en-US" sz="2200" dirty="0">
                <a:solidFill>
                  <a:schemeClr val="accent1"/>
                </a:solidFill>
                <a:latin typeface="Arial" panose="020B0604020202020204" pitchFamily="34" charset="0"/>
                <a:ea typeface="黑体" panose="02010609060101010101" pitchFamily="49" charset="-122"/>
              </a:rPr>
              <a:t>整个数据通路中的定时信号就是时钟，一个时钟周期就是一个节拍。</a:t>
            </a:r>
            <a:endParaRPr lang="zh-CN" altLang="en-US" sz="2200" dirty="0">
              <a:solidFill>
                <a:schemeClr val="accent1"/>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4722"/>
                                        </p:tgtEl>
                                        <p:attrNameLst>
                                          <p:attrName>style.visibility</p:attrName>
                                        </p:attrNameLst>
                                      </p:cBhvr>
                                      <p:to>
                                        <p:strVal val="visible"/>
                                      </p:to>
                                    </p:set>
                                    <p:animEffect transition="in" filter="blinds(horizontal)">
                                      <p:cBhvr>
                                        <p:cTn id="7" dur="500"/>
                                        <p:tgtEl>
                                          <p:spTgt spid="41472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4725"/>
                                        </p:tgtEl>
                                        <p:attrNameLst>
                                          <p:attrName>style.visibility</p:attrName>
                                        </p:attrNameLst>
                                      </p:cBhvr>
                                      <p:to>
                                        <p:strVal val="visible"/>
                                      </p:to>
                                    </p:set>
                                    <p:animEffect transition="in" filter="blinds(horizontal)">
                                      <p:cBhvr>
                                        <p:cTn id="12" dur="500"/>
                                        <p:tgtEl>
                                          <p:spTgt spid="414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302081"/>
          <p:cNvSpPr>
            <a:spLocks noGrp="1"/>
          </p:cNvSpPr>
          <p:nvPr>
            <p:ph type="title"/>
          </p:nvPr>
        </p:nvSpPr>
        <p:spPr>
          <a:xfrm>
            <a:off x="236538" y="128588"/>
            <a:ext cx="8175625" cy="528637"/>
          </a:xfrm>
          <a:ln/>
        </p:spPr>
        <p:txBody>
          <a:bodyPr vert="horz" wrap="square" lIns="63500" tIns="25400" rIns="63500" bIns="25400" anchor="t" anchorCtr="0">
            <a:spAutoFit/>
          </a:bodyPr>
          <a:p>
            <a:r>
              <a:rPr lang="zh-CN" altLang="en-US" dirty="0"/>
              <a:t>数据通路与时序控制</a:t>
            </a:r>
            <a:endParaRPr lang="zh-CN" altLang="en-US" sz="2400" b="0" dirty="0"/>
          </a:p>
        </p:txBody>
      </p:sp>
      <p:grpSp>
        <p:nvGrpSpPr>
          <p:cNvPr id="28674" name="组合 302083"/>
          <p:cNvGrpSpPr/>
          <p:nvPr/>
        </p:nvGrpSpPr>
        <p:grpSpPr>
          <a:xfrm>
            <a:off x="539750" y="892175"/>
            <a:ext cx="7835900" cy="342900"/>
            <a:chOff x="340" y="524"/>
            <a:chExt cx="4936" cy="200"/>
          </a:xfrm>
        </p:grpSpPr>
        <p:sp>
          <p:nvSpPr>
            <p:cNvPr id="28675" name="直接连接符 302084"/>
            <p:cNvSpPr/>
            <p:nvPr/>
          </p:nvSpPr>
          <p:spPr>
            <a:xfrm>
              <a:off x="340" y="528"/>
              <a:ext cx="698" cy="0"/>
            </a:xfrm>
            <a:prstGeom prst="line">
              <a:avLst/>
            </a:prstGeom>
            <a:ln w="28575" cap="flat" cmpd="sng">
              <a:solidFill>
                <a:schemeClr val="tx1"/>
              </a:solidFill>
              <a:prstDash val="solid"/>
              <a:round/>
              <a:headEnd type="none" w="med" len="med"/>
              <a:tailEnd type="none" w="med" len="med"/>
            </a:ln>
          </p:spPr>
        </p:sp>
        <p:sp>
          <p:nvSpPr>
            <p:cNvPr id="28676" name="直接连接符 302085"/>
            <p:cNvSpPr/>
            <p:nvPr/>
          </p:nvSpPr>
          <p:spPr>
            <a:xfrm>
              <a:off x="1042" y="532"/>
              <a:ext cx="0" cy="184"/>
            </a:xfrm>
            <a:prstGeom prst="line">
              <a:avLst/>
            </a:prstGeom>
            <a:ln w="28575" cap="flat" cmpd="sng">
              <a:solidFill>
                <a:schemeClr val="tx1"/>
              </a:solidFill>
              <a:prstDash val="solid"/>
              <a:round/>
              <a:headEnd type="none" w="med" len="med"/>
              <a:tailEnd type="triangle" w="med" len="med"/>
            </a:ln>
          </p:spPr>
        </p:sp>
        <p:sp>
          <p:nvSpPr>
            <p:cNvPr id="28677" name="直接连接符 302086"/>
            <p:cNvSpPr/>
            <p:nvPr/>
          </p:nvSpPr>
          <p:spPr>
            <a:xfrm>
              <a:off x="1046" y="720"/>
              <a:ext cx="1758" cy="0"/>
            </a:xfrm>
            <a:prstGeom prst="line">
              <a:avLst/>
            </a:prstGeom>
            <a:ln w="28575" cap="flat" cmpd="sng">
              <a:solidFill>
                <a:schemeClr val="tx1"/>
              </a:solidFill>
              <a:prstDash val="solid"/>
              <a:round/>
              <a:headEnd type="none" w="med" len="med"/>
              <a:tailEnd type="none" w="med" len="med"/>
            </a:ln>
          </p:spPr>
        </p:sp>
        <p:sp>
          <p:nvSpPr>
            <p:cNvPr id="28678" name="直接连接符 302087"/>
            <p:cNvSpPr/>
            <p:nvPr/>
          </p:nvSpPr>
          <p:spPr>
            <a:xfrm flipV="1">
              <a:off x="2808" y="524"/>
              <a:ext cx="0" cy="200"/>
            </a:xfrm>
            <a:prstGeom prst="line">
              <a:avLst/>
            </a:prstGeom>
            <a:ln w="28575" cap="flat" cmpd="sng">
              <a:solidFill>
                <a:schemeClr val="tx1"/>
              </a:solidFill>
              <a:prstDash val="solid"/>
              <a:round/>
              <a:headEnd type="none" w="med" len="med"/>
              <a:tailEnd type="none" w="med" len="med"/>
            </a:ln>
          </p:spPr>
        </p:sp>
        <p:sp>
          <p:nvSpPr>
            <p:cNvPr id="28679" name="直接连接符 302088"/>
            <p:cNvSpPr/>
            <p:nvPr/>
          </p:nvSpPr>
          <p:spPr>
            <a:xfrm>
              <a:off x="2812" y="528"/>
              <a:ext cx="1758" cy="0"/>
            </a:xfrm>
            <a:prstGeom prst="line">
              <a:avLst/>
            </a:prstGeom>
            <a:ln w="28575" cap="flat" cmpd="sng">
              <a:solidFill>
                <a:schemeClr val="tx1"/>
              </a:solidFill>
              <a:prstDash val="solid"/>
              <a:round/>
              <a:headEnd type="none" w="med" len="med"/>
              <a:tailEnd type="none" w="med" len="med"/>
            </a:ln>
          </p:spPr>
        </p:sp>
        <p:sp>
          <p:nvSpPr>
            <p:cNvPr id="28680" name="直接连接符 302089"/>
            <p:cNvSpPr/>
            <p:nvPr/>
          </p:nvSpPr>
          <p:spPr>
            <a:xfrm>
              <a:off x="4574" y="532"/>
              <a:ext cx="0" cy="184"/>
            </a:xfrm>
            <a:prstGeom prst="line">
              <a:avLst/>
            </a:prstGeom>
            <a:ln w="28575" cap="flat" cmpd="sng">
              <a:solidFill>
                <a:schemeClr val="tx1"/>
              </a:solidFill>
              <a:prstDash val="solid"/>
              <a:round/>
              <a:headEnd type="none" w="med" len="med"/>
              <a:tailEnd type="triangle" w="med" len="med"/>
            </a:ln>
          </p:spPr>
        </p:sp>
        <p:sp>
          <p:nvSpPr>
            <p:cNvPr id="28681" name="直接连接符 302090"/>
            <p:cNvSpPr/>
            <p:nvPr/>
          </p:nvSpPr>
          <p:spPr>
            <a:xfrm>
              <a:off x="4578" y="720"/>
              <a:ext cx="698" cy="0"/>
            </a:xfrm>
            <a:prstGeom prst="line">
              <a:avLst/>
            </a:prstGeom>
            <a:ln w="28575" cap="flat" cmpd="sng">
              <a:solidFill>
                <a:schemeClr val="tx1"/>
              </a:solidFill>
              <a:prstDash val="solid"/>
              <a:round/>
              <a:headEnd type="none" w="med" len="med"/>
              <a:tailEnd type="none" w="med" len="med"/>
            </a:ln>
          </p:spPr>
        </p:sp>
      </p:grpSp>
      <p:sp>
        <p:nvSpPr>
          <p:cNvPr id="28682" name="矩形 302091"/>
          <p:cNvSpPr/>
          <p:nvPr/>
        </p:nvSpPr>
        <p:spPr>
          <a:xfrm>
            <a:off x="442913" y="987425"/>
            <a:ext cx="496887" cy="333375"/>
          </a:xfrm>
          <a:prstGeom prst="rect">
            <a:avLst/>
          </a:prstGeom>
          <a:noFill/>
          <a:ln w="12700">
            <a:noFill/>
          </a:ln>
        </p:spPr>
        <p:txBody>
          <a:bodyPr lIns="90488" tIns="44450" rIns="90488" bIns="44450" anchor="t" anchorCtr="0">
            <a:spAutoFit/>
          </a:bodyPr>
          <a:p>
            <a:pPr eaLnBrk="0" hangingPunct="0"/>
            <a:r>
              <a:rPr lang="en-US" altLang="zh-CN" err="1">
                <a:latin typeface="Arial" panose="020B0604020202020204" pitchFamily="34" charset="0"/>
                <a:ea typeface="宋体" panose="02010600030101010101" pitchFamily="2" charset="-122"/>
              </a:rPr>
              <a:t>Clk</a:t>
            </a:r>
            <a:endParaRPr lang="en-US" altLang="zh-CN">
              <a:latin typeface="Arial" panose="020B0604020202020204" pitchFamily="34" charset="0"/>
              <a:ea typeface="宋体" panose="02010600030101010101" pitchFamily="2" charset="-122"/>
            </a:endParaRPr>
          </a:p>
        </p:txBody>
      </p:sp>
      <p:sp>
        <p:nvSpPr>
          <p:cNvPr id="28683" name="矩形 302092"/>
          <p:cNvSpPr/>
          <p:nvPr/>
        </p:nvSpPr>
        <p:spPr>
          <a:xfrm>
            <a:off x="527050" y="1590675"/>
            <a:ext cx="520700" cy="292100"/>
          </a:xfrm>
          <a:prstGeom prst="rect">
            <a:avLst/>
          </a:prstGeom>
          <a:solidFill>
            <a:schemeClr val="bg2">
              <a:alpha val="28000"/>
            </a:schemeClr>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684" name="直接连接符 302093"/>
          <p:cNvSpPr/>
          <p:nvPr/>
        </p:nvSpPr>
        <p:spPr>
          <a:xfrm>
            <a:off x="1060450" y="1889125"/>
            <a:ext cx="1130300" cy="0"/>
          </a:xfrm>
          <a:prstGeom prst="line">
            <a:avLst/>
          </a:prstGeom>
          <a:ln w="28575" cap="flat" cmpd="sng">
            <a:solidFill>
              <a:schemeClr val="accent2"/>
            </a:solidFill>
            <a:prstDash val="solid"/>
            <a:round/>
            <a:headEnd type="none" w="med" len="med"/>
            <a:tailEnd type="none" w="med" len="med"/>
          </a:ln>
        </p:spPr>
      </p:sp>
      <p:sp>
        <p:nvSpPr>
          <p:cNvPr id="28685" name="直接连接符 302094"/>
          <p:cNvSpPr/>
          <p:nvPr/>
        </p:nvSpPr>
        <p:spPr>
          <a:xfrm>
            <a:off x="6623050" y="1597025"/>
            <a:ext cx="1130300" cy="0"/>
          </a:xfrm>
          <a:prstGeom prst="line">
            <a:avLst/>
          </a:prstGeom>
          <a:ln w="28575" cap="flat" cmpd="sng">
            <a:solidFill>
              <a:schemeClr val="accent2"/>
            </a:solidFill>
            <a:prstDash val="solid"/>
            <a:round/>
            <a:headEnd type="none" w="med" len="med"/>
            <a:tailEnd type="none" w="med" len="med"/>
          </a:ln>
        </p:spPr>
      </p:sp>
      <p:sp>
        <p:nvSpPr>
          <p:cNvPr id="28686" name="矩形 302095"/>
          <p:cNvSpPr/>
          <p:nvPr/>
        </p:nvSpPr>
        <p:spPr>
          <a:xfrm>
            <a:off x="2203450" y="1590675"/>
            <a:ext cx="4406900" cy="292100"/>
          </a:xfrm>
          <a:prstGeom prst="rect">
            <a:avLst/>
          </a:prstGeom>
          <a:solidFill>
            <a:schemeClr val="bg2">
              <a:alpha val="28000"/>
            </a:schemeClr>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687" name="矩形 302096"/>
          <p:cNvSpPr/>
          <p:nvPr/>
        </p:nvSpPr>
        <p:spPr>
          <a:xfrm>
            <a:off x="3097213" y="1558925"/>
            <a:ext cx="2657475" cy="363538"/>
          </a:xfrm>
          <a:prstGeom prst="rect">
            <a:avLst/>
          </a:prstGeom>
          <a:noFill/>
          <a:ln w="12700">
            <a:noFill/>
          </a:ln>
        </p:spPr>
        <p:txBody>
          <a:bodyPr lIns="90488" tIns="44450" rIns="90488" bIns="44450" anchor="t" anchorCtr="0">
            <a:spAutoFit/>
          </a:bodyPr>
          <a:p>
            <a:pPr eaLnBrk="0" hangingPunct="0"/>
            <a:r>
              <a:rPr lang="zh-CN" altLang="en-US" sz="1800" b="0" dirty="0">
                <a:solidFill>
                  <a:srgbClr val="006600"/>
                </a:solidFill>
                <a:latin typeface="Times New Roman" panose="02020603050405020304" pitchFamily="18" charset="0"/>
                <a:ea typeface="黑体" panose="02010609060101010101" pitchFamily="49" charset="-122"/>
              </a:rPr>
              <a:t>寄存器的输入可变化</a:t>
            </a:r>
            <a:endParaRPr lang="zh-CN" altLang="en-US" sz="1800" b="0" dirty="0">
              <a:solidFill>
                <a:srgbClr val="006600"/>
              </a:solidFill>
              <a:latin typeface="Times New Roman" panose="02020603050405020304" pitchFamily="18" charset="0"/>
              <a:ea typeface="黑体" panose="02010609060101010101" pitchFamily="49" charset="-122"/>
            </a:endParaRPr>
          </a:p>
        </p:txBody>
      </p:sp>
      <p:sp>
        <p:nvSpPr>
          <p:cNvPr id="28688" name="矩形 302097"/>
          <p:cNvSpPr/>
          <p:nvPr/>
        </p:nvSpPr>
        <p:spPr>
          <a:xfrm>
            <a:off x="7766050" y="1590675"/>
            <a:ext cx="673100" cy="292100"/>
          </a:xfrm>
          <a:prstGeom prst="rect">
            <a:avLst/>
          </a:prstGeom>
          <a:solidFill>
            <a:schemeClr val="bg2">
              <a:alpha val="28000"/>
            </a:schemeClr>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689" name="直接连接符 302098"/>
          <p:cNvSpPr/>
          <p:nvPr/>
        </p:nvSpPr>
        <p:spPr>
          <a:xfrm>
            <a:off x="6623050" y="1698625"/>
            <a:ext cx="596900" cy="0"/>
          </a:xfrm>
          <a:prstGeom prst="line">
            <a:avLst/>
          </a:prstGeom>
          <a:ln w="12700" cap="flat" cmpd="sng">
            <a:solidFill>
              <a:schemeClr val="tx1"/>
            </a:solidFill>
            <a:prstDash val="solid"/>
            <a:round/>
            <a:headEnd type="triangle" w="med" len="med"/>
            <a:tailEnd type="triangle" w="med" len="med"/>
          </a:ln>
        </p:spPr>
      </p:sp>
      <p:sp>
        <p:nvSpPr>
          <p:cNvPr id="28690" name="直接连接符 302099"/>
          <p:cNvSpPr/>
          <p:nvPr/>
        </p:nvSpPr>
        <p:spPr>
          <a:xfrm>
            <a:off x="7232650" y="1698625"/>
            <a:ext cx="520700" cy="0"/>
          </a:xfrm>
          <a:prstGeom prst="line">
            <a:avLst/>
          </a:prstGeom>
          <a:ln w="12700" cap="flat" cmpd="sng">
            <a:solidFill>
              <a:schemeClr val="tx1"/>
            </a:solidFill>
            <a:prstDash val="solid"/>
            <a:round/>
            <a:headEnd type="triangle" w="med" len="med"/>
            <a:tailEnd type="triangle" w="med" len="med"/>
          </a:ln>
        </p:spPr>
      </p:sp>
      <p:sp>
        <p:nvSpPr>
          <p:cNvPr id="28691" name="矩形 302100"/>
          <p:cNvSpPr/>
          <p:nvPr/>
        </p:nvSpPr>
        <p:spPr>
          <a:xfrm>
            <a:off x="6500813" y="1254125"/>
            <a:ext cx="744537"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Setup</a:t>
            </a:r>
            <a:endParaRPr lang="en-US" altLang="zh-CN">
              <a:latin typeface="Arial" panose="020B0604020202020204" pitchFamily="34" charset="0"/>
              <a:ea typeface="宋体" panose="02010600030101010101" pitchFamily="2" charset="-122"/>
            </a:endParaRPr>
          </a:p>
        </p:txBody>
      </p:sp>
      <p:sp>
        <p:nvSpPr>
          <p:cNvPr id="28692" name="矩形 302101"/>
          <p:cNvSpPr/>
          <p:nvPr/>
        </p:nvSpPr>
        <p:spPr>
          <a:xfrm>
            <a:off x="7224713" y="1279525"/>
            <a:ext cx="631825"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Hold</a:t>
            </a:r>
            <a:endParaRPr lang="en-US" altLang="zh-CN">
              <a:latin typeface="Arial" panose="020B0604020202020204" pitchFamily="34" charset="0"/>
              <a:ea typeface="宋体" panose="02010600030101010101" pitchFamily="2" charset="-122"/>
            </a:endParaRPr>
          </a:p>
        </p:txBody>
      </p:sp>
      <p:grpSp>
        <p:nvGrpSpPr>
          <p:cNvPr id="28693" name="组合 302200"/>
          <p:cNvGrpSpPr/>
          <p:nvPr/>
        </p:nvGrpSpPr>
        <p:grpSpPr>
          <a:xfrm>
            <a:off x="1047750" y="2197100"/>
            <a:ext cx="6794500" cy="1809750"/>
            <a:chOff x="668" y="1544"/>
            <a:chExt cx="4280" cy="1140"/>
          </a:xfrm>
        </p:grpSpPr>
        <p:grpSp>
          <p:nvGrpSpPr>
            <p:cNvPr id="28694" name="组合 302102"/>
            <p:cNvGrpSpPr/>
            <p:nvPr/>
          </p:nvGrpSpPr>
          <p:grpSpPr>
            <a:xfrm>
              <a:off x="668" y="1544"/>
              <a:ext cx="776" cy="1140"/>
              <a:chOff x="668" y="1544"/>
              <a:chExt cx="776" cy="1140"/>
            </a:xfrm>
          </p:grpSpPr>
          <p:sp>
            <p:nvSpPr>
              <p:cNvPr id="28695" name="矩形 302103"/>
              <p:cNvSpPr/>
              <p:nvPr/>
            </p:nvSpPr>
            <p:spPr>
              <a:xfrm>
                <a:off x="968" y="1544"/>
                <a:ext cx="176" cy="89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696" name="直接连接符 302104"/>
              <p:cNvSpPr/>
              <p:nvPr/>
            </p:nvSpPr>
            <p:spPr>
              <a:xfrm>
                <a:off x="1056" y="2548"/>
                <a:ext cx="0" cy="136"/>
              </a:xfrm>
              <a:prstGeom prst="line">
                <a:avLst/>
              </a:prstGeom>
              <a:ln w="12700" cap="flat" cmpd="sng">
                <a:solidFill>
                  <a:schemeClr val="tx1"/>
                </a:solidFill>
                <a:prstDash val="solid"/>
                <a:round/>
                <a:headEnd type="none" w="med" len="med"/>
                <a:tailEnd type="none" w="med" len="med"/>
              </a:ln>
            </p:spPr>
          </p:sp>
          <p:sp>
            <p:nvSpPr>
              <p:cNvPr id="28697" name="直接连接符 302105"/>
              <p:cNvSpPr/>
              <p:nvPr/>
            </p:nvSpPr>
            <p:spPr>
              <a:xfrm flipV="1">
                <a:off x="1016" y="2296"/>
                <a:ext cx="32" cy="160"/>
              </a:xfrm>
              <a:prstGeom prst="line">
                <a:avLst/>
              </a:prstGeom>
              <a:ln w="25400" cap="flat" cmpd="sng">
                <a:solidFill>
                  <a:schemeClr val="tx1"/>
                </a:solidFill>
                <a:prstDash val="solid"/>
                <a:round/>
                <a:headEnd type="none" w="med" len="med"/>
                <a:tailEnd type="none" w="med" len="med"/>
              </a:ln>
            </p:spPr>
          </p:sp>
          <p:sp>
            <p:nvSpPr>
              <p:cNvPr id="28698" name="直接连接符 302106"/>
              <p:cNvSpPr/>
              <p:nvPr/>
            </p:nvSpPr>
            <p:spPr>
              <a:xfrm>
                <a:off x="1064" y="2312"/>
                <a:ext cx="32" cy="128"/>
              </a:xfrm>
              <a:prstGeom prst="line">
                <a:avLst/>
              </a:prstGeom>
              <a:ln w="25400" cap="flat" cmpd="sng">
                <a:solidFill>
                  <a:schemeClr val="tx1"/>
                </a:solidFill>
                <a:prstDash val="solid"/>
                <a:round/>
                <a:headEnd type="none" w="med" len="med"/>
                <a:tailEnd type="none" w="med" len="med"/>
              </a:ln>
            </p:spPr>
          </p:sp>
          <p:sp>
            <p:nvSpPr>
              <p:cNvPr id="28699" name="椭圆 302107"/>
              <p:cNvSpPr/>
              <p:nvPr/>
            </p:nvSpPr>
            <p:spPr>
              <a:xfrm>
                <a:off x="1016" y="2456"/>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700" name="直接连接符 302108"/>
              <p:cNvSpPr/>
              <p:nvPr/>
            </p:nvSpPr>
            <p:spPr>
              <a:xfrm flipH="1">
                <a:off x="668" y="1680"/>
                <a:ext cx="296" cy="0"/>
              </a:xfrm>
              <a:prstGeom prst="line">
                <a:avLst/>
              </a:prstGeom>
              <a:ln w="12700" cap="flat" cmpd="sng">
                <a:solidFill>
                  <a:schemeClr val="tx1"/>
                </a:solidFill>
                <a:prstDash val="solid"/>
                <a:round/>
                <a:headEnd type="triangle" w="med" len="med"/>
                <a:tailEnd type="none" w="med" len="med"/>
              </a:ln>
            </p:spPr>
          </p:sp>
          <p:sp>
            <p:nvSpPr>
              <p:cNvPr id="28701" name="矩形 302109"/>
              <p:cNvSpPr/>
              <p:nvPr/>
            </p:nvSpPr>
            <p:spPr>
              <a:xfrm>
                <a:off x="759" y="1728"/>
                <a:ext cx="146" cy="518"/>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8702" name="直接连接符 302110"/>
              <p:cNvSpPr/>
              <p:nvPr/>
            </p:nvSpPr>
            <p:spPr>
              <a:xfrm flipH="1">
                <a:off x="668" y="2304"/>
                <a:ext cx="296" cy="0"/>
              </a:xfrm>
              <a:prstGeom prst="line">
                <a:avLst/>
              </a:prstGeom>
              <a:ln w="12700" cap="flat" cmpd="sng">
                <a:solidFill>
                  <a:schemeClr val="tx1"/>
                </a:solidFill>
                <a:prstDash val="solid"/>
                <a:round/>
                <a:headEnd type="triangle" w="med" len="med"/>
                <a:tailEnd type="none" w="med" len="med"/>
              </a:ln>
            </p:spPr>
          </p:sp>
          <p:sp>
            <p:nvSpPr>
              <p:cNvPr id="28703" name="直接连接符 302111"/>
              <p:cNvSpPr/>
              <p:nvPr/>
            </p:nvSpPr>
            <p:spPr>
              <a:xfrm flipH="1">
                <a:off x="1148" y="1680"/>
                <a:ext cx="296" cy="0"/>
              </a:xfrm>
              <a:prstGeom prst="line">
                <a:avLst/>
              </a:prstGeom>
              <a:ln w="12700" cap="flat" cmpd="sng">
                <a:solidFill>
                  <a:schemeClr val="tx1"/>
                </a:solidFill>
                <a:prstDash val="solid"/>
                <a:round/>
                <a:headEnd type="triangle" w="med" len="med"/>
                <a:tailEnd type="none" w="med" len="med"/>
              </a:ln>
            </p:spPr>
          </p:sp>
          <p:sp>
            <p:nvSpPr>
              <p:cNvPr id="28704" name="矩形 302112"/>
              <p:cNvSpPr/>
              <p:nvPr/>
            </p:nvSpPr>
            <p:spPr>
              <a:xfrm>
                <a:off x="1239" y="1728"/>
                <a:ext cx="146" cy="518"/>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8705" name="直接连接符 302113"/>
              <p:cNvSpPr/>
              <p:nvPr/>
            </p:nvSpPr>
            <p:spPr>
              <a:xfrm flipH="1">
                <a:off x="1148" y="2304"/>
                <a:ext cx="296" cy="0"/>
              </a:xfrm>
              <a:prstGeom prst="line">
                <a:avLst/>
              </a:prstGeom>
              <a:ln w="12700" cap="flat" cmpd="sng">
                <a:solidFill>
                  <a:schemeClr val="tx1"/>
                </a:solidFill>
                <a:prstDash val="solid"/>
                <a:round/>
                <a:headEnd type="triangle" w="med" len="med"/>
                <a:tailEnd type="none" w="med" len="med"/>
              </a:ln>
            </p:spPr>
          </p:sp>
        </p:grpSp>
        <p:grpSp>
          <p:nvGrpSpPr>
            <p:cNvPr id="28706" name="组合 302114"/>
            <p:cNvGrpSpPr/>
            <p:nvPr/>
          </p:nvGrpSpPr>
          <p:grpSpPr>
            <a:xfrm>
              <a:off x="4172" y="1544"/>
              <a:ext cx="776" cy="1140"/>
              <a:chOff x="4172" y="1544"/>
              <a:chExt cx="776" cy="1140"/>
            </a:xfrm>
          </p:grpSpPr>
          <p:sp>
            <p:nvSpPr>
              <p:cNvPr id="28707" name="矩形 302115"/>
              <p:cNvSpPr/>
              <p:nvPr/>
            </p:nvSpPr>
            <p:spPr>
              <a:xfrm>
                <a:off x="4472" y="1544"/>
                <a:ext cx="176" cy="89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708" name="直接连接符 302116"/>
              <p:cNvSpPr/>
              <p:nvPr/>
            </p:nvSpPr>
            <p:spPr>
              <a:xfrm>
                <a:off x="4560" y="2548"/>
                <a:ext cx="0" cy="136"/>
              </a:xfrm>
              <a:prstGeom prst="line">
                <a:avLst/>
              </a:prstGeom>
              <a:ln w="12700" cap="flat" cmpd="sng">
                <a:solidFill>
                  <a:schemeClr val="tx1"/>
                </a:solidFill>
                <a:prstDash val="solid"/>
                <a:round/>
                <a:headEnd type="none" w="med" len="med"/>
                <a:tailEnd type="none" w="med" len="med"/>
              </a:ln>
            </p:spPr>
          </p:sp>
          <p:sp>
            <p:nvSpPr>
              <p:cNvPr id="28709" name="直接连接符 302117"/>
              <p:cNvSpPr/>
              <p:nvPr/>
            </p:nvSpPr>
            <p:spPr>
              <a:xfrm flipV="1">
                <a:off x="4520" y="2296"/>
                <a:ext cx="32" cy="160"/>
              </a:xfrm>
              <a:prstGeom prst="line">
                <a:avLst/>
              </a:prstGeom>
              <a:ln w="25400" cap="flat" cmpd="sng">
                <a:solidFill>
                  <a:schemeClr val="tx1"/>
                </a:solidFill>
                <a:prstDash val="solid"/>
                <a:round/>
                <a:headEnd type="none" w="med" len="med"/>
                <a:tailEnd type="none" w="med" len="med"/>
              </a:ln>
            </p:spPr>
          </p:sp>
          <p:sp>
            <p:nvSpPr>
              <p:cNvPr id="28710" name="直接连接符 302118"/>
              <p:cNvSpPr/>
              <p:nvPr/>
            </p:nvSpPr>
            <p:spPr>
              <a:xfrm>
                <a:off x="4568" y="2312"/>
                <a:ext cx="32" cy="128"/>
              </a:xfrm>
              <a:prstGeom prst="line">
                <a:avLst/>
              </a:prstGeom>
              <a:ln w="25400" cap="flat" cmpd="sng">
                <a:solidFill>
                  <a:schemeClr val="tx1"/>
                </a:solidFill>
                <a:prstDash val="solid"/>
                <a:round/>
                <a:headEnd type="none" w="med" len="med"/>
                <a:tailEnd type="none" w="med" len="med"/>
              </a:ln>
            </p:spPr>
          </p:sp>
          <p:sp>
            <p:nvSpPr>
              <p:cNvPr id="28711" name="椭圆 302119"/>
              <p:cNvSpPr/>
              <p:nvPr/>
            </p:nvSpPr>
            <p:spPr>
              <a:xfrm>
                <a:off x="4520" y="2456"/>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712" name="直接连接符 302120"/>
              <p:cNvSpPr/>
              <p:nvPr/>
            </p:nvSpPr>
            <p:spPr>
              <a:xfrm flipH="1">
                <a:off x="4172" y="1680"/>
                <a:ext cx="296" cy="0"/>
              </a:xfrm>
              <a:prstGeom prst="line">
                <a:avLst/>
              </a:prstGeom>
              <a:ln w="12700" cap="flat" cmpd="sng">
                <a:solidFill>
                  <a:schemeClr val="tx1"/>
                </a:solidFill>
                <a:prstDash val="solid"/>
                <a:round/>
                <a:headEnd type="triangle" w="med" len="med"/>
                <a:tailEnd type="none" w="med" len="med"/>
              </a:ln>
            </p:spPr>
          </p:sp>
          <p:sp>
            <p:nvSpPr>
              <p:cNvPr id="28713" name="矩形 302121"/>
              <p:cNvSpPr/>
              <p:nvPr/>
            </p:nvSpPr>
            <p:spPr>
              <a:xfrm>
                <a:off x="4263" y="1728"/>
                <a:ext cx="146" cy="518"/>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8714" name="直接连接符 302122"/>
              <p:cNvSpPr/>
              <p:nvPr/>
            </p:nvSpPr>
            <p:spPr>
              <a:xfrm flipH="1">
                <a:off x="4172" y="2304"/>
                <a:ext cx="296" cy="0"/>
              </a:xfrm>
              <a:prstGeom prst="line">
                <a:avLst/>
              </a:prstGeom>
              <a:ln w="12700" cap="flat" cmpd="sng">
                <a:solidFill>
                  <a:schemeClr val="tx1"/>
                </a:solidFill>
                <a:prstDash val="solid"/>
                <a:round/>
                <a:headEnd type="triangle" w="med" len="med"/>
                <a:tailEnd type="none" w="med" len="med"/>
              </a:ln>
            </p:spPr>
          </p:sp>
          <p:sp>
            <p:nvSpPr>
              <p:cNvPr id="28715" name="直接连接符 302123"/>
              <p:cNvSpPr/>
              <p:nvPr/>
            </p:nvSpPr>
            <p:spPr>
              <a:xfrm flipH="1">
                <a:off x="4652" y="1680"/>
                <a:ext cx="296" cy="0"/>
              </a:xfrm>
              <a:prstGeom prst="line">
                <a:avLst/>
              </a:prstGeom>
              <a:ln w="12700" cap="flat" cmpd="sng">
                <a:solidFill>
                  <a:schemeClr val="tx1"/>
                </a:solidFill>
                <a:prstDash val="solid"/>
                <a:round/>
                <a:headEnd type="triangle" w="med" len="med"/>
                <a:tailEnd type="none" w="med" len="med"/>
              </a:ln>
            </p:spPr>
          </p:sp>
          <p:sp>
            <p:nvSpPr>
              <p:cNvPr id="28716" name="矩形 302124"/>
              <p:cNvSpPr/>
              <p:nvPr/>
            </p:nvSpPr>
            <p:spPr>
              <a:xfrm>
                <a:off x="4743" y="1728"/>
                <a:ext cx="146" cy="518"/>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a:p>
                <a:pPr eaLnBrk="0" hangingPunct="0"/>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28717" name="直接连接符 302125"/>
              <p:cNvSpPr/>
              <p:nvPr/>
            </p:nvSpPr>
            <p:spPr>
              <a:xfrm flipH="1">
                <a:off x="4652" y="2304"/>
                <a:ext cx="296" cy="0"/>
              </a:xfrm>
              <a:prstGeom prst="line">
                <a:avLst/>
              </a:prstGeom>
              <a:ln w="12700" cap="flat" cmpd="sng">
                <a:solidFill>
                  <a:schemeClr val="tx1"/>
                </a:solidFill>
                <a:prstDash val="solid"/>
                <a:round/>
                <a:headEnd type="triangle" w="med" len="med"/>
                <a:tailEnd type="none" w="med" len="med"/>
              </a:ln>
            </p:spPr>
          </p:sp>
        </p:grpSp>
        <p:sp>
          <p:nvSpPr>
            <p:cNvPr id="28718" name="矩形 302126"/>
            <p:cNvSpPr/>
            <p:nvPr/>
          </p:nvSpPr>
          <p:spPr>
            <a:xfrm>
              <a:off x="1448" y="1544"/>
              <a:ext cx="2720" cy="896"/>
            </a:xfrm>
            <a:prstGeom prst="rect">
              <a:avLst/>
            </a:prstGeom>
            <a:noFill/>
            <a:ln w="28575" cap="flat" cmpd="sng">
              <a:solidFill>
                <a:srgbClr val="339933"/>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719" name="椭圆 302127"/>
            <p:cNvSpPr/>
            <p:nvPr/>
          </p:nvSpPr>
          <p:spPr>
            <a:xfrm>
              <a:off x="1951" y="1864"/>
              <a:ext cx="51" cy="52"/>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28720" name="组合 302128"/>
            <p:cNvGrpSpPr/>
            <p:nvPr/>
          </p:nvGrpSpPr>
          <p:grpSpPr>
            <a:xfrm>
              <a:off x="1600" y="1755"/>
              <a:ext cx="344" cy="272"/>
              <a:chOff x="1600" y="1755"/>
              <a:chExt cx="344" cy="272"/>
            </a:xfrm>
          </p:grpSpPr>
          <p:sp>
            <p:nvSpPr>
              <p:cNvPr id="28721" name="任意多边形 302129"/>
              <p:cNvSpPr/>
              <p:nvPr/>
            </p:nvSpPr>
            <p:spPr>
              <a:xfrm>
                <a:off x="1804" y="1764"/>
                <a:ext cx="132" cy="128"/>
              </a:xfrm>
              <a:custGeom>
                <a:avLst/>
                <a:gdLst/>
                <a:ahLst/>
                <a:cxnLst>
                  <a:cxn ang="270">
                    <a:pos x="0" y="0"/>
                  </a:cxn>
                  <a:cxn ang="0">
                    <a:pos x="21764" y="21600"/>
                  </a:cxn>
                  <a:cxn ang="90">
                    <a:pos x="164" y="21600"/>
                  </a:cxn>
                </a:cxnLst>
                <a:pathLst>
                  <a:path w="21764" h="21600" fill="none">
                    <a:moveTo>
                      <a:pt x="0" y="0"/>
                    </a:moveTo>
                    <a:cubicBezTo>
                      <a:pt x="-109" y="0"/>
                      <a:pt x="-55" y="0"/>
                      <a:pt x="0" y="0"/>
                    </a:cubicBezTo>
                    <a:cubicBezTo>
                      <a:pt x="11929" y="0"/>
                      <a:pt x="21600" y="9671"/>
                      <a:pt x="21600" y="21600"/>
                    </a:cubicBezTo>
                  </a:path>
                  <a:path w="21764" h="21600" stroke="0">
                    <a:moveTo>
                      <a:pt x="0" y="0"/>
                    </a:moveTo>
                    <a:cubicBezTo>
                      <a:pt x="-109" y="0"/>
                      <a:pt x="-55" y="0"/>
                      <a:pt x="0" y="0"/>
                    </a:cubicBezTo>
                    <a:cubicBezTo>
                      <a:pt x="11929" y="0"/>
                      <a:pt x="21600" y="9671"/>
                      <a:pt x="21600" y="21600"/>
                    </a:cubicBezTo>
                    <a:lnTo>
                      <a:pt x="164"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22" name="任意多边形 302130"/>
              <p:cNvSpPr/>
              <p:nvPr/>
            </p:nvSpPr>
            <p:spPr>
              <a:xfrm rot="10800000">
                <a:off x="1813" y="1900"/>
                <a:ext cx="131" cy="127"/>
              </a:xfrm>
              <a:custGeom>
                <a:avLst/>
                <a:gdLst/>
                <a:ahLst/>
                <a:cxnLst>
                  <a:cxn ang="180">
                    <a:pos x="0" y="21429"/>
                  </a:cxn>
                  <a:cxn ang="270">
                    <a:pos x="21434" y="0"/>
                  </a:cxn>
                  <a:cxn ang="90">
                    <a:pos x="21599" y="21599"/>
                  </a:cxn>
                </a:cxnLst>
                <a:pathLst>
                  <a:path w="21599" h="21599" fill="none">
                    <a:moveTo>
                      <a:pt x="0" y="21429"/>
                    </a:moveTo>
                    <a:cubicBezTo>
                      <a:pt x="91" y="9632"/>
                      <a:pt x="9638" y="88"/>
                      <a:pt x="21433" y="0"/>
                    </a:cubicBezTo>
                  </a:path>
                  <a:path w="21599" h="21599" stroke="0">
                    <a:moveTo>
                      <a:pt x="0" y="21429"/>
                    </a:moveTo>
                    <a:cubicBezTo>
                      <a:pt x="91" y="9632"/>
                      <a:pt x="9638" y="88"/>
                      <a:pt x="21433" y="0"/>
                    </a:cubicBezTo>
                    <a:lnTo>
                      <a:pt x="21599"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23" name="直接连接符 302131"/>
              <p:cNvSpPr/>
              <p:nvPr/>
            </p:nvSpPr>
            <p:spPr>
              <a:xfrm flipH="1">
                <a:off x="1600" y="1755"/>
                <a:ext cx="212" cy="0"/>
              </a:xfrm>
              <a:prstGeom prst="line">
                <a:avLst/>
              </a:prstGeom>
              <a:ln w="25400" cap="flat" cmpd="sng">
                <a:solidFill>
                  <a:schemeClr val="tx1"/>
                </a:solidFill>
                <a:prstDash val="solid"/>
                <a:round/>
                <a:headEnd type="none" w="med" len="med"/>
                <a:tailEnd type="none" w="med" len="med"/>
              </a:ln>
            </p:spPr>
          </p:sp>
          <p:sp>
            <p:nvSpPr>
              <p:cNvPr id="28724" name="直接连接符 302132"/>
              <p:cNvSpPr/>
              <p:nvPr/>
            </p:nvSpPr>
            <p:spPr>
              <a:xfrm>
                <a:off x="1608" y="1763"/>
                <a:ext cx="0" cy="256"/>
              </a:xfrm>
              <a:prstGeom prst="line">
                <a:avLst/>
              </a:prstGeom>
              <a:ln w="25400" cap="flat" cmpd="sng">
                <a:solidFill>
                  <a:schemeClr val="tx1"/>
                </a:solidFill>
                <a:prstDash val="solid"/>
                <a:round/>
                <a:headEnd type="none" w="med" len="med"/>
                <a:tailEnd type="none" w="med" len="med"/>
              </a:ln>
            </p:spPr>
          </p:sp>
          <p:sp>
            <p:nvSpPr>
              <p:cNvPr id="28725" name="直接连接符 302133"/>
              <p:cNvSpPr/>
              <p:nvPr/>
            </p:nvSpPr>
            <p:spPr>
              <a:xfrm flipH="1">
                <a:off x="1600" y="2027"/>
                <a:ext cx="212" cy="0"/>
              </a:xfrm>
              <a:prstGeom prst="line">
                <a:avLst/>
              </a:prstGeom>
              <a:ln w="25400" cap="flat" cmpd="sng">
                <a:solidFill>
                  <a:schemeClr val="tx1"/>
                </a:solidFill>
                <a:prstDash val="solid"/>
                <a:round/>
                <a:headEnd type="none" w="med" len="med"/>
                <a:tailEnd type="none" w="med" len="med"/>
              </a:ln>
            </p:spPr>
          </p:sp>
        </p:grpSp>
        <p:sp>
          <p:nvSpPr>
            <p:cNvPr id="28726" name="直接连接符 302134"/>
            <p:cNvSpPr/>
            <p:nvPr/>
          </p:nvSpPr>
          <p:spPr>
            <a:xfrm flipH="1">
              <a:off x="1438" y="1823"/>
              <a:ext cx="174" cy="0"/>
            </a:xfrm>
            <a:prstGeom prst="line">
              <a:avLst/>
            </a:prstGeom>
            <a:ln w="12700" cap="flat" cmpd="sng">
              <a:solidFill>
                <a:schemeClr val="accent2"/>
              </a:solidFill>
              <a:prstDash val="solid"/>
              <a:round/>
              <a:headEnd type="none" w="med" len="med"/>
              <a:tailEnd type="none" w="med" len="med"/>
            </a:ln>
          </p:spPr>
        </p:sp>
        <p:sp>
          <p:nvSpPr>
            <p:cNvPr id="28727" name="直接连接符 302135"/>
            <p:cNvSpPr/>
            <p:nvPr/>
          </p:nvSpPr>
          <p:spPr>
            <a:xfrm flipH="1">
              <a:off x="1438" y="1959"/>
              <a:ext cx="174" cy="0"/>
            </a:xfrm>
            <a:prstGeom prst="line">
              <a:avLst/>
            </a:prstGeom>
            <a:ln w="12700" cap="flat" cmpd="sng">
              <a:solidFill>
                <a:schemeClr val="tx1"/>
              </a:solidFill>
              <a:prstDash val="solid"/>
              <a:round/>
              <a:headEnd type="none" w="med" len="med"/>
              <a:tailEnd type="none" w="med" len="med"/>
            </a:ln>
          </p:spPr>
        </p:sp>
        <p:sp>
          <p:nvSpPr>
            <p:cNvPr id="28728" name="直接连接符 302136"/>
            <p:cNvSpPr/>
            <p:nvPr/>
          </p:nvSpPr>
          <p:spPr>
            <a:xfrm>
              <a:off x="2014" y="1890"/>
              <a:ext cx="192" cy="0"/>
            </a:xfrm>
            <a:prstGeom prst="line">
              <a:avLst/>
            </a:prstGeom>
            <a:ln w="12700" cap="flat" cmpd="sng">
              <a:solidFill>
                <a:schemeClr val="tx1"/>
              </a:solidFill>
              <a:prstDash val="solid"/>
              <a:round/>
              <a:headEnd type="none" w="med" len="med"/>
              <a:tailEnd type="none" w="med" len="med"/>
            </a:ln>
          </p:spPr>
        </p:sp>
        <p:grpSp>
          <p:nvGrpSpPr>
            <p:cNvPr id="28729" name="组合 302137"/>
            <p:cNvGrpSpPr/>
            <p:nvPr/>
          </p:nvGrpSpPr>
          <p:grpSpPr>
            <a:xfrm>
              <a:off x="1445" y="2131"/>
              <a:ext cx="736" cy="253"/>
              <a:chOff x="1445" y="2131"/>
              <a:chExt cx="736" cy="253"/>
            </a:xfrm>
          </p:grpSpPr>
          <p:grpSp>
            <p:nvGrpSpPr>
              <p:cNvPr id="28730" name="组合 302138"/>
              <p:cNvGrpSpPr/>
              <p:nvPr/>
            </p:nvGrpSpPr>
            <p:grpSpPr>
              <a:xfrm>
                <a:off x="1583" y="2131"/>
                <a:ext cx="361" cy="253"/>
                <a:chOff x="1583" y="2131"/>
                <a:chExt cx="361" cy="253"/>
              </a:xfrm>
            </p:grpSpPr>
            <p:sp>
              <p:nvSpPr>
                <p:cNvPr id="28731" name="任意多边形 302139"/>
                <p:cNvSpPr/>
                <p:nvPr/>
              </p:nvSpPr>
              <p:spPr>
                <a:xfrm>
                  <a:off x="1611" y="2131"/>
                  <a:ext cx="276" cy="122"/>
                </a:xfrm>
                <a:custGeom>
                  <a:avLst/>
                  <a:gdLst/>
                  <a:ahLst/>
                  <a:cxnLst>
                    <a:cxn ang="270">
                      <a:pos x="0" y="0"/>
                    </a:cxn>
                    <a:cxn ang="0">
                      <a:pos x="21679" y="21600"/>
                    </a:cxn>
                    <a:cxn ang="90">
                      <a:pos x="79" y="21600"/>
                    </a:cxn>
                  </a:cxnLst>
                  <a:pathLst>
                    <a:path w="21679" h="21600" fill="none">
                      <a:moveTo>
                        <a:pt x="0" y="0"/>
                      </a:moveTo>
                      <a:cubicBezTo>
                        <a:pt x="-53" y="0"/>
                        <a:pt x="-26" y="0"/>
                        <a:pt x="0" y="0"/>
                      </a:cubicBezTo>
                      <a:cubicBezTo>
                        <a:pt x="11929" y="0"/>
                        <a:pt x="21600" y="9671"/>
                        <a:pt x="21600" y="21600"/>
                      </a:cubicBezTo>
                    </a:path>
                    <a:path w="21679" h="21600" stroke="0">
                      <a:moveTo>
                        <a:pt x="0" y="0"/>
                      </a:moveTo>
                      <a:cubicBezTo>
                        <a:pt x="-53" y="0"/>
                        <a:pt x="-26" y="0"/>
                        <a:pt x="0" y="0"/>
                      </a:cubicBezTo>
                      <a:cubicBezTo>
                        <a:pt x="11929" y="0"/>
                        <a:pt x="21600" y="9671"/>
                        <a:pt x="21600" y="21600"/>
                      </a:cubicBezTo>
                      <a:lnTo>
                        <a:pt x="79"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32" name="任意多边形 302140"/>
                <p:cNvSpPr/>
                <p:nvPr/>
              </p:nvSpPr>
              <p:spPr>
                <a:xfrm rot="10800000">
                  <a:off x="1620" y="2262"/>
                  <a:ext cx="275" cy="122"/>
                </a:xfrm>
                <a:custGeom>
                  <a:avLst/>
                  <a:gdLst/>
                  <a:ahLst/>
                  <a:cxnLst>
                    <a:cxn ang="90">
                      <a:pos x="0" y="21600"/>
                    </a:cxn>
                    <a:cxn ang="270">
                      <a:pos x="21521" y="0"/>
                    </a:cxn>
                    <a:cxn ang="90">
                      <a:pos x="21600" y="21600"/>
                    </a:cxn>
                  </a:cxnLst>
                  <a:pathLst>
                    <a:path w="21600" h="21600" fill="none">
                      <a:moveTo>
                        <a:pt x="0" y="21600"/>
                      </a:moveTo>
                      <a:cubicBezTo>
                        <a:pt x="0" y="9697"/>
                        <a:pt x="9628" y="43"/>
                        <a:pt x="21521" y="0"/>
                      </a:cubicBezTo>
                    </a:path>
                    <a:path w="21600" h="21600" stroke="0">
                      <a:moveTo>
                        <a:pt x="0" y="21600"/>
                      </a:moveTo>
                      <a:cubicBezTo>
                        <a:pt x="0" y="9697"/>
                        <a:pt x="9628" y="43"/>
                        <a:pt x="21521" y="0"/>
                      </a:cubicBezTo>
                      <a:lnTo>
                        <a:pt x="2160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33" name="椭圆 302141"/>
                <p:cNvSpPr/>
                <p:nvPr/>
              </p:nvSpPr>
              <p:spPr>
                <a:xfrm>
                  <a:off x="1902" y="2235"/>
                  <a:ext cx="42" cy="3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734" name="任意多边形 302142"/>
                <p:cNvSpPr/>
                <p:nvPr/>
              </p:nvSpPr>
              <p:spPr>
                <a:xfrm>
                  <a:off x="1583" y="2131"/>
                  <a:ext cx="79" cy="122"/>
                </a:xfrm>
                <a:custGeom>
                  <a:avLst/>
                  <a:gdLst/>
                  <a:ahLst/>
                  <a:cxnLst>
                    <a:cxn ang="180">
                      <a:pos x="0" y="1"/>
                    </a:cxn>
                    <a:cxn ang="0">
                      <a:pos x="21879" y="21600"/>
                    </a:cxn>
                    <a:cxn ang="90">
                      <a:pos x="279" y="21600"/>
                    </a:cxn>
                  </a:cxnLst>
                  <a:pathLst>
                    <a:path w="21879" h="21600" fill="none">
                      <a:moveTo>
                        <a:pt x="0" y="1"/>
                      </a:moveTo>
                      <a:cubicBezTo>
                        <a:pt x="-186" y="2"/>
                        <a:pt x="-93" y="1"/>
                        <a:pt x="0" y="1"/>
                      </a:cubicBezTo>
                      <a:cubicBezTo>
                        <a:pt x="11929" y="1"/>
                        <a:pt x="21600" y="9672"/>
                        <a:pt x="21600" y="21601"/>
                      </a:cubicBezTo>
                    </a:path>
                    <a:path w="21879" h="21600" stroke="0">
                      <a:moveTo>
                        <a:pt x="0" y="1"/>
                      </a:moveTo>
                      <a:cubicBezTo>
                        <a:pt x="-186" y="2"/>
                        <a:pt x="-93" y="1"/>
                        <a:pt x="0" y="1"/>
                      </a:cubicBezTo>
                      <a:cubicBezTo>
                        <a:pt x="11929" y="1"/>
                        <a:pt x="21600" y="9672"/>
                        <a:pt x="21600" y="21601"/>
                      </a:cubicBezTo>
                      <a:lnTo>
                        <a:pt x="279"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35" name="任意多边形 302143"/>
                <p:cNvSpPr/>
                <p:nvPr/>
              </p:nvSpPr>
              <p:spPr>
                <a:xfrm rot="10800000">
                  <a:off x="1592" y="2262"/>
                  <a:ext cx="78" cy="122"/>
                </a:xfrm>
                <a:custGeom>
                  <a:avLst/>
                  <a:gdLst/>
                  <a:ahLst/>
                  <a:cxnLst>
                    <a:cxn ang="180">
                      <a:pos x="0" y="21598"/>
                    </a:cxn>
                    <a:cxn ang="270">
                      <a:pos x="21321" y="0"/>
                    </a:cxn>
                    <a:cxn ang="0">
                      <a:pos x="21600" y="21598"/>
                    </a:cxn>
                  </a:cxnLst>
                  <a:pathLst>
                    <a:path w="21600" h="21598" fill="none">
                      <a:moveTo>
                        <a:pt x="0" y="21598"/>
                      </a:moveTo>
                      <a:cubicBezTo>
                        <a:pt x="0" y="9762"/>
                        <a:pt x="9520" y="149"/>
                        <a:pt x="21320" y="0"/>
                      </a:cubicBezTo>
                    </a:path>
                    <a:path w="21600" h="21598" stroke="0">
                      <a:moveTo>
                        <a:pt x="0" y="21598"/>
                      </a:moveTo>
                      <a:cubicBezTo>
                        <a:pt x="0" y="9762"/>
                        <a:pt x="9520" y="149"/>
                        <a:pt x="21320" y="0"/>
                      </a:cubicBezTo>
                      <a:lnTo>
                        <a:pt x="21600" y="21598"/>
                      </a:lnTo>
                      <a:close/>
                    </a:path>
                  </a:pathLst>
                </a:custGeom>
                <a:noFill/>
                <a:ln w="25400" cap="rnd" cmpd="sng">
                  <a:solidFill>
                    <a:schemeClr val="tx1"/>
                  </a:solidFill>
                  <a:prstDash val="solid"/>
                  <a:round/>
                  <a:headEnd type="none" w="med" len="med"/>
                  <a:tailEnd type="none" w="med" len="med"/>
                </a:ln>
              </p:spPr>
              <p:txBody>
                <a:bodyPr/>
                <a:p>
                  <a:endParaRPr lang="zh-CN" altLang="en-US"/>
                </a:p>
              </p:txBody>
            </p:sp>
          </p:grpSp>
          <p:sp>
            <p:nvSpPr>
              <p:cNvPr id="28736" name="直接连接符 302144"/>
              <p:cNvSpPr/>
              <p:nvPr/>
            </p:nvSpPr>
            <p:spPr>
              <a:xfrm>
                <a:off x="1956" y="2253"/>
                <a:ext cx="225" cy="0"/>
              </a:xfrm>
              <a:prstGeom prst="line">
                <a:avLst/>
              </a:prstGeom>
              <a:ln w="12700" cap="flat" cmpd="sng">
                <a:solidFill>
                  <a:schemeClr val="tx1"/>
                </a:solidFill>
                <a:prstDash val="solid"/>
                <a:round/>
                <a:headEnd type="none" w="med" len="med"/>
                <a:tailEnd type="none" w="med" len="med"/>
              </a:ln>
            </p:spPr>
          </p:sp>
          <p:sp>
            <p:nvSpPr>
              <p:cNvPr id="28737" name="直接连接符 302145"/>
              <p:cNvSpPr/>
              <p:nvPr/>
            </p:nvSpPr>
            <p:spPr>
              <a:xfrm flipH="1">
                <a:off x="1445" y="2187"/>
                <a:ext cx="210" cy="0"/>
              </a:xfrm>
              <a:prstGeom prst="line">
                <a:avLst/>
              </a:prstGeom>
              <a:ln w="12700" cap="flat" cmpd="sng">
                <a:solidFill>
                  <a:schemeClr val="tx1"/>
                </a:solidFill>
                <a:prstDash val="solid"/>
                <a:round/>
                <a:headEnd type="none" w="med" len="med"/>
                <a:tailEnd type="none" w="med" len="med"/>
              </a:ln>
            </p:spPr>
          </p:sp>
          <p:sp>
            <p:nvSpPr>
              <p:cNvPr id="28738" name="直接连接符 302146"/>
              <p:cNvSpPr/>
              <p:nvPr/>
            </p:nvSpPr>
            <p:spPr>
              <a:xfrm flipH="1">
                <a:off x="1445" y="2318"/>
                <a:ext cx="210" cy="0"/>
              </a:xfrm>
              <a:prstGeom prst="line">
                <a:avLst/>
              </a:prstGeom>
              <a:ln w="12700" cap="flat" cmpd="sng">
                <a:solidFill>
                  <a:schemeClr val="tx1"/>
                </a:solidFill>
                <a:prstDash val="solid"/>
                <a:round/>
                <a:headEnd type="none" w="med" len="med"/>
                <a:tailEnd type="none" w="med" len="med"/>
              </a:ln>
            </p:spPr>
          </p:sp>
        </p:grpSp>
        <p:grpSp>
          <p:nvGrpSpPr>
            <p:cNvPr id="28739" name="组合 302147"/>
            <p:cNvGrpSpPr/>
            <p:nvPr/>
          </p:nvGrpSpPr>
          <p:grpSpPr>
            <a:xfrm>
              <a:off x="3765" y="1620"/>
              <a:ext cx="201" cy="212"/>
              <a:chOff x="3765" y="1620"/>
              <a:chExt cx="201" cy="212"/>
            </a:xfrm>
          </p:grpSpPr>
          <p:sp>
            <p:nvSpPr>
              <p:cNvPr id="28740" name="椭圆 302148"/>
              <p:cNvSpPr/>
              <p:nvPr/>
            </p:nvSpPr>
            <p:spPr>
              <a:xfrm>
                <a:off x="3914" y="1701"/>
                <a:ext cx="52" cy="5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741" name="直接连接符 302149"/>
              <p:cNvSpPr/>
              <p:nvPr/>
            </p:nvSpPr>
            <p:spPr>
              <a:xfrm flipH="1" flipV="1">
                <a:off x="3765" y="1620"/>
                <a:ext cx="149" cy="115"/>
              </a:xfrm>
              <a:prstGeom prst="line">
                <a:avLst/>
              </a:prstGeom>
              <a:ln w="25400" cap="flat" cmpd="sng">
                <a:solidFill>
                  <a:schemeClr val="tx1"/>
                </a:solidFill>
                <a:prstDash val="solid"/>
                <a:round/>
                <a:headEnd type="none" w="med" len="med"/>
                <a:tailEnd type="none" w="med" len="med"/>
              </a:ln>
            </p:spPr>
          </p:sp>
          <p:sp>
            <p:nvSpPr>
              <p:cNvPr id="28742" name="直接连接符 302150"/>
              <p:cNvSpPr/>
              <p:nvPr/>
            </p:nvSpPr>
            <p:spPr>
              <a:xfrm flipH="1">
                <a:off x="3765" y="1735"/>
                <a:ext cx="149" cy="81"/>
              </a:xfrm>
              <a:prstGeom prst="line">
                <a:avLst/>
              </a:prstGeom>
              <a:ln w="25400" cap="flat" cmpd="sng">
                <a:solidFill>
                  <a:schemeClr val="tx1"/>
                </a:solidFill>
                <a:prstDash val="solid"/>
                <a:round/>
                <a:headEnd type="none" w="med" len="med"/>
                <a:tailEnd type="none" w="med" len="med"/>
              </a:ln>
            </p:spPr>
          </p:sp>
          <p:sp>
            <p:nvSpPr>
              <p:cNvPr id="28743" name="直接连接符 302151"/>
              <p:cNvSpPr/>
              <p:nvPr/>
            </p:nvSpPr>
            <p:spPr>
              <a:xfrm flipV="1">
                <a:off x="3773" y="1620"/>
                <a:ext cx="0" cy="212"/>
              </a:xfrm>
              <a:prstGeom prst="line">
                <a:avLst/>
              </a:prstGeom>
              <a:ln w="25400" cap="flat" cmpd="sng">
                <a:solidFill>
                  <a:schemeClr val="tx1"/>
                </a:solidFill>
                <a:prstDash val="solid"/>
                <a:round/>
                <a:headEnd type="none" w="med" len="med"/>
                <a:tailEnd type="none" w="med" len="med"/>
              </a:ln>
            </p:spPr>
          </p:sp>
        </p:grpSp>
        <p:sp>
          <p:nvSpPr>
            <p:cNvPr id="28744" name="直接连接符 302152"/>
            <p:cNvSpPr/>
            <p:nvPr/>
          </p:nvSpPr>
          <p:spPr>
            <a:xfrm flipH="1">
              <a:off x="3601" y="1727"/>
              <a:ext cx="176" cy="0"/>
            </a:xfrm>
            <a:prstGeom prst="line">
              <a:avLst/>
            </a:prstGeom>
            <a:ln w="12700" cap="flat" cmpd="sng">
              <a:solidFill>
                <a:schemeClr val="tx1"/>
              </a:solidFill>
              <a:prstDash val="solid"/>
              <a:round/>
              <a:headEnd type="none" w="med" len="med"/>
              <a:tailEnd type="none" w="med" len="med"/>
            </a:ln>
          </p:spPr>
        </p:sp>
        <p:sp>
          <p:nvSpPr>
            <p:cNvPr id="28745" name="直接连接符 302153"/>
            <p:cNvSpPr/>
            <p:nvPr/>
          </p:nvSpPr>
          <p:spPr>
            <a:xfrm>
              <a:off x="3978" y="1727"/>
              <a:ext cx="192" cy="0"/>
            </a:xfrm>
            <a:prstGeom prst="line">
              <a:avLst/>
            </a:prstGeom>
            <a:ln w="12700" cap="flat" cmpd="sng">
              <a:solidFill>
                <a:schemeClr val="accent2"/>
              </a:solidFill>
              <a:prstDash val="solid"/>
              <a:round/>
              <a:headEnd type="none" w="med" len="med"/>
              <a:tailEnd type="none" w="med" len="med"/>
            </a:ln>
          </p:spPr>
        </p:sp>
        <p:grpSp>
          <p:nvGrpSpPr>
            <p:cNvPr id="28746" name="组合 302154"/>
            <p:cNvGrpSpPr/>
            <p:nvPr/>
          </p:nvGrpSpPr>
          <p:grpSpPr>
            <a:xfrm>
              <a:off x="2196" y="1779"/>
              <a:ext cx="201" cy="212"/>
              <a:chOff x="2196" y="1779"/>
              <a:chExt cx="201" cy="212"/>
            </a:xfrm>
          </p:grpSpPr>
          <p:sp>
            <p:nvSpPr>
              <p:cNvPr id="28747" name="椭圆 302155"/>
              <p:cNvSpPr/>
              <p:nvPr/>
            </p:nvSpPr>
            <p:spPr>
              <a:xfrm>
                <a:off x="2345" y="1860"/>
                <a:ext cx="52" cy="5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748" name="直接连接符 302156"/>
              <p:cNvSpPr/>
              <p:nvPr/>
            </p:nvSpPr>
            <p:spPr>
              <a:xfrm flipH="1" flipV="1">
                <a:off x="2196" y="1779"/>
                <a:ext cx="149" cy="115"/>
              </a:xfrm>
              <a:prstGeom prst="line">
                <a:avLst/>
              </a:prstGeom>
              <a:ln w="25400" cap="flat" cmpd="sng">
                <a:solidFill>
                  <a:schemeClr val="tx1"/>
                </a:solidFill>
                <a:prstDash val="solid"/>
                <a:round/>
                <a:headEnd type="none" w="med" len="med"/>
                <a:tailEnd type="none" w="med" len="med"/>
              </a:ln>
            </p:spPr>
          </p:sp>
          <p:sp>
            <p:nvSpPr>
              <p:cNvPr id="28749" name="直接连接符 302157"/>
              <p:cNvSpPr/>
              <p:nvPr/>
            </p:nvSpPr>
            <p:spPr>
              <a:xfrm flipH="1">
                <a:off x="2196" y="1894"/>
                <a:ext cx="149" cy="81"/>
              </a:xfrm>
              <a:prstGeom prst="line">
                <a:avLst/>
              </a:prstGeom>
              <a:ln w="25400" cap="flat" cmpd="sng">
                <a:solidFill>
                  <a:schemeClr val="tx1"/>
                </a:solidFill>
                <a:prstDash val="solid"/>
                <a:round/>
                <a:headEnd type="none" w="med" len="med"/>
                <a:tailEnd type="none" w="med" len="med"/>
              </a:ln>
            </p:spPr>
          </p:sp>
          <p:sp>
            <p:nvSpPr>
              <p:cNvPr id="28750" name="直接连接符 302158"/>
              <p:cNvSpPr/>
              <p:nvPr/>
            </p:nvSpPr>
            <p:spPr>
              <a:xfrm flipV="1">
                <a:off x="2204" y="1779"/>
                <a:ext cx="0" cy="212"/>
              </a:xfrm>
              <a:prstGeom prst="line">
                <a:avLst/>
              </a:prstGeom>
              <a:ln w="25400" cap="flat" cmpd="sng">
                <a:solidFill>
                  <a:schemeClr val="tx1"/>
                </a:solidFill>
                <a:prstDash val="solid"/>
                <a:round/>
                <a:headEnd type="none" w="med" len="med"/>
                <a:tailEnd type="none" w="med" len="med"/>
              </a:ln>
            </p:spPr>
          </p:sp>
        </p:grpSp>
        <p:sp>
          <p:nvSpPr>
            <p:cNvPr id="28751" name="直接连接符 302159"/>
            <p:cNvSpPr/>
            <p:nvPr/>
          </p:nvSpPr>
          <p:spPr>
            <a:xfrm flipH="1">
              <a:off x="2032" y="1886"/>
              <a:ext cx="176" cy="0"/>
            </a:xfrm>
            <a:prstGeom prst="line">
              <a:avLst/>
            </a:prstGeom>
            <a:ln w="12700" cap="flat" cmpd="sng">
              <a:solidFill>
                <a:schemeClr val="accent2"/>
              </a:solidFill>
              <a:prstDash val="solid"/>
              <a:round/>
              <a:headEnd type="none" w="med" len="med"/>
              <a:tailEnd type="none" w="med" len="med"/>
            </a:ln>
          </p:spPr>
        </p:sp>
        <p:sp>
          <p:nvSpPr>
            <p:cNvPr id="28752" name="直接连接符 302160"/>
            <p:cNvSpPr/>
            <p:nvPr/>
          </p:nvSpPr>
          <p:spPr>
            <a:xfrm>
              <a:off x="2408" y="1886"/>
              <a:ext cx="202" cy="0"/>
            </a:xfrm>
            <a:prstGeom prst="line">
              <a:avLst/>
            </a:prstGeom>
            <a:ln w="12700" cap="flat" cmpd="sng">
              <a:solidFill>
                <a:schemeClr val="accent2"/>
              </a:solidFill>
              <a:prstDash val="solid"/>
              <a:round/>
              <a:headEnd type="none" w="med" len="med"/>
              <a:tailEnd type="none" w="med" len="med"/>
            </a:ln>
          </p:spPr>
        </p:sp>
        <p:grpSp>
          <p:nvGrpSpPr>
            <p:cNvPr id="28753" name="组合 302161"/>
            <p:cNvGrpSpPr/>
            <p:nvPr/>
          </p:nvGrpSpPr>
          <p:grpSpPr>
            <a:xfrm>
              <a:off x="3106" y="1605"/>
              <a:ext cx="361" cy="253"/>
              <a:chOff x="3106" y="1605"/>
              <a:chExt cx="361" cy="253"/>
            </a:xfrm>
          </p:grpSpPr>
          <p:sp>
            <p:nvSpPr>
              <p:cNvPr id="28754" name="任意多边形 302162"/>
              <p:cNvSpPr/>
              <p:nvPr/>
            </p:nvSpPr>
            <p:spPr>
              <a:xfrm>
                <a:off x="3134" y="1605"/>
                <a:ext cx="276" cy="122"/>
              </a:xfrm>
              <a:custGeom>
                <a:avLst/>
                <a:gdLst/>
                <a:ahLst/>
                <a:cxnLst>
                  <a:cxn ang="270">
                    <a:pos x="0" y="0"/>
                  </a:cxn>
                  <a:cxn ang="0">
                    <a:pos x="21679" y="21600"/>
                  </a:cxn>
                  <a:cxn ang="90">
                    <a:pos x="79" y="21600"/>
                  </a:cxn>
                </a:cxnLst>
                <a:pathLst>
                  <a:path w="21679" h="21600" fill="none">
                    <a:moveTo>
                      <a:pt x="0" y="0"/>
                    </a:moveTo>
                    <a:cubicBezTo>
                      <a:pt x="-53" y="0"/>
                      <a:pt x="-26" y="0"/>
                      <a:pt x="0" y="0"/>
                    </a:cubicBezTo>
                    <a:cubicBezTo>
                      <a:pt x="11929" y="0"/>
                      <a:pt x="21600" y="9671"/>
                      <a:pt x="21600" y="21600"/>
                    </a:cubicBezTo>
                  </a:path>
                  <a:path w="21679" h="21600" stroke="0">
                    <a:moveTo>
                      <a:pt x="0" y="0"/>
                    </a:moveTo>
                    <a:cubicBezTo>
                      <a:pt x="-53" y="0"/>
                      <a:pt x="-26" y="0"/>
                      <a:pt x="0" y="0"/>
                    </a:cubicBezTo>
                    <a:cubicBezTo>
                      <a:pt x="11929" y="0"/>
                      <a:pt x="21600" y="9671"/>
                      <a:pt x="21600" y="21600"/>
                    </a:cubicBezTo>
                    <a:lnTo>
                      <a:pt x="79"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55" name="任意多边形 302163"/>
              <p:cNvSpPr/>
              <p:nvPr/>
            </p:nvSpPr>
            <p:spPr>
              <a:xfrm rot="10800000">
                <a:off x="3143" y="1736"/>
                <a:ext cx="275" cy="122"/>
              </a:xfrm>
              <a:custGeom>
                <a:avLst/>
                <a:gdLst/>
                <a:ahLst/>
                <a:cxnLst>
                  <a:cxn ang="90">
                    <a:pos x="0" y="21600"/>
                  </a:cxn>
                  <a:cxn ang="270">
                    <a:pos x="21521" y="0"/>
                  </a:cxn>
                  <a:cxn ang="90">
                    <a:pos x="21600" y="21600"/>
                  </a:cxn>
                </a:cxnLst>
                <a:pathLst>
                  <a:path w="21600" h="21600" fill="none">
                    <a:moveTo>
                      <a:pt x="0" y="21600"/>
                    </a:moveTo>
                    <a:cubicBezTo>
                      <a:pt x="0" y="9697"/>
                      <a:pt x="9628" y="43"/>
                      <a:pt x="21521" y="0"/>
                    </a:cubicBezTo>
                  </a:path>
                  <a:path w="21600" h="21600" stroke="0">
                    <a:moveTo>
                      <a:pt x="0" y="21600"/>
                    </a:moveTo>
                    <a:cubicBezTo>
                      <a:pt x="0" y="9697"/>
                      <a:pt x="9628" y="43"/>
                      <a:pt x="21521" y="0"/>
                    </a:cubicBezTo>
                    <a:lnTo>
                      <a:pt x="2160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56" name="椭圆 302164"/>
              <p:cNvSpPr/>
              <p:nvPr/>
            </p:nvSpPr>
            <p:spPr>
              <a:xfrm>
                <a:off x="3425" y="1709"/>
                <a:ext cx="42" cy="3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8757" name="任意多边形 302165"/>
              <p:cNvSpPr/>
              <p:nvPr/>
            </p:nvSpPr>
            <p:spPr>
              <a:xfrm>
                <a:off x="3106" y="1605"/>
                <a:ext cx="79" cy="122"/>
              </a:xfrm>
              <a:custGeom>
                <a:avLst/>
                <a:gdLst/>
                <a:ahLst/>
                <a:cxnLst>
                  <a:cxn ang="180">
                    <a:pos x="0" y="1"/>
                  </a:cxn>
                  <a:cxn ang="0">
                    <a:pos x="21879" y="21600"/>
                  </a:cxn>
                  <a:cxn ang="90">
                    <a:pos x="279" y="21600"/>
                  </a:cxn>
                </a:cxnLst>
                <a:pathLst>
                  <a:path w="21879" h="21600" fill="none">
                    <a:moveTo>
                      <a:pt x="0" y="1"/>
                    </a:moveTo>
                    <a:cubicBezTo>
                      <a:pt x="-186" y="2"/>
                      <a:pt x="-93" y="1"/>
                      <a:pt x="0" y="1"/>
                    </a:cubicBezTo>
                    <a:cubicBezTo>
                      <a:pt x="11929" y="1"/>
                      <a:pt x="21600" y="9672"/>
                      <a:pt x="21600" y="21601"/>
                    </a:cubicBezTo>
                  </a:path>
                  <a:path w="21879" h="21600" stroke="0">
                    <a:moveTo>
                      <a:pt x="0" y="1"/>
                    </a:moveTo>
                    <a:cubicBezTo>
                      <a:pt x="-186" y="2"/>
                      <a:pt x="-93" y="1"/>
                      <a:pt x="0" y="1"/>
                    </a:cubicBezTo>
                    <a:cubicBezTo>
                      <a:pt x="11929" y="1"/>
                      <a:pt x="21600" y="9672"/>
                      <a:pt x="21600" y="21601"/>
                    </a:cubicBezTo>
                    <a:lnTo>
                      <a:pt x="279"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58" name="任意多边形 302166"/>
              <p:cNvSpPr/>
              <p:nvPr/>
            </p:nvSpPr>
            <p:spPr>
              <a:xfrm rot="10800000">
                <a:off x="3115" y="1736"/>
                <a:ext cx="78" cy="122"/>
              </a:xfrm>
              <a:custGeom>
                <a:avLst/>
                <a:gdLst/>
                <a:ahLst/>
                <a:cxnLst>
                  <a:cxn ang="180">
                    <a:pos x="0" y="21598"/>
                  </a:cxn>
                  <a:cxn ang="270">
                    <a:pos x="21321" y="0"/>
                  </a:cxn>
                  <a:cxn ang="0">
                    <a:pos x="21600" y="21598"/>
                  </a:cxn>
                </a:cxnLst>
                <a:pathLst>
                  <a:path w="21600" h="21598" fill="none">
                    <a:moveTo>
                      <a:pt x="0" y="21598"/>
                    </a:moveTo>
                    <a:cubicBezTo>
                      <a:pt x="0" y="9762"/>
                      <a:pt x="9520" y="149"/>
                      <a:pt x="21320" y="0"/>
                    </a:cubicBezTo>
                  </a:path>
                  <a:path w="21600" h="21598" stroke="0">
                    <a:moveTo>
                      <a:pt x="0" y="21598"/>
                    </a:moveTo>
                    <a:cubicBezTo>
                      <a:pt x="0" y="9762"/>
                      <a:pt x="9520" y="149"/>
                      <a:pt x="21320" y="0"/>
                    </a:cubicBezTo>
                    <a:lnTo>
                      <a:pt x="21600" y="21598"/>
                    </a:lnTo>
                    <a:close/>
                  </a:path>
                </a:pathLst>
              </a:custGeom>
              <a:noFill/>
              <a:ln w="25400" cap="rnd" cmpd="sng">
                <a:solidFill>
                  <a:schemeClr val="tx1"/>
                </a:solidFill>
                <a:prstDash val="solid"/>
                <a:round/>
                <a:headEnd type="none" w="med" len="med"/>
                <a:tailEnd type="none" w="med" len="med"/>
              </a:ln>
            </p:spPr>
            <p:txBody>
              <a:bodyPr/>
              <a:p>
                <a:endParaRPr lang="zh-CN" altLang="en-US"/>
              </a:p>
            </p:txBody>
          </p:sp>
        </p:grpSp>
        <p:sp>
          <p:nvSpPr>
            <p:cNvPr id="28759" name="直接连接符 302167"/>
            <p:cNvSpPr/>
            <p:nvPr/>
          </p:nvSpPr>
          <p:spPr>
            <a:xfrm>
              <a:off x="3479" y="1727"/>
              <a:ext cx="225" cy="0"/>
            </a:xfrm>
            <a:prstGeom prst="line">
              <a:avLst/>
            </a:prstGeom>
            <a:ln w="12700" cap="flat" cmpd="sng">
              <a:solidFill>
                <a:schemeClr val="accent2"/>
              </a:solidFill>
              <a:prstDash val="solid"/>
              <a:round/>
              <a:headEnd type="none" w="med" len="med"/>
              <a:tailEnd type="none" w="med" len="med"/>
            </a:ln>
          </p:spPr>
        </p:sp>
        <p:sp>
          <p:nvSpPr>
            <p:cNvPr id="28760" name="直接连接符 302168"/>
            <p:cNvSpPr/>
            <p:nvPr/>
          </p:nvSpPr>
          <p:spPr>
            <a:xfrm flipH="1">
              <a:off x="2968" y="1661"/>
              <a:ext cx="210" cy="0"/>
            </a:xfrm>
            <a:prstGeom prst="line">
              <a:avLst/>
            </a:prstGeom>
            <a:ln w="12700" cap="flat" cmpd="sng">
              <a:solidFill>
                <a:schemeClr val="tx1"/>
              </a:solidFill>
              <a:prstDash val="solid"/>
              <a:round/>
              <a:headEnd type="none" w="med" len="med"/>
              <a:tailEnd type="none" w="med" len="med"/>
            </a:ln>
          </p:spPr>
        </p:sp>
        <p:sp>
          <p:nvSpPr>
            <p:cNvPr id="28761" name="直接连接符 302169"/>
            <p:cNvSpPr/>
            <p:nvPr/>
          </p:nvSpPr>
          <p:spPr>
            <a:xfrm flipH="1">
              <a:off x="2968" y="1792"/>
              <a:ext cx="210" cy="0"/>
            </a:xfrm>
            <a:prstGeom prst="line">
              <a:avLst/>
            </a:prstGeom>
            <a:ln w="12700" cap="flat" cmpd="sng">
              <a:solidFill>
                <a:schemeClr val="accent2"/>
              </a:solidFill>
              <a:prstDash val="solid"/>
              <a:round/>
              <a:headEnd type="none" w="med" len="med"/>
              <a:tailEnd type="none" w="med" len="med"/>
            </a:ln>
          </p:spPr>
        </p:sp>
        <p:sp>
          <p:nvSpPr>
            <p:cNvPr id="28762" name="椭圆 302170"/>
            <p:cNvSpPr/>
            <p:nvPr/>
          </p:nvSpPr>
          <p:spPr>
            <a:xfrm>
              <a:off x="3107" y="2161"/>
              <a:ext cx="51" cy="49"/>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28763" name="组合 302171"/>
            <p:cNvGrpSpPr/>
            <p:nvPr/>
          </p:nvGrpSpPr>
          <p:grpSpPr>
            <a:xfrm>
              <a:off x="2756" y="2056"/>
              <a:ext cx="344" cy="261"/>
              <a:chOff x="2756" y="2056"/>
              <a:chExt cx="344" cy="261"/>
            </a:xfrm>
          </p:grpSpPr>
          <p:sp>
            <p:nvSpPr>
              <p:cNvPr id="28764" name="任意多边形 302172"/>
              <p:cNvSpPr/>
              <p:nvPr/>
            </p:nvSpPr>
            <p:spPr>
              <a:xfrm>
                <a:off x="2960" y="2065"/>
                <a:ext cx="132" cy="123"/>
              </a:xfrm>
              <a:custGeom>
                <a:avLst/>
                <a:gdLst/>
                <a:ahLst/>
                <a:cxnLst>
                  <a:cxn ang="270">
                    <a:pos x="0" y="0"/>
                  </a:cxn>
                  <a:cxn ang="0">
                    <a:pos x="21763" y="21423"/>
                  </a:cxn>
                  <a:cxn ang="90">
                    <a:pos x="164" y="21600"/>
                  </a:cxn>
                </a:cxnLst>
                <a:pathLst>
                  <a:path w="21763" h="21600" fill="none">
                    <a:moveTo>
                      <a:pt x="0" y="0"/>
                    </a:moveTo>
                    <a:cubicBezTo>
                      <a:pt x="-109" y="0"/>
                      <a:pt x="-55" y="0"/>
                      <a:pt x="0" y="0"/>
                    </a:cubicBezTo>
                    <a:cubicBezTo>
                      <a:pt x="11870" y="0"/>
                      <a:pt x="21504" y="9575"/>
                      <a:pt x="21599" y="21422"/>
                    </a:cubicBezTo>
                  </a:path>
                  <a:path w="21763" h="21600" stroke="0">
                    <a:moveTo>
                      <a:pt x="0" y="0"/>
                    </a:moveTo>
                    <a:cubicBezTo>
                      <a:pt x="-109" y="0"/>
                      <a:pt x="-55" y="0"/>
                      <a:pt x="0" y="0"/>
                    </a:cubicBezTo>
                    <a:cubicBezTo>
                      <a:pt x="11870" y="0"/>
                      <a:pt x="21504" y="9575"/>
                      <a:pt x="21599" y="21422"/>
                    </a:cubicBezTo>
                    <a:lnTo>
                      <a:pt x="164"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65" name="任意多边形 302173"/>
              <p:cNvSpPr/>
              <p:nvPr/>
            </p:nvSpPr>
            <p:spPr>
              <a:xfrm rot="10800000">
                <a:off x="2969" y="2195"/>
                <a:ext cx="131" cy="122"/>
              </a:xfrm>
              <a:custGeom>
                <a:avLst/>
                <a:gdLst/>
                <a:ahLst/>
                <a:cxnLst>
                  <a:cxn ang="180">
                    <a:pos x="0" y="21599"/>
                  </a:cxn>
                  <a:cxn ang="270">
                    <a:pos x="21435" y="0"/>
                  </a:cxn>
                  <a:cxn ang="0">
                    <a:pos x="21600" y="21599"/>
                  </a:cxn>
                </a:cxnLst>
                <a:pathLst>
                  <a:path w="21600" h="21599" fill="none">
                    <a:moveTo>
                      <a:pt x="0" y="21599"/>
                    </a:moveTo>
                    <a:cubicBezTo>
                      <a:pt x="0" y="9725"/>
                      <a:pt x="9582" y="88"/>
                      <a:pt x="21434" y="0"/>
                    </a:cubicBezTo>
                  </a:path>
                  <a:path w="21600" h="21599" stroke="0">
                    <a:moveTo>
                      <a:pt x="0" y="21599"/>
                    </a:moveTo>
                    <a:cubicBezTo>
                      <a:pt x="0" y="9725"/>
                      <a:pt x="9582" y="88"/>
                      <a:pt x="21434" y="0"/>
                    </a:cubicBezTo>
                    <a:lnTo>
                      <a:pt x="21600"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28766" name="直接连接符 302174"/>
              <p:cNvSpPr/>
              <p:nvPr/>
            </p:nvSpPr>
            <p:spPr>
              <a:xfrm flipH="1">
                <a:off x="2756" y="2056"/>
                <a:ext cx="212" cy="0"/>
              </a:xfrm>
              <a:prstGeom prst="line">
                <a:avLst/>
              </a:prstGeom>
              <a:ln w="25400" cap="flat" cmpd="sng">
                <a:solidFill>
                  <a:schemeClr val="tx1"/>
                </a:solidFill>
                <a:prstDash val="solid"/>
                <a:round/>
                <a:headEnd type="none" w="med" len="med"/>
                <a:tailEnd type="none" w="med" len="med"/>
              </a:ln>
            </p:spPr>
          </p:sp>
          <p:sp>
            <p:nvSpPr>
              <p:cNvPr id="28767" name="直接连接符 302175"/>
              <p:cNvSpPr/>
              <p:nvPr/>
            </p:nvSpPr>
            <p:spPr>
              <a:xfrm>
                <a:off x="2764" y="2064"/>
                <a:ext cx="0" cy="245"/>
              </a:xfrm>
              <a:prstGeom prst="line">
                <a:avLst/>
              </a:prstGeom>
              <a:ln w="25400" cap="flat" cmpd="sng">
                <a:solidFill>
                  <a:schemeClr val="tx1"/>
                </a:solidFill>
                <a:prstDash val="solid"/>
                <a:round/>
                <a:headEnd type="none" w="med" len="med"/>
                <a:tailEnd type="none" w="med" len="med"/>
              </a:ln>
            </p:spPr>
          </p:sp>
          <p:sp>
            <p:nvSpPr>
              <p:cNvPr id="28768" name="直接连接符 302176"/>
              <p:cNvSpPr/>
              <p:nvPr/>
            </p:nvSpPr>
            <p:spPr>
              <a:xfrm flipH="1">
                <a:off x="2756" y="2317"/>
                <a:ext cx="212" cy="0"/>
              </a:xfrm>
              <a:prstGeom prst="line">
                <a:avLst/>
              </a:prstGeom>
              <a:ln w="25400" cap="flat" cmpd="sng">
                <a:solidFill>
                  <a:schemeClr val="tx1"/>
                </a:solidFill>
                <a:prstDash val="solid"/>
                <a:round/>
                <a:headEnd type="none" w="med" len="med"/>
                <a:tailEnd type="none" w="med" len="med"/>
              </a:ln>
            </p:spPr>
          </p:sp>
        </p:grpSp>
        <p:sp>
          <p:nvSpPr>
            <p:cNvPr id="28769" name="直接连接符 302177"/>
            <p:cNvSpPr/>
            <p:nvPr/>
          </p:nvSpPr>
          <p:spPr>
            <a:xfrm flipH="1">
              <a:off x="2603" y="2121"/>
              <a:ext cx="174" cy="0"/>
            </a:xfrm>
            <a:prstGeom prst="line">
              <a:avLst/>
            </a:prstGeom>
            <a:ln w="12700" cap="flat" cmpd="sng">
              <a:solidFill>
                <a:schemeClr val="accent2"/>
              </a:solidFill>
              <a:prstDash val="solid"/>
              <a:round/>
              <a:headEnd type="none" w="med" len="med"/>
              <a:tailEnd type="none" w="med" len="med"/>
            </a:ln>
          </p:spPr>
        </p:sp>
        <p:sp>
          <p:nvSpPr>
            <p:cNvPr id="28770" name="直接连接符 302178"/>
            <p:cNvSpPr/>
            <p:nvPr/>
          </p:nvSpPr>
          <p:spPr>
            <a:xfrm flipH="1">
              <a:off x="2594" y="2252"/>
              <a:ext cx="174" cy="0"/>
            </a:xfrm>
            <a:prstGeom prst="line">
              <a:avLst/>
            </a:prstGeom>
            <a:ln w="12700" cap="flat" cmpd="sng">
              <a:solidFill>
                <a:schemeClr val="tx1"/>
              </a:solidFill>
              <a:prstDash val="solid"/>
              <a:round/>
              <a:headEnd type="none" w="med" len="med"/>
              <a:tailEnd type="none" w="med" len="med"/>
            </a:ln>
          </p:spPr>
        </p:sp>
        <p:sp>
          <p:nvSpPr>
            <p:cNvPr id="28771" name="直接连接符 302179"/>
            <p:cNvSpPr/>
            <p:nvPr/>
          </p:nvSpPr>
          <p:spPr>
            <a:xfrm>
              <a:off x="3170" y="2186"/>
              <a:ext cx="192" cy="0"/>
            </a:xfrm>
            <a:prstGeom prst="line">
              <a:avLst/>
            </a:prstGeom>
            <a:ln w="12700" cap="flat" cmpd="sng">
              <a:solidFill>
                <a:schemeClr val="accent2"/>
              </a:solidFill>
              <a:prstDash val="solid"/>
              <a:round/>
              <a:headEnd type="none" w="med" len="med"/>
              <a:tailEnd type="none" w="med" len="med"/>
            </a:ln>
          </p:spPr>
        </p:sp>
        <p:sp>
          <p:nvSpPr>
            <p:cNvPr id="28772" name="直接连接符 302180"/>
            <p:cNvSpPr/>
            <p:nvPr/>
          </p:nvSpPr>
          <p:spPr>
            <a:xfrm>
              <a:off x="2602" y="1887"/>
              <a:ext cx="0" cy="232"/>
            </a:xfrm>
            <a:prstGeom prst="line">
              <a:avLst/>
            </a:prstGeom>
            <a:ln w="12700" cap="flat" cmpd="sng">
              <a:solidFill>
                <a:schemeClr val="accent2"/>
              </a:solidFill>
              <a:prstDash val="solid"/>
              <a:round/>
              <a:headEnd type="none" w="med" len="med"/>
              <a:tailEnd type="none" w="med" len="med"/>
            </a:ln>
          </p:spPr>
        </p:sp>
        <p:sp>
          <p:nvSpPr>
            <p:cNvPr id="28773" name="直接连接符 302181"/>
            <p:cNvSpPr/>
            <p:nvPr/>
          </p:nvSpPr>
          <p:spPr>
            <a:xfrm>
              <a:off x="2190" y="2250"/>
              <a:ext cx="435" cy="0"/>
            </a:xfrm>
            <a:prstGeom prst="line">
              <a:avLst/>
            </a:prstGeom>
            <a:ln w="12700" cap="flat" cmpd="sng">
              <a:solidFill>
                <a:schemeClr val="tx1"/>
              </a:solidFill>
              <a:prstDash val="solid"/>
              <a:round/>
              <a:headEnd type="none" w="med" len="med"/>
              <a:tailEnd type="none" w="med" len="med"/>
            </a:ln>
          </p:spPr>
        </p:sp>
        <p:sp>
          <p:nvSpPr>
            <p:cNvPr id="28774" name="直接连接符 302182"/>
            <p:cNvSpPr/>
            <p:nvPr/>
          </p:nvSpPr>
          <p:spPr>
            <a:xfrm flipH="1">
              <a:off x="2972" y="1792"/>
              <a:ext cx="0" cy="184"/>
            </a:xfrm>
            <a:prstGeom prst="line">
              <a:avLst/>
            </a:prstGeom>
            <a:ln w="12700" cap="flat" cmpd="sng">
              <a:solidFill>
                <a:schemeClr val="accent2"/>
              </a:solidFill>
              <a:prstDash val="solid"/>
              <a:round/>
              <a:headEnd type="none" w="med" len="med"/>
              <a:tailEnd type="none" w="med" len="med"/>
            </a:ln>
          </p:spPr>
        </p:sp>
        <p:sp>
          <p:nvSpPr>
            <p:cNvPr id="28775" name="直接连接符 302183"/>
            <p:cNvSpPr/>
            <p:nvPr/>
          </p:nvSpPr>
          <p:spPr>
            <a:xfrm>
              <a:off x="2975" y="1963"/>
              <a:ext cx="392" cy="0"/>
            </a:xfrm>
            <a:prstGeom prst="line">
              <a:avLst/>
            </a:prstGeom>
            <a:ln w="12700" cap="flat" cmpd="sng">
              <a:solidFill>
                <a:schemeClr val="accent2"/>
              </a:solidFill>
              <a:prstDash val="solid"/>
              <a:round/>
              <a:headEnd type="none" w="med" len="med"/>
              <a:tailEnd type="none" w="med" len="med"/>
            </a:ln>
          </p:spPr>
        </p:sp>
        <p:sp>
          <p:nvSpPr>
            <p:cNvPr id="28776" name="直接连接符 302184"/>
            <p:cNvSpPr/>
            <p:nvPr/>
          </p:nvSpPr>
          <p:spPr>
            <a:xfrm>
              <a:off x="3365" y="1966"/>
              <a:ext cx="0" cy="217"/>
            </a:xfrm>
            <a:prstGeom prst="line">
              <a:avLst/>
            </a:prstGeom>
            <a:ln w="12700" cap="flat" cmpd="sng">
              <a:solidFill>
                <a:schemeClr val="accent2"/>
              </a:solidFill>
              <a:prstDash val="solid"/>
              <a:round/>
              <a:headEnd type="none" w="med" len="med"/>
              <a:tailEnd type="none" w="med" len="med"/>
            </a:ln>
          </p:spPr>
        </p:sp>
        <p:sp>
          <p:nvSpPr>
            <p:cNvPr id="28777" name="直接连接符 302185"/>
            <p:cNvSpPr/>
            <p:nvPr/>
          </p:nvSpPr>
          <p:spPr>
            <a:xfrm>
              <a:off x="1455" y="1663"/>
              <a:ext cx="1518" cy="0"/>
            </a:xfrm>
            <a:prstGeom prst="line">
              <a:avLst/>
            </a:prstGeom>
            <a:ln w="12700" cap="flat" cmpd="sng">
              <a:solidFill>
                <a:schemeClr val="tx1"/>
              </a:solidFill>
              <a:prstDash val="solid"/>
              <a:round/>
              <a:headEnd type="none" w="med" len="med"/>
              <a:tailEnd type="none" w="med" len="med"/>
            </a:ln>
          </p:spPr>
        </p:sp>
        <p:sp>
          <p:nvSpPr>
            <p:cNvPr id="28778" name="直接连接符 302186"/>
            <p:cNvSpPr/>
            <p:nvPr/>
          </p:nvSpPr>
          <p:spPr>
            <a:xfrm>
              <a:off x="3359" y="2187"/>
              <a:ext cx="808" cy="0"/>
            </a:xfrm>
            <a:prstGeom prst="line">
              <a:avLst/>
            </a:prstGeom>
            <a:ln w="12700" cap="flat" cmpd="sng">
              <a:solidFill>
                <a:schemeClr val="tx1"/>
              </a:solidFill>
              <a:prstDash val="solid"/>
              <a:round/>
              <a:headEnd type="none" w="med" len="med"/>
              <a:tailEnd type="none" w="med" len="med"/>
            </a:ln>
          </p:spPr>
        </p:sp>
        <p:sp>
          <p:nvSpPr>
            <p:cNvPr id="28779" name="直接连接符 302187"/>
            <p:cNvSpPr/>
            <p:nvPr/>
          </p:nvSpPr>
          <p:spPr>
            <a:xfrm>
              <a:off x="1592" y="1832"/>
              <a:ext cx="368" cy="32"/>
            </a:xfrm>
            <a:prstGeom prst="line">
              <a:avLst/>
            </a:prstGeom>
            <a:ln w="25400" cap="flat" cmpd="sng">
              <a:solidFill>
                <a:schemeClr val="accent2"/>
              </a:solidFill>
              <a:prstDash val="solid"/>
              <a:round/>
              <a:headEnd type="none" w="med" len="med"/>
              <a:tailEnd type="none" w="med" len="med"/>
            </a:ln>
          </p:spPr>
        </p:sp>
        <p:sp>
          <p:nvSpPr>
            <p:cNvPr id="28780" name="直接连接符 302188"/>
            <p:cNvSpPr/>
            <p:nvPr/>
          </p:nvSpPr>
          <p:spPr>
            <a:xfrm>
              <a:off x="2216" y="1884"/>
              <a:ext cx="128" cy="0"/>
            </a:xfrm>
            <a:prstGeom prst="line">
              <a:avLst/>
            </a:prstGeom>
            <a:ln w="25400" cap="flat" cmpd="sng">
              <a:solidFill>
                <a:schemeClr val="accent2"/>
              </a:solidFill>
              <a:prstDash val="solid"/>
              <a:round/>
              <a:headEnd type="none" w="med" len="med"/>
              <a:tailEnd type="none" w="med" len="med"/>
            </a:ln>
          </p:spPr>
        </p:sp>
        <p:sp>
          <p:nvSpPr>
            <p:cNvPr id="28781" name="直接连接符 302189"/>
            <p:cNvSpPr/>
            <p:nvPr/>
          </p:nvSpPr>
          <p:spPr>
            <a:xfrm>
              <a:off x="2768" y="2132"/>
              <a:ext cx="332" cy="44"/>
            </a:xfrm>
            <a:prstGeom prst="line">
              <a:avLst/>
            </a:prstGeom>
            <a:ln w="25400" cap="flat" cmpd="sng">
              <a:solidFill>
                <a:schemeClr val="accent2"/>
              </a:solidFill>
              <a:prstDash val="solid"/>
              <a:round/>
              <a:headEnd type="none" w="med" len="med"/>
              <a:tailEnd type="none" w="med" len="med"/>
            </a:ln>
          </p:spPr>
        </p:sp>
        <p:sp>
          <p:nvSpPr>
            <p:cNvPr id="28782" name="直接连接符 302190"/>
            <p:cNvSpPr/>
            <p:nvPr/>
          </p:nvSpPr>
          <p:spPr>
            <a:xfrm flipV="1">
              <a:off x="3176" y="1720"/>
              <a:ext cx="248" cy="88"/>
            </a:xfrm>
            <a:prstGeom prst="line">
              <a:avLst/>
            </a:prstGeom>
            <a:ln w="25400" cap="flat" cmpd="sng">
              <a:solidFill>
                <a:schemeClr val="accent2"/>
              </a:solidFill>
              <a:prstDash val="solid"/>
              <a:round/>
              <a:headEnd type="none" w="med" len="med"/>
              <a:tailEnd type="none" w="med" len="med"/>
            </a:ln>
          </p:spPr>
        </p:sp>
        <p:sp>
          <p:nvSpPr>
            <p:cNvPr id="28783" name="直接连接符 302191"/>
            <p:cNvSpPr/>
            <p:nvPr/>
          </p:nvSpPr>
          <p:spPr>
            <a:xfrm>
              <a:off x="3776" y="1728"/>
              <a:ext cx="128" cy="0"/>
            </a:xfrm>
            <a:prstGeom prst="line">
              <a:avLst/>
            </a:prstGeom>
            <a:ln w="25400" cap="flat" cmpd="sng">
              <a:solidFill>
                <a:schemeClr val="accent2"/>
              </a:solidFill>
              <a:prstDash val="solid"/>
              <a:round/>
              <a:headEnd type="none" w="med" len="med"/>
              <a:tailEnd type="none" w="med" len="med"/>
            </a:ln>
          </p:spPr>
        </p:sp>
      </p:grpSp>
      <p:sp>
        <p:nvSpPr>
          <p:cNvPr id="28784" name="直接连接符 302192"/>
          <p:cNvSpPr/>
          <p:nvPr/>
        </p:nvSpPr>
        <p:spPr>
          <a:xfrm>
            <a:off x="7226300" y="1285875"/>
            <a:ext cx="0" cy="825500"/>
          </a:xfrm>
          <a:prstGeom prst="line">
            <a:avLst/>
          </a:prstGeom>
          <a:ln w="12700" cap="flat" cmpd="sng">
            <a:solidFill>
              <a:schemeClr val="tx1"/>
            </a:solidFill>
            <a:prstDash val="dash"/>
            <a:round/>
            <a:headEnd type="none" w="med" len="med"/>
            <a:tailEnd type="none" w="med" len="med"/>
          </a:ln>
        </p:spPr>
      </p:sp>
      <p:sp>
        <p:nvSpPr>
          <p:cNvPr id="28785" name="直接连接符 302193"/>
          <p:cNvSpPr/>
          <p:nvPr/>
        </p:nvSpPr>
        <p:spPr>
          <a:xfrm>
            <a:off x="1060450" y="1660525"/>
            <a:ext cx="596900" cy="0"/>
          </a:xfrm>
          <a:prstGeom prst="line">
            <a:avLst/>
          </a:prstGeom>
          <a:ln w="12700" cap="flat" cmpd="sng">
            <a:solidFill>
              <a:schemeClr val="tx1"/>
            </a:solidFill>
            <a:prstDash val="solid"/>
            <a:round/>
            <a:headEnd type="triangle" w="med" len="med"/>
            <a:tailEnd type="triangle" w="med" len="med"/>
          </a:ln>
        </p:spPr>
      </p:sp>
      <p:sp>
        <p:nvSpPr>
          <p:cNvPr id="28786" name="直接连接符 302194"/>
          <p:cNvSpPr/>
          <p:nvPr/>
        </p:nvSpPr>
        <p:spPr>
          <a:xfrm>
            <a:off x="1670050" y="1660525"/>
            <a:ext cx="520700" cy="0"/>
          </a:xfrm>
          <a:prstGeom prst="line">
            <a:avLst/>
          </a:prstGeom>
          <a:ln w="12700" cap="flat" cmpd="sng">
            <a:solidFill>
              <a:schemeClr val="tx1"/>
            </a:solidFill>
            <a:prstDash val="solid"/>
            <a:round/>
            <a:headEnd type="triangle" w="med" len="med"/>
            <a:tailEnd type="triangle" w="med" len="med"/>
          </a:ln>
        </p:spPr>
      </p:sp>
      <p:sp>
        <p:nvSpPr>
          <p:cNvPr id="28787" name="矩形 302195"/>
          <p:cNvSpPr/>
          <p:nvPr/>
        </p:nvSpPr>
        <p:spPr>
          <a:xfrm>
            <a:off x="976313" y="1279525"/>
            <a:ext cx="744537"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Setup</a:t>
            </a:r>
            <a:endParaRPr lang="en-US" altLang="zh-CN">
              <a:latin typeface="Arial" panose="020B0604020202020204" pitchFamily="34" charset="0"/>
              <a:ea typeface="宋体" panose="02010600030101010101" pitchFamily="2" charset="-122"/>
            </a:endParaRPr>
          </a:p>
        </p:txBody>
      </p:sp>
      <p:sp>
        <p:nvSpPr>
          <p:cNvPr id="28788" name="矩形 302196"/>
          <p:cNvSpPr/>
          <p:nvPr/>
        </p:nvSpPr>
        <p:spPr>
          <a:xfrm>
            <a:off x="1624013" y="1292225"/>
            <a:ext cx="631825"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Hold</a:t>
            </a:r>
            <a:endParaRPr lang="en-US" altLang="zh-CN">
              <a:latin typeface="Arial" panose="020B0604020202020204" pitchFamily="34" charset="0"/>
              <a:ea typeface="宋体" panose="02010600030101010101" pitchFamily="2" charset="-122"/>
            </a:endParaRPr>
          </a:p>
        </p:txBody>
      </p:sp>
      <p:sp>
        <p:nvSpPr>
          <p:cNvPr id="28789" name="直接连接符 302197"/>
          <p:cNvSpPr/>
          <p:nvPr/>
        </p:nvSpPr>
        <p:spPr>
          <a:xfrm>
            <a:off x="1663700" y="1285875"/>
            <a:ext cx="0" cy="825500"/>
          </a:xfrm>
          <a:prstGeom prst="line">
            <a:avLst/>
          </a:prstGeom>
          <a:ln w="12700" cap="flat" cmpd="sng">
            <a:solidFill>
              <a:schemeClr val="tx1"/>
            </a:solidFill>
            <a:prstDash val="dash"/>
            <a:round/>
            <a:headEnd type="none" w="med" len="med"/>
            <a:tailEnd type="none" w="med" len="med"/>
          </a:ln>
        </p:spPr>
      </p:sp>
      <p:sp>
        <p:nvSpPr>
          <p:cNvPr id="302199" name="文本框 302198"/>
          <p:cNvSpPr txBox="1"/>
          <p:nvPr/>
        </p:nvSpPr>
        <p:spPr>
          <a:xfrm>
            <a:off x="147638" y="4090988"/>
            <a:ext cx="8896350" cy="396875"/>
          </a:xfrm>
          <a:prstGeom prst="rect">
            <a:avLst/>
          </a:prstGeom>
          <a:noFill/>
          <a:ln w="50800">
            <a:noFill/>
          </a:ln>
        </p:spPr>
        <p:txBody>
          <a:bodyPr anchor="t" anchorCtr="0">
            <a:spAutoFit/>
          </a:bodyPr>
          <a:p>
            <a:pPr eaLnBrk="0" hangingPunct="0">
              <a:spcBef>
                <a:spcPct val="50000"/>
              </a:spcBef>
            </a:pPr>
            <a:r>
              <a:rPr lang="zh-CN" altLang="en-US" sz="2000" dirty="0">
                <a:solidFill>
                  <a:schemeClr val="accent1"/>
                </a:solidFill>
                <a:latin typeface="微软雅黑" panose="020B0503020204020204" pitchFamily="34" charset="-122"/>
                <a:ea typeface="微软雅黑" panose="020B0503020204020204" pitchFamily="34" charset="-122"/>
              </a:rPr>
              <a:t>数据通路由“ </a:t>
            </a:r>
            <a:r>
              <a:rPr lang="en-US" altLang="zh-CN" sz="2000">
                <a:solidFill>
                  <a:schemeClr val="accent1"/>
                </a:solidFill>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状态元件</a:t>
            </a:r>
            <a:r>
              <a:rPr lang="zh-CN" altLang="en-US" sz="2000" dirty="0">
                <a:solidFill>
                  <a:schemeClr val="accent1"/>
                </a:solidFill>
                <a:latin typeface="微软雅黑" panose="020B0503020204020204" pitchFamily="34" charset="-122"/>
                <a:ea typeface="微软雅黑" panose="020B0503020204020204" pitchFamily="34" charset="-122"/>
              </a:rPr>
              <a:t> </a:t>
            </a:r>
            <a:r>
              <a:rPr lang="en-US" altLang="zh-CN" sz="2000">
                <a:solidFill>
                  <a:schemeClr val="accent1"/>
                </a:solidFill>
                <a:latin typeface="微软雅黑" panose="020B0503020204020204" pitchFamily="34" charset="-122"/>
                <a:ea typeface="微软雅黑" panose="020B0503020204020204" pitchFamily="34" charset="-122"/>
              </a:rPr>
              <a:t>+ </a:t>
            </a:r>
            <a:r>
              <a:rPr lang="zh-CN" altLang="en-US" sz="2000" dirty="0">
                <a:solidFill>
                  <a:srgbClr val="339933"/>
                </a:solidFill>
                <a:latin typeface="微软雅黑" panose="020B0503020204020204" pitchFamily="34" charset="-122"/>
                <a:ea typeface="微软雅黑" panose="020B0503020204020204" pitchFamily="34" charset="-122"/>
              </a:rPr>
              <a:t>操作元件</a:t>
            </a:r>
            <a:r>
              <a:rPr lang="en-US" altLang="zh-CN" sz="2000">
                <a:solidFill>
                  <a:srgbClr val="339933"/>
                </a:solidFill>
                <a:latin typeface="微软雅黑" panose="020B0503020204020204" pitchFamily="34" charset="-122"/>
                <a:ea typeface="微软雅黑" panose="020B0503020204020204" pitchFamily="34" charset="-122"/>
              </a:rPr>
              <a:t>( </a:t>
            </a:r>
            <a:r>
              <a:rPr lang="zh-CN" altLang="en-US" sz="2000" dirty="0">
                <a:solidFill>
                  <a:srgbClr val="339933"/>
                </a:solidFill>
                <a:latin typeface="微软雅黑" panose="020B0503020204020204" pitchFamily="34" charset="-122"/>
                <a:ea typeface="微软雅黑" panose="020B0503020204020204" pitchFamily="34" charset="-122"/>
              </a:rPr>
              <a:t>组合电路</a:t>
            </a:r>
            <a:r>
              <a:rPr lang="en-US" altLang="zh-CN" sz="2000">
                <a:solidFill>
                  <a:srgbClr val="339933"/>
                </a:solidFill>
                <a:latin typeface="微软雅黑" panose="020B0503020204020204" pitchFamily="34" charset="-122"/>
                <a:ea typeface="微软雅黑" panose="020B0503020204020204" pitchFamily="34" charset="-122"/>
              </a:rPr>
              <a:t>)</a:t>
            </a:r>
            <a:r>
              <a:rPr lang="en-US" altLang="zh-CN" sz="2000">
                <a:solidFill>
                  <a:schemeClr val="accent1"/>
                </a:solidFill>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状态元件</a:t>
            </a:r>
            <a:r>
              <a:rPr lang="zh-CN" altLang="en-US" sz="2000" dirty="0">
                <a:solidFill>
                  <a:schemeClr val="accent1"/>
                </a:solidFill>
                <a:latin typeface="微软雅黑" panose="020B0503020204020204" pitchFamily="34" charset="-122"/>
                <a:ea typeface="微软雅黑" panose="020B0503020204020204" pitchFamily="34" charset="-122"/>
              </a:rPr>
              <a:t> </a:t>
            </a:r>
            <a:r>
              <a:rPr lang="en-US" altLang="zh-CN" sz="2000">
                <a:solidFill>
                  <a:schemeClr val="accent1"/>
                </a:solidFill>
                <a:latin typeface="微软雅黑" panose="020B0503020204020204" pitchFamily="34" charset="-122"/>
                <a:ea typeface="微软雅黑" panose="020B0503020204020204" pitchFamily="34" charset="-122"/>
              </a:rPr>
              <a:t>+ …</a:t>
            </a:r>
            <a:r>
              <a:rPr lang="zh-CN" altLang="en-US" sz="2000" dirty="0">
                <a:solidFill>
                  <a:schemeClr val="accent1"/>
                </a:solidFill>
                <a:latin typeface="微软雅黑" panose="020B0503020204020204" pitchFamily="34" charset="-122"/>
                <a:ea typeface="微软雅黑" panose="020B0503020204020204" pitchFamily="34" charset="-122"/>
              </a:rPr>
              <a:t>” 组成</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302200" name="文本框 302199"/>
          <p:cNvSpPr txBox="1"/>
          <p:nvPr/>
        </p:nvSpPr>
        <p:spPr>
          <a:xfrm>
            <a:off x="225425" y="4556125"/>
            <a:ext cx="8448675" cy="946150"/>
          </a:xfrm>
          <a:prstGeom prst="rect">
            <a:avLst/>
          </a:prstGeom>
          <a:noFill/>
          <a:ln w="50800">
            <a:noFill/>
          </a:ln>
        </p:spPr>
        <p:txBody>
          <a:bodyPr anchor="t" anchorCtr="0">
            <a:spAutoFit/>
          </a:bodyPr>
          <a:p>
            <a:pPr eaLnBrk="0" hangingPunct="0">
              <a:lnSpc>
                <a:spcPct val="140000"/>
              </a:lnSpc>
              <a:spcBef>
                <a:spcPct val="50000"/>
              </a:spcBef>
            </a:pPr>
            <a:r>
              <a:rPr lang="zh-CN" altLang="en-US" sz="2000" dirty="0">
                <a:solidFill>
                  <a:schemeClr val="accent2"/>
                </a:solidFill>
                <a:latin typeface="Arial" panose="020B0604020202020204" pitchFamily="34" charset="0"/>
                <a:ea typeface="微软雅黑" panose="020B0503020204020204" pitchFamily="34" charset="-122"/>
              </a:rPr>
              <a:t>只有状态元件能存储信息，操作元件须从状态元件接收输入，并将输出写入状态元件。其输入为前一时钟生成的数据，输出为当前时钟所用的数据</a:t>
            </a:r>
            <a:endParaRPr lang="zh-CN" altLang="en-US" sz="2000" dirty="0">
              <a:solidFill>
                <a:schemeClr val="accent2"/>
              </a:solidFill>
              <a:latin typeface="Arial" panose="020B0604020202020204" pitchFamily="34" charset="0"/>
              <a:ea typeface="微软雅黑" panose="020B0503020204020204" pitchFamily="34" charset="-122"/>
            </a:endParaRPr>
          </a:p>
        </p:txBody>
      </p:sp>
      <p:sp>
        <p:nvSpPr>
          <p:cNvPr id="28792" name="文本框 302201"/>
          <p:cNvSpPr txBox="1"/>
          <p:nvPr/>
        </p:nvSpPr>
        <p:spPr>
          <a:xfrm>
            <a:off x="7354888" y="84138"/>
            <a:ext cx="1731962" cy="822325"/>
          </a:xfrm>
          <a:prstGeom prst="rect">
            <a:avLst/>
          </a:prstGeom>
          <a:solidFill>
            <a:schemeClr val="bg1"/>
          </a:solidFill>
          <a:ln w="50800">
            <a:noFill/>
          </a:ln>
        </p:spPr>
        <p:txBody>
          <a:bodyPr anchor="t" anchorCtr="0">
            <a:spAutoFit/>
          </a:bodyPr>
          <a:p>
            <a:pPr eaLnBrk="0" hangingPunct="0">
              <a:spcBef>
                <a:spcPct val="50000"/>
              </a:spcBef>
              <a:buFont typeface="Times New Roman" panose="02020603050405020304" pitchFamily="18" charset="0"/>
            </a:pPr>
            <a:r>
              <a:rPr lang="zh-CN" altLang="en-US" sz="2400" dirty="0">
                <a:solidFill>
                  <a:schemeClr val="accent1"/>
                </a:solidFill>
                <a:latin typeface="Times New Roman" panose="02020603050405020304" pitchFamily="18" charset="0"/>
                <a:ea typeface="黑体" panose="02010609060101010101" pitchFamily="49" charset="-122"/>
              </a:rPr>
              <a:t>现代计算机的时钟周期</a:t>
            </a:r>
            <a:endParaRPr lang="zh-CN" altLang="en-US" sz="2400" dirty="0">
              <a:solidFill>
                <a:schemeClr val="accent1"/>
              </a:solidFill>
              <a:latin typeface="Times New Roman" panose="02020603050405020304" pitchFamily="18" charset="0"/>
              <a:ea typeface="黑体" panose="02010609060101010101" pitchFamily="49" charset="-122"/>
            </a:endParaRPr>
          </a:p>
        </p:txBody>
      </p:sp>
      <p:sp>
        <p:nvSpPr>
          <p:cNvPr id="28793" name="文本框 302202"/>
          <p:cNvSpPr txBox="1"/>
          <p:nvPr/>
        </p:nvSpPr>
        <p:spPr>
          <a:xfrm>
            <a:off x="1635125" y="3736975"/>
            <a:ext cx="571500" cy="336550"/>
          </a:xfrm>
          <a:prstGeom prst="rect">
            <a:avLst/>
          </a:prstGeom>
          <a:noFill/>
          <a:ln w="50800">
            <a:noFill/>
          </a:ln>
        </p:spPr>
        <p:txBody>
          <a:bodyPr anchor="t" anchorCtr="0">
            <a:spAutoFit/>
          </a:bodyPr>
          <a:p>
            <a:pPr eaLnBrk="0" hangingPunct="0">
              <a:spcBef>
                <a:spcPct val="50000"/>
              </a:spcBef>
            </a:pPr>
            <a:r>
              <a:rPr lang="en-US" altLang="zh-CN" err="1">
                <a:latin typeface="Arial" panose="020B0604020202020204" pitchFamily="34" charset="0"/>
                <a:ea typeface="宋体" panose="02010600030101010101" pitchFamily="2" charset="-122"/>
              </a:rPr>
              <a:t>Clk</a:t>
            </a:r>
            <a:endParaRPr lang="en-US" altLang="zh-CN">
              <a:latin typeface="Arial" panose="020B0604020202020204" pitchFamily="34" charset="0"/>
              <a:ea typeface="宋体" panose="02010600030101010101" pitchFamily="2" charset="-122"/>
            </a:endParaRPr>
          </a:p>
        </p:txBody>
      </p:sp>
      <p:sp>
        <p:nvSpPr>
          <p:cNvPr id="28794" name="文本框 302203"/>
          <p:cNvSpPr txBox="1"/>
          <p:nvPr/>
        </p:nvSpPr>
        <p:spPr>
          <a:xfrm>
            <a:off x="7186613" y="3716338"/>
            <a:ext cx="571500" cy="336550"/>
          </a:xfrm>
          <a:prstGeom prst="rect">
            <a:avLst/>
          </a:prstGeom>
          <a:noFill/>
          <a:ln w="50800">
            <a:noFill/>
          </a:ln>
        </p:spPr>
        <p:txBody>
          <a:bodyPr anchor="t" anchorCtr="0">
            <a:spAutoFit/>
          </a:bodyPr>
          <a:p>
            <a:pPr eaLnBrk="0" hangingPunct="0">
              <a:spcBef>
                <a:spcPct val="50000"/>
              </a:spcBef>
            </a:pPr>
            <a:r>
              <a:rPr lang="en-US" altLang="zh-CN" err="1">
                <a:latin typeface="Arial" panose="020B0604020202020204" pitchFamily="34" charset="0"/>
                <a:ea typeface="宋体" panose="02010600030101010101" pitchFamily="2" charset="-122"/>
              </a:rPr>
              <a:t>Clk</a:t>
            </a:r>
            <a:endParaRPr lang="en-US" altLang="zh-CN">
              <a:latin typeface="Arial" panose="020B0604020202020204" pitchFamily="34" charset="0"/>
              <a:ea typeface="宋体" panose="02010600030101010101" pitchFamily="2" charset="-122"/>
            </a:endParaRPr>
          </a:p>
        </p:txBody>
      </p:sp>
      <p:sp>
        <p:nvSpPr>
          <p:cNvPr id="28795" name="矩形 302205"/>
          <p:cNvSpPr/>
          <p:nvPr/>
        </p:nvSpPr>
        <p:spPr>
          <a:xfrm>
            <a:off x="373063" y="5711825"/>
            <a:ext cx="7937500" cy="396875"/>
          </a:xfrm>
          <a:prstGeom prst="rect">
            <a:avLst/>
          </a:prstGeom>
          <a:noFill/>
          <a:ln w="50800">
            <a:noFill/>
          </a:ln>
        </p:spPr>
        <p:txBody>
          <a:bodyPr wrap="none" anchor="ctr" anchorCtr="0">
            <a:spAutoFit/>
          </a:bodyPr>
          <a:p>
            <a:pPr algn="ctr" eaLnBrk="0" hangingPunct="0"/>
            <a:r>
              <a:rPr lang="en-US" altLang="zh-CN" sz="2000">
                <a:latin typeface="微软雅黑" panose="020B0503020204020204" pitchFamily="34" charset="-122"/>
                <a:ea typeface="微软雅黑" panose="020B0503020204020204" pitchFamily="34" charset="-122"/>
              </a:rPr>
              <a:t>Cycle Time = </a:t>
            </a:r>
            <a:r>
              <a:rPr lang="en-US" altLang="zh-CN" sz="2000" err="1">
                <a:latin typeface="微软雅黑" panose="020B0503020204020204" pitchFamily="34" charset="-122"/>
                <a:ea typeface="微软雅黑" panose="020B0503020204020204" pitchFamily="34" charset="-122"/>
              </a:rPr>
              <a:t>Clk</a:t>
            </a:r>
            <a:r>
              <a:rPr lang="en-US" altLang="zh-CN" sz="2000">
                <a:latin typeface="微软雅黑" panose="020B0503020204020204" pitchFamily="34" charset="-122"/>
                <a:ea typeface="微软雅黑" panose="020B0503020204020204" pitchFamily="34" charset="-122"/>
              </a:rPr>
              <a:t>-to-Q</a:t>
            </a:r>
            <a:r>
              <a:rPr lang="zh-CN" altLang="en-US" sz="2000" dirty="0">
                <a:latin typeface="微软雅黑" panose="020B0503020204020204" pitchFamily="34" charset="-122"/>
                <a:ea typeface="微软雅黑" panose="020B0503020204020204" pitchFamily="34" charset="-122"/>
              </a:rPr>
              <a:t>时间</a:t>
            </a:r>
            <a:r>
              <a:rPr lang="en-US" altLang="zh-CN" sz="2000">
                <a:latin typeface="微软雅黑" panose="020B0503020204020204" pitchFamily="34" charset="-122"/>
                <a:ea typeface="微软雅黑" panose="020B0503020204020204" pitchFamily="34" charset="-122"/>
              </a:rPr>
              <a:t>+Longest Delay+</a:t>
            </a:r>
            <a:r>
              <a:rPr lang="zh-CN" altLang="en-US" sz="2000" dirty="0">
                <a:latin typeface="微软雅黑" panose="020B0503020204020204" pitchFamily="34" charset="-122"/>
                <a:ea typeface="微软雅黑" panose="020B0503020204020204" pitchFamily="34" charset="-122"/>
              </a:rPr>
              <a:t>建立时间</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时钟偏移</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2199"/>
                                        </p:tgtEl>
                                        <p:attrNameLst>
                                          <p:attrName>style.visibility</p:attrName>
                                        </p:attrNameLst>
                                      </p:cBhvr>
                                      <p:to>
                                        <p:strVal val="visible"/>
                                      </p:to>
                                    </p:set>
                                    <p:animEffect transition="in" filter="blinds(horizontal)">
                                      <p:cBhvr>
                                        <p:cTn id="7" dur="500"/>
                                        <p:tgtEl>
                                          <p:spTgt spid="3021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2200">
                                            <p:txEl>
                                              <p:charRg st="0" end="65"/>
                                            </p:txEl>
                                          </p:spTgt>
                                        </p:tgtEl>
                                        <p:attrNameLst>
                                          <p:attrName>style.visibility</p:attrName>
                                        </p:attrNameLst>
                                      </p:cBhvr>
                                      <p:to>
                                        <p:strVal val="visible"/>
                                      </p:to>
                                    </p:set>
                                    <p:animEffect transition="in" filter="blinds(horizontal)">
                                      <p:cBhvr>
                                        <p:cTn id="12" dur="500"/>
                                        <p:tgtEl>
                                          <p:spTgt spid="302200">
                                            <p:txEl>
                                              <p:charRg st="0" end="6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199" grpId="0"/>
      <p:bldP spid="302200" grpId="0" build="allAtOnce"/>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89441"/>
          <p:cNvSpPr>
            <a:spLocks noGrp="1"/>
          </p:cNvSpPr>
          <p:nvPr>
            <p:ph type="title"/>
          </p:nvPr>
        </p:nvSpPr>
        <p:spPr>
          <a:xfrm>
            <a:off x="444500" y="203200"/>
            <a:ext cx="6989763" cy="531813"/>
          </a:xfrm>
          <a:ln/>
        </p:spPr>
        <p:txBody>
          <a:bodyPr vert="horz" wrap="square" lIns="63500" tIns="25400" rIns="63500" bIns="25400" anchor="t" anchorCtr="0">
            <a:spAutoFit/>
          </a:bodyPr>
          <a:p>
            <a:r>
              <a:rPr lang="zh-CN" altLang="en-US" dirty="0">
                <a:latin typeface="黑体" panose="02010609060101010101" pitchFamily="49" charset="-122"/>
              </a:rPr>
              <a:t>存储元件</a:t>
            </a:r>
            <a:r>
              <a:rPr lang="en-US" altLang="zh-CN">
                <a:latin typeface="黑体" panose="02010609060101010101" pitchFamily="49" charset="-122"/>
              </a:rPr>
              <a:t>: </a:t>
            </a:r>
            <a:r>
              <a:rPr lang="zh-CN" altLang="en-US" dirty="0">
                <a:latin typeface="黑体" panose="02010609060101010101" pitchFamily="49" charset="-122"/>
              </a:rPr>
              <a:t>寄存器和寄存器组</a:t>
            </a:r>
            <a:endParaRPr lang="en-US" altLang="zh-CN" sz="1800">
              <a:latin typeface="黑体" panose="02010609060101010101" pitchFamily="49" charset="-122"/>
            </a:endParaRPr>
          </a:p>
        </p:txBody>
      </p:sp>
      <p:sp>
        <p:nvSpPr>
          <p:cNvPr id="189443" name="内容占位符 189442"/>
          <p:cNvSpPr>
            <a:spLocks noGrp="1"/>
          </p:cNvSpPr>
          <p:nvPr>
            <p:ph idx="1"/>
          </p:nvPr>
        </p:nvSpPr>
        <p:spPr>
          <a:xfrm>
            <a:off x="63500" y="663575"/>
            <a:ext cx="5427663" cy="5426075"/>
          </a:xfrm>
          <a:ln/>
        </p:spPr>
        <p:txBody>
          <a:bodyPr vert="horz" wrap="square" lIns="63500" tIns="25400" rIns="63500" bIns="25400" anchor="t" anchorCtr="0">
            <a:spAutoFit/>
          </a:bodyPr>
          <a:p>
            <a:pPr>
              <a:lnSpc>
                <a:spcPct val="125000"/>
              </a:lnSpc>
              <a:spcBef>
                <a:spcPct val="20000"/>
              </a:spcBef>
            </a:pPr>
            <a:r>
              <a:rPr lang="zh-CN" altLang="en-US" sz="2000" b="0" dirty="0">
                <a:solidFill>
                  <a:srgbClr val="CC0000"/>
                </a:solidFill>
                <a:ea typeface="黑体" panose="02010609060101010101" pitchFamily="49" charset="-122"/>
              </a:rPr>
              <a:t>寄存器（</a:t>
            </a:r>
            <a:r>
              <a:rPr lang="en-US" altLang="zh-CN" sz="2000" b="0">
                <a:solidFill>
                  <a:srgbClr val="CC0000"/>
                </a:solidFill>
                <a:ea typeface="黑体" panose="02010609060101010101" pitchFamily="49" charset="-122"/>
              </a:rPr>
              <a:t>Register</a:t>
            </a:r>
            <a:r>
              <a:rPr lang="zh-CN" altLang="en-US" sz="2000" b="0" dirty="0">
                <a:solidFill>
                  <a:srgbClr val="CC0000"/>
                </a:solidFill>
                <a:ea typeface="黑体" panose="02010609060101010101" pitchFamily="49" charset="-122"/>
              </a:rPr>
              <a:t>）</a:t>
            </a:r>
            <a:endParaRPr lang="zh-CN" altLang="en-US" sz="2000" b="0" dirty="0">
              <a:solidFill>
                <a:srgbClr val="CC0000"/>
              </a:solidFill>
              <a:ea typeface="黑体" panose="02010609060101010101" pitchFamily="49" charset="-122"/>
            </a:endParaRPr>
          </a:p>
          <a:p>
            <a:pPr lvl="1">
              <a:lnSpc>
                <a:spcPct val="125000"/>
              </a:lnSpc>
              <a:spcBef>
                <a:spcPct val="20000"/>
              </a:spcBef>
            </a:pPr>
            <a:r>
              <a:rPr lang="zh-CN" altLang="en-US" sz="2000" b="0" dirty="0">
                <a:ea typeface="黑体" panose="02010609060101010101" pitchFamily="49" charset="-122"/>
              </a:rPr>
              <a:t>有一个写使能（</a:t>
            </a:r>
            <a:r>
              <a:rPr lang="en-US" altLang="zh-CN" sz="2000" b="0">
                <a:ea typeface="黑体" panose="02010609060101010101" pitchFamily="49" charset="-122"/>
              </a:rPr>
              <a:t>Write Enable-WE</a:t>
            </a:r>
            <a:r>
              <a:rPr lang="zh-CN" altLang="en-US" sz="2000" b="0" dirty="0">
                <a:ea typeface="黑体" panose="02010609060101010101" pitchFamily="49" charset="-122"/>
              </a:rPr>
              <a:t>）信号</a:t>
            </a:r>
            <a:endParaRPr lang="zh-CN" altLang="en-US" sz="2000" b="0" dirty="0">
              <a:ea typeface="黑体" panose="02010609060101010101" pitchFamily="49" charset="-122"/>
            </a:endParaRPr>
          </a:p>
          <a:p>
            <a:pPr lvl="1">
              <a:lnSpc>
                <a:spcPct val="125000"/>
              </a:lnSpc>
              <a:spcBef>
                <a:spcPct val="20000"/>
              </a:spcBef>
              <a:buNone/>
            </a:pPr>
            <a:r>
              <a:rPr lang="en-US" altLang="zh-CN" sz="2000" b="0">
                <a:solidFill>
                  <a:srgbClr val="006600"/>
                </a:solidFill>
                <a:ea typeface="黑体" panose="02010609060101010101" pitchFamily="49" charset="-122"/>
              </a:rPr>
              <a:t>	 0: </a:t>
            </a:r>
            <a:r>
              <a:rPr lang="zh-CN" altLang="en-US" sz="2000" b="0" dirty="0">
                <a:solidFill>
                  <a:srgbClr val="006600"/>
                </a:solidFill>
                <a:ea typeface="黑体" panose="02010609060101010101" pitchFamily="49" charset="-122"/>
              </a:rPr>
              <a:t>时钟边沿到来时，输出不变</a:t>
            </a:r>
            <a:endParaRPr lang="zh-CN" altLang="en-US" sz="2000" b="0" dirty="0">
              <a:solidFill>
                <a:srgbClr val="006600"/>
              </a:solidFill>
              <a:ea typeface="黑体" panose="02010609060101010101" pitchFamily="49" charset="-122"/>
            </a:endParaRPr>
          </a:p>
          <a:p>
            <a:pPr lvl="1">
              <a:lnSpc>
                <a:spcPct val="125000"/>
              </a:lnSpc>
              <a:spcBef>
                <a:spcPct val="20000"/>
              </a:spcBef>
              <a:buNone/>
            </a:pPr>
            <a:r>
              <a:rPr lang="en-US" altLang="zh-CN" sz="2000" b="0">
                <a:solidFill>
                  <a:srgbClr val="339933"/>
                </a:solidFill>
                <a:ea typeface="黑体" panose="02010609060101010101" pitchFamily="49" charset="-122"/>
              </a:rPr>
              <a:t>	 </a:t>
            </a:r>
            <a:r>
              <a:rPr lang="en-US" altLang="zh-CN" sz="2000" b="0">
                <a:solidFill>
                  <a:srgbClr val="006600"/>
                </a:solidFill>
                <a:ea typeface="黑体" panose="02010609060101010101" pitchFamily="49" charset="-122"/>
              </a:rPr>
              <a:t>1: </a:t>
            </a:r>
            <a:r>
              <a:rPr lang="zh-CN" altLang="en-US" sz="2000" b="0" dirty="0">
                <a:solidFill>
                  <a:srgbClr val="006600"/>
                </a:solidFill>
                <a:ea typeface="黑体" panose="02010609060101010101" pitchFamily="49" charset="-122"/>
              </a:rPr>
              <a:t>时钟边沿到来时，输出开始变为输入</a:t>
            </a:r>
            <a:endParaRPr lang="zh-CN" altLang="en-US" sz="2000" b="0" dirty="0">
              <a:solidFill>
                <a:srgbClr val="006600"/>
              </a:solidFill>
              <a:ea typeface="黑体" panose="02010609060101010101" pitchFamily="49" charset="-122"/>
            </a:endParaRPr>
          </a:p>
          <a:p>
            <a:pPr lvl="1">
              <a:lnSpc>
                <a:spcPct val="125000"/>
              </a:lnSpc>
              <a:spcBef>
                <a:spcPct val="20000"/>
              </a:spcBef>
            </a:pPr>
            <a:r>
              <a:rPr lang="zh-CN" altLang="en-US" sz="2000" b="0" dirty="0">
                <a:solidFill>
                  <a:srgbClr val="006600"/>
                </a:solidFill>
                <a:ea typeface="黑体" panose="02010609060101010101" pitchFamily="49" charset="-122"/>
              </a:rPr>
              <a:t>若每个时钟边沿都写入，则不需</a:t>
            </a:r>
            <a:r>
              <a:rPr lang="en-US" altLang="zh-CN" sz="2000" b="0">
                <a:solidFill>
                  <a:srgbClr val="006600"/>
                </a:solidFill>
                <a:ea typeface="黑体" panose="02010609060101010101" pitchFamily="49" charset="-122"/>
              </a:rPr>
              <a:t>WE</a:t>
            </a:r>
            <a:r>
              <a:rPr lang="zh-CN" altLang="en-US" sz="2000" b="0" dirty="0">
                <a:solidFill>
                  <a:srgbClr val="006600"/>
                </a:solidFill>
                <a:ea typeface="黑体" panose="02010609060101010101" pitchFamily="49" charset="-122"/>
              </a:rPr>
              <a:t>信号</a:t>
            </a:r>
            <a:endParaRPr lang="zh-CN" altLang="en-US" sz="2000" b="0" dirty="0">
              <a:solidFill>
                <a:srgbClr val="006600"/>
              </a:solidFill>
              <a:ea typeface="黑体" panose="02010609060101010101" pitchFamily="49" charset="-122"/>
            </a:endParaRPr>
          </a:p>
          <a:p>
            <a:pPr>
              <a:lnSpc>
                <a:spcPct val="125000"/>
              </a:lnSpc>
              <a:spcBef>
                <a:spcPct val="20000"/>
              </a:spcBef>
            </a:pPr>
            <a:r>
              <a:rPr lang="zh-CN" altLang="en-US" sz="2000" b="0" dirty="0">
                <a:solidFill>
                  <a:srgbClr val="CC0000"/>
                </a:solidFill>
                <a:ea typeface="黑体" panose="02010609060101010101" pitchFamily="49" charset="-122"/>
              </a:rPr>
              <a:t>寄存器组（</a:t>
            </a:r>
            <a:r>
              <a:rPr lang="en-US" altLang="zh-CN" sz="2000" b="0">
                <a:solidFill>
                  <a:srgbClr val="CC0000"/>
                </a:solidFill>
                <a:ea typeface="黑体" panose="02010609060101010101" pitchFamily="49" charset="-122"/>
              </a:rPr>
              <a:t>Register File</a:t>
            </a:r>
            <a:r>
              <a:rPr lang="zh-CN" altLang="en-US" sz="2000" b="0" dirty="0">
                <a:solidFill>
                  <a:srgbClr val="CC0000"/>
                </a:solidFill>
                <a:ea typeface="黑体" panose="02010609060101010101" pitchFamily="49" charset="-122"/>
              </a:rPr>
              <a:t>）</a:t>
            </a:r>
            <a:endParaRPr lang="zh-CN" altLang="en-US" sz="2000" b="0" dirty="0">
              <a:solidFill>
                <a:srgbClr val="CC0000"/>
              </a:solidFill>
              <a:ea typeface="黑体" panose="02010609060101010101" pitchFamily="49" charset="-122"/>
            </a:endParaRPr>
          </a:p>
          <a:p>
            <a:pPr lvl="1">
              <a:lnSpc>
                <a:spcPct val="125000"/>
              </a:lnSpc>
              <a:spcBef>
                <a:spcPct val="20000"/>
              </a:spcBef>
            </a:pPr>
            <a:r>
              <a:rPr lang="zh-CN" altLang="en-US" sz="2000" b="0" dirty="0">
                <a:solidFill>
                  <a:srgbClr val="0000FF"/>
                </a:solidFill>
                <a:ea typeface="黑体" panose="02010609060101010101" pitchFamily="49" charset="-122"/>
              </a:rPr>
              <a:t>两个读口（</a:t>
            </a:r>
            <a:r>
              <a:rPr lang="zh-CN" altLang="en-US" sz="2000" b="0" dirty="0">
                <a:solidFill>
                  <a:srgbClr val="006600"/>
                </a:solidFill>
                <a:ea typeface="黑体" panose="02010609060101010101" pitchFamily="49" charset="-122"/>
              </a:rPr>
              <a:t>组合逻辑操作</a:t>
            </a:r>
            <a:r>
              <a:rPr lang="zh-CN" altLang="en-US" sz="2000" b="0" dirty="0">
                <a:solidFill>
                  <a:srgbClr val="0000FF"/>
                </a:solidFill>
                <a:ea typeface="黑体" panose="02010609060101010101" pitchFamily="49" charset="-122"/>
              </a:rPr>
              <a:t>）：</a:t>
            </a:r>
            <a:r>
              <a:rPr lang="en-US" altLang="zh-CN" sz="2000" b="0" dirty="0" err="1">
                <a:ea typeface="黑体" panose="02010609060101010101" pitchFamily="49" charset="-122"/>
              </a:rPr>
              <a:t>busA</a:t>
            </a:r>
            <a:r>
              <a:rPr lang="zh-CN" altLang="en-US" sz="2000" b="0" dirty="0">
                <a:ea typeface="黑体" panose="02010609060101010101" pitchFamily="49" charset="-122"/>
              </a:rPr>
              <a:t>和</a:t>
            </a:r>
            <a:r>
              <a:rPr lang="en-US" altLang="zh-CN" sz="2000" b="0" dirty="0" err="1">
                <a:ea typeface="黑体" panose="02010609060101010101" pitchFamily="49" charset="-122"/>
              </a:rPr>
              <a:t>busB</a:t>
            </a:r>
            <a:r>
              <a:rPr lang="zh-CN" altLang="en-US" sz="2000" b="0" dirty="0">
                <a:ea typeface="黑体" panose="02010609060101010101" pitchFamily="49" charset="-122"/>
              </a:rPr>
              <a:t>分别由</a:t>
            </a:r>
            <a:r>
              <a:rPr lang="en-US" altLang="zh-CN" sz="2000" b="0">
                <a:ea typeface="黑体" panose="02010609060101010101" pitchFamily="49" charset="-122"/>
              </a:rPr>
              <a:t>RA</a:t>
            </a:r>
            <a:r>
              <a:rPr lang="zh-CN" altLang="en-US" sz="2000" b="0" dirty="0">
                <a:ea typeface="黑体" panose="02010609060101010101" pitchFamily="49" charset="-122"/>
              </a:rPr>
              <a:t>和</a:t>
            </a:r>
            <a:r>
              <a:rPr lang="en-US" altLang="zh-CN" sz="2000" b="0">
                <a:ea typeface="黑体" panose="02010609060101010101" pitchFamily="49" charset="-122"/>
              </a:rPr>
              <a:t>RB</a:t>
            </a:r>
            <a:r>
              <a:rPr lang="zh-CN" altLang="en-US" sz="2000" b="0" dirty="0">
                <a:ea typeface="黑体" panose="02010609060101010101" pitchFamily="49" charset="-122"/>
              </a:rPr>
              <a:t>给出地址。地址</a:t>
            </a:r>
            <a:r>
              <a:rPr lang="en-US" altLang="zh-CN" sz="2000" b="0">
                <a:ea typeface="黑体" panose="02010609060101010101" pitchFamily="49" charset="-122"/>
              </a:rPr>
              <a:t>RA</a:t>
            </a:r>
            <a:r>
              <a:rPr lang="zh-CN" altLang="en-US" sz="2000" b="0" dirty="0">
                <a:ea typeface="黑体" panose="02010609060101010101" pitchFamily="49" charset="-122"/>
              </a:rPr>
              <a:t>或</a:t>
            </a:r>
            <a:r>
              <a:rPr lang="en-US" altLang="zh-CN" sz="2000" b="0">
                <a:ea typeface="黑体" panose="02010609060101010101" pitchFamily="49" charset="-122"/>
              </a:rPr>
              <a:t>RB</a:t>
            </a:r>
            <a:r>
              <a:rPr lang="zh-CN" altLang="en-US" sz="2000" b="0" dirty="0">
                <a:ea typeface="黑体" panose="02010609060101010101" pitchFamily="49" charset="-122"/>
              </a:rPr>
              <a:t>有效后，经一个</a:t>
            </a:r>
            <a:r>
              <a:rPr lang="en-US" altLang="zh-CN" sz="2000" b="0">
                <a:ea typeface="黑体" panose="02010609060101010101" pitchFamily="49" charset="-122"/>
              </a:rPr>
              <a:t>“</a:t>
            </a:r>
            <a:r>
              <a:rPr lang="zh-CN" altLang="en-US" sz="2000" b="0" dirty="0">
                <a:ea typeface="黑体" panose="02010609060101010101" pitchFamily="49" charset="-122"/>
              </a:rPr>
              <a:t>取数时间</a:t>
            </a:r>
            <a:r>
              <a:rPr lang="en-US" altLang="zh-CN" sz="2000" b="0">
                <a:ea typeface="黑体" panose="02010609060101010101" pitchFamily="49" charset="-122"/>
              </a:rPr>
              <a:t>(</a:t>
            </a:r>
            <a:r>
              <a:rPr lang="en-US" altLang="zh-CN" sz="2000" b="0" dirty="0" err="1">
                <a:ea typeface="黑体" panose="02010609060101010101" pitchFamily="49" charset="-122"/>
              </a:rPr>
              <a:t>AccessTime</a:t>
            </a:r>
            <a:r>
              <a:rPr lang="en-US" altLang="zh-CN" sz="2000" b="0">
                <a:ea typeface="黑体" panose="02010609060101010101" pitchFamily="49" charset="-122"/>
              </a:rPr>
              <a:t>)”</a:t>
            </a:r>
            <a:r>
              <a:rPr lang="zh-CN" altLang="en-US" sz="2000" b="0" dirty="0">
                <a:ea typeface="黑体" panose="02010609060101010101" pitchFamily="49" charset="-122"/>
              </a:rPr>
              <a:t>，</a:t>
            </a:r>
            <a:r>
              <a:rPr lang="en-US" altLang="zh-CN" sz="2000" b="0" dirty="0" err="1">
                <a:ea typeface="黑体" panose="02010609060101010101" pitchFamily="49" charset="-122"/>
              </a:rPr>
              <a:t>busA</a:t>
            </a:r>
            <a:r>
              <a:rPr lang="zh-CN" altLang="en-US" sz="2000" b="0" dirty="0">
                <a:ea typeface="黑体" panose="02010609060101010101" pitchFamily="49" charset="-122"/>
              </a:rPr>
              <a:t>和</a:t>
            </a:r>
            <a:r>
              <a:rPr lang="en-US" altLang="zh-CN" sz="2000" b="0" dirty="0" err="1">
                <a:ea typeface="黑体" panose="02010609060101010101" pitchFamily="49" charset="-122"/>
              </a:rPr>
              <a:t>busB</a:t>
            </a:r>
            <a:r>
              <a:rPr lang="zh-CN" altLang="en-US" sz="2000" b="0" dirty="0">
                <a:ea typeface="黑体" panose="02010609060101010101" pitchFamily="49" charset="-122"/>
              </a:rPr>
              <a:t>有效。</a:t>
            </a:r>
            <a:endParaRPr lang="zh-CN" altLang="en-US" sz="2000" b="0" dirty="0">
              <a:ea typeface="黑体" panose="02010609060101010101" pitchFamily="49" charset="-122"/>
            </a:endParaRPr>
          </a:p>
          <a:p>
            <a:pPr lvl="1">
              <a:lnSpc>
                <a:spcPct val="125000"/>
              </a:lnSpc>
              <a:spcBef>
                <a:spcPct val="20000"/>
              </a:spcBef>
            </a:pPr>
            <a:r>
              <a:rPr lang="zh-CN" altLang="en-US" sz="2000" b="0" dirty="0">
                <a:solidFill>
                  <a:srgbClr val="0000FF"/>
                </a:solidFill>
                <a:ea typeface="黑体" panose="02010609060101010101" pitchFamily="49" charset="-122"/>
              </a:rPr>
              <a:t>一个写口（</a:t>
            </a:r>
            <a:r>
              <a:rPr lang="zh-CN" altLang="en-US" sz="2000" b="0" dirty="0">
                <a:solidFill>
                  <a:srgbClr val="006600"/>
                </a:solidFill>
                <a:ea typeface="黑体" panose="02010609060101010101" pitchFamily="49" charset="-122"/>
              </a:rPr>
              <a:t>时序逻辑操作</a:t>
            </a:r>
            <a:r>
              <a:rPr lang="zh-CN" altLang="en-US" sz="2000" b="0" dirty="0">
                <a:solidFill>
                  <a:srgbClr val="0000FF"/>
                </a:solidFill>
                <a:ea typeface="黑体" panose="02010609060101010101" pitchFamily="49" charset="-122"/>
              </a:rPr>
              <a:t>）：</a:t>
            </a:r>
            <a:r>
              <a:rPr lang="zh-CN" altLang="en-US" sz="2000" b="0" dirty="0">
                <a:ea typeface="黑体" panose="02010609060101010101" pitchFamily="49" charset="-122"/>
              </a:rPr>
              <a:t>写使能为</a:t>
            </a:r>
            <a:r>
              <a:rPr lang="en-US" altLang="zh-CN" sz="2000" b="0">
                <a:ea typeface="黑体" panose="02010609060101010101" pitchFamily="49" charset="-122"/>
              </a:rPr>
              <a:t>1</a:t>
            </a:r>
            <a:r>
              <a:rPr lang="zh-CN" altLang="en-US" sz="2000" b="0" dirty="0">
                <a:ea typeface="黑体" panose="02010609060101010101" pitchFamily="49" charset="-122"/>
              </a:rPr>
              <a:t>的情况下，时钟边沿到来时，</a:t>
            </a:r>
            <a:r>
              <a:rPr lang="en-US" altLang="zh-CN" sz="2000" b="0" dirty="0" err="1">
                <a:ea typeface="黑体" panose="02010609060101010101" pitchFamily="49" charset="-122"/>
              </a:rPr>
              <a:t>busW</a:t>
            </a:r>
            <a:r>
              <a:rPr lang="zh-CN" altLang="en-US" sz="2000" b="0" dirty="0">
                <a:ea typeface="黑体" panose="02010609060101010101" pitchFamily="49" charset="-122"/>
              </a:rPr>
              <a:t>传来的值开始被写入</a:t>
            </a:r>
            <a:r>
              <a:rPr lang="en-US" altLang="zh-CN" sz="2000" b="0">
                <a:ea typeface="黑体" panose="02010609060101010101" pitchFamily="49" charset="-122"/>
              </a:rPr>
              <a:t>RW</a:t>
            </a:r>
            <a:r>
              <a:rPr lang="zh-CN" altLang="en-US" sz="2000" b="0" dirty="0">
                <a:ea typeface="黑体" panose="02010609060101010101" pitchFamily="49" charset="-122"/>
              </a:rPr>
              <a:t>指定的寄存器中。</a:t>
            </a:r>
            <a:endParaRPr lang="zh-CN" altLang="en-US" sz="2000" b="0" dirty="0">
              <a:ea typeface="黑体" panose="02010609060101010101" pitchFamily="49" charset="-122"/>
            </a:endParaRPr>
          </a:p>
        </p:txBody>
      </p:sp>
      <p:sp>
        <p:nvSpPr>
          <p:cNvPr id="30723" name="矩形 189444"/>
          <p:cNvSpPr/>
          <p:nvPr/>
        </p:nvSpPr>
        <p:spPr>
          <a:xfrm>
            <a:off x="6938963" y="2890838"/>
            <a:ext cx="5365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Times New Roman" panose="02020603050405020304" pitchFamily="18" charset="0"/>
                <a:ea typeface="宋体" panose="02010600030101010101" pitchFamily="2" charset="-122"/>
              </a:rPr>
              <a:t>Clk</a:t>
            </a:r>
            <a:endParaRPr lang="en-US" altLang="zh-CN" sz="1800">
              <a:solidFill>
                <a:schemeClr val="accent1"/>
              </a:solidFill>
              <a:latin typeface="Times New Roman" panose="02020603050405020304" pitchFamily="18" charset="0"/>
              <a:ea typeface="宋体" panose="02010600030101010101" pitchFamily="2" charset="-122"/>
            </a:endParaRPr>
          </a:p>
        </p:txBody>
      </p:sp>
      <p:sp>
        <p:nvSpPr>
          <p:cNvPr id="30724" name="矩形 189445"/>
          <p:cNvSpPr/>
          <p:nvPr/>
        </p:nvSpPr>
        <p:spPr>
          <a:xfrm>
            <a:off x="5799138" y="1662113"/>
            <a:ext cx="1116012" cy="363537"/>
          </a:xfrm>
          <a:prstGeom prst="rect">
            <a:avLst/>
          </a:prstGeom>
          <a:noFill/>
          <a:ln w="12700">
            <a:noFill/>
          </a:ln>
        </p:spPr>
        <p:txBody>
          <a:bodyPr lIns="90488" tIns="44450" rIns="90488" bIns="44450" anchor="t" anchorCtr="0">
            <a:spAutoFit/>
          </a:bodyPr>
          <a:p>
            <a:r>
              <a:rPr lang="en-US" altLang="zh-CN" sz="1800">
                <a:latin typeface="Times New Roman" panose="02020603050405020304" pitchFamily="18" charset="0"/>
                <a:ea typeface="宋体" panose="02010600030101010101" pitchFamily="2" charset="-122"/>
              </a:rPr>
              <a:t>Data In</a:t>
            </a:r>
            <a:endParaRPr lang="en-US" altLang="zh-CN" sz="1800">
              <a:latin typeface="Times New Roman" panose="02020603050405020304" pitchFamily="18" charset="0"/>
              <a:ea typeface="宋体" panose="02010600030101010101" pitchFamily="2" charset="-122"/>
            </a:endParaRPr>
          </a:p>
        </p:txBody>
      </p:sp>
      <p:sp>
        <p:nvSpPr>
          <p:cNvPr id="30725" name="矩形 189446"/>
          <p:cNvSpPr/>
          <p:nvPr/>
        </p:nvSpPr>
        <p:spPr>
          <a:xfrm>
            <a:off x="7264400" y="1458913"/>
            <a:ext cx="263525" cy="1187450"/>
          </a:xfrm>
          <a:prstGeom prst="rect">
            <a:avLst/>
          </a:prstGeom>
          <a:noFill/>
          <a:ln w="508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30726" name="直接连接符 189447"/>
          <p:cNvSpPr/>
          <p:nvPr/>
        </p:nvSpPr>
        <p:spPr>
          <a:xfrm flipV="1">
            <a:off x="7327900" y="2430463"/>
            <a:ext cx="66675" cy="254000"/>
          </a:xfrm>
          <a:prstGeom prst="line">
            <a:avLst/>
          </a:prstGeom>
          <a:ln w="25400" cap="flat" cmpd="sng">
            <a:solidFill>
              <a:schemeClr val="tx1"/>
            </a:solidFill>
            <a:prstDash val="solid"/>
            <a:round/>
            <a:headEnd type="none" w="med" len="med"/>
            <a:tailEnd type="none" w="med" len="med"/>
          </a:ln>
        </p:spPr>
      </p:sp>
      <p:sp>
        <p:nvSpPr>
          <p:cNvPr id="30727" name="直接连接符 189448"/>
          <p:cNvSpPr/>
          <p:nvPr/>
        </p:nvSpPr>
        <p:spPr>
          <a:xfrm>
            <a:off x="7391400" y="2455863"/>
            <a:ext cx="63500" cy="203200"/>
          </a:xfrm>
          <a:prstGeom prst="line">
            <a:avLst/>
          </a:prstGeom>
          <a:ln w="25400" cap="flat" cmpd="sng">
            <a:solidFill>
              <a:schemeClr val="tx1"/>
            </a:solidFill>
            <a:prstDash val="solid"/>
            <a:round/>
            <a:headEnd type="none" w="med" len="med"/>
            <a:tailEnd type="none" w="med" len="med"/>
          </a:ln>
        </p:spPr>
      </p:sp>
      <p:sp>
        <p:nvSpPr>
          <p:cNvPr id="30728" name="椭圆 189449"/>
          <p:cNvSpPr/>
          <p:nvPr/>
        </p:nvSpPr>
        <p:spPr>
          <a:xfrm>
            <a:off x="7327900" y="2684463"/>
            <a:ext cx="127000" cy="12700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30729" name="矩形 189451"/>
          <p:cNvSpPr/>
          <p:nvPr/>
        </p:nvSpPr>
        <p:spPr>
          <a:xfrm>
            <a:off x="6269038" y="809625"/>
            <a:ext cx="155892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Write</a:t>
            </a:r>
            <a:r>
              <a:rPr lang="en-US" altLang="zh-CN" sz="1800">
                <a:solidFill>
                  <a:srgbClr val="008000"/>
                </a:solidFill>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Enable</a:t>
            </a:r>
            <a:endParaRPr lang="en-US" altLang="zh-CN" sz="1800">
              <a:latin typeface="Arial" panose="020B0604020202020204" pitchFamily="34" charset="0"/>
              <a:ea typeface="宋体" panose="02010600030101010101" pitchFamily="2" charset="-122"/>
            </a:endParaRPr>
          </a:p>
        </p:txBody>
      </p:sp>
      <p:sp>
        <p:nvSpPr>
          <p:cNvPr id="30730" name="直接连接符 189452"/>
          <p:cNvSpPr/>
          <p:nvPr/>
        </p:nvSpPr>
        <p:spPr>
          <a:xfrm flipH="1">
            <a:off x="6092825" y="2043113"/>
            <a:ext cx="1168400" cy="0"/>
          </a:xfrm>
          <a:prstGeom prst="line">
            <a:avLst/>
          </a:prstGeom>
          <a:ln w="25400" cap="flat" cmpd="sng">
            <a:solidFill>
              <a:schemeClr val="tx1"/>
            </a:solidFill>
            <a:prstDash val="solid"/>
            <a:round/>
            <a:headEnd type="triangle" w="med" len="med"/>
            <a:tailEnd type="none" w="med" len="med"/>
          </a:ln>
        </p:spPr>
      </p:sp>
      <p:sp>
        <p:nvSpPr>
          <p:cNvPr id="30731" name="直接连接符 189453"/>
          <p:cNvSpPr/>
          <p:nvPr/>
        </p:nvSpPr>
        <p:spPr>
          <a:xfrm flipH="1">
            <a:off x="6632575" y="1973263"/>
            <a:ext cx="88900" cy="139700"/>
          </a:xfrm>
          <a:prstGeom prst="line">
            <a:avLst/>
          </a:prstGeom>
          <a:ln w="12700" cap="flat" cmpd="sng">
            <a:solidFill>
              <a:schemeClr val="tx1"/>
            </a:solidFill>
            <a:prstDash val="solid"/>
            <a:round/>
            <a:headEnd type="none" w="med" len="med"/>
            <a:tailEnd type="none" w="med" len="med"/>
          </a:ln>
        </p:spPr>
      </p:sp>
      <p:sp>
        <p:nvSpPr>
          <p:cNvPr id="30732" name="矩形 189454"/>
          <p:cNvSpPr/>
          <p:nvPr/>
        </p:nvSpPr>
        <p:spPr>
          <a:xfrm>
            <a:off x="6319838" y="2043113"/>
            <a:ext cx="3460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N</a:t>
            </a:r>
            <a:endParaRPr lang="en-US" altLang="zh-CN" sz="1800">
              <a:latin typeface="Arial" panose="020B0604020202020204" pitchFamily="34" charset="0"/>
              <a:ea typeface="宋体" panose="02010600030101010101" pitchFamily="2" charset="-122"/>
            </a:endParaRPr>
          </a:p>
        </p:txBody>
      </p:sp>
      <p:sp>
        <p:nvSpPr>
          <p:cNvPr id="30733" name="直接连接符 189455"/>
          <p:cNvSpPr/>
          <p:nvPr/>
        </p:nvSpPr>
        <p:spPr>
          <a:xfrm>
            <a:off x="7566025" y="2043113"/>
            <a:ext cx="1117600" cy="0"/>
          </a:xfrm>
          <a:prstGeom prst="line">
            <a:avLst/>
          </a:prstGeom>
          <a:ln w="25400" cap="flat" cmpd="sng">
            <a:solidFill>
              <a:schemeClr val="tx1"/>
            </a:solidFill>
            <a:prstDash val="solid"/>
            <a:round/>
            <a:headEnd type="none" w="med" len="med"/>
            <a:tailEnd type="triangle" w="med" len="med"/>
          </a:ln>
        </p:spPr>
      </p:sp>
      <p:sp>
        <p:nvSpPr>
          <p:cNvPr id="30734" name="直接连接符 189456"/>
          <p:cNvSpPr/>
          <p:nvPr/>
        </p:nvSpPr>
        <p:spPr>
          <a:xfrm flipH="1">
            <a:off x="8080375" y="1973263"/>
            <a:ext cx="88900" cy="139700"/>
          </a:xfrm>
          <a:prstGeom prst="line">
            <a:avLst/>
          </a:prstGeom>
          <a:ln w="12700" cap="flat" cmpd="sng">
            <a:solidFill>
              <a:schemeClr val="tx1"/>
            </a:solidFill>
            <a:prstDash val="solid"/>
            <a:round/>
            <a:headEnd type="none" w="med" len="med"/>
            <a:tailEnd type="none" w="med" len="med"/>
          </a:ln>
        </p:spPr>
      </p:sp>
      <p:sp>
        <p:nvSpPr>
          <p:cNvPr id="30735" name="矩形 189457"/>
          <p:cNvSpPr/>
          <p:nvPr/>
        </p:nvSpPr>
        <p:spPr>
          <a:xfrm>
            <a:off x="7767638" y="2043113"/>
            <a:ext cx="3460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N</a:t>
            </a:r>
            <a:endParaRPr lang="en-US" altLang="zh-CN" sz="1800">
              <a:latin typeface="Arial" panose="020B0604020202020204" pitchFamily="34" charset="0"/>
              <a:ea typeface="宋体" panose="02010600030101010101" pitchFamily="2" charset="-122"/>
            </a:endParaRPr>
          </a:p>
        </p:txBody>
      </p:sp>
      <p:sp>
        <p:nvSpPr>
          <p:cNvPr id="30736" name="矩形 189458"/>
          <p:cNvSpPr/>
          <p:nvPr/>
        </p:nvSpPr>
        <p:spPr>
          <a:xfrm>
            <a:off x="7615238" y="1662113"/>
            <a:ext cx="1528762" cy="363537"/>
          </a:xfrm>
          <a:prstGeom prst="rect">
            <a:avLst/>
          </a:prstGeom>
          <a:noFill/>
          <a:ln w="12700">
            <a:noFill/>
          </a:ln>
        </p:spPr>
        <p:txBody>
          <a:bodyPr lIns="90488" tIns="44450" rIns="90488" bIns="44450" anchor="t" anchorCtr="0">
            <a:spAutoFit/>
          </a:bodyPr>
          <a:p>
            <a:r>
              <a:rPr lang="en-US" altLang="zh-CN" sz="1800">
                <a:latin typeface="Times New Roman" panose="02020603050405020304" pitchFamily="18" charset="0"/>
                <a:ea typeface="宋体" panose="02010600030101010101" pitchFamily="2" charset="-122"/>
              </a:rPr>
              <a:t>Data Out</a:t>
            </a:r>
            <a:endParaRPr lang="en-US" altLang="zh-CN" sz="1800">
              <a:latin typeface="Times New Roman" panose="02020603050405020304" pitchFamily="18" charset="0"/>
              <a:ea typeface="宋体" panose="02010600030101010101" pitchFamily="2" charset="-122"/>
            </a:endParaRPr>
          </a:p>
        </p:txBody>
      </p:sp>
      <p:sp>
        <p:nvSpPr>
          <p:cNvPr id="30737" name="直接连接符 189459"/>
          <p:cNvSpPr/>
          <p:nvPr/>
        </p:nvSpPr>
        <p:spPr>
          <a:xfrm flipV="1">
            <a:off x="7400925" y="1125538"/>
            <a:ext cx="0" cy="320675"/>
          </a:xfrm>
          <a:prstGeom prst="line">
            <a:avLst/>
          </a:prstGeom>
          <a:ln w="25400" cap="flat" cmpd="sng">
            <a:solidFill>
              <a:schemeClr val="tx1"/>
            </a:solidFill>
            <a:prstDash val="solid"/>
            <a:round/>
            <a:headEnd type="none" w="med" len="med"/>
            <a:tailEnd type="none" w="med" len="med"/>
          </a:ln>
        </p:spPr>
      </p:sp>
      <p:sp>
        <p:nvSpPr>
          <p:cNvPr id="30738" name="矩形 189461"/>
          <p:cNvSpPr/>
          <p:nvPr/>
        </p:nvSpPr>
        <p:spPr>
          <a:xfrm>
            <a:off x="5991225" y="5591175"/>
            <a:ext cx="5365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Times New Roman" panose="02020603050405020304" pitchFamily="18" charset="0"/>
                <a:ea typeface="宋体" panose="02010600030101010101" pitchFamily="2" charset="-122"/>
              </a:rPr>
              <a:t>Clk</a:t>
            </a:r>
            <a:endParaRPr lang="en-US" altLang="zh-CN" sz="1800">
              <a:solidFill>
                <a:schemeClr val="accent1"/>
              </a:solidFill>
              <a:latin typeface="Times New Roman" panose="02020603050405020304" pitchFamily="18" charset="0"/>
              <a:ea typeface="宋体" panose="02010600030101010101" pitchFamily="2" charset="-122"/>
            </a:endParaRPr>
          </a:p>
        </p:txBody>
      </p:sp>
      <p:sp>
        <p:nvSpPr>
          <p:cNvPr id="30739" name="矩形 189462"/>
          <p:cNvSpPr/>
          <p:nvPr/>
        </p:nvSpPr>
        <p:spPr>
          <a:xfrm>
            <a:off x="5600700" y="4972050"/>
            <a:ext cx="752475" cy="363538"/>
          </a:xfrm>
          <a:prstGeom prst="rect">
            <a:avLst/>
          </a:prstGeom>
          <a:noFill/>
          <a:ln w="12700">
            <a:noFill/>
          </a:ln>
        </p:spPr>
        <p:txBody>
          <a:bodyPr wrap="none" lIns="90488" tIns="44450" rIns="90488" bIns="44450" anchor="t" anchorCtr="0">
            <a:spAutoFit/>
          </a:bodyPr>
          <a:p>
            <a:r>
              <a:rPr lang="en-US" altLang="zh-CN" sz="1800" dirty="0" err="1">
                <a:latin typeface="Times New Roman" panose="02020603050405020304" pitchFamily="18" charset="0"/>
                <a:ea typeface="宋体" panose="02010600030101010101" pitchFamily="2" charset="-122"/>
              </a:rPr>
              <a:t>busW</a:t>
            </a:r>
            <a:endParaRPr lang="en-US" altLang="zh-CN" sz="1800">
              <a:latin typeface="Times New Roman" panose="02020603050405020304" pitchFamily="18" charset="0"/>
              <a:ea typeface="宋体" panose="02010600030101010101" pitchFamily="2" charset="-122"/>
            </a:endParaRPr>
          </a:p>
        </p:txBody>
      </p:sp>
      <p:sp>
        <p:nvSpPr>
          <p:cNvPr id="30740" name="矩形 189463"/>
          <p:cNvSpPr/>
          <p:nvPr/>
        </p:nvSpPr>
        <p:spPr>
          <a:xfrm>
            <a:off x="6697663" y="4845050"/>
            <a:ext cx="1406525" cy="1187450"/>
          </a:xfrm>
          <a:prstGeom prst="rect">
            <a:avLst/>
          </a:prstGeom>
          <a:noFill/>
          <a:ln w="508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30741" name="直接连接符 189464"/>
          <p:cNvSpPr/>
          <p:nvPr/>
        </p:nvSpPr>
        <p:spPr>
          <a:xfrm>
            <a:off x="6708775" y="5818188"/>
            <a:ext cx="192088" cy="69850"/>
          </a:xfrm>
          <a:prstGeom prst="line">
            <a:avLst/>
          </a:prstGeom>
          <a:ln w="25400" cap="flat" cmpd="sng">
            <a:solidFill>
              <a:schemeClr val="tx1"/>
            </a:solidFill>
            <a:prstDash val="solid"/>
            <a:round/>
            <a:headEnd type="none" w="med" len="med"/>
            <a:tailEnd type="none" w="med" len="med"/>
          </a:ln>
        </p:spPr>
      </p:sp>
      <p:sp>
        <p:nvSpPr>
          <p:cNvPr id="30742" name="直接连接符 189465"/>
          <p:cNvSpPr/>
          <p:nvPr/>
        </p:nvSpPr>
        <p:spPr>
          <a:xfrm flipH="1">
            <a:off x="6697663" y="5884863"/>
            <a:ext cx="242887" cy="122237"/>
          </a:xfrm>
          <a:prstGeom prst="line">
            <a:avLst/>
          </a:prstGeom>
          <a:ln w="25400" cap="flat" cmpd="sng">
            <a:solidFill>
              <a:schemeClr val="tx1"/>
            </a:solidFill>
            <a:prstDash val="solid"/>
            <a:round/>
            <a:headEnd type="none" w="med" len="med"/>
            <a:tailEnd type="none" w="med" len="med"/>
          </a:ln>
        </p:spPr>
      </p:sp>
      <p:sp>
        <p:nvSpPr>
          <p:cNvPr id="30743" name="椭圆 189466"/>
          <p:cNvSpPr/>
          <p:nvPr/>
        </p:nvSpPr>
        <p:spPr>
          <a:xfrm>
            <a:off x="6532563" y="58420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30744" name="矩形 189467"/>
          <p:cNvSpPr/>
          <p:nvPr/>
        </p:nvSpPr>
        <p:spPr>
          <a:xfrm>
            <a:off x="5629275" y="3794125"/>
            <a:ext cx="155892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Write</a:t>
            </a:r>
            <a:r>
              <a:rPr lang="en-US" altLang="zh-CN" sz="1800">
                <a:solidFill>
                  <a:srgbClr val="008000"/>
                </a:solidFill>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Enable</a:t>
            </a:r>
            <a:endParaRPr lang="en-US" altLang="zh-CN" sz="1800">
              <a:latin typeface="Arial" panose="020B0604020202020204" pitchFamily="34" charset="0"/>
              <a:ea typeface="宋体" panose="02010600030101010101" pitchFamily="2" charset="-122"/>
            </a:endParaRPr>
          </a:p>
        </p:txBody>
      </p:sp>
      <p:sp>
        <p:nvSpPr>
          <p:cNvPr id="30745" name="直接连接符 189468"/>
          <p:cNvSpPr/>
          <p:nvPr/>
        </p:nvSpPr>
        <p:spPr>
          <a:xfrm flipH="1">
            <a:off x="5678488" y="5353050"/>
            <a:ext cx="1016000" cy="0"/>
          </a:xfrm>
          <a:prstGeom prst="line">
            <a:avLst/>
          </a:prstGeom>
          <a:ln w="25400" cap="flat" cmpd="sng">
            <a:solidFill>
              <a:schemeClr val="tx1"/>
            </a:solidFill>
            <a:prstDash val="solid"/>
            <a:round/>
            <a:headEnd type="triangle" w="med" len="med"/>
            <a:tailEnd type="none" w="med" len="med"/>
          </a:ln>
        </p:spPr>
      </p:sp>
      <p:sp>
        <p:nvSpPr>
          <p:cNvPr id="30746" name="直接连接符 189469"/>
          <p:cNvSpPr/>
          <p:nvPr/>
        </p:nvSpPr>
        <p:spPr>
          <a:xfrm flipH="1">
            <a:off x="6218238" y="5283200"/>
            <a:ext cx="88900" cy="139700"/>
          </a:xfrm>
          <a:prstGeom prst="line">
            <a:avLst/>
          </a:prstGeom>
          <a:ln w="12700" cap="flat" cmpd="sng">
            <a:solidFill>
              <a:schemeClr val="tx1"/>
            </a:solidFill>
            <a:prstDash val="solid"/>
            <a:round/>
            <a:headEnd type="none" w="med" len="med"/>
            <a:tailEnd type="none" w="med" len="med"/>
          </a:ln>
        </p:spPr>
      </p:sp>
      <p:sp>
        <p:nvSpPr>
          <p:cNvPr id="30747" name="矩形 189470"/>
          <p:cNvSpPr/>
          <p:nvPr/>
        </p:nvSpPr>
        <p:spPr>
          <a:xfrm>
            <a:off x="5905500" y="535305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30748" name="直接连接符 189471"/>
          <p:cNvSpPr/>
          <p:nvPr/>
        </p:nvSpPr>
        <p:spPr>
          <a:xfrm>
            <a:off x="8083550" y="5033963"/>
            <a:ext cx="1023938" cy="14287"/>
          </a:xfrm>
          <a:prstGeom prst="line">
            <a:avLst/>
          </a:prstGeom>
          <a:ln w="25400" cap="flat" cmpd="sng">
            <a:solidFill>
              <a:schemeClr val="tx1"/>
            </a:solidFill>
            <a:prstDash val="solid"/>
            <a:round/>
            <a:headEnd type="none" w="med" len="med"/>
            <a:tailEnd type="triangle" w="med" len="med"/>
          </a:ln>
        </p:spPr>
      </p:sp>
      <p:sp>
        <p:nvSpPr>
          <p:cNvPr id="30749" name="直接连接符 189472"/>
          <p:cNvSpPr/>
          <p:nvPr/>
        </p:nvSpPr>
        <p:spPr>
          <a:xfrm flipH="1">
            <a:off x="8732838" y="4978400"/>
            <a:ext cx="88900" cy="139700"/>
          </a:xfrm>
          <a:prstGeom prst="line">
            <a:avLst/>
          </a:prstGeom>
          <a:ln w="12700" cap="flat" cmpd="sng">
            <a:solidFill>
              <a:schemeClr val="tx1"/>
            </a:solidFill>
            <a:prstDash val="solid"/>
            <a:round/>
            <a:headEnd type="none" w="med" len="med"/>
            <a:tailEnd type="none" w="med" len="med"/>
          </a:ln>
        </p:spPr>
      </p:sp>
      <p:sp>
        <p:nvSpPr>
          <p:cNvPr id="30750" name="矩形 189473"/>
          <p:cNvSpPr/>
          <p:nvPr/>
        </p:nvSpPr>
        <p:spPr>
          <a:xfrm>
            <a:off x="8420100" y="504825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30751" name="矩形 189474"/>
          <p:cNvSpPr/>
          <p:nvPr/>
        </p:nvSpPr>
        <p:spPr>
          <a:xfrm>
            <a:off x="8115300" y="4705350"/>
            <a:ext cx="688975" cy="363538"/>
          </a:xfrm>
          <a:prstGeom prst="rect">
            <a:avLst/>
          </a:prstGeom>
          <a:noFill/>
          <a:ln w="12700">
            <a:noFill/>
          </a:ln>
        </p:spPr>
        <p:txBody>
          <a:bodyPr wrap="none" lIns="90488" tIns="44450" rIns="90488" bIns="44450" anchor="t" anchorCtr="0">
            <a:spAutoFit/>
          </a:bodyPr>
          <a:p>
            <a:r>
              <a:rPr lang="en-US" altLang="zh-CN" sz="1800" dirty="0" err="1">
                <a:latin typeface="Times New Roman" panose="02020603050405020304" pitchFamily="18" charset="0"/>
                <a:ea typeface="宋体" panose="02010600030101010101" pitchFamily="2" charset="-122"/>
              </a:rPr>
              <a:t>busA</a:t>
            </a:r>
            <a:endParaRPr lang="en-US" altLang="zh-CN" sz="1800">
              <a:latin typeface="Times New Roman" panose="02020603050405020304" pitchFamily="18" charset="0"/>
              <a:ea typeface="宋体" panose="02010600030101010101" pitchFamily="2" charset="-122"/>
            </a:endParaRPr>
          </a:p>
        </p:txBody>
      </p:sp>
      <p:sp>
        <p:nvSpPr>
          <p:cNvPr id="30752" name="直接连接符 189475"/>
          <p:cNvSpPr/>
          <p:nvPr/>
        </p:nvSpPr>
        <p:spPr>
          <a:xfrm flipV="1">
            <a:off x="6834188" y="4133850"/>
            <a:ext cx="0" cy="698500"/>
          </a:xfrm>
          <a:prstGeom prst="line">
            <a:avLst/>
          </a:prstGeom>
          <a:ln w="25400" cap="flat" cmpd="sng">
            <a:solidFill>
              <a:schemeClr val="tx1"/>
            </a:solidFill>
            <a:prstDash val="solid"/>
            <a:round/>
            <a:headEnd type="none" w="med" len="med"/>
            <a:tailEnd type="none" w="med" len="med"/>
          </a:ln>
        </p:spPr>
      </p:sp>
      <p:sp>
        <p:nvSpPr>
          <p:cNvPr id="30753" name="直接连接符 189476"/>
          <p:cNvSpPr/>
          <p:nvPr/>
        </p:nvSpPr>
        <p:spPr>
          <a:xfrm>
            <a:off x="8099425" y="5810250"/>
            <a:ext cx="1008063" cy="0"/>
          </a:xfrm>
          <a:prstGeom prst="line">
            <a:avLst/>
          </a:prstGeom>
          <a:ln w="25400" cap="flat" cmpd="sng">
            <a:solidFill>
              <a:schemeClr val="tx1"/>
            </a:solidFill>
            <a:prstDash val="solid"/>
            <a:round/>
            <a:headEnd type="none" w="med" len="med"/>
            <a:tailEnd type="triangle" w="med" len="med"/>
          </a:ln>
        </p:spPr>
      </p:sp>
      <p:sp>
        <p:nvSpPr>
          <p:cNvPr id="30754" name="直接连接符 189477"/>
          <p:cNvSpPr/>
          <p:nvPr/>
        </p:nvSpPr>
        <p:spPr>
          <a:xfrm flipH="1">
            <a:off x="8732838" y="5740400"/>
            <a:ext cx="88900" cy="139700"/>
          </a:xfrm>
          <a:prstGeom prst="line">
            <a:avLst/>
          </a:prstGeom>
          <a:ln w="12700" cap="flat" cmpd="sng">
            <a:solidFill>
              <a:schemeClr val="tx1"/>
            </a:solidFill>
            <a:prstDash val="solid"/>
            <a:round/>
            <a:headEnd type="none" w="med" len="med"/>
            <a:tailEnd type="none" w="med" len="med"/>
          </a:ln>
        </p:spPr>
      </p:sp>
      <p:sp>
        <p:nvSpPr>
          <p:cNvPr id="30755" name="矩形 189478"/>
          <p:cNvSpPr/>
          <p:nvPr/>
        </p:nvSpPr>
        <p:spPr>
          <a:xfrm>
            <a:off x="8420100" y="581025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30756" name="矩形 189479"/>
          <p:cNvSpPr/>
          <p:nvPr/>
        </p:nvSpPr>
        <p:spPr>
          <a:xfrm>
            <a:off x="8115300" y="5480050"/>
            <a:ext cx="676275" cy="363538"/>
          </a:xfrm>
          <a:prstGeom prst="rect">
            <a:avLst/>
          </a:prstGeom>
          <a:noFill/>
          <a:ln w="12700">
            <a:noFill/>
          </a:ln>
        </p:spPr>
        <p:txBody>
          <a:bodyPr wrap="none" lIns="90488" tIns="44450" rIns="90488" bIns="44450" anchor="t" anchorCtr="0">
            <a:spAutoFit/>
          </a:bodyPr>
          <a:p>
            <a:r>
              <a:rPr lang="en-US" altLang="zh-CN" sz="1800" dirty="0" err="1">
                <a:latin typeface="Times New Roman" panose="02020603050405020304" pitchFamily="18" charset="0"/>
                <a:ea typeface="宋体" panose="02010600030101010101" pitchFamily="2" charset="-122"/>
              </a:rPr>
              <a:t>busB</a:t>
            </a:r>
            <a:endParaRPr lang="en-US" altLang="zh-CN" sz="1800">
              <a:latin typeface="Times New Roman" panose="02020603050405020304" pitchFamily="18" charset="0"/>
              <a:ea typeface="宋体" panose="02010600030101010101" pitchFamily="2" charset="-122"/>
            </a:endParaRPr>
          </a:p>
        </p:txBody>
      </p:sp>
      <p:sp>
        <p:nvSpPr>
          <p:cNvPr id="30757" name="直接连接符 189480"/>
          <p:cNvSpPr/>
          <p:nvPr/>
        </p:nvSpPr>
        <p:spPr>
          <a:xfrm flipH="1">
            <a:off x="6045200" y="5915025"/>
            <a:ext cx="482600" cy="0"/>
          </a:xfrm>
          <a:prstGeom prst="line">
            <a:avLst/>
          </a:prstGeom>
          <a:ln w="25400" cap="flat" cmpd="sng">
            <a:solidFill>
              <a:schemeClr val="tx1"/>
            </a:solidFill>
            <a:prstDash val="solid"/>
            <a:round/>
            <a:headEnd type="none" w="med" len="med"/>
            <a:tailEnd type="none" w="med" len="med"/>
          </a:ln>
        </p:spPr>
      </p:sp>
      <p:sp>
        <p:nvSpPr>
          <p:cNvPr id="30758" name="直接连接符 189481"/>
          <p:cNvSpPr/>
          <p:nvPr/>
        </p:nvSpPr>
        <p:spPr>
          <a:xfrm>
            <a:off x="7138988" y="4375150"/>
            <a:ext cx="0" cy="476250"/>
          </a:xfrm>
          <a:prstGeom prst="line">
            <a:avLst/>
          </a:prstGeom>
          <a:ln w="25400" cap="flat" cmpd="sng">
            <a:solidFill>
              <a:schemeClr val="tx1"/>
            </a:solidFill>
            <a:prstDash val="solid"/>
            <a:round/>
            <a:headEnd type="none" w="med" len="med"/>
            <a:tailEnd type="none" w="med" len="med"/>
          </a:ln>
        </p:spPr>
      </p:sp>
      <p:sp>
        <p:nvSpPr>
          <p:cNvPr id="30759" name="直接连接符 189482"/>
          <p:cNvSpPr/>
          <p:nvPr/>
        </p:nvSpPr>
        <p:spPr>
          <a:xfrm flipV="1">
            <a:off x="7069138" y="4508500"/>
            <a:ext cx="139700" cy="165100"/>
          </a:xfrm>
          <a:prstGeom prst="line">
            <a:avLst/>
          </a:prstGeom>
          <a:ln w="12700" cap="flat" cmpd="sng">
            <a:solidFill>
              <a:schemeClr val="tx1"/>
            </a:solidFill>
            <a:prstDash val="solid"/>
            <a:round/>
            <a:headEnd type="none" w="med" len="med"/>
            <a:tailEnd type="none" w="med" len="med"/>
          </a:ln>
        </p:spPr>
      </p:sp>
      <p:sp>
        <p:nvSpPr>
          <p:cNvPr id="30760" name="矩形 189483"/>
          <p:cNvSpPr/>
          <p:nvPr/>
        </p:nvSpPr>
        <p:spPr>
          <a:xfrm>
            <a:off x="6896100" y="436245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30761" name="直接连接符 189484"/>
          <p:cNvSpPr/>
          <p:nvPr/>
        </p:nvSpPr>
        <p:spPr>
          <a:xfrm>
            <a:off x="7519988" y="4375150"/>
            <a:ext cx="0" cy="461963"/>
          </a:xfrm>
          <a:prstGeom prst="line">
            <a:avLst/>
          </a:prstGeom>
          <a:ln w="25400" cap="flat" cmpd="sng">
            <a:solidFill>
              <a:schemeClr val="tx1"/>
            </a:solidFill>
            <a:prstDash val="solid"/>
            <a:round/>
            <a:headEnd type="none" w="med" len="med"/>
            <a:tailEnd type="none" w="med" len="med"/>
          </a:ln>
        </p:spPr>
      </p:sp>
      <p:sp>
        <p:nvSpPr>
          <p:cNvPr id="30762" name="直接连接符 189485"/>
          <p:cNvSpPr/>
          <p:nvPr/>
        </p:nvSpPr>
        <p:spPr>
          <a:xfrm flipV="1">
            <a:off x="7450138" y="4508500"/>
            <a:ext cx="139700" cy="165100"/>
          </a:xfrm>
          <a:prstGeom prst="line">
            <a:avLst/>
          </a:prstGeom>
          <a:ln w="12700" cap="flat" cmpd="sng">
            <a:solidFill>
              <a:schemeClr val="tx1"/>
            </a:solidFill>
            <a:prstDash val="solid"/>
            <a:round/>
            <a:headEnd type="none" w="med" len="med"/>
            <a:tailEnd type="none" w="med" len="med"/>
          </a:ln>
        </p:spPr>
      </p:sp>
      <p:sp>
        <p:nvSpPr>
          <p:cNvPr id="30763" name="矩形 189486"/>
          <p:cNvSpPr/>
          <p:nvPr/>
        </p:nvSpPr>
        <p:spPr>
          <a:xfrm>
            <a:off x="7277100" y="436245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30764" name="直接连接符 189487"/>
          <p:cNvSpPr/>
          <p:nvPr/>
        </p:nvSpPr>
        <p:spPr>
          <a:xfrm>
            <a:off x="7977188" y="4375150"/>
            <a:ext cx="0" cy="460375"/>
          </a:xfrm>
          <a:prstGeom prst="line">
            <a:avLst/>
          </a:prstGeom>
          <a:ln w="25400" cap="flat" cmpd="sng">
            <a:solidFill>
              <a:schemeClr val="tx1"/>
            </a:solidFill>
            <a:prstDash val="solid"/>
            <a:round/>
            <a:headEnd type="none" w="med" len="med"/>
            <a:tailEnd type="none" w="med" len="med"/>
          </a:ln>
        </p:spPr>
      </p:sp>
      <p:sp>
        <p:nvSpPr>
          <p:cNvPr id="30765" name="直接连接符 189488"/>
          <p:cNvSpPr/>
          <p:nvPr/>
        </p:nvSpPr>
        <p:spPr>
          <a:xfrm flipV="1">
            <a:off x="7907338" y="4508500"/>
            <a:ext cx="139700" cy="165100"/>
          </a:xfrm>
          <a:prstGeom prst="line">
            <a:avLst/>
          </a:prstGeom>
          <a:ln w="12700" cap="flat" cmpd="sng">
            <a:solidFill>
              <a:schemeClr val="tx1"/>
            </a:solidFill>
            <a:prstDash val="solid"/>
            <a:round/>
            <a:headEnd type="none" w="med" len="med"/>
            <a:tailEnd type="none" w="med" len="med"/>
          </a:ln>
        </p:spPr>
      </p:sp>
      <p:sp>
        <p:nvSpPr>
          <p:cNvPr id="30766" name="矩形 189489"/>
          <p:cNvSpPr/>
          <p:nvPr/>
        </p:nvSpPr>
        <p:spPr>
          <a:xfrm>
            <a:off x="7734300" y="436245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30767" name="矩形 189490"/>
          <p:cNvSpPr/>
          <p:nvPr/>
        </p:nvSpPr>
        <p:spPr>
          <a:xfrm>
            <a:off x="6896100" y="4057650"/>
            <a:ext cx="5619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30768" name="矩形 189491"/>
          <p:cNvSpPr/>
          <p:nvPr/>
        </p:nvSpPr>
        <p:spPr>
          <a:xfrm>
            <a:off x="7353300" y="4057650"/>
            <a:ext cx="5111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30769" name="矩形 189492"/>
          <p:cNvSpPr/>
          <p:nvPr/>
        </p:nvSpPr>
        <p:spPr>
          <a:xfrm>
            <a:off x="7734300" y="4057650"/>
            <a:ext cx="5111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30770" name="矩形 189493"/>
          <p:cNvSpPr/>
          <p:nvPr/>
        </p:nvSpPr>
        <p:spPr>
          <a:xfrm>
            <a:off x="6896100" y="5124450"/>
            <a:ext cx="1222375" cy="63817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30771" name="直接连接符 189494"/>
          <p:cNvSpPr/>
          <p:nvPr/>
        </p:nvSpPr>
        <p:spPr>
          <a:xfrm>
            <a:off x="7402513" y="2801938"/>
            <a:ext cx="0" cy="231775"/>
          </a:xfrm>
          <a:prstGeom prst="line">
            <a:avLst/>
          </a:prstGeom>
          <a:ln w="28575" cap="flat" cmpd="sng">
            <a:solidFill>
              <a:schemeClr val="tx1"/>
            </a:solidFill>
            <a:prstDash val="solid"/>
            <a:roun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9443">
                                            <p:txEl>
                                              <p:charRg st="14" end="40"/>
                                            </p:txEl>
                                          </p:spTgt>
                                        </p:tgtEl>
                                        <p:attrNameLst>
                                          <p:attrName>style.visibility</p:attrName>
                                        </p:attrNameLst>
                                      </p:cBhvr>
                                      <p:to>
                                        <p:strVal val="visible"/>
                                      </p:to>
                                    </p:set>
                                    <p:animEffect transition="in" filter="blinds(horizontal)">
                                      <p:cBhvr>
                                        <p:cTn id="7" dur="500"/>
                                        <p:tgtEl>
                                          <p:spTgt spid="189443">
                                            <p:txEl>
                                              <p:charRg st="14"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9443">
                                            <p:txEl>
                                              <p:charRg st="40" end="58"/>
                                            </p:txEl>
                                          </p:spTgt>
                                        </p:tgtEl>
                                        <p:attrNameLst>
                                          <p:attrName>style.visibility</p:attrName>
                                        </p:attrNameLst>
                                      </p:cBhvr>
                                      <p:to>
                                        <p:strVal val="visible"/>
                                      </p:to>
                                    </p:set>
                                    <p:animEffect transition="in" filter="blinds(horizontal)">
                                      <p:cBhvr>
                                        <p:cTn id="12" dur="500"/>
                                        <p:tgtEl>
                                          <p:spTgt spid="189443">
                                            <p:txEl>
                                              <p:charRg st="40" end="5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9443">
                                            <p:txEl>
                                              <p:charRg st="58" end="80"/>
                                            </p:txEl>
                                          </p:spTgt>
                                        </p:tgtEl>
                                        <p:attrNameLst>
                                          <p:attrName>style.visibility</p:attrName>
                                        </p:attrNameLst>
                                      </p:cBhvr>
                                      <p:to>
                                        <p:strVal val="visible"/>
                                      </p:to>
                                    </p:set>
                                    <p:animEffect transition="in" filter="blinds(horizontal)">
                                      <p:cBhvr>
                                        <p:cTn id="17" dur="500"/>
                                        <p:tgtEl>
                                          <p:spTgt spid="189443">
                                            <p:txEl>
                                              <p:charRg st="58" end="8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9443">
                                            <p:txEl>
                                              <p:charRg st="80" end="99"/>
                                            </p:txEl>
                                          </p:spTgt>
                                        </p:tgtEl>
                                        <p:attrNameLst>
                                          <p:attrName>style.visibility</p:attrName>
                                        </p:attrNameLst>
                                      </p:cBhvr>
                                      <p:to>
                                        <p:strVal val="visible"/>
                                      </p:to>
                                    </p:set>
                                    <p:animEffect transition="in" filter="blinds(horizontal)">
                                      <p:cBhvr>
                                        <p:cTn id="22" dur="500"/>
                                        <p:tgtEl>
                                          <p:spTgt spid="189443">
                                            <p:txEl>
                                              <p:charRg st="80" end="9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9443">
                                            <p:txEl>
                                              <p:charRg st="119" end="200"/>
                                            </p:txEl>
                                          </p:spTgt>
                                        </p:tgtEl>
                                        <p:attrNameLst>
                                          <p:attrName>style.visibility</p:attrName>
                                        </p:attrNameLst>
                                      </p:cBhvr>
                                      <p:to>
                                        <p:strVal val="visible"/>
                                      </p:to>
                                    </p:set>
                                    <p:animEffect transition="in" filter="blinds(horizontal)">
                                      <p:cBhvr>
                                        <p:cTn id="27" dur="500"/>
                                        <p:tgtEl>
                                          <p:spTgt spid="189443">
                                            <p:txEl>
                                              <p:charRg st="119" end="200"/>
                                            </p:txEl>
                                          </p:spTgt>
                                        </p:tgtEl>
                                      </p:cBhvr>
                                    </p:animEffect>
                                  </p:childTnLst>
                                  <p:subTnLst>
                                    <p:animClr clrSpc="rgb" dir="cw">
                                      <p:cBhvr override="childStyle">
                                        <p:cTn dur="1" fill="hold" display="0" masterRel="nextClick" afterEffect="1"/>
                                        <p:tgtEl>
                                          <p:spTgt spid="189443">
                                            <p:txEl>
                                              <p:charRg st="119" end="200"/>
                                            </p:txEl>
                                          </p:spTgt>
                                        </p:tgtEl>
                                        <p:attrNameLst>
                                          <p:attrName>ppt_c</p:attrName>
                                        </p:attrNameLst>
                                      </p:cBhvr>
                                      <p:to>
                                        <a:srgbClr val="91B3F1"/>
                                      </p:to>
                                    </p:animClr>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89443">
                                            <p:txEl>
                                              <p:charRg st="200" end="255"/>
                                            </p:txEl>
                                          </p:spTgt>
                                        </p:tgtEl>
                                        <p:attrNameLst>
                                          <p:attrName>style.visibility</p:attrName>
                                        </p:attrNameLst>
                                      </p:cBhvr>
                                      <p:to>
                                        <p:strVal val="visible"/>
                                      </p:to>
                                    </p:set>
                                    <p:animEffect transition="in" filter="blinds(horizontal)">
                                      <p:cBhvr>
                                        <p:cTn id="32" dur="500"/>
                                        <p:tgtEl>
                                          <p:spTgt spid="189443">
                                            <p:txEl>
                                              <p:charRg st="200" end="255"/>
                                            </p:txEl>
                                          </p:spTgt>
                                        </p:tgtEl>
                                      </p:cBhvr>
                                    </p:animEffect>
                                  </p:childTnLst>
                                  <p:subTnLst>
                                    <p:animClr clrSpc="rgb" dir="cw">
                                      <p:cBhvr override="childStyle">
                                        <p:cTn dur="1" fill="hold" display="0" masterRel="nextClick" afterEffect="1"/>
                                        <p:tgtEl>
                                          <p:spTgt spid="189443">
                                            <p:txEl>
                                              <p:charRg st="200" end="255"/>
                                            </p:txEl>
                                          </p:spTgt>
                                        </p:tgtEl>
                                        <p:attrNameLst>
                                          <p:attrName>ppt_c</p:attrName>
                                        </p:attrNameLst>
                                      </p:cBhvr>
                                      <p:to>
                                        <a:srgbClr val="91B3F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300033"/>
          <p:cNvSpPr>
            <a:spLocks noGrp="1"/>
          </p:cNvSpPr>
          <p:nvPr>
            <p:ph type="title"/>
          </p:nvPr>
        </p:nvSpPr>
        <p:spPr>
          <a:xfrm>
            <a:off x="390525" y="90488"/>
            <a:ext cx="4637088" cy="531812"/>
          </a:xfrm>
          <a:ln/>
        </p:spPr>
        <p:txBody>
          <a:bodyPr wrap="square" lIns="63500" tIns="25400" rIns="63500" bIns="25400" anchor="t" anchorCtr="0">
            <a:spAutoFit/>
          </a:bodyPr>
          <a:p>
            <a:pPr algn="l"/>
            <a:r>
              <a:rPr lang="zh-CN" altLang="en-US" dirty="0">
                <a:latin typeface="黑体" panose="02010609060101010101" pitchFamily="49" charset="-122"/>
              </a:rPr>
              <a:t>寄存器组的内部结构</a:t>
            </a:r>
            <a:endParaRPr lang="zh-CN" altLang="en-US" dirty="0">
              <a:latin typeface="黑体" panose="02010609060101010101" pitchFamily="49" charset="-122"/>
            </a:endParaRPr>
          </a:p>
        </p:txBody>
      </p:sp>
      <p:sp>
        <p:nvSpPr>
          <p:cNvPr id="32770" name="文本框 300118"/>
          <p:cNvSpPr txBox="1"/>
          <p:nvPr/>
        </p:nvSpPr>
        <p:spPr>
          <a:xfrm>
            <a:off x="266700" y="3551238"/>
            <a:ext cx="755650" cy="366712"/>
          </a:xfrm>
          <a:prstGeom prst="rect">
            <a:avLst/>
          </a:prstGeom>
          <a:noFill/>
          <a:ln w="12700">
            <a:noFill/>
          </a:ln>
        </p:spPr>
        <p:txBody>
          <a:bodyPr wrap="none" anchor="t" anchorCtr="0">
            <a:spAutoFit/>
          </a:bodyPr>
          <a:p>
            <a:r>
              <a:rPr lang="en-US" altLang="zh-CN" sz="1800" dirty="0" err="1">
                <a:latin typeface="Times New Roman" panose="02020603050405020304" pitchFamily="18" charset="0"/>
                <a:ea typeface="宋体" panose="02010600030101010101" pitchFamily="2" charset="-122"/>
              </a:rPr>
              <a:t>busW</a:t>
            </a:r>
            <a:endParaRPr lang="en-US" altLang="zh-CN" sz="1800">
              <a:latin typeface="Times New Roman" panose="02020603050405020304" pitchFamily="18" charset="0"/>
              <a:ea typeface="宋体" panose="02010600030101010101" pitchFamily="2" charset="-122"/>
            </a:endParaRPr>
          </a:p>
        </p:txBody>
      </p:sp>
      <p:sp>
        <p:nvSpPr>
          <p:cNvPr id="32771" name="任意多边形 300036"/>
          <p:cNvSpPr/>
          <p:nvPr/>
        </p:nvSpPr>
        <p:spPr>
          <a:xfrm>
            <a:off x="1301750" y="1238250"/>
            <a:ext cx="6581775" cy="5300663"/>
          </a:xfrm>
          <a:custGeom>
            <a:avLst/>
            <a:gdLst/>
            <a:ahLst/>
            <a:cxnLst/>
            <a:pathLst>
              <a:path w="1739" h="1276">
                <a:moveTo>
                  <a:pt x="1737" y="1275"/>
                </a:moveTo>
                <a:lnTo>
                  <a:pt x="1739" y="0"/>
                </a:lnTo>
                <a:lnTo>
                  <a:pt x="0" y="0"/>
                </a:lnTo>
                <a:lnTo>
                  <a:pt x="0" y="1276"/>
                </a:lnTo>
                <a:lnTo>
                  <a:pt x="1739" y="1276"/>
                </a:lnTo>
                <a:lnTo>
                  <a:pt x="1739" y="1276"/>
                </a:lnTo>
              </a:path>
            </a:pathLst>
          </a:custGeom>
          <a:noFill/>
          <a:ln w="6350" cap="flat" cmpd="sng">
            <a:solidFill>
              <a:srgbClr val="D90125"/>
            </a:solidFill>
            <a:prstDash val="solid"/>
            <a:round/>
            <a:headEnd type="none" w="med" len="med"/>
            <a:tailEnd type="none" w="med" len="med"/>
          </a:ln>
        </p:spPr>
        <p:txBody>
          <a:bodyPr/>
          <a:p>
            <a:endParaRPr lang="zh-CN" altLang="en-US"/>
          </a:p>
        </p:txBody>
      </p:sp>
      <p:sp>
        <p:nvSpPr>
          <p:cNvPr id="32772" name="任意多边形 300037"/>
          <p:cNvSpPr/>
          <p:nvPr/>
        </p:nvSpPr>
        <p:spPr>
          <a:xfrm>
            <a:off x="1644650" y="1535113"/>
            <a:ext cx="915988" cy="1171575"/>
          </a:xfrm>
          <a:custGeom>
            <a:avLst/>
            <a:gdLst/>
            <a:ahLst/>
            <a:cxnLst/>
            <a:pathLst>
              <a:path w="320" h="559">
                <a:moveTo>
                  <a:pt x="0" y="557"/>
                </a:moveTo>
                <a:lnTo>
                  <a:pt x="0" y="0"/>
                </a:lnTo>
                <a:lnTo>
                  <a:pt x="320" y="0"/>
                </a:lnTo>
                <a:lnTo>
                  <a:pt x="320" y="559"/>
                </a:lnTo>
                <a:lnTo>
                  <a:pt x="0" y="559"/>
                </a:lnTo>
                <a:lnTo>
                  <a:pt x="0" y="559"/>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73" name="任意多边形 300038"/>
          <p:cNvSpPr/>
          <p:nvPr/>
        </p:nvSpPr>
        <p:spPr>
          <a:xfrm>
            <a:off x="4592638" y="1509713"/>
            <a:ext cx="1225550" cy="457200"/>
          </a:xfrm>
          <a:custGeom>
            <a:avLst/>
            <a:gdLst/>
            <a:ahLst/>
            <a:cxnLst/>
            <a:pathLst>
              <a:path w="480" h="218">
                <a:moveTo>
                  <a:pt x="0" y="217"/>
                </a:moveTo>
                <a:lnTo>
                  <a:pt x="2" y="0"/>
                </a:lnTo>
                <a:lnTo>
                  <a:pt x="480" y="0"/>
                </a:lnTo>
                <a:lnTo>
                  <a:pt x="480" y="218"/>
                </a:lnTo>
                <a:lnTo>
                  <a:pt x="2" y="218"/>
                </a:lnTo>
                <a:lnTo>
                  <a:pt x="2" y="218"/>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74" name="任意多边形 300039"/>
          <p:cNvSpPr/>
          <p:nvPr/>
        </p:nvSpPr>
        <p:spPr>
          <a:xfrm>
            <a:off x="4592638" y="1966913"/>
            <a:ext cx="1225550" cy="455612"/>
          </a:xfrm>
          <a:custGeom>
            <a:avLst/>
            <a:gdLst/>
            <a:ahLst/>
            <a:cxnLst/>
            <a:pathLst>
              <a:path w="480" h="217">
                <a:moveTo>
                  <a:pt x="0" y="217"/>
                </a:moveTo>
                <a:lnTo>
                  <a:pt x="2" y="0"/>
                </a:lnTo>
                <a:lnTo>
                  <a:pt x="480" y="0"/>
                </a:lnTo>
                <a:lnTo>
                  <a:pt x="480" y="217"/>
                </a:lnTo>
                <a:lnTo>
                  <a:pt x="2" y="217"/>
                </a:lnTo>
                <a:lnTo>
                  <a:pt x="2" y="217"/>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75" name="任意多边形 300040"/>
          <p:cNvSpPr/>
          <p:nvPr/>
        </p:nvSpPr>
        <p:spPr>
          <a:xfrm>
            <a:off x="4592638" y="2422525"/>
            <a:ext cx="1225550" cy="455613"/>
          </a:xfrm>
          <a:custGeom>
            <a:avLst/>
            <a:gdLst/>
            <a:ahLst/>
            <a:cxnLst/>
            <a:pathLst>
              <a:path w="480" h="218">
                <a:moveTo>
                  <a:pt x="0" y="218"/>
                </a:moveTo>
                <a:lnTo>
                  <a:pt x="2" y="0"/>
                </a:lnTo>
                <a:lnTo>
                  <a:pt x="480" y="0"/>
                </a:lnTo>
                <a:lnTo>
                  <a:pt x="480" y="218"/>
                </a:lnTo>
                <a:lnTo>
                  <a:pt x="2" y="218"/>
                </a:lnTo>
                <a:lnTo>
                  <a:pt x="2" y="218"/>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76" name="任意多边形 300041"/>
          <p:cNvSpPr/>
          <p:nvPr/>
        </p:nvSpPr>
        <p:spPr>
          <a:xfrm>
            <a:off x="4592638" y="2878138"/>
            <a:ext cx="1225550" cy="455612"/>
          </a:xfrm>
          <a:custGeom>
            <a:avLst/>
            <a:gdLst/>
            <a:ahLst/>
            <a:cxnLst/>
            <a:pathLst>
              <a:path w="480" h="218">
                <a:moveTo>
                  <a:pt x="0" y="216"/>
                </a:moveTo>
                <a:lnTo>
                  <a:pt x="2" y="0"/>
                </a:lnTo>
                <a:lnTo>
                  <a:pt x="480" y="0"/>
                </a:lnTo>
                <a:lnTo>
                  <a:pt x="480" y="218"/>
                </a:lnTo>
                <a:lnTo>
                  <a:pt x="2" y="218"/>
                </a:lnTo>
                <a:lnTo>
                  <a:pt x="2" y="218"/>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77" name="任意多边形 300042"/>
          <p:cNvSpPr/>
          <p:nvPr/>
        </p:nvSpPr>
        <p:spPr>
          <a:xfrm>
            <a:off x="3890963" y="2865438"/>
            <a:ext cx="385762" cy="214312"/>
          </a:xfrm>
          <a:custGeom>
            <a:avLst/>
            <a:gdLst/>
            <a:ahLst/>
            <a:cxnLst/>
            <a:pathLst>
              <a:path w="151" h="102">
                <a:moveTo>
                  <a:pt x="90" y="100"/>
                </a:moveTo>
                <a:lnTo>
                  <a:pt x="101" y="100"/>
                </a:lnTo>
                <a:lnTo>
                  <a:pt x="111" y="99"/>
                </a:lnTo>
                <a:lnTo>
                  <a:pt x="119" y="96"/>
                </a:lnTo>
                <a:lnTo>
                  <a:pt x="126" y="91"/>
                </a:lnTo>
                <a:lnTo>
                  <a:pt x="134" y="86"/>
                </a:lnTo>
                <a:lnTo>
                  <a:pt x="140" y="80"/>
                </a:lnTo>
                <a:lnTo>
                  <a:pt x="145" y="74"/>
                </a:lnTo>
                <a:lnTo>
                  <a:pt x="149" y="66"/>
                </a:lnTo>
                <a:lnTo>
                  <a:pt x="151" y="58"/>
                </a:lnTo>
                <a:lnTo>
                  <a:pt x="151" y="51"/>
                </a:lnTo>
                <a:lnTo>
                  <a:pt x="151" y="43"/>
                </a:lnTo>
                <a:lnTo>
                  <a:pt x="149" y="35"/>
                </a:lnTo>
                <a:lnTo>
                  <a:pt x="145" y="28"/>
                </a:lnTo>
                <a:lnTo>
                  <a:pt x="140" y="21"/>
                </a:lnTo>
                <a:lnTo>
                  <a:pt x="134" y="15"/>
                </a:lnTo>
                <a:lnTo>
                  <a:pt x="126" y="10"/>
                </a:lnTo>
                <a:lnTo>
                  <a:pt x="119" y="6"/>
                </a:lnTo>
                <a:lnTo>
                  <a:pt x="111" y="3"/>
                </a:lnTo>
                <a:lnTo>
                  <a:pt x="101" y="1"/>
                </a:lnTo>
                <a:lnTo>
                  <a:pt x="90" y="0"/>
                </a:lnTo>
                <a:lnTo>
                  <a:pt x="0" y="0"/>
                </a:lnTo>
                <a:lnTo>
                  <a:pt x="0" y="102"/>
                </a:lnTo>
                <a:lnTo>
                  <a:pt x="90" y="102"/>
                </a:lnTo>
                <a:lnTo>
                  <a:pt x="90" y="102"/>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78" name="直接连接符 300043"/>
          <p:cNvSpPr/>
          <p:nvPr/>
        </p:nvSpPr>
        <p:spPr>
          <a:xfrm flipH="1">
            <a:off x="4281488" y="2971800"/>
            <a:ext cx="311150" cy="3175"/>
          </a:xfrm>
          <a:prstGeom prst="line">
            <a:avLst/>
          </a:prstGeom>
          <a:ln w="28575" cap="flat" cmpd="sng">
            <a:solidFill>
              <a:srgbClr val="000000"/>
            </a:solidFill>
            <a:prstDash val="solid"/>
            <a:round/>
            <a:headEnd type="none" w="med" len="med"/>
            <a:tailEnd type="none" w="med" len="med"/>
          </a:ln>
        </p:spPr>
      </p:sp>
      <p:sp>
        <p:nvSpPr>
          <p:cNvPr id="32779" name="直接连接符 300045"/>
          <p:cNvSpPr/>
          <p:nvPr/>
        </p:nvSpPr>
        <p:spPr>
          <a:xfrm flipH="1">
            <a:off x="3711575" y="2903538"/>
            <a:ext cx="179388" cy="1587"/>
          </a:xfrm>
          <a:prstGeom prst="line">
            <a:avLst/>
          </a:prstGeom>
          <a:ln w="28575" cap="flat" cmpd="sng">
            <a:solidFill>
              <a:srgbClr val="000000"/>
            </a:solidFill>
            <a:prstDash val="solid"/>
            <a:round/>
            <a:headEnd type="none" w="med" len="med"/>
            <a:tailEnd type="none" w="med" len="med"/>
          </a:ln>
        </p:spPr>
      </p:sp>
      <p:sp>
        <p:nvSpPr>
          <p:cNvPr id="32780" name="任意多边形 300046"/>
          <p:cNvSpPr/>
          <p:nvPr/>
        </p:nvSpPr>
        <p:spPr>
          <a:xfrm>
            <a:off x="3890963" y="3317875"/>
            <a:ext cx="385762" cy="212725"/>
          </a:xfrm>
          <a:custGeom>
            <a:avLst/>
            <a:gdLst/>
            <a:ahLst/>
            <a:cxnLst/>
            <a:pathLst>
              <a:path w="151" h="102">
                <a:moveTo>
                  <a:pt x="90" y="102"/>
                </a:moveTo>
                <a:lnTo>
                  <a:pt x="101" y="101"/>
                </a:lnTo>
                <a:lnTo>
                  <a:pt x="111" y="99"/>
                </a:lnTo>
                <a:lnTo>
                  <a:pt x="119" y="96"/>
                </a:lnTo>
                <a:lnTo>
                  <a:pt x="126" y="93"/>
                </a:lnTo>
                <a:lnTo>
                  <a:pt x="134" y="87"/>
                </a:lnTo>
                <a:lnTo>
                  <a:pt x="140" y="82"/>
                </a:lnTo>
                <a:lnTo>
                  <a:pt x="145" y="74"/>
                </a:lnTo>
                <a:lnTo>
                  <a:pt x="149" y="68"/>
                </a:lnTo>
                <a:lnTo>
                  <a:pt x="151" y="59"/>
                </a:lnTo>
                <a:lnTo>
                  <a:pt x="151" y="51"/>
                </a:lnTo>
                <a:lnTo>
                  <a:pt x="151" y="44"/>
                </a:lnTo>
                <a:lnTo>
                  <a:pt x="149" y="36"/>
                </a:lnTo>
                <a:lnTo>
                  <a:pt x="145" y="28"/>
                </a:lnTo>
                <a:lnTo>
                  <a:pt x="140" y="22"/>
                </a:lnTo>
                <a:lnTo>
                  <a:pt x="134" y="16"/>
                </a:lnTo>
                <a:lnTo>
                  <a:pt x="126" y="11"/>
                </a:lnTo>
                <a:lnTo>
                  <a:pt x="119" y="6"/>
                </a:lnTo>
                <a:lnTo>
                  <a:pt x="111" y="3"/>
                </a:lnTo>
                <a:lnTo>
                  <a:pt x="101" y="2"/>
                </a:lnTo>
                <a:lnTo>
                  <a:pt x="90" y="0"/>
                </a:lnTo>
                <a:lnTo>
                  <a:pt x="0" y="0"/>
                </a:lnTo>
                <a:lnTo>
                  <a:pt x="0" y="102"/>
                </a:lnTo>
                <a:lnTo>
                  <a:pt x="90" y="102"/>
                </a:lnTo>
                <a:lnTo>
                  <a:pt x="90" y="102"/>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81" name="直接连接符 300047"/>
          <p:cNvSpPr/>
          <p:nvPr/>
        </p:nvSpPr>
        <p:spPr>
          <a:xfrm flipH="1">
            <a:off x="4281488" y="3425825"/>
            <a:ext cx="311150" cy="1588"/>
          </a:xfrm>
          <a:prstGeom prst="line">
            <a:avLst/>
          </a:prstGeom>
          <a:ln w="28575" cap="flat" cmpd="sng">
            <a:solidFill>
              <a:srgbClr val="000000"/>
            </a:solidFill>
            <a:prstDash val="solid"/>
            <a:round/>
            <a:headEnd type="none" w="med" len="med"/>
            <a:tailEnd type="none" w="med" len="med"/>
          </a:ln>
        </p:spPr>
      </p:sp>
      <p:sp>
        <p:nvSpPr>
          <p:cNvPr id="32782" name="任意多边形 300051"/>
          <p:cNvSpPr/>
          <p:nvPr/>
        </p:nvSpPr>
        <p:spPr>
          <a:xfrm>
            <a:off x="4592638" y="3333750"/>
            <a:ext cx="1225550" cy="452438"/>
          </a:xfrm>
          <a:custGeom>
            <a:avLst/>
            <a:gdLst/>
            <a:ahLst/>
            <a:cxnLst/>
            <a:pathLst>
              <a:path w="480" h="216">
                <a:moveTo>
                  <a:pt x="0" y="216"/>
                </a:moveTo>
                <a:lnTo>
                  <a:pt x="2" y="0"/>
                </a:lnTo>
                <a:lnTo>
                  <a:pt x="480" y="0"/>
                </a:lnTo>
                <a:lnTo>
                  <a:pt x="480" y="216"/>
                </a:lnTo>
                <a:lnTo>
                  <a:pt x="2" y="216"/>
                </a:lnTo>
                <a:lnTo>
                  <a:pt x="2" y="216"/>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83" name="任意多边形 300052"/>
          <p:cNvSpPr/>
          <p:nvPr/>
        </p:nvSpPr>
        <p:spPr>
          <a:xfrm>
            <a:off x="5186363" y="2640013"/>
            <a:ext cx="36512" cy="20637"/>
          </a:xfrm>
          <a:custGeom>
            <a:avLst/>
            <a:gdLst/>
            <a:ahLst/>
            <a:cxnLst/>
            <a:pathLst>
              <a:path w="14" h="9">
                <a:moveTo>
                  <a:pt x="12" y="5"/>
                </a:moveTo>
                <a:lnTo>
                  <a:pt x="12" y="5"/>
                </a:lnTo>
                <a:lnTo>
                  <a:pt x="12" y="3"/>
                </a:lnTo>
                <a:lnTo>
                  <a:pt x="12" y="3"/>
                </a:lnTo>
                <a:lnTo>
                  <a:pt x="12" y="1"/>
                </a:lnTo>
                <a:lnTo>
                  <a:pt x="12" y="1"/>
                </a:lnTo>
                <a:lnTo>
                  <a:pt x="10" y="1"/>
                </a:lnTo>
                <a:lnTo>
                  <a:pt x="10" y="0"/>
                </a:lnTo>
                <a:lnTo>
                  <a:pt x="8" y="0"/>
                </a:lnTo>
                <a:lnTo>
                  <a:pt x="8" y="0"/>
                </a:lnTo>
                <a:lnTo>
                  <a:pt x="6" y="0"/>
                </a:lnTo>
                <a:lnTo>
                  <a:pt x="6" y="0"/>
                </a:lnTo>
                <a:lnTo>
                  <a:pt x="4" y="0"/>
                </a:lnTo>
                <a:lnTo>
                  <a:pt x="4" y="0"/>
                </a:lnTo>
                <a:lnTo>
                  <a:pt x="4" y="1"/>
                </a:lnTo>
                <a:lnTo>
                  <a:pt x="2" y="1"/>
                </a:lnTo>
                <a:lnTo>
                  <a:pt x="2" y="1"/>
                </a:lnTo>
                <a:lnTo>
                  <a:pt x="2" y="3"/>
                </a:lnTo>
                <a:lnTo>
                  <a:pt x="0" y="3"/>
                </a:lnTo>
                <a:lnTo>
                  <a:pt x="0" y="5"/>
                </a:lnTo>
                <a:lnTo>
                  <a:pt x="0" y="5"/>
                </a:lnTo>
                <a:lnTo>
                  <a:pt x="0" y="6"/>
                </a:lnTo>
                <a:lnTo>
                  <a:pt x="0" y="6"/>
                </a:lnTo>
                <a:lnTo>
                  <a:pt x="2" y="8"/>
                </a:lnTo>
                <a:lnTo>
                  <a:pt x="2" y="8"/>
                </a:lnTo>
                <a:lnTo>
                  <a:pt x="2" y="8"/>
                </a:lnTo>
                <a:lnTo>
                  <a:pt x="4" y="9"/>
                </a:lnTo>
                <a:lnTo>
                  <a:pt x="4" y="9"/>
                </a:lnTo>
                <a:lnTo>
                  <a:pt x="4" y="9"/>
                </a:lnTo>
                <a:lnTo>
                  <a:pt x="6" y="9"/>
                </a:lnTo>
                <a:lnTo>
                  <a:pt x="6" y="9"/>
                </a:lnTo>
                <a:lnTo>
                  <a:pt x="8" y="9"/>
                </a:lnTo>
                <a:lnTo>
                  <a:pt x="8" y="9"/>
                </a:lnTo>
                <a:lnTo>
                  <a:pt x="10" y="9"/>
                </a:lnTo>
                <a:lnTo>
                  <a:pt x="10" y="9"/>
                </a:lnTo>
                <a:lnTo>
                  <a:pt x="12" y="8"/>
                </a:lnTo>
                <a:lnTo>
                  <a:pt x="12" y="8"/>
                </a:lnTo>
                <a:lnTo>
                  <a:pt x="12" y="8"/>
                </a:lnTo>
                <a:lnTo>
                  <a:pt x="12" y="6"/>
                </a:lnTo>
                <a:lnTo>
                  <a:pt x="12" y="6"/>
                </a:lnTo>
                <a:lnTo>
                  <a:pt x="14" y="5"/>
                </a:lnTo>
                <a:lnTo>
                  <a:pt x="14" y="5"/>
                </a:lnTo>
                <a:lnTo>
                  <a:pt x="12" y="5"/>
                </a:lnTo>
                <a:close/>
              </a:path>
            </a:pathLst>
          </a:custGeom>
          <a:solidFill>
            <a:srgbClr val="000000"/>
          </a:solidFill>
          <a:ln w="9525">
            <a:noFill/>
          </a:ln>
        </p:spPr>
        <p:txBody>
          <a:bodyPr/>
          <a:p>
            <a:endParaRPr lang="zh-CN" altLang="en-US"/>
          </a:p>
        </p:txBody>
      </p:sp>
      <p:sp>
        <p:nvSpPr>
          <p:cNvPr id="32784" name="任意多边形 300053"/>
          <p:cNvSpPr/>
          <p:nvPr/>
        </p:nvSpPr>
        <p:spPr>
          <a:xfrm>
            <a:off x="5186363" y="2571750"/>
            <a:ext cx="36512" cy="22225"/>
          </a:xfrm>
          <a:custGeom>
            <a:avLst/>
            <a:gdLst/>
            <a:ahLst/>
            <a:cxnLst/>
            <a:pathLst>
              <a:path w="14" h="10">
                <a:moveTo>
                  <a:pt x="12" y="5"/>
                </a:moveTo>
                <a:lnTo>
                  <a:pt x="12" y="5"/>
                </a:lnTo>
                <a:lnTo>
                  <a:pt x="12" y="4"/>
                </a:lnTo>
                <a:lnTo>
                  <a:pt x="12" y="4"/>
                </a:lnTo>
                <a:lnTo>
                  <a:pt x="12" y="4"/>
                </a:lnTo>
                <a:lnTo>
                  <a:pt x="12" y="2"/>
                </a:lnTo>
                <a:lnTo>
                  <a:pt x="10" y="2"/>
                </a:lnTo>
                <a:lnTo>
                  <a:pt x="10" y="2"/>
                </a:lnTo>
                <a:lnTo>
                  <a:pt x="8" y="0"/>
                </a:lnTo>
                <a:lnTo>
                  <a:pt x="8" y="0"/>
                </a:lnTo>
                <a:lnTo>
                  <a:pt x="6" y="0"/>
                </a:lnTo>
                <a:lnTo>
                  <a:pt x="6" y="0"/>
                </a:lnTo>
                <a:lnTo>
                  <a:pt x="4" y="0"/>
                </a:lnTo>
                <a:lnTo>
                  <a:pt x="4" y="2"/>
                </a:lnTo>
                <a:lnTo>
                  <a:pt x="4" y="2"/>
                </a:lnTo>
                <a:lnTo>
                  <a:pt x="2" y="2"/>
                </a:lnTo>
                <a:lnTo>
                  <a:pt x="2" y="4"/>
                </a:lnTo>
                <a:lnTo>
                  <a:pt x="2" y="4"/>
                </a:lnTo>
                <a:lnTo>
                  <a:pt x="0" y="4"/>
                </a:lnTo>
                <a:lnTo>
                  <a:pt x="0" y="5"/>
                </a:lnTo>
                <a:lnTo>
                  <a:pt x="0" y="5"/>
                </a:lnTo>
                <a:lnTo>
                  <a:pt x="0" y="7"/>
                </a:lnTo>
                <a:lnTo>
                  <a:pt x="0" y="7"/>
                </a:lnTo>
                <a:lnTo>
                  <a:pt x="2" y="8"/>
                </a:lnTo>
                <a:lnTo>
                  <a:pt x="2" y="8"/>
                </a:lnTo>
                <a:lnTo>
                  <a:pt x="2" y="10"/>
                </a:lnTo>
                <a:lnTo>
                  <a:pt x="4" y="10"/>
                </a:lnTo>
                <a:lnTo>
                  <a:pt x="4" y="10"/>
                </a:lnTo>
                <a:lnTo>
                  <a:pt x="4" y="10"/>
                </a:lnTo>
                <a:lnTo>
                  <a:pt x="6" y="10"/>
                </a:lnTo>
                <a:lnTo>
                  <a:pt x="6" y="10"/>
                </a:lnTo>
                <a:lnTo>
                  <a:pt x="8" y="10"/>
                </a:lnTo>
                <a:lnTo>
                  <a:pt x="8" y="10"/>
                </a:lnTo>
                <a:lnTo>
                  <a:pt x="10" y="10"/>
                </a:lnTo>
                <a:lnTo>
                  <a:pt x="10" y="10"/>
                </a:lnTo>
                <a:lnTo>
                  <a:pt x="12" y="10"/>
                </a:lnTo>
                <a:lnTo>
                  <a:pt x="12" y="8"/>
                </a:lnTo>
                <a:lnTo>
                  <a:pt x="12" y="8"/>
                </a:lnTo>
                <a:lnTo>
                  <a:pt x="12" y="7"/>
                </a:lnTo>
                <a:lnTo>
                  <a:pt x="12" y="7"/>
                </a:lnTo>
                <a:lnTo>
                  <a:pt x="14" y="5"/>
                </a:lnTo>
                <a:lnTo>
                  <a:pt x="14" y="5"/>
                </a:lnTo>
                <a:lnTo>
                  <a:pt x="12" y="5"/>
                </a:lnTo>
                <a:close/>
              </a:path>
            </a:pathLst>
          </a:custGeom>
          <a:solidFill>
            <a:srgbClr val="000000"/>
          </a:solidFill>
          <a:ln w="9525">
            <a:noFill/>
          </a:ln>
        </p:spPr>
        <p:txBody>
          <a:bodyPr/>
          <a:p>
            <a:endParaRPr lang="zh-CN" altLang="en-US"/>
          </a:p>
        </p:txBody>
      </p:sp>
      <p:sp>
        <p:nvSpPr>
          <p:cNvPr id="32785" name="任意多边形 300054"/>
          <p:cNvSpPr/>
          <p:nvPr/>
        </p:nvSpPr>
        <p:spPr>
          <a:xfrm>
            <a:off x="5186363" y="2708275"/>
            <a:ext cx="36512" cy="22225"/>
          </a:xfrm>
          <a:custGeom>
            <a:avLst/>
            <a:gdLst/>
            <a:ahLst/>
            <a:cxnLst/>
            <a:pathLst>
              <a:path w="14" h="10">
                <a:moveTo>
                  <a:pt x="12" y="5"/>
                </a:moveTo>
                <a:lnTo>
                  <a:pt x="12" y="5"/>
                </a:lnTo>
                <a:lnTo>
                  <a:pt x="12" y="4"/>
                </a:lnTo>
                <a:lnTo>
                  <a:pt x="12" y="4"/>
                </a:lnTo>
                <a:lnTo>
                  <a:pt x="12" y="2"/>
                </a:lnTo>
                <a:lnTo>
                  <a:pt x="12" y="2"/>
                </a:lnTo>
                <a:lnTo>
                  <a:pt x="10" y="2"/>
                </a:lnTo>
                <a:lnTo>
                  <a:pt x="10" y="0"/>
                </a:lnTo>
                <a:lnTo>
                  <a:pt x="8" y="0"/>
                </a:lnTo>
                <a:lnTo>
                  <a:pt x="8" y="0"/>
                </a:lnTo>
                <a:lnTo>
                  <a:pt x="6" y="0"/>
                </a:lnTo>
                <a:lnTo>
                  <a:pt x="6" y="0"/>
                </a:lnTo>
                <a:lnTo>
                  <a:pt x="4" y="0"/>
                </a:lnTo>
                <a:lnTo>
                  <a:pt x="4" y="0"/>
                </a:lnTo>
                <a:lnTo>
                  <a:pt x="4" y="2"/>
                </a:lnTo>
                <a:lnTo>
                  <a:pt x="2" y="2"/>
                </a:lnTo>
                <a:lnTo>
                  <a:pt x="2" y="2"/>
                </a:lnTo>
                <a:lnTo>
                  <a:pt x="2" y="4"/>
                </a:lnTo>
                <a:lnTo>
                  <a:pt x="0" y="4"/>
                </a:lnTo>
                <a:lnTo>
                  <a:pt x="0" y="5"/>
                </a:lnTo>
                <a:lnTo>
                  <a:pt x="0" y="5"/>
                </a:lnTo>
                <a:lnTo>
                  <a:pt x="0" y="7"/>
                </a:lnTo>
                <a:lnTo>
                  <a:pt x="0" y="7"/>
                </a:lnTo>
                <a:lnTo>
                  <a:pt x="2" y="7"/>
                </a:lnTo>
                <a:lnTo>
                  <a:pt x="2" y="8"/>
                </a:lnTo>
                <a:lnTo>
                  <a:pt x="2" y="8"/>
                </a:lnTo>
                <a:lnTo>
                  <a:pt x="4" y="10"/>
                </a:lnTo>
                <a:lnTo>
                  <a:pt x="4" y="10"/>
                </a:lnTo>
                <a:lnTo>
                  <a:pt x="4" y="10"/>
                </a:lnTo>
                <a:lnTo>
                  <a:pt x="6" y="10"/>
                </a:lnTo>
                <a:lnTo>
                  <a:pt x="6" y="10"/>
                </a:lnTo>
                <a:lnTo>
                  <a:pt x="8" y="10"/>
                </a:lnTo>
                <a:lnTo>
                  <a:pt x="8" y="10"/>
                </a:lnTo>
                <a:lnTo>
                  <a:pt x="10" y="10"/>
                </a:lnTo>
                <a:lnTo>
                  <a:pt x="10" y="10"/>
                </a:lnTo>
                <a:lnTo>
                  <a:pt x="12" y="8"/>
                </a:lnTo>
                <a:lnTo>
                  <a:pt x="12" y="8"/>
                </a:lnTo>
                <a:lnTo>
                  <a:pt x="12" y="7"/>
                </a:lnTo>
                <a:lnTo>
                  <a:pt x="12" y="7"/>
                </a:lnTo>
                <a:lnTo>
                  <a:pt x="12" y="7"/>
                </a:lnTo>
                <a:lnTo>
                  <a:pt x="14" y="5"/>
                </a:lnTo>
                <a:lnTo>
                  <a:pt x="14" y="5"/>
                </a:lnTo>
                <a:lnTo>
                  <a:pt x="12" y="5"/>
                </a:lnTo>
                <a:close/>
              </a:path>
            </a:pathLst>
          </a:custGeom>
          <a:solidFill>
            <a:srgbClr val="000000"/>
          </a:solidFill>
          <a:ln w="9525">
            <a:noFill/>
          </a:ln>
        </p:spPr>
        <p:txBody>
          <a:bodyPr/>
          <a:p>
            <a:endParaRPr lang="zh-CN" altLang="en-US"/>
          </a:p>
        </p:txBody>
      </p:sp>
      <p:sp>
        <p:nvSpPr>
          <p:cNvPr id="32786" name="直接连接符 300055"/>
          <p:cNvSpPr/>
          <p:nvPr/>
        </p:nvSpPr>
        <p:spPr>
          <a:xfrm flipH="1">
            <a:off x="3524250" y="3240088"/>
            <a:ext cx="1090613" cy="1587"/>
          </a:xfrm>
          <a:prstGeom prst="line">
            <a:avLst/>
          </a:prstGeom>
          <a:ln w="25400" cap="flat" cmpd="sng">
            <a:solidFill>
              <a:srgbClr val="000000"/>
            </a:solidFill>
            <a:prstDash val="solid"/>
            <a:round/>
            <a:headEnd type="triangle" w="med" len="med"/>
            <a:tailEnd type="none" w="med" len="med"/>
          </a:ln>
        </p:spPr>
      </p:sp>
      <p:sp>
        <p:nvSpPr>
          <p:cNvPr id="32787" name="任意多边形 300056"/>
          <p:cNvSpPr/>
          <p:nvPr/>
        </p:nvSpPr>
        <p:spPr>
          <a:xfrm>
            <a:off x="3524250" y="1855788"/>
            <a:ext cx="1074738" cy="1838325"/>
          </a:xfrm>
          <a:custGeom>
            <a:avLst/>
            <a:gdLst/>
            <a:ahLst/>
            <a:cxnLst/>
            <a:pathLst>
              <a:path w="389" h="870">
                <a:moveTo>
                  <a:pt x="0" y="870"/>
                </a:moveTo>
                <a:lnTo>
                  <a:pt x="0" y="0"/>
                </a:lnTo>
                <a:lnTo>
                  <a:pt x="389" y="0"/>
                </a:lnTo>
              </a:path>
            </a:pathLst>
          </a:custGeom>
          <a:noFill/>
          <a:ln w="25400" cap="flat" cmpd="sng">
            <a:solidFill>
              <a:srgbClr val="000000"/>
            </a:solidFill>
            <a:prstDash val="solid"/>
            <a:round/>
            <a:headEnd type="none" w="med" len="med"/>
            <a:tailEnd type="triangle" w="med" len="med"/>
          </a:ln>
        </p:spPr>
        <p:txBody>
          <a:bodyPr/>
          <a:p>
            <a:endParaRPr lang="zh-CN" altLang="en-US"/>
          </a:p>
        </p:txBody>
      </p:sp>
      <p:sp>
        <p:nvSpPr>
          <p:cNvPr id="32788" name="任意多边形 300057"/>
          <p:cNvSpPr/>
          <p:nvPr/>
        </p:nvSpPr>
        <p:spPr>
          <a:xfrm>
            <a:off x="3890963" y="1498600"/>
            <a:ext cx="385762" cy="212725"/>
          </a:xfrm>
          <a:custGeom>
            <a:avLst/>
            <a:gdLst/>
            <a:ahLst/>
            <a:cxnLst/>
            <a:pathLst>
              <a:path w="151" h="102">
                <a:moveTo>
                  <a:pt x="90" y="102"/>
                </a:moveTo>
                <a:lnTo>
                  <a:pt x="101" y="100"/>
                </a:lnTo>
                <a:lnTo>
                  <a:pt x="111" y="99"/>
                </a:lnTo>
                <a:lnTo>
                  <a:pt x="119" y="96"/>
                </a:lnTo>
                <a:lnTo>
                  <a:pt x="126" y="93"/>
                </a:lnTo>
                <a:lnTo>
                  <a:pt x="134" y="87"/>
                </a:lnTo>
                <a:lnTo>
                  <a:pt x="140" y="82"/>
                </a:lnTo>
                <a:lnTo>
                  <a:pt x="145" y="74"/>
                </a:lnTo>
                <a:lnTo>
                  <a:pt x="149" y="68"/>
                </a:lnTo>
                <a:lnTo>
                  <a:pt x="151" y="60"/>
                </a:lnTo>
                <a:lnTo>
                  <a:pt x="151" y="51"/>
                </a:lnTo>
                <a:lnTo>
                  <a:pt x="151" y="43"/>
                </a:lnTo>
                <a:lnTo>
                  <a:pt x="149" y="36"/>
                </a:lnTo>
                <a:lnTo>
                  <a:pt x="145" y="28"/>
                </a:lnTo>
                <a:lnTo>
                  <a:pt x="140" y="22"/>
                </a:lnTo>
                <a:lnTo>
                  <a:pt x="134" y="15"/>
                </a:lnTo>
                <a:lnTo>
                  <a:pt x="126" y="11"/>
                </a:lnTo>
                <a:lnTo>
                  <a:pt x="119" y="6"/>
                </a:lnTo>
                <a:lnTo>
                  <a:pt x="111" y="3"/>
                </a:lnTo>
                <a:lnTo>
                  <a:pt x="101" y="1"/>
                </a:lnTo>
                <a:lnTo>
                  <a:pt x="90" y="0"/>
                </a:lnTo>
                <a:lnTo>
                  <a:pt x="0" y="0"/>
                </a:lnTo>
                <a:lnTo>
                  <a:pt x="0" y="102"/>
                </a:lnTo>
                <a:lnTo>
                  <a:pt x="90" y="102"/>
                </a:lnTo>
                <a:lnTo>
                  <a:pt x="90" y="102"/>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89" name="直接连接符 300058"/>
          <p:cNvSpPr/>
          <p:nvPr/>
        </p:nvSpPr>
        <p:spPr>
          <a:xfrm flipH="1">
            <a:off x="4281488" y="1604963"/>
            <a:ext cx="311150" cy="3175"/>
          </a:xfrm>
          <a:prstGeom prst="line">
            <a:avLst/>
          </a:prstGeom>
          <a:ln w="28575" cap="flat" cmpd="sng">
            <a:solidFill>
              <a:srgbClr val="000000"/>
            </a:solidFill>
            <a:prstDash val="solid"/>
            <a:round/>
            <a:headEnd type="none" w="med" len="med"/>
            <a:tailEnd type="none" w="med" len="med"/>
          </a:ln>
        </p:spPr>
      </p:sp>
      <p:sp>
        <p:nvSpPr>
          <p:cNvPr id="32790" name="矩形 300059"/>
          <p:cNvSpPr/>
          <p:nvPr/>
        </p:nvSpPr>
        <p:spPr>
          <a:xfrm>
            <a:off x="4610100" y="1541463"/>
            <a:ext cx="93663" cy="152400"/>
          </a:xfrm>
          <a:prstGeom prst="rect">
            <a:avLst/>
          </a:prstGeom>
          <a:noFill/>
          <a:ln w="9525">
            <a:noFill/>
          </a:ln>
        </p:spPr>
        <p:txBody>
          <a:bodyPr wrap="none" lIns="0" tIns="0" rIns="0" bIns="0" anchor="t" anchorCtr="0">
            <a:spAutoFit/>
          </a:bodyPr>
          <a:p>
            <a:r>
              <a:rPr lang="en-US" altLang="zh-CN" sz="1000" b="0">
                <a:solidFill>
                  <a:srgbClr val="000000"/>
                </a:solidFill>
                <a:latin typeface="Arial" panose="020B0604020202020204" pitchFamily="34" charset="0"/>
                <a:ea typeface="宋体" panose="02010600030101010101" pitchFamily="2" charset="-122"/>
              </a:rPr>
              <a:t>C</a:t>
            </a:r>
            <a:endParaRPr lang="en-US" altLang="zh-CN" sz="1000" b="0">
              <a:latin typeface="Times New Roman" panose="02020603050405020304" pitchFamily="18" charset="0"/>
              <a:ea typeface="宋体" panose="02010600030101010101" pitchFamily="2" charset="-122"/>
            </a:endParaRPr>
          </a:p>
        </p:txBody>
      </p:sp>
      <p:sp>
        <p:nvSpPr>
          <p:cNvPr id="32791" name="任意多边形 300060"/>
          <p:cNvSpPr/>
          <p:nvPr/>
        </p:nvSpPr>
        <p:spPr>
          <a:xfrm>
            <a:off x="3890963" y="1955800"/>
            <a:ext cx="385762" cy="209550"/>
          </a:xfrm>
          <a:custGeom>
            <a:avLst/>
            <a:gdLst/>
            <a:ahLst/>
            <a:cxnLst/>
            <a:pathLst>
              <a:path w="151" h="101">
                <a:moveTo>
                  <a:pt x="90" y="101"/>
                </a:moveTo>
                <a:lnTo>
                  <a:pt x="101" y="101"/>
                </a:lnTo>
                <a:lnTo>
                  <a:pt x="111" y="97"/>
                </a:lnTo>
                <a:lnTo>
                  <a:pt x="119" y="94"/>
                </a:lnTo>
                <a:lnTo>
                  <a:pt x="126" y="91"/>
                </a:lnTo>
                <a:lnTo>
                  <a:pt x="134" y="85"/>
                </a:lnTo>
                <a:lnTo>
                  <a:pt x="140" y="80"/>
                </a:lnTo>
                <a:lnTo>
                  <a:pt x="145" y="73"/>
                </a:lnTo>
                <a:lnTo>
                  <a:pt x="149" y="67"/>
                </a:lnTo>
                <a:lnTo>
                  <a:pt x="151" y="59"/>
                </a:lnTo>
                <a:lnTo>
                  <a:pt x="151" y="50"/>
                </a:lnTo>
                <a:lnTo>
                  <a:pt x="151" y="42"/>
                </a:lnTo>
                <a:lnTo>
                  <a:pt x="149" y="34"/>
                </a:lnTo>
                <a:lnTo>
                  <a:pt x="145" y="26"/>
                </a:lnTo>
                <a:lnTo>
                  <a:pt x="140" y="20"/>
                </a:lnTo>
                <a:lnTo>
                  <a:pt x="134" y="14"/>
                </a:lnTo>
                <a:lnTo>
                  <a:pt x="126" y="9"/>
                </a:lnTo>
                <a:lnTo>
                  <a:pt x="119" y="5"/>
                </a:lnTo>
                <a:lnTo>
                  <a:pt x="111" y="2"/>
                </a:lnTo>
                <a:lnTo>
                  <a:pt x="101" y="0"/>
                </a:lnTo>
                <a:lnTo>
                  <a:pt x="90" y="0"/>
                </a:lnTo>
                <a:lnTo>
                  <a:pt x="0" y="0"/>
                </a:lnTo>
                <a:lnTo>
                  <a:pt x="0" y="101"/>
                </a:lnTo>
                <a:lnTo>
                  <a:pt x="90" y="101"/>
                </a:lnTo>
                <a:lnTo>
                  <a:pt x="90" y="101"/>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92" name="直接连接符 300061"/>
          <p:cNvSpPr/>
          <p:nvPr/>
        </p:nvSpPr>
        <p:spPr>
          <a:xfrm flipH="1">
            <a:off x="4281488" y="2058988"/>
            <a:ext cx="300037" cy="1587"/>
          </a:xfrm>
          <a:prstGeom prst="line">
            <a:avLst/>
          </a:prstGeom>
          <a:ln w="28575" cap="flat" cmpd="sng">
            <a:solidFill>
              <a:srgbClr val="000000"/>
            </a:solidFill>
            <a:prstDash val="solid"/>
            <a:round/>
            <a:headEnd type="none" w="med" len="med"/>
            <a:tailEnd type="none" w="med" len="med"/>
          </a:ln>
        </p:spPr>
      </p:sp>
      <p:sp>
        <p:nvSpPr>
          <p:cNvPr id="32793" name="矩形 300063"/>
          <p:cNvSpPr/>
          <p:nvPr/>
        </p:nvSpPr>
        <p:spPr>
          <a:xfrm>
            <a:off x="4608513" y="1792288"/>
            <a:ext cx="92075" cy="152400"/>
          </a:xfrm>
          <a:prstGeom prst="rect">
            <a:avLst/>
          </a:prstGeom>
          <a:noFill/>
          <a:ln w="9525">
            <a:noFill/>
          </a:ln>
        </p:spPr>
        <p:txBody>
          <a:bodyPr wrap="none" lIns="0" tIns="0" rIns="0" bIns="0" anchor="t" anchorCtr="0">
            <a:spAutoFit/>
          </a:bodyPr>
          <a:p>
            <a:r>
              <a:rPr lang="en-US" altLang="zh-CN" sz="1000" b="0">
                <a:solidFill>
                  <a:srgbClr val="000000"/>
                </a:solidFill>
                <a:latin typeface="Arial" panose="020B0604020202020204" pitchFamily="34" charset="0"/>
                <a:ea typeface="宋体" panose="02010600030101010101" pitchFamily="2" charset="-122"/>
              </a:rPr>
              <a:t>D</a:t>
            </a:r>
            <a:endParaRPr lang="en-US" altLang="zh-CN" sz="1000">
              <a:latin typeface="Times New Roman" panose="02020603050405020304" pitchFamily="18" charset="0"/>
              <a:ea typeface="宋体" panose="02010600030101010101" pitchFamily="2" charset="-122"/>
            </a:endParaRPr>
          </a:p>
        </p:txBody>
      </p:sp>
      <p:sp>
        <p:nvSpPr>
          <p:cNvPr id="32794" name="直接连接符 300065"/>
          <p:cNvSpPr/>
          <p:nvPr/>
        </p:nvSpPr>
        <p:spPr>
          <a:xfrm flipH="1">
            <a:off x="3544888" y="2327275"/>
            <a:ext cx="1049337" cy="3175"/>
          </a:xfrm>
          <a:prstGeom prst="line">
            <a:avLst/>
          </a:prstGeom>
          <a:ln w="25400" cap="flat" cmpd="sng">
            <a:solidFill>
              <a:srgbClr val="000000"/>
            </a:solidFill>
            <a:prstDash val="solid"/>
            <a:round/>
            <a:headEnd type="triangle" w="med" len="med"/>
            <a:tailEnd type="none" w="med" len="med"/>
          </a:ln>
        </p:spPr>
      </p:sp>
      <p:sp>
        <p:nvSpPr>
          <p:cNvPr id="32795" name="直接连接符 300066"/>
          <p:cNvSpPr/>
          <p:nvPr/>
        </p:nvSpPr>
        <p:spPr>
          <a:xfrm flipH="1" flipV="1">
            <a:off x="3711575" y="1538288"/>
            <a:ext cx="179388" cy="4762"/>
          </a:xfrm>
          <a:prstGeom prst="line">
            <a:avLst/>
          </a:prstGeom>
          <a:ln w="28575" cap="flat" cmpd="sng">
            <a:solidFill>
              <a:srgbClr val="000000"/>
            </a:solidFill>
            <a:prstDash val="solid"/>
            <a:round/>
            <a:headEnd type="none" w="med" len="med"/>
            <a:tailEnd type="none" w="med" len="med"/>
          </a:ln>
        </p:spPr>
      </p:sp>
      <p:sp>
        <p:nvSpPr>
          <p:cNvPr id="32796" name="直接连接符 300067"/>
          <p:cNvSpPr/>
          <p:nvPr/>
        </p:nvSpPr>
        <p:spPr>
          <a:xfrm flipH="1">
            <a:off x="3711575" y="1990725"/>
            <a:ext cx="179388" cy="1588"/>
          </a:xfrm>
          <a:prstGeom prst="line">
            <a:avLst/>
          </a:prstGeom>
          <a:ln w="28575" cap="flat" cmpd="sng">
            <a:solidFill>
              <a:srgbClr val="000000"/>
            </a:solidFill>
            <a:prstDash val="solid"/>
            <a:round/>
            <a:headEnd type="none" w="med" len="med"/>
            <a:tailEnd type="none" w="med" len="med"/>
          </a:ln>
        </p:spPr>
      </p:sp>
      <p:sp>
        <p:nvSpPr>
          <p:cNvPr id="32797" name="任意多边形 300068"/>
          <p:cNvSpPr/>
          <p:nvPr/>
        </p:nvSpPr>
        <p:spPr>
          <a:xfrm>
            <a:off x="2560638" y="1841500"/>
            <a:ext cx="1330325" cy="285750"/>
          </a:xfrm>
          <a:custGeom>
            <a:avLst/>
            <a:gdLst/>
            <a:ahLst/>
            <a:cxnLst/>
            <a:pathLst>
              <a:path w="521" h="136">
                <a:moveTo>
                  <a:pt x="521" y="134"/>
                </a:moveTo>
                <a:lnTo>
                  <a:pt x="235" y="136"/>
                </a:lnTo>
                <a:lnTo>
                  <a:pt x="235" y="0"/>
                </a:lnTo>
                <a:lnTo>
                  <a:pt x="0" y="0"/>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798" name="任意多边形 300069"/>
          <p:cNvSpPr/>
          <p:nvPr/>
        </p:nvSpPr>
        <p:spPr>
          <a:xfrm>
            <a:off x="3660775" y="1484313"/>
            <a:ext cx="76200" cy="79375"/>
          </a:xfrm>
          <a:custGeom>
            <a:avLst/>
            <a:gdLst/>
            <a:ahLst/>
            <a:cxnLst/>
            <a:pathLst>
              <a:path w="30" h="25">
                <a:moveTo>
                  <a:pt x="15" y="25"/>
                </a:moveTo>
                <a:lnTo>
                  <a:pt x="19" y="25"/>
                </a:lnTo>
                <a:lnTo>
                  <a:pt x="21" y="25"/>
                </a:lnTo>
                <a:lnTo>
                  <a:pt x="23" y="25"/>
                </a:lnTo>
                <a:lnTo>
                  <a:pt x="25" y="23"/>
                </a:lnTo>
                <a:lnTo>
                  <a:pt x="26" y="22"/>
                </a:lnTo>
                <a:lnTo>
                  <a:pt x="28" y="20"/>
                </a:lnTo>
                <a:lnTo>
                  <a:pt x="30" y="19"/>
                </a:lnTo>
                <a:lnTo>
                  <a:pt x="30" y="17"/>
                </a:lnTo>
                <a:lnTo>
                  <a:pt x="30" y="16"/>
                </a:lnTo>
                <a:lnTo>
                  <a:pt x="30" y="12"/>
                </a:lnTo>
                <a:lnTo>
                  <a:pt x="30" y="11"/>
                </a:lnTo>
                <a:lnTo>
                  <a:pt x="30" y="9"/>
                </a:lnTo>
                <a:lnTo>
                  <a:pt x="30" y="6"/>
                </a:lnTo>
                <a:lnTo>
                  <a:pt x="28" y="5"/>
                </a:lnTo>
                <a:lnTo>
                  <a:pt x="26" y="3"/>
                </a:lnTo>
                <a:lnTo>
                  <a:pt x="25" y="2"/>
                </a:lnTo>
                <a:lnTo>
                  <a:pt x="23" y="2"/>
                </a:lnTo>
                <a:lnTo>
                  <a:pt x="21" y="0"/>
                </a:lnTo>
                <a:lnTo>
                  <a:pt x="19" y="0"/>
                </a:lnTo>
                <a:lnTo>
                  <a:pt x="15" y="0"/>
                </a:lnTo>
                <a:lnTo>
                  <a:pt x="13" y="0"/>
                </a:lnTo>
                <a:lnTo>
                  <a:pt x="11" y="0"/>
                </a:lnTo>
                <a:lnTo>
                  <a:pt x="7" y="2"/>
                </a:lnTo>
                <a:lnTo>
                  <a:pt x="5" y="2"/>
                </a:lnTo>
                <a:lnTo>
                  <a:pt x="3" y="3"/>
                </a:lnTo>
                <a:lnTo>
                  <a:pt x="2" y="5"/>
                </a:lnTo>
                <a:lnTo>
                  <a:pt x="2" y="6"/>
                </a:lnTo>
                <a:lnTo>
                  <a:pt x="0" y="9"/>
                </a:lnTo>
                <a:lnTo>
                  <a:pt x="0" y="11"/>
                </a:lnTo>
                <a:lnTo>
                  <a:pt x="0" y="12"/>
                </a:lnTo>
                <a:lnTo>
                  <a:pt x="0" y="16"/>
                </a:lnTo>
                <a:lnTo>
                  <a:pt x="0" y="17"/>
                </a:lnTo>
                <a:lnTo>
                  <a:pt x="2" y="19"/>
                </a:lnTo>
                <a:lnTo>
                  <a:pt x="2" y="20"/>
                </a:lnTo>
                <a:lnTo>
                  <a:pt x="3" y="22"/>
                </a:lnTo>
                <a:lnTo>
                  <a:pt x="5" y="23"/>
                </a:lnTo>
                <a:lnTo>
                  <a:pt x="7" y="25"/>
                </a:lnTo>
                <a:lnTo>
                  <a:pt x="11" y="25"/>
                </a:lnTo>
                <a:lnTo>
                  <a:pt x="13" y="25"/>
                </a:lnTo>
                <a:lnTo>
                  <a:pt x="15" y="25"/>
                </a:lnTo>
                <a:lnTo>
                  <a:pt x="15" y="25"/>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799" name="任意多边形 300070"/>
          <p:cNvSpPr/>
          <p:nvPr/>
        </p:nvSpPr>
        <p:spPr>
          <a:xfrm>
            <a:off x="3673475" y="2865438"/>
            <a:ext cx="63500" cy="63500"/>
          </a:xfrm>
          <a:custGeom>
            <a:avLst/>
            <a:gdLst/>
            <a:ahLst/>
            <a:cxnLst/>
            <a:pathLst>
              <a:path w="30" h="25">
                <a:moveTo>
                  <a:pt x="15" y="25"/>
                </a:moveTo>
                <a:lnTo>
                  <a:pt x="19" y="25"/>
                </a:lnTo>
                <a:lnTo>
                  <a:pt x="21" y="25"/>
                </a:lnTo>
                <a:lnTo>
                  <a:pt x="23" y="23"/>
                </a:lnTo>
                <a:lnTo>
                  <a:pt x="25" y="23"/>
                </a:lnTo>
                <a:lnTo>
                  <a:pt x="26" y="22"/>
                </a:lnTo>
                <a:lnTo>
                  <a:pt x="28" y="20"/>
                </a:lnTo>
                <a:lnTo>
                  <a:pt x="30" y="18"/>
                </a:lnTo>
                <a:lnTo>
                  <a:pt x="30" y="17"/>
                </a:lnTo>
                <a:lnTo>
                  <a:pt x="30" y="14"/>
                </a:lnTo>
                <a:lnTo>
                  <a:pt x="30" y="12"/>
                </a:lnTo>
                <a:lnTo>
                  <a:pt x="30" y="11"/>
                </a:lnTo>
                <a:lnTo>
                  <a:pt x="30" y="8"/>
                </a:lnTo>
                <a:lnTo>
                  <a:pt x="30" y="6"/>
                </a:lnTo>
                <a:lnTo>
                  <a:pt x="28" y="4"/>
                </a:lnTo>
                <a:lnTo>
                  <a:pt x="26" y="3"/>
                </a:lnTo>
                <a:lnTo>
                  <a:pt x="25" y="1"/>
                </a:lnTo>
                <a:lnTo>
                  <a:pt x="23" y="1"/>
                </a:lnTo>
                <a:lnTo>
                  <a:pt x="21" y="0"/>
                </a:lnTo>
                <a:lnTo>
                  <a:pt x="19" y="0"/>
                </a:lnTo>
                <a:lnTo>
                  <a:pt x="15" y="0"/>
                </a:lnTo>
                <a:lnTo>
                  <a:pt x="13" y="0"/>
                </a:lnTo>
                <a:lnTo>
                  <a:pt x="11" y="0"/>
                </a:lnTo>
                <a:lnTo>
                  <a:pt x="7" y="1"/>
                </a:lnTo>
                <a:lnTo>
                  <a:pt x="5" y="1"/>
                </a:lnTo>
                <a:lnTo>
                  <a:pt x="3" y="3"/>
                </a:lnTo>
                <a:lnTo>
                  <a:pt x="2" y="4"/>
                </a:lnTo>
                <a:lnTo>
                  <a:pt x="2" y="6"/>
                </a:lnTo>
                <a:lnTo>
                  <a:pt x="0" y="8"/>
                </a:lnTo>
                <a:lnTo>
                  <a:pt x="0" y="11"/>
                </a:lnTo>
                <a:lnTo>
                  <a:pt x="0" y="12"/>
                </a:lnTo>
                <a:lnTo>
                  <a:pt x="0" y="14"/>
                </a:lnTo>
                <a:lnTo>
                  <a:pt x="0" y="17"/>
                </a:lnTo>
                <a:lnTo>
                  <a:pt x="2" y="18"/>
                </a:lnTo>
                <a:lnTo>
                  <a:pt x="2" y="20"/>
                </a:lnTo>
                <a:lnTo>
                  <a:pt x="3" y="22"/>
                </a:lnTo>
                <a:lnTo>
                  <a:pt x="5" y="23"/>
                </a:lnTo>
                <a:lnTo>
                  <a:pt x="7" y="23"/>
                </a:lnTo>
                <a:lnTo>
                  <a:pt x="11" y="25"/>
                </a:lnTo>
                <a:lnTo>
                  <a:pt x="13" y="25"/>
                </a:lnTo>
                <a:lnTo>
                  <a:pt x="15" y="25"/>
                </a:lnTo>
                <a:lnTo>
                  <a:pt x="15" y="25"/>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800" name="直接连接符 300071"/>
          <p:cNvSpPr/>
          <p:nvPr/>
        </p:nvSpPr>
        <p:spPr>
          <a:xfrm flipH="1">
            <a:off x="1093788" y="3709988"/>
            <a:ext cx="3479800" cy="6350"/>
          </a:xfrm>
          <a:prstGeom prst="line">
            <a:avLst/>
          </a:prstGeom>
          <a:ln w="25400" cap="flat" cmpd="sng">
            <a:solidFill>
              <a:srgbClr val="000000"/>
            </a:solidFill>
            <a:prstDash val="solid"/>
            <a:round/>
            <a:headEnd type="triangle" w="med" len="med"/>
            <a:tailEnd type="none" w="med" len="med"/>
          </a:ln>
        </p:spPr>
      </p:sp>
      <p:sp>
        <p:nvSpPr>
          <p:cNvPr id="32801" name="任意多边形 300072"/>
          <p:cNvSpPr/>
          <p:nvPr/>
        </p:nvSpPr>
        <p:spPr>
          <a:xfrm>
            <a:off x="2560638" y="2400300"/>
            <a:ext cx="1330325" cy="638175"/>
          </a:xfrm>
          <a:custGeom>
            <a:avLst/>
            <a:gdLst/>
            <a:ahLst/>
            <a:cxnLst/>
            <a:pathLst>
              <a:path w="521" h="305">
                <a:moveTo>
                  <a:pt x="521" y="304"/>
                </a:moveTo>
                <a:lnTo>
                  <a:pt x="306" y="305"/>
                </a:lnTo>
                <a:lnTo>
                  <a:pt x="306" y="0"/>
                </a:lnTo>
                <a:lnTo>
                  <a:pt x="0" y="0"/>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802" name="任意多边形 300073"/>
          <p:cNvSpPr/>
          <p:nvPr/>
        </p:nvSpPr>
        <p:spPr>
          <a:xfrm>
            <a:off x="2560638" y="2570163"/>
            <a:ext cx="1330325" cy="936625"/>
          </a:xfrm>
          <a:custGeom>
            <a:avLst/>
            <a:gdLst/>
            <a:ahLst/>
            <a:cxnLst/>
            <a:pathLst>
              <a:path w="521" h="441">
                <a:moveTo>
                  <a:pt x="521" y="439"/>
                </a:moveTo>
                <a:lnTo>
                  <a:pt x="235" y="441"/>
                </a:lnTo>
                <a:lnTo>
                  <a:pt x="235" y="0"/>
                </a:lnTo>
                <a:lnTo>
                  <a:pt x="0" y="0"/>
                </a:lnTo>
              </a:path>
            </a:pathLst>
          </a:custGeom>
          <a:noFill/>
          <a:ln w="28575" cap="flat" cmpd="sng">
            <a:solidFill>
              <a:srgbClr val="000000"/>
            </a:solidFill>
            <a:prstDash val="solid"/>
            <a:round/>
            <a:headEnd type="none" w="med" len="med"/>
            <a:tailEnd type="none" w="med" len="med"/>
          </a:ln>
        </p:spPr>
        <p:txBody>
          <a:bodyPr/>
          <a:p>
            <a:endParaRPr lang="zh-CN" altLang="en-US"/>
          </a:p>
        </p:txBody>
      </p:sp>
      <p:sp>
        <p:nvSpPr>
          <p:cNvPr id="32803" name="矩形 300074"/>
          <p:cNvSpPr/>
          <p:nvPr/>
        </p:nvSpPr>
        <p:spPr>
          <a:xfrm>
            <a:off x="2424113" y="1604963"/>
            <a:ext cx="112712" cy="244475"/>
          </a:xfrm>
          <a:prstGeom prst="rect">
            <a:avLst/>
          </a:prstGeom>
          <a:noFill/>
          <a:ln w="9525">
            <a:noFill/>
          </a:ln>
        </p:spPr>
        <p:txBody>
          <a:bodyPr wrap="none" lIns="0" tIns="0" rIns="0" bIns="0" anchor="t" anchorCtr="0">
            <a:spAutoFit/>
          </a:bodyPr>
          <a:p>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32804" name="矩形 300075"/>
          <p:cNvSpPr/>
          <p:nvPr/>
        </p:nvSpPr>
        <p:spPr>
          <a:xfrm>
            <a:off x="2424113" y="1774825"/>
            <a:ext cx="69850" cy="152400"/>
          </a:xfrm>
          <a:prstGeom prst="rect">
            <a:avLst/>
          </a:prstGeom>
          <a:noFill/>
          <a:ln w="9525">
            <a:noFill/>
          </a:ln>
        </p:spPr>
        <p:txBody>
          <a:bodyPr wrap="none" lIns="0" tIns="0" rIns="0" bIns="0" anchor="t" anchorCtr="0">
            <a:spAutoFit/>
          </a:bodyPr>
          <a:p>
            <a:r>
              <a:rPr lang="zh-CN" altLang="en-US" sz="1000" dirty="0">
                <a:solidFill>
                  <a:srgbClr val="000000"/>
                </a:solidFill>
                <a:latin typeface="Arial" panose="020B0604020202020204" pitchFamily="34" charset="0"/>
                <a:ea typeface="宋体" panose="02010600030101010101" pitchFamily="2" charset="-122"/>
              </a:rPr>
              <a:t>1</a:t>
            </a:r>
            <a:endParaRPr lang="zh-CN" altLang="en-US" sz="1000" dirty="0">
              <a:latin typeface="Times New Roman" panose="02020603050405020304" pitchFamily="18" charset="0"/>
              <a:ea typeface="宋体" panose="02010600030101010101" pitchFamily="2" charset="-122"/>
            </a:endParaRPr>
          </a:p>
        </p:txBody>
      </p:sp>
      <p:sp>
        <p:nvSpPr>
          <p:cNvPr id="32805" name="矩形 300076"/>
          <p:cNvSpPr/>
          <p:nvPr/>
        </p:nvSpPr>
        <p:spPr>
          <a:xfrm>
            <a:off x="2225675" y="2335213"/>
            <a:ext cx="20638" cy="93662"/>
          </a:xfrm>
          <a:prstGeom prst="rect">
            <a:avLst/>
          </a:prstGeom>
          <a:noFill/>
          <a:ln w="9525">
            <a:noFill/>
          </a:ln>
        </p:spPr>
        <p:txBody>
          <a:bodyPr wrap="none" lIns="0" tIns="0" rIns="0" bIns="0" anchor="t" anchorCtr="0">
            <a:spAutoFit/>
          </a:bodyPr>
          <a:p>
            <a:r>
              <a:rPr lang="zh-CN" altLang="en-US" sz="600" b="0" dirty="0">
                <a:solidFill>
                  <a:srgbClr val="000000"/>
                </a:solidFill>
                <a:latin typeface="Arial" panose="020B0604020202020204" pitchFamily="34"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32806" name="矩形 300077"/>
          <p:cNvSpPr/>
          <p:nvPr/>
        </p:nvSpPr>
        <p:spPr>
          <a:xfrm>
            <a:off x="2390775" y="2335213"/>
            <a:ext cx="20638" cy="93662"/>
          </a:xfrm>
          <a:prstGeom prst="rect">
            <a:avLst/>
          </a:prstGeom>
          <a:noFill/>
          <a:ln w="9525">
            <a:noFill/>
          </a:ln>
        </p:spPr>
        <p:txBody>
          <a:bodyPr wrap="none" lIns="0" tIns="0" rIns="0" bIns="0" anchor="t" anchorCtr="0">
            <a:spAutoFit/>
          </a:bodyPr>
          <a:p>
            <a:r>
              <a:rPr lang="zh-CN" altLang="en-US" sz="600" b="0" dirty="0">
                <a:solidFill>
                  <a:srgbClr val="000000"/>
                </a:solidFill>
                <a:latin typeface="Arial" panose="020B0604020202020204" pitchFamily="34"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32807" name="矩形 300078"/>
          <p:cNvSpPr/>
          <p:nvPr/>
        </p:nvSpPr>
        <p:spPr>
          <a:xfrm>
            <a:off x="2395538" y="2341563"/>
            <a:ext cx="139700" cy="152400"/>
          </a:xfrm>
          <a:prstGeom prst="rect">
            <a:avLst/>
          </a:prstGeom>
          <a:noFill/>
          <a:ln w="9525">
            <a:noFill/>
          </a:ln>
        </p:spPr>
        <p:txBody>
          <a:bodyPr wrap="none" lIns="0" tIns="0" rIns="0" bIns="0" anchor="t" anchorCtr="0">
            <a:spAutoFit/>
          </a:bodyPr>
          <a:p>
            <a:r>
              <a:rPr lang="zh-CN" altLang="en-US" sz="1000" dirty="0">
                <a:solidFill>
                  <a:srgbClr val="000000"/>
                </a:solidFill>
                <a:latin typeface="Arial" panose="020B0604020202020204" pitchFamily="34" charset="0"/>
                <a:ea typeface="宋体" panose="02010600030101010101" pitchFamily="2" charset="-122"/>
              </a:rPr>
              <a:t>30</a:t>
            </a:r>
            <a:endParaRPr lang="zh-CN" altLang="en-US" sz="1000" dirty="0">
              <a:latin typeface="Times New Roman" panose="02020603050405020304" pitchFamily="18" charset="0"/>
              <a:ea typeface="宋体" panose="02010600030101010101" pitchFamily="2" charset="-122"/>
            </a:endParaRPr>
          </a:p>
        </p:txBody>
      </p:sp>
      <p:sp>
        <p:nvSpPr>
          <p:cNvPr id="32808" name="矩形 300079"/>
          <p:cNvSpPr/>
          <p:nvPr/>
        </p:nvSpPr>
        <p:spPr>
          <a:xfrm>
            <a:off x="2382838" y="2492375"/>
            <a:ext cx="225425" cy="244475"/>
          </a:xfrm>
          <a:prstGeom prst="rect">
            <a:avLst/>
          </a:prstGeom>
          <a:noFill/>
          <a:ln w="9525">
            <a:noFill/>
          </a:ln>
        </p:spPr>
        <p:txBody>
          <a:bodyPr wrap="none" lIns="0" tIns="0" rIns="0" bIns="0" anchor="t" anchorCtr="0">
            <a:spAutoFit/>
          </a:bodyPr>
          <a:p>
            <a:r>
              <a:rPr lang="en-US" altLang="zh-CN">
                <a:latin typeface="Arial" panose="020B0604020202020204" pitchFamily="34" charset="0"/>
                <a:ea typeface="宋体" panose="02010600030101010101" pitchFamily="2" charset="-122"/>
              </a:rPr>
              <a:t>31</a:t>
            </a:r>
            <a:endParaRPr lang="en-US" altLang="zh-CN">
              <a:latin typeface="Arial" panose="020B0604020202020204" pitchFamily="34" charset="0"/>
              <a:ea typeface="宋体" panose="02010600030101010101" pitchFamily="2" charset="-122"/>
            </a:endParaRPr>
          </a:p>
        </p:txBody>
      </p:sp>
      <p:grpSp>
        <p:nvGrpSpPr>
          <p:cNvPr id="32809" name="组合 300080"/>
          <p:cNvGrpSpPr/>
          <p:nvPr/>
        </p:nvGrpSpPr>
        <p:grpSpPr>
          <a:xfrm>
            <a:off x="2695575" y="2044700"/>
            <a:ext cx="26988" cy="157163"/>
            <a:chOff x="1238" y="2071"/>
            <a:chExt cx="11" cy="75"/>
          </a:xfrm>
        </p:grpSpPr>
        <p:sp>
          <p:nvSpPr>
            <p:cNvPr id="32810" name="任意多边形 300081"/>
            <p:cNvSpPr/>
            <p:nvPr/>
          </p:nvSpPr>
          <p:spPr>
            <a:xfrm>
              <a:off x="1238" y="2104"/>
              <a:ext cx="11" cy="9"/>
            </a:xfrm>
            <a:custGeom>
              <a:avLst/>
              <a:gdLst/>
              <a:ahLst/>
              <a:cxnLst/>
              <a:pathLst>
                <a:path w="11" h="9">
                  <a:moveTo>
                    <a:pt x="11" y="3"/>
                  </a:moveTo>
                  <a:lnTo>
                    <a:pt x="11" y="3"/>
                  </a:lnTo>
                  <a:lnTo>
                    <a:pt x="11" y="3"/>
                  </a:lnTo>
                  <a:lnTo>
                    <a:pt x="11" y="1"/>
                  </a:lnTo>
                  <a:lnTo>
                    <a:pt x="9" y="1"/>
                  </a:lnTo>
                  <a:lnTo>
                    <a:pt x="9" y="0"/>
                  </a:lnTo>
                  <a:lnTo>
                    <a:pt x="9" y="0"/>
                  </a:lnTo>
                  <a:lnTo>
                    <a:pt x="7" y="0"/>
                  </a:lnTo>
                  <a:lnTo>
                    <a:pt x="7" y="0"/>
                  </a:lnTo>
                  <a:lnTo>
                    <a:pt x="5" y="0"/>
                  </a:lnTo>
                  <a:lnTo>
                    <a:pt x="5" y="0"/>
                  </a:lnTo>
                  <a:lnTo>
                    <a:pt x="3" y="0"/>
                  </a:lnTo>
                  <a:lnTo>
                    <a:pt x="3" y="0"/>
                  </a:lnTo>
                  <a:lnTo>
                    <a:pt x="3" y="0"/>
                  </a:lnTo>
                  <a:lnTo>
                    <a:pt x="1" y="0"/>
                  </a:lnTo>
                  <a:lnTo>
                    <a:pt x="1" y="0"/>
                  </a:lnTo>
                  <a:lnTo>
                    <a:pt x="0" y="1"/>
                  </a:lnTo>
                  <a:lnTo>
                    <a:pt x="0" y="1"/>
                  </a:lnTo>
                  <a:lnTo>
                    <a:pt x="0" y="3"/>
                  </a:lnTo>
                  <a:lnTo>
                    <a:pt x="0" y="3"/>
                  </a:lnTo>
                  <a:lnTo>
                    <a:pt x="0" y="4"/>
                  </a:lnTo>
                  <a:lnTo>
                    <a:pt x="0" y="4"/>
                  </a:lnTo>
                  <a:lnTo>
                    <a:pt x="0" y="6"/>
                  </a:lnTo>
                  <a:lnTo>
                    <a:pt x="0" y="6"/>
                  </a:lnTo>
                  <a:lnTo>
                    <a:pt x="0" y="6"/>
                  </a:lnTo>
                  <a:lnTo>
                    <a:pt x="1" y="8"/>
                  </a:lnTo>
                  <a:lnTo>
                    <a:pt x="1" y="8"/>
                  </a:lnTo>
                  <a:lnTo>
                    <a:pt x="3" y="8"/>
                  </a:lnTo>
                  <a:lnTo>
                    <a:pt x="3" y="9"/>
                  </a:lnTo>
                  <a:lnTo>
                    <a:pt x="3" y="9"/>
                  </a:lnTo>
                  <a:lnTo>
                    <a:pt x="5" y="9"/>
                  </a:lnTo>
                  <a:lnTo>
                    <a:pt x="5" y="9"/>
                  </a:lnTo>
                  <a:lnTo>
                    <a:pt x="7" y="9"/>
                  </a:lnTo>
                  <a:lnTo>
                    <a:pt x="7" y="8"/>
                  </a:lnTo>
                  <a:lnTo>
                    <a:pt x="9" y="8"/>
                  </a:lnTo>
                  <a:lnTo>
                    <a:pt x="9" y="8"/>
                  </a:lnTo>
                  <a:lnTo>
                    <a:pt x="9" y="6"/>
                  </a:lnTo>
                  <a:lnTo>
                    <a:pt x="11" y="6"/>
                  </a:lnTo>
                  <a:lnTo>
                    <a:pt x="11" y="6"/>
                  </a:lnTo>
                  <a:lnTo>
                    <a:pt x="11" y="4"/>
                  </a:lnTo>
                  <a:lnTo>
                    <a:pt x="11" y="4"/>
                  </a:lnTo>
                  <a:lnTo>
                    <a:pt x="11" y="4"/>
                  </a:lnTo>
                  <a:lnTo>
                    <a:pt x="11" y="3"/>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811" name="任意多边形 300082"/>
            <p:cNvSpPr/>
            <p:nvPr/>
          </p:nvSpPr>
          <p:spPr>
            <a:xfrm>
              <a:off x="1238" y="2071"/>
              <a:ext cx="11" cy="10"/>
            </a:xfrm>
            <a:custGeom>
              <a:avLst/>
              <a:gdLst/>
              <a:ahLst/>
              <a:cxnLst/>
              <a:pathLst>
                <a:path w="11" h="10">
                  <a:moveTo>
                    <a:pt x="11" y="3"/>
                  </a:moveTo>
                  <a:lnTo>
                    <a:pt x="11" y="3"/>
                  </a:lnTo>
                  <a:lnTo>
                    <a:pt x="11" y="3"/>
                  </a:lnTo>
                  <a:lnTo>
                    <a:pt x="11" y="2"/>
                  </a:lnTo>
                  <a:lnTo>
                    <a:pt x="9" y="2"/>
                  </a:lnTo>
                  <a:lnTo>
                    <a:pt x="9" y="2"/>
                  </a:lnTo>
                  <a:lnTo>
                    <a:pt x="9" y="0"/>
                  </a:lnTo>
                  <a:lnTo>
                    <a:pt x="7" y="0"/>
                  </a:lnTo>
                  <a:lnTo>
                    <a:pt x="7" y="0"/>
                  </a:lnTo>
                  <a:lnTo>
                    <a:pt x="5" y="0"/>
                  </a:lnTo>
                  <a:lnTo>
                    <a:pt x="5" y="0"/>
                  </a:lnTo>
                  <a:lnTo>
                    <a:pt x="3" y="0"/>
                  </a:lnTo>
                  <a:lnTo>
                    <a:pt x="3" y="0"/>
                  </a:lnTo>
                  <a:lnTo>
                    <a:pt x="3" y="0"/>
                  </a:lnTo>
                  <a:lnTo>
                    <a:pt x="1" y="0"/>
                  </a:lnTo>
                  <a:lnTo>
                    <a:pt x="1" y="2"/>
                  </a:lnTo>
                  <a:lnTo>
                    <a:pt x="0" y="2"/>
                  </a:lnTo>
                  <a:lnTo>
                    <a:pt x="0" y="2"/>
                  </a:lnTo>
                  <a:lnTo>
                    <a:pt x="0" y="3"/>
                  </a:lnTo>
                  <a:lnTo>
                    <a:pt x="0" y="3"/>
                  </a:lnTo>
                  <a:lnTo>
                    <a:pt x="0" y="5"/>
                  </a:lnTo>
                  <a:lnTo>
                    <a:pt x="0" y="5"/>
                  </a:lnTo>
                  <a:lnTo>
                    <a:pt x="0" y="7"/>
                  </a:lnTo>
                  <a:lnTo>
                    <a:pt x="0" y="7"/>
                  </a:lnTo>
                  <a:lnTo>
                    <a:pt x="0" y="8"/>
                  </a:lnTo>
                  <a:lnTo>
                    <a:pt x="1" y="8"/>
                  </a:lnTo>
                  <a:lnTo>
                    <a:pt x="1" y="8"/>
                  </a:lnTo>
                  <a:lnTo>
                    <a:pt x="3" y="10"/>
                  </a:lnTo>
                  <a:lnTo>
                    <a:pt x="3" y="10"/>
                  </a:lnTo>
                  <a:lnTo>
                    <a:pt x="3" y="10"/>
                  </a:lnTo>
                  <a:lnTo>
                    <a:pt x="5" y="10"/>
                  </a:lnTo>
                  <a:lnTo>
                    <a:pt x="5" y="10"/>
                  </a:lnTo>
                  <a:lnTo>
                    <a:pt x="7" y="10"/>
                  </a:lnTo>
                  <a:lnTo>
                    <a:pt x="7" y="10"/>
                  </a:lnTo>
                  <a:lnTo>
                    <a:pt x="9" y="8"/>
                  </a:lnTo>
                  <a:lnTo>
                    <a:pt x="9" y="8"/>
                  </a:lnTo>
                  <a:lnTo>
                    <a:pt x="9" y="8"/>
                  </a:lnTo>
                  <a:lnTo>
                    <a:pt x="11" y="7"/>
                  </a:lnTo>
                  <a:lnTo>
                    <a:pt x="11" y="7"/>
                  </a:lnTo>
                  <a:lnTo>
                    <a:pt x="11" y="5"/>
                  </a:lnTo>
                  <a:lnTo>
                    <a:pt x="11" y="5"/>
                  </a:lnTo>
                  <a:lnTo>
                    <a:pt x="11" y="5"/>
                  </a:lnTo>
                  <a:lnTo>
                    <a:pt x="11" y="3"/>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812" name="任意多边形 300083"/>
            <p:cNvSpPr/>
            <p:nvPr/>
          </p:nvSpPr>
          <p:spPr>
            <a:xfrm>
              <a:off x="1238" y="2135"/>
              <a:ext cx="11" cy="11"/>
            </a:xfrm>
            <a:custGeom>
              <a:avLst/>
              <a:gdLst/>
              <a:ahLst/>
              <a:cxnLst/>
              <a:pathLst>
                <a:path w="11" h="11">
                  <a:moveTo>
                    <a:pt x="11" y="4"/>
                  </a:moveTo>
                  <a:lnTo>
                    <a:pt x="11" y="4"/>
                  </a:lnTo>
                  <a:lnTo>
                    <a:pt x="11" y="3"/>
                  </a:lnTo>
                  <a:lnTo>
                    <a:pt x="11" y="3"/>
                  </a:lnTo>
                  <a:lnTo>
                    <a:pt x="9" y="3"/>
                  </a:lnTo>
                  <a:lnTo>
                    <a:pt x="9" y="1"/>
                  </a:lnTo>
                  <a:lnTo>
                    <a:pt x="9" y="1"/>
                  </a:lnTo>
                  <a:lnTo>
                    <a:pt x="7" y="1"/>
                  </a:lnTo>
                  <a:lnTo>
                    <a:pt x="7" y="1"/>
                  </a:lnTo>
                  <a:lnTo>
                    <a:pt x="5" y="0"/>
                  </a:lnTo>
                  <a:lnTo>
                    <a:pt x="5" y="0"/>
                  </a:lnTo>
                  <a:lnTo>
                    <a:pt x="3" y="0"/>
                  </a:lnTo>
                  <a:lnTo>
                    <a:pt x="3" y="1"/>
                  </a:lnTo>
                  <a:lnTo>
                    <a:pt x="3" y="1"/>
                  </a:lnTo>
                  <a:lnTo>
                    <a:pt x="1" y="1"/>
                  </a:lnTo>
                  <a:lnTo>
                    <a:pt x="1" y="1"/>
                  </a:lnTo>
                  <a:lnTo>
                    <a:pt x="0" y="3"/>
                  </a:lnTo>
                  <a:lnTo>
                    <a:pt x="0" y="3"/>
                  </a:lnTo>
                  <a:lnTo>
                    <a:pt x="0" y="3"/>
                  </a:lnTo>
                  <a:lnTo>
                    <a:pt x="0" y="4"/>
                  </a:lnTo>
                  <a:lnTo>
                    <a:pt x="0" y="4"/>
                  </a:lnTo>
                  <a:lnTo>
                    <a:pt x="0" y="6"/>
                  </a:lnTo>
                  <a:lnTo>
                    <a:pt x="0" y="6"/>
                  </a:lnTo>
                  <a:lnTo>
                    <a:pt x="0" y="7"/>
                  </a:lnTo>
                  <a:lnTo>
                    <a:pt x="0" y="7"/>
                  </a:lnTo>
                  <a:lnTo>
                    <a:pt x="1" y="9"/>
                  </a:lnTo>
                  <a:lnTo>
                    <a:pt x="1" y="9"/>
                  </a:lnTo>
                  <a:lnTo>
                    <a:pt x="3" y="9"/>
                  </a:lnTo>
                  <a:lnTo>
                    <a:pt x="3" y="9"/>
                  </a:lnTo>
                  <a:lnTo>
                    <a:pt x="3" y="11"/>
                  </a:lnTo>
                  <a:lnTo>
                    <a:pt x="5" y="11"/>
                  </a:lnTo>
                  <a:lnTo>
                    <a:pt x="5" y="11"/>
                  </a:lnTo>
                  <a:lnTo>
                    <a:pt x="7" y="9"/>
                  </a:lnTo>
                  <a:lnTo>
                    <a:pt x="7" y="9"/>
                  </a:lnTo>
                  <a:lnTo>
                    <a:pt x="9" y="9"/>
                  </a:lnTo>
                  <a:lnTo>
                    <a:pt x="9" y="9"/>
                  </a:lnTo>
                  <a:lnTo>
                    <a:pt x="9" y="7"/>
                  </a:lnTo>
                  <a:lnTo>
                    <a:pt x="11" y="7"/>
                  </a:lnTo>
                  <a:lnTo>
                    <a:pt x="11" y="6"/>
                  </a:lnTo>
                  <a:lnTo>
                    <a:pt x="11" y="6"/>
                  </a:lnTo>
                  <a:lnTo>
                    <a:pt x="11" y="4"/>
                  </a:lnTo>
                  <a:lnTo>
                    <a:pt x="11" y="4"/>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grpSp>
      <p:sp>
        <p:nvSpPr>
          <p:cNvPr id="32813" name="任意多边形 300084"/>
          <p:cNvSpPr/>
          <p:nvPr/>
        </p:nvSpPr>
        <p:spPr>
          <a:xfrm>
            <a:off x="3486150" y="3679825"/>
            <a:ext cx="69850" cy="69850"/>
          </a:xfrm>
          <a:custGeom>
            <a:avLst/>
            <a:gdLst/>
            <a:ahLst/>
            <a:cxnLst/>
            <a:pathLst>
              <a:path w="32" h="27">
                <a:moveTo>
                  <a:pt x="15" y="25"/>
                </a:moveTo>
                <a:lnTo>
                  <a:pt x="19" y="27"/>
                </a:lnTo>
                <a:lnTo>
                  <a:pt x="21" y="25"/>
                </a:lnTo>
                <a:lnTo>
                  <a:pt x="23" y="25"/>
                </a:lnTo>
                <a:lnTo>
                  <a:pt x="25" y="23"/>
                </a:lnTo>
                <a:lnTo>
                  <a:pt x="27" y="22"/>
                </a:lnTo>
                <a:lnTo>
                  <a:pt x="29" y="20"/>
                </a:lnTo>
                <a:lnTo>
                  <a:pt x="30" y="19"/>
                </a:lnTo>
                <a:lnTo>
                  <a:pt x="30" y="17"/>
                </a:lnTo>
                <a:lnTo>
                  <a:pt x="32" y="16"/>
                </a:lnTo>
                <a:lnTo>
                  <a:pt x="32" y="13"/>
                </a:lnTo>
                <a:lnTo>
                  <a:pt x="32" y="11"/>
                </a:lnTo>
                <a:lnTo>
                  <a:pt x="30" y="10"/>
                </a:lnTo>
                <a:lnTo>
                  <a:pt x="30" y="8"/>
                </a:lnTo>
                <a:lnTo>
                  <a:pt x="29" y="5"/>
                </a:lnTo>
                <a:lnTo>
                  <a:pt x="27" y="3"/>
                </a:lnTo>
                <a:lnTo>
                  <a:pt x="25" y="3"/>
                </a:lnTo>
                <a:lnTo>
                  <a:pt x="23" y="2"/>
                </a:lnTo>
                <a:lnTo>
                  <a:pt x="21" y="0"/>
                </a:lnTo>
                <a:lnTo>
                  <a:pt x="19" y="0"/>
                </a:lnTo>
                <a:lnTo>
                  <a:pt x="15" y="0"/>
                </a:lnTo>
                <a:lnTo>
                  <a:pt x="13" y="0"/>
                </a:lnTo>
                <a:lnTo>
                  <a:pt x="11" y="0"/>
                </a:lnTo>
                <a:lnTo>
                  <a:pt x="9" y="2"/>
                </a:lnTo>
                <a:lnTo>
                  <a:pt x="8" y="3"/>
                </a:lnTo>
                <a:lnTo>
                  <a:pt x="6" y="3"/>
                </a:lnTo>
                <a:lnTo>
                  <a:pt x="4" y="5"/>
                </a:lnTo>
                <a:lnTo>
                  <a:pt x="2" y="8"/>
                </a:lnTo>
                <a:lnTo>
                  <a:pt x="2" y="10"/>
                </a:lnTo>
                <a:lnTo>
                  <a:pt x="0" y="11"/>
                </a:lnTo>
                <a:lnTo>
                  <a:pt x="0" y="13"/>
                </a:lnTo>
                <a:lnTo>
                  <a:pt x="0" y="16"/>
                </a:lnTo>
                <a:lnTo>
                  <a:pt x="2" y="17"/>
                </a:lnTo>
                <a:lnTo>
                  <a:pt x="2" y="19"/>
                </a:lnTo>
                <a:lnTo>
                  <a:pt x="4" y="20"/>
                </a:lnTo>
                <a:lnTo>
                  <a:pt x="6" y="22"/>
                </a:lnTo>
                <a:lnTo>
                  <a:pt x="8" y="23"/>
                </a:lnTo>
                <a:lnTo>
                  <a:pt x="9" y="25"/>
                </a:lnTo>
                <a:lnTo>
                  <a:pt x="11" y="25"/>
                </a:lnTo>
                <a:lnTo>
                  <a:pt x="13" y="27"/>
                </a:lnTo>
                <a:lnTo>
                  <a:pt x="15" y="27"/>
                </a:lnTo>
                <a:lnTo>
                  <a:pt x="15" y="27"/>
                </a:lnTo>
                <a:lnTo>
                  <a:pt x="15" y="25"/>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814" name="直接连接符 300085"/>
          <p:cNvSpPr/>
          <p:nvPr/>
        </p:nvSpPr>
        <p:spPr>
          <a:xfrm flipH="1">
            <a:off x="2560638" y="1670050"/>
            <a:ext cx="1330325" cy="1588"/>
          </a:xfrm>
          <a:prstGeom prst="line">
            <a:avLst/>
          </a:prstGeom>
          <a:ln w="28575" cap="flat" cmpd="sng">
            <a:solidFill>
              <a:srgbClr val="000000"/>
            </a:solidFill>
            <a:prstDash val="solid"/>
            <a:round/>
            <a:headEnd type="none" w="med" len="med"/>
            <a:tailEnd type="none" w="med" len="med"/>
          </a:ln>
        </p:spPr>
      </p:sp>
      <p:sp>
        <p:nvSpPr>
          <p:cNvPr id="32815" name="任意多边形 300086"/>
          <p:cNvSpPr/>
          <p:nvPr/>
        </p:nvSpPr>
        <p:spPr>
          <a:xfrm>
            <a:off x="3660775" y="1952625"/>
            <a:ext cx="76200" cy="66675"/>
          </a:xfrm>
          <a:custGeom>
            <a:avLst/>
            <a:gdLst/>
            <a:ahLst/>
            <a:cxnLst/>
            <a:pathLst>
              <a:path w="30" h="26">
                <a:moveTo>
                  <a:pt x="15" y="24"/>
                </a:moveTo>
                <a:lnTo>
                  <a:pt x="19" y="26"/>
                </a:lnTo>
                <a:lnTo>
                  <a:pt x="21" y="24"/>
                </a:lnTo>
                <a:lnTo>
                  <a:pt x="23" y="24"/>
                </a:lnTo>
                <a:lnTo>
                  <a:pt x="25" y="23"/>
                </a:lnTo>
                <a:lnTo>
                  <a:pt x="26" y="21"/>
                </a:lnTo>
                <a:lnTo>
                  <a:pt x="28" y="20"/>
                </a:lnTo>
                <a:lnTo>
                  <a:pt x="30" y="18"/>
                </a:lnTo>
                <a:lnTo>
                  <a:pt x="30" y="17"/>
                </a:lnTo>
                <a:lnTo>
                  <a:pt x="30" y="15"/>
                </a:lnTo>
                <a:lnTo>
                  <a:pt x="30" y="14"/>
                </a:lnTo>
                <a:lnTo>
                  <a:pt x="30" y="10"/>
                </a:lnTo>
                <a:lnTo>
                  <a:pt x="30" y="9"/>
                </a:lnTo>
                <a:lnTo>
                  <a:pt x="30" y="7"/>
                </a:lnTo>
                <a:lnTo>
                  <a:pt x="28" y="6"/>
                </a:lnTo>
                <a:lnTo>
                  <a:pt x="26" y="4"/>
                </a:lnTo>
                <a:lnTo>
                  <a:pt x="25" y="3"/>
                </a:lnTo>
                <a:lnTo>
                  <a:pt x="23" y="1"/>
                </a:lnTo>
                <a:lnTo>
                  <a:pt x="21" y="1"/>
                </a:lnTo>
                <a:lnTo>
                  <a:pt x="19" y="0"/>
                </a:lnTo>
                <a:lnTo>
                  <a:pt x="15" y="0"/>
                </a:lnTo>
                <a:lnTo>
                  <a:pt x="13" y="0"/>
                </a:lnTo>
                <a:lnTo>
                  <a:pt x="11" y="1"/>
                </a:lnTo>
                <a:lnTo>
                  <a:pt x="7" y="1"/>
                </a:lnTo>
                <a:lnTo>
                  <a:pt x="5" y="3"/>
                </a:lnTo>
                <a:lnTo>
                  <a:pt x="3" y="4"/>
                </a:lnTo>
                <a:lnTo>
                  <a:pt x="2" y="6"/>
                </a:lnTo>
                <a:lnTo>
                  <a:pt x="2" y="7"/>
                </a:lnTo>
                <a:lnTo>
                  <a:pt x="0" y="9"/>
                </a:lnTo>
                <a:lnTo>
                  <a:pt x="0" y="10"/>
                </a:lnTo>
                <a:lnTo>
                  <a:pt x="0" y="14"/>
                </a:lnTo>
                <a:lnTo>
                  <a:pt x="0" y="15"/>
                </a:lnTo>
                <a:lnTo>
                  <a:pt x="0" y="17"/>
                </a:lnTo>
                <a:lnTo>
                  <a:pt x="2" y="18"/>
                </a:lnTo>
                <a:lnTo>
                  <a:pt x="2" y="20"/>
                </a:lnTo>
                <a:lnTo>
                  <a:pt x="3" y="21"/>
                </a:lnTo>
                <a:lnTo>
                  <a:pt x="5" y="23"/>
                </a:lnTo>
                <a:lnTo>
                  <a:pt x="7" y="24"/>
                </a:lnTo>
                <a:lnTo>
                  <a:pt x="11" y="24"/>
                </a:lnTo>
                <a:lnTo>
                  <a:pt x="13" y="26"/>
                </a:lnTo>
                <a:lnTo>
                  <a:pt x="15" y="26"/>
                </a:lnTo>
                <a:lnTo>
                  <a:pt x="15" y="26"/>
                </a:lnTo>
                <a:lnTo>
                  <a:pt x="15" y="24"/>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816" name="矩形 300087"/>
          <p:cNvSpPr/>
          <p:nvPr/>
        </p:nvSpPr>
        <p:spPr>
          <a:xfrm>
            <a:off x="6970713" y="2130425"/>
            <a:ext cx="190500" cy="274638"/>
          </a:xfrm>
          <a:prstGeom prst="rect">
            <a:avLst/>
          </a:prstGeom>
          <a:noFill/>
          <a:ln w="9525">
            <a:noFill/>
          </a:ln>
        </p:spPr>
        <p:txBody>
          <a:bodyPr wrap="none" lIns="0" tIns="0" rIns="0" bIns="0" anchor="t" anchorCtr="0">
            <a:spAutoFit/>
          </a:bodyPr>
          <a:p>
            <a:r>
              <a:rPr lang="en-US" altLang="zh-CN" sz="1800">
                <a:solidFill>
                  <a:srgbClr val="000000"/>
                </a:solidFill>
                <a:latin typeface="Arial" panose="020B0604020202020204" pitchFamily="34" charset="0"/>
                <a:ea typeface="宋体" panose="02010600030101010101" pitchFamily="2" charset="-122"/>
              </a:rPr>
              <a:t>M</a:t>
            </a:r>
            <a:endParaRPr lang="en-US" altLang="zh-CN" sz="1800">
              <a:latin typeface="Times New Roman" panose="02020603050405020304" pitchFamily="18" charset="0"/>
              <a:ea typeface="宋体" panose="02010600030101010101" pitchFamily="2" charset="-122"/>
            </a:endParaRPr>
          </a:p>
        </p:txBody>
      </p:sp>
      <p:sp>
        <p:nvSpPr>
          <p:cNvPr id="32817" name="矩形 300088"/>
          <p:cNvSpPr/>
          <p:nvPr/>
        </p:nvSpPr>
        <p:spPr>
          <a:xfrm>
            <a:off x="6975475" y="2520950"/>
            <a:ext cx="165100" cy="274638"/>
          </a:xfrm>
          <a:prstGeom prst="rect">
            <a:avLst/>
          </a:prstGeom>
          <a:noFill/>
          <a:ln w="9525">
            <a:noFill/>
          </a:ln>
        </p:spPr>
        <p:txBody>
          <a:bodyPr wrap="none" lIns="0" tIns="0" rIns="0" bIns="0" anchor="t" anchorCtr="0">
            <a:spAutoFit/>
          </a:bodyPr>
          <a:p>
            <a:r>
              <a:rPr lang="en-US" altLang="zh-CN" sz="1800">
                <a:solidFill>
                  <a:srgbClr val="000000"/>
                </a:solidFill>
                <a:latin typeface="Arial" panose="020B0604020202020204" pitchFamily="34" charset="0"/>
                <a:ea typeface="宋体" panose="02010600030101010101" pitchFamily="2" charset="-122"/>
              </a:rPr>
              <a:t>U</a:t>
            </a:r>
            <a:endParaRPr lang="en-US" altLang="zh-CN" sz="1800">
              <a:latin typeface="Times New Roman" panose="02020603050405020304" pitchFamily="18" charset="0"/>
              <a:ea typeface="宋体" panose="02010600030101010101" pitchFamily="2" charset="-122"/>
            </a:endParaRPr>
          </a:p>
        </p:txBody>
      </p:sp>
      <p:sp>
        <p:nvSpPr>
          <p:cNvPr id="32818" name="矩形 300089"/>
          <p:cNvSpPr/>
          <p:nvPr/>
        </p:nvSpPr>
        <p:spPr>
          <a:xfrm>
            <a:off x="6983413" y="2992438"/>
            <a:ext cx="152400" cy="274637"/>
          </a:xfrm>
          <a:prstGeom prst="rect">
            <a:avLst/>
          </a:prstGeom>
          <a:noFill/>
          <a:ln w="9525">
            <a:noFill/>
          </a:ln>
        </p:spPr>
        <p:txBody>
          <a:bodyPr wrap="none" lIns="0" tIns="0" rIns="0" bIns="0" anchor="t" anchorCtr="0">
            <a:spAutoFit/>
          </a:bodyPr>
          <a:p>
            <a:r>
              <a:rPr lang="en-US" altLang="zh-CN" sz="1800">
                <a:solidFill>
                  <a:srgbClr val="000000"/>
                </a:solidFill>
                <a:latin typeface="Arial" panose="020B0604020202020204" pitchFamily="34" charset="0"/>
                <a:ea typeface="宋体" panose="02010600030101010101" pitchFamily="2" charset="-122"/>
              </a:rPr>
              <a:t>X</a:t>
            </a:r>
            <a:endParaRPr lang="en-US" altLang="zh-CN" sz="1800">
              <a:latin typeface="Times New Roman" panose="02020603050405020304" pitchFamily="18" charset="0"/>
              <a:ea typeface="宋体" panose="02010600030101010101" pitchFamily="2" charset="-122"/>
            </a:endParaRPr>
          </a:p>
        </p:txBody>
      </p:sp>
      <p:sp>
        <p:nvSpPr>
          <p:cNvPr id="32819" name="任意多边形 300090"/>
          <p:cNvSpPr/>
          <p:nvPr/>
        </p:nvSpPr>
        <p:spPr>
          <a:xfrm>
            <a:off x="6602413" y="1700213"/>
            <a:ext cx="82550" cy="93662"/>
          </a:xfrm>
          <a:custGeom>
            <a:avLst/>
            <a:gdLst/>
            <a:ahLst/>
            <a:cxnLst/>
            <a:pathLst>
              <a:path w="32" h="45">
                <a:moveTo>
                  <a:pt x="15" y="45"/>
                </a:moveTo>
                <a:lnTo>
                  <a:pt x="19" y="45"/>
                </a:lnTo>
                <a:lnTo>
                  <a:pt x="21" y="45"/>
                </a:lnTo>
                <a:lnTo>
                  <a:pt x="23" y="42"/>
                </a:lnTo>
                <a:lnTo>
                  <a:pt x="24" y="40"/>
                </a:lnTo>
                <a:lnTo>
                  <a:pt x="26" y="40"/>
                </a:lnTo>
                <a:lnTo>
                  <a:pt x="28" y="37"/>
                </a:lnTo>
                <a:lnTo>
                  <a:pt x="30" y="34"/>
                </a:lnTo>
                <a:lnTo>
                  <a:pt x="30" y="29"/>
                </a:lnTo>
                <a:lnTo>
                  <a:pt x="30" y="26"/>
                </a:lnTo>
                <a:lnTo>
                  <a:pt x="32" y="24"/>
                </a:lnTo>
                <a:lnTo>
                  <a:pt x="30" y="18"/>
                </a:lnTo>
                <a:lnTo>
                  <a:pt x="30" y="16"/>
                </a:lnTo>
                <a:lnTo>
                  <a:pt x="30" y="13"/>
                </a:lnTo>
                <a:lnTo>
                  <a:pt x="28" y="10"/>
                </a:lnTo>
                <a:lnTo>
                  <a:pt x="26" y="8"/>
                </a:lnTo>
                <a:lnTo>
                  <a:pt x="24" y="5"/>
                </a:lnTo>
                <a:lnTo>
                  <a:pt x="23" y="2"/>
                </a:lnTo>
                <a:lnTo>
                  <a:pt x="21" y="2"/>
                </a:lnTo>
                <a:lnTo>
                  <a:pt x="19" y="0"/>
                </a:lnTo>
                <a:lnTo>
                  <a:pt x="15" y="0"/>
                </a:lnTo>
                <a:lnTo>
                  <a:pt x="13" y="0"/>
                </a:lnTo>
                <a:lnTo>
                  <a:pt x="11" y="2"/>
                </a:lnTo>
                <a:lnTo>
                  <a:pt x="7" y="2"/>
                </a:lnTo>
                <a:lnTo>
                  <a:pt x="5" y="5"/>
                </a:lnTo>
                <a:lnTo>
                  <a:pt x="3" y="8"/>
                </a:lnTo>
                <a:lnTo>
                  <a:pt x="1" y="10"/>
                </a:lnTo>
                <a:lnTo>
                  <a:pt x="1" y="13"/>
                </a:lnTo>
                <a:lnTo>
                  <a:pt x="0" y="16"/>
                </a:lnTo>
                <a:lnTo>
                  <a:pt x="0" y="18"/>
                </a:lnTo>
                <a:lnTo>
                  <a:pt x="0" y="24"/>
                </a:lnTo>
                <a:lnTo>
                  <a:pt x="0" y="26"/>
                </a:lnTo>
                <a:lnTo>
                  <a:pt x="0" y="29"/>
                </a:lnTo>
                <a:lnTo>
                  <a:pt x="1" y="34"/>
                </a:lnTo>
                <a:lnTo>
                  <a:pt x="1" y="37"/>
                </a:lnTo>
                <a:lnTo>
                  <a:pt x="3" y="40"/>
                </a:lnTo>
                <a:lnTo>
                  <a:pt x="5" y="40"/>
                </a:lnTo>
                <a:lnTo>
                  <a:pt x="7" y="42"/>
                </a:lnTo>
                <a:lnTo>
                  <a:pt x="11" y="45"/>
                </a:lnTo>
                <a:lnTo>
                  <a:pt x="13" y="45"/>
                </a:lnTo>
                <a:lnTo>
                  <a:pt x="15" y="45"/>
                </a:lnTo>
                <a:lnTo>
                  <a:pt x="15" y="45"/>
                </a:lnTo>
                <a:close/>
              </a:path>
            </a:pathLst>
          </a:custGeom>
          <a:solidFill>
            <a:srgbClr val="000000"/>
          </a:solidFill>
          <a:ln w="9525">
            <a:noFill/>
          </a:ln>
        </p:spPr>
        <p:txBody>
          <a:bodyPr/>
          <a:p>
            <a:endParaRPr lang="zh-CN" altLang="en-US"/>
          </a:p>
        </p:txBody>
      </p:sp>
      <p:sp>
        <p:nvSpPr>
          <p:cNvPr id="32820" name="任意多边形 300091"/>
          <p:cNvSpPr/>
          <p:nvPr/>
        </p:nvSpPr>
        <p:spPr>
          <a:xfrm>
            <a:off x="6411913" y="2184400"/>
            <a:ext cx="82550" cy="93663"/>
          </a:xfrm>
          <a:custGeom>
            <a:avLst/>
            <a:gdLst/>
            <a:ahLst/>
            <a:cxnLst/>
            <a:pathLst>
              <a:path w="32" h="45">
                <a:moveTo>
                  <a:pt x="15" y="45"/>
                </a:moveTo>
                <a:lnTo>
                  <a:pt x="19" y="45"/>
                </a:lnTo>
                <a:lnTo>
                  <a:pt x="21" y="45"/>
                </a:lnTo>
                <a:lnTo>
                  <a:pt x="23" y="42"/>
                </a:lnTo>
                <a:lnTo>
                  <a:pt x="27" y="40"/>
                </a:lnTo>
                <a:lnTo>
                  <a:pt x="27" y="40"/>
                </a:lnTo>
                <a:lnTo>
                  <a:pt x="29" y="37"/>
                </a:lnTo>
                <a:lnTo>
                  <a:pt x="30" y="34"/>
                </a:lnTo>
                <a:lnTo>
                  <a:pt x="32" y="29"/>
                </a:lnTo>
                <a:lnTo>
                  <a:pt x="32" y="26"/>
                </a:lnTo>
                <a:lnTo>
                  <a:pt x="32" y="24"/>
                </a:lnTo>
                <a:lnTo>
                  <a:pt x="32" y="18"/>
                </a:lnTo>
                <a:lnTo>
                  <a:pt x="32" y="16"/>
                </a:lnTo>
                <a:lnTo>
                  <a:pt x="30" y="13"/>
                </a:lnTo>
                <a:lnTo>
                  <a:pt x="29" y="10"/>
                </a:lnTo>
                <a:lnTo>
                  <a:pt x="27" y="8"/>
                </a:lnTo>
                <a:lnTo>
                  <a:pt x="27" y="5"/>
                </a:lnTo>
                <a:lnTo>
                  <a:pt x="23" y="2"/>
                </a:lnTo>
                <a:lnTo>
                  <a:pt x="21" y="2"/>
                </a:lnTo>
                <a:lnTo>
                  <a:pt x="19" y="0"/>
                </a:lnTo>
                <a:lnTo>
                  <a:pt x="17" y="0"/>
                </a:lnTo>
                <a:lnTo>
                  <a:pt x="13" y="0"/>
                </a:lnTo>
                <a:lnTo>
                  <a:pt x="11" y="2"/>
                </a:lnTo>
                <a:lnTo>
                  <a:pt x="9" y="2"/>
                </a:lnTo>
                <a:lnTo>
                  <a:pt x="7" y="5"/>
                </a:lnTo>
                <a:lnTo>
                  <a:pt x="6" y="8"/>
                </a:lnTo>
                <a:lnTo>
                  <a:pt x="4" y="10"/>
                </a:lnTo>
                <a:lnTo>
                  <a:pt x="2" y="13"/>
                </a:lnTo>
                <a:lnTo>
                  <a:pt x="2" y="16"/>
                </a:lnTo>
                <a:lnTo>
                  <a:pt x="0" y="18"/>
                </a:lnTo>
                <a:lnTo>
                  <a:pt x="0" y="24"/>
                </a:lnTo>
                <a:lnTo>
                  <a:pt x="0" y="26"/>
                </a:lnTo>
                <a:lnTo>
                  <a:pt x="2" y="29"/>
                </a:lnTo>
                <a:lnTo>
                  <a:pt x="2" y="34"/>
                </a:lnTo>
                <a:lnTo>
                  <a:pt x="4" y="37"/>
                </a:lnTo>
                <a:lnTo>
                  <a:pt x="6" y="40"/>
                </a:lnTo>
                <a:lnTo>
                  <a:pt x="7" y="40"/>
                </a:lnTo>
                <a:lnTo>
                  <a:pt x="9" y="42"/>
                </a:lnTo>
                <a:lnTo>
                  <a:pt x="11" y="45"/>
                </a:lnTo>
                <a:lnTo>
                  <a:pt x="13" y="45"/>
                </a:lnTo>
                <a:lnTo>
                  <a:pt x="17" y="45"/>
                </a:lnTo>
                <a:lnTo>
                  <a:pt x="17" y="45"/>
                </a:lnTo>
                <a:lnTo>
                  <a:pt x="15" y="45"/>
                </a:lnTo>
                <a:close/>
              </a:path>
            </a:pathLst>
          </a:custGeom>
          <a:solidFill>
            <a:srgbClr val="000000"/>
          </a:solidFill>
          <a:ln w="9525">
            <a:noFill/>
          </a:ln>
        </p:spPr>
        <p:txBody>
          <a:bodyPr/>
          <a:p>
            <a:endParaRPr lang="zh-CN" altLang="en-US"/>
          </a:p>
        </p:txBody>
      </p:sp>
      <p:sp>
        <p:nvSpPr>
          <p:cNvPr id="32821" name="任意多边形 300092"/>
          <p:cNvSpPr/>
          <p:nvPr/>
        </p:nvSpPr>
        <p:spPr>
          <a:xfrm>
            <a:off x="6051550" y="3097213"/>
            <a:ext cx="79375" cy="93662"/>
          </a:xfrm>
          <a:custGeom>
            <a:avLst/>
            <a:gdLst/>
            <a:ahLst/>
            <a:cxnLst/>
            <a:pathLst>
              <a:path w="31" h="45">
                <a:moveTo>
                  <a:pt x="15" y="45"/>
                </a:moveTo>
                <a:lnTo>
                  <a:pt x="17" y="45"/>
                </a:lnTo>
                <a:lnTo>
                  <a:pt x="21" y="45"/>
                </a:lnTo>
                <a:lnTo>
                  <a:pt x="23" y="42"/>
                </a:lnTo>
                <a:lnTo>
                  <a:pt x="25" y="40"/>
                </a:lnTo>
                <a:lnTo>
                  <a:pt x="27" y="40"/>
                </a:lnTo>
                <a:lnTo>
                  <a:pt x="29" y="37"/>
                </a:lnTo>
                <a:lnTo>
                  <a:pt x="31" y="34"/>
                </a:lnTo>
                <a:lnTo>
                  <a:pt x="31" y="29"/>
                </a:lnTo>
                <a:lnTo>
                  <a:pt x="31" y="26"/>
                </a:lnTo>
                <a:lnTo>
                  <a:pt x="31" y="24"/>
                </a:lnTo>
                <a:lnTo>
                  <a:pt x="31" y="18"/>
                </a:lnTo>
                <a:lnTo>
                  <a:pt x="31" y="16"/>
                </a:lnTo>
                <a:lnTo>
                  <a:pt x="31" y="13"/>
                </a:lnTo>
                <a:lnTo>
                  <a:pt x="29" y="10"/>
                </a:lnTo>
                <a:lnTo>
                  <a:pt x="27" y="8"/>
                </a:lnTo>
                <a:lnTo>
                  <a:pt x="25" y="5"/>
                </a:lnTo>
                <a:lnTo>
                  <a:pt x="23" y="2"/>
                </a:lnTo>
                <a:lnTo>
                  <a:pt x="21" y="2"/>
                </a:lnTo>
                <a:lnTo>
                  <a:pt x="17" y="0"/>
                </a:lnTo>
                <a:lnTo>
                  <a:pt x="15" y="0"/>
                </a:lnTo>
                <a:lnTo>
                  <a:pt x="13" y="0"/>
                </a:lnTo>
                <a:lnTo>
                  <a:pt x="10" y="2"/>
                </a:lnTo>
                <a:lnTo>
                  <a:pt x="8" y="2"/>
                </a:lnTo>
                <a:lnTo>
                  <a:pt x="6" y="5"/>
                </a:lnTo>
                <a:lnTo>
                  <a:pt x="4" y="8"/>
                </a:lnTo>
                <a:lnTo>
                  <a:pt x="2" y="10"/>
                </a:lnTo>
                <a:lnTo>
                  <a:pt x="2" y="13"/>
                </a:lnTo>
                <a:lnTo>
                  <a:pt x="0" y="16"/>
                </a:lnTo>
                <a:lnTo>
                  <a:pt x="0" y="18"/>
                </a:lnTo>
                <a:lnTo>
                  <a:pt x="0" y="24"/>
                </a:lnTo>
                <a:lnTo>
                  <a:pt x="0" y="26"/>
                </a:lnTo>
                <a:lnTo>
                  <a:pt x="0" y="29"/>
                </a:lnTo>
                <a:lnTo>
                  <a:pt x="2" y="34"/>
                </a:lnTo>
                <a:lnTo>
                  <a:pt x="2" y="37"/>
                </a:lnTo>
                <a:lnTo>
                  <a:pt x="4" y="40"/>
                </a:lnTo>
                <a:lnTo>
                  <a:pt x="6" y="40"/>
                </a:lnTo>
                <a:lnTo>
                  <a:pt x="8" y="42"/>
                </a:lnTo>
                <a:lnTo>
                  <a:pt x="10" y="45"/>
                </a:lnTo>
                <a:lnTo>
                  <a:pt x="13" y="45"/>
                </a:lnTo>
                <a:lnTo>
                  <a:pt x="15" y="45"/>
                </a:lnTo>
                <a:lnTo>
                  <a:pt x="15" y="45"/>
                </a:lnTo>
                <a:close/>
              </a:path>
            </a:pathLst>
          </a:custGeom>
          <a:solidFill>
            <a:srgbClr val="000000"/>
          </a:solidFill>
          <a:ln w="9525">
            <a:noFill/>
          </a:ln>
        </p:spPr>
        <p:txBody>
          <a:bodyPr/>
          <a:p>
            <a:endParaRPr lang="zh-CN" altLang="en-US"/>
          </a:p>
        </p:txBody>
      </p:sp>
      <p:sp>
        <p:nvSpPr>
          <p:cNvPr id="32822" name="任意多边形 300093"/>
          <p:cNvSpPr/>
          <p:nvPr/>
        </p:nvSpPr>
        <p:spPr>
          <a:xfrm>
            <a:off x="5876925" y="3481388"/>
            <a:ext cx="79375" cy="95250"/>
          </a:xfrm>
          <a:custGeom>
            <a:avLst/>
            <a:gdLst/>
            <a:ahLst/>
            <a:cxnLst/>
            <a:pathLst>
              <a:path w="31" h="45">
                <a:moveTo>
                  <a:pt x="16" y="45"/>
                </a:moveTo>
                <a:lnTo>
                  <a:pt x="18" y="45"/>
                </a:lnTo>
                <a:lnTo>
                  <a:pt x="21" y="45"/>
                </a:lnTo>
                <a:lnTo>
                  <a:pt x="23" y="42"/>
                </a:lnTo>
                <a:lnTo>
                  <a:pt x="25" y="40"/>
                </a:lnTo>
                <a:lnTo>
                  <a:pt x="27" y="40"/>
                </a:lnTo>
                <a:lnTo>
                  <a:pt x="29" y="37"/>
                </a:lnTo>
                <a:lnTo>
                  <a:pt x="31" y="34"/>
                </a:lnTo>
                <a:lnTo>
                  <a:pt x="31" y="29"/>
                </a:lnTo>
                <a:lnTo>
                  <a:pt x="31" y="26"/>
                </a:lnTo>
                <a:lnTo>
                  <a:pt x="31" y="24"/>
                </a:lnTo>
                <a:lnTo>
                  <a:pt x="31" y="18"/>
                </a:lnTo>
                <a:lnTo>
                  <a:pt x="31" y="16"/>
                </a:lnTo>
                <a:lnTo>
                  <a:pt x="31" y="13"/>
                </a:lnTo>
                <a:lnTo>
                  <a:pt x="29" y="10"/>
                </a:lnTo>
                <a:lnTo>
                  <a:pt x="27" y="8"/>
                </a:lnTo>
                <a:lnTo>
                  <a:pt x="25" y="5"/>
                </a:lnTo>
                <a:lnTo>
                  <a:pt x="23" y="2"/>
                </a:lnTo>
                <a:lnTo>
                  <a:pt x="21" y="2"/>
                </a:lnTo>
                <a:lnTo>
                  <a:pt x="18" y="0"/>
                </a:lnTo>
                <a:lnTo>
                  <a:pt x="16" y="0"/>
                </a:lnTo>
                <a:lnTo>
                  <a:pt x="14" y="0"/>
                </a:lnTo>
                <a:lnTo>
                  <a:pt x="10" y="2"/>
                </a:lnTo>
                <a:lnTo>
                  <a:pt x="8" y="2"/>
                </a:lnTo>
                <a:lnTo>
                  <a:pt x="6" y="5"/>
                </a:lnTo>
                <a:lnTo>
                  <a:pt x="4" y="8"/>
                </a:lnTo>
                <a:lnTo>
                  <a:pt x="2" y="10"/>
                </a:lnTo>
                <a:lnTo>
                  <a:pt x="2" y="13"/>
                </a:lnTo>
                <a:lnTo>
                  <a:pt x="0" y="16"/>
                </a:lnTo>
                <a:lnTo>
                  <a:pt x="0" y="18"/>
                </a:lnTo>
                <a:lnTo>
                  <a:pt x="0" y="24"/>
                </a:lnTo>
                <a:lnTo>
                  <a:pt x="0" y="26"/>
                </a:lnTo>
                <a:lnTo>
                  <a:pt x="0" y="29"/>
                </a:lnTo>
                <a:lnTo>
                  <a:pt x="2" y="34"/>
                </a:lnTo>
                <a:lnTo>
                  <a:pt x="2" y="37"/>
                </a:lnTo>
                <a:lnTo>
                  <a:pt x="4" y="40"/>
                </a:lnTo>
                <a:lnTo>
                  <a:pt x="6" y="40"/>
                </a:lnTo>
                <a:lnTo>
                  <a:pt x="8" y="42"/>
                </a:lnTo>
                <a:lnTo>
                  <a:pt x="10" y="45"/>
                </a:lnTo>
                <a:lnTo>
                  <a:pt x="14" y="45"/>
                </a:lnTo>
                <a:lnTo>
                  <a:pt x="16" y="45"/>
                </a:lnTo>
                <a:lnTo>
                  <a:pt x="16" y="45"/>
                </a:lnTo>
                <a:close/>
              </a:path>
            </a:pathLst>
          </a:custGeom>
          <a:solidFill>
            <a:srgbClr val="000000"/>
          </a:solidFill>
          <a:ln w="9525">
            <a:noFill/>
          </a:ln>
        </p:spPr>
        <p:txBody>
          <a:bodyPr/>
          <a:p>
            <a:endParaRPr lang="zh-CN" altLang="en-US"/>
          </a:p>
        </p:txBody>
      </p:sp>
      <p:sp>
        <p:nvSpPr>
          <p:cNvPr id="32823" name="任意多边形 300094"/>
          <p:cNvSpPr/>
          <p:nvPr/>
        </p:nvSpPr>
        <p:spPr>
          <a:xfrm>
            <a:off x="6888163" y="1428750"/>
            <a:ext cx="365125" cy="2409825"/>
          </a:xfrm>
          <a:custGeom>
            <a:avLst/>
            <a:gdLst/>
            <a:ahLst/>
            <a:cxnLst/>
            <a:pathLst>
              <a:path w="146" h="804">
                <a:moveTo>
                  <a:pt x="0" y="99"/>
                </a:moveTo>
                <a:lnTo>
                  <a:pt x="2" y="83"/>
                </a:lnTo>
                <a:lnTo>
                  <a:pt x="6" y="67"/>
                </a:lnTo>
                <a:lnTo>
                  <a:pt x="10" y="53"/>
                </a:lnTo>
                <a:lnTo>
                  <a:pt x="15" y="40"/>
                </a:lnTo>
                <a:lnTo>
                  <a:pt x="23" y="29"/>
                </a:lnTo>
                <a:lnTo>
                  <a:pt x="31" y="18"/>
                </a:lnTo>
                <a:lnTo>
                  <a:pt x="40" y="10"/>
                </a:lnTo>
                <a:lnTo>
                  <a:pt x="50" y="5"/>
                </a:lnTo>
                <a:lnTo>
                  <a:pt x="61" y="0"/>
                </a:lnTo>
                <a:lnTo>
                  <a:pt x="73" y="0"/>
                </a:lnTo>
                <a:lnTo>
                  <a:pt x="84" y="0"/>
                </a:lnTo>
                <a:lnTo>
                  <a:pt x="96" y="5"/>
                </a:lnTo>
                <a:lnTo>
                  <a:pt x="107" y="10"/>
                </a:lnTo>
                <a:lnTo>
                  <a:pt x="115" y="18"/>
                </a:lnTo>
                <a:lnTo>
                  <a:pt x="125" y="29"/>
                </a:lnTo>
                <a:lnTo>
                  <a:pt x="132" y="40"/>
                </a:lnTo>
                <a:lnTo>
                  <a:pt x="138" y="53"/>
                </a:lnTo>
                <a:lnTo>
                  <a:pt x="142" y="67"/>
                </a:lnTo>
                <a:lnTo>
                  <a:pt x="144" y="83"/>
                </a:lnTo>
                <a:lnTo>
                  <a:pt x="146" y="99"/>
                </a:lnTo>
                <a:lnTo>
                  <a:pt x="146" y="702"/>
                </a:lnTo>
                <a:lnTo>
                  <a:pt x="144" y="718"/>
                </a:lnTo>
                <a:lnTo>
                  <a:pt x="142" y="734"/>
                </a:lnTo>
                <a:lnTo>
                  <a:pt x="138" y="747"/>
                </a:lnTo>
                <a:lnTo>
                  <a:pt x="132" y="761"/>
                </a:lnTo>
                <a:lnTo>
                  <a:pt x="125" y="774"/>
                </a:lnTo>
                <a:lnTo>
                  <a:pt x="115" y="785"/>
                </a:lnTo>
                <a:lnTo>
                  <a:pt x="107" y="793"/>
                </a:lnTo>
                <a:lnTo>
                  <a:pt x="96" y="798"/>
                </a:lnTo>
                <a:lnTo>
                  <a:pt x="84" y="801"/>
                </a:lnTo>
                <a:lnTo>
                  <a:pt x="73" y="804"/>
                </a:lnTo>
                <a:lnTo>
                  <a:pt x="61" y="801"/>
                </a:lnTo>
                <a:lnTo>
                  <a:pt x="50" y="798"/>
                </a:lnTo>
                <a:lnTo>
                  <a:pt x="40" y="793"/>
                </a:lnTo>
                <a:lnTo>
                  <a:pt x="31" y="785"/>
                </a:lnTo>
                <a:lnTo>
                  <a:pt x="23" y="774"/>
                </a:lnTo>
                <a:lnTo>
                  <a:pt x="15" y="761"/>
                </a:lnTo>
                <a:lnTo>
                  <a:pt x="10" y="747"/>
                </a:lnTo>
                <a:lnTo>
                  <a:pt x="6" y="734"/>
                </a:lnTo>
                <a:lnTo>
                  <a:pt x="2" y="718"/>
                </a:lnTo>
                <a:lnTo>
                  <a:pt x="2" y="702"/>
                </a:lnTo>
                <a:lnTo>
                  <a:pt x="2" y="99"/>
                </a:lnTo>
                <a:lnTo>
                  <a:pt x="2" y="99"/>
                </a:lnTo>
              </a:path>
            </a:pathLst>
          </a:custGeom>
          <a:noFill/>
          <a:ln w="12700" cap="flat" cmpd="sng">
            <a:solidFill>
              <a:srgbClr val="000000"/>
            </a:solidFill>
            <a:prstDash val="solid"/>
            <a:round/>
            <a:headEnd type="none" w="med" len="med"/>
            <a:tailEnd type="none" w="med" len="med"/>
          </a:ln>
        </p:spPr>
        <p:txBody>
          <a:bodyPr/>
          <a:p>
            <a:endParaRPr lang="zh-CN" altLang="en-US"/>
          </a:p>
        </p:txBody>
      </p:sp>
      <p:sp>
        <p:nvSpPr>
          <p:cNvPr id="32824" name="任意多边形 300095"/>
          <p:cNvSpPr/>
          <p:nvPr/>
        </p:nvSpPr>
        <p:spPr>
          <a:xfrm>
            <a:off x="6888163" y="4040188"/>
            <a:ext cx="365125" cy="2411412"/>
          </a:xfrm>
          <a:custGeom>
            <a:avLst/>
            <a:gdLst/>
            <a:ahLst/>
            <a:cxnLst/>
            <a:pathLst>
              <a:path w="146" h="804">
                <a:moveTo>
                  <a:pt x="0" y="99"/>
                </a:moveTo>
                <a:lnTo>
                  <a:pt x="2" y="83"/>
                </a:lnTo>
                <a:lnTo>
                  <a:pt x="6" y="67"/>
                </a:lnTo>
                <a:lnTo>
                  <a:pt x="10" y="53"/>
                </a:lnTo>
                <a:lnTo>
                  <a:pt x="15" y="40"/>
                </a:lnTo>
                <a:lnTo>
                  <a:pt x="23" y="29"/>
                </a:lnTo>
                <a:lnTo>
                  <a:pt x="31" y="18"/>
                </a:lnTo>
                <a:lnTo>
                  <a:pt x="40" y="10"/>
                </a:lnTo>
                <a:lnTo>
                  <a:pt x="50" y="5"/>
                </a:lnTo>
                <a:lnTo>
                  <a:pt x="61" y="0"/>
                </a:lnTo>
                <a:lnTo>
                  <a:pt x="73" y="0"/>
                </a:lnTo>
                <a:lnTo>
                  <a:pt x="84" y="0"/>
                </a:lnTo>
                <a:lnTo>
                  <a:pt x="96" y="5"/>
                </a:lnTo>
                <a:lnTo>
                  <a:pt x="107" y="10"/>
                </a:lnTo>
                <a:lnTo>
                  <a:pt x="115" y="18"/>
                </a:lnTo>
                <a:lnTo>
                  <a:pt x="125" y="29"/>
                </a:lnTo>
                <a:lnTo>
                  <a:pt x="132" y="40"/>
                </a:lnTo>
                <a:lnTo>
                  <a:pt x="138" y="53"/>
                </a:lnTo>
                <a:lnTo>
                  <a:pt x="142" y="67"/>
                </a:lnTo>
                <a:lnTo>
                  <a:pt x="144" y="83"/>
                </a:lnTo>
                <a:lnTo>
                  <a:pt x="146" y="99"/>
                </a:lnTo>
                <a:lnTo>
                  <a:pt x="146" y="702"/>
                </a:lnTo>
                <a:lnTo>
                  <a:pt x="144" y="718"/>
                </a:lnTo>
                <a:lnTo>
                  <a:pt x="142" y="734"/>
                </a:lnTo>
                <a:lnTo>
                  <a:pt x="138" y="747"/>
                </a:lnTo>
                <a:lnTo>
                  <a:pt x="132" y="761"/>
                </a:lnTo>
                <a:lnTo>
                  <a:pt x="125" y="774"/>
                </a:lnTo>
                <a:lnTo>
                  <a:pt x="115" y="785"/>
                </a:lnTo>
                <a:lnTo>
                  <a:pt x="107" y="793"/>
                </a:lnTo>
                <a:lnTo>
                  <a:pt x="96" y="798"/>
                </a:lnTo>
                <a:lnTo>
                  <a:pt x="84" y="801"/>
                </a:lnTo>
                <a:lnTo>
                  <a:pt x="73" y="804"/>
                </a:lnTo>
                <a:lnTo>
                  <a:pt x="61" y="801"/>
                </a:lnTo>
                <a:lnTo>
                  <a:pt x="50" y="798"/>
                </a:lnTo>
                <a:lnTo>
                  <a:pt x="40" y="793"/>
                </a:lnTo>
                <a:lnTo>
                  <a:pt x="31" y="785"/>
                </a:lnTo>
                <a:lnTo>
                  <a:pt x="23" y="774"/>
                </a:lnTo>
                <a:lnTo>
                  <a:pt x="15" y="761"/>
                </a:lnTo>
                <a:lnTo>
                  <a:pt x="10" y="747"/>
                </a:lnTo>
                <a:lnTo>
                  <a:pt x="6" y="734"/>
                </a:lnTo>
                <a:lnTo>
                  <a:pt x="2" y="718"/>
                </a:lnTo>
                <a:lnTo>
                  <a:pt x="2" y="702"/>
                </a:lnTo>
                <a:lnTo>
                  <a:pt x="2" y="99"/>
                </a:lnTo>
                <a:lnTo>
                  <a:pt x="2" y="99"/>
                </a:lnTo>
              </a:path>
            </a:pathLst>
          </a:custGeom>
          <a:noFill/>
          <a:ln w="12700" cap="flat" cmpd="sng">
            <a:solidFill>
              <a:srgbClr val="000000"/>
            </a:solidFill>
            <a:prstDash val="solid"/>
            <a:round/>
            <a:headEnd type="none" w="med" len="med"/>
            <a:tailEnd type="none" w="med" len="med"/>
          </a:ln>
        </p:spPr>
        <p:txBody>
          <a:bodyPr/>
          <a:p>
            <a:endParaRPr lang="zh-CN" altLang="en-US"/>
          </a:p>
        </p:txBody>
      </p:sp>
      <p:sp>
        <p:nvSpPr>
          <p:cNvPr id="32825" name="直接连接符 300096"/>
          <p:cNvSpPr/>
          <p:nvPr/>
        </p:nvSpPr>
        <p:spPr>
          <a:xfrm>
            <a:off x="5824538" y="1728788"/>
            <a:ext cx="1063625" cy="0"/>
          </a:xfrm>
          <a:prstGeom prst="line">
            <a:avLst/>
          </a:prstGeom>
          <a:ln w="28575" cap="flat" cmpd="sng">
            <a:solidFill>
              <a:schemeClr val="tx1"/>
            </a:solidFill>
            <a:prstDash val="solid"/>
            <a:round/>
            <a:headEnd type="none" w="med" len="med"/>
            <a:tailEnd type="triangle" w="med" len="med"/>
          </a:ln>
        </p:spPr>
      </p:sp>
      <p:sp>
        <p:nvSpPr>
          <p:cNvPr id="32826" name="直接连接符 300097"/>
          <p:cNvSpPr/>
          <p:nvPr/>
        </p:nvSpPr>
        <p:spPr>
          <a:xfrm>
            <a:off x="5824538" y="2230438"/>
            <a:ext cx="1041400" cy="0"/>
          </a:xfrm>
          <a:prstGeom prst="line">
            <a:avLst/>
          </a:prstGeom>
          <a:ln w="28575" cap="flat" cmpd="sng">
            <a:solidFill>
              <a:schemeClr val="tx1"/>
            </a:solidFill>
            <a:prstDash val="solid"/>
            <a:round/>
            <a:headEnd type="none" w="med" len="med"/>
            <a:tailEnd type="triangle" w="med" len="med"/>
          </a:ln>
        </p:spPr>
      </p:sp>
      <p:sp>
        <p:nvSpPr>
          <p:cNvPr id="32827" name="直接连接符 300098"/>
          <p:cNvSpPr/>
          <p:nvPr/>
        </p:nvSpPr>
        <p:spPr>
          <a:xfrm>
            <a:off x="5824538" y="3136900"/>
            <a:ext cx="1041400" cy="0"/>
          </a:xfrm>
          <a:prstGeom prst="line">
            <a:avLst/>
          </a:prstGeom>
          <a:ln w="28575" cap="flat" cmpd="sng">
            <a:solidFill>
              <a:schemeClr val="tx1"/>
            </a:solidFill>
            <a:prstDash val="solid"/>
            <a:round/>
            <a:headEnd type="none" w="med" len="med"/>
            <a:tailEnd type="triangle" w="med" len="med"/>
          </a:ln>
        </p:spPr>
      </p:sp>
      <p:sp>
        <p:nvSpPr>
          <p:cNvPr id="32828" name="直接连接符 300099"/>
          <p:cNvSpPr/>
          <p:nvPr/>
        </p:nvSpPr>
        <p:spPr>
          <a:xfrm>
            <a:off x="5845175" y="3536950"/>
            <a:ext cx="1042988" cy="0"/>
          </a:xfrm>
          <a:prstGeom prst="line">
            <a:avLst/>
          </a:prstGeom>
          <a:ln w="28575" cap="flat" cmpd="sng">
            <a:solidFill>
              <a:schemeClr val="tx1"/>
            </a:solidFill>
            <a:prstDash val="solid"/>
            <a:round/>
            <a:headEnd type="none" w="med" len="med"/>
            <a:tailEnd type="triangle" w="med" len="med"/>
          </a:ln>
        </p:spPr>
      </p:sp>
      <p:sp>
        <p:nvSpPr>
          <p:cNvPr id="32829" name="直接连接符 300100"/>
          <p:cNvSpPr/>
          <p:nvPr/>
        </p:nvSpPr>
        <p:spPr>
          <a:xfrm flipH="1">
            <a:off x="6642100" y="1728788"/>
            <a:ext cx="0" cy="2678112"/>
          </a:xfrm>
          <a:prstGeom prst="line">
            <a:avLst/>
          </a:prstGeom>
          <a:ln w="28575" cap="flat" cmpd="sng">
            <a:solidFill>
              <a:schemeClr val="tx1"/>
            </a:solidFill>
            <a:prstDash val="solid"/>
            <a:round/>
            <a:headEnd type="none" w="med" len="med"/>
            <a:tailEnd type="none" w="med" len="med"/>
          </a:ln>
        </p:spPr>
      </p:sp>
      <p:sp>
        <p:nvSpPr>
          <p:cNvPr id="32830" name="直接连接符 300101"/>
          <p:cNvSpPr/>
          <p:nvPr/>
        </p:nvSpPr>
        <p:spPr>
          <a:xfrm>
            <a:off x="6459538" y="2230438"/>
            <a:ext cx="0" cy="2635250"/>
          </a:xfrm>
          <a:prstGeom prst="line">
            <a:avLst/>
          </a:prstGeom>
          <a:ln w="28575" cap="flat" cmpd="sng">
            <a:solidFill>
              <a:schemeClr val="tx1"/>
            </a:solidFill>
            <a:prstDash val="solid"/>
            <a:round/>
            <a:headEnd type="none" w="med" len="med"/>
            <a:tailEnd type="none" w="med" len="med"/>
          </a:ln>
        </p:spPr>
      </p:sp>
      <p:sp>
        <p:nvSpPr>
          <p:cNvPr id="32831" name="直接连接符 300102"/>
          <p:cNvSpPr/>
          <p:nvPr/>
        </p:nvSpPr>
        <p:spPr>
          <a:xfrm>
            <a:off x="5907088" y="3536950"/>
            <a:ext cx="0" cy="2662238"/>
          </a:xfrm>
          <a:prstGeom prst="line">
            <a:avLst/>
          </a:prstGeom>
          <a:ln w="28575" cap="flat" cmpd="sng">
            <a:solidFill>
              <a:schemeClr val="tx1"/>
            </a:solidFill>
            <a:prstDash val="solid"/>
            <a:round/>
            <a:headEnd type="none" w="med" len="med"/>
            <a:tailEnd type="none" w="med" len="med"/>
          </a:ln>
        </p:spPr>
      </p:sp>
      <p:sp>
        <p:nvSpPr>
          <p:cNvPr id="32832" name="直接连接符 300103"/>
          <p:cNvSpPr/>
          <p:nvPr/>
        </p:nvSpPr>
        <p:spPr>
          <a:xfrm flipH="1">
            <a:off x="6091238" y="3136900"/>
            <a:ext cx="0" cy="2644775"/>
          </a:xfrm>
          <a:prstGeom prst="line">
            <a:avLst/>
          </a:prstGeom>
          <a:ln w="28575" cap="flat" cmpd="sng">
            <a:solidFill>
              <a:schemeClr val="tx1"/>
            </a:solidFill>
            <a:prstDash val="solid"/>
            <a:round/>
            <a:headEnd type="none" w="med" len="med"/>
            <a:tailEnd type="none" w="med" len="med"/>
          </a:ln>
        </p:spPr>
      </p:sp>
      <p:sp>
        <p:nvSpPr>
          <p:cNvPr id="32833" name="直接连接符 300104"/>
          <p:cNvSpPr/>
          <p:nvPr/>
        </p:nvSpPr>
        <p:spPr>
          <a:xfrm flipV="1">
            <a:off x="6642100" y="4391025"/>
            <a:ext cx="265113" cy="4763"/>
          </a:xfrm>
          <a:prstGeom prst="line">
            <a:avLst/>
          </a:prstGeom>
          <a:ln w="28575" cap="flat" cmpd="sng">
            <a:solidFill>
              <a:schemeClr val="tx1"/>
            </a:solidFill>
            <a:prstDash val="solid"/>
            <a:round/>
            <a:headEnd type="none" w="med" len="med"/>
            <a:tailEnd type="triangle" w="med" len="med"/>
          </a:ln>
        </p:spPr>
      </p:sp>
      <p:sp>
        <p:nvSpPr>
          <p:cNvPr id="32834" name="直接连接符 300105"/>
          <p:cNvSpPr/>
          <p:nvPr/>
        </p:nvSpPr>
        <p:spPr>
          <a:xfrm>
            <a:off x="6454775" y="4859338"/>
            <a:ext cx="452438" cy="0"/>
          </a:xfrm>
          <a:prstGeom prst="line">
            <a:avLst/>
          </a:prstGeom>
          <a:ln w="28575" cap="flat" cmpd="sng">
            <a:solidFill>
              <a:schemeClr val="tx1"/>
            </a:solidFill>
            <a:prstDash val="solid"/>
            <a:round/>
            <a:headEnd type="none" w="med" len="med"/>
            <a:tailEnd type="triangle" w="med" len="med"/>
          </a:ln>
        </p:spPr>
      </p:sp>
      <p:sp>
        <p:nvSpPr>
          <p:cNvPr id="32835" name="直接连接符 300106"/>
          <p:cNvSpPr/>
          <p:nvPr/>
        </p:nvSpPr>
        <p:spPr>
          <a:xfrm flipV="1">
            <a:off x="5907088" y="6199188"/>
            <a:ext cx="996950" cy="0"/>
          </a:xfrm>
          <a:prstGeom prst="line">
            <a:avLst/>
          </a:prstGeom>
          <a:ln w="28575" cap="flat" cmpd="sng">
            <a:solidFill>
              <a:schemeClr val="tx1"/>
            </a:solidFill>
            <a:prstDash val="solid"/>
            <a:round/>
            <a:headEnd type="none" w="med" len="med"/>
            <a:tailEnd type="triangle" w="med" len="med"/>
          </a:ln>
        </p:spPr>
      </p:sp>
      <p:sp>
        <p:nvSpPr>
          <p:cNvPr id="32836" name="直接连接符 300107"/>
          <p:cNvSpPr/>
          <p:nvPr/>
        </p:nvSpPr>
        <p:spPr>
          <a:xfrm>
            <a:off x="6091238" y="5781675"/>
            <a:ext cx="815975" cy="0"/>
          </a:xfrm>
          <a:prstGeom prst="line">
            <a:avLst/>
          </a:prstGeom>
          <a:ln w="28575" cap="flat" cmpd="sng">
            <a:solidFill>
              <a:schemeClr val="tx1"/>
            </a:solidFill>
            <a:prstDash val="solid"/>
            <a:round/>
            <a:headEnd type="none" w="med" len="med"/>
            <a:tailEnd type="triangle" w="med" len="med"/>
          </a:ln>
        </p:spPr>
      </p:sp>
      <p:sp>
        <p:nvSpPr>
          <p:cNvPr id="32837" name="矩形 300108"/>
          <p:cNvSpPr/>
          <p:nvPr/>
        </p:nvSpPr>
        <p:spPr>
          <a:xfrm>
            <a:off x="6950075" y="4659313"/>
            <a:ext cx="190500" cy="274637"/>
          </a:xfrm>
          <a:prstGeom prst="rect">
            <a:avLst/>
          </a:prstGeom>
          <a:noFill/>
          <a:ln w="9525">
            <a:noFill/>
          </a:ln>
        </p:spPr>
        <p:txBody>
          <a:bodyPr wrap="none" lIns="0" tIns="0" rIns="0" bIns="0" anchor="t" anchorCtr="0">
            <a:spAutoFit/>
          </a:bodyPr>
          <a:p>
            <a:r>
              <a:rPr lang="en-US" altLang="zh-CN" sz="1800">
                <a:solidFill>
                  <a:srgbClr val="000000"/>
                </a:solidFill>
                <a:latin typeface="Arial" panose="020B0604020202020204" pitchFamily="34" charset="0"/>
                <a:ea typeface="宋体" panose="02010600030101010101" pitchFamily="2" charset="-122"/>
              </a:rPr>
              <a:t>M</a:t>
            </a:r>
            <a:endParaRPr lang="en-US" altLang="zh-CN" sz="1800">
              <a:latin typeface="Times New Roman" panose="02020603050405020304" pitchFamily="18" charset="0"/>
              <a:ea typeface="宋体" panose="02010600030101010101" pitchFamily="2" charset="-122"/>
            </a:endParaRPr>
          </a:p>
        </p:txBody>
      </p:sp>
      <p:sp>
        <p:nvSpPr>
          <p:cNvPr id="32838" name="矩形 300109"/>
          <p:cNvSpPr/>
          <p:nvPr/>
        </p:nvSpPr>
        <p:spPr>
          <a:xfrm>
            <a:off x="6970713" y="5646738"/>
            <a:ext cx="152400" cy="274637"/>
          </a:xfrm>
          <a:prstGeom prst="rect">
            <a:avLst/>
          </a:prstGeom>
          <a:noFill/>
          <a:ln w="9525">
            <a:noFill/>
          </a:ln>
        </p:spPr>
        <p:txBody>
          <a:bodyPr wrap="none" lIns="0" tIns="0" rIns="0" bIns="0" anchor="t" anchorCtr="0">
            <a:spAutoFit/>
          </a:bodyPr>
          <a:p>
            <a:r>
              <a:rPr lang="en-US" altLang="zh-CN" sz="1800">
                <a:solidFill>
                  <a:srgbClr val="000000"/>
                </a:solidFill>
                <a:latin typeface="Arial" panose="020B0604020202020204" pitchFamily="34" charset="0"/>
                <a:ea typeface="宋体" panose="02010600030101010101" pitchFamily="2" charset="-122"/>
              </a:rPr>
              <a:t>X</a:t>
            </a:r>
            <a:endParaRPr lang="en-US" altLang="zh-CN" sz="1800">
              <a:latin typeface="Times New Roman" panose="02020603050405020304" pitchFamily="18" charset="0"/>
              <a:ea typeface="宋体" panose="02010600030101010101" pitchFamily="2" charset="-122"/>
            </a:endParaRPr>
          </a:p>
        </p:txBody>
      </p:sp>
      <p:sp>
        <p:nvSpPr>
          <p:cNvPr id="32839" name="矩形 300110"/>
          <p:cNvSpPr/>
          <p:nvPr/>
        </p:nvSpPr>
        <p:spPr>
          <a:xfrm>
            <a:off x="6970713" y="5160963"/>
            <a:ext cx="165100" cy="274637"/>
          </a:xfrm>
          <a:prstGeom prst="rect">
            <a:avLst/>
          </a:prstGeom>
          <a:noFill/>
          <a:ln w="9525">
            <a:noFill/>
          </a:ln>
        </p:spPr>
        <p:txBody>
          <a:bodyPr wrap="none" lIns="0" tIns="0" rIns="0" bIns="0" anchor="t" anchorCtr="0">
            <a:spAutoFit/>
          </a:bodyPr>
          <a:p>
            <a:r>
              <a:rPr lang="en-US" altLang="zh-CN" sz="1800">
                <a:solidFill>
                  <a:srgbClr val="000000"/>
                </a:solidFill>
                <a:latin typeface="Arial" panose="020B0604020202020204" pitchFamily="34" charset="0"/>
                <a:ea typeface="宋体" panose="02010600030101010101" pitchFamily="2" charset="-122"/>
              </a:rPr>
              <a:t>U</a:t>
            </a:r>
            <a:endParaRPr lang="en-US" altLang="zh-CN" sz="1800">
              <a:latin typeface="Times New Roman" panose="02020603050405020304" pitchFamily="18" charset="0"/>
              <a:ea typeface="宋体" panose="02010600030101010101" pitchFamily="2" charset="-122"/>
            </a:endParaRPr>
          </a:p>
        </p:txBody>
      </p:sp>
      <p:sp>
        <p:nvSpPr>
          <p:cNvPr id="32840" name="文本框 300111"/>
          <p:cNvSpPr txBox="1"/>
          <p:nvPr/>
        </p:nvSpPr>
        <p:spPr>
          <a:xfrm>
            <a:off x="4654550" y="1463675"/>
            <a:ext cx="1166813" cy="336550"/>
          </a:xfrm>
          <a:prstGeom prst="rect">
            <a:avLst/>
          </a:prstGeom>
          <a:noFill/>
          <a:ln w="12700">
            <a:noFill/>
          </a:ln>
        </p:spPr>
        <p:txBody>
          <a:bodyPr wrap="none" anchor="t" anchorCtr="0">
            <a:spAutoFit/>
          </a:bodyPr>
          <a:p>
            <a:r>
              <a:rPr lang="en-US" altLang="zh-CN">
                <a:latin typeface="Arial" panose="020B0604020202020204" pitchFamily="34" charset="0"/>
                <a:ea typeface="宋体" panose="02010600030101010101" pitchFamily="2" charset="-122"/>
              </a:rPr>
              <a:t>Register 0</a:t>
            </a:r>
            <a:endParaRPr lang="en-US" altLang="zh-CN">
              <a:latin typeface="Arial" panose="020B0604020202020204" pitchFamily="34" charset="0"/>
              <a:ea typeface="宋体" panose="02010600030101010101" pitchFamily="2" charset="-122"/>
            </a:endParaRPr>
          </a:p>
        </p:txBody>
      </p:sp>
      <p:sp>
        <p:nvSpPr>
          <p:cNvPr id="32841" name="文本框 300112"/>
          <p:cNvSpPr txBox="1"/>
          <p:nvPr/>
        </p:nvSpPr>
        <p:spPr>
          <a:xfrm>
            <a:off x="4654550" y="1955800"/>
            <a:ext cx="1166813" cy="336550"/>
          </a:xfrm>
          <a:prstGeom prst="rect">
            <a:avLst/>
          </a:prstGeom>
          <a:noFill/>
          <a:ln w="12700">
            <a:noFill/>
          </a:ln>
        </p:spPr>
        <p:txBody>
          <a:bodyPr wrap="none" anchor="t" anchorCtr="0">
            <a:spAutoFit/>
          </a:bodyPr>
          <a:p>
            <a:r>
              <a:rPr lang="en-US" altLang="zh-CN">
                <a:latin typeface="Arial" panose="020B0604020202020204" pitchFamily="34" charset="0"/>
                <a:ea typeface="宋体" panose="02010600030101010101" pitchFamily="2" charset="-122"/>
              </a:rPr>
              <a:t>Register 1</a:t>
            </a:r>
            <a:endParaRPr lang="en-US" altLang="zh-CN">
              <a:latin typeface="Arial" panose="020B0604020202020204" pitchFamily="34" charset="0"/>
              <a:ea typeface="宋体" panose="02010600030101010101" pitchFamily="2" charset="-122"/>
            </a:endParaRPr>
          </a:p>
        </p:txBody>
      </p:sp>
      <p:sp>
        <p:nvSpPr>
          <p:cNvPr id="32842" name="文本框 300113"/>
          <p:cNvSpPr txBox="1"/>
          <p:nvPr/>
        </p:nvSpPr>
        <p:spPr>
          <a:xfrm>
            <a:off x="4591050" y="2963863"/>
            <a:ext cx="1273175" cy="336550"/>
          </a:xfrm>
          <a:prstGeom prst="rect">
            <a:avLst/>
          </a:prstGeom>
          <a:noFill/>
          <a:ln w="12700">
            <a:noFill/>
          </a:ln>
        </p:spPr>
        <p:txBody>
          <a:bodyPr wrap="none" anchor="t" anchorCtr="0">
            <a:spAutoFit/>
          </a:bodyPr>
          <a:p>
            <a:r>
              <a:rPr lang="en-US" altLang="zh-CN">
                <a:latin typeface="Arial" panose="020B0604020202020204" pitchFamily="34" charset="0"/>
                <a:ea typeface="宋体" panose="02010600030101010101" pitchFamily="2" charset="-122"/>
              </a:rPr>
              <a:t>Register</a:t>
            </a:r>
            <a:r>
              <a:rPr lang="en-US" altLang="zh-CN">
                <a:latin typeface="Times New Roman" panose="02020603050405020304" pitchFamily="18" charset="0"/>
                <a:ea typeface="宋体" panose="02010600030101010101" pitchFamily="2" charset="-122"/>
              </a:rPr>
              <a:t> </a:t>
            </a:r>
            <a:r>
              <a:rPr lang="en-US" altLang="zh-CN">
                <a:latin typeface="Arial" panose="020B0604020202020204" pitchFamily="34" charset="0"/>
                <a:ea typeface="宋体" panose="02010600030101010101" pitchFamily="2" charset="-122"/>
              </a:rPr>
              <a:t>30</a:t>
            </a:r>
            <a:endParaRPr lang="en-US" altLang="zh-CN">
              <a:latin typeface="Arial" panose="020B0604020202020204" pitchFamily="34" charset="0"/>
              <a:ea typeface="宋体" panose="02010600030101010101" pitchFamily="2" charset="-122"/>
            </a:endParaRPr>
          </a:p>
        </p:txBody>
      </p:sp>
      <p:sp>
        <p:nvSpPr>
          <p:cNvPr id="32843" name="文本框 300114"/>
          <p:cNvSpPr txBox="1"/>
          <p:nvPr/>
        </p:nvSpPr>
        <p:spPr>
          <a:xfrm>
            <a:off x="4621213" y="3387725"/>
            <a:ext cx="1273175" cy="336550"/>
          </a:xfrm>
          <a:prstGeom prst="rect">
            <a:avLst/>
          </a:prstGeom>
          <a:noFill/>
          <a:ln w="12700">
            <a:noFill/>
          </a:ln>
        </p:spPr>
        <p:txBody>
          <a:bodyPr wrap="none" anchor="t" anchorCtr="0">
            <a:spAutoFit/>
          </a:bodyPr>
          <a:p>
            <a:r>
              <a:rPr lang="en-US" altLang="zh-CN">
                <a:latin typeface="Arial" panose="020B0604020202020204" pitchFamily="34" charset="0"/>
                <a:ea typeface="宋体" panose="02010600030101010101" pitchFamily="2" charset="-122"/>
              </a:rPr>
              <a:t>Register</a:t>
            </a:r>
            <a:r>
              <a:rPr lang="en-US" altLang="zh-CN">
                <a:latin typeface="Times New Roman" panose="02020603050405020304" pitchFamily="18" charset="0"/>
                <a:ea typeface="宋体" panose="02010600030101010101" pitchFamily="2" charset="-122"/>
              </a:rPr>
              <a:t> </a:t>
            </a:r>
            <a:r>
              <a:rPr lang="en-US" altLang="zh-CN">
                <a:latin typeface="Arial" panose="020B0604020202020204" pitchFamily="34" charset="0"/>
                <a:ea typeface="宋体" panose="02010600030101010101" pitchFamily="2" charset="-122"/>
              </a:rPr>
              <a:t>31</a:t>
            </a:r>
            <a:endParaRPr lang="en-US" altLang="zh-CN">
              <a:latin typeface="Arial" panose="020B0604020202020204" pitchFamily="34" charset="0"/>
              <a:ea typeface="宋体" panose="02010600030101010101" pitchFamily="2" charset="-122"/>
            </a:endParaRPr>
          </a:p>
        </p:txBody>
      </p:sp>
      <p:sp>
        <p:nvSpPr>
          <p:cNvPr id="32844" name="文本框 300115"/>
          <p:cNvSpPr txBox="1"/>
          <p:nvPr/>
        </p:nvSpPr>
        <p:spPr>
          <a:xfrm>
            <a:off x="3616325" y="774700"/>
            <a:ext cx="1498600" cy="366713"/>
          </a:xfrm>
          <a:prstGeom prst="rect">
            <a:avLst/>
          </a:prstGeom>
          <a:noFill/>
          <a:ln w="12700">
            <a:noFill/>
          </a:ln>
        </p:spPr>
        <p:txBody>
          <a:bodyPr wrap="none" anchor="t" anchorCtr="0">
            <a:spAutoFit/>
          </a:bodyPr>
          <a:p>
            <a:r>
              <a:rPr lang="en-US" altLang="zh-CN" sz="1800">
                <a:solidFill>
                  <a:schemeClr val="accent2"/>
                </a:solidFill>
                <a:latin typeface="Times New Roman" panose="02020603050405020304" pitchFamily="18" charset="0"/>
                <a:ea typeface="宋体" panose="02010600030101010101" pitchFamily="2" charset="-122"/>
              </a:rPr>
              <a:t>Write Enable</a:t>
            </a:r>
            <a:endParaRPr lang="en-US" altLang="zh-CN" sz="1800">
              <a:solidFill>
                <a:schemeClr val="accent2"/>
              </a:solidFill>
              <a:latin typeface="Times New Roman" panose="02020603050405020304" pitchFamily="18" charset="0"/>
              <a:ea typeface="宋体" panose="02010600030101010101" pitchFamily="2" charset="-122"/>
            </a:endParaRPr>
          </a:p>
        </p:txBody>
      </p:sp>
      <p:sp>
        <p:nvSpPr>
          <p:cNvPr id="32845" name="直接连接符 300116"/>
          <p:cNvSpPr/>
          <p:nvPr/>
        </p:nvSpPr>
        <p:spPr>
          <a:xfrm>
            <a:off x="3700463" y="995363"/>
            <a:ext cx="0" cy="2365375"/>
          </a:xfrm>
          <a:prstGeom prst="line">
            <a:avLst/>
          </a:prstGeom>
          <a:ln w="28575" cap="flat" cmpd="sng">
            <a:solidFill>
              <a:schemeClr val="tx1"/>
            </a:solidFill>
            <a:prstDash val="solid"/>
            <a:round/>
            <a:headEnd type="none" w="med" len="med"/>
            <a:tailEnd type="none" w="med" len="med"/>
          </a:ln>
        </p:spPr>
      </p:sp>
      <p:sp>
        <p:nvSpPr>
          <p:cNvPr id="32846" name="直接连接符 300117"/>
          <p:cNvSpPr/>
          <p:nvPr/>
        </p:nvSpPr>
        <p:spPr>
          <a:xfrm flipH="1">
            <a:off x="3700463" y="3360738"/>
            <a:ext cx="184150" cy="0"/>
          </a:xfrm>
          <a:prstGeom prst="line">
            <a:avLst/>
          </a:prstGeom>
          <a:ln w="28575" cap="flat" cmpd="sng">
            <a:solidFill>
              <a:schemeClr val="tx1"/>
            </a:solidFill>
            <a:prstDash val="solid"/>
            <a:round/>
            <a:headEnd type="none" w="med" len="med"/>
            <a:tailEnd type="none" w="med" len="med"/>
          </a:ln>
        </p:spPr>
      </p:sp>
      <p:sp>
        <p:nvSpPr>
          <p:cNvPr id="32847" name="文本框 300119"/>
          <p:cNvSpPr txBox="1"/>
          <p:nvPr/>
        </p:nvSpPr>
        <p:spPr>
          <a:xfrm>
            <a:off x="304800" y="1874838"/>
            <a:ext cx="577850" cy="366712"/>
          </a:xfrm>
          <a:prstGeom prst="rect">
            <a:avLst/>
          </a:prstGeom>
          <a:noFill/>
          <a:ln w="12700">
            <a:noFill/>
          </a:ln>
        </p:spPr>
        <p:txBody>
          <a:bodyPr wrap="none" anchor="t" anchorCtr="0">
            <a:spAutoFit/>
          </a:bodyPr>
          <a:p>
            <a:r>
              <a:rPr lang="en-US" altLang="zh-CN" sz="1800">
                <a:latin typeface="Times New Roman" panose="02020603050405020304" pitchFamily="18" charset="0"/>
                <a:ea typeface="宋体" panose="02010600030101010101" pitchFamily="2" charset="-122"/>
              </a:rPr>
              <a:t>RW</a:t>
            </a:r>
            <a:endParaRPr lang="en-US" altLang="zh-CN" sz="1800">
              <a:latin typeface="Times New Roman" panose="02020603050405020304" pitchFamily="18" charset="0"/>
              <a:ea typeface="宋体" panose="02010600030101010101" pitchFamily="2" charset="-122"/>
            </a:endParaRPr>
          </a:p>
        </p:txBody>
      </p:sp>
      <p:sp>
        <p:nvSpPr>
          <p:cNvPr id="32848" name="文本框 300120"/>
          <p:cNvSpPr txBox="1"/>
          <p:nvPr/>
        </p:nvSpPr>
        <p:spPr>
          <a:xfrm>
            <a:off x="1598613" y="1749425"/>
            <a:ext cx="996950" cy="641350"/>
          </a:xfrm>
          <a:prstGeom prst="rect">
            <a:avLst/>
          </a:prstGeom>
          <a:noFill/>
          <a:ln w="12700">
            <a:noFill/>
          </a:ln>
        </p:spPr>
        <p:txBody>
          <a:bodyPr wrap="none" anchor="t" anchorCtr="0">
            <a:spAutoFit/>
          </a:bodyPr>
          <a:p>
            <a:r>
              <a:rPr lang="zh-CN" altLang="en-US" sz="1800" dirty="0">
                <a:latin typeface="Times New Roman" panose="02020603050405020304" pitchFamily="18" charset="0"/>
                <a:ea typeface="宋体" panose="02010600030101010101" pitchFamily="2" charset="-122"/>
              </a:rPr>
              <a:t>32-</a:t>
            </a:r>
            <a:r>
              <a:rPr lang="en-US" altLang="zh-CN" sz="1800">
                <a:latin typeface="Times New Roman" panose="02020603050405020304" pitchFamily="18" charset="0"/>
                <a:ea typeface="宋体" panose="02010600030101010101" pitchFamily="2" charset="-122"/>
              </a:rPr>
              <a:t>to-1</a:t>
            </a:r>
            <a:endParaRPr lang="en-US" altLang="zh-CN" sz="1800">
              <a:latin typeface="Times New Roman" panose="02020603050405020304" pitchFamily="18" charset="0"/>
              <a:ea typeface="宋体" panose="02010600030101010101" pitchFamily="2" charset="-122"/>
            </a:endParaRPr>
          </a:p>
          <a:p>
            <a:r>
              <a:rPr lang="en-US" altLang="zh-CN" sz="1800">
                <a:latin typeface="Times New Roman" panose="02020603050405020304" pitchFamily="18" charset="0"/>
                <a:ea typeface="宋体" panose="02010600030101010101" pitchFamily="2" charset="-122"/>
              </a:rPr>
              <a:t>Decoder</a:t>
            </a:r>
            <a:endParaRPr lang="en-US" altLang="zh-CN" sz="1800">
              <a:latin typeface="Times New Roman" panose="02020603050405020304" pitchFamily="18" charset="0"/>
              <a:ea typeface="宋体" panose="02010600030101010101" pitchFamily="2" charset="-122"/>
            </a:endParaRPr>
          </a:p>
        </p:txBody>
      </p:sp>
      <p:sp>
        <p:nvSpPr>
          <p:cNvPr id="32849" name="直接连接符 300121"/>
          <p:cNvSpPr/>
          <p:nvPr/>
        </p:nvSpPr>
        <p:spPr>
          <a:xfrm>
            <a:off x="1012825" y="2085975"/>
            <a:ext cx="635000" cy="0"/>
          </a:xfrm>
          <a:prstGeom prst="line">
            <a:avLst/>
          </a:prstGeom>
          <a:ln w="12700" cap="flat" cmpd="sng">
            <a:solidFill>
              <a:schemeClr val="tx1"/>
            </a:solidFill>
            <a:prstDash val="solid"/>
            <a:round/>
            <a:headEnd type="none" w="med" len="med"/>
            <a:tailEnd type="triangle" w="med" len="med"/>
          </a:ln>
        </p:spPr>
      </p:sp>
      <p:grpSp>
        <p:nvGrpSpPr>
          <p:cNvPr id="32850" name="组合 300122"/>
          <p:cNvGrpSpPr/>
          <p:nvPr/>
        </p:nvGrpSpPr>
        <p:grpSpPr>
          <a:xfrm>
            <a:off x="6119813" y="2578100"/>
            <a:ext cx="26987" cy="157163"/>
            <a:chOff x="1238" y="2071"/>
            <a:chExt cx="11" cy="75"/>
          </a:xfrm>
        </p:grpSpPr>
        <p:sp>
          <p:nvSpPr>
            <p:cNvPr id="32851" name="任意多边形 300123"/>
            <p:cNvSpPr/>
            <p:nvPr/>
          </p:nvSpPr>
          <p:spPr>
            <a:xfrm>
              <a:off x="1238" y="2104"/>
              <a:ext cx="11" cy="9"/>
            </a:xfrm>
            <a:custGeom>
              <a:avLst/>
              <a:gdLst/>
              <a:ahLst/>
              <a:cxnLst/>
              <a:pathLst>
                <a:path w="11" h="9">
                  <a:moveTo>
                    <a:pt x="11" y="3"/>
                  </a:moveTo>
                  <a:lnTo>
                    <a:pt x="11" y="3"/>
                  </a:lnTo>
                  <a:lnTo>
                    <a:pt x="11" y="3"/>
                  </a:lnTo>
                  <a:lnTo>
                    <a:pt x="11" y="1"/>
                  </a:lnTo>
                  <a:lnTo>
                    <a:pt x="9" y="1"/>
                  </a:lnTo>
                  <a:lnTo>
                    <a:pt x="9" y="0"/>
                  </a:lnTo>
                  <a:lnTo>
                    <a:pt x="9" y="0"/>
                  </a:lnTo>
                  <a:lnTo>
                    <a:pt x="7" y="0"/>
                  </a:lnTo>
                  <a:lnTo>
                    <a:pt x="7" y="0"/>
                  </a:lnTo>
                  <a:lnTo>
                    <a:pt x="5" y="0"/>
                  </a:lnTo>
                  <a:lnTo>
                    <a:pt x="5" y="0"/>
                  </a:lnTo>
                  <a:lnTo>
                    <a:pt x="3" y="0"/>
                  </a:lnTo>
                  <a:lnTo>
                    <a:pt x="3" y="0"/>
                  </a:lnTo>
                  <a:lnTo>
                    <a:pt x="3" y="0"/>
                  </a:lnTo>
                  <a:lnTo>
                    <a:pt x="1" y="0"/>
                  </a:lnTo>
                  <a:lnTo>
                    <a:pt x="1" y="0"/>
                  </a:lnTo>
                  <a:lnTo>
                    <a:pt x="0" y="1"/>
                  </a:lnTo>
                  <a:lnTo>
                    <a:pt x="0" y="1"/>
                  </a:lnTo>
                  <a:lnTo>
                    <a:pt x="0" y="3"/>
                  </a:lnTo>
                  <a:lnTo>
                    <a:pt x="0" y="3"/>
                  </a:lnTo>
                  <a:lnTo>
                    <a:pt x="0" y="4"/>
                  </a:lnTo>
                  <a:lnTo>
                    <a:pt x="0" y="4"/>
                  </a:lnTo>
                  <a:lnTo>
                    <a:pt x="0" y="6"/>
                  </a:lnTo>
                  <a:lnTo>
                    <a:pt x="0" y="6"/>
                  </a:lnTo>
                  <a:lnTo>
                    <a:pt x="0" y="6"/>
                  </a:lnTo>
                  <a:lnTo>
                    <a:pt x="1" y="8"/>
                  </a:lnTo>
                  <a:lnTo>
                    <a:pt x="1" y="8"/>
                  </a:lnTo>
                  <a:lnTo>
                    <a:pt x="3" y="8"/>
                  </a:lnTo>
                  <a:lnTo>
                    <a:pt x="3" y="9"/>
                  </a:lnTo>
                  <a:lnTo>
                    <a:pt x="3" y="9"/>
                  </a:lnTo>
                  <a:lnTo>
                    <a:pt x="5" y="9"/>
                  </a:lnTo>
                  <a:lnTo>
                    <a:pt x="5" y="9"/>
                  </a:lnTo>
                  <a:lnTo>
                    <a:pt x="7" y="9"/>
                  </a:lnTo>
                  <a:lnTo>
                    <a:pt x="7" y="8"/>
                  </a:lnTo>
                  <a:lnTo>
                    <a:pt x="9" y="8"/>
                  </a:lnTo>
                  <a:lnTo>
                    <a:pt x="9" y="8"/>
                  </a:lnTo>
                  <a:lnTo>
                    <a:pt x="9" y="6"/>
                  </a:lnTo>
                  <a:lnTo>
                    <a:pt x="11" y="6"/>
                  </a:lnTo>
                  <a:lnTo>
                    <a:pt x="11" y="6"/>
                  </a:lnTo>
                  <a:lnTo>
                    <a:pt x="11" y="4"/>
                  </a:lnTo>
                  <a:lnTo>
                    <a:pt x="11" y="4"/>
                  </a:lnTo>
                  <a:lnTo>
                    <a:pt x="11" y="4"/>
                  </a:lnTo>
                  <a:lnTo>
                    <a:pt x="11" y="3"/>
                  </a:lnTo>
                  <a:close/>
                </a:path>
              </a:pathLst>
            </a:custGeom>
            <a:solidFill>
              <a:srgbClr val="000000"/>
            </a:solidFill>
            <a:ln w="9525">
              <a:noFill/>
            </a:ln>
          </p:spPr>
          <p:txBody>
            <a:bodyPr/>
            <a:p>
              <a:endParaRPr lang="zh-CN" altLang="en-US"/>
            </a:p>
          </p:txBody>
        </p:sp>
        <p:sp>
          <p:nvSpPr>
            <p:cNvPr id="32852" name="任意多边形 300124"/>
            <p:cNvSpPr/>
            <p:nvPr/>
          </p:nvSpPr>
          <p:spPr>
            <a:xfrm>
              <a:off x="1238" y="2071"/>
              <a:ext cx="11" cy="10"/>
            </a:xfrm>
            <a:custGeom>
              <a:avLst/>
              <a:gdLst/>
              <a:ahLst/>
              <a:cxnLst/>
              <a:pathLst>
                <a:path w="11" h="10">
                  <a:moveTo>
                    <a:pt x="11" y="3"/>
                  </a:moveTo>
                  <a:lnTo>
                    <a:pt x="11" y="3"/>
                  </a:lnTo>
                  <a:lnTo>
                    <a:pt x="11" y="3"/>
                  </a:lnTo>
                  <a:lnTo>
                    <a:pt x="11" y="2"/>
                  </a:lnTo>
                  <a:lnTo>
                    <a:pt x="9" y="2"/>
                  </a:lnTo>
                  <a:lnTo>
                    <a:pt x="9" y="2"/>
                  </a:lnTo>
                  <a:lnTo>
                    <a:pt x="9" y="0"/>
                  </a:lnTo>
                  <a:lnTo>
                    <a:pt x="7" y="0"/>
                  </a:lnTo>
                  <a:lnTo>
                    <a:pt x="7" y="0"/>
                  </a:lnTo>
                  <a:lnTo>
                    <a:pt x="5" y="0"/>
                  </a:lnTo>
                  <a:lnTo>
                    <a:pt x="5" y="0"/>
                  </a:lnTo>
                  <a:lnTo>
                    <a:pt x="3" y="0"/>
                  </a:lnTo>
                  <a:lnTo>
                    <a:pt x="3" y="0"/>
                  </a:lnTo>
                  <a:lnTo>
                    <a:pt x="3" y="0"/>
                  </a:lnTo>
                  <a:lnTo>
                    <a:pt x="1" y="0"/>
                  </a:lnTo>
                  <a:lnTo>
                    <a:pt x="1" y="2"/>
                  </a:lnTo>
                  <a:lnTo>
                    <a:pt x="0" y="2"/>
                  </a:lnTo>
                  <a:lnTo>
                    <a:pt x="0" y="2"/>
                  </a:lnTo>
                  <a:lnTo>
                    <a:pt x="0" y="3"/>
                  </a:lnTo>
                  <a:lnTo>
                    <a:pt x="0" y="3"/>
                  </a:lnTo>
                  <a:lnTo>
                    <a:pt x="0" y="5"/>
                  </a:lnTo>
                  <a:lnTo>
                    <a:pt x="0" y="5"/>
                  </a:lnTo>
                  <a:lnTo>
                    <a:pt x="0" y="7"/>
                  </a:lnTo>
                  <a:lnTo>
                    <a:pt x="0" y="7"/>
                  </a:lnTo>
                  <a:lnTo>
                    <a:pt x="0" y="8"/>
                  </a:lnTo>
                  <a:lnTo>
                    <a:pt x="1" y="8"/>
                  </a:lnTo>
                  <a:lnTo>
                    <a:pt x="1" y="8"/>
                  </a:lnTo>
                  <a:lnTo>
                    <a:pt x="3" y="10"/>
                  </a:lnTo>
                  <a:lnTo>
                    <a:pt x="3" y="10"/>
                  </a:lnTo>
                  <a:lnTo>
                    <a:pt x="3" y="10"/>
                  </a:lnTo>
                  <a:lnTo>
                    <a:pt x="5" y="10"/>
                  </a:lnTo>
                  <a:lnTo>
                    <a:pt x="5" y="10"/>
                  </a:lnTo>
                  <a:lnTo>
                    <a:pt x="7" y="10"/>
                  </a:lnTo>
                  <a:lnTo>
                    <a:pt x="7" y="10"/>
                  </a:lnTo>
                  <a:lnTo>
                    <a:pt x="9" y="8"/>
                  </a:lnTo>
                  <a:lnTo>
                    <a:pt x="9" y="8"/>
                  </a:lnTo>
                  <a:lnTo>
                    <a:pt x="9" y="8"/>
                  </a:lnTo>
                  <a:lnTo>
                    <a:pt x="11" y="7"/>
                  </a:lnTo>
                  <a:lnTo>
                    <a:pt x="11" y="7"/>
                  </a:lnTo>
                  <a:lnTo>
                    <a:pt x="11" y="5"/>
                  </a:lnTo>
                  <a:lnTo>
                    <a:pt x="11" y="5"/>
                  </a:lnTo>
                  <a:lnTo>
                    <a:pt x="11" y="5"/>
                  </a:lnTo>
                  <a:lnTo>
                    <a:pt x="11" y="3"/>
                  </a:lnTo>
                  <a:close/>
                </a:path>
              </a:pathLst>
            </a:custGeom>
            <a:solidFill>
              <a:srgbClr val="000000"/>
            </a:solidFill>
            <a:ln w="9525">
              <a:noFill/>
            </a:ln>
          </p:spPr>
          <p:txBody>
            <a:bodyPr/>
            <a:p>
              <a:endParaRPr lang="zh-CN" altLang="en-US"/>
            </a:p>
          </p:txBody>
        </p:sp>
        <p:sp>
          <p:nvSpPr>
            <p:cNvPr id="32853" name="任意多边形 300125"/>
            <p:cNvSpPr/>
            <p:nvPr/>
          </p:nvSpPr>
          <p:spPr>
            <a:xfrm>
              <a:off x="1238" y="2135"/>
              <a:ext cx="11" cy="11"/>
            </a:xfrm>
            <a:custGeom>
              <a:avLst/>
              <a:gdLst/>
              <a:ahLst/>
              <a:cxnLst/>
              <a:pathLst>
                <a:path w="11" h="11">
                  <a:moveTo>
                    <a:pt x="11" y="4"/>
                  </a:moveTo>
                  <a:lnTo>
                    <a:pt x="11" y="4"/>
                  </a:lnTo>
                  <a:lnTo>
                    <a:pt x="11" y="3"/>
                  </a:lnTo>
                  <a:lnTo>
                    <a:pt x="11" y="3"/>
                  </a:lnTo>
                  <a:lnTo>
                    <a:pt x="9" y="3"/>
                  </a:lnTo>
                  <a:lnTo>
                    <a:pt x="9" y="1"/>
                  </a:lnTo>
                  <a:lnTo>
                    <a:pt x="9" y="1"/>
                  </a:lnTo>
                  <a:lnTo>
                    <a:pt x="7" y="1"/>
                  </a:lnTo>
                  <a:lnTo>
                    <a:pt x="7" y="1"/>
                  </a:lnTo>
                  <a:lnTo>
                    <a:pt x="5" y="0"/>
                  </a:lnTo>
                  <a:lnTo>
                    <a:pt x="5" y="0"/>
                  </a:lnTo>
                  <a:lnTo>
                    <a:pt x="3" y="0"/>
                  </a:lnTo>
                  <a:lnTo>
                    <a:pt x="3" y="1"/>
                  </a:lnTo>
                  <a:lnTo>
                    <a:pt x="3" y="1"/>
                  </a:lnTo>
                  <a:lnTo>
                    <a:pt x="1" y="1"/>
                  </a:lnTo>
                  <a:lnTo>
                    <a:pt x="1" y="1"/>
                  </a:lnTo>
                  <a:lnTo>
                    <a:pt x="0" y="3"/>
                  </a:lnTo>
                  <a:lnTo>
                    <a:pt x="0" y="3"/>
                  </a:lnTo>
                  <a:lnTo>
                    <a:pt x="0" y="3"/>
                  </a:lnTo>
                  <a:lnTo>
                    <a:pt x="0" y="4"/>
                  </a:lnTo>
                  <a:lnTo>
                    <a:pt x="0" y="4"/>
                  </a:lnTo>
                  <a:lnTo>
                    <a:pt x="0" y="6"/>
                  </a:lnTo>
                  <a:lnTo>
                    <a:pt x="0" y="6"/>
                  </a:lnTo>
                  <a:lnTo>
                    <a:pt x="0" y="7"/>
                  </a:lnTo>
                  <a:lnTo>
                    <a:pt x="0" y="7"/>
                  </a:lnTo>
                  <a:lnTo>
                    <a:pt x="1" y="9"/>
                  </a:lnTo>
                  <a:lnTo>
                    <a:pt x="1" y="9"/>
                  </a:lnTo>
                  <a:lnTo>
                    <a:pt x="3" y="9"/>
                  </a:lnTo>
                  <a:lnTo>
                    <a:pt x="3" y="9"/>
                  </a:lnTo>
                  <a:lnTo>
                    <a:pt x="3" y="11"/>
                  </a:lnTo>
                  <a:lnTo>
                    <a:pt x="5" y="11"/>
                  </a:lnTo>
                  <a:lnTo>
                    <a:pt x="5" y="11"/>
                  </a:lnTo>
                  <a:lnTo>
                    <a:pt x="7" y="9"/>
                  </a:lnTo>
                  <a:lnTo>
                    <a:pt x="7" y="9"/>
                  </a:lnTo>
                  <a:lnTo>
                    <a:pt x="9" y="9"/>
                  </a:lnTo>
                  <a:lnTo>
                    <a:pt x="9" y="9"/>
                  </a:lnTo>
                  <a:lnTo>
                    <a:pt x="9" y="7"/>
                  </a:lnTo>
                  <a:lnTo>
                    <a:pt x="11" y="7"/>
                  </a:lnTo>
                  <a:lnTo>
                    <a:pt x="11" y="6"/>
                  </a:lnTo>
                  <a:lnTo>
                    <a:pt x="11" y="6"/>
                  </a:lnTo>
                  <a:lnTo>
                    <a:pt x="11" y="4"/>
                  </a:lnTo>
                  <a:lnTo>
                    <a:pt x="11" y="4"/>
                  </a:lnTo>
                  <a:close/>
                </a:path>
              </a:pathLst>
            </a:custGeom>
            <a:solidFill>
              <a:srgbClr val="000000"/>
            </a:solidFill>
            <a:ln w="9525">
              <a:noFill/>
            </a:ln>
          </p:spPr>
          <p:txBody>
            <a:bodyPr/>
            <a:p>
              <a:endParaRPr lang="zh-CN" altLang="en-US"/>
            </a:p>
          </p:txBody>
        </p:sp>
      </p:grpSp>
      <p:grpSp>
        <p:nvGrpSpPr>
          <p:cNvPr id="32854" name="组合 300126"/>
          <p:cNvGrpSpPr/>
          <p:nvPr/>
        </p:nvGrpSpPr>
        <p:grpSpPr>
          <a:xfrm>
            <a:off x="4049713" y="2516188"/>
            <a:ext cx="28575" cy="157162"/>
            <a:chOff x="1238" y="2071"/>
            <a:chExt cx="11" cy="75"/>
          </a:xfrm>
        </p:grpSpPr>
        <p:sp>
          <p:nvSpPr>
            <p:cNvPr id="32855" name="任意多边形 300127"/>
            <p:cNvSpPr/>
            <p:nvPr/>
          </p:nvSpPr>
          <p:spPr>
            <a:xfrm>
              <a:off x="1238" y="2104"/>
              <a:ext cx="11" cy="9"/>
            </a:xfrm>
            <a:custGeom>
              <a:avLst/>
              <a:gdLst/>
              <a:ahLst/>
              <a:cxnLst/>
              <a:pathLst>
                <a:path w="11" h="9">
                  <a:moveTo>
                    <a:pt x="11" y="3"/>
                  </a:moveTo>
                  <a:lnTo>
                    <a:pt x="11" y="3"/>
                  </a:lnTo>
                  <a:lnTo>
                    <a:pt x="11" y="3"/>
                  </a:lnTo>
                  <a:lnTo>
                    <a:pt x="11" y="1"/>
                  </a:lnTo>
                  <a:lnTo>
                    <a:pt x="9" y="1"/>
                  </a:lnTo>
                  <a:lnTo>
                    <a:pt x="9" y="0"/>
                  </a:lnTo>
                  <a:lnTo>
                    <a:pt x="9" y="0"/>
                  </a:lnTo>
                  <a:lnTo>
                    <a:pt x="7" y="0"/>
                  </a:lnTo>
                  <a:lnTo>
                    <a:pt x="7" y="0"/>
                  </a:lnTo>
                  <a:lnTo>
                    <a:pt x="5" y="0"/>
                  </a:lnTo>
                  <a:lnTo>
                    <a:pt x="5" y="0"/>
                  </a:lnTo>
                  <a:lnTo>
                    <a:pt x="3" y="0"/>
                  </a:lnTo>
                  <a:lnTo>
                    <a:pt x="3" y="0"/>
                  </a:lnTo>
                  <a:lnTo>
                    <a:pt x="3" y="0"/>
                  </a:lnTo>
                  <a:lnTo>
                    <a:pt x="1" y="0"/>
                  </a:lnTo>
                  <a:lnTo>
                    <a:pt x="1" y="0"/>
                  </a:lnTo>
                  <a:lnTo>
                    <a:pt x="0" y="1"/>
                  </a:lnTo>
                  <a:lnTo>
                    <a:pt x="0" y="1"/>
                  </a:lnTo>
                  <a:lnTo>
                    <a:pt x="0" y="3"/>
                  </a:lnTo>
                  <a:lnTo>
                    <a:pt x="0" y="3"/>
                  </a:lnTo>
                  <a:lnTo>
                    <a:pt x="0" y="4"/>
                  </a:lnTo>
                  <a:lnTo>
                    <a:pt x="0" y="4"/>
                  </a:lnTo>
                  <a:lnTo>
                    <a:pt x="0" y="6"/>
                  </a:lnTo>
                  <a:lnTo>
                    <a:pt x="0" y="6"/>
                  </a:lnTo>
                  <a:lnTo>
                    <a:pt x="0" y="6"/>
                  </a:lnTo>
                  <a:lnTo>
                    <a:pt x="1" y="8"/>
                  </a:lnTo>
                  <a:lnTo>
                    <a:pt x="1" y="8"/>
                  </a:lnTo>
                  <a:lnTo>
                    <a:pt x="3" y="8"/>
                  </a:lnTo>
                  <a:lnTo>
                    <a:pt x="3" y="9"/>
                  </a:lnTo>
                  <a:lnTo>
                    <a:pt x="3" y="9"/>
                  </a:lnTo>
                  <a:lnTo>
                    <a:pt x="5" y="9"/>
                  </a:lnTo>
                  <a:lnTo>
                    <a:pt x="5" y="9"/>
                  </a:lnTo>
                  <a:lnTo>
                    <a:pt x="7" y="9"/>
                  </a:lnTo>
                  <a:lnTo>
                    <a:pt x="7" y="8"/>
                  </a:lnTo>
                  <a:lnTo>
                    <a:pt x="9" y="8"/>
                  </a:lnTo>
                  <a:lnTo>
                    <a:pt x="9" y="8"/>
                  </a:lnTo>
                  <a:lnTo>
                    <a:pt x="9" y="6"/>
                  </a:lnTo>
                  <a:lnTo>
                    <a:pt x="11" y="6"/>
                  </a:lnTo>
                  <a:lnTo>
                    <a:pt x="11" y="6"/>
                  </a:lnTo>
                  <a:lnTo>
                    <a:pt x="11" y="4"/>
                  </a:lnTo>
                  <a:lnTo>
                    <a:pt x="11" y="4"/>
                  </a:lnTo>
                  <a:lnTo>
                    <a:pt x="11" y="4"/>
                  </a:lnTo>
                  <a:lnTo>
                    <a:pt x="11" y="3"/>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856" name="任意多边形 300128"/>
            <p:cNvSpPr/>
            <p:nvPr/>
          </p:nvSpPr>
          <p:spPr>
            <a:xfrm>
              <a:off x="1238" y="2071"/>
              <a:ext cx="11" cy="10"/>
            </a:xfrm>
            <a:custGeom>
              <a:avLst/>
              <a:gdLst/>
              <a:ahLst/>
              <a:cxnLst/>
              <a:pathLst>
                <a:path w="11" h="10">
                  <a:moveTo>
                    <a:pt x="11" y="3"/>
                  </a:moveTo>
                  <a:lnTo>
                    <a:pt x="11" y="3"/>
                  </a:lnTo>
                  <a:lnTo>
                    <a:pt x="11" y="3"/>
                  </a:lnTo>
                  <a:lnTo>
                    <a:pt x="11" y="2"/>
                  </a:lnTo>
                  <a:lnTo>
                    <a:pt x="9" y="2"/>
                  </a:lnTo>
                  <a:lnTo>
                    <a:pt x="9" y="2"/>
                  </a:lnTo>
                  <a:lnTo>
                    <a:pt x="9" y="0"/>
                  </a:lnTo>
                  <a:lnTo>
                    <a:pt x="7" y="0"/>
                  </a:lnTo>
                  <a:lnTo>
                    <a:pt x="7" y="0"/>
                  </a:lnTo>
                  <a:lnTo>
                    <a:pt x="5" y="0"/>
                  </a:lnTo>
                  <a:lnTo>
                    <a:pt x="5" y="0"/>
                  </a:lnTo>
                  <a:lnTo>
                    <a:pt x="3" y="0"/>
                  </a:lnTo>
                  <a:lnTo>
                    <a:pt x="3" y="0"/>
                  </a:lnTo>
                  <a:lnTo>
                    <a:pt x="3" y="0"/>
                  </a:lnTo>
                  <a:lnTo>
                    <a:pt x="1" y="0"/>
                  </a:lnTo>
                  <a:lnTo>
                    <a:pt x="1" y="2"/>
                  </a:lnTo>
                  <a:lnTo>
                    <a:pt x="0" y="2"/>
                  </a:lnTo>
                  <a:lnTo>
                    <a:pt x="0" y="2"/>
                  </a:lnTo>
                  <a:lnTo>
                    <a:pt x="0" y="3"/>
                  </a:lnTo>
                  <a:lnTo>
                    <a:pt x="0" y="3"/>
                  </a:lnTo>
                  <a:lnTo>
                    <a:pt x="0" y="5"/>
                  </a:lnTo>
                  <a:lnTo>
                    <a:pt x="0" y="5"/>
                  </a:lnTo>
                  <a:lnTo>
                    <a:pt x="0" y="7"/>
                  </a:lnTo>
                  <a:lnTo>
                    <a:pt x="0" y="7"/>
                  </a:lnTo>
                  <a:lnTo>
                    <a:pt x="0" y="8"/>
                  </a:lnTo>
                  <a:lnTo>
                    <a:pt x="1" y="8"/>
                  </a:lnTo>
                  <a:lnTo>
                    <a:pt x="1" y="8"/>
                  </a:lnTo>
                  <a:lnTo>
                    <a:pt x="3" y="10"/>
                  </a:lnTo>
                  <a:lnTo>
                    <a:pt x="3" y="10"/>
                  </a:lnTo>
                  <a:lnTo>
                    <a:pt x="3" y="10"/>
                  </a:lnTo>
                  <a:lnTo>
                    <a:pt x="5" y="10"/>
                  </a:lnTo>
                  <a:lnTo>
                    <a:pt x="5" y="10"/>
                  </a:lnTo>
                  <a:lnTo>
                    <a:pt x="7" y="10"/>
                  </a:lnTo>
                  <a:lnTo>
                    <a:pt x="7" y="10"/>
                  </a:lnTo>
                  <a:lnTo>
                    <a:pt x="9" y="8"/>
                  </a:lnTo>
                  <a:lnTo>
                    <a:pt x="9" y="8"/>
                  </a:lnTo>
                  <a:lnTo>
                    <a:pt x="9" y="8"/>
                  </a:lnTo>
                  <a:lnTo>
                    <a:pt x="11" y="7"/>
                  </a:lnTo>
                  <a:lnTo>
                    <a:pt x="11" y="7"/>
                  </a:lnTo>
                  <a:lnTo>
                    <a:pt x="11" y="5"/>
                  </a:lnTo>
                  <a:lnTo>
                    <a:pt x="11" y="5"/>
                  </a:lnTo>
                  <a:lnTo>
                    <a:pt x="11" y="5"/>
                  </a:lnTo>
                  <a:lnTo>
                    <a:pt x="11" y="3"/>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857" name="任意多边形 300129"/>
            <p:cNvSpPr/>
            <p:nvPr/>
          </p:nvSpPr>
          <p:spPr>
            <a:xfrm>
              <a:off x="1238" y="2135"/>
              <a:ext cx="11" cy="11"/>
            </a:xfrm>
            <a:custGeom>
              <a:avLst/>
              <a:gdLst/>
              <a:ahLst/>
              <a:cxnLst/>
              <a:pathLst>
                <a:path w="11" h="11">
                  <a:moveTo>
                    <a:pt x="11" y="4"/>
                  </a:moveTo>
                  <a:lnTo>
                    <a:pt x="11" y="4"/>
                  </a:lnTo>
                  <a:lnTo>
                    <a:pt x="11" y="3"/>
                  </a:lnTo>
                  <a:lnTo>
                    <a:pt x="11" y="3"/>
                  </a:lnTo>
                  <a:lnTo>
                    <a:pt x="9" y="3"/>
                  </a:lnTo>
                  <a:lnTo>
                    <a:pt x="9" y="1"/>
                  </a:lnTo>
                  <a:lnTo>
                    <a:pt x="9" y="1"/>
                  </a:lnTo>
                  <a:lnTo>
                    <a:pt x="7" y="1"/>
                  </a:lnTo>
                  <a:lnTo>
                    <a:pt x="7" y="1"/>
                  </a:lnTo>
                  <a:lnTo>
                    <a:pt x="5" y="0"/>
                  </a:lnTo>
                  <a:lnTo>
                    <a:pt x="5" y="0"/>
                  </a:lnTo>
                  <a:lnTo>
                    <a:pt x="3" y="0"/>
                  </a:lnTo>
                  <a:lnTo>
                    <a:pt x="3" y="1"/>
                  </a:lnTo>
                  <a:lnTo>
                    <a:pt x="3" y="1"/>
                  </a:lnTo>
                  <a:lnTo>
                    <a:pt x="1" y="1"/>
                  </a:lnTo>
                  <a:lnTo>
                    <a:pt x="1" y="1"/>
                  </a:lnTo>
                  <a:lnTo>
                    <a:pt x="0" y="3"/>
                  </a:lnTo>
                  <a:lnTo>
                    <a:pt x="0" y="3"/>
                  </a:lnTo>
                  <a:lnTo>
                    <a:pt x="0" y="3"/>
                  </a:lnTo>
                  <a:lnTo>
                    <a:pt x="0" y="4"/>
                  </a:lnTo>
                  <a:lnTo>
                    <a:pt x="0" y="4"/>
                  </a:lnTo>
                  <a:lnTo>
                    <a:pt x="0" y="6"/>
                  </a:lnTo>
                  <a:lnTo>
                    <a:pt x="0" y="6"/>
                  </a:lnTo>
                  <a:lnTo>
                    <a:pt x="0" y="7"/>
                  </a:lnTo>
                  <a:lnTo>
                    <a:pt x="0" y="7"/>
                  </a:lnTo>
                  <a:lnTo>
                    <a:pt x="1" y="9"/>
                  </a:lnTo>
                  <a:lnTo>
                    <a:pt x="1" y="9"/>
                  </a:lnTo>
                  <a:lnTo>
                    <a:pt x="3" y="9"/>
                  </a:lnTo>
                  <a:lnTo>
                    <a:pt x="3" y="9"/>
                  </a:lnTo>
                  <a:lnTo>
                    <a:pt x="3" y="11"/>
                  </a:lnTo>
                  <a:lnTo>
                    <a:pt x="5" y="11"/>
                  </a:lnTo>
                  <a:lnTo>
                    <a:pt x="5" y="11"/>
                  </a:lnTo>
                  <a:lnTo>
                    <a:pt x="7" y="9"/>
                  </a:lnTo>
                  <a:lnTo>
                    <a:pt x="7" y="9"/>
                  </a:lnTo>
                  <a:lnTo>
                    <a:pt x="9" y="9"/>
                  </a:lnTo>
                  <a:lnTo>
                    <a:pt x="9" y="9"/>
                  </a:lnTo>
                  <a:lnTo>
                    <a:pt x="9" y="7"/>
                  </a:lnTo>
                  <a:lnTo>
                    <a:pt x="11" y="7"/>
                  </a:lnTo>
                  <a:lnTo>
                    <a:pt x="11" y="6"/>
                  </a:lnTo>
                  <a:lnTo>
                    <a:pt x="11" y="6"/>
                  </a:lnTo>
                  <a:lnTo>
                    <a:pt x="11" y="4"/>
                  </a:lnTo>
                  <a:lnTo>
                    <a:pt x="11" y="4"/>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grpSp>
      <p:sp>
        <p:nvSpPr>
          <p:cNvPr id="32858" name="直接连接符 300130"/>
          <p:cNvSpPr/>
          <p:nvPr/>
        </p:nvSpPr>
        <p:spPr>
          <a:xfrm>
            <a:off x="7253288" y="2632075"/>
            <a:ext cx="1042987" cy="0"/>
          </a:xfrm>
          <a:prstGeom prst="line">
            <a:avLst/>
          </a:prstGeom>
          <a:ln w="25400" cap="flat" cmpd="sng">
            <a:solidFill>
              <a:schemeClr val="tx1"/>
            </a:solidFill>
            <a:prstDash val="solid"/>
            <a:round/>
            <a:headEnd type="none" w="med" len="med"/>
            <a:tailEnd type="triangle" w="med" len="med"/>
          </a:ln>
        </p:spPr>
      </p:sp>
      <p:sp>
        <p:nvSpPr>
          <p:cNvPr id="32859" name="直接连接符 300131"/>
          <p:cNvSpPr/>
          <p:nvPr/>
        </p:nvSpPr>
        <p:spPr>
          <a:xfrm>
            <a:off x="7253288" y="5280025"/>
            <a:ext cx="1003300" cy="0"/>
          </a:xfrm>
          <a:prstGeom prst="line">
            <a:avLst/>
          </a:prstGeom>
          <a:ln w="25400" cap="flat" cmpd="sng">
            <a:solidFill>
              <a:schemeClr val="tx1"/>
            </a:solidFill>
            <a:prstDash val="solid"/>
            <a:round/>
            <a:headEnd type="none" w="med" len="med"/>
            <a:tailEnd type="triangle" w="med" len="med"/>
          </a:ln>
        </p:spPr>
      </p:sp>
      <p:sp>
        <p:nvSpPr>
          <p:cNvPr id="32860" name="直接连接符 300132"/>
          <p:cNvSpPr/>
          <p:nvPr/>
        </p:nvSpPr>
        <p:spPr>
          <a:xfrm flipH="1" flipV="1">
            <a:off x="7072313" y="1109663"/>
            <a:ext cx="0" cy="334962"/>
          </a:xfrm>
          <a:prstGeom prst="line">
            <a:avLst/>
          </a:prstGeom>
          <a:ln w="28575" cap="flat" cmpd="sng">
            <a:solidFill>
              <a:srgbClr val="339933"/>
            </a:solidFill>
            <a:prstDash val="solid"/>
            <a:round/>
            <a:headEnd type="none" w="med" len="med"/>
            <a:tailEnd type="none" w="med" len="med"/>
          </a:ln>
        </p:spPr>
      </p:sp>
      <p:sp>
        <p:nvSpPr>
          <p:cNvPr id="32861" name="直接连接符 300133"/>
          <p:cNvSpPr/>
          <p:nvPr/>
        </p:nvSpPr>
        <p:spPr>
          <a:xfrm>
            <a:off x="7621588" y="1109663"/>
            <a:ext cx="0" cy="2862262"/>
          </a:xfrm>
          <a:prstGeom prst="line">
            <a:avLst/>
          </a:prstGeom>
          <a:ln w="28575" cap="flat" cmpd="sng">
            <a:solidFill>
              <a:srgbClr val="339933"/>
            </a:solidFill>
            <a:prstDash val="solid"/>
            <a:round/>
            <a:headEnd type="none" w="med" len="med"/>
            <a:tailEnd type="none" w="med" len="med"/>
          </a:ln>
        </p:spPr>
      </p:sp>
      <p:sp>
        <p:nvSpPr>
          <p:cNvPr id="32862" name="直接连接符 300134"/>
          <p:cNvSpPr/>
          <p:nvPr/>
        </p:nvSpPr>
        <p:spPr>
          <a:xfrm flipV="1">
            <a:off x="7072313" y="3956050"/>
            <a:ext cx="0" cy="84138"/>
          </a:xfrm>
          <a:prstGeom prst="line">
            <a:avLst/>
          </a:prstGeom>
          <a:ln w="28575" cap="flat" cmpd="sng">
            <a:solidFill>
              <a:srgbClr val="339933"/>
            </a:solidFill>
            <a:prstDash val="solid"/>
            <a:round/>
            <a:headEnd type="none" w="med" len="med"/>
            <a:tailEnd type="none" w="med" len="med"/>
          </a:ln>
        </p:spPr>
      </p:sp>
      <p:sp>
        <p:nvSpPr>
          <p:cNvPr id="32863" name="直接连接符 300135"/>
          <p:cNvSpPr/>
          <p:nvPr/>
        </p:nvSpPr>
        <p:spPr>
          <a:xfrm>
            <a:off x="7072313" y="3956050"/>
            <a:ext cx="549275" cy="0"/>
          </a:xfrm>
          <a:prstGeom prst="line">
            <a:avLst/>
          </a:prstGeom>
          <a:ln w="28575" cap="flat" cmpd="sng">
            <a:solidFill>
              <a:srgbClr val="339933"/>
            </a:solidFill>
            <a:prstDash val="solid"/>
            <a:round/>
            <a:headEnd type="none" w="med" len="med"/>
            <a:tailEnd type="none" w="med" len="med"/>
          </a:ln>
        </p:spPr>
      </p:sp>
      <p:sp>
        <p:nvSpPr>
          <p:cNvPr id="32864" name="文本框 300136"/>
          <p:cNvSpPr txBox="1"/>
          <p:nvPr/>
        </p:nvSpPr>
        <p:spPr>
          <a:xfrm>
            <a:off x="6718300" y="719138"/>
            <a:ext cx="514350" cy="366712"/>
          </a:xfrm>
          <a:prstGeom prst="rect">
            <a:avLst/>
          </a:prstGeom>
          <a:noFill/>
          <a:ln w="12700">
            <a:noFill/>
          </a:ln>
        </p:spPr>
        <p:txBody>
          <a:bodyPr wrap="none" anchor="t" anchorCtr="0">
            <a:spAutoFit/>
          </a:bodyPr>
          <a:p>
            <a:r>
              <a:rPr lang="en-US" altLang="zh-CN" sz="1800">
                <a:latin typeface="Times New Roman" panose="02020603050405020304" pitchFamily="18" charset="0"/>
                <a:ea typeface="宋体" panose="02010600030101010101" pitchFamily="2" charset="-122"/>
              </a:rPr>
              <a:t>RA</a:t>
            </a:r>
            <a:endParaRPr lang="en-US" altLang="zh-CN" sz="1800">
              <a:latin typeface="Times New Roman" panose="02020603050405020304" pitchFamily="18" charset="0"/>
              <a:ea typeface="宋体" panose="02010600030101010101" pitchFamily="2" charset="-122"/>
            </a:endParaRPr>
          </a:p>
        </p:txBody>
      </p:sp>
      <p:sp>
        <p:nvSpPr>
          <p:cNvPr id="32865" name="文本框 300137"/>
          <p:cNvSpPr txBox="1"/>
          <p:nvPr/>
        </p:nvSpPr>
        <p:spPr>
          <a:xfrm>
            <a:off x="7366000" y="723900"/>
            <a:ext cx="501650" cy="366713"/>
          </a:xfrm>
          <a:prstGeom prst="rect">
            <a:avLst/>
          </a:prstGeom>
          <a:noFill/>
          <a:ln w="12700">
            <a:noFill/>
          </a:ln>
        </p:spPr>
        <p:txBody>
          <a:bodyPr wrap="none" anchor="t" anchorCtr="0">
            <a:spAutoFit/>
          </a:bodyPr>
          <a:p>
            <a:r>
              <a:rPr lang="en-US" altLang="zh-CN" sz="1800">
                <a:latin typeface="Times New Roman" panose="02020603050405020304" pitchFamily="18" charset="0"/>
                <a:ea typeface="宋体" panose="02010600030101010101" pitchFamily="2" charset="-122"/>
              </a:rPr>
              <a:t>RB</a:t>
            </a:r>
            <a:endParaRPr lang="en-US" altLang="zh-CN" sz="1800">
              <a:latin typeface="Times New Roman" panose="02020603050405020304" pitchFamily="18" charset="0"/>
              <a:ea typeface="宋体" panose="02010600030101010101" pitchFamily="2" charset="-122"/>
            </a:endParaRPr>
          </a:p>
        </p:txBody>
      </p:sp>
      <p:sp>
        <p:nvSpPr>
          <p:cNvPr id="32866" name="文本框 300138"/>
          <p:cNvSpPr txBox="1"/>
          <p:nvPr/>
        </p:nvSpPr>
        <p:spPr>
          <a:xfrm>
            <a:off x="8285163" y="2360613"/>
            <a:ext cx="692150" cy="366712"/>
          </a:xfrm>
          <a:prstGeom prst="rect">
            <a:avLst/>
          </a:prstGeom>
          <a:noFill/>
          <a:ln w="12700">
            <a:noFill/>
          </a:ln>
        </p:spPr>
        <p:txBody>
          <a:bodyPr wrap="none" anchor="t" anchorCtr="0">
            <a:spAutoFit/>
          </a:bodyPr>
          <a:p>
            <a:r>
              <a:rPr lang="en-US" altLang="zh-CN" sz="1800" dirty="0" err="1">
                <a:latin typeface="Times New Roman" panose="02020603050405020304" pitchFamily="18" charset="0"/>
                <a:ea typeface="宋体" panose="02010600030101010101" pitchFamily="2" charset="-122"/>
              </a:rPr>
              <a:t>busA</a:t>
            </a:r>
            <a:endParaRPr lang="en-US" altLang="zh-CN" sz="1800">
              <a:latin typeface="Times New Roman" panose="02020603050405020304" pitchFamily="18" charset="0"/>
              <a:ea typeface="宋体" panose="02010600030101010101" pitchFamily="2" charset="-122"/>
            </a:endParaRPr>
          </a:p>
        </p:txBody>
      </p:sp>
      <p:sp>
        <p:nvSpPr>
          <p:cNvPr id="32867" name="文本框 300139"/>
          <p:cNvSpPr txBox="1"/>
          <p:nvPr/>
        </p:nvSpPr>
        <p:spPr>
          <a:xfrm>
            <a:off x="8245475" y="5013325"/>
            <a:ext cx="679450" cy="366713"/>
          </a:xfrm>
          <a:prstGeom prst="rect">
            <a:avLst/>
          </a:prstGeom>
          <a:noFill/>
          <a:ln w="12700">
            <a:noFill/>
          </a:ln>
        </p:spPr>
        <p:txBody>
          <a:bodyPr wrap="none" anchor="t" anchorCtr="0">
            <a:spAutoFit/>
          </a:bodyPr>
          <a:p>
            <a:r>
              <a:rPr lang="en-US" altLang="zh-CN" sz="1800" dirty="0" err="1">
                <a:latin typeface="Times New Roman" panose="02020603050405020304" pitchFamily="18" charset="0"/>
                <a:ea typeface="宋体" panose="02010600030101010101" pitchFamily="2" charset="-122"/>
              </a:rPr>
              <a:t>busB</a:t>
            </a:r>
            <a:endParaRPr lang="en-US" altLang="zh-CN" sz="1800">
              <a:latin typeface="Times New Roman" panose="02020603050405020304" pitchFamily="18" charset="0"/>
              <a:ea typeface="宋体" panose="02010600030101010101" pitchFamily="2" charset="-122"/>
            </a:endParaRPr>
          </a:p>
        </p:txBody>
      </p:sp>
      <p:sp>
        <p:nvSpPr>
          <p:cNvPr id="32868" name="直接连接符 300142"/>
          <p:cNvSpPr/>
          <p:nvPr/>
        </p:nvSpPr>
        <p:spPr>
          <a:xfrm>
            <a:off x="3805238" y="1611313"/>
            <a:ext cx="0" cy="2841625"/>
          </a:xfrm>
          <a:prstGeom prst="line">
            <a:avLst/>
          </a:prstGeom>
          <a:ln w="28575" cap="flat" cmpd="sng">
            <a:solidFill>
              <a:srgbClr val="0000FF"/>
            </a:solidFill>
            <a:prstDash val="solid"/>
            <a:round/>
            <a:headEnd type="none" w="med" len="med"/>
            <a:tailEnd type="none" w="med" len="med"/>
          </a:ln>
        </p:spPr>
      </p:sp>
      <p:sp>
        <p:nvSpPr>
          <p:cNvPr id="32869" name="直接连接符 300143"/>
          <p:cNvSpPr/>
          <p:nvPr/>
        </p:nvSpPr>
        <p:spPr>
          <a:xfrm>
            <a:off x="3802063" y="1611313"/>
            <a:ext cx="92075" cy="0"/>
          </a:xfrm>
          <a:prstGeom prst="line">
            <a:avLst/>
          </a:prstGeom>
          <a:ln w="28575" cap="flat" cmpd="sng">
            <a:solidFill>
              <a:srgbClr val="0000FF"/>
            </a:solidFill>
            <a:prstDash val="solid"/>
            <a:round/>
            <a:headEnd type="none" w="med" len="med"/>
            <a:tailEnd type="none" w="med" len="med"/>
          </a:ln>
        </p:spPr>
      </p:sp>
      <p:sp>
        <p:nvSpPr>
          <p:cNvPr id="32870" name="直接连接符 300144"/>
          <p:cNvSpPr/>
          <p:nvPr/>
        </p:nvSpPr>
        <p:spPr>
          <a:xfrm>
            <a:off x="3802063" y="2054225"/>
            <a:ext cx="82550" cy="0"/>
          </a:xfrm>
          <a:prstGeom prst="line">
            <a:avLst/>
          </a:prstGeom>
          <a:ln w="28575" cap="flat" cmpd="sng">
            <a:solidFill>
              <a:srgbClr val="0000FF"/>
            </a:solidFill>
            <a:prstDash val="solid"/>
            <a:round/>
            <a:headEnd type="none" w="med" len="med"/>
            <a:tailEnd type="none" w="med" len="med"/>
          </a:ln>
        </p:spPr>
      </p:sp>
      <p:sp>
        <p:nvSpPr>
          <p:cNvPr id="32871" name="直接连接符 300145"/>
          <p:cNvSpPr/>
          <p:nvPr/>
        </p:nvSpPr>
        <p:spPr>
          <a:xfrm>
            <a:off x="3806825" y="2974975"/>
            <a:ext cx="77788" cy="0"/>
          </a:xfrm>
          <a:prstGeom prst="line">
            <a:avLst/>
          </a:prstGeom>
          <a:ln w="28575" cap="flat" cmpd="sng">
            <a:solidFill>
              <a:srgbClr val="0000FF"/>
            </a:solidFill>
            <a:prstDash val="solid"/>
            <a:round/>
            <a:headEnd type="none" w="med" len="med"/>
            <a:tailEnd type="none" w="med" len="med"/>
          </a:ln>
        </p:spPr>
      </p:sp>
      <p:sp>
        <p:nvSpPr>
          <p:cNvPr id="32872" name="直接连接符 300146"/>
          <p:cNvSpPr/>
          <p:nvPr/>
        </p:nvSpPr>
        <p:spPr>
          <a:xfrm>
            <a:off x="3802063" y="3436938"/>
            <a:ext cx="92075" cy="0"/>
          </a:xfrm>
          <a:prstGeom prst="line">
            <a:avLst/>
          </a:prstGeom>
          <a:ln w="28575" cap="flat" cmpd="sng">
            <a:solidFill>
              <a:srgbClr val="0000FF"/>
            </a:solidFill>
            <a:prstDash val="solid"/>
            <a:round/>
            <a:headEnd type="none" w="med" len="med"/>
            <a:tailEnd type="none" w="med" len="med"/>
          </a:ln>
        </p:spPr>
      </p:sp>
      <p:sp>
        <p:nvSpPr>
          <p:cNvPr id="32873" name="直接连接符 300147"/>
          <p:cNvSpPr/>
          <p:nvPr/>
        </p:nvSpPr>
        <p:spPr>
          <a:xfrm flipH="1">
            <a:off x="1065213" y="4441825"/>
            <a:ext cx="2736850" cy="0"/>
          </a:xfrm>
          <a:prstGeom prst="line">
            <a:avLst/>
          </a:prstGeom>
          <a:ln w="28575" cap="flat" cmpd="sng">
            <a:solidFill>
              <a:srgbClr val="0000FF"/>
            </a:solidFill>
            <a:prstDash val="solid"/>
            <a:round/>
            <a:headEnd type="none" w="med" len="med"/>
            <a:tailEnd type="none" w="med" len="med"/>
          </a:ln>
        </p:spPr>
      </p:sp>
      <p:sp>
        <p:nvSpPr>
          <p:cNvPr id="32874" name="文本框 300148"/>
          <p:cNvSpPr txBox="1"/>
          <p:nvPr/>
        </p:nvSpPr>
        <p:spPr>
          <a:xfrm>
            <a:off x="242888" y="4262438"/>
            <a:ext cx="798512" cy="366712"/>
          </a:xfrm>
          <a:prstGeom prst="rect">
            <a:avLst/>
          </a:prstGeom>
          <a:noFill/>
          <a:ln w="12700">
            <a:noFill/>
          </a:ln>
        </p:spPr>
        <p:txBody>
          <a:bodyPr anchor="t" anchorCtr="0">
            <a:spAutoFit/>
          </a:bodyPr>
          <a:p>
            <a:r>
              <a:rPr lang="en-US" altLang="zh-CN" sz="1800">
                <a:solidFill>
                  <a:schemeClr val="accent1"/>
                </a:solidFill>
                <a:latin typeface="Times New Roman" panose="02020603050405020304" pitchFamily="18" charset="0"/>
                <a:ea typeface="宋体" panose="02010600030101010101" pitchFamily="2" charset="-122"/>
              </a:rPr>
              <a:t>    </a:t>
            </a:r>
            <a:r>
              <a:rPr lang="en-US" altLang="zh-CN" sz="1800" dirty="0" err="1">
                <a:solidFill>
                  <a:schemeClr val="accent1"/>
                </a:solidFill>
                <a:latin typeface="Times New Roman" panose="02020603050405020304" pitchFamily="18" charset="0"/>
                <a:ea typeface="宋体" panose="02010600030101010101" pitchFamily="2" charset="-122"/>
              </a:rPr>
              <a:t>Clk</a:t>
            </a:r>
            <a:endParaRPr lang="en-US" altLang="zh-CN" sz="1800">
              <a:solidFill>
                <a:schemeClr val="accent1"/>
              </a:solidFill>
              <a:latin typeface="Times New Roman" panose="02020603050405020304" pitchFamily="18" charset="0"/>
              <a:ea typeface="宋体" panose="02010600030101010101" pitchFamily="2" charset="-122"/>
            </a:endParaRPr>
          </a:p>
        </p:txBody>
      </p:sp>
      <p:sp>
        <p:nvSpPr>
          <p:cNvPr id="32875" name="矩形 300149"/>
          <p:cNvSpPr/>
          <p:nvPr/>
        </p:nvSpPr>
        <p:spPr>
          <a:xfrm>
            <a:off x="4641850" y="2011363"/>
            <a:ext cx="92075" cy="152400"/>
          </a:xfrm>
          <a:prstGeom prst="rect">
            <a:avLst/>
          </a:prstGeom>
          <a:noFill/>
          <a:ln w="9525">
            <a:noFill/>
          </a:ln>
        </p:spPr>
        <p:txBody>
          <a:bodyPr wrap="none" lIns="0" tIns="0" rIns="0" bIns="0" anchor="t" anchorCtr="0">
            <a:spAutoFit/>
          </a:bodyPr>
          <a:p>
            <a:r>
              <a:rPr lang="en-US" altLang="zh-CN" sz="1000" b="0">
                <a:solidFill>
                  <a:srgbClr val="000000"/>
                </a:solidFill>
                <a:latin typeface="Arial" panose="020B0604020202020204" pitchFamily="34" charset="0"/>
                <a:ea typeface="宋体" panose="02010600030101010101" pitchFamily="2" charset="-122"/>
              </a:rPr>
              <a:t>C</a:t>
            </a:r>
            <a:endParaRPr lang="en-US" altLang="zh-CN" sz="1000">
              <a:latin typeface="Times New Roman" panose="02020603050405020304" pitchFamily="18" charset="0"/>
              <a:ea typeface="宋体" panose="02010600030101010101" pitchFamily="2" charset="-122"/>
            </a:endParaRPr>
          </a:p>
        </p:txBody>
      </p:sp>
      <p:sp>
        <p:nvSpPr>
          <p:cNvPr id="32876" name="矩形 300150"/>
          <p:cNvSpPr/>
          <p:nvPr/>
        </p:nvSpPr>
        <p:spPr>
          <a:xfrm>
            <a:off x="4640263" y="2262188"/>
            <a:ext cx="92075" cy="152400"/>
          </a:xfrm>
          <a:prstGeom prst="rect">
            <a:avLst/>
          </a:prstGeom>
          <a:noFill/>
          <a:ln w="9525">
            <a:noFill/>
          </a:ln>
        </p:spPr>
        <p:txBody>
          <a:bodyPr wrap="none" lIns="0" tIns="0" rIns="0" bIns="0" anchor="t" anchorCtr="0">
            <a:spAutoFit/>
          </a:bodyPr>
          <a:p>
            <a:r>
              <a:rPr lang="en-US" altLang="zh-CN" sz="1000" b="0">
                <a:solidFill>
                  <a:srgbClr val="000000"/>
                </a:solidFill>
                <a:latin typeface="Arial" panose="020B0604020202020204" pitchFamily="34" charset="0"/>
                <a:ea typeface="宋体" panose="02010600030101010101" pitchFamily="2" charset="-122"/>
              </a:rPr>
              <a:t>D</a:t>
            </a:r>
            <a:endParaRPr lang="en-US" altLang="zh-CN" sz="1000">
              <a:latin typeface="Times New Roman" panose="02020603050405020304" pitchFamily="18" charset="0"/>
              <a:ea typeface="宋体" panose="02010600030101010101" pitchFamily="2" charset="-122"/>
            </a:endParaRPr>
          </a:p>
        </p:txBody>
      </p:sp>
      <p:sp>
        <p:nvSpPr>
          <p:cNvPr id="32877" name="矩形 300151"/>
          <p:cNvSpPr/>
          <p:nvPr/>
        </p:nvSpPr>
        <p:spPr>
          <a:xfrm>
            <a:off x="4629150" y="2919413"/>
            <a:ext cx="92075" cy="152400"/>
          </a:xfrm>
          <a:prstGeom prst="rect">
            <a:avLst/>
          </a:prstGeom>
          <a:noFill/>
          <a:ln w="9525">
            <a:noFill/>
          </a:ln>
        </p:spPr>
        <p:txBody>
          <a:bodyPr wrap="none" lIns="0" tIns="0" rIns="0" bIns="0" anchor="t" anchorCtr="0">
            <a:spAutoFit/>
          </a:bodyPr>
          <a:p>
            <a:r>
              <a:rPr lang="en-US" altLang="zh-CN" sz="1000" b="0">
                <a:solidFill>
                  <a:srgbClr val="000000"/>
                </a:solidFill>
                <a:latin typeface="Arial" panose="020B0604020202020204" pitchFamily="34" charset="0"/>
                <a:ea typeface="宋体" panose="02010600030101010101" pitchFamily="2" charset="-122"/>
              </a:rPr>
              <a:t>C</a:t>
            </a:r>
            <a:endParaRPr lang="en-US" altLang="zh-CN" sz="1000">
              <a:latin typeface="Times New Roman" panose="02020603050405020304" pitchFamily="18" charset="0"/>
              <a:ea typeface="宋体" panose="02010600030101010101" pitchFamily="2" charset="-122"/>
            </a:endParaRPr>
          </a:p>
        </p:txBody>
      </p:sp>
      <p:sp>
        <p:nvSpPr>
          <p:cNvPr id="32878" name="矩形 300152"/>
          <p:cNvSpPr/>
          <p:nvPr/>
        </p:nvSpPr>
        <p:spPr>
          <a:xfrm>
            <a:off x="4627563" y="3171825"/>
            <a:ext cx="90487" cy="152400"/>
          </a:xfrm>
          <a:prstGeom prst="rect">
            <a:avLst/>
          </a:prstGeom>
          <a:noFill/>
          <a:ln w="9525">
            <a:noFill/>
          </a:ln>
        </p:spPr>
        <p:txBody>
          <a:bodyPr wrap="none" lIns="0" tIns="0" rIns="0" bIns="0" anchor="t" anchorCtr="0">
            <a:spAutoFit/>
          </a:bodyPr>
          <a:p>
            <a:r>
              <a:rPr lang="en-US" altLang="zh-CN" sz="1000" b="0">
                <a:solidFill>
                  <a:srgbClr val="000000"/>
                </a:solidFill>
                <a:latin typeface="Arial" panose="020B0604020202020204" pitchFamily="34" charset="0"/>
                <a:ea typeface="宋体" panose="02010600030101010101" pitchFamily="2" charset="-122"/>
              </a:rPr>
              <a:t>D</a:t>
            </a:r>
            <a:endParaRPr lang="en-US" altLang="zh-CN" sz="1000">
              <a:latin typeface="Times New Roman" panose="02020603050405020304" pitchFamily="18" charset="0"/>
              <a:ea typeface="宋体" panose="02010600030101010101" pitchFamily="2" charset="-122"/>
            </a:endParaRPr>
          </a:p>
        </p:txBody>
      </p:sp>
      <p:sp>
        <p:nvSpPr>
          <p:cNvPr id="32879" name="矩形 300153"/>
          <p:cNvSpPr/>
          <p:nvPr/>
        </p:nvSpPr>
        <p:spPr>
          <a:xfrm>
            <a:off x="4630738" y="3359150"/>
            <a:ext cx="92075" cy="152400"/>
          </a:xfrm>
          <a:prstGeom prst="rect">
            <a:avLst/>
          </a:prstGeom>
          <a:noFill/>
          <a:ln w="9525">
            <a:noFill/>
          </a:ln>
        </p:spPr>
        <p:txBody>
          <a:bodyPr wrap="none" lIns="0" tIns="0" rIns="0" bIns="0" anchor="t" anchorCtr="0">
            <a:spAutoFit/>
          </a:bodyPr>
          <a:p>
            <a:r>
              <a:rPr lang="en-US" altLang="zh-CN" sz="1000" b="0">
                <a:solidFill>
                  <a:srgbClr val="000000"/>
                </a:solidFill>
                <a:latin typeface="Arial" panose="020B0604020202020204" pitchFamily="34" charset="0"/>
                <a:ea typeface="宋体" panose="02010600030101010101" pitchFamily="2" charset="-122"/>
              </a:rPr>
              <a:t>C</a:t>
            </a:r>
            <a:endParaRPr lang="en-US" altLang="zh-CN" sz="1000">
              <a:latin typeface="Times New Roman" panose="02020603050405020304" pitchFamily="18" charset="0"/>
              <a:ea typeface="宋体" panose="02010600030101010101" pitchFamily="2" charset="-122"/>
            </a:endParaRPr>
          </a:p>
        </p:txBody>
      </p:sp>
      <p:sp>
        <p:nvSpPr>
          <p:cNvPr id="32880" name="矩形 300154"/>
          <p:cNvSpPr/>
          <p:nvPr/>
        </p:nvSpPr>
        <p:spPr>
          <a:xfrm>
            <a:off x="4629150" y="3611563"/>
            <a:ext cx="92075" cy="152400"/>
          </a:xfrm>
          <a:prstGeom prst="rect">
            <a:avLst/>
          </a:prstGeom>
          <a:noFill/>
          <a:ln w="9525">
            <a:noFill/>
          </a:ln>
        </p:spPr>
        <p:txBody>
          <a:bodyPr wrap="none" lIns="0" tIns="0" rIns="0" bIns="0" anchor="t" anchorCtr="0">
            <a:spAutoFit/>
          </a:bodyPr>
          <a:p>
            <a:r>
              <a:rPr lang="en-US" altLang="zh-CN" sz="1000" b="0">
                <a:solidFill>
                  <a:srgbClr val="000000"/>
                </a:solidFill>
                <a:latin typeface="Arial" panose="020B0604020202020204" pitchFamily="34" charset="0"/>
                <a:ea typeface="宋体" panose="02010600030101010101" pitchFamily="2" charset="-122"/>
              </a:rPr>
              <a:t>D</a:t>
            </a:r>
            <a:endParaRPr lang="en-US" altLang="zh-CN" sz="1000">
              <a:latin typeface="Times New Roman" panose="02020603050405020304" pitchFamily="18" charset="0"/>
              <a:ea typeface="宋体" panose="02010600030101010101" pitchFamily="2" charset="-122"/>
            </a:endParaRPr>
          </a:p>
        </p:txBody>
      </p:sp>
      <p:sp>
        <p:nvSpPr>
          <p:cNvPr id="300156" name="文本框 300155"/>
          <p:cNvSpPr txBox="1"/>
          <p:nvPr/>
        </p:nvSpPr>
        <p:spPr>
          <a:xfrm>
            <a:off x="1352550" y="4832350"/>
            <a:ext cx="4808538" cy="1495425"/>
          </a:xfrm>
          <a:prstGeom prst="rect">
            <a:avLst/>
          </a:prstGeom>
          <a:noFill/>
          <a:ln w="50800">
            <a:noFill/>
          </a:ln>
        </p:spPr>
        <p:txBody>
          <a:bodyPr anchor="t" anchorCtr="0">
            <a:spAutoFit/>
          </a:bodyPr>
          <a:p>
            <a:pPr>
              <a:spcBef>
                <a:spcPct val="30000"/>
              </a:spcBef>
            </a:pPr>
            <a:r>
              <a:rPr lang="zh-CN" altLang="en-US" sz="2000" dirty="0">
                <a:latin typeface="Arial" panose="020B0604020202020204" pitchFamily="34" charset="0"/>
                <a:ea typeface="黑体" panose="02010609060101010101" pitchFamily="49" charset="-122"/>
              </a:rPr>
              <a:t>每个寄存器由</a:t>
            </a:r>
            <a:r>
              <a:rPr lang="en-US" altLang="zh-CN" sz="200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个触发器组成</a:t>
            </a:r>
            <a:r>
              <a:rPr lang="en-US" altLang="zh-CN" sz="2000">
                <a:latin typeface="Arial" panose="020B0604020202020204" pitchFamily="34" charset="0"/>
                <a:ea typeface="黑体" panose="02010609060101010101" pitchFamily="49" charset="-122"/>
              </a:rPr>
              <a:t>;</a:t>
            </a:r>
            <a:endParaRPr lang="en-US" altLang="zh-CN" sz="2000">
              <a:latin typeface="Arial" panose="020B0604020202020204" pitchFamily="34" charset="0"/>
              <a:ea typeface="黑体" panose="02010609060101010101" pitchFamily="49" charset="-122"/>
            </a:endParaRPr>
          </a:p>
          <a:p>
            <a:pPr>
              <a:spcBef>
                <a:spcPct val="30000"/>
              </a:spcBef>
            </a:pPr>
            <a:r>
              <a:rPr lang="zh-CN" altLang="en-US" sz="2000" dirty="0">
                <a:latin typeface="Arial" panose="020B0604020202020204" pitchFamily="34" charset="0"/>
                <a:ea typeface="黑体" panose="02010609060101010101" pitchFamily="49" charset="-122"/>
              </a:rPr>
              <a:t>输入数据来自</a:t>
            </a:r>
            <a:r>
              <a:rPr lang="en-US" altLang="zh-CN" sz="2000" dirty="0" err="1">
                <a:latin typeface="Arial" panose="020B0604020202020204" pitchFamily="34" charset="0"/>
                <a:ea typeface="黑体" panose="02010609060101010101" pitchFamily="49" charset="-122"/>
              </a:rPr>
              <a:t>busW</a:t>
            </a:r>
            <a:r>
              <a:rPr lang="zh-CN" altLang="en-US" sz="2000" dirty="0">
                <a:latin typeface="Arial" panose="020B0604020202020204" pitchFamily="34" charset="0"/>
                <a:ea typeface="黑体" panose="02010609060101010101" pitchFamily="49" charset="-122"/>
              </a:rPr>
              <a:t>，读出数据分别送</a:t>
            </a:r>
            <a:r>
              <a:rPr lang="en-US" altLang="zh-CN" sz="2000" dirty="0" err="1">
                <a:latin typeface="Arial" panose="020B0604020202020204" pitchFamily="34" charset="0"/>
                <a:ea typeface="黑体" panose="02010609060101010101" pitchFamily="49" charset="-122"/>
              </a:rPr>
              <a:t>busA</a:t>
            </a:r>
            <a:r>
              <a:rPr lang="zh-CN" altLang="en-US" sz="2000" dirty="0">
                <a:latin typeface="Arial" panose="020B0604020202020204" pitchFamily="34" charset="0"/>
                <a:ea typeface="黑体" panose="02010609060101010101" pitchFamily="49" charset="-122"/>
              </a:rPr>
              <a:t>和</a:t>
            </a:r>
            <a:r>
              <a:rPr lang="en-US" altLang="zh-CN" sz="2000" dirty="0" err="1">
                <a:latin typeface="Arial" panose="020B0604020202020204" pitchFamily="34" charset="0"/>
                <a:ea typeface="黑体" panose="02010609060101010101" pitchFamily="49" charset="-122"/>
              </a:rPr>
              <a:t>busB</a:t>
            </a:r>
            <a:r>
              <a:rPr lang="en-US" altLang="zh-CN" sz="2000">
                <a:latin typeface="Arial" panose="020B0604020202020204" pitchFamily="34" charset="0"/>
                <a:ea typeface="黑体" panose="02010609060101010101" pitchFamily="49" charset="-122"/>
              </a:rPr>
              <a:t>;</a:t>
            </a:r>
            <a:endParaRPr lang="en-US" altLang="zh-CN" sz="2000">
              <a:latin typeface="Arial" panose="020B0604020202020204" pitchFamily="34" charset="0"/>
              <a:ea typeface="黑体" panose="02010609060101010101" pitchFamily="49" charset="-122"/>
            </a:endParaRPr>
          </a:p>
          <a:p>
            <a:pPr>
              <a:spcBef>
                <a:spcPct val="30000"/>
              </a:spcBef>
            </a:pPr>
            <a:r>
              <a:rPr lang="en-US" altLang="zh-CN" sz="2000" dirty="0" err="1">
                <a:latin typeface="Arial" panose="020B0604020202020204" pitchFamily="34" charset="0"/>
                <a:ea typeface="黑体" panose="02010609060101010101" pitchFamily="49" charset="-122"/>
              </a:rPr>
              <a:t>WriteEnable</a:t>
            </a:r>
            <a:r>
              <a:rPr lang="zh-CN" altLang="en-US" sz="2000" dirty="0">
                <a:latin typeface="Arial" panose="020B0604020202020204" pitchFamily="34" charset="0"/>
                <a:ea typeface="黑体" panose="02010609060101010101" pitchFamily="49" charset="-122"/>
              </a:rPr>
              <a:t>信号控制是否写入新值。</a:t>
            </a:r>
            <a:endParaRPr lang="en-US" altLang="zh-CN" sz="2000">
              <a:latin typeface="Arial" panose="020B0604020202020204" pitchFamily="34" charset="0"/>
              <a:ea typeface="黑体" panose="02010609060101010101" pitchFamily="49" charset="-122"/>
            </a:endParaRPr>
          </a:p>
        </p:txBody>
      </p:sp>
      <p:sp>
        <p:nvSpPr>
          <p:cNvPr id="32882" name="任意多边形 300157"/>
          <p:cNvSpPr/>
          <p:nvPr/>
        </p:nvSpPr>
        <p:spPr>
          <a:xfrm>
            <a:off x="3487738" y="3186113"/>
            <a:ext cx="69850" cy="69850"/>
          </a:xfrm>
          <a:custGeom>
            <a:avLst/>
            <a:gdLst/>
            <a:ahLst/>
            <a:cxnLst/>
            <a:pathLst>
              <a:path w="32" h="27">
                <a:moveTo>
                  <a:pt x="15" y="25"/>
                </a:moveTo>
                <a:lnTo>
                  <a:pt x="19" y="27"/>
                </a:lnTo>
                <a:lnTo>
                  <a:pt x="21" y="25"/>
                </a:lnTo>
                <a:lnTo>
                  <a:pt x="23" y="25"/>
                </a:lnTo>
                <a:lnTo>
                  <a:pt x="25" y="23"/>
                </a:lnTo>
                <a:lnTo>
                  <a:pt x="27" y="22"/>
                </a:lnTo>
                <a:lnTo>
                  <a:pt x="29" y="20"/>
                </a:lnTo>
                <a:lnTo>
                  <a:pt x="30" y="19"/>
                </a:lnTo>
                <a:lnTo>
                  <a:pt x="30" y="17"/>
                </a:lnTo>
                <a:lnTo>
                  <a:pt x="32" y="16"/>
                </a:lnTo>
                <a:lnTo>
                  <a:pt x="32" y="13"/>
                </a:lnTo>
                <a:lnTo>
                  <a:pt x="32" y="11"/>
                </a:lnTo>
                <a:lnTo>
                  <a:pt x="30" y="10"/>
                </a:lnTo>
                <a:lnTo>
                  <a:pt x="30" y="8"/>
                </a:lnTo>
                <a:lnTo>
                  <a:pt x="29" y="5"/>
                </a:lnTo>
                <a:lnTo>
                  <a:pt x="27" y="3"/>
                </a:lnTo>
                <a:lnTo>
                  <a:pt x="25" y="3"/>
                </a:lnTo>
                <a:lnTo>
                  <a:pt x="23" y="2"/>
                </a:lnTo>
                <a:lnTo>
                  <a:pt x="21" y="0"/>
                </a:lnTo>
                <a:lnTo>
                  <a:pt x="19" y="0"/>
                </a:lnTo>
                <a:lnTo>
                  <a:pt x="15" y="0"/>
                </a:lnTo>
                <a:lnTo>
                  <a:pt x="13" y="0"/>
                </a:lnTo>
                <a:lnTo>
                  <a:pt x="11" y="0"/>
                </a:lnTo>
                <a:lnTo>
                  <a:pt x="9" y="2"/>
                </a:lnTo>
                <a:lnTo>
                  <a:pt x="8" y="3"/>
                </a:lnTo>
                <a:lnTo>
                  <a:pt x="6" y="3"/>
                </a:lnTo>
                <a:lnTo>
                  <a:pt x="4" y="5"/>
                </a:lnTo>
                <a:lnTo>
                  <a:pt x="2" y="8"/>
                </a:lnTo>
                <a:lnTo>
                  <a:pt x="2" y="10"/>
                </a:lnTo>
                <a:lnTo>
                  <a:pt x="0" y="11"/>
                </a:lnTo>
                <a:lnTo>
                  <a:pt x="0" y="13"/>
                </a:lnTo>
                <a:lnTo>
                  <a:pt x="0" y="16"/>
                </a:lnTo>
                <a:lnTo>
                  <a:pt x="2" y="17"/>
                </a:lnTo>
                <a:lnTo>
                  <a:pt x="2" y="19"/>
                </a:lnTo>
                <a:lnTo>
                  <a:pt x="4" y="20"/>
                </a:lnTo>
                <a:lnTo>
                  <a:pt x="6" y="22"/>
                </a:lnTo>
                <a:lnTo>
                  <a:pt x="8" y="23"/>
                </a:lnTo>
                <a:lnTo>
                  <a:pt x="9" y="25"/>
                </a:lnTo>
                <a:lnTo>
                  <a:pt x="11" y="25"/>
                </a:lnTo>
                <a:lnTo>
                  <a:pt x="13" y="27"/>
                </a:lnTo>
                <a:lnTo>
                  <a:pt x="15" y="27"/>
                </a:lnTo>
                <a:lnTo>
                  <a:pt x="15" y="27"/>
                </a:lnTo>
                <a:lnTo>
                  <a:pt x="15" y="25"/>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
        <p:nvSpPr>
          <p:cNvPr id="32883" name="任意多边形 300158"/>
          <p:cNvSpPr/>
          <p:nvPr/>
        </p:nvSpPr>
        <p:spPr>
          <a:xfrm>
            <a:off x="3487738" y="2284413"/>
            <a:ext cx="69850" cy="82550"/>
          </a:xfrm>
          <a:custGeom>
            <a:avLst/>
            <a:gdLst/>
            <a:ahLst/>
            <a:cxnLst/>
            <a:pathLst>
              <a:path w="32" h="27">
                <a:moveTo>
                  <a:pt x="15" y="25"/>
                </a:moveTo>
                <a:lnTo>
                  <a:pt x="19" y="27"/>
                </a:lnTo>
                <a:lnTo>
                  <a:pt x="21" y="25"/>
                </a:lnTo>
                <a:lnTo>
                  <a:pt x="23" y="25"/>
                </a:lnTo>
                <a:lnTo>
                  <a:pt x="25" y="23"/>
                </a:lnTo>
                <a:lnTo>
                  <a:pt x="27" y="22"/>
                </a:lnTo>
                <a:lnTo>
                  <a:pt x="29" y="20"/>
                </a:lnTo>
                <a:lnTo>
                  <a:pt x="30" y="19"/>
                </a:lnTo>
                <a:lnTo>
                  <a:pt x="30" y="17"/>
                </a:lnTo>
                <a:lnTo>
                  <a:pt x="32" y="16"/>
                </a:lnTo>
                <a:lnTo>
                  <a:pt x="32" y="13"/>
                </a:lnTo>
                <a:lnTo>
                  <a:pt x="32" y="11"/>
                </a:lnTo>
                <a:lnTo>
                  <a:pt x="30" y="10"/>
                </a:lnTo>
                <a:lnTo>
                  <a:pt x="30" y="8"/>
                </a:lnTo>
                <a:lnTo>
                  <a:pt x="29" y="5"/>
                </a:lnTo>
                <a:lnTo>
                  <a:pt x="27" y="3"/>
                </a:lnTo>
                <a:lnTo>
                  <a:pt x="25" y="3"/>
                </a:lnTo>
                <a:lnTo>
                  <a:pt x="23" y="2"/>
                </a:lnTo>
                <a:lnTo>
                  <a:pt x="21" y="0"/>
                </a:lnTo>
                <a:lnTo>
                  <a:pt x="19" y="0"/>
                </a:lnTo>
                <a:lnTo>
                  <a:pt x="15" y="0"/>
                </a:lnTo>
                <a:lnTo>
                  <a:pt x="13" y="0"/>
                </a:lnTo>
                <a:lnTo>
                  <a:pt x="11" y="0"/>
                </a:lnTo>
                <a:lnTo>
                  <a:pt x="9" y="2"/>
                </a:lnTo>
                <a:lnTo>
                  <a:pt x="8" y="3"/>
                </a:lnTo>
                <a:lnTo>
                  <a:pt x="6" y="3"/>
                </a:lnTo>
                <a:lnTo>
                  <a:pt x="4" y="5"/>
                </a:lnTo>
                <a:lnTo>
                  <a:pt x="2" y="8"/>
                </a:lnTo>
                <a:lnTo>
                  <a:pt x="2" y="10"/>
                </a:lnTo>
                <a:lnTo>
                  <a:pt x="0" y="11"/>
                </a:lnTo>
                <a:lnTo>
                  <a:pt x="0" y="13"/>
                </a:lnTo>
                <a:lnTo>
                  <a:pt x="0" y="16"/>
                </a:lnTo>
                <a:lnTo>
                  <a:pt x="2" y="17"/>
                </a:lnTo>
                <a:lnTo>
                  <a:pt x="2" y="19"/>
                </a:lnTo>
                <a:lnTo>
                  <a:pt x="4" y="20"/>
                </a:lnTo>
                <a:lnTo>
                  <a:pt x="6" y="22"/>
                </a:lnTo>
                <a:lnTo>
                  <a:pt x="8" y="23"/>
                </a:lnTo>
                <a:lnTo>
                  <a:pt x="9" y="25"/>
                </a:lnTo>
                <a:lnTo>
                  <a:pt x="11" y="25"/>
                </a:lnTo>
                <a:lnTo>
                  <a:pt x="13" y="27"/>
                </a:lnTo>
                <a:lnTo>
                  <a:pt x="15" y="27"/>
                </a:lnTo>
                <a:lnTo>
                  <a:pt x="15" y="27"/>
                </a:lnTo>
                <a:lnTo>
                  <a:pt x="15" y="25"/>
                </a:lnTo>
                <a:close/>
              </a:path>
            </a:pathLst>
          </a:custGeom>
          <a:solidFill>
            <a:srgbClr val="000000"/>
          </a:solidFill>
          <a:ln w="28575" cap="flat" cmpd="sng">
            <a:solidFill>
              <a:srgbClr val="000000"/>
            </a:solidFill>
            <a:prstDash val="solid"/>
            <a:round/>
            <a:headEnd type="none" w="med" len="med"/>
            <a:tailEnd type="none" w="med" len="med"/>
          </a:ln>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0156">
                                            <p:txEl>
                                              <p:charRg st="0" end="16"/>
                                            </p:txEl>
                                          </p:spTgt>
                                        </p:tgtEl>
                                        <p:attrNameLst>
                                          <p:attrName>style.visibility</p:attrName>
                                        </p:attrNameLst>
                                      </p:cBhvr>
                                      <p:to>
                                        <p:strVal val="visible"/>
                                      </p:to>
                                    </p:set>
                                    <p:animEffect transition="in" filter="blinds(horizontal)">
                                      <p:cBhvr>
                                        <p:cTn id="7" dur="500"/>
                                        <p:tgtEl>
                                          <p:spTgt spid="300156">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0156">
                                            <p:txEl>
                                              <p:charRg st="16" end="45"/>
                                            </p:txEl>
                                          </p:spTgt>
                                        </p:tgtEl>
                                        <p:attrNameLst>
                                          <p:attrName>style.visibility</p:attrName>
                                        </p:attrNameLst>
                                      </p:cBhvr>
                                      <p:to>
                                        <p:strVal val="visible"/>
                                      </p:to>
                                    </p:set>
                                    <p:animEffect transition="in" filter="blinds(horizontal)">
                                      <p:cBhvr>
                                        <p:cTn id="12" dur="500"/>
                                        <p:tgtEl>
                                          <p:spTgt spid="300156">
                                            <p:txEl>
                                              <p:charRg st="16" end="4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0156">
                                            <p:txEl>
                                              <p:charRg st="45" end="68"/>
                                            </p:txEl>
                                          </p:spTgt>
                                        </p:tgtEl>
                                        <p:attrNameLst>
                                          <p:attrName>style.visibility</p:attrName>
                                        </p:attrNameLst>
                                      </p:cBhvr>
                                      <p:to>
                                        <p:strVal val="visible"/>
                                      </p:to>
                                    </p:set>
                                    <p:animEffect transition="in" filter="blinds(horizontal)">
                                      <p:cBhvr>
                                        <p:cTn id="17" dur="500"/>
                                        <p:tgtEl>
                                          <p:spTgt spid="300156">
                                            <p:txEl>
                                              <p:charRg st="45"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文本占位符 192533"/>
          <p:cNvSpPr>
            <a:spLocks noGrp="1"/>
          </p:cNvSpPr>
          <p:nvPr>
            <p:ph idx="1"/>
          </p:nvPr>
        </p:nvSpPr>
        <p:spPr>
          <a:xfrm>
            <a:off x="0" y="1017588"/>
            <a:ext cx="8121650" cy="4186237"/>
          </a:xfrm>
          <a:ln/>
        </p:spPr>
        <p:txBody>
          <a:bodyPr wrap="square" lIns="63500" tIns="25400" rIns="63500" bIns="25400" anchor="t" anchorCtr="0">
            <a:spAutoFit/>
          </a:bodyPr>
          <a:p>
            <a:pPr>
              <a:lnSpc>
                <a:spcPct val="120000"/>
              </a:lnSpc>
              <a:spcBef>
                <a:spcPct val="15000"/>
              </a:spcBef>
            </a:pPr>
            <a:r>
              <a:rPr lang="zh-CN" altLang="en-US" sz="2200" dirty="0">
                <a:solidFill>
                  <a:srgbClr val="CC0000"/>
                </a:solidFill>
                <a:ea typeface="黑体" panose="02010609060101010101" pitchFamily="49" charset="-122"/>
              </a:rPr>
              <a:t>理想存储器（ </a:t>
            </a:r>
            <a:r>
              <a:rPr lang="en-US" altLang="zh-CN" sz="2200">
                <a:solidFill>
                  <a:srgbClr val="CC0000"/>
                </a:solidFill>
                <a:ea typeface="黑体" panose="02010609060101010101" pitchFamily="49" charset="-122"/>
              </a:rPr>
              <a:t>idealized memory</a:t>
            </a:r>
            <a:r>
              <a:rPr lang="en-US" altLang="zh-CN" sz="2200">
                <a:ea typeface="黑体" panose="02010609060101010101" pitchFamily="49" charset="-122"/>
              </a:rPr>
              <a:t> </a:t>
            </a:r>
            <a:r>
              <a:rPr lang="zh-CN" altLang="en-US" sz="2200" dirty="0">
                <a:solidFill>
                  <a:srgbClr val="CC0000"/>
                </a:solidFill>
                <a:ea typeface="黑体" panose="02010609060101010101" pitchFamily="49" charset="-122"/>
              </a:rPr>
              <a:t>）</a:t>
            </a:r>
            <a:endParaRPr lang="zh-CN" altLang="en-US" sz="2200" dirty="0">
              <a:solidFill>
                <a:srgbClr val="CC0000"/>
              </a:solidFill>
              <a:ea typeface="黑体" panose="02010609060101010101" pitchFamily="49" charset="-122"/>
            </a:endParaRPr>
          </a:p>
          <a:p>
            <a:pPr lvl="1">
              <a:lnSpc>
                <a:spcPct val="130000"/>
              </a:lnSpc>
              <a:spcBef>
                <a:spcPct val="15000"/>
              </a:spcBef>
            </a:pPr>
            <a:r>
              <a:rPr lang="en-US" altLang="zh-CN" sz="2200">
                <a:solidFill>
                  <a:srgbClr val="0000FF"/>
                </a:solidFill>
                <a:ea typeface="黑体" panose="02010609060101010101" pitchFamily="49" charset="-122"/>
              </a:rPr>
              <a:t>Data Out</a:t>
            </a:r>
            <a:r>
              <a:rPr lang="zh-CN" altLang="en-US" sz="2200" dirty="0">
                <a:solidFill>
                  <a:srgbClr val="0000FF"/>
                </a:solidFill>
                <a:ea typeface="黑体" panose="02010609060101010101" pitchFamily="49" charset="-122"/>
              </a:rPr>
              <a:t>：</a:t>
            </a:r>
            <a:r>
              <a:rPr lang="en-US" altLang="zh-CN" sz="2200">
                <a:ea typeface="黑体" panose="02010609060101010101" pitchFamily="49" charset="-122"/>
              </a:rPr>
              <a:t>32</a:t>
            </a:r>
            <a:r>
              <a:rPr lang="zh-CN" altLang="en-US" sz="2200" dirty="0">
                <a:ea typeface="黑体" panose="02010609060101010101" pitchFamily="49" charset="-122"/>
              </a:rPr>
              <a:t>位读出数据</a:t>
            </a:r>
            <a:endParaRPr lang="zh-CN" altLang="en-US" sz="2200" dirty="0">
              <a:ea typeface="黑体" panose="02010609060101010101" pitchFamily="49" charset="-122"/>
            </a:endParaRPr>
          </a:p>
          <a:p>
            <a:pPr lvl="1">
              <a:lnSpc>
                <a:spcPct val="130000"/>
              </a:lnSpc>
              <a:spcBef>
                <a:spcPct val="15000"/>
              </a:spcBef>
            </a:pPr>
            <a:r>
              <a:rPr lang="en-US" altLang="zh-CN" sz="2200">
                <a:solidFill>
                  <a:srgbClr val="0000FF"/>
                </a:solidFill>
                <a:ea typeface="黑体" panose="02010609060101010101" pitchFamily="49" charset="-122"/>
              </a:rPr>
              <a:t>Data In</a:t>
            </a:r>
            <a:r>
              <a:rPr lang="zh-CN" altLang="en-US" sz="2200" dirty="0">
                <a:solidFill>
                  <a:srgbClr val="0000FF"/>
                </a:solidFill>
                <a:ea typeface="黑体" panose="02010609060101010101" pitchFamily="49" charset="-122"/>
              </a:rPr>
              <a:t>：</a:t>
            </a:r>
            <a:r>
              <a:rPr lang="zh-CN" altLang="en-US" sz="2200" dirty="0">
                <a:ea typeface="黑体" panose="02010609060101010101" pitchFamily="49" charset="-122"/>
              </a:rPr>
              <a:t> </a:t>
            </a:r>
            <a:r>
              <a:rPr lang="en-US" altLang="zh-CN" sz="2200">
                <a:ea typeface="黑体" panose="02010609060101010101" pitchFamily="49" charset="-122"/>
              </a:rPr>
              <a:t>32</a:t>
            </a:r>
            <a:r>
              <a:rPr lang="zh-CN" altLang="en-US" sz="2200" dirty="0">
                <a:ea typeface="黑体" panose="02010609060101010101" pitchFamily="49" charset="-122"/>
              </a:rPr>
              <a:t>位写入数据</a:t>
            </a:r>
            <a:endParaRPr lang="zh-CN" altLang="en-US" sz="2200" dirty="0">
              <a:ea typeface="黑体" panose="02010609060101010101" pitchFamily="49" charset="-122"/>
            </a:endParaRPr>
          </a:p>
          <a:p>
            <a:pPr lvl="1">
              <a:lnSpc>
                <a:spcPct val="130000"/>
              </a:lnSpc>
              <a:spcBef>
                <a:spcPct val="15000"/>
              </a:spcBef>
            </a:pPr>
            <a:r>
              <a:rPr lang="en-US" altLang="zh-CN" sz="2200">
                <a:solidFill>
                  <a:srgbClr val="0000FF"/>
                </a:solidFill>
                <a:ea typeface="黑体" panose="02010609060101010101" pitchFamily="49" charset="-122"/>
              </a:rPr>
              <a:t>Address</a:t>
            </a:r>
            <a:r>
              <a:rPr lang="zh-CN" altLang="en-US" sz="2200" dirty="0">
                <a:solidFill>
                  <a:srgbClr val="0000FF"/>
                </a:solidFill>
                <a:ea typeface="黑体" panose="02010609060101010101" pitchFamily="49" charset="-122"/>
              </a:rPr>
              <a:t>：</a:t>
            </a:r>
            <a:r>
              <a:rPr lang="zh-CN" altLang="en-US" sz="2200" dirty="0">
                <a:ea typeface="黑体" panose="02010609060101010101" pitchFamily="49" charset="-122"/>
              </a:rPr>
              <a:t>读写公用一个</a:t>
            </a:r>
            <a:r>
              <a:rPr lang="en-US" altLang="zh-CN" sz="2200">
                <a:ea typeface="黑体" panose="02010609060101010101" pitchFamily="49" charset="-122"/>
              </a:rPr>
              <a:t>32</a:t>
            </a:r>
            <a:r>
              <a:rPr lang="zh-CN" altLang="en-US" sz="2200" dirty="0">
                <a:ea typeface="黑体" panose="02010609060101010101" pitchFamily="49" charset="-122"/>
              </a:rPr>
              <a:t>位地址</a:t>
            </a:r>
            <a:endParaRPr lang="zh-CN" altLang="en-US" sz="2200" dirty="0">
              <a:ea typeface="黑体" panose="02010609060101010101" pitchFamily="49" charset="-122"/>
            </a:endParaRPr>
          </a:p>
          <a:p>
            <a:pPr lvl="1">
              <a:lnSpc>
                <a:spcPct val="130000"/>
              </a:lnSpc>
              <a:spcBef>
                <a:spcPct val="15000"/>
              </a:spcBef>
            </a:pPr>
            <a:r>
              <a:rPr lang="zh-CN" altLang="en-US" sz="2200" dirty="0">
                <a:solidFill>
                  <a:srgbClr val="0000FF"/>
                </a:solidFill>
                <a:ea typeface="黑体" panose="02010609060101010101" pitchFamily="49" charset="-122"/>
              </a:rPr>
              <a:t>读操作（</a:t>
            </a:r>
            <a:r>
              <a:rPr lang="zh-CN" altLang="en-US" sz="2200" dirty="0">
                <a:solidFill>
                  <a:srgbClr val="006600"/>
                </a:solidFill>
                <a:ea typeface="黑体" panose="02010609060101010101" pitchFamily="49" charset="-122"/>
              </a:rPr>
              <a:t>组合逻辑操作</a:t>
            </a:r>
            <a:r>
              <a:rPr lang="zh-CN" altLang="en-US" sz="2200" dirty="0">
                <a:solidFill>
                  <a:srgbClr val="339933"/>
                </a:solidFill>
                <a:ea typeface="黑体" panose="02010609060101010101" pitchFamily="49" charset="-122"/>
              </a:rPr>
              <a:t>）</a:t>
            </a:r>
            <a:r>
              <a:rPr lang="zh-CN" altLang="en-US" sz="2200" dirty="0">
                <a:ea typeface="黑体" panose="02010609060101010101" pitchFamily="49" charset="-122"/>
              </a:rPr>
              <a:t>：地址</a:t>
            </a:r>
            <a:r>
              <a:rPr lang="en-US" altLang="zh-CN" sz="2200">
                <a:ea typeface="黑体" panose="02010609060101010101" pitchFamily="49" charset="-122"/>
              </a:rPr>
              <a:t>Address</a:t>
            </a:r>
            <a:r>
              <a:rPr lang="zh-CN" altLang="en-US" sz="2200" dirty="0">
                <a:ea typeface="黑体" panose="02010609060101010101" pitchFamily="49" charset="-122"/>
              </a:rPr>
              <a:t>有效后，经一个</a:t>
            </a:r>
            <a:r>
              <a:rPr lang="en-US" altLang="zh-CN" sz="2200">
                <a:ea typeface="黑体" panose="02010609060101010101" pitchFamily="49" charset="-122"/>
              </a:rPr>
              <a:t>“</a:t>
            </a:r>
            <a:r>
              <a:rPr lang="zh-CN" altLang="en-US" sz="2200" dirty="0">
                <a:ea typeface="黑体" panose="02010609060101010101" pitchFamily="49" charset="-122"/>
              </a:rPr>
              <a:t>取数时间</a:t>
            </a:r>
            <a:r>
              <a:rPr lang="en-US" altLang="zh-CN" sz="2200" dirty="0" err="1">
                <a:ea typeface="黑体" panose="02010609060101010101" pitchFamily="49" charset="-122"/>
              </a:rPr>
              <a:t>AccessTime</a:t>
            </a:r>
            <a:r>
              <a:rPr lang="en-US" altLang="zh-CN" sz="2200">
                <a:ea typeface="黑体" panose="02010609060101010101" pitchFamily="49" charset="-122"/>
              </a:rPr>
              <a:t>”</a:t>
            </a:r>
            <a:r>
              <a:rPr lang="zh-CN" altLang="en-US" sz="2200" dirty="0">
                <a:ea typeface="黑体" panose="02010609060101010101" pitchFamily="49" charset="-122"/>
              </a:rPr>
              <a:t>，</a:t>
            </a:r>
            <a:r>
              <a:rPr lang="en-US" altLang="zh-CN" sz="2200">
                <a:ea typeface="黑体" panose="02010609060101010101" pitchFamily="49" charset="-122"/>
              </a:rPr>
              <a:t>Data Out</a:t>
            </a:r>
            <a:r>
              <a:rPr lang="zh-CN" altLang="en-US" sz="2200" dirty="0">
                <a:ea typeface="黑体" panose="02010609060101010101" pitchFamily="49" charset="-122"/>
              </a:rPr>
              <a:t>上数据有效。</a:t>
            </a:r>
            <a:endParaRPr lang="zh-CN" altLang="en-US" sz="2200" dirty="0">
              <a:ea typeface="黑体" panose="02010609060101010101" pitchFamily="49" charset="-122"/>
            </a:endParaRPr>
          </a:p>
          <a:p>
            <a:pPr lvl="1">
              <a:lnSpc>
                <a:spcPct val="130000"/>
              </a:lnSpc>
              <a:spcBef>
                <a:spcPct val="15000"/>
              </a:spcBef>
            </a:pPr>
            <a:r>
              <a:rPr lang="zh-CN" altLang="en-US" sz="2200" dirty="0">
                <a:solidFill>
                  <a:srgbClr val="0000FF"/>
                </a:solidFill>
                <a:ea typeface="黑体" panose="02010609060101010101" pitchFamily="49" charset="-122"/>
              </a:rPr>
              <a:t>写操作（</a:t>
            </a:r>
            <a:r>
              <a:rPr lang="zh-CN" altLang="en-US" sz="2200" dirty="0">
                <a:solidFill>
                  <a:srgbClr val="006600"/>
                </a:solidFill>
                <a:ea typeface="黑体" panose="02010609060101010101" pitchFamily="49" charset="-122"/>
              </a:rPr>
              <a:t>时序逻辑操作</a:t>
            </a:r>
            <a:r>
              <a:rPr lang="zh-CN" altLang="en-US" sz="2200" dirty="0">
                <a:solidFill>
                  <a:srgbClr val="339933"/>
                </a:solidFill>
                <a:ea typeface="黑体" panose="02010609060101010101" pitchFamily="49" charset="-122"/>
              </a:rPr>
              <a:t>）</a:t>
            </a:r>
            <a:r>
              <a:rPr lang="zh-CN" altLang="en-US" sz="2200" dirty="0">
                <a:solidFill>
                  <a:srgbClr val="0000FF"/>
                </a:solidFill>
                <a:ea typeface="黑体" panose="02010609060101010101" pitchFamily="49" charset="-122"/>
              </a:rPr>
              <a:t> ：</a:t>
            </a:r>
            <a:r>
              <a:rPr lang="zh-CN" altLang="en-US" sz="2200" dirty="0">
                <a:ea typeface="黑体" panose="02010609060101010101" pitchFamily="49" charset="-122"/>
              </a:rPr>
              <a:t>写使能为</a:t>
            </a:r>
            <a:r>
              <a:rPr lang="en-US" altLang="zh-CN" sz="2200">
                <a:ea typeface="黑体" panose="02010609060101010101" pitchFamily="49" charset="-122"/>
              </a:rPr>
              <a:t>1</a:t>
            </a:r>
            <a:r>
              <a:rPr lang="zh-CN" altLang="en-US" sz="2200" dirty="0">
                <a:ea typeface="黑体" panose="02010609060101010101" pitchFamily="49" charset="-122"/>
              </a:rPr>
              <a:t>的情况下，时钟</a:t>
            </a:r>
            <a:r>
              <a:rPr lang="en-US" altLang="zh-CN" sz="2200" dirty="0" err="1">
                <a:ea typeface="黑体" panose="02010609060101010101" pitchFamily="49" charset="-122"/>
              </a:rPr>
              <a:t>Clk</a:t>
            </a:r>
            <a:r>
              <a:rPr lang="zh-CN" altLang="en-US" sz="2200" dirty="0">
                <a:ea typeface="黑体" panose="02010609060101010101" pitchFamily="49" charset="-122"/>
              </a:rPr>
              <a:t>边沿到来时，</a:t>
            </a:r>
            <a:r>
              <a:rPr lang="en-US" altLang="zh-CN" sz="2200">
                <a:ea typeface="黑体" panose="02010609060101010101" pitchFamily="49" charset="-122"/>
              </a:rPr>
              <a:t>Data In</a:t>
            </a:r>
            <a:r>
              <a:rPr lang="zh-CN" altLang="en-US" sz="2200" dirty="0">
                <a:ea typeface="黑体" panose="02010609060101010101" pitchFamily="49" charset="-122"/>
              </a:rPr>
              <a:t>传来的值开始被写入</a:t>
            </a:r>
            <a:r>
              <a:rPr lang="en-US" altLang="zh-CN" sz="2200">
                <a:ea typeface="黑体" panose="02010609060101010101" pitchFamily="49" charset="-122"/>
              </a:rPr>
              <a:t>Address</a:t>
            </a:r>
            <a:r>
              <a:rPr lang="zh-CN" altLang="en-US" sz="2200" dirty="0">
                <a:ea typeface="黑体" panose="02010609060101010101" pitchFamily="49" charset="-122"/>
              </a:rPr>
              <a:t>指定的存储单元中。</a:t>
            </a:r>
            <a:endParaRPr lang="zh-CN" altLang="en-US" sz="2200" dirty="0">
              <a:ea typeface="黑体" panose="02010609060101010101" pitchFamily="49" charset="-122"/>
            </a:endParaRPr>
          </a:p>
        </p:txBody>
      </p:sp>
      <p:sp>
        <p:nvSpPr>
          <p:cNvPr id="33794" name="标题 192513"/>
          <p:cNvSpPr>
            <a:spLocks noGrp="1"/>
          </p:cNvSpPr>
          <p:nvPr>
            <p:ph type="title"/>
          </p:nvPr>
        </p:nvSpPr>
        <p:spPr>
          <a:xfrm>
            <a:off x="444500" y="203200"/>
            <a:ext cx="7046913" cy="531813"/>
          </a:xfrm>
          <a:ln/>
        </p:spPr>
        <p:txBody>
          <a:bodyPr vert="horz" wrap="square" lIns="63500" tIns="25400" rIns="63500" bIns="25400" anchor="t" anchorCtr="0">
            <a:spAutoFit/>
          </a:bodyPr>
          <a:p>
            <a:pPr algn="l"/>
            <a:r>
              <a:rPr lang="zh-CN" altLang="en-US" dirty="0">
                <a:latin typeface="黑体" panose="02010609060101010101" pitchFamily="49" charset="-122"/>
              </a:rPr>
              <a:t>存储元件</a:t>
            </a:r>
            <a:r>
              <a:rPr lang="en-US" altLang="zh-CN">
                <a:latin typeface="黑体" panose="02010609060101010101" pitchFamily="49" charset="-122"/>
              </a:rPr>
              <a:t>: </a:t>
            </a:r>
            <a:r>
              <a:rPr lang="zh-CN" altLang="en-US" dirty="0">
                <a:latin typeface="黑体" panose="02010609060101010101" pitchFamily="49" charset="-122"/>
              </a:rPr>
              <a:t>理想存储器</a:t>
            </a:r>
            <a:endParaRPr lang="zh-CN" altLang="en-US" dirty="0">
              <a:latin typeface="黑体" panose="02010609060101010101" pitchFamily="49" charset="-122"/>
            </a:endParaRPr>
          </a:p>
        </p:txBody>
      </p:sp>
      <p:sp>
        <p:nvSpPr>
          <p:cNvPr id="33795" name="矩形 192515"/>
          <p:cNvSpPr/>
          <p:nvPr/>
        </p:nvSpPr>
        <p:spPr>
          <a:xfrm>
            <a:off x="5475288" y="2274888"/>
            <a:ext cx="5365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Times New Roman" panose="02020603050405020304" pitchFamily="18" charset="0"/>
                <a:ea typeface="宋体" panose="02010600030101010101" pitchFamily="2" charset="-122"/>
              </a:rPr>
              <a:t>Clk</a:t>
            </a:r>
            <a:endParaRPr lang="en-US" altLang="zh-CN" sz="1800">
              <a:solidFill>
                <a:schemeClr val="accent1"/>
              </a:solidFill>
              <a:latin typeface="Times New Roman" panose="02020603050405020304" pitchFamily="18" charset="0"/>
              <a:ea typeface="宋体" panose="02010600030101010101" pitchFamily="2" charset="-122"/>
            </a:endParaRPr>
          </a:p>
        </p:txBody>
      </p:sp>
      <p:sp>
        <p:nvSpPr>
          <p:cNvPr id="33796" name="矩形 192516"/>
          <p:cNvSpPr/>
          <p:nvPr/>
        </p:nvSpPr>
        <p:spPr>
          <a:xfrm>
            <a:off x="5084763" y="1630363"/>
            <a:ext cx="923925" cy="363537"/>
          </a:xfrm>
          <a:prstGeom prst="rect">
            <a:avLst/>
          </a:prstGeom>
          <a:noFill/>
          <a:ln w="12700">
            <a:noFill/>
          </a:ln>
        </p:spPr>
        <p:txBody>
          <a:bodyPr wrap="none" lIns="90488" tIns="44450" rIns="90488" bIns="44450" anchor="t" anchorCtr="0">
            <a:spAutoFit/>
          </a:bodyPr>
          <a:p>
            <a:r>
              <a:rPr lang="en-US" altLang="zh-CN" sz="1800">
                <a:latin typeface="Times New Roman" panose="02020603050405020304" pitchFamily="18" charset="0"/>
                <a:ea typeface="宋体" panose="02010600030101010101" pitchFamily="2" charset="-122"/>
              </a:rPr>
              <a:t>Data In</a:t>
            </a:r>
            <a:endParaRPr lang="en-US" altLang="zh-CN" sz="1800">
              <a:latin typeface="Times New Roman" panose="02020603050405020304" pitchFamily="18" charset="0"/>
              <a:ea typeface="宋体" panose="02010600030101010101" pitchFamily="2" charset="-122"/>
            </a:endParaRPr>
          </a:p>
        </p:txBody>
      </p:sp>
      <p:sp>
        <p:nvSpPr>
          <p:cNvPr id="33797" name="矩形 192517"/>
          <p:cNvSpPr/>
          <p:nvPr/>
        </p:nvSpPr>
        <p:spPr>
          <a:xfrm>
            <a:off x="6169025" y="1516063"/>
            <a:ext cx="1431925" cy="121285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33798" name="直接连接符 192518"/>
          <p:cNvSpPr/>
          <p:nvPr/>
        </p:nvSpPr>
        <p:spPr>
          <a:xfrm>
            <a:off x="6164263" y="2487613"/>
            <a:ext cx="166687" cy="95250"/>
          </a:xfrm>
          <a:prstGeom prst="line">
            <a:avLst/>
          </a:prstGeom>
          <a:ln w="25400" cap="flat" cmpd="sng">
            <a:solidFill>
              <a:schemeClr val="tx1"/>
            </a:solidFill>
            <a:prstDash val="solid"/>
            <a:round/>
            <a:headEnd type="none" w="med" len="med"/>
            <a:tailEnd type="none" w="med" len="med"/>
          </a:ln>
        </p:spPr>
      </p:sp>
      <p:sp>
        <p:nvSpPr>
          <p:cNvPr id="33799" name="直接连接符 192519"/>
          <p:cNvSpPr/>
          <p:nvPr/>
        </p:nvSpPr>
        <p:spPr>
          <a:xfrm flipH="1">
            <a:off x="6181725" y="2578100"/>
            <a:ext cx="149225" cy="69850"/>
          </a:xfrm>
          <a:prstGeom prst="line">
            <a:avLst/>
          </a:prstGeom>
          <a:ln w="25400" cap="flat" cmpd="sng">
            <a:solidFill>
              <a:schemeClr val="tx1"/>
            </a:solidFill>
            <a:prstDash val="solid"/>
            <a:round/>
            <a:headEnd type="none" w="med" len="med"/>
            <a:tailEnd type="none" w="med" len="med"/>
          </a:ln>
        </p:spPr>
      </p:sp>
      <p:sp>
        <p:nvSpPr>
          <p:cNvPr id="33800" name="椭圆 192520"/>
          <p:cNvSpPr/>
          <p:nvPr/>
        </p:nvSpPr>
        <p:spPr>
          <a:xfrm>
            <a:off x="6016625" y="2511425"/>
            <a:ext cx="127000" cy="12700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33801" name="矩形 192521"/>
          <p:cNvSpPr/>
          <p:nvPr/>
        </p:nvSpPr>
        <p:spPr>
          <a:xfrm>
            <a:off x="5451475" y="917575"/>
            <a:ext cx="1495425" cy="363538"/>
          </a:xfrm>
          <a:prstGeom prst="rect">
            <a:avLst/>
          </a:prstGeom>
          <a:noFill/>
          <a:ln w="12700">
            <a:noFill/>
          </a:ln>
        </p:spPr>
        <p:txBody>
          <a:bodyPr wrap="none" lIns="90488" tIns="44450" rIns="90488" bIns="44450" anchor="t" anchorCtr="0">
            <a:spAutoFit/>
          </a:bodyPr>
          <a:p>
            <a:r>
              <a:rPr lang="en-US" altLang="zh-CN" sz="1800">
                <a:solidFill>
                  <a:schemeClr val="accent2"/>
                </a:solidFill>
                <a:latin typeface="Times New Roman" panose="02020603050405020304" pitchFamily="18" charset="0"/>
                <a:ea typeface="宋体" panose="02010600030101010101" pitchFamily="2" charset="-122"/>
              </a:rPr>
              <a:t>Write Enable</a:t>
            </a:r>
            <a:endParaRPr lang="en-US" altLang="zh-CN" sz="1800">
              <a:solidFill>
                <a:schemeClr val="accent2"/>
              </a:solidFill>
              <a:latin typeface="Times New Roman" panose="02020603050405020304" pitchFamily="18" charset="0"/>
              <a:ea typeface="宋体" panose="02010600030101010101" pitchFamily="2" charset="-122"/>
            </a:endParaRPr>
          </a:p>
        </p:txBody>
      </p:sp>
      <p:sp>
        <p:nvSpPr>
          <p:cNvPr id="33802" name="直接连接符 192522"/>
          <p:cNvSpPr/>
          <p:nvPr/>
        </p:nvSpPr>
        <p:spPr>
          <a:xfrm flipH="1">
            <a:off x="5168900" y="2036763"/>
            <a:ext cx="1003300" cy="0"/>
          </a:xfrm>
          <a:prstGeom prst="line">
            <a:avLst/>
          </a:prstGeom>
          <a:ln w="28575" cap="flat" cmpd="sng">
            <a:solidFill>
              <a:schemeClr val="tx1"/>
            </a:solidFill>
            <a:prstDash val="solid"/>
            <a:round/>
            <a:headEnd type="triangle" w="med" len="med"/>
            <a:tailEnd type="none" w="med" len="med"/>
          </a:ln>
        </p:spPr>
      </p:sp>
      <p:sp>
        <p:nvSpPr>
          <p:cNvPr id="33803" name="直接连接符 192523"/>
          <p:cNvSpPr/>
          <p:nvPr/>
        </p:nvSpPr>
        <p:spPr>
          <a:xfrm flipH="1">
            <a:off x="5702300" y="1966913"/>
            <a:ext cx="88900" cy="139700"/>
          </a:xfrm>
          <a:prstGeom prst="line">
            <a:avLst/>
          </a:prstGeom>
          <a:ln w="12700" cap="flat" cmpd="sng">
            <a:solidFill>
              <a:schemeClr val="tx1"/>
            </a:solidFill>
            <a:prstDash val="solid"/>
            <a:round/>
            <a:headEnd type="none" w="med" len="med"/>
            <a:tailEnd type="none" w="med" len="med"/>
          </a:ln>
        </p:spPr>
      </p:sp>
      <p:sp>
        <p:nvSpPr>
          <p:cNvPr id="33804" name="矩形 192524"/>
          <p:cNvSpPr/>
          <p:nvPr/>
        </p:nvSpPr>
        <p:spPr>
          <a:xfrm>
            <a:off x="5389563" y="2036763"/>
            <a:ext cx="384175" cy="333375"/>
          </a:xfrm>
          <a:prstGeom prst="rect">
            <a:avLst/>
          </a:prstGeom>
          <a:noFill/>
          <a:ln w="12700">
            <a:noFill/>
          </a:ln>
        </p:spPr>
        <p:txBody>
          <a:bodyPr wrap="none" lIns="90488" tIns="44450" rIns="90488" bIns="44450" anchor="t" anchorCtr="0">
            <a:spAutoFit/>
          </a:bodyPr>
          <a:p>
            <a:r>
              <a:rPr lang="zh-CN" altLang="en-US" dirty="0">
                <a:latin typeface="Times New Roman" panose="02020603050405020304" pitchFamily="18" charset="0"/>
                <a:ea typeface="宋体" panose="02010600030101010101" pitchFamily="2" charset="-122"/>
              </a:rPr>
              <a:t>32</a:t>
            </a:r>
            <a:endParaRPr lang="zh-CN" altLang="en-US" dirty="0">
              <a:latin typeface="Times New Roman" panose="02020603050405020304" pitchFamily="18" charset="0"/>
              <a:ea typeface="宋体" panose="02010600030101010101" pitchFamily="2" charset="-122"/>
            </a:endParaRPr>
          </a:p>
        </p:txBody>
      </p:sp>
      <p:sp>
        <p:nvSpPr>
          <p:cNvPr id="33805" name="直接连接符 192525"/>
          <p:cNvSpPr/>
          <p:nvPr/>
        </p:nvSpPr>
        <p:spPr>
          <a:xfrm>
            <a:off x="7620000" y="2036763"/>
            <a:ext cx="1282700" cy="0"/>
          </a:xfrm>
          <a:prstGeom prst="line">
            <a:avLst/>
          </a:prstGeom>
          <a:ln w="28575" cap="flat" cmpd="sng">
            <a:solidFill>
              <a:schemeClr val="tx1"/>
            </a:solidFill>
            <a:prstDash val="solid"/>
            <a:round/>
            <a:headEnd type="none" w="med" len="med"/>
            <a:tailEnd type="triangle" w="med" len="med"/>
          </a:ln>
        </p:spPr>
      </p:sp>
      <p:sp>
        <p:nvSpPr>
          <p:cNvPr id="33806" name="直接连接符 192526"/>
          <p:cNvSpPr/>
          <p:nvPr/>
        </p:nvSpPr>
        <p:spPr>
          <a:xfrm flipH="1">
            <a:off x="8445500" y="1966913"/>
            <a:ext cx="88900" cy="139700"/>
          </a:xfrm>
          <a:prstGeom prst="line">
            <a:avLst/>
          </a:prstGeom>
          <a:ln w="12700" cap="flat" cmpd="sng">
            <a:solidFill>
              <a:schemeClr val="tx1"/>
            </a:solidFill>
            <a:prstDash val="solid"/>
            <a:round/>
            <a:headEnd type="none" w="med" len="med"/>
            <a:tailEnd type="none" w="med" len="med"/>
          </a:ln>
        </p:spPr>
      </p:sp>
      <p:sp>
        <p:nvSpPr>
          <p:cNvPr id="33807" name="矩形 192527"/>
          <p:cNvSpPr/>
          <p:nvPr/>
        </p:nvSpPr>
        <p:spPr>
          <a:xfrm>
            <a:off x="8056563" y="2036763"/>
            <a:ext cx="384175" cy="333375"/>
          </a:xfrm>
          <a:prstGeom prst="rect">
            <a:avLst/>
          </a:prstGeom>
          <a:noFill/>
          <a:ln w="12700">
            <a:noFill/>
          </a:ln>
        </p:spPr>
        <p:txBody>
          <a:bodyPr wrap="none" lIns="90488" tIns="44450" rIns="90488" bIns="44450" anchor="t" anchorCtr="0">
            <a:spAutoFit/>
          </a:bodyPr>
          <a:p>
            <a:r>
              <a:rPr lang="zh-CN" altLang="en-US" dirty="0">
                <a:latin typeface="Times New Roman" panose="02020603050405020304" pitchFamily="18" charset="0"/>
                <a:ea typeface="宋体" panose="02010600030101010101" pitchFamily="2" charset="-122"/>
              </a:rPr>
              <a:t>32</a:t>
            </a:r>
            <a:endParaRPr lang="zh-CN" altLang="en-US" dirty="0">
              <a:latin typeface="Times New Roman" panose="02020603050405020304" pitchFamily="18" charset="0"/>
              <a:ea typeface="宋体" panose="02010600030101010101" pitchFamily="2" charset="-122"/>
            </a:endParaRPr>
          </a:p>
        </p:txBody>
      </p:sp>
      <p:sp>
        <p:nvSpPr>
          <p:cNvPr id="33808" name="矩形 192528"/>
          <p:cNvSpPr/>
          <p:nvPr/>
        </p:nvSpPr>
        <p:spPr>
          <a:xfrm>
            <a:off x="7599363" y="1617663"/>
            <a:ext cx="1031875" cy="363537"/>
          </a:xfrm>
          <a:prstGeom prst="rect">
            <a:avLst/>
          </a:prstGeom>
          <a:noFill/>
          <a:ln w="12700">
            <a:noFill/>
          </a:ln>
        </p:spPr>
        <p:txBody>
          <a:bodyPr wrap="none" lIns="90488" tIns="44450" rIns="90488" bIns="44450" anchor="t" anchorCtr="0">
            <a:spAutoFit/>
          </a:bodyPr>
          <a:p>
            <a:r>
              <a:rPr lang="en-US" altLang="zh-CN" sz="1800" dirty="0" err="1">
                <a:latin typeface="Times New Roman" panose="02020603050405020304" pitchFamily="18" charset="0"/>
                <a:ea typeface="宋体" panose="02010600030101010101" pitchFamily="2" charset="-122"/>
              </a:rPr>
              <a:t>DataOut</a:t>
            </a:r>
            <a:endParaRPr lang="en-US" altLang="zh-CN" sz="1800">
              <a:latin typeface="Times New Roman" panose="02020603050405020304" pitchFamily="18" charset="0"/>
              <a:ea typeface="宋体" panose="02010600030101010101" pitchFamily="2" charset="-122"/>
            </a:endParaRPr>
          </a:p>
        </p:txBody>
      </p:sp>
      <p:sp>
        <p:nvSpPr>
          <p:cNvPr id="33809" name="直接连接符 192529"/>
          <p:cNvSpPr/>
          <p:nvPr/>
        </p:nvSpPr>
        <p:spPr>
          <a:xfrm flipV="1">
            <a:off x="6470650" y="1268413"/>
            <a:ext cx="0" cy="241300"/>
          </a:xfrm>
          <a:prstGeom prst="line">
            <a:avLst/>
          </a:prstGeom>
          <a:ln w="28575" cap="flat" cmpd="sng">
            <a:solidFill>
              <a:schemeClr val="tx1"/>
            </a:solidFill>
            <a:prstDash val="solid"/>
            <a:round/>
            <a:headEnd type="none" w="med" len="med"/>
            <a:tailEnd type="none" w="med" len="med"/>
          </a:ln>
        </p:spPr>
      </p:sp>
      <p:sp>
        <p:nvSpPr>
          <p:cNvPr id="33810" name="直接连接符 192530"/>
          <p:cNvSpPr/>
          <p:nvPr/>
        </p:nvSpPr>
        <p:spPr>
          <a:xfrm flipH="1">
            <a:off x="5549900" y="2570163"/>
            <a:ext cx="469900" cy="0"/>
          </a:xfrm>
          <a:prstGeom prst="line">
            <a:avLst/>
          </a:prstGeom>
          <a:ln w="28575" cap="flat" cmpd="sng">
            <a:solidFill>
              <a:schemeClr val="tx1"/>
            </a:solidFill>
            <a:prstDash val="solid"/>
            <a:round/>
            <a:headEnd type="none" w="med" len="med"/>
            <a:tailEnd type="none" w="med" len="med"/>
          </a:ln>
        </p:spPr>
      </p:sp>
      <p:sp>
        <p:nvSpPr>
          <p:cNvPr id="33811" name="直接连接符 192531"/>
          <p:cNvSpPr/>
          <p:nvPr/>
        </p:nvSpPr>
        <p:spPr>
          <a:xfrm>
            <a:off x="7004050" y="1052513"/>
            <a:ext cx="0" cy="444500"/>
          </a:xfrm>
          <a:prstGeom prst="line">
            <a:avLst/>
          </a:prstGeom>
          <a:ln w="28575" cap="flat" cmpd="sng">
            <a:solidFill>
              <a:schemeClr val="tx1"/>
            </a:solidFill>
            <a:prstDash val="solid"/>
            <a:round/>
            <a:headEnd type="none" w="med" len="med"/>
            <a:tailEnd type="none" w="med" len="med"/>
          </a:ln>
        </p:spPr>
      </p:sp>
      <p:sp>
        <p:nvSpPr>
          <p:cNvPr id="33812" name="矩形 192532"/>
          <p:cNvSpPr/>
          <p:nvPr/>
        </p:nvSpPr>
        <p:spPr>
          <a:xfrm>
            <a:off x="6811963" y="728663"/>
            <a:ext cx="981075" cy="363537"/>
          </a:xfrm>
          <a:prstGeom prst="rect">
            <a:avLst/>
          </a:prstGeom>
          <a:noFill/>
          <a:ln w="12700">
            <a:noFill/>
          </a:ln>
        </p:spPr>
        <p:txBody>
          <a:bodyPr wrap="none" lIns="90488" tIns="44450" rIns="90488" bIns="44450" anchor="t" anchorCtr="0">
            <a:spAutoFit/>
          </a:bodyPr>
          <a:p>
            <a:r>
              <a:rPr lang="en-US" altLang="zh-CN" sz="1800">
                <a:latin typeface="Times New Roman" panose="02020603050405020304" pitchFamily="18" charset="0"/>
                <a:ea typeface="宋体" panose="02010600030101010101" pitchFamily="2" charset="-122"/>
              </a:rPr>
              <a:t>Address</a:t>
            </a:r>
            <a:endParaRPr lang="en-US" altLang="zh-CN" sz="1800">
              <a:latin typeface="Times New Roman" panose="02020603050405020304" pitchFamily="18" charset="0"/>
              <a:ea typeface="宋体" panose="02010600030101010101" pitchFamily="2" charset="-122"/>
            </a:endParaRPr>
          </a:p>
        </p:txBody>
      </p:sp>
      <p:sp>
        <p:nvSpPr>
          <p:cNvPr id="192536" name="文本框 192535"/>
          <p:cNvSpPr txBox="1"/>
          <p:nvPr/>
        </p:nvSpPr>
        <p:spPr>
          <a:xfrm>
            <a:off x="917575" y="5367338"/>
            <a:ext cx="6937375" cy="962025"/>
          </a:xfrm>
          <a:prstGeom prst="rect">
            <a:avLst/>
          </a:prstGeom>
          <a:noFill/>
          <a:ln w="50800">
            <a:noFill/>
          </a:ln>
        </p:spPr>
        <p:txBody>
          <a:bodyPr anchor="t" anchorCtr="0">
            <a:spAutoFit/>
          </a:bodyPr>
          <a:p>
            <a:pPr>
              <a:lnSpc>
                <a:spcPct val="130000"/>
              </a:lnSpc>
              <a:spcBef>
                <a:spcPct val="50000"/>
              </a:spcBef>
            </a:pPr>
            <a:r>
              <a:rPr lang="zh-CN" altLang="en-US" sz="2200" dirty="0">
                <a:latin typeface="Arial" panose="020B0604020202020204" pitchFamily="34" charset="0"/>
                <a:ea typeface="黑体" panose="02010609060101010101" pitchFamily="49" charset="-122"/>
              </a:rPr>
              <a:t>为简化数据通路操作说明，把存储器简化为带时钟信号</a:t>
            </a:r>
            <a:r>
              <a:rPr lang="en-US" altLang="zh-CN" sz="2200" dirty="0" err="1">
                <a:latin typeface="Arial" panose="020B0604020202020204" pitchFamily="34" charset="0"/>
                <a:ea typeface="黑体" panose="02010609060101010101" pitchFamily="49" charset="-122"/>
              </a:rPr>
              <a:t>Clk</a:t>
            </a:r>
            <a:r>
              <a:rPr lang="zh-CN" altLang="en-US" sz="2200" dirty="0">
                <a:latin typeface="Arial" panose="020B0604020202020204" pitchFamily="34" charset="0"/>
                <a:ea typeface="黑体" panose="02010609060101010101" pitchFamily="49" charset="-122"/>
              </a:rPr>
              <a:t>的理想模型。</a:t>
            </a:r>
            <a:endParaRPr lang="zh-CN" altLang="en-US" sz="2200" dirty="0">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2536"/>
                                        </p:tgtEl>
                                        <p:attrNameLst>
                                          <p:attrName>style.visibility</p:attrName>
                                        </p:attrNameLst>
                                      </p:cBhvr>
                                      <p:to>
                                        <p:strVal val="visible"/>
                                      </p:to>
                                    </p:set>
                                    <p:animEffect transition="in" filter="blinds(horizontal)">
                                      <p:cBhvr>
                                        <p:cTn id="7" dur="500"/>
                                        <p:tgtEl>
                                          <p:spTgt spid="192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3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399361"/>
          <p:cNvSpPr>
            <a:spLocks noGrp="1"/>
          </p:cNvSpPr>
          <p:nvPr>
            <p:ph type="title"/>
          </p:nvPr>
        </p:nvSpPr>
        <p:spPr>
          <a:ln/>
        </p:spPr>
        <p:txBody>
          <a:bodyPr lIns="63500" tIns="25400" rIns="63500" bIns="25400" anchor="t" anchorCtr="0">
            <a:spAutoFit/>
          </a:bodyPr>
          <a:p>
            <a:pPr algn="l"/>
            <a:r>
              <a:rPr lang="zh-CN" altLang="en-US" dirty="0"/>
              <a:t>早期累加器型指令系统数据通路</a:t>
            </a:r>
            <a:endParaRPr lang="zh-CN" altLang="en-US" dirty="0"/>
          </a:p>
        </p:txBody>
      </p:sp>
      <p:sp>
        <p:nvSpPr>
          <p:cNvPr id="399363" name="内容占位符 399362"/>
          <p:cNvSpPr>
            <a:spLocks noGrp="1"/>
          </p:cNvSpPr>
          <p:nvPr>
            <p:ph idx="1"/>
          </p:nvPr>
        </p:nvSpPr>
        <p:spPr>
          <a:xfrm>
            <a:off x="222250" y="895350"/>
            <a:ext cx="3286125" cy="5407025"/>
          </a:xfrm>
          <a:ln/>
        </p:spPr>
        <p:txBody>
          <a:bodyPr wrap="square" lIns="63500" tIns="25400" rIns="63500" bIns="25400" anchor="t" anchorCtr="0">
            <a:spAutoFit/>
          </a:bodyPr>
          <a:p>
            <a:pPr>
              <a:spcBef>
                <a:spcPct val="20000"/>
              </a:spcBef>
            </a:pPr>
            <a:r>
              <a:rPr lang="zh-CN" altLang="en-US" sz="2000" dirty="0">
                <a:solidFill>
                  <a:schemeClr val="accent1"/>
                </a:solidFill>
                <a:latin typeface="微软雅黑" panose="020B0503020204020204" pitchFamily="34" charset="-122"/>
                <a:ea typeface="微软雅黑" panose="020B0503020204020204" pitchFamily="34" charset="-122"/>
              </a:rPr>
              <a:t>最简单的数据通路结构</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a:p>
            <a:pPr>
              <a:spcBef>
                <a:spcPct val="20000"/>
              </a:spcBef>
            </a:pPr>
            <a:r>
              <a:rPr lang="zh-CN" altLang="en-US" sz="2000" dirty="0">
                <a:latin typeface="微软雅黑" panose="020B0503020204020204" pitchFamily="34" charset="-122"/>
                <a:ea typeface="微软雅黑" panose="020B0503020204020204" pitchFamily="34" charset="-122"/>
              </a:rPr>
              <a:t>取指令数据路径为：</a:t>
            </a:r>
            <a:endParaRPr lang="zh-CN" altLang="en-US" sz="2000" dirty="0">
              <a:latin typeface="微软雅黑" panose="020B0503020204020204" pitchFamily="34" charset="-122"/>
              <a:ea typeface="微软雅黑" panose="020B0503020204020204" pitchFamily="34" charset="-122"/>
            </a:endParaRPr>
          </a:p>
          <a:p>
            <a:pPr>
              <a:spcBef>
                <a:spcPct val="20000"/>
              </a:spcBef>
              <a:buNone/>
            </a:pPr>
            <a:r>
              <a:rPr lang="en-US" altLang="zh-CN" sz="2000">
                <a:latin typeface="微软雅黑" panose="020B0503020204020204" pitchFamily="34" charset="-122"/>
                <a:ea typeface="微软雅黑" panose="020B0503020204020204" pitchFamily="34" charset="-122"/>
              </a:rPr>
              <a:t>   </a:t>
            </a:r>
            <a:r>
              <a:rPr lang="en-US" altLang="zh-CN" sz="2000">
                <a:solidFill>
                  <a:schemeClr val="accent2"/>
                </a:solidFill>
                <a:latin typeface="微软雅黑" panose="020B0503020204020204" pitchFamily="34" charset="-122"/>
                <a:ea typeface="微软雅黑" panose="020B0503020204020204" pitchFamily="34" charset="-122"/>
              </a:rPr>
              <a:t>PC→MAR,</a:t>
            </a:r>
            <a:endParaRPr lang="en-US" altLang="zh-CN" sz="200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Read M,</a:t>
            </a:r>
            <a:endParaRPr lang="en-US" altLang="zh-CN" sz="200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M→MBR→IBR→IR</a:t>
            </a:r>
            <a:endParaRPr lang="zh-CN" altLang="en-US" sz="2000" dirty="0">
              <a:solidFill>
                <a:schemeClr val="accent2"/>
              </a:solidFill>
              <a:latin typeface="微软雅黑" panose="020B0503020204020204" pitchFamily="34" charset="-122"/>
              <a:ea typeface="微软雅黑" panose="020B0503020204020204" pitchFamily="34" charset="-122"/>
            </a:endParaRPr>
          </a:p>
          <a:p>
            <a:pPr>
              <a:spcBef>
                <a:spcPct val="20000"/>
              </a:spcBef>
            </a:pPr>
            <a:r>
              <a:rPr lang="zh-CN" altLang="en-US" sz="2000" dirty="0">
                <a:latin typeface="微软雅黑" panose="020B0503020204020204" pitchFamily="34" charset="-122"/>
                <a:ea typeface="微软雅黑" panose="020B0503020204020204" pitchFamily="34" charset="-122"/>
              </a:rPr>
              <a:t>取操作数、运算、送结果的数据路径为：</a:t>
            </a:r>
            <a:endParaRPr lang="zh-CN" altLang="en-US" sz="2000" dirty="0">
              <a:latin typeface="微软雅黑" panose="020B0503020204020204" pitchFamily="34" charset="-122"/>
              <a:ea typeface="微软雅黑" panose="020B0503020204020204" pitchFamily="34" charset="-122"/>
            </a:endParaRPr>
          </a:p>
          <a:p>
            <a:pPr>
              <a:spcBef>
                <a:spcPct val="20000"/>
              </a:spcBef>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操作数地址→</a:t>
            </a:r>
            <a:r>
              <a:rPr lang="en-US" altLang="zh-CN" sz="2000">
                <a:solidFill>
                  <a:schemeClr val="accent2"/>
                </a:solidFill>
                <a:latin typeface="微软雅黑" panose="020B0503020204020204" pitchFamily="34" charset="-122"/>
                <a:ea typeface="微软雅黑" panose="020B0503020204020204" pitchFamily="34" charset="-122"/>
              </a:rPr>
              <a:t>MAR, </a:t>
            </a:r>
            <a:endParaRPr lang="en-US" altLang="zh-CN" sz="200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Read M, </a:t>
            </a:r>
            <a:endParaRPr lang="en-US" altLang="zh-CN" sz="200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M→MBR→ALU</a:t>
            </a:r>
            <a:r>
              <a:rPr lang="zh-CN" altLang="en-US" sz="2000" dirty="0">
                <a:solidFill>
                  <a:schemeClr val="accent2"/>
                </a:solidFill>
                <a:latin typeface="微软雅黑" panose="020B0503020204020204" pitchFamily="34" charset="-122"/>
                <a:ea typeface="微软雅黑" panose="020B0503020204020204" pitchFamily="34" charset="-122"/>
              </a:rPr>
              <a:t>输入端</a:t>
            </a:r>
            <a:r>
              <a:rPr lang="en-US" altLang="zh-CN" sz="2000">
                <a:solidFill>
                  <a:schemeClr val="accent2"/>
                </a:solidFill>
                <a:latin typeface="微软雅黑" panose="020B0503020204020204" pitchFamily="34" charset="-122"/>
                <a:ea typeface="微软雅黑" panose="020B0503020204020204" pitchFamily="34" charset="-122"/>
              </a:rPr>
              <a:t>,</a:t>
            </a:r>
            <a:endParaRPr lang="en-US" altLang="zh-CN" sz="200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AC→ALU</a:t>
            </a:r>
            <a:r>
              <a:rPr lang="zh-CN" altLang="en-US" sz="2000" dirty="0">
                <a:solidFill>
                  <a:schemeClr val="accent2"/>
                </a:solidFill>
                <a:latin typeface="微软雅黑" panose="020B0503020204020204" pitchFamily="34" charset="-122"/>
                <a:ea typeface="微软雅黑" panose="020B0503020204020204" pitchFamily="34" charset="-122"/>
              </a:rPr>
              <a:t>输入端</a:t>
            </a:r>
            <a:r>
              <a:rPr lang="en-US" altLang="zh-CN" sz="2000">
                <a:solidFill>
                  <a:schemeClr val="accent2"/>
                </a:solidFill>
                <a:latin typeface="微软雅黑" panose="020B0503020204020204" pitchFamily="34" charset="-122"/>
                <a:ea typeface="微软雅黑" panose="020B0503020204020204" pitchFamily="34" charset="-122"/>
              </a:rPr>
              <a:t>, </a:t>
            </a:r>
            <a:endParaRPr lang="en-US" altLang="zh-CN" sz="200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ALU</a:t>
            </a:r>
            <a:r>
              <a:rPr lang="zh-CN" altLang="en-US" sz="2000" dirty="0">
                <a:solidFill>
                  <a:schemeClr val="accent2"/>
                </a:solidFill>
                <a:latin typeface="微软雅黑" panose="020B0503020204020204" pitchFamily="34" charset="-122"/>
                <a:ea typeface="微软雅黑" panose="020B0503020204020204" pitchFamily="34" charset="-122"/>
              </a:rPr>
              <a:t>操作</a:t>
            </a:r>
            <a:r>
              <a:rPr lang="en-US" altLang="zh-CN" sz="2000">
                <a:solidFill>
                  <a:schemeClr val="accent2"/>
                </a:solidFill>
                <a:latin typeface="微软雅黑" panose="020B0503020204020204" pitchFamily="34" charset="-122"/>
                <a:ea typeface="微软雅黑" panose="020B0503020204020204" pitchFamily="34" charset="-122"/>
              </a:rPr>
              <a:t>, </a:t>
            </a:r>
            <a:endParaRPr lang="en-US" altLang="zh-CN" sz="200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ALU</a:t>
            </a:r>
            <a:r>
              <a:rPr lang="zh-CN" altLang="en-US" sz="2000" dirty="0">
                <a:solidFill>
                  <a:schemeClr val="accent2"/>
                </a:solidFill>
                <a:latin typeface="微软雅黑" panose="020B0503020204020204" pitchFamily="34" charset="-122"/>
                <a:ea typeface="微软雅黑" panose="020B0503020204020204" pitchFamily="34" charset="-122"/>
              </a:rPr>
              <a:t>结果→</a:t>
            </a:r>
            <a:r>
              <a:rPr lang="en-US" altLang="zh-CN" sz="2000">
                <a:solidFill>
                  <a:schemeClr val="accent2"/>
                </a:solidFill>
                <a:latin typeface="微软雅黑" panose="020B0503020204020204" pitchFamily="34" charset="-122"/>
                <a:ea typeface="微软雅黑" panose="020B0503020204020204" pitchFamily="34" charset="-122"/>
              </a:rPr>
              <a:t>AC</a:t>
            </a:r>
            <a:r>
              <a:rPr lang="zh-CN" altLang="en-US" sz="2000" dirty="0">
                <a:solidFill>
                  <a:schemeClr val="accent2"/>
                </a:solidFill>
                <a:latin typeface="微软雅黑" panose="020B0503020204020204" pitchFamily="34" charset="-122"/>
                <a:ea typeface="微软雅黑" panose="020B0503020204020204" pitchFamily="34" charset="-122"/>
              </a:rPr>
              <a:t>，</a:t>
            </a:r>
            <a:endParaRPr lang="zh-CN" altLang="en-US" sz="2000" dirty="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AC </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 MBR,</a:t>
            </a:r>
            <a:endParaRPr lang="en-US" altLang="zh-CN" sz="2000">
              <a:solidFill>
                <a:schemeClr val="accent2"/>
              </a:solidFill>
              <a:latin typeface="微软雅黑" panose="020B0503020204020204" pitchFamily="34" charset="-122"/>
              <a:ea typeface="微软雅黑" panose="020B0503020204020204" pitchFamily="34" charset="-122"/>
            </a:endParaRPr>
          </a:p>
          <a:p>
            <a:pPr>
              <a:spcBef>
                <a:spcPct val="20000"/>
              </a:spcBef>
              <a:buNone/>
            </a:pPr>
            <a:r>
              <a:rPr lang="en-US" altLang="zh-CN" sz="2000">
                <a:solidFill>
                  <a:schemeClr val="accent2"/>
                </a:solidFill>
                <a:latin typeface="微软雅黑" panose="020B0503020204020204" pitchFamily="34" charset="-122"/>
                <a:ea typeface="微软雅黑" panose="020B0503020204020204" pitchFamily="34" charset="-122"/>
              </a:rPr>
              <a:t>   Write M</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pic>
        <p:nvPicPr>
          <p:cNvPr id="35843" name="图片 399363"/>
          <p:cNvPicPr>
            <a:picLocks noChangeAspect="1"/>
          </p:cNvPicPr>
          <p:nvPr/>
        </p:nvPicPr>
        <p:blipFill>
          <a:blip r:embed="rId1"/>
          <a:stretch>
            <a:fillRect/>
          </a:stretch>
        </p:blipFill>
        <p:spPr>
          <a:xfrm>
            <a:off x="3427413" y="850900"/>
            <a:ext cx="5716587" cy="5602288"/>
          </a:xfrm>
          <a:prstGeom prst="rect">
            <a:avLst/>
          </a:prstGeom>
          <a:noFill/>
          <a:ln w="9525">
            <a:noFill/>
          </a:ln>
        </p:spPr>
      </p:pic>
      <p:sp>
        <p:nvSpPr>
          <p:cNvPr id="35844" name="文本框 399365"/>
          <p:cNvSpPr txBox="1"/>
          <p:nvPr/>
        </p:nvSpPr>
        <p:spPr>
          <a:xfrm>
            <a:off x="2278063" y="6389688"/>
            <a:ext cx="6324600" cy="396875"/>
          </a:xfrm>
          <a:prstGeom prst="rect">
            <a:avLst/>
          </a:prstGeom>
          <a:noFill/>
          <a:ln w="50800">
            <a:noFill/>
          </a:ln>
        </p:spPr>
        <p:txBody>
          <a:bodyPr anchor="t" anchorCtr="0">
            <a:spAutoFit/>
          </a:bodyPr>
          <a:p>
            <a:pPr eaLnBrk="0" hangingPunct="0">
              <a:spcBef>
                <a:spcPct val="50000"/>
              </a:spcBef>
            </a:pPr>
            <a:r>
              <a:rPr lang="en-US" altLang="zh-CN" sz="2000">
                <a:solidFill>
                  <a:srgbClr val="A50021"/>
                </a:solidFill>
                <a:latin typeface="微软雅黑" panose="020B0503020204020204" pitchFamily="34" charset="-122"/>
                <a:ea typeface="微软雅黑" panose="020B0503020204020204" pitchFamily="34" charset="-122"/>
              </a:rPr>
              <a:t>IAS</a:t>
            </a:r>
            <a:r>
              <a:rPr lang="zh-CN" altLang="en-US" sz="2000" dirty="0">
                <a:solidFill>
                  <a:srgbClr val="A50021"/>
                </a:solidFill>
                <a:latin typeface="微软雅黑" panose="020B0503020204020204" pitchFamily="34" charset="-122"/>
                <a:ea typeface="微软雅黑" panose="020B0503020204020204" pitchFamily="34" charset="-122"/>
              </a:rPr>
              <a:t>计算机（冯</a:t>
            </a:r>
            <a:r>
              <a:rPr lang="en-US" altLang="zh-CN" sz="2000">
                <a:solidFill>
                  <a:srgbClr val="A50021"/>
                </a:solidFill>
                <a:latin typeface="微软雅黑" panose="020B0503020204020204" pitchFamily="34" charset="-122"/>
                <a:ea typeface="微软雅黑" panose="020B0503020204020204" pitchFamily="34" charset="-122"/>
              </a:rPr>
              <a:t>.</a:t>
            </a:r>
            <a:r>
              <a:rPr lang="zh-CN" altLang="en-US" sz="2000" dirty="0">
                <a:solidFill>
                  <a:srgbClr val="A50021"/>
                </a:solidFill>
                <a:latin typeface="微软雅黑" panose="020B0503020204020204" pitchFamily="34" charset="-122"/>
                <a:ea typeface="微软雅黑" panose="020B0503020204020204" pitchFamily="34" charset="-122"/>
              </a:rPr>
              <a:t>诺依曼等设计）是现代计算机的原型</a:t>
            </a:r>
            <a:endParaRPr lang="zh-CN" altLang="en-US" sz="2000" dirty="0">
              <a:solidFill>
                <a:srgbClr val="A50021"/>
              </a:solidFill>
              <a:latin typeface="微软雅黑" panose="020B0503020204020204" pitchFamily="34" charset="-122"/>
              <a:ea typeface="微软雅黑" panose="020B0503020204020204" pitchFamily="34" charset="-122"/>
            </a:endParaRPr>
          </a:p>
        </p:txBody>
      </p:sp>
      <p:sp>
        <p:nvSpPr>
          <p:cNvPr id="399368" name="文本框 399367"/>
          <p:cNvSpPr txBox="1"/>
          <p:nvPr/>
        </p:nvSpPr>
        <p:spPr>
          <a:xfrm>
            <a:off x="6726238" y="76200"/>
            <a:ext cx="2214562" cy="1938338"/>
          </a:xfrm>
          <a:prstGeom prst="rect">
            <a:avLst/>
          </a:prstGeom>
          <a:solidFill>
            <a:schemeClr val="bg1"/>
          </a:solidFill>
          <a:ln w="50800">
            <a:noFill/>
          </a:ln>
        </p:spPr>
        <p:txBody>
          <a:bodyPr anchor="t" anchorCtr="0">
            <a:spAutoFit/>
          </a:bodyPr>
          <a:p>
            <a:pPr eaLnBrk="0" hangingPunct="0"/>
            <a:r>
              <a:rPr lang="en-US" altLang="zh-CN" sz="2000">
                <a:solidFill>
                  <a:schemeClr val="accent2"/>
                </a:solidFill>
                <a:latin typeface="微软雅黑" panose="020B0503020204020204" pitchFamily="34" charset="-122"/>
                <a:ea typeface="微软雅黑" panose="020B0503020204020204" pitchFamily="34" charset="-122"/>
              </a:rPr>
              <a:t>AC</a:t>
            </a:r>
            <a:r>
              <a:rPr lang="zh-CN" altLang="en-US" sz="2000" dirty="0">
                <a:solidFill>
                  <a:schemeClr val="accent2"/>
                </a:solidFill>
                <a:latin typeface="微软雅黑" panose="020B0503020204020204" pitchFamily="34" charset="-122"/>
                <a:ea typeface="微软雅黑" panose="020B0503020204020204" pitchFamily="34" charset="-122"/>
              </a:rPr>
              <a:t>：累加器</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r>
              <a:rPr lang="en-US" altLang="zh-CN" sz="2000">
                <a:solidFill>
                  <a:schemeClr val="accent2"/>
                </a:solidFill>
                <a:latin typeface="微软雅黑" panose="020B0503020204020204" pitchFamily="34" charset="-122"/>
                <a:ea typeface="微软雅黑" panose="020B0503020204020204" pitchFamily="34" charset="-122"/>
              </a:rPr>
              <a:t>MQ</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dirty="0">
                <a:solidFill>
                  <a:schemeClr val="accent2"/>
                </a:solidFill>
                <a:latin typeface="微软雅黑" panose="020B0503020204020204" pitchFamily="34" charset="-122"/>
                <a:ea typeface="微软雅黑" panose="020B0503020204020204" pitchFamily="34" charset="-122"/>
              </a:rPr>
              <a:t>multiplier&amp;</a:t>
            </a:r>
            <a:r>
              <a:rPr lang="zh-CN" altLang="en-US" sz="2000" dirty="0">
                <a:solidFill>
                  <a:schemeClr val="accent2"/>
                </a:solidFill>
                <a:latin typeface="微软雅黑" panose="020B0503020204020204" pitchFamily="34" charset="-122"/>
                <a:ea typeface="微软雅黑" panose="020B0503020204020204" pitchFamily="34" charset="-122"/>
              </a:rPr>
              <a:t>quotient</a:t>
            </a:r>
            <a:endParaRPr lang="zh-CN" altLang="en-US" sz="2000" dirty="0">
              <a:solidFill>
                <a:schemeClr val="accent2"/>
              </a:solidFill>
              <a:latin typeface="微软雅黑" panose="020B0503020204020204" pitchFamily="34" charset="-122"/>
              <a:ea typeface="微软雅黑" panose="020B0503020204020204" pitchFamily="34" charset="-122"/>
            </a:endParaRPr>
          </a:p>
          <a:p>
            <a:pPr eaLnBrk="0" hangingPunct="0"/>
            <a:r>
              <a:rPr lang="en-US" altLang="zh-CN" sz="2000">
                <a:solidFill>
                  <a:schemeClr val="accent2"/>
                </a:solidFill>
                <a:latin typeface="微软雅黑" panose="020B0503020204020204" pitchFamily="34" charset="-122"/>
                <a:ea typeface="微软雅黑" panose="020B0503020204020204" pitchFamily="34" charset="-122"/>
              </a:rPr>
              <a:t>PC</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IR</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ALU</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IBR</a:t>
            </a:r>
            <a:r>
              <a:rPr lang="zh-CN" altLang="en-US" sz="2000" dirty="0">
                <a:solidFill>
                  <a:schemeClr val="accent2"/>
                </a:solidFill>
                <a:latin typeface="微软雅黑" panose="020B0503020204020204" pitchFamily="34" charset="-122"/>
                <a:ea typeface="微软雅黑" panose="020B0503020204020204" pitchFamily="34" charset="-122"/>
              </a:rPr>
              <a:t>、</a:t>
            </a:r>
            <a:r>
              <a:rPr lang="en-US" altLang="zh-CN" sz="2000">
                <a:solidFill>
                  <a:schemeClr val="accent2"/>
                </a:solidFill>
                <a:latin typeface="微软雅黑" panose="020B0503020204020204" pitchFamily="34" charset="-122"/>
                <a:ea typeface="微软雅黑" panose="020B0503020204020204" pitchFamily="34" charset="-122"/>
              </a:rPr>
              <a:t>MBR</a:t>
            </a:r>
            <a:r>
              <a:rPr lang="zh-CN" altLang="en-US" sz="2000" dirty="0">
                <a:solidFill>
                  <a:schemeClr val="accent2"/>
                </a:solidFill>
                <a:latin typeface="微软雅黑" panose="020B0503020204020204" pitchFamily="34" charset="-122"/>
                <a:ea typeface="微软雅黑" panose="020B0503020204020204" pitchFamily="34" charset="-122"/>
              </a:rPr>
              <a:t>：？</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35846" name="文本框 399368"/>
          <p:cNvSpPr txBox="1"/>
          <p:nvPr/>
        </p:nvSpPr>
        <p:spPr>
          <a:xfrm>
            <a:off x="6646863" y="5759450"/>
            <a:ext cx="2238375" cy="427038"/>
          </a:xfrm>
          <a:prstGeom prst="rect">
            <a:avLst/>
          </a:prstGeom>
          <a:noFill/>
          <a:ln w="50800">
            <a:noFill/>
          </a:ln>
        </p:spPr>
        <p:txBody>
          <a:bodyPr anchor="t" anchorCtr="0">
            <a:spAutoFit/>
          </a:bodyPr>
          <a:p>
            <a:pPr eaLnBrk="0" hangingPunct="0">
              <a:spcBef>
                <a:spcPct val="50000"/>
              </a:spcBef>
            </a:pPr>
            <a:r>
              <a:rPr lang="zh-CN" altLang="en-US" sz="2200" dirty="0">
                <a:solidFill>
                  <a:srgbClr val="006600"/>
                </a:solidFill>
                <a:latin typeface="微软雅黑" panose="020B0503020204020204" pitchFamily="34" charset="-122"/>
                <a:ea typeface="微软雅黑" panose="020B0503020204020204" pitchFamily="34" charset="-122"/>
              </a:rPr>
              <a:t>分散连接方式！</a:t>
            </a:r>
            <a:endParaRPr lang="zh-CN" altLang="en-US" sz="2200" dirty="0">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363">
                                            <p:txEl>
                                              <p:charRg st="22" end="33"/>
                                            </p:txEl>
                                          </p:spTgt>
                                        </p:tgtEl>
                                        <p:attrNameLst>
                                          <p:attrName>style.visibility</p:attrName>
                                        </p:attrNameLst>
                                      </p:cBhvr>
                                      <p:to>
                                        <p:strVal val="visible"/>
                                      </p:to>
                                    </p:set>
                                    <p:animEffect transition="in" filter="blinds(horizontal)">
                                      <p:cBhvr>
                                        <p:cTn id="7" dur="500"/>
                                        <p:tgtEl>
                                          <p:spTgt spid="399363">
                                            <p:txEl>
                                              <p:charRg st="22" end="3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9363">
                                            <p:txEl>
                                              <p:charRg st="33" end="44"/>
                                            </p:txEl>
                                          </p:spTgt>
                                        </p:tgtEl>
                                        <p:attrNameLst>
                                          <p:attrName>style.visibility</p:attrName>
                                        </p:attrNameLst>
                                      </p:cBhvr>
                                      <p:to>
                                        <p:strVal val="visible"/>
                                      </p:to>
                                    </p:set>
                                    <p:animEffect transition="in" filter="blinds(horizontal)">
                                      <p:cBhvr>
                                        <p:cTn id="10" dur="500"/>
                                        <p:tgtEl>
                                          <p:spTgt spid="399363">
                                            <p:txEl>
                                              <p:charRg st="33" end="4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99363">
                                            <p:txEl>
                                              <p:charRg st="44" end="60"/>
                                            </p:txEl>
                                          </p:spTgt>
                                        </p:tgtEl>
                                        <p:attrNameLst>
                                          <p:attrName>style.visibility</p:attrName>
                                        </p:attrNameLst>
                                      </p:cBhvr>
                                      <p:to>
                                        <p:strVal val="visible"/>
                                      </p:to>
                                    </p:set>
                                    <p:animEffect transition="in" filter="blinds(horizontal)">
                                      <p:cBhvr>
                                        <p:cTn id="13" dur="500"/>
                                        <p:tgtEl>
                                          <p:spTgt spid="399363">
                                            <p:txEl>
                                              <p:charRg st="44" end="6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99363">
                                            <p:txEl>
                                              <p:charRg st="79" end="94"/>
                                            </p:txEl>
                                          </p:spTgt>
                                        </p:tgtEl>
                                        <p:attrNameLst>
                                          <p:attrName>style.visibility</p:attrName>
                                        </p:attrNameLst>
                                      </p:cBhvr>
                                      <p:to>
                                        <p:strVal val="visible"/>
                                      </p:to>
                                    </p:set>
                                    <p:animEffect transition="in" filter="blinds(horizontal)">
                                      <p:cBhvr>
                                        <p:cTn id="18" dur="500"/>
                                        <p:tgtEl>
                                          <p:spTgt spid="399363">
                                            <p:txEl>
                                              <p:charRg st="79" end="9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99363">
                                            <p:txEl>
                                              <p:charRg st="94" end="106"/>
                                            </p:txEl>
                                          </p:spTgt>
                                        </p:tgtEl>
                                        <p:attrNameLst>
                                          <p:attrName>style.visibility</p:attrName>
                                        </p:attrNameLst>
                                      </p:cBhvr>
                                      <p:to>
                                        <p:strVal val="visible"/>
                                      </p:to>
                                    </p:set>
                                    <p:animEffect transition="in" filter="blinds(horizontal)">
                                      <p:cBhvr>
                                        <p:cTn id="21" dur="500"/>
                                        <p:tgtEl>
                                          <p:spTgt spid="399363">
                                            <p:txEl>
                                              <p:charRg st="94" end="10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99363">
                                            <p:txEl>
                                              <p:charRg st="106" end="123"/>
                                            </p:txEl>
                                          </p:spTgt>
                                        </p:tgtEl>
                                        <p:attrNameLst>
                                          <p:attrName>style.visibility</p:attrName>
                                        </p:attrNameLst>
                                      </p:cBhvr>
                                      <p:to>
                                        <p:strVal val="visible"/>
                                      </p:to>
                                    </p:set>
                                    <p:animEffect transition="in" filter="blinds(horizontal)">
                                      <p:cBhvr>
                                        <p:cTn id="24" dur="500"/>
                                        <p:tgtEl>
                                          <p:spTgt spid="399363">
                                            <p:txEl>
                                              <p:charRg st="106" end="123"/>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99363">
                                            <p:txEl>
                                              <p:charRg st="123" end="138"/>
                                            </p:txEl>
                                          </p:spTgt>
                                        </p:tgtEl>
                                        <p:attrNameLst>
                                          <p:attrName>style.visibility</p:attrName>
                                        </p:attrNameLst>
                                      </p:cBhvr>
                                      <p:to>
                                        <p:strVal val="visible"/>
                                      </p:to>
                                    </p:set>
                                    <p:animEffect transition="in" filter="blinds(horizontal)">
                                      <p:cBhvr>
                                        <p:cTn id="27" dur="500"/>
                                        <p:tgtEl>
                                          <p:spTgt spid="399363">
                                            <p:txEl>
                                              <p:charRg st="123" end="138"/>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99363">
                                            <p:txEl>
                                              <p:charRg st="138" end="149"/>
                                            </p:txEl>
                                          </p:spTgt>
                                        </p:tgtEl>
                                        <p:attrNameLst>
                                          <p:attrName>style.visibility</p:attrName>
                                        </p:attrNameLst>
                                      </p:cBhvr>
                                      <p:to>
                                        <p:strVal val="visible"/>
                                      </p:to>
                                    </p:set>
                                    <p:animEffect transition="in" filter="blinds(horizontal)">
                                      <p:cBhvr>
                                        <p:cTn id="30" dur="500"/>
                                        <p:tgtEl>
                                          <p:spTgt spid="399363">
                                            <p:txEl>
                                              <p:charRg st="138" end="149"/>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99363">
                                            <p:txEl>
                                              <p:charRg st="149" end="162"/>
                                            </p:txEl>
                                          </p:spTgt>
                                        </p:tgtEl>
                                        <p:attrNameLst>
                                          <p:attrName>style.visibility</p:attrName>
                                        </p:attrNameLst>
                                      </p:cBhvr>
                                      <p:to>
                                        <p:strVal val="visible"/>
                                      </p:to>
                                    </p:set>
                                    <p:animEffect transition="in" filter="blinds(horizontal)">
                                      <p:cBhvr>
                                        <p:cTn id="33" dur="500"/>
                                        <p:tgtEl>
                                          <p:spTgt spid="399363">
                                            <p:txEl>
                                              <p:charRg st="149" end="162"/>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399363">
                                            <p:txEl>
                                              <p:charRg st="162" end="175"/>
                                            </p:txEl>
                                          </p:spTgt>
                                        </p:tgtEl>
                                        <p:attrNameLst>
                                          <p:attrName>style.visibility</p:attrName>
                                        </p:attrNameLst>
                                      </p:cBhvr>
                                      <p:to>
                                        <p:strVal val="visible"/>
                                      </p:to>
                                    </p:set>
                                    <p:animEffect transition="in" filter="blinds(horizontal)">
                                      <p:cBhvr>
                                        <p:cTn id="36" dur="500"/>
                                        <p:tgtEl>
                                          <p:spTgt spid="399363">
                                            <p:txEl>
                                              <p:charRg st="162" end="175"/>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399363">
                                            <p:txEl>
                                              <p:charRg st="175" end="186"/>
                                            </p:txEl>
                                          </p:spTgt>
                                        </p:tgtEl>
                                        <p:attrNameLst>
                                          <p:attrName>style.visibility</p:attrName>
                                        </p:attrNameLst>
                                      </p:cBhvr>
                                      <p:to>
                                        <p:strVal val="visible"/>
                                      </p:to>
                                    </p:set>
                                    <p:animEffect transition="in" filter="blinds(horizontal)">
                                      <p:cBhvr>
                                        <p:cTn id="39" dur="500"/>
                                        <p:tgtEl>
                                          <p:spTgt spid="399363">
                                            <p:txEl>
                                              <p:charRg st="175" end="18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99368"/>
                                        </p:tgtEl>
                                        <p:attrNameLst>
                                          <p:attrName>style.visibility</p:attrName>
                                        </p:attrNameLst>
                                      </p:cBhvr>
                                      <p:to>
                                        <p:strVal val="visible"/>
                                      </p:to>
                                    </p:set>
                                    <p:animEffect transition="in" filter="blinds(horizontal)">
                                      <p:cBhvr>
                                        <p:cTn id="44" dur="500"/>
                                        <p:tgtEl>
                                          <p:spTgt spid="399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8"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865" name="图片 398365"/>
          <p:cNvPicPr>
            <a:picLocks noChangeAspect="1"/>
          </p:cNvPicPr>
          <p:nvPr/>
        </p:nvPicPr>
        <p:blipFill>
          <a:blip r:embed="rId1"/>
          <a:stretch>
            <a:fillRect/>
          </a:stretch>
        </p:blipFill>
        <p:spPr>
          <a:xfrm>
            <a:off x="3573463" y="0"/>
            <a:ext cx="5570537" cy="4319588"/>
          </a:xfrm>
          <a:prstGeom prst="rect">
            <a:avLst/>
          </a:prstGeom>
          <a:noFill/>
          <a:ln w="9525">
            <a:noFill/>
          </a:ln>
        </p:spPr>
      </p:pic>
      <p:sp>
        <p:nvSpPr>
          <p:cNvPr id="36866" name="标题 398337"/>
          <p:cNvSpPr>
            <a:spLocks noGrp="1"/>
          </p:cNvSpPr>
          <p:nvPr>
            <p:ph type="title"/>
          </p:nvPr>
        </p:nvSpPr>
        <p:spPr>
          <a:xfrm>
            <a:off x="101600" y="88900"/>
            <a:ext cx="7499350" cy="528638"/>
          </a:xfrm>
          <a:ln/>
        </p:spPr>
        <p:txBody>
          <a:bodyPr lIns="63500" tIns="25400" rIns="63500" bIns="25400" anchor="t" anchorCtr="0">
            <a:spAutoFit/>
          </a:bodyPr>
          <a:p>
            <a:pPr algn="l"/>
            <a:r>
              <a:rPr lang="zh-CN" altLang="en-US" dirty="0"/>
              <a:t>单总线数据通路</a:t>
            </a:r>
            <a:endParaRPr lang="en-US" altLang="zh-CN"/>
          </a:p>
        </p:txBody>
      </p:sp>
      <p:sp>
        <p:nvSpPr>
          <p:cNvPr id="398339" name="内容占位符 398338"/>
          <p:cNvSpPr>
            <a:spLocks noGrp="1"/>
          </p:cNvSpPr>
          <p:nvPr>
            <p:ph idx="1"/>
          </p:nvPr>
        </p:nvSpPr>
        <p:spPr>
          <a:xfrm>
            <a:off x="0" y="776288"/>
            <a:ext cx="4348163" cy="4592637"/>
          </a:xfrm>
          <a:ln/>
        </p:spPr>
        <p:txBody>
          <a:bodyPr wrap="square" lIns="63500" tIns="25400" rIns="63500" bIns="25400" anchor="t" anchorCtr="0">
            <a:spAutoFit/>
          </a:bodyPr>
          <a:p>
            <a:pPr>
              <a:spcBef>
                <a:spcPct val="10000"/>
              </a:spcBef>
              <a:buNone/>
            </a:pPr>
            <a:r>
              <a:rPr lang="zh-CN" altLang="en-US" dirty="0">
                <a:ea typeface="宋体" panose="02010600030101010101" pitchFamily="2" charset="-122"/>
              </a:rPr>
              <a:t>     </a:t>
            </a:r>
            <a:r>
              <a:rPr lang="zh-CN" altLang="en-US" dirty="0">
                <a:latin typeface="微软雅黑" panose="020B0503020204020204" pitchFamily="34" charset="-122"/>
                <a:ea typeface="微软雅黑" panose="020B0503020204020204" pitchFamily="34" charset="-122"/>
              </a:rPr>
              <a:t>四种基本操作的时序控制信号</a:t>
            </a:r>
            <a:endParaRPr lang="zh-CN" altLang="en-US" dirty="0">
              <a:latin typeface="微软雅黑" panose="020B0503020204020204" pitchFamily="34" charset="-122"/>
              <a:ea typeface="微软雅黑" panose="020B0503020204020204" pitchFamily="34" charset="-122"/>
            </a:endParaRPr>
          </a:p>
          <a:p>
            <a:pPr lvl="1">
              <a:spcBef>
                <a:spcPct val="10000"/>
              </a:spcBef>
            </a:pPr>
            <a:r>
              <a:rPr lang="zh-CN" altLang="en-US" dirty="0">
                <a:latin typeface="微软雅黑" panose="020B0503020204020204" pitchFamily="34" charset="-122"/>
                <a:ea typeface="微软雅黑" panose="020B0503020204020204" pitchFamily="34" charset="-122"/>
              </a:rPr>
              <a:t>在寄存器之间传送数据 </a:t>
            </a:r>
            <a:endParaRPr lang="zh-CN" altLang="en-US" dirty="0">
              <a:latin typeface="微软雅黑" panose="020B0503020204020204" pitchFamily="34" charset="-122"/>
              <a:ea typeface="微软雅黑" panose="020B0503020204020204" pitchFamily="34" charset="-122"/>
            </a:endParaRPr>
          </a:p>
          <a:p>
            <a:pPr lvl="2">
              <a:spcBef>
                <a:spcPct val="10000"/>
              </a:spcBef>
              <a:buNone/>
            </a:pPr>
            <a:r>
              <a:rPr lang="en-US" altLang="zh-CN">
                <a:latin typeface="微软雅黑" panose="020B0503020204020204" pitchFamily="34" charset="-122"/>
                <a:ea typeface="微软雅黑" panose="020B0503020204020204" pitchFamily="34" charset="-122"/>
              </a:rPr>
              <a:t>R0out</a:t>
            </a:r>
            <a:r>
              <a:rPr lang="zh-CN" altLang="en-US" dirty="0">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Yin </a:t>
            </a:r>
            <a:endParaRPr lang="en-US" altLang="zh-CN">
              <a:latin typeface="微软雅黑" panose="020B0503020204020204" pitchFamily="34" charset="-122"/>
              <a:ea typeface="微软雅黑" panose="020B0503020204020204" pitchFamily="34" charset="-122"/>
            </a:endParaRPr>
          </a:p>
          <a:p>
            <a:pPr lvl="1">
              <a:spcBef>
                <a:spcPct val="10000"/>
              </a:spcBef>
            </a:pPr>
            <a:r>
              <a:rPr lang="zh-CN" altLang="en-US" dirty="0">
                <a:latin typeface="微软雅黑" panose="020B0503020204020204" pitchFamily="34" charset="-122"/>
                <a:ea typeface="微软雅黑" panose="020B0503020204020204" pitchFamily="34" charset="-122"/>
              </a:rPr>
              <a:t>完成算术、逻辑运算</a:t>
            </a:r>
            <a:endParaRPr lang="zh-CN" altLang="en-US" dirty="0">
              <a:latin typeface="微软雅黑" panose="020B0503020204020204" pitchFamily="34" charset="-122"/>
              <a:ea typeface="微软雅黑" panose="020B0503020204020204" pitchFamily="34" charset="-122"/>
            </a:endParaRPr>
          </a:p>
          <a:p>
            <a:pPr lvl="2">
              <a:spcBef>
                <a:spcPct val="10000"/>
              </a:spcBef>
              <a:buNone/>
            </a:pPr>
            <a:r>
              <a:rPr lang="en-US" altLang="zh-CN">
                <a:latin typeface="微软雅黑" panose="020B0503020204020204" pitchFamily="34" charset="-122"/>
                <a:ea typeface="微软雅黑" panose="020B0503020204020204" pitchFamily="34" charset="-122"/>
              </a:rPr>
              <a:t>R1out</a:t>
            </a:r>
            <a:r>
              <a:rPr lang="zh-CN" altLang="en-US" dirty="0">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Yin</a:t>
            </a:r>
            <a:endParaRPr lang="en-US" altLang="zh-CN">
              <a:latin typeface="微软雅黑" panose="020B0503020204020204" pitchFamily="34" charset="-122"/>
              <a:ea typeface="微软雅黑" panose="020B0503020204020204" pitchFamily="34" charset="-122"/>
            </a:endParaRPr>
          </a:p>
          <a:p>
            <a:pPr lvl="2">
              <a:spcBef>
                <a:spcPct val="10000"/>
              </a:spcBef>
              <a:buNone/>
            </a:pPr>
            <a:r>
              <a:rPr lang="en-US" altLang="zh-CN">
                <a:latin typeface="微软雅黑" panose="020B0503020204020204" pitchFamily="34" charset="-122"/>
                <a:ea typeface="微软雅黑" panose="020B0503020204020204" pitchFamily="34" charset="-122"/>
              </a:rPr>
              <a:t>R2out</a:t>
            </a:r>
            <a:r>
              <a:rPr lang="zh-CN" altLang="en-US" dirty="0">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Add</a:t>
            </a:r>
            <a:r>
              <a:rPr lang="zh-CN" altLang="en-US" dirty="0">
                <a:latin typeface="微软雅黑" panose="020B0503020204020204" pitchFamily="34" charset="-122"/>
                <a:ea typeface="微软雅黑" panose="020B0503020204020204" pitchFamily="34" charset="-122"/>
              </a:rPr>
              <a:t>，</a:t>
            </a:r>
            <a:r>
              <a:rPr lang="en-US" altLang="zh-CN" err="1">
                <a:latin typeface="微软雅黑" panose="020B0503020204020204" pitchFamily="34" charset="-122"/>
                <a:ea typeface="微软雅黑" panose="020B0503020204020204" pitchFamily="34" charset="-122"/>
              </a:rPr>
              <a:t>Zin</a:t>
            </a:r>
            <a:endParaRPr lang="en-US" altLang="zh-CN">
              <a:latin typeface="微软雅黑" panose="020B0503020204020204" pitchFamily="34" charset="-122"/>
              <a:ea typeface="微软雅黑" panose="020B0503020204020204" pitchFamily="34" charset="-122"/>
            </a:endParaRPr>
          </a:p>
          <a:p>
            <a:pPr lvl="2">
              <a:spcBef>
                <a:spcPct val="10000"/>
              </a:spcBef>
              <a:buNone/>
            </a:pPr>
            <a:r>
              <a:rPr lang="en-US" altLang="zh-CN" err="1">
                <a:latin typeface="微软雅黑" panose="020B0503020204020204" pitchFamily="34" charset="-122"/>
                <a:ea typeface="微软雅黑" panose="020B0503020204020204" pitchFamily="34" charset="-122"/>
              </a:rPr>
              <a:t>Zout</a:t>
            </a:r>
            <a:r>
              <a:rPr lang="zh-CN" altLang="en-US" dirty="0">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R3in</a:t>
            </a:r>
            <a:endParaRPr lang="en-US" altLang="zh-CN">
              <a:latin typeface="微软雅黑" panose="020B0503020204020204" pitchFamily="34" charset="-122"/>
              <a:ea typeface="微软雅黑" panose="020B0503020204020204" pitchFamily="34" charset="-122"/>
            </a:endParaRPr>
          </a:p>
          <a:p>
            <a:pPr lvl="1">
              <a:spcBef>
                <a:spcPct val="10000"/>
              </a:spcBef>
            </a:pPr>
            <a:r>
              <a:rPr lang="zh-CN" altLang="en-US" dirty="0">
                <a:latin typeface="微软雅黑" panose="020B0503020204020204" pitchFamily="34" charset="-122"/>
                <a:ea typeface="微软雅黑" panose="020B0503020204020204" pitchFamily="34" charset="-122"/>
              </a:rPr>
              <a:t>从主存取字 </a:t>
            </a:r>
            <a:endParaRPr lang="zh-CN" altLang="en-US" dirty="0">
              <a:latin typeface="微软雅黑" panose="020B0503020204020204" pitchFamily="34" charset="-122"/>
              <a:ea typeface="微软雅黑" panose="020B0503020204020204" pitchFamily="34" charset="-122"/>
            </a:endParaRPr>
          </a:p>
          <a:p>
            <a:pPr lvl="2">
              <a:spcBef>
                <a:spcPct val="10000"/>
              </a:spcBef>
              <a:buNone/>
            </a:pPr>
            <a:r>
              <a:rPr lang="pt-BR" altLang="zh-CN" dirty="0">
                <a:latin typeface="微软雅黑" panose="020B0503020204020204" pitchFamily="34" charset="-122"/>
                <a:ea typeface="微软雅黑" panose="020B0503020204020204" pitchFamily="34" charset="-122"/>
              </a:rPr>
              <a:t>R1out</a:t>
            </a:r>
            <a:r>
              <a:rPr lang="zh-CN" altLang="pt-BR" dirty="0">
                <a:latin typeface="微软雅黑" panose="020B0503020204020204" pitchFamily="34" charset="-122"/>
                <a:ea typeface="微软雅黑" panose="020B0503020204020204" pitchFamily="34" charset="-122"/>
              </a:rPr>
              <a:t>，</a:t>
            </a:r>
            <a:r>
              <a:rPr lang="pt-BR" altLang="zh-CN" dirty="0">
                <a:latin typeface="微软雅黑" panose="020B0503020204020204" pitchFamily="34" charset="-122"/>
                <a:ea typeface="微软雅黑" panose="020B0503020204020204" pitchFamily="34" charset="-122"/>
              </a:rPr>
              <a:t>MARin</a:t>
            </a:r>
            <a:endParaRPr lang="pt-BR" altLang="zh-CN" dirty="0">
              <a:latin typeface="微软雅黑" panose="020B0503020204020204" pitchFamily="34" charset="-122"/>
              <a:ea typeface="微软雅黑" panose="020B0503020204020204" pitchFamily="34" charset="-122"/>
            </a:endParaRPr>
          </a:p>
          <a:p>
            <a:pPr lvl="2">
              <a:spcBef>
                <a:spcPct val="10000"/>
              </a:spcBef>
              <a:buNone/>
            </a:pPr>
            <a:r>
              <a:rPr lang="en-US" altLang="zh-CN">
                <a:latin typeface="微软雅黑" panose="020B0503020204020204" pitchFamily="34" charset="-122"/>
                <a:ea typeface="微软雅黑" panose="020B0503020204020204" pitchFamily="34" charset="-122"/>
              </a:rPr>
              <a:t>Read, </a:t>
            </a:r>
            <a:r>
              <a:rPr lang="en-US" altLang="zh-CN">
                <a:solidFill>
                  <a:srgbClr val="006600"/>
                </a:solidFill>
                <a:latin typeface="微软雅黑" panose="020B0503020204020204" pitchFamily="34" charset="-122"/>
                <a:ea typeface="微软雅黑" panose="020B0503020204020204" pitchFamily="34" charset="-122"/>
              </a:rPr>
              <a:t>WMFC</a:t>
            </a:r>
            <a:r>
              <a:rPr lang="zh-CN" altLang="en-US" dirty="0">
                <a:solidFill>
                  <a:srgbClr val="006600"/>
                </a:solidFill>
                <a:latin typeface="微软雅黑" panose="020B0503020204020204" pitchFamily="34" charset="-122"/>
                <a:ea typeface="微软雅黑" panose="020B0503020204020204" pitchFamily="34" charset="-122"/>
              </a:rPr>
              <a:t> </a:t>
            </a:r>
            <a:r>
              <a:rPr lang="en-US" altLang="zh-CN">
                <a:solidFill>
                  <a:srgbClr val="006600"/>
                </a:solidFill>
                <a:latin typeface="微软雅黑" panose="020B0503020204020204" pitchFamily="34" charset="-122"/>
                <a:ea typeface="微软雅黑" panose="020B0503020204020204" pitchFamily="34" charset="-122"/>
              </a:rPr>
              <a:t>(</a:t>
            </a:r>
            <a:r>
              <a:rPr lang="zh-CN" altLang="en-US" dirty="0">
                <a:solidFill>
                  <a:srgbClr val="006600"/>
                </a:solidFill>
                <a:latin typeface="微软雅黑" panose="020B0503020204020204" pitchFamily="34" charset="-122"/>
                <a:ea typeface="微软雅黑" panose="020B0503020204020204" pitchFamily="34" charset="-122"/>
              </a:rPr>
              <a:t>等待</a:t>
            </a:r>
            <a:r>
              <a:rPr lang="en-US" altLang="zh-CN">
                <a:solidFill>
                  <a:srgbClr val="006600"/>
                </a:solidFill>
                <a:latin typeface="微软雅黑" panose="020B0503020204020204" pitchFamily="34" charset="-122"/>
                <a:ea typeface="微软雅黑" panose="020B0503020204020204" pitchFamily="34" charset="-122"/>
              </a:rPr>
              <a:t>MFC)</a:t>
            </a:r>
            <a:endParaRPr lang="zh-CN" altLang="en-US" dirty="0">
              <a:solidFill>
                <a:srgbClr val="006600"/>
              </a:solidFill>
              <a:latin typeface="微软雅黑" panose="020B0503020204020204" pitchFamily="34" charset="-122"/>
              <a:ea typeface="微软雅黑" panose="020B0503020204020204" pitchFamily="34" charset="-122"/>
            </a:endParaRPr>
          </a:p>
          <a:p>
            <a:pPr lvl="2">
              <a:spcBef>
                <a:spcPct val="10000"/>
              </a:spcBef>
              <a:buNone/>
            </a:pPr>
            <a:r>
              <a:rPr lang="en-US" altLang="zh-CN" err="1">
                <a:latin typeface="微软雅黑" panose="020B0503020204020204" pitchFamily="34" charset="-122"/>
                <a:ea typeface="微软雅黑" panose="020B0503020204020204" pitchFamily="34" charset="-122"/>
              </a:rPr>
              <a:t>MDRout</a:t>
            </a:r>
            <a:r>
              <a:rPr lang="zh-CN" altLang="en-US" dirty="0">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R2in </a:t>
            </a:r>
            <a:endParaRPr lang="en-US" altLang="zh-CN">
              <a:latin typeface="微软雅黑" panose="020B0503020204020204" pitchFamily="34" charset="-122"/>
              <a:ea typeface="微软雅黑" panose="020B0503020204020204" pitchFamily="34" charset="-122"/>
            </a:endParaRPr>
          </a:p>
          <a:p>
            <a:pPr lvl="1">
              <a:spcBef>
                <a:spcPct val="10000"/>
              </a:spcBef>
            </a:pPr>
            <a:r>
              <a:rPr lang="zh-CN" altLang="en-US" dirty="0">
                <a:latin typeface="微软雅黑" panose="020B0503020204020204" pitchFamily="34" charset="-122"/>
                <a:ea typeface="微软雅黑" panose="020B0503020204020204" pitchFamily="34" charset="-122"/>
              </a:rPr>
              <a:t>写字到主存</a:t>
            </a:r>
            <a:endParaRPr lang="zh-CN" altLang="en-US" dirty="0">
              <a:latin typeface="微软雅黑" panose="020B0503020204020204" pitchFamily="34" charset="-122"/>
              <a:ea typeface="微软雅黑" panose="020B0503020204020204" pitchFamily="34" charset="-122"/>
            </a:endParaRPr>
          </a:p>
          <a:p>
            <a:pPr lvl="2">
              <a:spcBef>
                <a:spcPct val="10000"/>
              </a:spcBef>
              <a:buNone/>
            </a:pPr>
            <a:r>
              <a:rPr lang="pt-BR" altLang="zh-CN" dirty="0">
                <a:latin typeface="微软雅黑" panose="020B0503020204020204" pitchFamily="34" charset="-122"/>
                <a:ea typeface="微软雅黑" panose="020B0503020204020204" pitchFamily="34" charset="-122"/>
              </a:rPr>
              <a:t>R1out</a:t>
            </a:r>
            <a:r>
              <a:rPr lang="zh-CN" altLang="pt-BR" dirty="0">
                <a:latin typeface="微软雅黑" panose="020B0503020204020204" pitchFamily="34" charset="-122"/>
                <a:ea typeface="微软雅黑" panose="020B0503020204020204" pitchFamily="34" charset="-122"/>
              </a:rPr>
              <a:t>，</a:t>
            </a:r>
            <a:r>
              <a:rPr lang="pt-BR" altLang="zh-CN" dirty="0">
                <a:latin typeface="微软雅黑" panose="020B0503020204020204" pitchFamily="34" charset="-122"/>
                <a:ea typeface="微软雅黑" panose="020B0503020204020204" pitchFamily="34" charset="-122"/>
              </a:rPr>
              <a:t>MARin</a:t>
            </a:r>
            <a:endParaRPr lang="pt-BR" altLang="zh-CN" dirty="0">
              <a:latin typeface="微软雅黑" panose="020B0503020204020204" pitchFamily="34" charset="-122"/>
              <a:ea typeface="微软雅黑" panose="020B0503020204020204" pitchFamily="34" charset="-122"/>
            </a:endParaRPr>
          </a:p>
          <a:p>
            <a:pPr lvl="2">
              <a:spcBef>
                <a:spcPct val="10000"/>
              </a:spcBef>
              <a:buNone/>
            </a:pPr>
            <a:r>
              <a:rPr lang="en-US" altLang="zh-CN">
                <a:latin typeface="微软雅黑" panose="020B0503020204020204" pitchFamily="34" charset="-122"/>
                <a:ea typeface="微软雅黑" panose="020B0503020204020204" pitchFamily="34" charset="-122"/>
              </a:rPr>
              <a:t>R2out</a:t>
            </a:r>
            <a:r>
              <a:rPr lang="zh-CN" altLang="en-US" dirty="0">
                <a:latin typeface="微软雅黑" panose="020B0503020204020204" pitchFamily="34" charset="-122"/>
                <a:ea typeface="微软雅黑" panose="020B0503020204020204" pitchFamily="34" charset="-122"/>
              </a:rPr>
              <a:t>，</a:t>
            </a:r>
            <a:r>
              <a:rPr lang="en-US" altLang="zh-CN" err="1">
                <a:latin typeface="微软雅黑" panose="020B0503020204020204" pitchFamily="34" charset="-122"/>
                <a:ea typeface="微软雅黑" panose="020B0503020204020204" pitchFamily="34" charset="-122"/>
              </a:rPr>
              <a:t>MDRin</a:t>
            </a:r>
            <a:r>
              <a:rPr lang="zh-CN" altLang="en-US" dirty="0">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pPr lvl="2">
              <a:spcBef>
                <a:spcPct val="10000"/>
              </a:spcBef>
              <a:buNone/>
            </a:pPr>
            <a:r>
              <a:rPr lang="en-US" altLang="zh-CN">
                <a:latin typeface="微软雅黑" panose="020B0503020204020204" pitchFamily="34" charset="-122"/>
                <a:ea typeface="微软雅黑" panose="020B0503020204020204" pitchFamily="34" charset="-122"/>
              </a:rPr>
              <a:t>Write,</a:t>
            </a:r>
            <a:r>
              <a:rPr lang="en-US" altLang="zh-CN">
                <a:solidFill>
                  <a:schemeClr val="accent2"/>
                </a:solidFill>
                <a:latin typeface="微软雅黑" panose="020B0503020204020204" pitchFamily="34" charset="-122"/>
                <a:ea typeface="微软雅黑" panose="020B0503020204020204" pitchFamily="34" charset="-122"/>
              </a:rPr>
              <a:t> </a:t>
            </a:r>
            <a:r>
              <a:rPr lang="en-US" altLang="zh-CN">
                <a:solidFill>
                  <a:srgbClr val="006600"/>
                </a:solidFill>
                <a:latin typeface="微软雅黑" panose="020B0503020204020204" pitchFamily="34" charset="-122"/>
                <a:ea typeface="微软雅黑" panose="020B0503020204020204" pitchFamily="34" charset="-122"/>
              </a:rPr>
              <a:t>WMFC</a:t>
            </a:r>
            <a:endParaRPr lang="zh-CN" altLang="en-US" dirty="0">
              <a:solidFill>
                <a:srgbClr val="006600"/>
              </a:solidFill>
              <a:latin typeface="微软雅黑" panose="020B0503020204020204" pitchFamily="34" charset="-122"/>
              <a:ea typeface="微软雅黑" panose="020B0503020204020204" pitchFamily="34" charset="-122"/>
            </a:endParaRPr>
          </a:p>
        </p:txBody>
      </p:sp>
      <p:pic>
        <p:nvPicPr>
          <p:cNvPr id="36868" name="图片 398341"/>
          <p:cNvPicPr>
            <a:picLocks noChangeAspect="1"/>
          </p:cNvPicPr>
          <p:nvPr/>
        </p:nvPicPr>
        <p:blipFill>
          <a:blip r:embed="rId2"/>
          <a:stretch>
            <a:fillRect/>
          </a:stretch>
        </p:blipFill>
        <p:spPr>
          <a:xfrm>
            <a:off x="4637088" y="4408488"/>
            <a:ext cx="4506912" cy="2449512"/>
          </a:xfrm>
          <a:prstGeom prst="rect">
            <a:avLst/>
          </a:prstGeom>
          <a:noFill/>
          <a:ln w="9525">
            <a:noFill/>
          </a:ln>
        </p:spPr>
      </p:pic>
      <p:sp>
        <p:nvSpPr>
          <p:cNvPr id="36869" name="文本框 398342"/>
          <p:cNvSpPr txBox="1"/>
          <p:nvPr/>
        </p:nvSpPr>
        <p:spPr>
          <a:xfrm>
            <a:off x="3448050" y="1381125"/>
            <a:ext cx="1057275" cy="336550"/>
          </a:xfrm>
          <a:prstGeom prst="rect">
            <a:avLst/>
          </a:prstGeom>
          <a:noFill/>
          <a:ln w="50800">
            <a:noFill/>
          </a:ln>
        </p:spPr>
        <p:txBody>
          <a:bodyPr anchor="t" anchorCtr="0">
            <a:spAutoFit/>
          </a:bodyPr>
          <a:p>
            <a:pPr eaLnBrk="0" hangingPunct="0">
              <a:spcBef>
                <a:spcPct val="50000"/>
              </a:spcBef>
            </a:pPr>
            <a:endParaRPr lang="zh-CN" altLang="en-US" dirty="0">
              <a:latin typeface="Times New Roman" panose="02020603050405020304" pitchFamily="18" charset="0"/>
              <a:ea typeface="宋体" panose="02010600030101010101" pitchFamily="2" charset="-122"/>
            </a:endParaRPr>
          </a:p>
        </p:txBody>
      </p:sp>
      <p:sp>
        <p:nvSpPr>
          <p:cNvPr id="36870" name="矩形 398343"/>
          <p:cNvSpPr/>
          <p:nvPr/>
        </p:nvSpPr>
        <p:spPr>
          <a:xfrm>
            <a:off x="1873250" y="2792413"/>
            <a:ext cx="2025650" cy="366712"/>
          </a:xfrm>
          <a:prstGeom prst="rect">
            <a:avLst/>
          </a:prstGeom>
          <a:noFill/>
          <a:ln w="50800">
            <a:noFill/>
          </a:ln>
        </p:spPr>
        <p:txBody>
          <a:bodyPr wrap="none" anchor="ctr" anchorCtr="0">
            <a:spAutoFit/>
          </a:bodyPr>
          <a:p>
            <a:pPr eaLnBrk="0" hangingPunct="0"/>
            <a:r>
              <a:rPr lang="en-US" altLang="zh-CN" sz="1800">
                <a:solidFill>
                  <a:schemeClr val="accent1"/>
                </a:solidFill>
                <a:latin typeface="Times New Roman" panose="02020603050405020304" pitchFamily="18" charset="0"/>
                <a:ea typeface="宋体" panose="02010600030101010101" pitchFamily="2" charset="-122"/>
              </a:rPr>
              <a:t>R[R2]←M[R[R1]]</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36871" name="矩形 398344"/>
          <p:cNvSpPr/>
          <p:nvPr/>
        </p:nvSpPr>
        <p:spPr>
          <a:xfrm>
            <a:off x="2020888" y="4044950"/>
            <a:ext cx="2097087" cy="366713"/>
          </a:xfrm>
          <a:prstGeom prst="rect">
            <a:avLst/>
          </a:prstGeom>
          <a:noFill/>
          <a:ln w="50800">
            <a:noFill/>
          </a:ln>
        </p:spPr>
        <p:txBody>
          <a:bodyPr anchor="ctr" anchorCtr="0">
            <a:spAutoFit/>
          </a:bodyPr>
          <a:p>
            <a:pPr eaLnBrk="0" hangingPunct="0"/>
            <a:r>
              <a:rPr lang="en-US" altLang="zh-CN" sz="1800">
                <a:solidFill>
                  <a:schemeClr val="accent1"/>
                </a:solidFill>
                <a:latin typeface="Times New Roman" panose="02020603050405020304" pitchFamily="18" charset="0"/>
                <a:ea typeface="宋体" panose="02010600030101010101" pitchFamily="2" charset="-122"/>
              </a:rPr>
              <a:t>M[R[R1]] ← R[R2]</a:t>
            </a:r>
            <a:endParaRPr lang="en-US" altLang="zh-CN" sz="1800">
              <a:solidFill>
                <a:schemeClr val="accent1"/>
              </a:solidFill>
              <a:latin typeface="Times New Roman" panose="02020603050405020304" pitchFamily="18" charset="0"/>
              <a:ea typeface="宋体" panose="02010600030101010101" pitchFamily="2" charset="-122"/>
            </a:endParaRPr>
          </a:p>
        </p:txBody>
      </p:sp>
      <p:sp>
        <p:nvSpPr>
          <p:cNvPr id="398346" name="文本框 398345"/>
          <p:cNvSpPr txBox="1"/>
          <p:nvPr/>
        </p:nvSpPr>
        <p:spPr>
          <a:xfrm>
            <a:off x="269875" y="5394325"/>
            <a:ext cx="4241800" cy="1246188"/>
          </a:xfrm>
          <a:prstGeom prst="rect">
            <a:avLst/>
          </a:prstGeom>
          <a:solidFill>
            <a:schemeClr val="bg1"/>
          </a:solidFill>
          <a:ln w="50800">
            <a:noFill/>
          </a:ln>
        </p:spPr>
        <p:txBody>
          <a:bodyPr anchor="t" anchorCtr="0">
            <a:spAutoFit/>
          </a:bodyPr>
          <a:p>
            <a:pPr eaLnBrk="0" hangingPunct="0">
              <a:spcBef>
                <a:spcPct val="20000"/>
              </a:spcBef>
            </a:pPr>
            <a:r>
              <a:rPr lang="en-US" altLang="zh-CN" sz="1800">
                <a:solidFill>
                  <a:schemeClr val="accent1"/>
                </a:solidFill>
                <a:latin typeface="微软雅黑" panose="020B0503020204020204" pitchFamily="34" charset="-122"/>
                <a:ea typeface="微软雅黑" panose="020B0503020204020204" pitchFamily="34" charset="-122"/>
              </a:rPr>
              <a:t>CPU</a:t>
            </a:r>
            <a:r>
              <a:rPr lang="zh-CN" altLang="en-US" sz="1800" dirty="0">
                <a:solidFill>
                  <a:schemeClr val="accent1"/>
                </a:solidFill>
                <a:latin typeface="微软雅黑" panose="020B0503020204020204" pitchFamily="34" charset="-122"/>
                <a:ea typeface="微软雅黑" panose="020B0503020204020204" pitchFamily="34" charset="-122"/>
              </a:rPr>
              <a:t>访存有两种通信方式</a:t>
            </a:r>
            <a:endParaRPr lang="zh-CN" altLang="en-US" sz="1800" dirty="0">
              <a:solidFill>
                <a:schemeClr val="accent1"/>
              </a:solidFill>
              <a:latin typeface="微软雅黑" panose="020B0503020204020204" pitchFamily="34" charset="-122"/>
              <a:ea typeface="微软雅黑" panose="020B0503020204020204" pitchFamily="34" charset="-122"/>
            </a:endParaRPr>
          </a:p>
          <a:p>
            <a:pPr eaLnBrk="0" hangingPunct="0">
              <a:spcBef>
                <a:spcPct val="20000"/>
              </a:spcBef>
            </a:pPr>
            <a:r>
              <a:rPr lang="zh-CN" altLang="en-US" sz="1800" dirty="0">
                <a:latin typeface="微软雅黑" panose="020B0503020204020204" pitchFamily="34" charset="-122"/>
                <a:ea typeface="微软雅黑" panose="020B0503020204020204" pitchFamily="34" charset="-122"/>
              </a:rPr>
              <a:t>早期：直接访问</a:t>
            </a:r>
            <a:r>
              <a:rPr lang="en-US" altLang="zh-CN" sz="1800">
                <a:latin typeface="微软雅黑" panose="020B0503020204020204" pitchFamily="34" charset="-122"/>
                <a:ea typeface="微软雅黑" panose="020B0503020204020204" pitchFamily="34" charset="-122"/>
              </a:rPr>
              <a:t>MM,  </a:t>
            </a:r>
            <a:r>
              <a:rPr lang="zh-CN" altLang="en-US" sz="1800" dirty="0">
                <a:latin typeface="微软雅黑" panose="020B0503020204020204" pitchFamily="34" charset="-122"/>
                <a:ea typeface="微软雅黑" panose="020B0503020204020204" pitchFamily="34" charset="-122"/>
              </a:rPr>
              <a:t>“异步”方式，用</a:t>
            </a:r>
            <a:r>
              <a:rPr lang="en-US" altLang="zh-CN" sz="1800">
                <a:latin typeface="微软雅黑" panose="020B0503020204020204" pitchFamily="34" charset="-122"/>
                <a:ea typeface="微软雅黑" panose="020B0503020204020204" pitchFamily="34" charset="-122"/>
              </a:rPr>
              <a:t>MFC</a:t>
            </a:r>
            <a:r>
              <a:rPr lang="zh-CN" altLang="en-US" sz="1800" dirty="0">
                <a:latin typeface="微软雅黑" panose="020B0503020204020204" pitchFamily="34" charset="-122"/>
                <a:ea typeface="微软雅黑" panose="020B0503020204020204" pitchFamily="34" charset="-122"/>
              </a:rPr>
              <a:t>应答信号；现在：先</a:t>
            </a:r>
            <a:r>
              <a:rPr lang="en-US" altLang="zh-CN" sz="1800">
                <a:latin typeface="微软雅黑" panose="020B0503020204020204" pitchFamily="34" charset="-122"/>
                <a:ea typeface="微软雅黑" panose="020B0503020204020204" pitchFamily="34" charset="-122"/>
              </a:rPr>
              <a:t>Cache</a:t>
            </a:r>
            <a:r>
              <a:rPr lang="zh-CN" altLang="en-US" sz="1800" dirty="0">
                <a:latin typeface="微软雅黑" panose="020B0503020204020204" pitchFamily="34" charset="-122"/>
                <a:ea typeface="微软雅黑" panose="020B0503020204020204" pitchFamily="34" charset="-122"/>
              </a:rPr>
              <a:t>后</a:t>
            </a:r>
            <a:r>
              <a:rPr lang="en-US" altLang="zh-CN" sz="1800">
                <a:latin typeface="微软雅黑" panose="020B0503020204020204" pitchFamily="34" charset="-122"/>
                <a:ea typeface="微软雅黑" panose="020B0503020204020204" pitchFamily="34" charset="-122"/>
              </a:rPr>
              <a:t>MM</a:t>
            </a:r>
            <a:r>
              <a:rPr lang="zh-CN" altLang="en-US" sz="1800" dirty="0">
                <a:latin typeface="微软雅黑" panose="020B0503020204020204" pitchFamily="34" charset="-122"/>
                <a:ea typeface="微软雅黑" panose="020B0503020204020204" pitchFamily="34" charset="-122"/>
              </a:rPr>
              <a:t>，“同步”方式，无需应答信号。</a:t>
            </a:r>
            <a:endParaRPr lang="en-US" altLang="zh-CN" sz="1800">
              <a:latin typeface="微软雅黑" panose="020B0503020204020204" pitchFamily="34" charset="-122"/>
              <a:ea typeface="微软雅黑" panose="020B0503020204020204" pitchFamily="34" charset="-122"/>
            </a:endParaRPr>
          </a:p>
        </p:txBody>
      </p:sp>
      <p:sp>
        <p:nvSpPr>
          <p:cNvPr id="398347" name="文本框 398346"/>
          <p:cNvSpPr txBox="1"/>
          <p:nvPr/>
        </p:nvSpPr>
        <p:spPr>
          <a:xfrm>
            <a:off x="4784725" y="5454650"/>
            <a:ext cx="4257675" cy="1333500"/>
          </a:xfrm>
          <a:prstGeom prst="rect">
            <a:avLst/>
          </a:prstGeom>
          <a:solidFill>
            <a:schemeClr val="bg1"/>
          </a:solidFill>
          <a:ln w="50800">
            <a:noFill/>
          </a:ln>
        </p:spPr>
        <p:txBody>
          <a:bodyPr anchor="t" anchorCtr="0">
            <a:spAutoFit/>
          </a:bodyPr>
          <a:p>
            <a:pPr eaLnBrk="0" hangingPunct="0">
              <a:spcBef>
                <a:spcPct val="10000"/>
              </a:spcBef>
            </a:pPr>
            <a:r>
              <a:rPr lang="zh-CN" altLang="en-US" sz="1900" dirty="0">
                <a:solidFill>
                  <a:schemeClr val="accent1"/>
                </a:solidFill>
                <a:latin typeface="微软雅黑" panose="020B0503020204020204" pitchFamily="34" charset="-122"/>
                <a:ea typeface="微软雅黑" panose="020B0503020204020204" pitchFamily="34" charset="-122"/>
              </a:rPr>
              <a:t>问题：</a:t>
            </a:r>
            <a:r>
              <a:rPr lang="zh-CN" altLang="en-US" sz="1900" dirty="0">
                <a:solidFill>
                  <a:srgbClr val="006600"/>
                </a:solidFill>
                <a:latin typeface="微软雅黑" panose="020B0503020204020204" pitchFamily="34" charset="-122"/>
                <a:ea typeface="微软雅黑" panose="020B0503020204020204" pitchFamily="34" charset="-122"/>
              </a:rPr>
              <a:t>时钟周期的宽度如何确定？</a:t>
            </a:r>
            <a:endParaRPr lang="zh-CN" altLang="en-US" sz="1900" dirty="0">
              <a:solidFill>
                <a:srgbClr val="006600"/>
              </a:solidFill>
              <a:latin typeface="微软雅黑" panose="020B0503020204020204" pitchFamily="34" charset="-122"/>
              <a:ea typeface="微软雅黑" panose="020B0503020204020204" pitchFamily="34" charset="-122"/>
            </a:endParaRPr>
          </a:p>
          <a:p>
            <a:pPr eaLnBrk="0" hangingPunct="0">
              <a:spcBef>
                <a:spcPct val="10000"/>
              </a:spcBef>
            </a:pPr>
            <a:r>
              <a:rPr lang="zh-CN" altLang="en-US" sz="1900" dirty="0">
                <a:solidFill>
                  <a:srgbClr val="006600"/>
                </a:solidFill>
                <a:latin typeface="微软雅黑" panose="020B0503020204020204" pitchFamily="34" charset="-122"/>
                <a:ea typeface="微软雅黑" panose="020B0503020204020204" pitchFamily="34" charset="-122"/>
              </a:rPr>
              <a:t>以上四种操作各需要几个时钟周期？</a:t>
            </a:r>
            <a:endParaRPr lang="zh-CN" altLang="en-US" sz="1900" dirty="0">
              <a:solidFill>
                <a:srgbClr val="006600"/>
              </a:solidFill>
              <a:latin typeface="微软雅黑" panose="020B0503020204020204" pitchFamily="34" charset="-122"/>
              <a:ea typeface="微软雅黑" panose="020B0503020204020204" pitchFamily="34" charset="-122"/>
            </a:endParaRPr>
          </a:p>
          <a:p>
            <a:pPr eaLnBrk="0" hangingPunct="0">
              <a:spcBef>
                <a:spcPct val="10000"/>
              </a:spcBef>
            </a:pPr>
            <a:r>
              <a:rPr lang="zh-CN" altLang="en-US" sz="1900" dirty="0">
                <a:solidFill>
                  <a:srgbClr val="006600"/>
                </a:solidFill>
                <a:latin typeface="微软雅黑" panose="020B0503020204020204" pitchFamily="34" charset="-122"/>
                <a:ea typeface="微软雅黑" panose="020B0503020204020204" pitchFamily="34" charset="-122"/>
              </a:rPr>
              <a:t>取指阶段的操作与时序控制信号？</a:t>
            </a:r>
            <a:endParaRPr lang="zh-CN" altLang="en-US" sz="1900" dirty="0">
              <a:solidFill>
                <a:srgbClr val="006600"/>
              </a:solidFill>
              <a:latin typeface="微软雅黑" panose="020B0503020204020204" pitchFamily="34" charset="-122"/>
              <a:ea typeface="微软雅黑" panose="020B0503020204020204" pitchFamily="34" charset="-122"/>
            </a:endParaRPr>
          </a:p>
          <a:p>
            <a:pPr eaLnBrk="0" hangingPunct="0">
              <a:spcBef>
                <a:spcPct val="10000"/>
              </a:spcBef>
            </a:pPr>
            <a:r>
              <a:rPr lang="en-US" altLang="zh-CN" sz="1900">
                <a:latin typeface="微软雅黑" panose="020B0503020204020204" pitchFamily="34" charset="-122"/>
                <a:ea typeface="微软雅黑" panose="020B0503020204020204" pitchFamily="34" charset="-122"/>
              </a:rPr>
              <a:t>IR </a:t>
            </a:r>
            <a:r>
              <a:rPr lang="en-US" altLang="zh-CN">
                <a:latin typeface="微软雅黑" panose="020B0503020204020204" pitchFamily="34" charset="-122"/>
                <a:ea typeface="微软雅黑" panose="020B0503020204020204" pitchFamily="34" charset="-122"/>
              </a:rPr>
              <a:t>←M[PC]</a:t>
            </a:r>
            <a:r>
              <a:rPr lang="zh-CN" altLang="en-US" dirty="0">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PC ←PC+“1”</a:t>
            </a:r>
            <a:endParaRPr lang="en-US" altLang="zh-CN">
              <a:latin typeface="微软雅黑" panose="020B0503020204020204" pitchFamily="34" charset="-122"/>
              <a:ea typeface="微软雅黑" panose="020B0503020204020204" pitchFamily="34" charset="-122"/>
            </a:endParaRPr>
          </a:p>
        </p:txBody>
      </p:sp>
      <p:sp>
        <p:nvSpPr>
          <p:cNvPr id="398348" name="文本框 398347"/>
          <p:cNvSpPr txBox="1"/>
          <p:nvPr/>
        </p:nvSpPr>
        <p:spPr>
          <a:xfrm>
            <a:off x="3698875" y="981075"/>
            <a:ext cx="1047750" cy="366713"/>
          </a:xfrm>
          <a:prstGeom prst="rect">
            <a:avLst/>
          </a:prstGeom>
          <a:noFill/>
          <a:ln w="50800">
            <a:noFill/>
          </a:ln>
        </p:spPr>
        <p:txBody>
          <a:bodyPr anchor="t" anchorCtr="0">
            <a:spAutoFit/>
          </a:bodyPr>
          <a:p>
            <a:pPr eaLnBrk="0" hangingPunct="0">
              <a:spcBef>
                <a:spcPct val="50000"/>
              </a:spcBef>
            </a:pPr>
            <a:r>
              <a:rPr lang="en-US" altLang="zh-CN" sz="1800">
                <a:latin typeface="Times New Roman" panose="02020603050405020304" pitchFamily="18" charset="0"/>
                <a:ea typeface="宋体" panose="02010600030101010101" pitchFamily="2" charset="-122"/>
              </a:rPr>
              <a:t>1Cycle?</a:t>
            </a:r>
            <a:endParaRPr lang="en-US" altLang="zh-CN" sz="1800">
              <a:latin typeface="Times New Roman" panose="02020603050405020304" pitchFamily="18" charset="0"/>
              <a:ea typeface="宋体" panose="02010600030101010101" pitchFamily="2" charset="-122"/>
            </a:endParaRPr>
          </a:p>
        </p:txBody>
      </p:sp>
      <p:sp>
        <p:nvSpPr>
          <p:cNvPr id="398349" name="文本框 398348"/>
          <p:cNvSpPr txBox="1"/>
          <p:nvPr/>
        </p:nvSpPr>
        <p:spPr>
          <a:xfrm>
            <a:off x="2963863" y="1636713"/>
            <a:ext cx="1047750" cy="366712"/>
          </a:xfrm>
          <a:prstGeom prst="rect">
            <a:avLst/>
          </a:prstGeom>
          <a:noFill/>
          <a:ln w="50800">
            <a:noFill/>
          </a:ln>
        </p:spPr>
        <p:txBody>
          <a:bodyPr anchor="t" anchorCtr="0">
            <a:spAutoFit/>
          </a:bodyPr>
          <a:p>
            <a:pPr eaLnBrk="0" hangingPunct="0">
              <a:spcBef>
                <a:spcPct val="50000"/>
              </a:spcBef>
            </a:pPr>
            <a:r>
              <a:rPr lang="en-US" altLang="zh-CN" sz="1800">
                <a:latin typeface="Times New Roman" panose="02020603050405020304" pitchFamily="18" charset="0"/>
                <a:ea typeface="宋体" panose="02010600030101010101" pitchFamily="2" charset="-122"/>
              </a:rPr>
              <a:t>3Cycles?</a:t>
            </a:r>
            <a:endParaRPr lang="en-US" altLang="zh-CN" sz="1800">
              <a:latin typeface="Times New Roman" panose="02020603050405020304" pitchFamily="18" charset="0"/>
              <a:ea typeface="宋体" panose="02010600030101010101" pitchFamily="2" charset="-122"/>
            </a:endParaRPr>
          </a:p>
        </p:txBody>
      </p:sp>
      <p:sp>
        <p:nvSpPr>
          <p:cNvPr id="398351" name="文本框 398350"/>
          <p:cNvSpPr txBox="1"/>
          <p:nvPr/>
        </p:nvSpPr>
        <p:spPr>
          <a:xfrm>
            <a:off x="2895600" y="3133725"/>
            <a:ext cx="1047750" cy="366713"/>
          </a:xfrm>
          <a:prstGeom prst="rect">
            <a:avLst/>
          </a:prstGeom>
          <a:noFill/>
          <a:ln w="50800">
            <a:noFill/>
          </a:ln>
        </p:spPr>
        <p:txBody>
          <a:bodyPr anchor="t" anchorCtr="0">
            <a:spAutoFit/>
          </a:bodyPr>
          <a:p>
            <a:pPr eaLnBrk="0" hangingPunct="0">
              <a:spcBef>
                <a:spcPct val="50000"/>
              </a:spcBef>
            </a:pPr>
            <a:r>
              <a:rPr lang="en-US" altLang="zh-CN" sz="1800">
                <a:latin typeface="Times New Roman" panose="02020603050405020304" pitchFamily="18" charset="0"/>
                <a:ea typeface="宋体" panose="02010600030101010101" pitchFamily="2" charset="-122"/>
              </a:rPr>
              <a:t>3Cycles?</a:t>
            </a:r>
            <a:endParaRPr lang="en-US" altLang="zh-CN" sz="1800">
              <a:latin typeface="Times New Roman" panose="02020603050405020304" pitchFamily="18" charset="0"/>
              <a:ea typeface="宋体" panose="02010600030101010101" pitchFamily="2" charset="-122"/>
            </a:endParaRPr>
          </a:p>
        </p:txBody>
      </p:sp>
      <p:sp>
        <p:nvSpPr>
          <p:cNvPr id="398352" name="文本框 398351"/>
          <p:cNvSpPr txBox="1"/>
          <p:nvPr/>
        </p:nvSpPr>
        <p:spPr>
          <a:xfrm>
            <a:off x="2651125" y="4721225"/>
            <a:ext cx="1047750" cy="366713"/>
          </a:xfrm>
          <a:prstGeom prst="rect">
            <a:avLst/>
          </a:prstGeom>
          <a:noFill/>
          <a:ln w="50800">
            <a:noFill/>
          </a:ln>
        </p:spPr>
        <p:txBody>
          <a:bodyPr anchor="t" anchorCtr="0">
            <a:spAutoFit/>
          </a:bodyPr>
          <a:p>
            <a:pPr eaLnBrk="0" hangingPunct="0">
              <a:spcBef>
                <a:spcPct val="50000"/>
              </a:spcBef>
            </a:pPr>
            <a:r>
              <a:rPr lang="en-US" altLang="zh-CN" sz="1800">
                <a:latin typeface="Times New Roman" panose="02020603050405020304" pitchFamily="18" charset="0"/>
                <a:ea typeface="宋体" panose="02010600030101010101" pitchFamily="2" charset="-122"/>
              </a:rPr>
              <a:t>3Cycles?</a:t>
            </a:r>
            <a:endParaRPr lang="en-US" altLang="zh-CN" sz="1800">
              <a:latin typeface="Times New Roman" panose="02020603050405020304" pitchFamily="18" charset="0"/>
              <a:ea typeface="宋体" panose="02010600030101010101" pitchFamily="2" charset="-122"/>
            </a:endParaRPr>
          </a:p>
        </p:txBody>
      </p:sp>
      <p:grpSp>
        <p:nvGrpSpPr>
          <p:cNvPr id="398355" name="组合 398354"/>
          <p:cNvGrpSpPr/>
          <p:nvPr/>
        </p:nvGrpSpPr>
        <p:grpSpPr>
          <a:xfrm>
            <a:off x="2413000" y="3732213"/>
            <a:ext cx="1471613" cy="2127250"/>
            <a:chOff x="1440" y="2143"/>
            <a:chExt cx="1071" cy="1044"/>
          </a:xfrm>
        </p:grpSpPr>
        <p:sp>
          <p:nvSpPr>
            <p:cNvPr id="36879" name="直接连接符 398352"/>
            <p:cNvSpPr/>
            <p:nvPr/>
          </p:nvSpPr>
          <p:spPr>
            <a:xfrm flipH="1" flipV="1">
              <a:off x="1440" y="2886"/>
              <a:ext cx="1014" cy="300"/>
            </a:xfrm>
            <a:prstGeom prst="line">
              <a:avLst/>
            </a:prstGeom>
            <a:ln w="50800" cap="flat" cmpd="sng">
              <a:solidFill>
                <a:srgbClr val="FE9AAB"/>
              </a:solidFill>
              <a:prstDash val="solid"/>
              <a:round/>
              <a:headEnd type="none" w="med" len="med"/>
              <a:tailEnd type="triangle" w="med" len="med"/>
            </a:ln>
          </p:spPr>
        </p:sp>
        <p:sp>
          <p:nvSpPr>
            <p:cNvPr id="36880" name="直接连接符 398353"/>
            <p:cNvSpPr/>
            <p:nvPr/>
          </p:nvSpPr>
          <p:spPr>
            <a:xfrm flipH="1" flipV="1">
              <a:off x="1897" y="2143"/>
              <a:ext cx="614" cy="1044"/>
            </a:xfrm>
            <a:prstGeom prst="line">
              <a:avLst/>
            </a:prstGeom>
            <a:ln w="50800" cap="flat" cmpd="sng">
              <a:solidFill>
                <a:srgbClr val="FE9AAB"/>
              </a:solidFill>
              <a:prstDash val="solid"/>
              <a:round/>
              <a:headEnd type="none" w="med" len="med"/>
              <a:tailEnd type="triangle" w="med" len="med"/>
            </a:ln>
          </p:spPr>
        </p:sp>
      </p:grpSp>
      <p:sp>
        <p:nvSpPr>
          <p:cNvPr id="398356" name="文本框 398355"/>
          <p:cNvSpPr txBox="1"/>
          <p:nvPr/>
        </p:nvSpPr>
        <p:spPr>
          <a:xfrm>
            <a:off x="4165600" y="3695700"/>
            <a:ext cx="2095500" cy="641350"/>
          </a:xfrm>
          <a:prstGeom prst="rect">
            <a:avLst/>
          </a:prstGeom>
          <a:noFill/>
          <a:ln w="50800">
            <a:noFill/>
          </a:ln>
        </p:spPr>
        <p:txBody>
          <a:bodyPr anchor="t" anchorCtr="0">
            <a:spAutoFit/>
          </a:bodyPr>
          <a:p>
            <a:pPr eaLnBrk="0" hangingPunct="0">
              <a:spcBef>
                <a:spcPct val="50000"/>
              </a:spcBef>
            </a:pPr>
            <a:r>
              <a:rPr lang="en-US" altLang="zh-CN" sz="1800">
                <a:latin typeface="微软雅黑" panose="020B0503020204020204" pitchFamily="34" charset="-122"/>
                <a:ea typeface="微软雅黑" panose="020B0503020204020204" pitchFamily="34" charset="-122"/>
              </a:rPr>
              <a:t>Read/Write</a:t>
            </a:r>
            <a:r>
              <a:rPr lang="zh-CN" altLang="en-US" sz="1800" dirty="0">
                <a:latin typeface="微软雅黑" panose="020B0503020204020204" pitchFamily="34" charset="-122"/>
                <a:ea typeface="微软雅黑" panose="020B0503020204020204" pitchFamily="34" charset="-122"/>
              </a:rPr>
              <a:t>时间更长，故以此为准</a:t>
            </a:r>
            <a:endParaRPr lang="zh-CN" altLang="en-US" sz="1800" dirty="0">
              <a:latin typeface="微软雅黑" panose="020B0503020204020204" pitchFamily="34" charset="-122"/>
              <a:ea typeface="微软雅黑" panose="020B0503020204020204" pitchFamily="34" charset="-122"/>
            </a:endParaRPr>
          </a:p>
        </p:txBody>
      </p:sp>
      <p:sp>
        <p:nvSpPr>
          <p:cNvPr id="36882" name="矩形 398356"/>
          <p:cNvSpPr/>
          <p:nvPr/>
        </p:nvSpPr>
        <p:spPr>
          <a:xfrm>
            <a:off x="6680200" y="2362200"/>
            <a:ext cx="101600" cy="88900"/>
          </a:xfrm>
          <a:prstGeom prst="rect">
            <a:avLst/>
          </a:prstGeom>
          <a:solidFill>
            <a:schemeClr val="bg1"/>
          </a:solidFill>
          <a:ln w="50800">
            <a:noFill/>
          </a:ln>
        </p:spPr>
        <p:txBody>
          <a:bodyPr anchor="t" anchorCtr="0"/>
          <a:p>
            <a:pPr eaLnBrk="0" hangingPunct="0"/>
            <a:endParaRPr lang="zh-CN" altLang="en-US">
              <a:latin typeface="Arial" panose="020B0604020202020204" pitchFamily="34" charset="0"/>
            </a:endParaRPr>
          </a:p>
        </p:txBody>
      </p:sp>
      <p:sp>
        <p:nvSpPr>
          <p:cNvPr id="36883" name="矩形 398357"/>
          <p:cNvSpPr/>
          <p:nvPr/>
        </p:nvSpPr>
        <p:spPr>
          <a:xfrm>
            <a:off x="6681788" y="2516188"/>
            <a:ext cx="101600" cy="88900"/>
          </a:xfrm>
          <a:prstGeom prst="rect">
            <a:avLst/>
          </a:prstGeom>
          <a:solidFill>
            <a:schemeClr val="bg1"/>
          </a:solidFill>
          <a:ln w="50800">
            <a:noFill/>
          </a:ln>
        </p:spPr>
        <p:txBody>
          <a:bodyPr anchor="t" anchorCtr="0"/>
          <a:p>
            <a:pPr eaLnBrk="0" hangingPunct="0"/>
            <a:endParaRPr lang="zh-CN" altLang="en-US">
              <a:latin typeface="Arial" panose="020B0604020202020204" pitchFamily="34" charset="0"/>
            </a:endParaRPr>
          </a:p>
        </p:txBody>
      </p:sp>
      <p:sp>
        <p:nvSpPr>
          <p:cNvPr id="36884" name="矩形 398359"/>
          <p:cNvSpPr/>
          <p:nvPr/>
        </p:nvSpPr>
        <p:spPr>
          <a:xfrm>
            <a:off x="6985000" y="1892300"/>
            <a:ext cx="977900" cy="406400"/>
          </a:xfrm>
          <a:prstGeom prst="rect">
            <a:avLst/>
          </a:prstGeom>
          <a:solidFill>
            <a:schemeClr val="accent1">
              <a:alpha val="13000"/>
            </a:schemeClr>
          </a:solidFill>
          <a:ln w="50800">
            <a:noFill/>
          </a:ln>
        </p:spPr>
        <p:txBody>
          <a:bodyPr anchor="t" anchorCtr="0"/>
          <a:p>
            <a:pPr eaLnBrk="0" hangingPunct="0"/>
            <a:endParaRPr lang="zh-CN" altLang="en-US">
              <a:latin typeface="Arial" panose="020B0604020202020204" pitchFamily="34" charset="0"/>
            </a:endParaRPr>
          </a:p>
        </p:txBody>
      </p:sp>
      <p:sp>
        <p:nvSpPr>
          <p:cNvPr id="36885" name="矩形 398360"/>
          <p:cNvSpPr/>
          <p:nvPr/>
        </p:nvSpPr>
        <p:spPr>
          <a:xfrm>
            <a:off x="6999288" y="3684588"/>
            <a:ext cx="977900" cy="406400"/>
          </a:xfrm>
          <a:prstGeom prst="rect">
            <a:avLst/>
          </a:prstGeom>
          <a:solidFill>
            <a:schemeClr val="accent1">
              <a:alpha val="13000"/>
            </a:schemeClr>
          </a:solidFill>
          <a:ln w="50800">
            <a:noFill/>
          </a:ln>
        </p:spPr>
        <p:txBody>
          <a:bodyPr anchor="t" anchorCtr="0"/>
          <a:p>
            <a:pPr eaLnBrk="0" hangingPunct="0"/>
            <a:endParaRPr lang="zh-CN" altLang="en-US">
              <a:latin typeface="Arial" panose="020B0604020202020204" pitchFamily="34" charset="0"/>
            </a:endParaRPr>
          </a:p>
        </p:txBody>
      </p:sp>
      <p:sp>
        <p:nvSpPr>
          <p:cNvPr id="36886" name="右大括号 398361"/>
          <p:cNvSpPr/>
          <p:nvPr/>
        </p:nvSpPr>
        <p:spPr>
          <a:xfrm>
            <a:off x="8064500" y="355600"/>
            <a:ext cx="177800" cy="1016000"/>
          </a:xfrm>
          <a:prstGeom prst="rightBrace">
            <a:avLst>
              <a:gd name="adj1" fmla="val 47380"/>
              <a:gd name="adj2" fmla="val 50000"/>
            </a:avLst>
          </a:prstGeom>
          <a:noFill/>
          <a:ln w="19050" cap="flat" cmpd="sng">
            <a:solidFill>
              <a:srgbClr val="0066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6887" name="文本框 398362"/>
          <p:cNvSpPr txBox="1"/>
          <p:nvPr/>
        </p:nvSpPr>
        <p:spPr>
          <a:xfrm>
            <a:off x="8178800" y="177800"/>
            <a:ext cx="546100" cy="1465263"/>
          </a:xfrm>
          <a:prstGeom prst="rect">
            <a:avLst/>
          </a:prstGeom>
          <a:noFill/>
          <a:ln w="50800">
            <a:noFill/>
          </a:ln>
        </p:spPr>
        <p:txBody>
          <a:bodyPr anchor="t" anchorCtr="0">
            <a:spAutoFit/>
          </a:bodyPr>
          <a:p>
            <a:pPr eaLnBrk="0" hangingPunct="0">
              <a:spcBef>
                <a:spcPct val="50000"/>
              </a:spcBef>
            </a:pPr>
            <a:r>
              <a:rPr lang="zh-CN" altLang="en-US" sz="1800" dirty="0">
                <a:latin typeface="微软雅黑" panose="020B0503020204020204" pitchFamily="34" charset="-122"/>
                <a:ea typeface="微软雅黑" panose="020B0503020204020204" pitchFamily="34" charset="-122"/>
              </a:rPr>
              <a:t>通用寄存器</a:t>
            </a:r>
            <a:endParaRPr lang="zh-CN" altLang="en-US" sz="1800" dirty="0">
              <a:latin typeface="微软雅黑" panose="020B0503020204020204" pitchFamily="34" charset="-122"/>
              <a:ea typeface="微软雅黑" panose="020B0503020204020204" pitchFamily="34" charset="-122"/>
            </a:endParaRPr>
          </a:p>
        </p:txBody>
      </p:sp>
      <p:sp>
        <p:nvSpPr>
          <p:cNvPr id="398364" name="文本框 398363"/>
          <p:cNvSpPr txBox="1"/>
          <p:nvPr/>
        </p:nvSpPr>
        <p:spPr>
          <a:xfrm>
            <a:off x="3798888" y="101600"/>
            <a:ext cx="1366837" cy="701675"/>
          </a:xfrm>
          <a:prstGeom prst="rect">
            <a:avLst/>
          </a:prstGeom>
          <a:noFill/>
          <a:ln w="50800">
            <a:noFill/>
          </a:ln>
        </p:spPr>
        <p:txBody>
          <a:bodyPr anchor="t" anchorCtr="0">
            <a:spAutoFit/>
          </a:bodyPr>
          <a:p>
            <a:pPr eaLnBrk="0" hangingPunct="0">
              <a:spcBef>
                <a:spcPct val="50000"/>
              </a:spcBef>
            </a:pPr>
            <a:r>
              <a:rPr lang="zh-CN" altLang="en-US" sz="2000" dirty="0">
                <a:solidFill>
                  <a:srgbClr val="006600"/>
                </a:solidFill>
                <a:latin typeface="黑体" panose="02010609060101010101" pitchFamily="49" charset="-122"/>
                <a:ea typeface="黑体" panose="02010609060101010101" pitchFamily="49" charset="-122"/>
              </a:rPr>
              <a:t>总线连接方式！</a:t>
            </a:r>
            <a:endParaRPr lang="zh-CN" altLang="en-US" sz="2000" dirty="0">
              <a:solidFill>
                <a:srgbClr val="006600"/>
              </a:solidFill>
              <a:latin typeface="黑体" panose="02010609060101010101" pitchFamily="49" charset="-122"/>
              <a:ea typeface="黑体" panose="02010609060101010101" pitchFamily="49" charset="-122"/>
            </a:endParaRPr>
          </a:p>
        </p:txBody>
      </p:sp>
      <p:sp>
        <p:nvSpPr>
          <p:cNvPr id="36889" name="文本框 398364"/>
          <p:cNvSpPr txBox="1"/>
          <p:nvPr/>
        </p:nvSpPr>
        <p:spPr>
          <a:xfrm>
            <a:off x="6286500" y="4313238"/>
            <a:ext cx="1063625" cy="336550"/>
          </a:xfrm>
          <a:prstGeom prst="rect">
            <a:avLst/>
          </a:prstGeom>
          <a:solidFill>
            <a:schemeClr val="bg1"/>
          </a:solidFill>
          <a:ln w="50800">
            <a:noFill/>
          </a:ln>
        </p:spPr>
        <p:txBody>
          <a:bodyPr anchor="t" anchorCtr="0">
            <a:spAutoFit/>
          </a:bodyPr>
          <a:p>
            <a:pPr eaLnBrk="0" hangingPunct="0">
              <a:spcBef>
                <a:spcPct val="50000"/>
              </a:spcBef>
            </a:pPr>
            <a:r>
              <a:rPr lang="zh-CN" altLang="en-US" dirty="0">
                <a:latin typeface="黑体" panose="02010609060101010101" pitchFamily="49" charset="-122"/>
                <a:ea typeface="黑体" panose="02010609060101010101" pitchFamily="49" charset="-122"/>
              </a:rPr>
              <a:t>内总线</a:t>
            </a:r>
            <a:endParaRPr lang="zh-CN" altLang="en-US" dirty="0">
              <a:latin typeface="黑体" panose="02010609060101010101" pitchFamily="49" charset="-122"/>
              <a:ea typeface="黑体" panose="02010609060101010101" pitchFamily="49" charset="-122"/>
            </a:endParaRPr>
          </a:p>
        </p:txBody>
      </p:sp>
      <p:sp>
        <p:nvSpPr>
          <p:cNvPr id="398367" name="文本框 398366"/>
          <p:cNvSpPr txBox="1"/>
          <p:nvPr/>
        </p:nvSpPr>
        <p:spPr>
          <a:xfrm>
            <a:off x="6257925" y="4270375"/>
            <a:ext cx="1063625" cy="366713"/>
          </a:xfrm>
          <a:prstGeom prst="rect">
            <a:avLst/>
          </a:prstGeom>
          <a:solidFill>
            <a:schemeClr val="bg1"/>
          </a:solidFill>
          <a:ln w="50800">
            <a:noFill/>
          </a:ln>
        </p:spPr>
        <p:txBody>
          <a:bodyPr>
            <a:spAutoFit/>
          </a:bodyPr>
          <a:p>
            <a:pPr marR="0" defTabSz="914400" eaLnBrk="0" hangingPunct="0">
              <a:spcBef>
                <a:spcPct val="50000"/>
              </a:spcBef>
              <a:buClrTx/>
              <a:buSzTx/>
              <a:buFontTx/>
            </a:pPr>
            <a:r>
              <a:rPr kumimoji="0" lang="zh-CN" altLang="en-US" sz="1800" kern="1200" cap="none" spc="0" normalizeH="0" baseline="0" noProof="1" dirty="0">
                <a:solidFill>
                  <a:schemeClr val="accent1"/>
                </a:solidFill>
                <a:effectLst>
                  <a:outerShdw blurRad="38100" dist="38100" dir="2700000">
                    <a:srgbClr val="C0C0C0"/>
                  </a:outerShdw>
                </a:effectLst>
                <a:latin typeface="黑体" panose="02010609060101010101" pitchFamily="49" charset="-122"/>
                <a:ea typeface="黑体" panose="02010609060101010101" pitchFamily="49" charset="-122"/>
                <a:cs typeface="+mn-cs"/>
              </a:rPr>
              <a:t>内总线</a:t>
            </a:r>
            <a:endParaRPr kumimoji="0" lang="zh-CN" altLang="en-US" sz="1800" kern="1200" cap="none" spc="0" normalizeH="0" baseline="0" noProof="1" dirty="0">
              <a:solidFill>
                <a:schemeClr val="accent1"/>
              </a:solidFill>
              <a:effectLst>
                <a:outerShdw blurRad="38100" dist="38100" dir="2700000">
                  <a:srgbClr val="C0C0C0"/>
                </a:outerShdw>
              </a:effectLst>
              <a:latin typeface="黑体" panose="02010609060101010101" pitchFamily="49" charset="-122"/>
              <a:ea typeface="黑体" panose="02010609060101010101" pitchFamily="49" charset="-122"/>
              <a:cs typeface="+mn-cs"/>
            </a:endParaRPr>
          </a:p>
        </p:txBody>
      </p:sp>
      <p:sp>
        <p:nvSpPr>
          <p:cNvPr id="398370" name="文本框 398369"/>
          <p:cNvSpPr txBox="1"/>
          <p:nvPr/>
        </p:nvSpPr>
        <p:spPr>
          <a:xfrm>
            <a:off x="3341688" y="2266950"/>
            <a:ext cx="1006475" cy="366713"/>
          </a:xfrm>
          <a:prstGeom prst="rect">
            <a:avLst/>
          </a:prstGeom>
          <a:solidFill>
            <a:schemeClr val="bg1"/>
          </a:solidFill>
          <a:ln w="50800">
            <a:noFill/>
          </a:ln>
        </p:spPr>
        <p:txBody>
          <a:bodyPr>
            <a:spAutoFit/>
          </a:bodyPr>
          <a:p>
            <a:pPr marR="0" defTabSz="914400" eaLnBrk="0" hangingPunct="0">
              <a:spcBef>
                <a:spcPct val="50000"/>
              </a:spcBef>
              <a:buClrTx/>
              <a:buSzTx/>
              <a:buFontTx/>
            </a:pPr>
            <a:r>
              <a:rPr kumimoji="0" lang="zh-CN" altLang="en-US" sz="1800" kern="1200" cap="none" spc="0" normalizeH="0" baseline="0" noProof="1" dirty="0">
                <a:solidFill>
                  <a:schemeClr val="accent1"/>
                </a:solidFill>
                <a:effectLst>
                  <a:outerShdw blurRad="38100" dist="38100" dir="2700000">
                    <a:srgbClr val="C0C0C0"/>
                  </a:outerShdw>
                </a:effectLst>
                <a:latin typeface="微软雅黑" panose="020B0503020204020204" pitchFamily="34" charset="-122"/>
                <a:ea typeface="微软雅黑" panose="020B0503020204020204" pitchFamily="34" charset="-122"/>
                <a:cs typeface="+mn-cs"/>
              </a:rPr>
              <a:t>外总线</a:t>
            </a:r>
            <a:endParaRPr kumimoji="0" lang="zh-CN" altLang="en-US" sz="1800" kern="1200" cap="none" spc="0" normalizeH="0" baseline="0" noProof="1" dirty="0">
              <a:solidFill>
                <a:schemeClr val="accent1"/>
              </a:solidFill>
              <a:effectLst>
                <a:outerShdw blurRad="38100" dist="38100" dir="2700000">
                  <a:srgbClr val="C0C0C0"/>
                </a:outerShdw>
              </a:effectLst>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8364"/>
                                        </p:tgtEl>
                                        <p:attrNameLst>
                                          <p:attrName>style.visibility</p:attrName>
                                        </p:attrNameLst>
                                      </p:cBhvr>
                                      <p:to>
                                        <p:strVal val="visible"/>
                                      </p:to>
                                    </p:set>
                                    <p:animEffect transition="in" filter="blinds(horizontal)">
                                      <p:cBhvr>
                                        <p:cTn id="7" dur="500"/>
                                        <p:tgtEl>
                                          <p:spTgt spid="3983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8339">
                                            <p:txEl>
                                              <p:charRg st="31" end="42"/>
                                            </p:txEl>
                                          </p:spTgt>
                                        </p:tgtEl>
                                        <p:attrNameLst>
                                          <p:attrName>style.visibility</p:attrName>
                                        </p:attrNameLst>
                                      </p:cBhvr>
                                      <p:to>
                                        <p:strVal val="visible"/>
                                      </p:to>
                                    </p:set>
                                    <p:animEffect transition="in" filter="blinds(horizontal)">
                                      <p:cBhvr>
                                        <p:cTn id="12" dur="500"/>
                                        <p:tgtEl>
                                          <p:spTgt spid="398339">
                                            <p:txEl>
                                              <p:charRg st="31"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8339">
                                            <p:txEl>
                                              <p:charRg st="52" end="62"/>
                                            </p:txEl>
                                          </p:spTgt>
                                        </p:tgtEl>
                                        <p:attrNameLst>
                                          <p:attrName>style.visibility</p:attrName>
                                        </p:attrNameLst>
                                      </p:cBhvr>
                                      <p:to>
                                        <p:strVal val="visible"/>
                                      </p:to>
                                    </p:set>
                                    <p:animEffect transition="in" filter="blinds(horizontal)">
                                      <p:cBhvr>
                                        <p:cTn id="17" dur="500"/>
                                        <p:tgtEl>
                                          <p:spTgt spid="398339">
                                            <p:txEl>
                                              <p:charRg st="52" end="6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398339">
                                            <p:txEl>
                                              <p:charRg st="62" end="76"/>
                                            </p:txEl>
                                          </p:spTgt>
                                        </p:tgtEl>
                                        <p:attrNameLst>
                                          <p:attrName>style.visibility</p:attrName>
                                        </p:attrNameLst>
                                      </p:cBhvr>
                                      <p:to>
                                        <p:strVal val="visible"/>
                                      </p:to>
                                    </p:set>
                                    <p:animEffect transition="in" filter="blinds(horizontal)">
                                      <p:cBhvr>
                                        <p:cTn id="20" dur="500"/>
                                        <p:tgtEl>
                                          <p:spTgt spid="398339">
                                            <p:txEl>
                                              <p:charRg st="62" end="76"/>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98339">
                                            <p:txEl>
                                              <p:charRg st="76" end="86"/>
                                            </p:txEl>
                                          </p:spTgt>
                                        </p:tgtEl>
                                        <p:attrNameLst>
                                          <p:attrName>style.visibility</p:attrName>
                                        </p:attrNameLst>
                                      </p:cBhvr>
                                      <p:to>
                                        <p:strVal val="visible"/>
                                      </p:to>
                                    </p:set>
                                    <p:animEffect transition="in" filter="blinds(horizontal)">
                                      <p:cBhvr>
                                        <p:cTn id="23" dur="500"/>
                                        <p:tgtEl>
                                          <p:spTgt spid="398339">
                                            <p:txEl>
                                              <p:charRg st="76" end="8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98339">
                                            <p:txEl>
                                              <p:charRg st="93" end="105"/>
                                            </p:txEl>
                                          </p:spTgt>
                                        </p:tgtEl>
                                        <p:attrNameLst>
                                          <p:attrName>style.visibility</p:attrName>
                                        </p:attrNameLst>
                                      </p:cBhvr>
                                      <p:to>
                                        <p:strVal val="visible"/>
                                      </p:to>
                                    </p:set>
                                    <p:animEffect transition="in" filter="blinds(horizontal)">
                                      <p:cBhvr>
                                        <p:cTn id="28" dur="500"/>
                                        <p:tgtEl>
                                          <p:spTgt spid="398339">
                                            <p:txEl>
                                              <p:charRg st="93" end="105"/>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398339">
                                            <p:txEl>
                                              <p:charRg st="105" end="124"/>
                                            </p:txEl>
                                          </p:spTgt>
                                        </p:tgtEl>
                                        <p:attrNameLst>
                                          <p:attrName>style.visibility</p:attrName>
                                        </p:attrNameLst>
                                      </p:cBhvr>
                                      <p:to>
                                        <p:strVal val="visible"/>
                                      </p:to>
                                    </p:set>
                                    <p:animEffect transition="in" filter="blinds(horizontal)">
                                      <p:cBhvr>
                                        <p:cTn id="31" dur="500"/>
                                        <p:tgtEl>
                                          <p:spTgt spid="398339">
                                            <p:txEl>
                                              <p:charRg st="105" end="124"/>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98339">
                                            <p:txEl>
                                              <p:charRg st="124" end="137"/>
                                            </p:txEl>
                                          </p:spTgt>
                                        </p:tgtEl>
                                        <p:attrNameLst>
                                          <p:attrName>style.visibility</p:attrName>
                                        </p:attrNameLst>
                                      </p:cBhvr>
                                      <p:to>
                                        <p:strVal val="visible"/>
                                      </p:to>
                                    </p:set>
                                    <p:animEffect transition="in" filter="blinds(horizontal)">
                                      <p:cBhvr>
                                        <p:cTn id="34" dur="500"/>
                                        <p:tgtEl>
                                          <p:spTgt spid="398339">
                                            <p:txEl>
                                              <p:charRg st="124" end="13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98339">
                                            <p:txEl>
                                              <p:charRg st="143" end="155"/>
                                            </p:txEl>
                                          </p:spTgt>
                                        </p:tgtEl>
                                        <p:attrNameLst>
                                          <p:attrName>style.visibility</p:attrName>
                                        </p:attrNameLst>
                                      </p:cBhvr>
                                      <p:to>
                                        <p:strVal val="visible"/>
                                      </p:to>
                                    </p:set>
                                    <p:animEffect transition="in" filter="blinds(horizontal)">
                                      <p:cBhvr>
                                        <p:cTn id="39" dur="500"/>
                                        <p:tgtEl>
                                          <p:spTgt spid="398339">
                                            <p:txEl>
                                              <p:charRg st="143" end="155"/>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398339">
                                            <p:txEl>
                                              <p:charRg st="155" end="168"/>
                                            </p:txEl>
                                          </p:spTgt>
                                        </p:tgtEl>
                                        <p:attrNameLst>
                                          <p:attrName>style.visibility</p:attrName>
                                        </p:attrNameLst>
                                      </p:cBhvr>
                                      <p:to>
                                        <p:strVal val="visible"/>
                                      </p:to>
                                    </p:set>
                                    <p:animEffect transition="in" filter="blinds(horizontal)">
                                      <p:cBhvr>
                                        <p:cTn id="42" dur="500"/>
                                        <p:tgtEl>
                                          <p:spTgt spid="398339">
                                            <p:txEl>
                                              <p:charRg st="155" end="168"/>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398339">
                                            <p:txEl>
                                              <p:charRg st="168" end="180"/>
                                            </p:txEl>
                                          </p:spTgt>
                                        </p:tgtEl>
                                        <p:attrNameLst>
                                          <p:attrName>style.visibility</p:attrName>
                                        </p:attrNameLst>
                                      </p:cBhvr>
                                      <p:to>
                                        <p:strVal val="visible"/>
                                      </p:to>
                                    </p:set>
                                    <p:animEffect transition="in" filter="blinds(horizontal)">
                                      <p:cBhvr>
                                        <p:cTn id="45" dur="500"/>
                                        <p:tgtEl>
                                          <p:spTgt spid="398339">
                                            <p:txEl>
                                              <p:charRg st="168" end="18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98346"/>
                                        </p:tgtEl>
                                        <p:attrNameLst>
                                          <p:attrName>style.visibility</p:attrName>
                                        </p:attrNameLst>
                                      </p:cBhvr>
                                      <p:to>
                                        <p:strVal val="visible"/>
                                      </p:to>
                                    </p:set>
                                    <p:animEffect transition="in" filter="blinds(horizontal)">
                                      <p:cBhvr>
                                        <p:cTn id="50" dur="500"/>
                                        <p:tgtEl>
                                          <p:spTgt spid="398346"/>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98355"/>
                                        </p:tgtEl>
                                        <p:attrNameLst>
                                          <p:attrName>style.visibility</p:attrName>
                                        </p:attrNameLst>
                                      </p:cBhvr>
                                      <p:to>
                                        <p:strVal val="visible"/>
                                      </p:to>
                                    </p:set>
                                    <p:animEffect transition="in" filter="blinds(horizontal)">
                                      <p:cBhvr>
                                        <p:cTn id="55" dur="500"/>
                                        <p:tgtEl>
                                          <p:spTgt spid="39835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98347"/>
                                        </p:tgtEl>
                                        <p:attrNameLst>
                                          <p:attrName>style.visibility</p:attrName>
                                        </p:attrNameLst>
                                      </p:cBhvr>
                                      <p:to>
                                        <p:strVal val="visible"/>
                                      </p:to>
                                    </p:set>
                                    <p:animEffect transition="in" filter="blinds(horizontal)">
                                      <p:cBhvr>
                                        <p:cTn id="60" dur="500"/>
                                        <p:tgtEl>
                                          <p:spTgt spid="398347"/>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98356"/>
                                        </p:tgtEl>
                                        <p:attrNameLst>
                                          <p:attrName>style.visibility</p:attrName>
                                        </p:attrNameLst>
                                      </p:cBhvr>
                                      <p:to>
                                        <p:strVal val="visible"/>
                                      </p:to>
                                    </p:set>
                                    <p:animEffect transition="in" filter="blinds(horizontal)">
                                      <p:cBhvr>
                                        <p:cTn id="65" dur="500"/>
                                        <p:tgtEl>
                                          <p:spTgt spid="398356"/>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98348"/>
                                        </p:tgtEl>
                                        <p:attrNameLst>
                                          <p:attrName>style.visibility</p:attrName>
                                        </p:attrNameLst>
                                      </p:cBhvr>
                                      <p:to>
                                        <p:strVal val="visible"/>
                                      </p:to>
                                    </p:set>
                                    <p:animEffect transition="in" filter="blinds(horizontal)">
                                      <p:cBhvr>
                                        <p:cTn id="70" dur="500"/>
                                        <p:tgtEl>
                                          <p:spTgt spid="398348"/>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398349"/>
                                        </p:tgtEl>
                                        <p:attrNameLst>
                                          <p:attrName>style.visibility</p:attrName>
                                        </p:attrNameLst>
                                      </p:cBhvr>
                                      <p:to>
                                        <p:strVal val="visible"/>
                                      </p:to>
                                    </p:set>
                                    <p:animEffect transition="in" filter="blinds(horizontal)">
                                      <p:cBhvr>
                                        <p:cTn id="73" dur="500"/>
                                        <p:tgtEl>
                                          <p:spTgt spid="398349"/>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398351"/>
                                        </p:tgtEl>
                                        <p:attrNameLst>
                                          <p:attrName>style.visibility</p:attrName>
                                        </p:attrNameLst>
                                      </p:cBhvr>
                                      <p:to>
                                        <p:strVal val="visible"/>
                                      </p:to>
                                    </p:set>
                                    <p:animEffect transition="in" filter="blinds(horizontal)">
                                      <p:cBhvr>
                                        <p:cTn id="76" dur="500"/>
                                        <p:tgtEl>
                                          <p:spTgt spid="398351"/>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398352"/>
                                        </p:tgtEl>
                                        <p:attrNameLst>
                                          <p:attrName>style.visibility</p:attrName>
                                        </p:attrNameLst>
                                      </p:cBhvr>
                                      <p:to>
                                        <p:strVal val="visible"/>
                                      </p:to>
                                    </p:set>
                                    <p:animEffect transition="in" filter="blinds(horizontal)">
                                      <p:cBhvr>
                                        <p:cTn id="79" dur="500"/>
                                        <p:tgtEl>
                                          <p:spTgt spid="398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6" grpId="0" animBg="1"/>
      <p:bldP spid="398347" grpId="0" animBg="1"/>
      <p:bldP spid="398348" grpId="0"/>
      <p:bldP spid="398349" grpId="0"/>
      <p:bldP spid="398351" grpId="0"/>
      <p:bldP spid="398352" grpId="0"/>
      <p:bldP spid="398356" grpId="0"/>
      <p:bldP spid="39836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397313"/>
          <p:cNvSpPr>
            <a:spLocks noGrp="1"/>
          </p:cNvSpPr>
          <p:nvPr>
            <p:ph type="title"/>
          </p:nvPr>
        </p:nvSpPr>
        <p:spPr>
          <a:ln/>
        </p:spPr>
        <p:txBody>
          <a:bodyPr lIns="63500" tIns="25400" rIns="63500" bIns="25400" anchor="t" anchorCtr="0">
            <a:spAutoFit/>
          </a:bodyPr>
          <a:p>
            <a:pPr algn="l"/>
            <a:r>
              <a:rPr lang="zh-CN" altLang="en-US" dirty="0"/>
              <a:t>三总线数据通路</a:t>
            </a:r>
            <a:endParaRPr lang="zh-CN" altLang="en-US" dirty="0"/>
          </a:p>
        </p:txBody>
      </p:sp>
      <p:sp>
        <p:nvSpPr>
          <p:cNvPr id="397315" name="内容占位符 397314"/>
          <p:cNvSpPr>
            <a:spLocks noGrp="1"/>
          </p:cNvSpPr>
          <p:nvPr>
            <p:ph idx="1"/>
          </p:nvPr>
        </p:nvSpPr>
        <p:spPr>
          <a:xfrm>
            <a:off x="203200" y="750888"/>
            <a:ext cx="5027613" cy="4835525"/>
          </a:xfrm>
          <a:ln/>
        </p:spPr>
        <p:txBody>
          <a:bodyPr wrap="square" lIns="63500" tIns="25400" rIns="63500" bIns="25400" anchor="t" anchorCtr="0">
            <a:spAutoFit/>
          </a:bodyPr>
          <a:p>
            <a:r>
              <a:rPr lang="zh-CN" altLang="en-US" sz="2000" dirty="0">
                <a:latin typeface="微软雅黑" panose="020B0503020204020204" pitchFamily="34" charset="-122"/>
                <a:ea typeface="微软雅黑" panose="020B0503020204020204" pitchFamily="34" charset="-122"/>
              </a:rPr>
              <a:t>单总线中一个时钟内只允许传一个数据，因而指令执行效率很低</a:t>
            </a:r>
            <a:endParaRPr lang="zh-CN" altLang="en-US"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可采用多总线方式，同时在多个总线上传送不同数据，提高效率</a:t>
            </a:r>
            <a:endParaRPr lang="en-US" altLang="zh-CN" sz="200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例如：三总线数据通路</a:t>
            </a:r>
            <a:endParaRPr lang="zh-CN" alt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总线</a:t>
            </a:r>
            <a:r>
              <a:rPr lang="en-US" altLang="zh-CN" sz="200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分别传送两个源操作数，总线</a:t>
            </a:r>
            <a:r>
              <a:rPr lang="en-US" altLang="zh-CN" sz="200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传送结果</a:t>
            </a:r>
            <a:endParaRPr lang="zh-CN" altLang="en-US" sz="2000" dirty="0">
              <a:latin typeface="微软雅黑" panose="020B0503020204020204" pitchFamily="34" charset="-122"/>
              <a:ea typeface="微软雅黑" panose="020B0503020204020204" pitchFamily="34" charset="-122"/>
            </a:endParaRPr>
          </a:p>
          <a:p>
            <a:pPr lvl="1">
              <a:spcBef>
                <a:spcPct val="15000"/>
              </a:spcBef>
              <a:spcAft>
                <a:spcPct val="50000"/>
              </a:spcAft>
            </a:pPr>
            <a:r>
              <a:rPr lang="zh-CN" altLang="en-US" sz="2000" dirty="0">
                <a:latin typeface="微软雅黑" panose="020B0503020204020204" pitchFamily="34" charset="-122"/>
                <a:ea typeface="微软雅黑" panose="020B0503020204020204" pitchFamily="34" charset="-122"/>
              </a:rPr>
              <a:t>单总线中的暂存器</a:t>
            </a:r>
            <a:r>
              <a:rPr lang="en-US" altLang="zh-CN" sz="2000">
                <a:latin typeface="微软雅黑" panose="020B0503020204020204" pitchFamily="34" charset="-122"/>
                <a:ea typeface="微软雅黑" panose="020B0503020204020204" pitchFamily="34" charset="-122"/>
              </a:rPr>
              <a:t>Y</a:t>
            </a:r>
            <a:r>
              <a:rPr lang="zh-CN" altLang="en-US" sz="2000" dirty="0">
                <a:latin typeface="微软雅黑" panose="020B0503020204020204" pitchFamily="34" charset="-122"/>
                <a:ea typeface="微软雅黑" panose="020B0503020204020204" pitchFamily="34" charset="-122"/>
              </a:rPr>
              <a:t>和</a:t>
            </a:r>
            <a:r>
              <a:rPr lang="en-US" altLang="zh-CN" sz="2000">
                <a:latin typeface="微软雅黑" panose="020B0503020204020204" pitchFamily="34" charset="-122"/>
                <a:ea typeface="微软雅黑" panose="020B0503020204020204" pitchFamily="34" charset="-122"/>
              </a:rPr>
              <a:t>Z</a:t>
            </a:r>
            <a:r>
              <a:rPr lang="zh-CN" altLang="en-US" sz="2000" dirty="0">
                <a:latin typeface="微软雅黑" panose="020B0503020204020204" pitchFamily="34" charset="-122"/>
                <a:ea typeface="微软雅黑" panose="020B0503020204020204" pitchFamily="34" charset="-122"/>
              </a:rPr>
              <a:t>在此可取消，</a:t>
            </a:r>
            <a:r>
              <a:rPr lang="en-US" altLang="zh-CN" sz="2000">
                <a:latin typeface="微软雅黑" panose="020B0503020204020204" pitchFamily="34" charset="-122"/>
                <a:ea typeface="微软雅黑" panose="020B0503020204020204" pitchFamily="34" charset="-122"/>
              </a:rPr>
              <a:t>Why</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采用双口通用寄存器组</a:t>
            </a:r>
            <a:endParaRPr lang="zh-CN" altLang="en-US"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如何实现 </a:t>
            </a:r>
            <a:r>
              <a:rPr lang="en-US" altLang="zh-CN" sz="2000">
                <a:latin typeface="微软雅黑" panose="020B0503020204020204" pitchFamily="34" charset="-122"/>
                <a:ea typeface="微软雅黑" panose="020B0503020204020204" pitchFamily="34" charset="-122"/>
              </a:rPr>
              <a:t>R[R3] ←R[R1] op R[R2]</a:t>
            </a:r>
            <a:endParaRPr lang="en-US" altLang="zh-CN" sz="2000">
              <a:latin typeface="微软雅黑" panose="020B0503020204020204" pitchFamily="34" charset="-122"/>
              <a:ea typeface="微软雅黑" panose="020B0503020204020204" pitchFamily="34" charset="-122"/>
            </a:endParaRPr>
          </a:p>
          <a:p>
            <a:pPr lvl="2">
              <a:spcBef>
                <a:spcPct val="15000"/>
              </a:spcBef>
              <a:buNone/>
            </a:pPr>
            <a:r>
              <a:rPr lang="pt-BR" altLang="zh-CN" sz="2000" dirty="0">
                <a:latin typeface="微软雅黑" panose="020B0503020204020204" pitchFamily="34" charset="-122"/>
                <a:ea typeface="微软雅黑" panose="020B0503020204020204" pitchFamily="34" charset="-122"/>
              </a:rPr>
              <a:t>R1outA</a:t>
            </a:r>
            <a:r>
              <a:rPr lang="zh-CN" altLang="pt-BR" sz="2000" dirty="0">
                <a:latin typeface="微软雅黑" panose="020B0503020204020204" pitchFamily="34" charset="-122"/>
                <a:ea typeface="微软雅黑" panose="020B0503020204020204" pitchFamily="34" charset="-122"/>
              </a:rPr>
              <a:t>，</a:t>
            </a:r>
            <a:r>
              <a:rPr lang="pt-BR" altLang="zh-CN" sz="2000" dirty="0">
                <a:latin typeface="微软雅黑" panose="020B0503020204020204" pitchFamily="34" charset="-122"/>
                <a:ea typeface="微软雅黑" panose="020B0503020204020204" pitchFamily="34" charset="-122"/>
              </a:rPr>
              <a:t>R2outB</a:t>
            </a:r>
            <a:r>
              <a:rPr lang="zh-CN" altLang="pt-BR" sz="2000" dirty="0">
                <a:latin typeface="微软雅黑" panose="020B0503020204020204" pitchFamily="34" charset="-122"/>
                <a:ea typeface="微软雅黑" panose="020B0503020204020204" pitchFamily="34" charset="-122"/>
              </a:rPr>
              <a:t>，</a:t>
            </a:r>
            <a:r>
              <a:rPr lang="pt-BR" altLang="zh-CN" sz="2000" dirty="0">
                <a:latin typeface="微软雅黑" panose="020B0503020204020204" pitchFamily="34" charset="-122"/>
                <a:ea typeface="微软雅黑" panose="020B0503020204020204" pitchFamily="34" charset="-122"/>
              </a:rPr>
              <a:t>op</a:t>
            </a:r>
            <a:r>
              <a:rPr lang="zh-CN" altLang="pt-BR" sz="2000" dirty="0">
                <a:latin typeface="微软雅黑" panose="020B0503020204020204" pitchFamily="34" charset="-122"/>
                <a:ea typeface="微软雅黑" panose="020B0503020204020204" pitchFamily="34" charset="-122"/>
              </a:rPr>
              <a:t>，</a:t>
            </a:r>
            <a:r>
              <a:rPr lang="pt-BR" altLang="zh-CN" sz="2000" dirty="0">
                <a:latin typeface="微软雅黑" panose="020B0503020204020204" pitchFamily="34" charset="-122"/>
                <a:ea typeface="微软雅黑" panose="020B0503020204020204" pitchFamily="34" charset="-122"/>
              </a:rPr>
              <a:t>R3inC</a:t>
            </a:r>
            <a:endParaRPr lang="pt-BR" altLang="zh-CN" sz="2000" dirty="0">
              <a:latin typeface="微软雅黑" panose="020B0503020204020204" pitchFamily="34" charset="-122"/>
              <a:ea typeface="微软雅黑" panose="020B0503020204020204" pitchFamily="34" charset="-122"/>
            </a:endParaRPr>
          </a:p>
          <a:p>
            <a:pPr lvl="2">
              <a:spcBef>
                <a:spcPct val="15000"/>
              </a:spcBef>
              <a:buNone/>
            </a:pPr>
            <a:r>
              <a:rPr lang="zh-CN" altLang="pt-BR" sz="2000" dirty="0">
                <a:latin typeface="微软雅黑" panose="020B0503020204020204" pitchFamily="34" charset="-122"/>
                <a:ea typeface="微软雅黑" panose="020B0503020204020204" pitchFamily="34" charset="-122"/>
              </a:rPr>
              <a:t>只要一个时钟周期（节拍）即可！</a:t>
            </a:r>
            <a:endParaRPr lang="zh-CN" altLang="en-US" sz="2000" dirty="0">
              <a:latin typeface="微软雅黑" panose="020B0503020204020204" pitchFamily="34" charset="-122"/>
              <a:ea typeface="微软雅黑" panose="020B0503020204020204" pitchFamily="34" charset="-122"/>
            </a:endParaRPr>
          </a:p>
        </p:txBody>
      </p:sp>
      <p:pic>
        <p:nvPicPr>
          <p:cNvPr id="37891" name="图片 397315"/>
          <p:cNvPicPr>
            <a:picLocks noChangeAspect="1"/>
          </p:cNvPicPr>
          <p:nvPr/>
        </p:nvPicPr>
        <p:blipFill>
          <a:blip r:embed="rId1"/>
          <a:stretch>
            <a:fillRect/>
          </a:stretch>
        </p:blipFill>
        <p:spPr>
          <a:xfrm>
            <a:off x="5499100" y="242888"/>
            <a:ext cx="3644900" cy="5967412"/>
          </a:xfrm>
          <a:prstGeom prst="rect">
            <a:avLst/>
          </a:prstGeom>
          <a:noFill/>
          <a:ln w="9525">
            <a:noFill/>
          </a:ln>
        </p:spPr>
      </p:pic>
      <p:sp>
        <p:nvSpPr>
          <p:cNvPr id="397317" name="矩形 397316"/>
          <p:cNvSpPr/>
          <p:nvPr/>
        </p:nvSpPr>
        <p:spPr>
          <a:xfrm>
            <a:off x="28575" y="5576888"/>
            <a:ext cx="5573713" cy="946150"/>
          </a:xfrm>
          <a:prstGeom prst="rect">
            <a:avLst/>
          </a:prstGeom>
          <a:noFill/>
          <a:ln w="50800">
            <a:noFill/>
          </a:ln>
        </p:spPr>
        <p:txBody>
          <a:bodyPr anchor="ctr" anchorCtr="0">
            <a:spAutoFit/>
          </a:bodyPr>
          <a:p>
            <a:pPr eaLnBrk="0" hangingPunct="0"/>
            <a:r>
              <a:rPr lang="zh-CN" altLang="en-US" sz="2000" dirty="0">
                <a:solidFill>
                  <a:schemeClr val="accent1"/>
                </a:solidFill>
                <a:latin typeface="Times New Roman" panose="02020603050405020304" pitchFamily="18" charset="0"/>
                <a:ea typeface="微软雅黑" panose="020B0503020204020204" pitchFamily="34" charset="-122"/>
              </a:rPr>
              <a:t>目前大都采用流水线方式执行指令，单总线或三总线的总线式数据通路很难实现指令流水执行。</a:t>
            </a:r>
            <a:endParaRPr lang="zh-CN" altLang="en-US" sz="2000" dirty="0">
              <a:solidFill>
                <a:schemeClr val="accent1"/>
              </a:solidFill>
              <a:latin typeface="Times New Roman" panose="02020603050405020304" pitchFamily="18" charset="0"/>
              <a:ea typeface="微软雅黑" panose="020B0503020204020204" pitchFamily="34" charset="-122"/>
            </a:endParaRPr>
          </a:p>
          <a:p>
            <a:pPr eaLnBrk="0" hangingPunct="0"/>
            <a:r>
              <a:rPr lang="zh-CN" altLang="en-US" dirty="0">
                <a:latin typeface="Times New Roman" panose="02020603050405020304" pitchFamily="18" charset="0"/>
                <a:ea typeface="宋体" panose="02010600030101010101" pitchFamily="2" charset="-122"/>
              </a:rPr>
              <a:t> </a:t>
            </a:r>
            <a:endParaRPr lang="zh-CN" altLang="en-US" dirty="0">
              <a:solidFill>
                <a:schemeClr val="accent1"/>
              </a:solidFill>
              <a:latin typeface="Times New Roman" panose="02020603050405020304" pitchFamily="18" charset="0"/>
              <a:ea typeface="宋体" panose="02010600030101010101" pitchFamily="2" charset="-122"/>
            </a:endParaRPr>
          </a:p>
        </p:txBody>
      </p:sp>
      <p:sp>
        <p:nvSpPr>
          <p:cNvPr id="397318" name="文本框 397317"/>
          <p:cNvSpPr txBox="1"/>
          <p:nvPr/>
        </p:nvSpPr>
        <p:spPr>
          <a:xfrm>
            <a:off x="8178800" y="3638550"/>
            <a:ext cx="333375" cy="385763"/>
          </a:xfrm>
          <a:prstGeom prst="rect">
            <a:avLst/>
          </a:prstGeom>
          <a:solidFill>
            <a:srgbClr val="FF0000"/>
          </a:solidFill>
          <a:ln w="19050" cap="flat" cmpd="sng">
            <a:solidFill>
              <a:srgbClr val="006600"/>
            </a:solidFill>
            <a:prstDash val="solid"/>
            <a:miter/>
            <a:headEnd type="none" w="med" len="med"/>
            <a:tailEnd type="none" w="med" len="med"/>
          </a:ln>
        </p:spPr>
        <p:txBody>
          <a:bodyPr anchor="t" anchorCtr="0">
            <a:spAutoFit/>
          </a:bodyPr>
          <a:p>
            <a:pPr eaLnBrk="0" hangingPunct="0">
              <a:spcBef>
                <a:spcPct val="50000"/>
              </a:spcBef>
            </a:pPr>
            <a:r>
              <a:rPr lang="en-US" altLang="zh-CN" sz="1800">
                <a:solidFill>
                  <a:schemeClr val="bg1"/>
                </a:solidFill>
                <a:latin typeface="Times New Roman" panose="02020603050405020304" pitchFamily="18" charset="0"/>
                <a:ea typeface="宋体" panose="02010600030101010101" pitchFamily="2" charset="-122"/>
              </a:rPr>
              <a:t>Z</a:t>
            </a:r>
            <a:endParaRPr lang="en-US" altLang="zh-CN" sz="1800">
              <a:solidFill>
                <a:schemeClr val="bg1"/>
              </a:solidFill>
              <a:latin typeface="Times New Roman" panose="02020603050405020304" pitchFamily="18" charset="0"/>
              <a:ea typeface="宋体" panose="02010600030101010101" pitchFamily="2" charset="-122"/>
            </a:endParaRPr>
          </a:p>
        </p:txBody>
      </p:sp>
      <p:sp>
        <p:nvSpPr>
          <p:cNvPr id="397319" name="文本框 397318"/>
          <p:cNvSpPr txBox="1"/>
          <p:nvPr/>
        </p:nvSpPr>
        <p:spPr>
          <a:xfrm>
            <a:off x="6716713" y="3246438"/>
            <a:ext cx="333375" cy="385762"/>
          </a:xfrm>
          <a:prstGeom prst="rect">
            <a:avLst/>
          </a:prstGeom>
          <a:solidFill>
            <a:schemeClr val="accent1"/>
          </a:solidFill>
          <a:ln w="19050" cap="flat" cmpd="sng">
            <a:solidFill>
              <a:srgbClr val="006600"/>
            </a:solidFill>
            <a:prstDash val="solid"/>
            <a:miter/>
            <a:headEnd type="none" w="med" len="med"/>
            <a:tailEnd type="none" w="med" len="med"/>
          </a:ln>
        </p:spPr>
        <p:txBody>
          <a:bodyPr anchor="t" anchorCtr="0">
            <a:spAutoFit/>
          </a:bodyPr>
          <a:p>
            <a:pPr eaLnBrk="0" hangingPunct="0">
              <a:spcBef>
                <a:spcPct val="50000"/>
              </a:spcBef>
            </a:pPr>
            <a:r>
              <a:rPr lang="en-US" altLang="zh-CN" sz="1800">
                <a:solidFill>
                  <a:schemeClr val="bg1"/>
                </a:solidFill>
                <a:latin typeface="Times New Roman" panose="02020603050405020304" pitchFamily="18" charset="0"/>
                <a:ea typeface="黑体" panose="02010609060101010101" pitchFamily="49" charset="-122"/>
              </a:rPr>
              <a:t>Y</a:t>
            </a:r>
            <a:endParaRPr lang="en-US" altLang="zh-CN" sz="1800">
              <a:solidFill>
                <a:schemeClr val="bg1"/>
              </a:solidFill>
              <a:latin typeface="Times New Roman" panose="02020603050405020304" pitchFamily="18" charset="0"/>
              <a:ea typeface="黑体" panose="02010609060101010101" pitchFamily="49" charset="-122"/>
            </a:endParaRPr>
          </a:p>
        </p:txBody>
      </p:sp>
      <p:sp>
        <p:nvSpPr>
          <p:cNvPr id="397321" name="文本框 397320"/>
          <p:cNvSpPr txBox="1"/>
          <p:nvPr/>
        </p:nvSpPr>
        <p:spPr>
          <a:xfrm>
            <a:off x="1733550" y="6302375"/>
            <a:ext cx="6915150" cy="396875"/>
          </a:xfrm>
          <a:prstGeom prst="rect">
            <a:avLst/>
          </a:prstGeom>
          <a:noFill/>
          <a:ln w="508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以下以</a:t>
            </a:r>
            <a:r>
              <a:rPr lang="en-US" altLang="zh-CN" sz="2000">
                <a:latin typeface="微软雅黑" panose="020B0503020204020204" pitchFamily="34" charset="-122"/>
                <a:ea typeface="微软雅黑" panose="020B0503020204020204" pitchFamily="34" charset="-122"/>
              </a:rPr>
              <a:t>MIPS</a:t>
            </a:r>
            <a:r>
              <a:rPr lang="zh-CN" altLang="en-US" sz="2000" dirty="0">
                <a:latin typeface="微软雅黑" panose="020B0503020204020204" pitchFamily="34" charset="-122"/>
                <a:ea typeface="微软雅黑" panose="020B0503020204020204" pitchFamily="34" charset="-122"/>
              </a:rPr>
              <a:t>指令系统为例简介</a:t>
            </a:r>
            <a:r>
              <a:rPr lang="en-US" altLang="zh-CN" sz="200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的工作原理。</a:t>
            </a:r>
            <a:endParaRPr lang="zh-CN" altLang="en-US" sz="2000" dirty="0">
              <a:latin typeface="微软雅黑" panose="020B0503020204020204" pitchFamily="34" charset="-122"/>
              <a:ea typeface="微软雅黑" panose="020B0503020204020204" pitchFamily="34" charset="-122"/>
            </a:endParaRPr>
          </a:p>
        </p:txBody>
      </p:sp>
      <p:sp>
        <p:nvSpPr>
          <p:cNvPr id="397322" name="文本框 397321"/>
          <p:cNvSpPr txBox="1"/>
          <p:nvPr/>
        </p:nvSpPr>
        <p:spPr>
          <a:xfrm>
            <a:off x="2371725" y="3567113"/>
            <a:ext cx="3073400" cy="641350"/>
          </a:xfrm>
          <a:prstGeom prst="rect">
            <a:avLst/>
          </a:prstGeom>
          <a:noFill/>
          <a:ln w="50800">
            <a:noFill/>
          </a:ln>
        </p:spPr>
        <p:txBody>
          <a:bodyPr anchor="t" anchorCtr="0">
            <a:spAutoFit/>
          </a:bodyPr>
          <a:p>
            <a:pPr eaLnBrk="0" hangingPunct="0">
              <a:spcBef>
                <a:spcPct val="50000"/>
              </a:spcBef>
            </a:pPr>
            <a:r>
              <a:rPr lang="zh-CN" altLang="en-US" sz="1800" dirty="0">
                <a:solidFill>
                  <a:schemeClr val="accent1"/>
                </a:solidFill>
                <a:latin typeface="微软雅黑" panose="020B0503020204020204" pitchFamily="34" charset="-122"/>
                <a:ea typeface="微软雅黑" panose="020B0503020204020204" pitchFamily="34" charset="-122"/>
              </a:rPr>
              <a:t>三个总线各自传不同数据，不会发生冲突，故无需</a:t>
            </a:r>
            <a:r>
              <a:rPr lang="en-US" altLang="zh-CN" sz="1800">
                <a:solidFill>
                  <a:schemeClr val="accent1"/>
                </a:solidFill>
                <a:latin typeface="微软雅黑" panose="020B0503020204020204" pitchFamily="34" charset="-122"/>
                <a:ea typeface="微软雅黑" panose="020B0503020204020204" pitchFamily="34" charset="-122"/>
              </a:rPr>
              <a:t>Y</a:t>
            </a:r>
            <a:r>
              <a:rPr lang="zh-CN" altLang="en-US" sz="1800" dirty="0">
                <a:solidFill>
                  <a:schemeClr val="accent1"/>
                </a:solidFill>
                <a:latin typeface="微软雅黑" panose="020B0503020204020204" pitchFamily="34" charset="-122"/>
                <a:ea typeface="微软雅黑" panose="020B0503020204020204" pitchFamily="34" charset="-122"/>
              </a:rPr>
              <a:t>和</a:t>
            </a:r>
            <a:r>
              <a:rPr lang="en-US" altLang="zh-CN" sz="1800">
                <a:solidFill>
                  <a:schemeClr val="accent1"/>
                </a:solidFill>
                <a:latin typeface="微软雅黑" panose="020B0503020204020204" pitchFamily="34" charset="-122"/>
                <a:ea typeface="微软雅黑" panose="020B0503020204020204" pitchFamily="34" charset="-122"/>
              </a:rPr>
              <a:t>Z</a:t>
            </a:r>
            <a:endParaRPr lang="en-US" altLang="zh-CN" sz="1800">
              <a:solidFill>
                <a:schemeClr val="accent1"/>
              </a:solidFill>
              <a:latin typeface="微软雅黑" panose="020B0503020204020204" pitchFamily="34" charset="-122"/>
              <a:ea typeface="微软雅黑" panose="020B0503020204020204" pitchFamily="34" charset="-122"/>
            </a:endParaRPr>
          </a:p>
        </p:txBody>
      </p:sp>
      <p:sp>
        <p:nvSpPr>
          <p:cNvPr id="37897" name="文本框 397322"/>
          <p:cNvSpPr txBox="1"/>
          <p:nvPr/>
        </p:nvSpPr>
        <p:spPr>
          <a:xfrm>
            <a:off x="7048500" y="2133600"/>
            <a:ext cx="1168400" cy="320675"/>
          </a:xfrm>
          <a:prstGeom prst="rect">
            <a:avLst/>
          </a:prstGeom>
          <a:solidFill>
            <a:schemeClr val="bg1"/>
          </a:solidFill>
          <a:ln w="50800">
            <a:noFill/>
          </a:ln>
        </p:spPr>
        <p:txBody>
          <a:bodyPr lIns="0" rIns="0" anchor="t" anchorCtr="0">
            <a:spAutoFit/>
          </a:bodyPr>
          <a:p>
            <a:pPr eaLnBrk="0" hangingPunct="0">
              <a:spcBef>
                <a:spcPct val="50000"/>
              </a:spcBef>
            </a:pPr>
            <a:r>
              <a:rPr lang="zh-CN" altLang="en-US" sz="1500" dirty="0">
                <a:solidFill>
                  <a:schemeClr val="accent1"/>
                </a:solidFill>
                <a:latin typeface="Arial" panose="020B0604020202020204" pitchFamily="34" charset="0"/>
                <a:ea typeface="宋体" panose="02010600030101010101" pitchFamily="2" charset="-122"/>
              </a:rPr>
              <a:t>通用寄存器组</a:t>
            </a:r>
            <a:endParaRPr lang="zh-CN" altLang="en-US" sz="1500" dirty="0">
              <a:solidFill>
                <a:schemeClr val="accent1"/>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7315">
                                            <p:txEl>
                                              <p:charRg st="69" end="93"/>
                                            </p:txEl>
                                          </p:spTgt>
                                        </p:tgtEl>
                                        <p:attrNameLst>
                                          <p:attrName>style.visibility</p:attrName>
                                        </p:attrNameLst>
                                      </p:cBhvr>
                                      <p:to>
                                        <p:strVal val="visible"/>
                                      </p:to>
                                    </p:set>
                                    <p:animEffect transition="in" filter="blinds(horizontal)">
                                      <p:cBhvr>
                                        <p:cTn id="7" dur="500"/>
                                        <p:tgtEl>
                                          <p:spTgt spid="397315">
                                            <p:txEl>
                                              <p:charRg st="69" end="9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7315">
                                            <p:txEl>
                                              <p:charRg st="93" end="115"/>
                                            </p:txEl>
                                          </p:spTgt>
                                        </p:tgtEl>
                                        <p:attrNameLst>
                                          <p:attrName>style.visibility</p:attrName>
                                        </p:attrNameLst>
                                      </p:cBhvr>
                                      <p:to>
                                        <p:strVal val="visible"/>
                                      </p:to>
                                    </p:set>
                                    <p:animEffect transition="in" filter="blinds(horizontal)">
                                      <p:cBhvr>
                                        <p:cTn id="12" dur="500"/>
                                        <p:tgtEl>
                                          <p:spTgt spid="397315">
                                            <p:txEl>
                                              <p:charRg st="93" end="11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7322">
                                            <p:txEl>
                                              <p:charRg st="0" end="26"/>
                                            </p:txEl>
                                          </p:spTgt>
                                        </p:tgtEl>
                                        <p:attrNameLst>
                                          <p:attrName>style.visibility</p:attrName>
                                        </p:attrNameLst>
                                      </p:cBhvr>
                                      <p:to>
                                        <p:strVal val="visible"/>
                                      </p:to>
                                    </p:set>
                                    <p:animEffect transition="in" filter="blinds(horizontal)">
                                      <p:cBhvr>
                                        <p:cTn id="17" dur="500"/>
                                        <p:tgtEl>
                                          <p:spTgt spid="397322">
                                            <p:txEl>
                                              <p:charRg st="0" end="2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397319"/>
                                        </p:tgtEl>
                                      </p:cBhvr>
                                    </p:animEffect>
                                    <p:set>
                                      <p:cBhvr>
                                        <p:cTn id="22" dur="1" fill="hold">
                                          <p:stCondLst>
                                            <p:cond delay="499"/>
                                          </p:stCondLst>
                                        </p:cTn>
                                        <p:tgtEl>
                                          <p:spTgt spid="397319"/>
                                        </p:tgtEl>
                                        <p:attrNameLst>
                                          <p:attrName>style.visibility</p:attrName>
                                        </p:attrNameLst>
                                      </p:cBhvr>
                                      <p:to>
                                        <p:strVal val="hidden"/>
                                      </p:to>
                                    </p:set>
                                  </p:childTnLst>
                                </p:cTn>
                              </p:par>
                              <p:par>
                                <p:cTn id="23" presetID="3" presetClass="exit" presetSubtype="10" fill="hold" grpId="0" nodeType="withEffect">
                                  <p:stCondLst>
                                    <p:cond delay="0"/>
                                  </p:stCondLst>
                                  <p:childTnLst>
                                    <p:animEffect transition="out" filter="blinds(horizontal)">
                                      <p:cBhvr>
                                        <p:cTn id="24" dur="500"/>
                                        <p:tgtEl>
                                          <p:spTgt spid="397318"/>
                                        </p:tgtEl>
                                      </p:cBhvr>
                                    </p:animEffect>
                                    <p:set>
                                      <p:cBhvr>
                                        <p:cTn id="25" dur="1" fill="hold">
                                          <p:stCondLst>
                                            <p:cond delay="499"/>
                                          </p:stCondLst>
                                        </p:cTn>
                                        <p:tgtEl>
                                          <p:spTgt spid="397318"/>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97315">
                                            <p:txEl>
                                              <p:charRg st="115" end="126"/>
                                            </p:txEl>
                                          </p:spTgt>
                                        </p:tgtEl>
                                        <p:attrNameLst>
                                          <p:attrName>style.visibility</p:attrName>
                                        </p:attrNameLst>
                                      </p:cBhvr>
                                      <p:to>
                                        <p:strVal val="visible"/>
                                      </p:to>
                                    </p:set>
                                    <p:animEffect transition="in" filter="blinds(horizontal)">
                                      <p:cBhvr>
                                        <p:cTn id="30" dur="500"/>
                                        <p:tgtEl>
                                          <p:spTgt spid="397315">
                                            <p:txEl>
                                              <p:charRg st="115" end="12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97315">
                                            <p:txEl>
                                              <p:charRg st="126" end="153"/>
                                            </p:txEl>
                                          </p:spTgt>
                                        </p:tgtEl>
                                        <p:attrNameLst>
                                          <p:attrName>style.visibility</p:attrName>
                                        </p:attrNameLst>
                                      </p:cBhvr>
                                      <p:to>
                                        <p:strVal val="visible"/>
                                      </p:to>
                                    </p:set>
                                    <p:animEffect transition="in" filter="blinds(horizontal)">
                                      <p:cBhvr>
                                        <p:cTn id="35" dur="500"/>
                                        <p:tgtEl>
                                          <p:spTgt spid="397315">
                                            <p:txEl>
                                              <p:charRg st="126" end="15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97315">
                                            <p:txEl>
                                              <p:charRg st="153" end="176"/>
                                            </p:txEl>
                                          </p:spTgt>
                                        </p:tgtEl>
                                        <p:attrNameLst>
                                          <p:attrName>style.visibility</p:attrName>
                                        </p:attrNameLst>
                                      </p:cBhvr>
                                      <p:to>
                                        <p:strVal val="visible"/>
                                      </p:to>
                                    </p:set>
                                    <p:animEffect transition="in" filter="blinds(horizontal)">
                                      <p:cBhvr>
                                        <p:cTn id="40" dur="500"/>
                                        <p:tgtEl>
                                          <p:spTgt spid="397315">
                                            <p:txEl>
                                              <p:charRg st="153" end="17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97315">
                                            <p:txEl>
                                              <p:charRg st="176" end="192"/>
                                            </p:txEl>
                                          </p:spTgt>
                                        </p:tgtEl>
                                        <p:attrNameLst>
                                          <p:attrName>style.visibility</p:attrName>
                                        </p:attrNameLst>
                                      </p:cBhvr>
                                      <p:to>
                                        <p:strVal val="visible"/>
                                      </p:to>
                                    </p:set>
                                    <p:animEffect transition="in" filter="blinds(horizontal)">
                                      <p:cBhvr>
                                        <p:cTn id="45" dur="500"/>
                                        <p:tgtEl>
                                          <p:spTgt spid="397315">
                                            <p:txEl>
                                              <p:charRg st="176" end="19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97317"/>
                                        </p:tgtEl>
                                        <p:attrNameLst>
                                          <p:attrName>style.visibility</p:attrName>
                                        </p:attrNameLst>
                                      </p:cBhvr>
                                      <p:to>
                                        <p:strVal val="visible"/>
                                      </p:to>
                                    </p:set>
                                    <p:animEffect transition="in" filter="blinds(horizontal)">
                                      <p:cBhvr>
                                        <p:cTn id="50" dur="500"/>
                                        <p:tgtEl>
                                          <p:spTgt spid="397317"/>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97321"/>
                                        </p:tgtEl>
                                        <p:attrNameLst>
                                          <p:attrName>style.visibility</p:attrName>
                                        </p:attrNameLst>
                                      </p:cBhvr>
                                      <p:to>
                                        <p:strVal val="visible"/>
                                      </p:to>
                                    </p:set>
                                    <p:animEffect transition="in" filter="blinds(horizontal)">
                                      <p:cBhvr>
                                        <p:cTn id="55" dur="500"/>
                                        <p:tgtEl>
                                          <p:spTgt spid="397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7" grpId="0"/>
      <p:bldP spid="397318" grpId="0" animBg="1"/>
      <p:bldP spid="397319" grpId="0" animBg="1"/>
      <p:bldP spid="39732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472065"/>
          <p:cNvSpPr>
            <a:spLocks noGrp="1"/>
          </p:cNvSpPr>
          <p:nvPr>
            <p:ph type="title"/>
          </p:nvPr>
        </p:nvSpPr>
        <p:spPr>
          <a:xfrm>
            <a:off x="844550" y="171450"/>
            <a:ext cx="7710488" cy="528638"/>
          </a:xfrm>
          <a:ln/>
        </p:spPr>
        <p:txBody>
          <a:bodyPr vert="horz" wrap="square" lIns="63500" tIns="25400" rIns="63500" bIns="25400" anchor="t" anchorCtr="0">
            <a:spAutoFit/>
          </a:bodyPr>
          <a:p>
            <a:r>
              <a:rPr lang="en-US" altLang="zh-CN">
                <a:ea typeface="宋体" panose="02010600030101010101" pitchFamily="2" charset="-122"/>
              </a:rPr>
              <a:t>MIPS</a:t>
            </a:r>
            <a:r>
              <a:rPr lang="zh-CN" altLang="en-US" dirty="0"/>
              <a:t>的三种指令类型</a:t>
            </a:r>
            <a:endParaRPr lang="zh-CN" altLang="en-US" dirty="0"/>
          </a:p>
        </p:txBody>
      </p:sp>
      <p:sp>
        <p:nvSpPr>
          <p:cNvPr id="38914" name="文本占位符 472066"/>
          <p:cNvSpPr>
            <a:spLocks noGrp="1"/>
          </p:cNvSpPr>
          <p:nvPr>
            <p:ph idx="1"/>
          </p:nvPr>
        </p:nvSpPr>
        <p:spPr>
          <a:xfrm>
            <a:off x="166688" y="1766888"/>
            <a:ext cx="8191500" cy="4411662"/>
          </a:xfrm>
          <a:ln/>
        </p:spPr>
        <p:txBody>
          <a:bodyPr vert="horz" wrap="square" lIns="63500" tIns="25400" rIns="63500" bIns="25400" anchor="t" anchorCtr="0">
            <a:spAutoFit/>
          </a:bodyPr>
          <a:p>
            <a:r>
              <a:rPr lang="en-US" altLang="zh-CN">
                <a:ea typeface="宋体" panose="02010600030101010101" pitchFamily="2" charset="-122"/>
              </a:rPr>
              <a:t>ADD and SUBSTRACT</a:t>
            </a:r>
            <a:endParaRPr lang="en-US" altLang="zh-CN">
              <a:ea typeface="宋体" panose="02010600030101010101" pitchFamily="2" charset="-122"/>
            </a:endParaRPr>
          </a:p>
          <a:p>
            <a:pPr lvl="1"/>
            <a:r>
              <a:rPr lang="en-US" altLang="zh-CN">
                <a:ea typeface="宋体" panose="02010600030101010101" pitchFamily="2" charset="-122"/>
              </a:rPr>
              <a:t>add rd, </a:t>
            </a:r>
            <a:r>
              <a:rPr lang="en-US" altLang="zh-CN" err="1">
                <a:ea typeface="宋体" panose="02010600030101010101" pitchFamily="2" charset="-122"/>
              </a:rPr>
              <a:t>rs</a:t>
            </a:r>
            <a:r>
              <a:rPr lang="en-US" altLang="zh-CN">
                <a:ea typeface="宋体" panose="02010600030101010101" pitchFamily="2" charset="-122"/>
              </a:rPr>
              <a:t>, </a:t>
            </a:r>
            <a:r>
              <a:rPr lang="en-US" altLang="zh-CN" err="1">
                <a:ea typeface="宋体" panose="02010600030101010101" pitchFamily="2" charset="-122"/>
              </a:rPr>
              <a:t>rt</a:t>
            </a:r>
            <a:endParaRPr lang="en-US" altLang="zh-CN">
              <a:ea typeface="宋体" panose="02010600030101010101" pitchFamily="2" charset="-122"/>
            </a:endParaRPr>
          </a:p>
          <a:p>
            <a:pPr lvl="1"/>
            <a:r>
              <a:rPr lang="en-US" altLang="zh-CN">
                <a:ea typeface="宋体" panose="02010600030101010101" pitchFamily="2" charset="-122"/>
              </a:rPr>
              <a:t>sub rd, </a:t>
            </a:r>
            <a:r>
              <a:rPr lang="en-US" altLang="zh-CN" err="1">
                <a:ea typeface="宋体" panose="02010600030101010101" pitchFamily="2" charset="-122"/>
              </a:rPr>
              <a:t>rs</a:t>
            </a:r>
            <a:r>
              <a:rPr lang="en-US" altLang="zh-CN">
                <a:ea typeface="宋体" panose="02010600030101010101" pitchFamily="2" charset="-122"/>
              </a:rPr>
              <a:t>, </a:t>
            </a:r>
            <a:r>
              <a:rPr lang="en-US" altLang="zh-CN" err="1">
                <a:ea typeface="宋体" panose="02010600030101010101" pitchFamily="2" charset="-122"/>
              </a:rPr>
              <a:t>rt</a:t>
            </a:r>
            <a:endParaRPr lang="en-US" altLang="zh-CN">
              <a:ea typeface="宋体" panose="02010600030101010101" pitchFamily="2" charset="-122"/>
            </a:endParaRPr>
          </a:p>
          <a:p>
            <a:r>
              <a:rPr lang="en-US" altLang="zh-CN">
                <a:ea typeface="宋体" panose="02010600030101010101" pitchFamily="2" charset="-122"/>
              </a:rPr>
              <a:t>OR Immediate:</a:t>
            </a:r>
            <a:endParaRPr lang="en-US" altLang="zh-CN">
              <a:ea typeface="宋体" panose="02010600030101010101" pitchFamily="2" charset="-122"/>
            </a:endParaRPr>
          </a:p>
          <a:p>
            <a:pPr lvl="1"/>
            <a:r>
              <a:rPr lang="en-US" altLang="zh-CN" err="1">
                <a:ea typeface="宋体" panose="02010600030101010101" pitchFamily="2" charset="-122"/>
              </a:rPr>
              <a:t>ori</a:t>
            </a:r>
            <a:r>
              <a:rPr lang="en-US" altLang="zh-CN">
                <a:ea typeface="宋体" panose="02010600030101010101" pitchFamily="2" charset="-122"/>
              </a:rPr>
              <a:t>  </a:t>
            </a:r>
            <a:r>
              <a:rPr lang="en-US" altLang="zh-CN" err="1">
                <a:ea typeface="宋体" panose="02010600030101010101" pitchFamily="2" charset="-122"/>
              </a:rPr>
              <a:t>rt</a:t>
            </a:r>
            <a:r>
              <a:rPr lang="en-US" altLang="zh-CN">
                <a:ea typeface="宋体" panose="02010600030101010101" pitchFamily="2" charset="-122"/>
              </a:rPr>
              <a:t>, </a:t>
            </a:r>
            <a:r>
              <a:rPr lang="en-US" altLang="zh-CN"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LOAD and STORE</a:t>
            </a:r>
            <a:endParaRPr lang="en-US" altLang="zh-CN">
              <a:ea typeface="宋体" panose="02010600030101010101" pitchFamily="2" charset="-122"/>
            </a:endParaRPr>
          </a:p>
          <a:p>
            <a:pPr lvl="1"/>
            <a:r>
              <a:rPr lang="en-US" altLang="zh-CN" err="1">
                <a:ea typeface="宋体" panose="02010600030101010101" pitchFamily="2" charset="-122"/>
              </a:rPr>
              <a:t>lw</a:t>
            </a:r>
            <a:r>
              <a:rPr lang="en-US" altLang="zh-CN">
                <a:ea typeface="宋体" panose="02010600030101010101" pitchFamily="2" charset="-122"/>
              </a:rPr>
              <a:t> </a:t>
            </a:r>
            <a:r>
              <a:rPr lang="en-US" altLang="zh-CN" err="1">
                <a:ea typeface="宋体" panose="02010600030101010101" pitchFamily="2" charset="-122"/>
              </a:rPr>
              <a:t>rt</a:t>
            </a:r>
            <a:r>
              <a:rPr lang="en-US" altLang="zh-CN">
                <a:ea typeface="宋体" panose="02010600030101010101" pitchFamily="2" charset="-122"/>
              </a:rPr>
              <a:t>, </a:t>
            </a:r>
            <a:r>
              <a:rPr lang="en-US" altLang="zh-CN"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lvl="1"/>
            <a:r>
              <a:rPr lang="en-US" altLang="zh-CN" err="1">
                <a:ea typeface="宋体" panose="02010600030101010101" pitchFamily="2" charset="-122"/>
              </a:rPr>
              <a:t>sw</a:t>
            </a:r>
            <a:r>
              <a:rPr lang="en-US" altLang="zh-CN">
                <a:ea typeface="宋体" panose="02010600030101010101" pitchFamily="2" charset="-122"/>
              </a:rPr>
              <a:t> </a:t>
            </a:r>
            <a:r>
              <a:rPr lang="en-US" altLang="zh-CN" err="1">
                <a:ea typeface="宋体" panose="02010600030101010101" pitchFamily="2" charset="-122"/>
              </a:rPr>
              <a:t>rt</a:t>
            </a:r>
            <a:r>
              <a:rPr lang="en-US" altLang="zh-CN">
                <a:ea typeface="宋体" panose="02010600030101010101" pitchFamily="2" charset="-122"/>
              </a:rPr>
              <a:t>, </a:t>
            </a:r>
            <a:r>
              <a:rPr lang="en-US" altLang="zh-CN"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BRANCH:</a:t>
            </a:r>
            <a:endParaRPr lang="en-US" altLang="zh-CN">
              <a:ea typeface="宋体" panose="02010600030101010101" pitchFamily="2" charset="-122"/>
            </a:endParaRPr>
          </a:p>
          <a:p>
            <a:pPr lvl="1"/>
            <a:r>
              <a:rPr lang="en-US" altLang="zh-CN" err="1">
                <a:ea typeface="宋体" panose="02010600030101010101" pitchFamily="2" charset="-122"/>
              </a:rPr>
              <a:t>beq</a:t>
            </a:r>
            <a:r>
              <a:rPr lang="en-US" altLang="zh-CN">
                <a:ea typeface="宋体" panose="02010600030101010101" pitchFamily="2" charset="-122"/>
              </a:rPr>
              <a:t> </a:t>
            </a:r>
            <a:r>
              <a:rPr lang="en-US" altLang="zh-CN" err="1">
                <a:ea typeface="宋体" panose="02010600030101010101" pitchFamily="2" charset="-122"/>
              </a:rPr>
              <a:t>rs</a:t>
            </a:r>
            <a:r>
              <a:rPr lang="en-US" altLang="zh-CN">
                <a:ea typeface="宋体" panose="02010600030101010101" pitchFamily="2" charset="-122"/>
              </a:rPr>
              <a:t>, </a:t>
            </a:r>
            <a:r>
              <a:rPr lang="en-US" altLang="zh-CN" err="1">
                <a:ea typeface="宋体" panose="02010600030101010101" pitchFamily="2" charset="-122"/>
              </a:rPr>
              <a:t>rt</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JUMP:</a:t>
            </a:r>
            <a:endParaRPr lang="en-US" altLang="zh-CN">
              <a:ea typeface="宋体" panose="02010600030101010101" pitchFamily="2" charset="-122"/>
            </a:endParaRPr>
          </a:p>
          <a:p>
            <a:pPr lvl="1"/>
            <a:r>
              <a:rPr lang="en-US" altLang="zh-CN">
                <a:ea typeface="宋体" panose="02010600030101010101" pitchFamily="2" charset="-122"/>
              </a:rPr>
              <a:t>j  target</a:t>
            </a:r>
            <a:endParaRPr lang="en-US" altLang="zh-CN">
              <a:ea typeface="宋体" panose="02010600030101010101" pitchFamily="2" charset="-122"/>
            </a:endParaRPr>
          </a:p>
        </p:txBody>
      </p:sp>
      <p:grpSp>
        <p:nvGrpSpPr>
          <p:cNvPr id="38915" name="组合 472067"/>
          <p:cNvGrpSpPr/>
          <p:nvPr/>
        </p:nvGrpSpPr>
        <p:grpSpPr>
          <a:xfrm>
            <a:off x="2921000" y="5446713"/>
            <a:ext cx="5975350" cy="1012825"/>
            <a:chOff x="1918" y="3360"/>
            <a:chExt cx="3764" cy="599"/>
          </a:xfrm>
        </p:grpSpPr>
        <p:sp>
          <p:nvSpPr>
            <p:cNvPr id="38916" name="矩形 472068"/>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38917" name="组合 472069"/>
            <p:cNvGrpSpPr/>
            <p:nvPr/>
          </p:nvGrpSpPr>
          <p:grpSpPr>
            <a:xfrm>
              <a:off x="1979" y="3552"/>
              <a:ext cx="624" cy="216"/>
              <a:chOff x="1979" y="3552"/>
              <a:chExt cx="624" cy="216"/>
            </a:xfrm>
          </p:grpSpPr>
          <p:sp>
            <p:nvSpPr>
              <p:cNvPr id="38918" name="矩形 472070"/>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19" name="矩形 472071"/>
              <p:cNvSpPr/>
              <p:nvPr/>
            </p:nvSpPr>
            <p:spPr>
              <a:xfrm>
                <a:off x="2161" y="3552"/>
                <a:ext cx="290" cy="216"/>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38920" name="矩形 472072"/>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21" name="矩形 472073"/>
            <p:cNvSpPr/>
            <p:nvPr/>
          </p:nvSpPr>
          <p:spPr>
            <a:xfrm>
              <a:off x="3554" y="3552"/>
              <a:ext cx="1098" cy="215"/>
            </a:xfrm>
            <a:prstGeom prst="rect">
              <a:avLst/>
            </a:prstGeom>
            <a:noFill/>
            <a:ln w="12700">
              <a:noFill/>
            </a:ln>
          </p:spPr>
          <p:txBody>
            <a:bodyPr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38922" name="矩形 472074"/>
            <p:cNvSpPr/>
            <p:nvPr/>
          </p:nvSpPr>
          <p:spPr>
            <a:xfrm>
              <a:off x="5488" y="3360"/>
              <a:ext cx="194" cy="21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38923" name="矩形 472075"/>
            <p:cNvSpPr/>
            <p:nvPr/>
          </p:nvSpPr>
          <p:spPr>
            <a:xfrm>
              <a:off x="2414" y="3360"/>
              <a:ext cx="274" cy="21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38924" name="矩形 472076"/>
            <p:cNvSpPr/>
            <p:nvPr/>
          </p:nvSpPr>
          <p:spPr>
            <a:xfrm>
              <a:off x="1918" y="3360"/>
              <a:ext cx="274" cy="21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38925" name="矩形 472077"/>
            <p:cNvSpPr/>
            <p:nvPr/>
          </p:nvSpPr>
          <p:spPr>
            <a:xfrm>
              <a:off x="2143" y="3744"/>
              <a:ext cx="482" cy="21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26" name="矩形 472078"/>
            <p:cNvSpPr/>
            <p:nvPr/>
          </p:nvSpPr>
          <p:spPr>
            <a:xfrm>
              <a:off x="3816" y="3744"/>
              <a:ext cx="570" cy="21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38927" name="组合 472079"/>
          <p:cNvGrpSpPr/>
          <p:nvPr/>
        </p:nvGrpSpPr>
        <p:grpSpPr>
          <a:xfrm>
            <a:off x="2946400" y="1538288"/>
            <a:ext cx="5905500" cy="973137"/>
            <a:chOff x="1918" y="672"/>
            <a:chExt cx="3767" cy="613"/>
          </a:xfrm>
        </p:grpSpPr>
        <p:grpSp>
          <p:nvGrpSpPr>
            <p:cNvPr id="38928" name="组合 472080"/>
            <p:cNvGrpSpPr/>
            <p:nvPr/>
          </p:nvGrpSpPr>
          <p:grpSpPr>
            <a:xfrm>
              <a:off x="1918" y="672"/>
              <a:ext cx="3767" cy="421"/>
              <a:chOff x="1918" y="672"/>
              <a:chExt cx="3767" cy="421"/>
            </a:xfrm>
          </p:grpSpPr>
          <p:grpSp>
            <p:nvGrpSpPr>
              <p:cNvPr id="38929" name="组合 472081"/>
              <p:cNvGrpSpPr/>
              <p:nvPr/>
            </p:nvGrpSpPr>
            <p:grpSpPr>
              <a:xfrm>
                <a:off x="1979" y="864"/>
                <a:ext cx="3607" cy="229"/>
                <a:chOff x="1979" y="864"/>
                <a:chExt cx="3607" cy="229"/>
              </a:xfrm>
            </p:grpSpPr>
            <p:sp>
              <p:nvSpPr>
                <p:cNvPr id="38930" name="矩形 472082"/>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38931" name="组合 472083"/>
                <p:cNvGrpSpPr/>
                <p:nvPr/>
              </p:nvGrpSpPr>
              <p:grpSpPr>
                <a:xfrm>
                  <a:off x="1979" y="864"/>
                  <a:ext cx="3607" cy="229"/>
                  <a:chOff x="1979" y="864"/>
                  <a:chExt cx="3607" cy="229"/>
                </a:xfrm>
              </p:grpSpPr>
              <p:grpSp>
                <p:nvGrpSpPr>
                  <p:cNvPr id="38932" name="组合 472084"/>
                  <p:cNvGrpSpPr/>
                  <p:nvPr/>
                </p:nvGrpSpPr>
                <p:grpSpPr>
                  <a:xfrm>
                    <a:off x="1979" y="864"/>
                    <a:ext cx="624" cy="229"/>
                    <a:chOff x="1979" y="864"/>
                    <a:chExt cx="624" cy="229"/>
                  </a:xfrm>
                </p:grpSpPr>
                <p:sp>
                  <p:nvSpPr>
                    <p:cNvPr id="38933" name="矩形 472085"/>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34" name="矩形 472086"/>
                    <p:cNvSpPr/>
                    <p:nvPr/>
                  </p:nvSpPr>
                  <p:spPr>
                    <a:xfrm>
                      <a:off x="2161" y="864"/>
                      <a:ext cx="2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38935" name="组合 472087"/>
                  <p:cNvGrpSpPr/>
                  <p:nvPr/>
                </p:nvGrpSpPr>
                <p:grpSpPr>
                  <a:xfrm>
                    <a:off x="2611" y="864"/>
                    <a:ext cx="580" cy="229"/>
                    <a:chOff x="2611" y="864"/>
                    <a:chExt cx="580" cy="229"/>
                  </a:xfrm>
                </p:grpSpPr>
                <p:sp>
                  <p:nvSpPr>
                    <p:cNvPr id="38936" name="矩形 472088"/>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37" name="矩形 472089"/>
                    <p:cNvSpPr/>
                    <p:nvPr/>
                  </p:nvSpPr>
                  <p:spPr>
                    <a:xfrm>
                      <a:off x="2776" y="864"/>
                      <a:ext cx="253"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38938" name="组合 472090"/>
                  <p:cNvGrpSpPr/>
                  <p:nvPr/>
                </p:nvGrpSpPr>
                <p:grpSpPr>
                  <a:xfrm>
                    <a:off x="3199" y="864"/>
                    <a:ext cx="579" cy="229"/>
                    <a:chOff x="3199" y="864"/>
                    <a:chExt cx="579" cy="229"/>
                  </a:xfrm>
                </p:grpSpPr>
                <p:sp>
                  <p:nvSpPr>
                    <p:cNvPr id="38939" name="矩形 472091"/>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40" name="矩形 472092"/>
                    <p:cNvSpPr/>
                    <p:nvPr/>
                  </p:nvSpPr>
                  <p:spPr>
                    <a:xfrm>
                      <a:off x="3363" y="864"/>
                      <a:ext cx="221"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38941" name="组合 472093"/>
                  <p:cNvGrpSpPr/>
                  <p:nvPr/>
                </p:nvGrpSpPr>
                <p:grpSpPr>
                  <a:xfrm>
                    <a:off x="3786" y="864"/>
                    <a:ext cx="579" cy="229"/>
                    <a:chOff x="3786" y="864"/>
                    <a:chExt cx="579" cy="229"/>
                  </a:xfrm>
                </p:grpSpPr>
                <p:sp>
                  <p:nvSpPr>
                    <p:cNvPr id="38942" name="矩形 472094"/>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43" name="矩形 472095"/>
                    <p:cNvSpPr/>
                    <p:nvPr/>
                  </p:nvSpPr>
                  <p:spPr>
                    <a:xfrm>
                      <a:off x="3951" y="864"/>
                      <a:ext cx="262"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38944" name="组合 472096"/>
                  <p:cNvGrpSpPr/>
                  <p:nvPr/>
                </p:nvGrpSpPr>
                <p:grpSpPr>
                  <a:xfrm>
                    <a:off x="4373" y="864"/>
                    <a:ext cx="620" cy="229"/>
                    <a:chOff x="4373" y="864"/>
                    <a:chExt cx="620" cy="229"/>
                  </a:xfrm>
                </p:grpSpPr>
                <p:sp>
                  <p:nvSpPr>
                    <p:cNvPr id="38945" name="矩形 472097"/>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46" name="矩形 472098"/>
                    <p:cNvSpPr/>
                    <p:nvPr/>
                  </p:nvSpPr>
                  <p:spPr>
                    <a:xfrm>
                      <a:off x="4448" y="864"/>
                      <a:ext cx="545"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38947" name="组合 472099"/>
                  <p:cNvGrpSpPr/>
                  <p:nvPr/>
                </p:nvGrpSpPr>
                <p:grpSpPr>
                  <a:xfrm>
                    <a:off x="4961" y="864"/>
                    <a:ext cx="625" cy="229"/>
                    <a:chOff x="4961" y="864"/>
                    <a:chExt cx="625" cy="229"/>
                  </a:xfrm>
                </p:grpSpPr>
                <p:sp>
                  <p:nvSpPr>
                    <p:cNvPr id="38948" name="矩形 472100"/>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49" name="矩形 472101"/>
                    <p:cNvSpPr/>
                    <p:nvPr/>
                  </p:nvSpPr>
                  <p:spPr>
                    <a:xfrm>
                      <a:off x="5143" y="864"/>
                      <a:ext cx="424"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38950" name="矩形 472102"/>
              <p:cNvSpPr/>
              <p:nvPr/>
            </p:nvSpPr>
            <p:spPr>
              <a:xfrm>
                <a:off x="5488" y="672"/>
                <a:ext cx="1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38951" name="矩形 472103"/>
              <p:cNvSpPr/>
              <p:nvPr/>
            </p:nvSpPr>
            <p:spPr>
              <a:xfrm>
                <a:off x="4810" y="672"/>
                <a:ext cx="1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38952" name="矩形 472104"/>
              <p:cNvSpPr/>
              <p:nvPr/>
            </p:nvSpPr>
            <p:spPr>
              <a:xfrm>
                <a:off x="4177"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38953" name="矩形 472105"/>
              <p:cNvSpPr/>
              <p:nvPr/>
            </p:nvSpPr>
            <p:spPr>
              <a:xfrm>
                <a:off x="3589"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38954" name="矩形 472106"/>
              <p:cNvSpPr/>
              <p:nvPr/>
            </p:nvSpPr>
            <p:spPr>
              <a:xfrm>
                <a:off x="3002"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38955" name="矩形 472107"/>
              <p:cNvSpPr/>
              <p:nvPr/>
            </p:nvSpPr>
            <p:spPr>
              <a:xfrm>
                <a:off x="2414"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38956" name="矩形 472108"/>
              <p:cNvSpPr/>
              <p:nvPr/>
            </p:nvSpPr>
            <p:spPr>
              <a:xfrm>
                <a:off x="1918"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38957" name="矩形 472109"/>
            <p:cNvSpPr/>
            <p:nvPr/>
          </p:nvSpPr>
          <p:spPr>
            <a:xfrm>
              <a:off x="2143" y="1056"/>
              <a:ext cx="496"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58" name="矩形 472110"/>
            <p:cNvSpPr/>
            <p:nvPr/>
          </p:nvSpPr>
          <p:spPr>
            <a:xfrm>
              <a:off x="5126"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59" name="矩形 472111"/>
            <p:cNvSpPr/>
            <p:nvPr/>
          </p:nvSpPr>
          <p:spPr>
            <a:xfrm>
              <a:off x="4493"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60" name="矩形 472112"/>
            <p:cNvSpPr/>
            <p:nvPr/>
          </p:nvSpPr>
          <p:spPr>
            <a:xfrm>
              <a:off x="3906"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61" name="矩形 472113"/>
            <p:cNvSpPr/>
            <p:nvPr/>
          </p:nvSpPr>
          <p:spPr>
            <a:xfrm>
              <a:off x="3317" y="1056"/>
              <a:ext cx="490" cy="229"/>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62" name="矩形 472114"/>
            <p:cNvSpPr/>
            <p:nvPr/>
          </p:nvSpPr>
          <p:spPr>
            <a:xfrm>
              <a:off x="2731" y="1056"/>
              <a:ext cx="489"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38963" name="组合 472115"/>
          <p:cNvGrpSpPr/>
          <p:nvPr/>
        </p:nvGrpSpPr>
        <p:grpSpPr>
          <a:xfrm>
            <a:off x="2933700" y="3422650"/>
            <a:ext cx="5999163" cy="989013"/>
            <a:chOff x="1918" y="1392"/>
            <a:chExt cx="3763" cy="607"/>
          </a:xfrm>
        </p:grpSpPr>
        <p:sp>
          <p:nvSpPr>
            <p:cNvPr id="38964" name="矩形 472116"/>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38965" name="组合 472117"/>
            <p:cNvGrpSpPr/>
            <p:nvPr/>
          </p:nvGrpSpPr>
          <p:grpSpPr>
            <a:xfrm>
              <a:off x="1979" y="1584"/>
              <a:ext cx="624" cy="223"/>
              <a:chOff x="1979" y="1584"/>
              <a:chExt cx="624" cy="223"/>
            </a:xfrm>
          </p:grpSpPr>
          <p:sp>
            <p:nvSpPr>
              <p:cNvPr id="38966" name="矩形 472118"/>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67" name="矩形 472119"/>
              <p:cNvSpPr/>
              <p:nvPr/>
            </p:nvSpPr>
            <p:spPr>
              <a:xfrm>
                <a:off x="2161" y="1584"/>
                <a:ext cx="289" cy="223"/>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38968" name="组合 472120"/>
            <p:cNvGrpSpPr/>
            <p:nvPr/>
          </p:nvGrpSpPr>
          <p:grpSpPr>
            <a:xfrm>
              <a:off x="2611" y="1584"/>
              <a:ext cx="580" cy="223"/>
              <a:chOff x="2611" y="1584"/>
              <a:chExt cx="580" cy="223"/>
            </a:xfrm>
          </p:grpSpPr>
          <p:sp>
            <p:nvSpPr>
              <p:cNvPr id="38969" name="矩形 472121"/>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70" name="矩形 472122"/>
              <p:cNvSpPr/>
              <p:nvPr/>
            </p:nvSpPr>
            <p:spPr>
              <a:xfrm>
                <a:off x="2776" y="1584"/>
                <a:ext cx="250" cy="223"/>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38971" name="组合 472123"/>
            <p:cNvGrpSpPr/>
            <p:nvPr/>
          </p:nvGrpSpPr>
          <p:grpSpPr>
            <a:xfrm>
              <a:off x="3199" y="1584"/>
              <a:ext cx="579" cy="223"/>
              <a:chOff x="3199" y="1584"/>
              <a:chExt cx="579" cy="223"/>
            </a:xfrm>
          </p:grpSpPr>
          <p:sp>
            <p:nvSpPr>
              <p:cNvPr id="38972" name="矩形 472124"/>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73" name="矩形 472125"/>
              <p:cNvSpPr/>
              <p:nvPr/>
            </p:nvSpPr>
            <p:spPr>
              <a:xfrm>
                <a:off x="3363" y="1584"/>
                <a:ext cx="217" cy="223"/>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38974" name="矩形 472126"/>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38975" name="矩形 472127"/>
            <p:cNvSpPr/>
            <p:nvPr/>
          </p:nvSpPr>
          <p:spPr>
            <a:xfrm>
              <a:off x="4289" y="1584"/>
              <a:ext cx="822" cy="223"/>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38976" name="矩形 472128"/>
            <p:cNvSpPr/>
            <p:nvPr/>
          </p:nvSpPr>
          <p:spPr>
            <a:xfrm>
              <a:off x="5488" y="1392"/>
              <a:ext cx="193" cy="223"/>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38977" name="矩形 472129"/>
            <p:cNvSpPr/>
            <p:nvPr/>
          </p:nvSpPr>
          <p:spPr>
            <a:xfrm>
              <a:off x="3590" y="1392"/>
              <a:ext cx="273" cy="223"/>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38978" name="矩形 472130"/>
            <p:cNvSpPr/>
            <p:nvPr/>
          </p:nvSpPr>
          <p:spPr>
            <a:xfrm>
              <a:off x="3002" y="1392"/>
              <a:ext cx="273" cy="223"/>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38979" name="矩形 472131"/>
            <p:cNvSpPr/>
            <p:nvPr/>
          </p:nvSpPr>
          <p:spPr>
            <a:xfrm>
              <a:off x="2414" y="1392"/>
              <a:ext cx="273" cy="223"/>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38980" name="矩形 472132"/>
            <p:cNvSpPr/>
            <p:nvPr/>
          </p:nvSpPr>
          <p:spPr>
            <a:xfrm>
              <a:off x="1918" y="1392"/>
              <a:ext cx="273" cy="223"/>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38981" name="矩形 472133"/>
            <p:cNvSpPr/>
            <p:nvPr/>
          </p:nvSpPr>
          <p:spPr>
            <a:xfrm>
              <a:off x="2143" y="1776"/>
              <a:ext cx="488" cy="223"/>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82" name="矩形 472134"/>
            <p:cNvSpPr/>
            <p:nvPr/>
          </p:nvSpPr>
          <p:spPr>
            <a:xfrm>
              <a:off x="4448" y="1776"/>
              <a:ext cx="568" cy="223"/>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83" name="矩形 472135"/>
            <p:cNvSpPr/>
            <p:nvPr/>
          </p:nvSpPr>
          <p:spPr>
            <a:xfrm>
              <a:off x="3318" y="1776"/>
              <a:ext cx="490" cy="223"/>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38984" name="矩形 472136"/>
            <p:cNvSpPr/>
            <p:nvPr/>
          </p:nvSpPr>
          <p:spPr>
            <a:xfrm>
              <a:off x="2731" y="1776"/>
              <a:ext cx="480" cy="223"/>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
        <p:nvSpPr>
          <p:cNvPr id="38985" name="文本框 472140"/>
          <p:cNvSpPr txBox="1"/>
          <p:nvPr/>
        </p:nvSpPr>
        <p:spPr>
          <a:xfrm>
            <a:off x="331788" y="908050"/>
            <a:ext cx="6232525" cy="396875"/>
          </a:xfrm>
          <a:prstGeom prst="rect">
            <a:avLst/>
          </a:prstGeom>
          <a:noFill/>
          <a:ln w="50800">
            <a:noFill/>
          </a:ln>
        </p:spPr>
        <p:txBody>
          <a:bodyPr anchor="t" anchorCtr="0">
            <a:spAutoFit/>
          </a:bodyPr>
          <a:p>
            <a:pPr eaLnBrk="0" hangingPunct="0">
              <a:spcBef>
                <a:spcPct val="50000"/>
              </a:spcBef>
            </a:pPr>
            <a:r>
              <a:rPr lang="en-US" altLang="zh-CN" sz="2000">
                <a:solidFill>
                  <a:srgbClr val="008000"/>
                </a:solidFill>
                <a:latin typeface="微软雅黑" panose="020B0503020204020204" pitchFamily="34" charset="-122"/>
                <a:ea typeface="微软雅黑" panose="020B0503020204020204" pitchFamily="34" charset="-122"/>
              </a:rPr>
              <a:t>MIPS</a:t>
            </a:r>
            <a:r>
              <a:rPr lang="zh-CN" altLang="en-US" sz="2000" dirty="0">
                <a:solidFill>
                  <a:srgbClr val="008000"/>
                </a:solidFill>
                <a:latin typeface="微软雅黑" panose="020B0503020204020204" pitchFamily="34" charset="-122"/>
                <a:ea typeface="微软雅黑" panose="020B0503020204020204" pitchFamily="34" charset="-122"/>
              </a:rPr>
              <a:t>有三种指令格式：</a:t>
            </a:r>
            <a:r>
              <a:rPr lang="en-US" altLang="zh-CN" sz="2000">
                <a:solidFill>
                  <a:srgbClr val="008000"/>
                </a:solidFill>
                <a:latin typeface="微软雅黑" panose="020B0503020204020204" pitchFamily="34" charset="-122"/>
                <a:ea typeface="微软雅黑" panose="020B0503020204020204" pitchFamily="34" charset="-122"/>
              </a:rPr>
              <a:t>R-</a:t>
            </a:r>
            <a:r>
              <a:rPr lang="zh-CN" altLang="en-US" sz="2000" dirty="0">
                <a:solidFill>
                  <a:srgbClr val="008000"/>
                </a:solidFill>
                <a:latin typeface="微软雅黑" panose="020B0503020204020204" pitchFamily="34" charset="-122"/>
                <a:ea typeface="微软雅黑" panose="020B0503020204020204" pitchFamily="34" charset="-122"/>
              </a:rPr>
              <a:t>型、</a:t>
            </a:r>
            <a:r>
              <a:rPr lang="en-US" altLang="zh-CN" sz="2000">
                <a:solidFill>
                  <a:srgbClr val="008000"/>
                </a:solidFill>
                <a:latin typeface="微软雅黑" panose="020B0503020204020204" pitchFamily="34" charset="-122"/>
                <a:ea typeface="微软雅黑" panose="020B0503020204020204" pitchFamily="34" charset="-122"/>
              </a:rPr>
              <a:t>I-</a:t>
            </a:r>
            <a:r>
              <a:rPr lang="zh-CN" altLang="en-US" sz="2000" dirty="0">
                <a:solidFill>
                  <a:srgbClr val="008000"/>
                </a:solidFill>
                <a:latin typeface="微软雅黑" panose="020B0503020204020204" pitchFamily="34" charset="-122"/>
                <a:ea typeface="微软雅黑" panose="020B0503020204020204" pitchFamily="34" charset="-122"/>
              </a:rPr>
              <a:t>型、</a:t>
            </a:r>
            <a:r>
              <a:rPr lang="en-US" altLang="zh-CN" sz="2000">
                <a:solidFill>
                  <a:srgbClr val="008000"/>
                </a:solidFill>
                <a:latin typeface="微软雅黑" panose="020B0503020204020204" pitchFamily="34" charset="-122"/>
                <a:ea typeface="微软雅黑" panose="020B0503020204020204" pitchFamily="34" charset="-122"/>
              </a:rPr>
              <a:t>J-</a:t>
            </a:r>
            <a:r>
              <a:rPr lang="zh-CN" altLang="en-US" sz="2000" dirty="0">
                <a:solidFill>
                  <a:srgbClr val="008000"/>
                </a:solidFill>
                <a:latin typeface="微软雅黑" panose="020B0503020204020204" pitchFamily="34" charset="-122"/>
                <a:ea typeface="微软雅黑" panose="020B0503020204020204" pitchFamily="34" charset="-122"/>
              </a:rPr>
              <a:t>型</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38986" name="矩形 472141"/>
          <p:cNvSpPr/>
          <p:nvPr/>
        </p:nvSpPr>
        <p:spPr>
          <a:xfrm>
            <a:off x="246063" y="1493838"/>
            <a:ext cx="8723312" cy="1393825"/>
          </a:xfrm>
          <a:prstGeom prst="rect">
            <a:avLst/>
          </a:prstGeom>
          <a:solidFill>
            <a:schemeClr val="accent1">
              <a:alpha val="12000"/>
            </a:schemeClr>
          </a:solidFill>
          <a:ln w="50800">
            <a:noFill/>
          </a:ln>
        </p:spPr>
        <p:txBody>
          <a:bodyPr anchor="t" anchorCtr="0"/>
          <a:p>
            <a:pPr eaLnBrk="0" hangingPunct="0"/>
            <a:endParaRPr lang="zh-CN" altLang="en-US">
              <a:latin typeface="Arial" panose="020B0604020202020204" pitchFamily="34" charset="0"/>
            </a:endParaRPr>
          </a:p>
        </p:txBody>
      </p:sp>
      <p:sp>
        <p:nvSpPr>
          <p:cNvPr id="38987" name="文本框 472142"/>
          <p:cNvSpPr txBox="1"/>
          <p:nvPr/>
        </p:nvSpPr>
        <p:spPr>
          <a:xfrm>
            <a:off x="4724400" y="2438400"/>
            <a:ext cx="2308225" cy="396875"/>
          </a:xfrm>
          <a:prstGeom prst="rect">
            <a:avLst/>
          </a:prstGeom>
          <a:noFill/>
          <a:ln w="50800">
            <a:noFill/>
          </a:ln>
        </p:spPr>
        <p:txBody>
          <a:bodyPr anchor="t" anchorCtr="0">
            <a:spAutoFit/>
          </a:bodyPr>
          <a:p>
            <a:pPr eaLnBrk="0" hangingPunct="0">
              <a:spcBef>
                <a:spcPct val="50000"/>
              </a:spcBef>
            </a:pPr>
            <a:r>
              <a:rPr lang="en-US" altLang="zh-CN" sz="2000">
                <a:solidFill>
                  <a:schemeClr val="accent1"/>
                </a:solidFill>
                <a:latin typeface="微软雅黑" panose="020B0503020204020204" pitchFamily="34" charset="-122"/>
                <a:ea typeface="微软雅黑" panose="020B0503020204020204" pitchFamily="34" charset="-122"/>
              </a:rPr>
              <a:t>R-</a:t>
            </a:r>
            <a:r>
              <a:rPr lang="zh-CN" altLang="en-US" sz="2000" dirty="0">
                <a:solidFill>
                  <a:schemeClr val="accent1"/>
                </a:solidFill>
                <a:latin typeface="微软雅黑" panose="020B0503020204020204" pitchFamily="34" charset="-122"/>
                <a:ea typeface="微软雅黑" panose="020B0503020204020204" pitchFamily="34" charset="-122"/>
              </a:rPr>
              <a:t>型指令格式</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38988" name="矩形 472143"/>
          <p:cNvSpPr/>
          <p:nvPr/>
        </p:nvSpPr>
        <p:spPr>
          <a:xfrm>
            <a:off x="246063" y="2889250"/>
            <a:ext cx="8723312" cy="2570163"/>
          </a:xfrm>
          <a:prstGeom prst="rect">
            <a:avLst/>
          </a:prstGeom>
          <a:solidFill>
            <a:schemeClr val="accent2">
              <a:alpha val="6000"/>
            </a:schemeClr>
          </a:solidFill>
          <a:ln w="50800">
            <a:noFill/>
          </a:ln>
        </p:spPr>
        <p:txBody>
          <a:bodyPr anchor="t" anchorCtr="0"/>
          <a:p>
            <a:pPr eaLnBrk="0" hangingPunct="0"/>
            <a:endParaRPr lang="zh-CN" altLang="en-US">
              <a:latin typeface="Arial" panose="020B0604020202020204" pitchFamily="34" charset="0"/>
            </a:endParaRPr>
          </a:p>
        </p:txBody>
      </p:sp>
      <p:sp>
        <p:nvSpPr>
          <p:cNvPr id="38989" name="文本框 472144"/>
          <p:cNvSpPr txBox="1"/>
          <p:nvPr/>
        </p:nvSpPr>
        <p:spPr>
          <a:xfrm>
            <a:off x="4535488" y="4516438"/>
            <a:ext cx="2308225" cy="396875"/>
          </a:xfrm>
          <a:prstGeom prst="rect">
            <a:avLst/>
          </a:prstGeom>
          <a:noFill/>
          <a:ln w="50800">
            <a:noFill/>
          </a:ln>
        </p:spPr>
        <p:txBody>
          <a:bodyPr anchor="t" anchorCtr="0">
            <a:spAutoFit/>
          </a:bodyPr>
          <a:p>
            <a:pPr eaLnBrk="0" hangingPunct="0">
              <a:spcBef>
                <a:spcPct val="50000"/>
              </a:spcBef>
            </a:pPr>
            <a:r>
              <a:rPr lang="en-US" altLang="zh-CN" sz="2000">
                <a:solidFill>
                  <a:schemeClr val="accent1"/>
                </a:solidFill>
                <a:latin typeface="微软雅黑" panose="020B0503020204020204" pitchFamily="34" charset="-122"/>
                <a:ea typeface="微软雅黑" panose="020B0503020204020204" pitchFamily="34" charset="-122"/>
              </a:rPr>
              <a:t>I-</a:t>
            </a:r>
            <a:r>
              <a:rPr lang="zh-CN" altLang="en-US" sz="2000" dirty="0">
                <a:solidFill>
                  <a:schemeClr val="accent1"/>
                </a:solidFill>
                <a:latin typeface="微软雅黑" panose="020B0503020204020204" pitchFamily="34" charset="-122"/>
                <a:ea typeface="微软雅黑" panose="020B0503020204020204" pitchFamily="34" charset="-122"/>
              </a:rPr>
              <a:t>型指令格式</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38990" name="矩形 472145"/>
          <p:cNvSpPr/>
          <p:nvPr/>
        </p:nvSpPr>
        <p:spPr>
          <a:xfrm>
            <a:off x="249238" y="5461000"/>
            <a:ext cx="8723312" cy="1216025"/>
          </a:xfrm>
          <a:prstGeom prst="rect">
            <a:avLst/>
          </a:prstGeom>
          <a:solidFill>
            <a:srgbClr val="339966">
              <a:alpha val="24001"/>
            </a:srgbClr>
          </a:solidFill>
          <a:ln w="50800">
            <a:noFill/>
          </a:ln>
        </p:spPr>
        <p:txBody>
          <a:bodyPr anchor="t" anchorCtr="0"/>
          <a:p>
            <a:pPr eaLnBrk="0" hangingPunct="0"/>
            <a:endParaRPr lang="zh-CN" altLang="en-US">
              <a:latin typeface="Arial" panose="020B0604020202020204" pitchFamily="34" charset="0"/>
            </a:endParaRPr>
          </a:p>
        </p:txBody>
      </p:sp>
      <p:sp>
        <p:nvSpPr>
          <p:cNvPr id="38991" name="文本框 472146"/>
          <p:cNvSpPr txBox="1"/>
          <p:nvPr/>
        </p:nvSpPr>
        <p:spPr>
          <a:xfrm>
            <a:off x="4514850" y="6318250"/>
            <a:ext cx="2308225" cy="396875"/>
          </a:xfrm>
          <a:prstGeom prst="rect">
            <a:avLst/>
          </a:prstGeom>
          <a:noFill/>
          <a:ln w="50800">
            <a:noFill/>
          </a:ln>
        </p:spPr>
        <p:txBody>
          <a:bodyPr anchor="t" anchorCtr="0">
            <a:spAutoFit/>
          </a:bodyPr>
          <a:p>
            <a:pPr eaLnBrk="0" hangingPunct="0">
              <a:spcBef>
                <a:spcPct val="50000"/>
              </a:spcBef>
            </a:pPr>
            <a:r>
              <a:rPr lang="en-US" altLang="zh-CN" sz="2000">
                <a:solidFill>
                  <a:schemeClr val="accent1"/>
                </a:solidFill>
                <a:latin typeface="微软雅黑" panose="020B0503020204020204" pitchFamily="34" charset="-122"/>
                <a:ea typeface="微软雅黑" panose="020B0503020204020204" pitchFamily="34" charset="-122"/>
              </a:rPr>
              <a:t>J-</a:t>
            </a:r>
            <a:r>
              <a:rPr lang="zh-CN" altLang="en-US" sz="2000" dirty="0">
                <a:solidFill>
                  <a:schemeClr val="accent1"/>
                </a:solidFill>
                <a:latin typeface="微软雅黑" panose="020B0503020204020204" pitchFamily="34" charset="-122"/>
                <a:ea typeface="微软雅黑" panose="020B0503020204020204" pitchFamily="34" charset="-122"/>
              </a:rPr>
              <a:t>型指令格式</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38992" name="文本框 472147"/>
          <p:cNvSpPr txBox="1"/>
          <p:nvPr/>
        </p:nvSpPr>
        <p:spPr>
          <a:xfrm>
            <a:off x="5965825" y="798513"/>
            <a:ext cx="2698750" cy="584200"/>
          </a:xfrm>
          <a:prstGeom prst="rect">
            <a:avLst/>
          </a:prstGeom>
          <a:noFill/>
          <a:ln w="50800">
            <a:noFill/>
          </a:ln>
        </p:spPr>
        <p:txBody>
          <a:bodyPr anchor="t" anchorCtr="0">
            <a:spAutoFit/>
          </a:bodyPr>
          <a:p>
            <a:pPr eaLnBrk="0" hangingPunct="0">
              <a:spcBef>
                <a:spcPct val="50000"/>
              </a:spcBef>
            </a:pPr>
            <a:r>
              <a:rPr lang="zh-CN" altLang="en-US" dirty="0">
                <a:latin typeface="微软雅黑" panose="020B0503020204020204" pitchFamily="34" charset="-122"/>
                <a:ea typeface="微软雅黑" panose="020B0503020204020204" pitchFamily="34" charset="-122"/>
              </a:rPr>
              <a:t>本节内容自行掌握，理解指令的执行过程</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81249"/>
          <p:cNvSpPr>
            <a:spLocks noGrp="1"/>
          </p:cNvSpPr>
          <p:nvPr>
            <p:ph type="title"/>
          </p:nvPr>
        </p:nvSpPr>
        <p:spPr>
          <a:xfrm>
            <a:off x="1112838" y="185738"/>
            <a:ext cx="7129462" cy="422275"/>
          </a:xfrm>
          <a:ln/>
        </p:spPr>
        <p:txBody>
          <a:bodyPr vert="horz" wrap="square" lIns="63500" tIns="25400" rIns="63500" bIns="25400" anchor="t" anchorCtr="0">
            <a:spAutoFit/>
          </a:bodyPr>
          <a:p>
            <a:r>
              <a:rPr lang="zh-CN" altLang="en-US" dirty="0">
                <a:ea typeface="宋体" panose="02010600030101010101" pitchFamily="2" charset="-122"/>
              </a:rPr>
              <a:t>设计处理器的步骤</a:t>
            </a:r>
            <a:endParaRPr lang="en-US" altLang="zh-CN">
              <a:ea typeface="宋体" panose="02010600030101010101" pitchFamily="2" charset="-122"/>
            </a:endParaRPr>
          </a:p>
        </p:txBody>
      </p:sp>
      <p:sp>
        <p:nvSpPr>
          <p:cNvPr id="181251" name="内容占位符 181250"/>
          <p:cNvSpPr>
            <a:spLocks noGrp="1"/>
          </p:cNvSpPr>
          <p:nvPr>
            <p:ph idx="1"/>
          </p:nvPr>
        </p:nvSpPr>
        <p:spPr>
          <a:xfrm>
            <a:off x="266700" y="974725"/>
            <a:ext cx="8408988" cy="2882265"/>
          </a:xfrm>
          <a:ln/>
        </p:spPr>
        <p:txBody>
          <a:bodyPr vert="horz" wrap="square" lIns="63500" tIns="25400" rIns="63500" bIns="25400" anchor="t" anchorCtr="0">
            <a:spAutoFit/>
          </a:bodyPr>
          <a:p>
            <a:pPr>
              <a:buNone/>
            </a:pPr>
            <a:r>
              <a:rPr lang="zh-CN" altLang="en-US" sz="2000" b="0" dirty="0">
                <a:ea typeface="黑体" panose="02010609060101010101" pitchFamily="49" charset="-122"/>
              </a:rPr>
              <a:t>第一步：</a:t>
            </a:r>
            <a:r>
              <a:rPr lang="zh-CN" altLang="en-US" sz="2000" dirty="0">
                <a:solidFill>
                  <a:srgbClr val="FF0000"/>
                </a:solidFill>
                <a:ea typeface="黑体" panose="02010609060101010101" pitchFamily="49" charset="-122"/>
              </a:rPr>
              <a:t>分析</a:t>
            </a:r>
            <a:r>
              <a:rPr lang="zh-CN" altLang="en-US" sz="2000" b="0" dirty="0">
                <a:ea typeface="黑体" panose="02010609060101010101" pitchFamily="49" charset="-122"/>
              </a:rPr>
              <a:t>每条指令的功能，并用</a:t>
            </a:r>
            <a:r>
              <a:rPr lang="en-US" altLang="zh-CN" sz="2000" b="0" dirty="0" err="1">
                <a:ea typeface="黑体" panose="02010609060101010101" pitchFamily="49" charset="-122"/>
              </a:rPr>
              <a:t>RTL(Register</a:t>
            </a:r>
            <a:r>
              <a:rPr lang="en-US" altLang="zh-CN" sz="2000" b="0">
                <a:ea typeface="黑体" panose="02010609060101010101" pitchFamily="49" charset="-122"/>
              </a:rPr>
              <a:t> Transfer Language)  </a:t>
            </a:r>
            <a:endParaRPr lang="en-US" altLang="zh-CN" sz="2000" b="0">
              <a:ea typeface="黑体" panose="02010609060101010101" pitchFamily="49" charset="-122"/>
            </a:endParaRPr>
          </a:p>
          <a:p>
            <a:pPr>
              <a:buNone/>
            </a:pPr>
            <a:r>
              <a:rPr lang="zh-CN" altLang="en-US" sz="2000" b="0" dirty="0">
                <a:ea typeface="黑体" panose="02010609060101010101" pitchFamily="49" charset="-122"/>
              </a:rPr>
              <a:t>              来表示。</a:t>
            </a:r>
            <a:endParaRPr lang="zh-CN" altLang="en-US" sz="2000" b="0" dirty="0">
              <a:ea typeface="黑体" panose="02010609060101010101" pitchFamily="49" charset="-122"/>
            </a:endParaRPr>
          </a:p>
          <a:p>
            <a:pPr>
              <a:buNone/>
            </a:pPr>
            <a:r>
              <a:rPr lang="zh-CN" altLang="en-US" sz="2000" b="0" dirty="0">
                <a:ea typeface="黑体" panose="02010609060101010101" pitchFamily="49" charset="-122"/>
              </a:rPr>
              <a:t>第二步：根据指令的功能给出</a:t>
            </a:r>
            <a:r>
              <a:rPr lang="zh-CN" altLang="en-US" sz="2000" dirty="0">
                <a:solidFill>
                  <a:srgbClr val="FF0000"/>
                </a:solidFill>
                <a:ea typeface="黑体" panose="02010609060101010101" pitchFamily="49" charset="-122"/>
              </a:rPr>
              <a:t>所需的元件</a:t>
            </a:r>
            <a:r>
              <a:rPr lang="zh-CN" altLang="en-US" sz="2000" b="0" dirty="0">
                <a:ea typeface="黑体" panose="02010609060101010101" pitchFamily="49" charset="-122"/>
              </a:rPr>
              <a:t>，并考虑</a:t>
            </a:r>
            <a:r>
              <a:rPr lang="zh-CN" altLang="en-US" sz="2000" dirty="0">
                <a:solidFill>
                  <a:srgbClr val="FF0000"/>
                </a:solidFill>
                <a:ea typeface="黑体" panose="02010609060101010101" pitchFamily="49" charset="-122"/>
              </a:rPr>
              <a:t>如何将他们互连</a:t>
            </a:r>
            <a:r>
              <a:rPr lang="zh-CN" altLang="en-US" sz="2000" b="0" dirty="0">
                <a:ea typeface="黑体" panose="02010609060101010101" pitchFamily="49" charset="-122"/>
              </a:rPr>
              <a:t>。</a:t>
            </a:r>
            <a:endParaRPr lang="zh-CN" altLang="en-US" sz="2000" b="0" dirty="0">
              <a:ea typeface="黑体" panose="02010609060101010101" pitchFamily="49" charset="-122"/>
            </a:endParaRPr>
          </a:p>
          <a:p>
            <a:pPr>
              <a:buNone/>
            </a:pPr>
            <a:r>
              <a:rPr lang="zh-CN" altLang="en-US" sz="2000" b="0" dirty="0">
                <a:ea typeface="黑体" panose="02010609060101010101" pitchFamily="49" charset="-122"/>
              </a:rPr>
              <a:t>第三步：确定每个元件所需</a:t>
            </a:r>
            <a:r>
              <a:rPr lang="zh-CN" altLang="en-US" sz="2000" dirty="0">
                <a:solidFill>
                  <a:srgbClr val="FF0000"/>
                </a:solidFill>
                <a:ea typeface="黑体" panose="02010609060101010101" pitchFamily="49" charset="-122"/>
              </a:rPr>
              <a:t>控制信号的取值</a:t>
            </a:r>
            <a:r>
              <a:rPr lang="zh-CN" altLang="en-US" sz="2000" b="0" dirty="0">
                <a:ea typeface="黑体" panose="02010609060101010101" pitchFamily="49" charset="-122"/>
              </a:rPr>
              <a:t>。</a:t>
            </a:r>
            <a:endParaRPr lang="zh-CN" altLang="en-US" sz="2000" b="0" dirty="0">
              <a:ea typeface="黑体" panose="02010609060101010101" pitchFamily="49" charset="-122"/>
            </a:endParaRPr>
          </a:p>
          <a:p>
            <a:pPr>
              <a:lnSpc>
                <a:spcPct val="115000"/>
              </a:lnSpc>
              <a:buNone/>
            </a:pPr>
            <a:r>
              <a:rPr lang="zh-CN" altLang="en-US" sz="2000" b="0" dirty="0">
                <a:ea typeface="黑体" panose="02010609060101010101" pitchFamily="49" charset="-122"/>
              </a:rPr>
              <a:t>第四步：汇总所有指令所涉及到的控制信号，生成一张反映</a:t>
            </a:r>
            <a:r>
              <a:rPr lang="zh-CN" altLang="en-US" sz="2000" dirty="0">
                <a:solidFill>
                  <a:srgbClr val="FF0000"/>
                </a:solidFill>
                <a:ea typeface="黑体" panose="02010609060101010101" pitchFamily="49" charset="-122"/>
              </a:rPr>
              <a:t>指令与控制信    	  号之间关系的表</a:t>
            </a:r>
            <a:r>
              <a:rPr lang="zh-CN" altLang="en-US" sz="2000" b="0" dirty="0">
                <a:ea typeface="黑体" panose="02010609060101010101" pitchFamily="49" charset="-122"/>
              </a:rPr>
              <a:t>。</a:t>
            </a:r>
            <a:endParaRPr lang="zh-CN" altLang="en-US" sz="2000" b="0" dirty="0">
              <a:ea typeface="黑体" panose="02010609060101010101" pitchFamily="49" charset="-122"/>
            </a:endParaRPr>
          </a:p>
          <a:p>
            <a:pPr>
              <a:lnSpc>
                <a:spcPct val="115000"/>
              </a:lnSpc>
              <a:buNone/>
            </a:pPr>
            <a:r>
              <a:rPr lang="zh-CN" altLang="en-US" sz="2000" b="0" dirty="0">
                <a:ea typeface="黑体" panose="02010609060101010101" pitchFamily="49" charset="-122"/>
              </a:rPr>
              <a:t>第五步：根据表得到每个控制信号的</a:t>
            </a:r>
            <a:r>
              <a:rPr lang="zh-CN" altLang="en-US" sz="2000" dirty="0">
                <a:solidFill>
                  <a:srgbClr val="FF0000"/>
                </a:solidFill>
                <a:ea typeface="黑体" panose="02010609060101010101" pitchFamily="49" charset="-122"/>
              </a:rPr>
              <a:t>逻辑表达式</a:t>
            </a:r>
            <a:r>
              <a:rPr lang="zh-CN" altLang="en-US" sz="2000" b="0" dirty="0">
                <a:ea typeface="黑体" panose="02010609060101010101" pitchFamily="49" charset="-122"/>
              </a:rPr>
              <a:t>，据此设计控制器电路。</a:t>
            </a:r>
            <a:endParaRPr lang="zh-CN" altLang="en-US" sz="2000" b="0" dirty="0">
              <a:ea typeface="黑体" panose="02010609060101010101" pitchFamily="49" charset="-122"/>
            </a:endParaRPr>
          </a:p>
        </p:txBody>
      </p:sp>
      <p:sp>
        <p:nvSpPr>
          <p:cNvPr id="181252" name="文本框 181251"/>
          <p:cNvSpPr txBox="1"/>
          <p:nvPr/>
        </p:nvSpPr>
        <p:spPr>
          <a:xfrm>
            <a:off x="500063" y="4183063"/>
            <a:ext cx="7532687" cy="1936750"/>
          </a:xfrm>
          <a:prstGeom prst="rect">
            <a:avLst/>
          </a:prstGeom>
          <a:noFill/>
          <a:ln w="25400">
            <a:noFill/>
          </a:ln>
        </p:spPr>
        <p:txBody>
          <a:bodyPr anchor="t" anchorCtr="0">
            <a:spAutoFit/>
          </a:bodyPr>
          <a:p>
            <a:pPr>
              <a:spcBef>
                <a:spcPct val="50000"/>
              </a:spcBef>
              <a:buClr>
                <a:schemeClr val="accent2"/>
              </a:buClr>
              <a:buSzPct val="75000"/>
              <a:buFont typeface="Wingdings" panose="05000000000000000000" pitchFamily="2" charset="2"/>
              <a:buChar char="u"/>
            </a:pPr>
            <a:r>
              <a:rPr lang="zh-CN" altLang="en-US" sz="2000" dirty="0">
                <a:solidFill>
                  <a:srgbClr val="0000FF"/>
                </a:solidFill>
                <a:latin typeface="Times New Roman" panose="02020603050405020304" pitchFamily="18" charset="0"/>
                <a:ea typeface="宋体" panose="02010600030101010101" pitchFamily="2" charset="-122"/>
              </a:rPr>
              <a:t> </a:t>
            </a:r>
            <a:r>
              <a:rPr lang="zh-CN" altLang="en-US" sz="2200" b="0" dirty="0">
                <a:solidFill>
                  <a:srgbClr val="0000FF"/>
                </a:solidFill>
                <a:latin typeface="Arial" panose="020B0604020202020204" pitchFamily="34" charset="0"/>
                <a:ea typeface="黑体" panose="02010609060101010101" pitchFamily="49" charset="-122"/>
              </a:rPr>
              <a:t>处理器设计涉及到</a:t>
            </a:r>
            <a:r>
              <a:rPr lang="zh-CN" altLang="en-US" sz="2200" b="0" dirty="0">
                <a:solidFill>
                  <a:schemeClr val="accent1"/>
                </a:solidFill>
                <a:latin typeface="Arial" panose="020B0604020202020204" pitchFamily="34" charset="0"/>
                <a:ea typeface="黑体" panose="02010609060101010101" pitchFamily="49" charset="-122"/>
              </a:rPr>
              <a:t>数据通路的设计</a:t>
            </a:r>
            <a:r>
              <a:rPr lang="zh-CN" altLang="en-US" sz="2200" b="0" dirty="0">
                <a:solidFill>
                  <a:srgbClr val="0000FF"/>
                </a:solidFill>
                <a:latin typeface="Arial" panose="020B0604020202020204" pitchFamily="34" charset="0"/>
                <a:ea typeface="黑体" panose="02010609060101010101" pitchFamily="49" charset="-122"/>
              </a:rPr>
              <a:t>和</a:t>
            </a:r>
            <a:r>
              <a:rPr lang="zh-CN" altLang="en-US" sz="2200" b="0" dirty="0">
                <a:solidFill>
                  <a:schemeClr val="accent1"/>
                </a:solidFill>
                <a:latin typeface="Arial" panose="020B0604020202020204" pitchFamily="34" charset="0"/>
                <a:ea typeface="黑体" panose="02010609060101010101" pitchFamily="49" charset="-122"/>
              </a:rPr>
              <a:t>控制器的设计</a:t>
            </a:r>
            <a:endParaRPr lang="zh-CN" altLang="en-US" sz="2200" b="0" dirty="0">
              <a:solidFill>
                <a:schemeClr val="accent1"/>
              </a:solidFill>
              <a:latin typeface="Arial" panose="020B0604020202020204" pitchFamily="34" charset="0"/>
              <a:ea typeface="黑体" panose="02010609060101010101" pitchFamily="49" charset="-122"/>
            </a:endParaRPr>
          </a:p>
          <a:p>
            <a:pPr>
              <a:spcBef>
                <a:spcPct val="50000"/>
              </a:spcBef>
              <a:buClr>
                <a:schemeClr val="accent2"/>
              </a:buClr>
              <a:buSzPct val="75000"/>
              <a:buFont typeface="Wingdings" panose="05000000000000000000" pitchFamily="2" charset="2"/>
              <a:buChar char="u"/>
            </a:pPr>
            <a:r>
              <a:rPr lang="zh-CN" altLang="en-US" sz="2200" b="0" dirty="0">
                <a:solidFill>
                  <a:srgbClr val="0000FF"/>
                </a:solidFill>
                <a:latin typeface="Arial" panose="020B0604020202020204" pitchFamily="34" charset="0"/>
                <a:ea typeface="黑体" panose="02010609060101010101" pitchFamily="49" charset="-122"/>
              </a:rPr>
              <a:t> 数据通路中有两种元件</a:t>
            </a:r>
            <a:endParaRPr lang="zh-CN" altLang="en-US" sz="2200" b="0" dirty="0">
              <a:solidFill>
                <a:srgbClr val="0000FF"/>
              </a:solidFill>
              <a:latin typeface="Arial" panose="020B0604020202020204" pitchFamily="34" charset="0"/>
              <a:ea typeface="黑体" panose="02010609060101010101" pitchFamily="49" charset="-122"/>
            </a:endParaRPr>
          </a:p>
          <a:p>
            <a:pPr lvl="1" indent="0">
              <a:spcBef>
                <a:spcPct val="50000"/>
              </a:spcBef>
              <a:buClr>
                <a:schemeClr val="tx1"/>
              </a:buClr>
              <a:buChar char="•"/>
            </a:pPr>
            <a:r>
              <a:rPr lang="zh-CN" altLang="en-US" sz="2200" b="0" dirty="0">
                <a:solidFill>
                  <a:srgbClr val="0000FF"/>
                </a:solidFill>
                <a:latin typeface="Arial" panose="020B0604020202020204" pitchFamily="34" charset="0"/>
                <a:ea typeface="黑体" panose="02010609060101010101" pitchFamily="49" charset="-122"/>
              </a:rPr>
              <a:t> </a:t>
            </a:r>
            <a:r>
              <a:rPr lang="zh-CN" altLang="en-US" sz="2200" b="0" dirty="0">
                <a:solidFill>
                  <a:srgbClr val="B7011F"/>
                </a:solidFill>
                <a:latin typeface="Arial" panose="020B0604020202020204" pitchFamily="34" charset="0"/>
                <a:ea typeface="黑体" panose="02010609060101010101" pitchFamily="49" charset="-122"/>
                <a:hlinkClick r:id="rId1" action="ppaction://hlinksldjump"/>
              </a:rPr>
              <a:t>操作元件</a:t>
            </a:r>
            <a:r>
              <a:rPr lang="zh-CN" altLang="en-US" sz="2200" b="0" dirty="0">
                <a:solidFill>
                  <a:srgbClr val="B7011F"/>
                </a:solidFill>
                <a:latin typeface="Arial" panose="020B0604020202020204" pitchFamily="34" charset="0"/>
                <a:ea typeface="黑体" panose="02010609060101010101" pitchFamily="49" charset="-122"/>
              </a:rPr>
              <a:t>：由组合逻辑电路实现</a:t>
            </a:r>
            <a:endParaRPr lang="zh-CN" altLang="en-US" sz="2200" b="0" dirty="0">
              <a:solidFill>
                <a:srgbClr val="B7011F"/>
              </a:solidFill>
              <a:latin typeface="Arial" panose="020B0604020202020204" pitchFamily="34" charset="0"/>
              <a:ea typeface="黑体" panose="02010609060101010101" pitchFamily="49" charset="-122"/>
            </a:endParaRPr>
          </a:p>
          <a:p>
            <a:pPr lvl="1" indent="0">
              <a:spcBef>
                <a:spcPct val="50000"/>
              </a:spcBef>
              <a:buClr>
                <a:schemeClr val="tx1"/>
              </a:buClr>
              <a:buChar char="•"/>
            </a:pPr>
            <a:r>
              <a:rPr lang="zh-CN" altLang="en-US" sz="2200" b="0" dirty="0">
                <a:solidFill>
                  <a:srgbClr val="B7011F"/>
                </a:solidFill>
                <a:latin typeface="Arial" panose="020B0604020202020204" pitchFamily="34" charset="0"/>
                <a:ea typeface="黑体" panose="02010609060101010101" pitchFamily="49" charset="-122"/>
              </a:rPr>
              <a:t> </a:t>
            </a:r>
            <a:r>
              <a:rPr lang="zh-CN" altLang="en-US" sz="2200" b="0" dirty="0">
                <a:solidFill>
                  <a:srgbClr val="B7011F"/>
                </a:solidFill>
                <a:latin typeface="Arial" panose="020B0604020202020204" pitchFamily="34" charset="0"/>
                <a:ea typeface="黑体" panose="02010609060101010101" pitchFamily="49" charset="-122"/>
                <a:hlinkClick r:id="rId2" action="ppaction://hlinksldjump"/>
              </a:rPr>
              <a:t>存储（状态）元件</a:t>
            </a:r>
            <a:r>
              <a:rPr lang="zh-CN" altLang="en-US" sz="2200" b="0" dirty="0">
                <a:solidFill>
                  <a:srgbClr val="B7011F"/>
                </a:solidFill>
                <a:latin typeface="Arial" panose="020B0604020202020204" pitchFamily="34" charset="0"/>
                <a:ea typeface="黑体" panose="02010609060101010101" pitchFamily="49" charset="-122"/>
              </a:rPr>
              <a:t>：由时序逻辑电路实现</a:t>
            </a:r>
            <a:endParaRPr lang="zh-CN" altLang="en-US" sz="2200" b="0" dirty="0">
              <a:solidFill>
                <a:srgbClr val="B7011F"/>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1251">
                                            <p:txEl>
                                              <p:charRg st="0" end="50"/>
                                            </p:txEl>
                                          </p:spTgt>
                                        </p:tgtEl>
                                        <p:attrNameLst>
                                          <p:attrName>style.visibility</p:attrName>
                                        </p:attrNameLst>
                                      </p:cBhvr>
                                      <p:to>
                                        <p:strVal val="visible"/>
                                      </p:to>
                                    </p:set>
                                    <p:animEffect transition="in" filter="blinds(horizontal)">
                                      <p:cBhvr>
                                        <p:cTn id="7" dur="500"/>
                                        <p:tgtEl>
                                          <p:spTgt spid="181251">
                                            <p:txEl>
                                              <p:charRg st="0" end="5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1251">
                                            <p:txEl>
                                              <p:charRg st="50" end="69"/>
                                            </p:txEl>
                                          </p:spTgt>
                                        </p:tgtEl>
                                        <p:attrNameLst>
                                          <p:attrName>style.visibility</p:attrName>
                                        </p:attrNameLst>
                                      </p:cBhvr>
                                      <p:to>
                                        <p:strVal val="visible"/>
                                      </p:to>
                                    </p:set>
                                    <p:animEffect transition="in" filter="blinds(horizontal)">
                                      <p:cBhvr>
                                        <p:cTn id="12" dur="500"/>
                                        <p:tgtEl>
                                          <p:spTgt spid="181251">
                                            <p:txEl>
                                              <p:charRg st="50" end="6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1251">
                                            <p:txEl>
                                              <p:charRg st="69" end="100"/>
                                            </p:txEl>
                                          </p:spTgt>
                                        </p:tgtEl>
                                        <p:attrNameLst>
                                          <p:attrName>style.visibility</p:attrName>
                                        </p:attrNameLst>
                                      </p:cBhvr>
                                      <p:to>
                                        <p:strVal val="visible"/>
                                      </p:to>
                                    </p:set>
                                    <p:animEffect transition="in" filter="blinds(horizontal)">
                                      <p:cBhvr>
                                        <p:cTn id="17" dur="500"/>
                                        <p:tgtEl>
                                          <p:spTgt spid="181251">
                                            <p:txEl>
                                              <p:charRg st="69" end="10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1251">
                                            <p:txEl>
                                              <p:charRg st="100" end="121"/>
                                            </p:txEl>
                                          </p:spTgt>
                                        </p:tgtEl>
                                        <p:attrNameLst>
                                          <p:attrName>style.visibility</p:attrName>
                                        </p:attrNameLst>
                                      </p:cBhvr>
                                      <p:to>
                                        <p:strVal val="visible"/>
                                      </p:to>
                                    </p:set>
                                    <p:animEffect transition="in" filter="blinds(horizontal)">
                                      <p:cBhvr>
                                        <p:cTn id="22" dur="500"/>
                                        <p:tgtEl>
                                          <p:spTgt spid="181251">
                                            <p:txEl>
                                              <p:charRg st="100" end="12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1251">
                                            <p:txEl>
                                              <p:charRg st="121" end="169"/>
                                            </p:txEl>
                                          </p:spTgt>
                                        </p:tgtEl>
                                        <p:attrNameLst>
                                          <p:attrName>style.visibility</p:attrName>
                                        </p:attrNameLst>
                                      </p:cBhvr>
                                      <p:to>
                                        <p:strVal val="visible"/>
                                      </p:to>
                                    </p:set>
                                    <p:animEffect transition="in" filter="blinds(horizontal)">
                                      <p:cBhvr>
                                        <p:cTn id="27" dur="500"/>
                                        <p:tgtEl>
                                          <p:spTgt spid="181251">
                                            <p:txEl>
                                              <p:charRg st="121" end="16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81251">
                                            <p:txEl>
                                              <p:charRg st="169" end="202"/>
                                            </p:txEl>
                                          </p:spTgt>
                                        </p:tgtEl>
                                        <p:attrNameLst>
                                          <p:attrName>style.visibility</p:attrName>
                                        </p:attrNameLst>
                                      </p:cBhvr>
                                      <p:to>
                                        <p:strVal val="visible"/>
                                      </p:to>
                                    </p:set>
                                    <p:animEffect transition="in" filter="blinds(horizontal)">
                                      <p:cBhvr>
                                        <p:cTn id="32" dur="500"/>
                                        <p:tgtEl>
                                          <p:spTgt spid="181251">
                                            <p:txEl>
                                              <p:charRg st="169" end="20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1252"/>
                                        </p:tgtEl>
                                        <p:attrNameLst>
                                          <p:attrName>style.visibility</p:attrName>
                                        </p:attrNameLst>
                                      </p:cBhvr>
                                      <p:to>
                                        <p:strVal val="visible"/>
                                      </p:to>
                                    </p:set>
                                    <p:animEffect transition="in" filter="blinds(horizontal)">
                                      <p:cBhvr>
                                        <p:cTn id="37" dur="500"/>
                                        <p:tgtEl>
                                          <p:spTgt spid="181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183297"/>
          <p:cNvSpPr>
            <a:spLocks noGrp="1"/>
          </p:cNvSpPr>
          <p:nvPr>
            <p:ph type="title"/>
          </p:nvPr>
        </p:nvSpPr>
        <p:spPr>
          <a:xfrm>
            <a:off x="276225" y="203200"/>
            <a:ext cx="9339263" cy="531813"/>
          </a:xfrm>
          <a:ln/>
        </p:spPr>
        <p:txBody>
          <a:bodyPr vert="horz" wrap="square" lIns="63500" tIns="25400" rIns="63500" bIns="25400" anchor="t" anchorCtr="0">
            <a:spAutoFit/>
          </a:bodyPr>
          <a:p>
            <a:r>
              <a:rPr lang="en-US" altLang="zh-CN">
                <a:ea typeface="宋体" panose="02010600030101010101" pitchFamily="2" charset="-122"/>
              </a:rPr>
              <a:t>RTL:  The ADD Instruction</a:t>
            </a:r>
            <a:r>
              <a:rPr lang="zh-CN" altLang="en-US" dirty="0">
                <a:ea typeface="宋体" panose="02010600030101010101" pitchFamily="2" charset="-122"/>
              </a:rPr>
              <a:t>（加法指令）</a:t>
            </a:r>
            <a:endParaRPr lang="zh-CN" altLang="en-US" dirty="0">
              <a:ea typeface="宋体" panose="02010600030101010101" pitchFamily="2" charset="-122"/>
            </a:endParaRPr>
          </a:p>
        </p:txBody>
      </p:sp>
      <p:sp>
        <p:nvSpPr>
          <p:cNvPr id="43010" name="文本占位符 183298"/>
          <p:cNvSpPr>
            <a:spLocks noGrp="1"/>
          </p:cNvSpPr>
          <p:nvPr>
            <p:ph idx="1"/>
          </p:nvPr>
        </p:nvSpPr>
        <p:spPr>
          <a:xfrm>
            <a:off x="498475" y="1517650"/>
            <a:ext cx="8370888" cy="3911600"/>
          </a:xfrm>
          <a:ln/>
        </p:spPr>
        <p:txBody>
          <a:bodyPr vert="horz" wrap="square" lIns="63500" tIns="25400" rIns="63500" bIns="25400" anchor="t" anchorCtr="0">
            <a:spAutoFit/>
          </a:bodyPr>
          <a:p>
            <a:endParaRPr lang="en-US" altLang="zh-CN">
              <a:ea typeface="宋体" panose="02010600030101010101" pitchFamily="2" charset="-122"/>
            </a:endParaRPr>
          </a:p>
          <a:p>
            <a:endParaRPr lang="en-US" altLang="zh-CN">
              <a:ea typeface="宋体" panose="02010600030101010101" pitchFamily="2" charset="-122"/>
            </a:endParaRPr>
          </a:p>
          <a:p>
            <a:r>
              <a:rPr lang="en-US" altLang="zh-CN" sz="2400">
                <a:ea typeface="宋体" panose="02010600030101010101" pitchFamily="2" charset="-122"/>
              </a:rPr>
              <a:t>add	rd, </a:t>
            </a:r>
            <a:r>
              <a:rPr lang="en-US" altLang="zh-CN" sz="2400" dirty="0" err="1">
                <a:ea typeface="宋体" panose="02010600030101010101" pitchFamily="2" charset="-122"/>
              </a:rPr>
              <a:t>rs</a:t>
            </a:r>
            <a:r>
              <a:rPr lang="en-US" altLang="zh-CN" sz="2400">
                <a:ea typeface="宋体" panose="02010600030101010101" pitchFamily="2" charset="-122"/>
              </a:rPr>
              <a:t>, </a:t>
            </a:r>
            <a:r>
              <a:rPr lang="en-US" altLang="zh-CN" sz="2400" dirty="0" err="1">
                <a:ea typeface="宋体" panose="02010600030101010101" pitchFamily="2" charset="-122"/>
              </a:rPr>
              <a:t>rt</a:t>
            </a:r>
            <a:endParaRPr lang="en-US" altLang="zh-CN" sz="2400">
              <a:ea typeface="宋体" panose="02010600030101010101" pitchFamily="2" charset="-122"/>
            </a:endParaRPr>
          </a:p>
          <a:p>
            <a:pPr lvl="1">
              <a:buNone/>
            </a:pPr>
            <a:endParaRPr lang="en-US" altLang="zh-CN" sz="2400">
              <a:ea typeface="宋体" panose="02010600030101010101" pitchFamily="2" charset="-122"/>
            </a:endParaRPr>
          </a:p>
          <a:p>
            <a:pPr lvl="1">
              <a:lnSpc>
                <a:spcPct val="105000"/>
              </a:lnSpc>
              <a:spcBef>
                <a:spcPct val="45000"/>
              </a:spcBef>
            </a:pPr>
            <a:r>
              <a:rPr lang="en-US" altLang="zh-CN" sz="2400">
                <a:solidFill>
                  <a:srgbClr val="CC0000"/>
                </a:solidFill>
                <a:ea typeface="宋体" panose="02010600030101010101" pitchFamily="2" charset="-122"/>
              </a:rPr>
              <a:t>M[PC]		</a:t>
            </a:r>
            <a:r>
              <a:rPr lang="zh-CN" altLang="en-US" sz="2400" dirty="0">
                <a:solidFill>
                  <a:srgbClr val="0000FF"/>
                </a:solidFill>
                <a:ea typeface="宋体" panose="02010600030101010101" pitchFamily="2" charset="-122"/>
              </a:rPr>
              <a:t>从</a:t>
            </a:r>
            <a:r>
              <a:rPr lang="en-US" altLang="zh-CN" sz="2400">
                <a:solidFill>
                  <a:srgbClr val="0000FF"/>
                </a:solidFill>
                <a:ea typeface="宋体" panose="02010600030101010101" pitchFamily="2" charset="-122"/>
              </a:rPr>
              <a:t>PC</a:t>
            </a:r>
            <a:r>
              <a:rPr lang="zh-CN" altLang="en-US" sz="2400" dirty="0">
                <a:solidFill>
                  <a:srgbClr val="0000FF"/>
                </a:solidFill>
                <a:ea typeface="宋体" panose="02010600030101010101" pitchFamily="2" charset="-122"/>
              </a:rPr>
              <a:t>所指的内存单元中取指令</a:t>
            </a:r>
            <a:endParaRPr lang="en-US" altLang="zh-CN" sz="2400">
              <a:solidFill>
                <a:srgbClr val="0000FF"/>
              </a:solidFill>
              <a:ea typeface="宋体" panose="02010600030101010101" pitchFamily="2" charset="-122"/>
            </a:endParaRPr>
          </a:p>
          <a:p>
            <a:pPr lvl="1">
              <a:lnSpc>
                <a:spcPct val="105000"/>
              </a:lnSpc>
              <a:spcBef>
                <a:spcPct val="45000"/>
              </a:spcBef>
            </a:pPr>
            <a:r>
              <a:rPr lang="en-US" altLang="zh-CN" sz="2400" dirty="0" err="1">
                <a:solidFill>
                  <a:srgbClr val="CC0000"/>
                </a:solidFill>
                <a:ea typeface="宋体" panose="02010600030101010101" pitchFamily="2" charset="-122"/>
              </a:rPr>
              <a:t>R[rd</a:t>
            </a:r>
            <a:r>
              <a:rPr lang="en-US" altLang="zh-CN" sz="2400">
                <a:solidFill>
                  <a:srgbClr val="CC0000"/>
                </a:solidFill>
                <a:ea typeface="宋体" panose="02010600030101010101" pitchFamily="2" charset="-122"/>
              </a:rPr>
              <a:t>] </a:t>
            </a:r>
            <a:r>
              <a:rPr lang="en-US" altLang="zh-CN" sz="2400">
                <a:solidFill>
                  <a:srgbClr val="CC0000"/>
                </a:solidFill>
                <a:ea typeface="宋体" panose="02010600030101010101" pitchFamily="2" charset="-122"/>
                <a:sym typeface="Wingdings" panose="05000000000000000000" pitchFamily="2" charset="2"/>
              </a:rPr>
              <a:t>←</a:t>
            </a:r>
            <a:r>
              <a:rPr lang="en-US" altLang="zh-CN" sz="2400">
                <a:solidFill>
                  <a:srgbClr val="CC0000"/>
                </a:solidFill>
                <a:ea typeface="宋体" panose="02010600030101010101" pitchFamily="2" charset="-122"/>
              </a:rPr>
              <a:t> </a:t>
            </a:r>
            <a:r>
              <a:rPr lang="en-US" altLang="zh-CN" sz="2400" dirty="0" err="1">
                <a:solidFill>
                  <a:srgbClr val="CC0000"/>
                </a:solidFill>
                <a:ea typeface="宋体" panose="02010600030101010101" pitchFamily="2" charset="-122"/>
              </a:rPr>
              <a:t>R[rs</a:t>
            </a:r>
            <a:r>
              <a:rPr lang="en-US" altLang="zh-CN" sz="2400">
                <a:solidFill>
                  <a:srgbClr val="CC0000"/>
                </a:solidFill>
                <a:ea typeface="宋体" panose="02010600030101010101" pitchFamily="2" charset="-122"/>
              </a:rPr>
              <a:t>] + </a:t>
            </a:r>
            <a:r>
              <a:rPr lang="en-US" altLang="zh-CN" sz="2400" dirty="0" err="1">
                <a:solidFill>
                  <a:srgbClr val="CC0000"/>
                </a:solidFill>
                <a:ea typeface="宋体" panose="02010600030101010101" pitchFamily="2" charset="-122"/>
              </a:rPr>
              <a:t>R[rt</a:t>
            </a:r>
            <a:r>
              <a:rPr lang="en-US" altLang="zh-CN" sz="2400">
                <a:solidFill>
                  <a:srgbClr val="CC0000"/>
                </a:solidFill>
                <a:ea typeface="宋体" panose="02010600030101010101" pitchFamily="2" charset="-122"/>
              </a:rPr>
              <a:t>]	 </a:t>
            </a:r>
            <a:r>
              <a:rPr lang="zh-CN" altLang="en-US" sz="2400" dirty="0">
                <a:solidFill>
                  <a:srgbClr val="0000FF"/>
                </a:solidFill>
                <a:ea typeface="宋体" panose="02010600030101010101" pitchFamily="2" charset="-122"/>
              </a:rPr>
              <a:t>从</a:t>
            </a:r>
            <a:r>
              <a:rPr lang="en-US" altLang="zh-CN" sz="2400" dirty="0" err="1">
                <a:solidFill>
                  <a:srgbClr val="0000FF"/>
                </a:solidFill>
                <a:ea typeface="宋体" panose="02010600030101010101" pitchFamily="2" charset="-122"/>
              </a:rPr>
              <a:t>rs</a:t>
            </a:r>
            <a:r>
              <a:rPr lang="zh-CN" altLang="en-US" sz="2400" dirty="0">
                <a:solidFill>
                  <a:srgbClr val="0000FF"/>
                </a:solidFill>
                <a:ea typeface="宋体" panose="02010600030101010101" pitchFamily="2" charset="-122"/>
              </a:rPr>
              <a:t>、</a:t>
            </a:r>
            <a:r>
              <a:rPr lang="en-US" altLang="zh-CN" sz="2400" dirty="0" err="1">
                <a:solidFill>
                  <a:srgbClr val="0000FF"/>
                </a:solidFill>
                <a:ea typeface="宋体" panose="02010600030101010101" pitchFamily="2" charset="-122"/>
              </a:rPr>
              <a:t>rt</a:t>
            </a:r>
            <a:r>
              <a:rPr lang="en-US" altLang="zh-CN" sz="240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所指的寄存器中取数后</a:t>
            </a:r>
            <a:endParaRPr lang="zh-CN" altLang="en-US" sz="2400" dirty="0">
              <a:solidFill>
                <a:srgbClr val="0000FF"/>
              </a:solidFill>
              <a:ea typeface="宋体" panose="02010600030101010101" pitchFamily="2" charset="-122"/>
            </a:endParaRPr>
          </a:p>
          <a:p>
            <a:pPr lvl="1">
              <a:lnSpc>
                <a:spcPct val="105000"/>
              </a:lnSpc>
              <a:spcBef>
                <a:spcPct val="45000"/>
              </a:spcBef>
              <a:buNone/>
            </a:pPr>
            <a:r>
              <a:rPr lang="zh-CN" altLang="en-US" sz="2400" dirty="0">
                <a:solidFill>
                  <a:srgbClr val="0000FF"/>
                </a:solidFill>
                <a:ea typeface="宋体" panose="02010600030101010101" pitchFamily="2" charset="-122"/>
              </a:rPr>
              <a:t>                                      相加，结果送</a:t>
            </a:r>
            <a:r>
              <a:rPr lang="en-US" altLang="zh-CN" sz="2400">
                <a:solidFill>
                  <a:srgbClr val="0000FF"/>
                </a:solidFill>
                <a:ea typeface="宋体" panose="02010600030101010101" pitchFamily="2" charset="-122"/>
              </a:rPr>
              <a:t>rd </a:t>
            </a:r>
            <a:r>
              <a:rPr lang="zh-CN" altLang="en-US" sz="2400" dirty="0">
                <a:solidFill>
                  <a:srgbClr val="0000FF"/>
                </a:solidFill>
                <a:ea typeface="宋体" panose="02010600030101010101" pitchFamily="2" charset="-122"/>
              </a:rPr>
              <a:t>所指的寄存器中</a:t>
            </a:r>
            <a:endParaRPr lang="en-US" altLang="zh-CN" sz="2400">
              <a:solidFill>
                <a:srgbClr val="CC0000"/>
              </a:solidFill>
              <a:ea typeface="宋体" panose="02010600030101010101" pitchFamily="2" charset="-122"/>
            </a:endParaRPr>
          </a:p>
          <a:p>
            <a:pPr lvl="1">
              <a:lnSpc>
                <a:spcPct val="105000"/>
              </a:lnSpc>
              <a:spcBef>
                <a:spcPct val="45000"/>
              </a:spcBef>
            </a:pPr>
            <a:r>
              <a:rPr lang="en-US" altLang="zh-CN" sz="2400">
                <a:solidFill>
                  <a:srgbClr val="CC0000"/>
                </a:solidFill>
                <a:ea typeface="宋体" panose="02010600030101010101" pitchFamily="2" charset="-122"/>
              </a:rPr>
              <a:t>PC </a:t>
            </a:r>
            <a:r>
              <a:rPr lang="en-US" altLang="zh-CN" sz="2400">
                <a:solidFill>
                  <a:srgbClr val="CC0000"/>
                </a:solidFill>
                <a:ea typeface="宋体" panose="02010600030101010101" pitchFamily="2" charset="-122"/>
                <a:sym typeface="Wingdings" panose="05000000000000000000" pitchFamily="2" charset="2"/>
              </a:rPr>
              <a:t>←</a:t>
            </a:r>
            <a:r>
              <a:rPr lang="en-US" altLang="zh-CN" sz="2400">
                <a:solidFill>
                  <a:srgbClr val="CC0000"/>
                </a:solidFill>
                <a:ea typeface="宋体" panose="02010600030101010101" pitchFamily="2" charset="-122"/>
              </a:rPr>
              <a:t> PC + 4	 </a:t>
            </a:r>
            <a:r>
              <a:rPr lang="en-US" altLang="zh-CN" sz="2400">
                <a:solidFill>
                  <a:srgbClr val="0000FF"/>
                </a:solidFill>
                <a:ea typeface="宋体" panose="02010600030101010101" pitchFamily="2" charset="-122"/>
              </a:rPr>
              <a:t>PC</a:t>
            </a:r>
            <a:r>
              <a:rPr lang="zh-CN" altLang="en-US" sz="2400" dirty="0">
                <a:solidFill>
                  <a:srgbClr val="0000FF"/>
                </a:solidFill>
                <a:ea typeface="宋体" panose="02010600030101010101" pitchFamily="2" charset="-122"/>
              </a:rPr>
              <a:t>加</a:t>
            </a:r>
            <a:r>
              <a:rPr lang="en-US" altLang="zh-CN" sz="2400">
                <a:solidFill>
                  <a:srgbClr val="0000FF"/>
                </a:solidFill>
                <a:ea typeface="宋体" panose="02010600030101010101" pitchFamily="2" charset="-122"/>
              </a:rPr>
              <a:t>4</a:t>
            </a:r>
            <a:r>
              <a:rPr lang="zh-CN" altLang="en-US" sz="2400" dirty="0">
                <a:solidFill>
                  <a:srgbClr val="0000FF"/>
                </a:solidFill>
                <a:ea typeface="宋体" panose="02010600030101010101" pitchFamily="2" charset="-122"/>
              </a:rPr>
              <a:t>，使</a:t>
            </a:r>
            <a:r>
              <a:rPr lang="en-US" altLang="zh-CN" sz="2400">
                <a:solidFill>
                  <a:srgbClr val="0000FF"/>
                </a:solidFill>
                <a:ea typeface="宋体" panose="02010600030101010101" pitchFamily="2" charset="-122"/>
              </a:rPr>
              <a:t>PC</a:t>
            </a:r>
            <a:r>
              <a:rPr lang="zh-CN" altLang="en-US" sz="2400" dirty="0">
                <a:solidFill>
                  <a:srgbClr val="0000FF"/>
                </a:solidFill>
                <a:ea typeface="宋体" panose="02010600030101010101" pitchFamily="2" charset="-122"/>
              </a:rPr>
              <a:t>指向下一条指令</a:t>
            </a:r>
            <a:endParaRPr lang="zh-CN" altLang="en-US" sz="2400" dirty="0">
              <a:solidFill>
                <a:srgbClr val="0000FF"/>
              </a:solidFill>
              <a:ea typeface="宋体" panose="02010600030101010101" pitchFamily="2" charset="-122"/>
            </a:endParaRPr>
          </a:p>
        </p:txBody>
      </p:sp>
      <p:grpSp>
        <p:nvGrpSpPr>
          <p:cNvPr id="183331" name="组合 183330"/>
          <p:cNvGrpSpPr/>
          <p:nvPr/>
        </p:nvGrpSpPr>
        <p:grpSpPr>
          <a:xfrm>
            <a:off x="2270125" y="990600"/>
            <a:ext cx="5905500" cy="973138"/>
            <a:chOff x="1918" y="672"/>
            <a:chExt cx="3767" cy="613"/>
          </a:xfrm>
        </p:grpSpPr>
        <p:grpSp>
          <p:nvGrpSpPr>
            <p:cNvPr id="43012" name="组合 183331"/>
            <p:cNvGrpSpPr/>
            <p:nvPr/>
          </p:nvGrpSpPr>
          <p:grpSpPr>
            <a:xfrm>
              <a:off x="1918" y="672"/>
              <a:ext cx="3767" cy="421"/>
              <a:chOff x="1918" y="672"/>
              <a:chExt cx="3767" cy="421"/>
            </a:xfrm>
          </p:grpSpPr>
          <p:grpSp>
            <p:nvGrpSpPr>
              <p:cNvPr id="43013" name="组合 183332"/>
              <p:cNvGrpSpPr/>
              <p:nvPr/>
            </p:nvGrpSpPr>
            <p:grpSpPr>
              <a:xfrm>
                <a:off x="1979" y="864"/>
                <a:ext cx="3607" cy="229"/>
                <a:chOff x="1979" y="864"/>
                <a:chExt cx="3607" cy="229"/>
              </a:xfrm>
            </p:grpSpPr>
            <p:sp>
              <p:nvSpPr>
                <p:cNvPr id="43014" name="矩形 183333"/>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43015" name="组合 183334"/>
                <p:cNvGrpSpPr/>
                <p:nvPr/>
              </p:nvGrpSpPr>
              <p:grpSpPr>
                <a:xfrm>
                  <a:off x="1979" y="864"/>
                  <a:ext cx="3607" cy="229"/>
                  <a:chOff x="1979" y="864"/>
                  <a:chExt cx="3607" cy="229"/>
                </a:xfrm>
              </p:grpSpPr>
              <p:grpSp>
                <p:nvGrpSpPr>
                  <p:cNvPr id="43016" name="组合 183335"/>
                  <p:cNvGrpSpPr/>
                  <p:nvPr/>
                </p:nvGrpSpPr>
                <p:grpSpPr>
                  <a:xfrm>
                    <a:off x="1979" y="864"/>
                    <a:ext cx="624" cy="229"/>
                    <a:chOff x="1979" y="864"/>
                    <a:chExt cx="624" cy="229"/>
                  </a:xfrm>
                </p:grpSpPr>
                <p:sp>
                  <p:nvSpPr>
                    <p:cNvPr id="43017" name="矩形 183336"/>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3018" name="矩形 183337"/>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43019" name="组合 183338"/>
                  <p:cNvGrpSpPr/>
                  <p:nvPr/>
                </p:nvGrpSpPr>
                <p:grpSpPr>
                  <a:xfrm>
                    <a:off x="2611" y="864"/>
                    <a:ext cx="580" cy="229"/>
                    <a:chOff x="2611" y="864"/>
                    <a:chExt cx="580" cy="229"/>
                  </a:xfrm>
                </p:grpSpPr>
                <p:sp>
                  <p:nvSpPr>
                    <p:cNvPr id="43020" name="矩形 183339"/>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3021" name="矩形 183340"/>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43022" name="组合 183341"/>
                  <p:cNvGrpSpPr/>
                  <p:nvPr/>
                </p:nvGrpSpPr>
                <p:grpSpPr>
                  <a:xfrm>
                    <a:off x="3199" y="864"/>
                    <a:ext cx="579" cy="229"/>
                    <a:chOff x="3199" y="864"/>
                    <a:chExt cx="579" cy="229"/>
                  </a:xfrm>
                </p:grpSpPr>
                <p:sp>
                  <p:nvSpPr>
                    <p:cNvPr id="43023" name="矩形 183342"/>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3024" name="矩形 183343"/>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43025" name="组合 183344"/>
                  <p:cNvGrpSpPr/>
                  <p:nvPr/>
                </p:nvGrpSpPr>
                <p:grpSpPr>
                  <a:xfrm>
                    <a:off x="3786" y="864"/>
                    <a:ext cx="579" cy="229"/>
                    <a:chOff x="3786" y="864"/>
                    <a:chExt cx="579" cy="229"/>
                  </a:xfrm>
                </p:grpSpPr>
                <p:sp>
                  <p:nvSpPr>
                    <p:cNvPr id="43026" name="矩形 183345"/>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3027" name="矩形 183346"/>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43028" name="组合 183347"/>
                  <p:cNvGrpSpPr/>
                  <p:nvPr/>
                </p:nvGrpSpPr>
                <p:grpSpPr>
                  <a:xfrm>
                    <a:off x="4373" y="864"/>
                    <a:ext cx="620" cy="229"/>
                    <a:chOff x="4373" y="864"/>
                    <a:chExt cx="620" cy="229"/>
                  </a:xfrm>
                </p:grpSpPr>
                <p:sp>
                  <p:nvSpPr>
                    <p:cNvPr id="43029" name="矩形 183348"/>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3030" name="矩形 183349"/>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43031" name="组合 183350"/>
                  <p:cNvGrpSpPr/>
                  <p:nvPr/>
                </p:nvGrpSpPr>
                <p:grpSpPr>
                  <a:xfrm>
                    <a:off x="4961" y="864"/>
                    <a:ext cx="625" cy="229"/>
                    <a:chOff x="4961" y="864"/>
                    <a:chExt cx="625" cy="229"/>
                  </a:xfrm>
                </p:grpSpPr>
                <p:sp>
                  <p:nvSpPr>
                    <p:cNvPr id="43032" name="矩形 183351"/>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3033" name="矩形 183352"/>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43034" name="矩形 183353"/>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43035" name="矩形 183354"/>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43036" name="矩形 183355"/>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43037" name="矩形 183356"/>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43038" name="矩形 183357"/>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43039" name="矩形 183358"/>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43040" name="矩形 183359"/>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43041" name="矩形 183360"/>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3042" name="矩形 183361"/>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3043" name="矩形 183362"/>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3044" name="矩形 183363"/>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3045" name="矩形 183364"/>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3046" name="矩形 183365"/>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3331"/>
                                        </p:tgtEl>
                                        <p:attrNameLst>
                                          <p:attrName>style.visibility</p:attrName>
                                        </p:attrNameLst>
                                      </p:cBhvr>
                                      <p:to>
                                        <p:strVal val="visible"/>
                                      </p:to>
                                    </p:set>
                                    <p:animEffect transition="in" filter="blinds(horizontal)">
                                      <p:cBhvr>
                                        <p:cTn id="7" dur="500"/>
                                        <p:tgtEl>
                                          <p:spTgt spid="183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185345"/>
          <p:cNvSpPr>
            <a:spLocks noGrp="1"/>
          </p:cNvSpPr>
          <p:nvPr>
            <p:ph type="title"/>
          </p:nvPr>
        </p:nvSpPr>
        <p:spPr>
          <a:xfrm>
            <a:off x="342900" y="196850"/>
            <a:ext cx="8801100" cy="531813"/>
          </a:xfrm>
          <a:ln/>
        </p:spPr>
        <p:txBody>
          <a:bodyPr vert="horz" wrap="square" lIns="63500" tIns="25400" rIns="63500" bIns="25400" anchor="t" anchorCtr="0">
            <a:spAutoFit/>
          </a:bodyPr>
          <a:p>
            <a:r>
              <a:rPr lang="en-US" altLang="zh-CN">
                <a:ea typeface="宋体" panose="02010600030101010101" pitchFamily="2" charset="-122"/>
              </a:rPr>
              <a:t>RTL: The Load Instruction</a:t>
            </a:r>
            <a:r>
              <a:rPr lang="zh-CN" altLang="en-US" dirty="0">
                <a:ea typeface="宋体" panose="02010600030101010101" pitchFamily="2" charset="-122"/>
              </a:rPr>
              <a:t>（装入指令）</a:t>
            </a:r>
            <a:endParaRPr lang="zh-CN" altLang="en-US" dirty="0">
              <a:ea typeface="宋体" panose="02010600030101010101" pitchFamily="2" charset="-122"/>
            </a:endParaRPr>
          </a:p>
        </p:txBody>
      </p:sp>
      <p:sp>
        <p:nvSpPr>
          <p:cNvPr id="45058" name="文本占位符 185346"/>
          <p:cNvSpPr>
            <a:spLocks noGrp="1"/>
          </p:cNvSpPr>
          <p:nvPr>
            <p:ph idx="1"/>
          </p:nvPr>
        </p:nvSpPr>
        <p:spPr>
          <a:xfrm>
            <a:off x="342900" y="2184400"/>
            <a:ext cx="8191500" cy="3517900"/>
          </a:xfrm>
          <a:ln/>
        </p:spPr>
        <p:txBody>
          <a:bodyPr vert="horz" wrap="square" lIns="63500" tIns="25400" rIns="63500" bIns="25400" anchor="t" anchorCtr="0">
            <a:spAutoFit/>
          </a:bodyPr>
          <a:p>
            <a:r>
              <a:rPr lang="en-US" altLang="zh-CN" sz="2500" dirty="0" err="1">
                <a:ea typeface="宋体" panose="02010600030101010101" pitchFamily="2" charset="-122"/>
              </a:rPr>
              <a:t>lw</a:t>
            </a:r>
            <a:r>
              <a:rPr lang="en-US" altLang="zh-CN" sz="2500">
                <a:ea typeface="宋体" panose="02010600030101010101" pitchFamily="2" charset="-122"/>
              </a:rPr>
              <a:t>	</a:t>
            </a:r>
            <a:r>
              <a:rPr lang="en-US" altLang="zh-CN" sz="2500" dirty="0" err="1">
                <a:ea typeface="宋体" panose="02010600030101010101" pitchFamily="2" charset="-122"/>
              </a:rPr>
              <a:t>rt</a:t>
            </a:r>
            <a:r>
              <a:rPr lang="en-US" altLang="zh-CN" sz="2500">
                <a:ea typeface="宋体" panose="02010600030101010101" pitchFamily="2" charset="-122"/>
              </a:rPr>
              <a:t>, </a:t>
            </a:r>
            <a:r>
              <a:rPr lang="en-US" altLang="zh-CN" sz="2500" dirty="0" err="1">
                <a:ea typeface="宋体" panose="02010600030101010101" pitchFamily="2" charset="-122"/>
              </a:rPr>
              <a:t>rs</a:t>
            </a:r>
            <a:r>
              <a:rPr lang="en-US" altLang="zh-CN" sz="2500">
                <a:ea typeface="宋体" panose="02010600030101010101" pitchFamily="2" charset="-122"/>
              </a:rPr>
              <a:t>, imm16</a:t>
            </a:r>
            <a:endParaRPr lang="en-US" altLang="zh-CN" sz="2500">
              <a:ea typeface="宋体" panose="02010600030101010101" pitchFamily="2" charset="-122"/>
            </a:endParaRPr>
          </a:p>
          <a:p>
            <a:pPr lvl="1"/>
            <a:r>
              <a:rPr lang="en-US" altLang="zh-CN" sz="2500">
                <a:solidFill>
                  <a:srgbClr val="CC0000"/>
                </a:solidFill>
                <a:ea typeface="宋体" panose="02010600030101010101" pitchFamily="2" charset="-122"/>
              </a:rPr>
              <a:t>M[PC]		   </a:t>
            </a:r>
            <a:r>
              <a:rPr lang="en-US" altLang="zh-CN" sz="2500">
                <a:solidFill>
                  <a:srgbClr val="0000FF"/>
                </a:solidFill>
                <a:ea typeface="宋体" panose="02010600030101010101" pitchFamily="2" charset="-122"/>
              </a:rPr>
              <a:t>(</a:t>
            </a:r>
            <a:r>
              <a:rPr lang="zh-CN" altLang="en-US" sz="2500" dirty="0">
                <a:solidFill>
                  <a:srgbClr val="0000FF"/>
                </a:solidFill>
                <a:ea typeface="宋体" panose="02010600030101010101" pitchFamily="2" charset="-122"/>
              </a:rPr>
              <a:t>同加法指令</a:t>
            </a:r>
            <a:r>
              <a:rPr lang="en-US" altLang="zh-CN" sz="2500">
                <a:solidFill>
                  <a:srgbClr val="0000FF"/>
                </a:solidFill>
                <a:ea typeface="宋体" panose="02010600030101010101" pitchFamily="2" charset="-122"/>
              </a:rPr>
              <a:t>)</a:t>
            </a:r>
            <a:endParaRPr lang="en-US" altLang="zh-CN" sz="2500">
              <a:solidFill>
                <a:srgbClr val="CC0000"/>
              </a:solidFill>
              <a:ea typeface="宋体" panose="02010600030101010101" pitchFamily="2" charset="-122"/>
            </a:endParaRPr>
          </a:p>
          <a:p>
            <a:pPr lvl="1"/>
            <a:r>
              <a:rPr lang="en-US" altLang="zh-CN" sz="2500" dirty="0" err="1">
                <a:solidFill>
                  <a:srgbClr val="CC0000"/>
                </a:solidFill>
                <a:ea typeface="宋体" panose="02010600030101010101" pitchFamily="2" charset="-122"/>
              </a:rPr>
              <a:t>Addr</a:t>
            </a:r>
            <a:r>
              <a:rPr lang="en-US" altLang="zh-CN" sz="2500">
                <a:solidFill>
                  <a:srgbClr val="CC0000"/>
                </a:solidFill>
                <a:ea typeface="宋体" panose="02010600030101010101" pitchFamily="2" charset="-122"/>
              </a:rPr>
              <a:t> </a:t>
            </a:r>
            <a:r>
              <a:rPr lang="en-US" altLang="zh-CN" sz="2500">
                <a:solidFill>
                  <a:srgbClr val="CC0000"/>
                </a:solidFill>
                <a:ea typeface="宋体" panose="02010600030101010101" pitchFamily="2" charset="-122"/>
                <a:sym typeface="Wingdings" panose="05000000000000000000" pitchFamily="2" charset="2"/>
              </a:rPr>
              <a:t>←</a:t>
            </a:r>
            <a:r>
              <a:rPr lang="en-US" altLang="zh-CN" sz="2500">
                <a:solidFill>
                  <a:srgbClr val="CC0000"/>
                </a:solidFill>
                <a:ea typeface="宋体" panose="02010600030101010101" pitchFamily="2" charset="-122"/>
              </a:rPr>
              <a:t> </a:t>
            </a:r>
            <a:r>
              <a:rPr lang="en-US" altLang="zh-CN" sz="2500" dirty="0" err="1">
                <a:solidFill>
                  <a:srgbClr val="CC0000"/>
                </a:solidFill>
                <a:ea typeface="宋体" panose="02010600030101010101" pitchFamily="2" charset="-122"/>
              </a:rPr>
              <a:t>R[rs</a:t>
            </a:r>
            <a:r>
              <a:rPr lang="en-US" altLang="zh-CN" sz="2500">
                <a:solidFill>
                  <a:srgbClr val="CC0000"/>
                </a:solidFill>
                <a:ea typeface="宋体" panose="02010600030101010101" pitchFamily="2" charset="-122"/>
              </a:rPr>
              <a:t>] + SignExt(imm16)                                                        </a:t>
            </a:r>
            <a:endParaRPr lang="en-US" altLang="zh-CN" sz="2500">
              <a:solidFill>
                <a:srgbClr val="CC0000"/>
              </a:solidFill>
              <a:ea typeface="宋体" panose="02010600030101010101" pitchFamily="2" charset="-122"/>
            </a:endParaRPr>
          </a:p>
          <a:p>
            <a:pPr lvl="1">
              <a:buNone/>
            </a:pPr>
            <a:r>
              <a:rPr lang="zh-CN" altLang="en-US" sz="2500" dirty="0">
                <a:solidFill>
                  <a:srgbClr val="0000FF"/>
                </a:solidFill>
                <a:ea typeface="宋体" panose="02010600030101010101" pitchFamily="2" charset="-122"/>
              </a:rPr>
              <a:t>                        计算数据地址 </a:t>
            </a:r>
            <a:r>
              <a:rPr lang="en-US" altLang="zh-CN" sz="2500">
                <a:solidFill>
                  <a:srgbClr val="0000FF"/>
                </a:solidFill>
                <a:ea typeface="宋体" panose="02010600030101010101" pitchFamily="2" charset="-122"/>
              </a:rPr>
              <a:t>(</a:t>
            </a:r>
            <a:r>
              <a:rPr lang="zh-CN" altLang="en-US" sz="2500" dirty="0">
                <a:solidFill>
                  <a:srgbClr val="0000FF"/>
                </a:solidFill>
                <a:ea typeface="宋体" panose="02010600030101010101" pitchFamily="2" charset="-122"/>
              </a:rPr>
              <a:t>立即数要进行符号扩展</a:t>
            </a:r>
            <a:r>
              <a:rPr lang="en-US" altLang="zh-CN" sz="2500">
                <a:solidFill>
                  <a:srgbClr val="0000FF"/>
                </a:solidFill>
                <a:ea typeface="宋体" panose="02010600030101010101" pitchFamily="2" charset="-122"/>
              </a:rPr>
              <a:t>)</a:t>
            </a:r>
            <a:endParaRPr lang="en-US" altLang="zh-CN" sz="2500">
              <a:solidFill>
                <a:srgbClr val="CC0000"/>
              </a:solidFill>
              <a:ea typeface="宋体" panose="02010600030101010101" pitchFamily="2" charset="-122"/>
            </a:endParaRPr>
          </a:p>
          <a:p>
            <a:pPr lvl="1"/>
            <a:r>
              <a:rPr lang="en-US" altLang="zh-CN" sz="2500" dirty="0" err="1">
                <a:solidFill>
                  <a:srgbClr val="CC0000"/>
                </a:solidFill>
                <a:ea typeface="宋体" panose="02010600030101010101" pitchFamily="2" charset="-122"/>
              </a:rPr>
              <a:t>R[rt</a:t>
            </a:r>
            <a:r>
              <a:rPr lang="en-US" altLang="zh-CN" sz="2500">
                <a:solidFill>
                  <a:srgbClr val="CC0000"/>
                </a:solidFill>
                <a:ea typeface="宋体" panose="02010600030101010101" pitchFamily="2" charset="-122"/>
              </a:rPr>
              <a:t>] </a:t>
            </a:r>
            <a:r>
              <a:rPr lang="en-US" altLang="zh-CN" sz="2500">
                <a:solidFill>
                  <a:srgbClr val="CC0000"/>
                </a:solidFill>
                <a:ea typeface="宋体" panose="02010600030101010101" pitchFamily="2" charset="-122"/>
                <a:sym typeface="Wingdings" panose="05000000000000000000" pitchFamily="2" charset="2"/>
              </a:rPr>
              <a:t>←</a:t>
            </a:r>
            <a:r>
              <a:rPr lang="en-US" altLang="zh-CN" sz="2500">
                <a:solidFill>
                  <a:srgbClr val="CC0000"/>
                </a:solidFill>
                <a:ea typeface="宋体" panose="02010600030101010101" pitchFamily="2" charset="-122"/>
              </a:rPr>
              <a:t> </a:t>
            </a:r>
            <a:r>
              <a:rPr lang="en-US" altLang="zh-CN" sz="2500" dirty="0" err="1">
                <a:solidFill>
                  <a:srgbClr val="CC0000"/>
                </a:solidFill>
                <a:ea typeface="宋体" panose="02010600030101010101" pitchFamily="2" charset="-122"/>
              </a:rPr>
              <a:t>M[Addr</a:t>
            </a:r>
            <a:r>
              <a:rPr lang="en-US" altLang="zh-CN" sz="2500">
                <a:solidFill>
                  <a:srgbClr val="CC0000"/>
                </a:solidFill>
                <a:ea typeface="宋体" panose="02010600030101010101" pitchFamily="2" charset="-122"/>
              </a:rPr>
              <a:t>]	</a:t>
            </a:r>
            <a:endParaRPr lang="en-US" altLang="zh-CN" sz="2500">
              <a:solidFill>
                <a:srgbClr val="CC0000"/>
              </a:solidFill>
              <a:ea typeface="宋体" panose="02010600030101010101" pitchFamily="2" charset="-122"/>
            </a:endParaRPr>
          </a:p>
          <a:p>
            <a:pPr lvl="1">
              <a:buNone/>
            </a:pPr>
            <a:r>
              <a:rPr lang="zh-CN" altLang="en-US" sz="2500" dirty="0">
                <a:solidFill>
                  <a:srgbClr val="0000FF"/>
                </a:solidFill>
                <a:ea typeface="宋体" panose="02010600030101010101" pitchFamily="2" charset="-122"/>
              </a:rPr>
              <a:t>                        从存储器中取出数据，装入到寄存器中</a:t>
            </a:r>
            <a:endParaRPr lang="en-US" altLang="zh-CN" sz="2500">
              <a:solidFill>
                <a:srgbClr val="CC0000"/>
              </a:solidFill>
              <a:ea typeface="宋体" panose="02010600030101010101" pitchFamily="2" charset="-122"/>
            </a:endParaRPr>
          </a:p>
          <a:p>
            <a:pPr lvl="1"/>
            <a:r>
              <a:rPr lang="en-US" altLang="zh-CN" sz="2500">
                <a:solidFill>
                  <a:srgbClr val="CC0000"/>
                </a:solidFill>
                <a:ea typeface="宋体" panose="02010600030101010101" pitchFamily="2" charset="-122"/>
              </a:rPr>
              <a:t>PC </a:t>
            </a:r>
            <a:r>
              <a:rPr lang="en-US" altLang="zh-CN" sz="2500">
                <a:solidFill>
                  <a:srgbClr val="CC0000"/>
                </a:solidFill>
                <a:ea typeface="宋体" panose="02010600030101010101" pitchFamily="2" charset="-122"/>
                <a:sym typeface="Wingdings" panose="05000000000000000000" pitchFamily="2" charset="2"/>
              </a:rPr>
              <a:t>←</a:t>
            </a:r>
            <a:r>
              <a:rPr lang="en-US" altLang="zh-CN" sz="2500">
                <a:solidFill>
                  <a:srgbClr val="CC0000"/>
                </a:solidFill>
                <a:ea typeface="宋体" panose="02010600030101010101" pitchFamily="2" charset="-122"/>
              </a:rPr>
              <a:t> PC + 4	</a:t>
            </a:r>
            <a:r>
              <a:rPr lang="en-US" altLang="zh-CN" sz="2500">
                <a:ea typeface="宋体" panose="02010600030101010101" pitchFamily="2" charset="-122"/>
              </a:rPr>
              <a:t>     </a:t>
            </a:r>
            <a:r>
              <a:rPr lang="en-US" altLang="zh-CN" sz="2500">
                <a:solidFill>
                  <a:srgbClr val="0000FF"/>
                </a:solidFill>
                <a:ea typeface="宋体" panose="02010600030101010101" pitchFamily="2" charset="-122"/>
              </a:rPr>
              <a:t>(</a:t>
            </a:r>
            <a:r>
              <a:rPr lang="zh-CN" altLang="en-US" sz="2500" dirty="0">
                <a:solidFill>
                  <a:srgbClr val="0000FF"/>
                </a:solidFill>
                <a:ea typeface="宋体" panose="02010600030101010101" pitchFamily="2" charset="-122"/>
              </a:rPr>
              <a:t>同加法指令</a:t>
            </a:r>
            <a:r>
              <a:rPr lang="en-US" altLang="zh-CN" sz="2500">
                <a:solidFill>
                  <a:srgbClr val="0000FF"/>
                </a:solidFill>
                <a:ea typeface="宋体" panose="02010600030101010101" pitchFamily="2" charset="-122"/>
              </a:rPr>
              <a:t>)</a:t>
            </a:r>
            <a:endParaRPr lang="en-US" altLang="zh-CN" sz="2500">
              <a:solidFill>
                <a:srgbClr val="0000FF"/>
              </a:solidFill>
              <a:ea typeface="宋体" panose="02010600030101010101" pitchFamily="2" charset="-122"/>
            </a:endParaRPr>
          </a:p>
        </p:txBody>
      </p:sp>
      <p:sp>
        <p:nvSpPr>
          <p:cNvPr id="45059" name="文本框 185369"/>
          <p:cNvSpPr txBox="1"/>
          <p:nvPr/>
        </p:nvSpPr>
        <p:spPr>
          <a:xfrm>
            <a:off x="1092200" y="5918200"/>
            <a:ext cx="6807200" cy="457200"/>
          </a:xfrm>
          <a:prstGeom prst="rect">
            <a:avLst/>
          </a:prstGeom>
          <a:noFill/>
          <a:ln w="50800">
            <a:noFill/>
          </a:ln>
        </p:spPr>
        <p:txBody>
          <a:bodyPr anchor="t" anchorCtr="0">
            <a:spAutoFit/>
          </a:bodyPr>
          <a:p>
            <a:pPr>
              <a:spcBef>
                <a:spcPct val="50000"/>
              </a:spcBef>
            </a:pPr>
            <a:r>
              <a:rPr lang="zh-CN" altLang="en-US" sz="2400" dirty="0">
                <a:latin typeface="Times New Roman" panose="02020603050405020304" pitchFamily="18" charset="0"/>
                <a:ea typeface="宋体" panose="02010600030101010101" pitchFamily="2" charset="-122"/>
              </a:rPr>
              <a:t>与</a:t>
            </a:r>
            <a:r>
              <a:rPr lang="en-US" altLang="zh-CN" sz="2400">
                <a:latin typeface="Times New Roman" panose="02020603050405020304" pitchFamily="18" charset="0"/>
                <a:ea typeface="宋体" panose="02010600030101010101" pitchFamily="2" charset="-122"/>
              </a:rPr>
              <a:t>R-type</a:t>
            </a:r>
            <a:r>
              <a:rPr lang="zh-CN" altLang="en-US" sz="2400" dirty="0">
                <a:latin typeface="Times New Roman" panose="02020603050405020304" pitchFamily="18" charset="0"/>
                <a:ea typeface="宋体" panose="02010600030101010101" pitchFamily="2" charset="-122"/>
              </a:rPr>
              <a:t>加法指令相比，更复杂！</a:t>
            </a:r>
            <a:endParaRPr lang="zh-CN" altLang="en-US" sz="2400" dirty="0">
              <a:latin typeface="Times New Roman" panose="02020603050405020304" pitchFamily="18" charset="0"/>
              <a:ea typeface="宋体" panose="02010600030101010101" pitchFamily="2" charset="-122"/>
            </a:endParaRPr>
          </a:p>
        </p:txBody>
      </p:sp>
      <p:grpSp>
        <p:nvGrpSpPr>
          <p:cNvPr id="185371" name="组合 185370"/>
          <p:cNvGrpSpPr/>
          <p:nvPr/>
        </p:nvGrpSpPr>
        <p:grpSpPr>
          <a:xfrm>
            <a:off x="1939925" y="895350"/>
            <a:ext cx="5999163" cy="989013"/>
            <a:chOff x="1918" y="1392"/>
            <a:chExt cx="3763" cy="607"/>
          </a:xfrm>
        </p:grpSpPr>
        <p:sp>
          <p:nvSpPr>
            <p:cNvPr id="45061" name="矩形 185371"/>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45062" name="组合 185372"/>
            <p:cNvGrpSpPr/>
            <p:nvPr/>
          </p:nvGrpSpPr>
          <p:grpSpPr>
            <a:xfrm>
              <a:off x="1979" y="1584"/>
              <a:ext cx="624" cy="223"/>
              <a:chOff x="1979" y="1584"/>
              <a:chExt cx="624" cy="223"/>
            </a:xfrm>
          </p:grpSpPr>
          <p:sp>
            <p:nvSpPr>
              <p:cNvPr id="45063" name="矩形 185373"/>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5064" name="矩形 185374"/>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45065" name="组合 185375"/>
            <p:cNvGrpSpPr/>
            <p:nvPr/>
          </p:nvGrpSpPr>
          <p:grpSpPr>
            <a:xfrm>
              <a:off x="2611" y="1584"/>
              <a:ext cx="580" cy="223"/>
              <a:chOff x="2611" y="1584"/>
              <a:chExt cx="580" cy="223"/>
            </a:xfrm>
          </p:grpSpPr>
          <p:sp>
            <p:nvSpPr>
              <p:cNvPr id="45066" name="矩形 185376"/>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5067" name="矩形 185377"/>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45068" name="组合 185378"/>
            <p:cNvGrpSpPr/>
            <p:nvPr/>
          </p:nvGrpSpPr>
          <p:grpSpPr>
            <a:xfrm>
              <a:off x="3199" y="1584"/>
              <a:ext cx="579" cy="223"/>
              <a:chOff x="3199" y="1584"/>
              <a:chExt cx="579" cy="223"/>
            </a:xfrm>
          </p:grpSpPr>
          <p:sp>
            <p:nvSpPr>
              <p:cNvPr id="45069" name="矩形 185379"/>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5070" name="矩形 185380"/>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45071" name="矩形 185381"/>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45072" name="矩形 185382"/>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45073" name="矩形 185383"/>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45074" name="矩形 185384"/>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45075" name="矩形 185385"/>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45076" name="矩形 185386"/>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45077" name="矩形 185387"/>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45078" name="矩形 185388"/>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5079" name="矩形 185389"/>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5080" name="矩形 185390"/>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5081" name="矩形 185391"/>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5371"/>
                                        </p:tgtEl>
                                        <p:attrNameLst>
                                          <p:attrName>style.visibility</p:attrName>
                                        </p:attrNameLst>
                                      </p:cBhvr>
                                      <p:to>
                                        <p:strVal val="visible"/>
                                      </p:to>
                                    </p:set>
                                    <p:animEffect transition="in" filter="blinds(horizontal)">
                                      <p:cBhvr>
                                        <p:cTn id="7" dur="500"/>
                                        <p:tgtEl>
                                          <p:spTgt spid="185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480257"/>
          <p:cNvSpPr>
            <a:spLocks noGrp="1"/>
          </p:cNvSpPr>
          <p:nvPr>
            <p:ph type="title"/>
          </p:nvPr>
        </p:nvSpPr>
        <p:spPr>
          <a:xfrm>
            <a:off x="346075" y="134938"/>
            <a:ext cx="7577138" cy="528637"/>
          </a:xfrm>
          <a:ln/>
        </p:spPr>
        <p:txBody>
          <a:bodyPr vert="horz" wrap="none" lIns="63500" tIns="25400" rIns="63500" bIns="25400" anchor="t" anchorCtr="0">
            <a:spAutoFit/>
          </a:bodyPr>
          <a:p>
            <a:r>
              <a:rPr lang="zh-CN" altLang="en-US" dirty="0"/>
              <a:t>取指令部件</a:t>
            </a:r>
            <a:r>
              <a:rPr lang="en-US" altLang="zh-CN">
                <a:ea typeface="宋体" panose="02010600030101010101" pitchFamily="2" charset="-122"/>
              </a:rPr>
              <a:t>(Instruction Fetch Unit) </a:t>
            </a:r>
            <a:endParaRPr lang="en-US" altLang="zh-CN">
              <a:ea typeface="宋体" panose="02010600030101010101" pitchFamily="2" charset="-122"/>
            </a:endParaRPr>
          </a:p>
        </p:txBody>
      </p:sp>
      <p:sp>
        <p:nvSpPr>
          <p:cNvPr id="480259" name="内容占位符 480258"/>
          <p:cNvSpPr>
            <a:spLocks noGrp="1"/>
          </p:cNvSpPr>
          <p:nvPr>
            <p:ph idx="1"/>
          </p:nvPr>
        </p:nvSpPr>
        <p:spPr>
          <a:xfrm>
            <a:off x="249238" y="758825"/>
            <a:ext cx="9009062" cy="1847850"/>
          </a:xfrm>
          <a:ln/>
        </p:spPr>
        <p:txBody>
          <a:bodyPr vert="horz" wrap="square" lIns="63500" tIns="25400" rIns="63500" bIns="25400" anchor="t" anchorCtr="0">
            <a:spAutoFit/>
          </a:bodyPr>
          <a:p>
            <a:pPr>
              <a:lnSpc>
                <a:spcPct val="110000"/>
              </a:lnSpc>
            </a:pPr>
            <a:r>
              <a:rPr lang="zh-CN" altLang="en-US" sz="2200" dirty="0">
                <a:ea typeface="黑体" panose="02010609060101010101" pitchFamily="49" charset="-122"/>
              </a:rPr>
              <a:t>每条指令都有的公共操作：</a:t>
            </a:r>
            <a:endParaRPr lang="zh-CN" altLang="en-US" sz="2200" dirty="0">
              <a:ea typeface="黑体" panose="02010609060101010101" pitchFamily="49" charset="-122"/>
            </a:endParaRPr>
          </a:p>
          <a:p>
            <a:pPr lvl="1">
              <a:lnSpc>
                <a:spcPct val="110000"/>
              </a:lnSpc>
            </a:pPr>
            <a:r>
              <a:rPr lang="zh-CN" altLang="en-US" sz="2200" dirty="0">
                <a:solidFill>
                  <a:srgbClr val="CC0000"/>
                </a:solidFill>
                <a:ea typeface="黑体" panose="02010609060101010101" pitchFamily="49" charset="-122"/>
              </a:rPr>
              <a:t>取指令</a:t>
            </a:r>
            <a:r>
              <a:rPr lang="zh-CN" altLang="en-US" sz="2200" dirty="0">
                <a:ea typeface="黑体" panose="02010609060101010101" pitchFamily="49" charset="-122"/>
              </a:rPr>
              <a:t>：</a:t>
            </a:r>
            <a:r>
              <a:rPr lang="en-US" altLang="zh-CN" sz="2200">
                <a:ea typeface="黑体" panose="02010609060101010101" pitchFamily="49" charset="-122"/>
              </a:rPr>
              <a:t> M[PC]</a:t>
            </a:r>
            <a:endParaRPr lang="en-US" altLang="zh-CN" sz="2200">
              <a:ea typeface="黑体" panose="02010609060101010101" pitchFamily="49" charset="-122"/>
            </a:endParaRPr>
          </a:p>
          <a:p>
            <a:pPr lvl="1">
              <a:lnSpc>
                <a:spcPct val="110000"/>
              </a:lnSpc>
            </a:pPr>
            <a:r>
              <a:rPr lang="zh-CN" altLang="en-US" sz="2200" dirty="0">
                <a:solidFill>
                  <a:srgbClr val="CC0000"/>
                </a:solidFill>
                <a:ea typeface="黑体" panose="02010609060101010101" pitchFamily="49" charset="-122"/>
              </a:rPr>
              <a:t>更新</a:t>
            </a:r>
            <a:r>
              <a:rPr lang="en-US" altLang="zh-CN" sz="2200">
                <a:solidFill>
                  <a:srgbClr val="CC0000"/>
                </a:solidFill>
                <a:ea typeface="黑体" panose="02010609060101010101" pitchFamily="49" charset="-122"/>
              </a:rPr>
              <a:t>PC</a:t>
            </a:r>
            <a:r>
              <a:rPr lang="zh-CN" altLang="en-US" sz="2200" dirty="0">
                <a:ea typeface="黑体" panose="02010609060101010101" pitchFamily="49" charset="-122"/>
              </a:rPr>
              <a:t>：</a:t>
            </a:r>
            <a:r>
              <a:rPr lang="en-US" altLang="zh-CN" sz="2200">
                <a:ea typeface="黑体" panose="02010609060101010101" pitchFamily="49" charset="-122"/>
              </a:rPr>
              <a:t>PC </a:t>
            </a:r>
            <a:r>
              <a:rPr lang="en-US" altLang="zh-CN" sz="2200">
                <a:ea typeface="黑体" panose="02010609060101010101" pitchFamily="49" charset="-122"/>
                <a:sym typeface="Wingdings" panose="05000000000000000000" pitchFamily="2" charset="2"/>
              </a:rPr>
              <a:t>←</a:t>
            </a:r>
            <a:r>
              <a:rPr lang="en-US" altLang="zh-CN" sz="2200">
                <a:ea typeface="黑体" panose="02010609060101010101" pitchFamily="49" charset="-122"/>
              </a:rPr>
              <a:t> PC + 4 </a:t>
            </a:r>
            <a:endParaRPr lang="en-US" altLang="zh-CN" sz="2200">
              <a:ea typeface="黑体" panose="02010609060101010101" pitchFamily="49" charset="-122"/>
            </a:endParaRPr>
          </a:p>
          <a:p>
            <a:pPr lvl="1">
              <a:lnSpc>
                <a:spcPct val="110000"/>
              </a:lnSpc>
              <a:buNone/>
            </a:pPr>
            <a:r>
              <a:rPr lang="zh-CN" altLang="en-US" sz="2000" dirty="0">
                <a:solidFill>
                  <a:srgbClr val="0000FF"/>
                </a:solidFill>
                <a:ea typeface="黑体" panose="02010609060101010101" pitchFamily="49" charset="-122"/>
              </a:rPr>
              <a:t>转移（</a:t>
            </a:r>
            <a:r>
              <a:rPr lang="en-US" altLang="zh-CN" sz="2000">
                <a:solidFill>
                  <a:srgbClr val="0000FF"/>
                </a:solidFill>
                <a:ea typeface="黑体" panose="02010609060101010101" pitchFamily="49" charset="-122"/>
              </a:rPr>
              <a:t>Branch and Jump</a:t>
            </a:r>
            <a:r>
              <a:rPr lang="zh-CN" altLang="en-US" sz="2000" dirty="0">
                <a:solidFill>
                  <a:srgbClr val="0000FF"/>
                </a:solidFill>
                <a:ea typeface="黑体" panose="02010609060101010101" pitchFamily="49" charset="-122"/>
              </a:rPr>
              <a:t>）时</a:t>
            </a:r>
            <a:r>
              <a:rPr lang="zh-CN" altLang="en-US" sz="2000" dirty="0">
                <a:ea typeface="黑体" panose="02010609060101010101" pitchFamily="49" charset="-122"/>
              </a:rPr>
              <a:t>，</a:t>
            </a:r>
            <a:r>
              <a:rPr lang="en-US" altLang="zh-CN" sz="2000">
                <a:ea typeface="黑体" panose="02010609060101010101" pitchFamily="49" charset="-122"/>
              </a:rPr>
              <a:t>PC</a:t>
            </a:r>
            <a:r>
              <a:rPr lang="zh-CN" altLang="en-US" sz="2000" dirty="0">
                <a:ea typeface="黑体" panose="02010609060101010101" pitchFamily="49" charset="-122"/>
              </a:rPr>
              <a:t>内容再次被更新为 “转移目标地址”</a:t>
            </a:r>
            <a:endParaRPr lang="zh-CN" altLang="en-US" sz="2000" dirty="0">
              <a:ea typeface="黑体" panose="02010609060101010101" pitchFamily="49" charset="-122"/>
            </a:endParaRPr>
          </a:p>
        </p:txBody>
      </p:sp>
      <p:sp>
        <p:nvSpPr>
          <p:cNvPr id="47107" name="直接连接符 480259"/>
          <p:cNvSpPr/>
          <p:nvPr/>
        </p:nvSpPr>
        <p:spPr>
          <a:xfrm>
            <a:off x="2322513" y="5529263"/>
            <a:ext cx="2590800" cy="0"/>
          </a:xfrm>
          <a:prstGeom prst="line">
            <a:avLst/>
          </a:prstGeom>
          <a:ln w="25400" cap="flat" cmpd="sng">
            <a:solidFill>
              <a:schemeClr val="tx1"/>
            </a:solidFill>
            <a:prstDash val="solid"/>
            <a:round/>
            <a:headEnd type="none" w="med" len="med"/>
            <a:tailEnd type="triangle" w="med" len="med"/>
          </a:ln>
        </p:spPr>
      </p:sp>
      <p:grpSp>
        <p:nvGrpSpPr>
          <p:cNvPr id="47108" name="组合 480260"/>
          <p:cNvGrpSpPr/>
          <p:nvPr/>
        </p:nvGrpSpPr>
        <p:grpSpPr>
          <a:xfrm>
            <a:off x="0" y="3151188"/>
            <a:ext cx="4737100" cy="2938462"/>
            <a:chOff x="1928" y="1985"/>
            <a:chExt cx="2874" cy="1851"/>
          </a:xfrm>
        </p:grpSpPr>
        <p:sp>
          <p:nvSpPr>
            <p:cNvPr id="47109" name="直接连接符 480261"/>
            <p:cNvSpPr/>
            <p:nvPr/>
          </p:nvSpPr>
          <p:spPr>
            <a:xfrm flipH="1">
              <a:off x="4076" y="3364"/>
              <a:ext cx="152" cy="184"/>
            </a:xfrm>
            <a:prstGeom prst="line">
              <a:avLst/>
            </a:prstGeom>
            <a:ln w="12700" cap="flat" cmpd="sng">
              <a:solidFill>
                <a:schemeClr val="tx1"/>
              </a:solidFill>
              <a:prstDash val="solid"/>
              <a:round/>
              <a:headEnd type="none" w="med" len="med"/>
              <a:tailEnd type="none" w="med" len="med"/>
            </a:ln>
          </p:spPr>
        </p:sp>
        <p:sp>
          <p:nvSpPr>
            <p:cNvPr id="47110" name="矩形 480262"/>
            <p:cNvSpPr/>
            <p:nvPr/>
          </p:nvSpPr>
          <p:spPr>
            <a:xfrm>
              <a:off x="3878" y="3456"/>
              <a:ext cx="26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47111" name="矩形 480263"/>
            <p:cNvSpPr/>
            <p:nvPr/>
          </p:nvSpPr>
          <p:spPr>
            <a:xfrm>
              <a:off x="3591" y="3216"/>
              <a:ext cx="1211"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Word</a:t>
              </a:r>
              <a:endParaRPr lang="en-US" altLang="zh-CN" sz="1800">
                <a:latin typeface="Arial" panose="020B0604020202020204" pitchFamily="34" charset="0"/>
                <a:ea typeface="宋体" panose="02010600030101010101" pitchFamily="2" charset="-122"/>
              </a:endParaRPr>
            </a:p>
          </p:txBody>
        </p:sp>
        <p:grpSp>
          <p:nvGrpSpPr>
            <p:cNvPr id="47112" name="组合 480264"/>
            <p:cNvGrpSpPr/>
            <p:nvPr/>
          </p:nvGrpSpPr>
          <p:grpSpPr>
            <a:xfrm>
              <a:off x="2458" y="3088"/>
              <a:ext cx="889" cy="748"/>
              <a:chOff x="2458" y="3088"/>
              <a:chExt cx="889" cy="748"/>
            </a:xfrm>
          </p:grpSpPr>
          <p:sp>
            <p:nvSpPr>
              <p:cNvPr id="47113" name="矩形 480265"/>
              <p:cNvSpPr/>
              <p:nvPr/>
            </p:nvSpPr>
            <p:spPr>
              <a:xfrm>
                <a:off x="2458" y="3088"/>
                <a:ext cx="886" cy="748"/>
              </a:xfrm>
              <a:prstGeom prst="rect">
                <a:avLst/>
              </a:prstGeom>
              <a:noFill/>
              <a:ln w="508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7114" name="矩形 480266"/>
              <p:cNvSpPr/>
              <p:nvPr/>
            </p:nvSpPr>
            <p:spPr>
              <a:xfrm>
                <a:off x="2631" y="3120"/>
                <a:ext cx="665"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47115" name="矩形 480267"/>
              <p:cNvSpPr/>
              <p:nvPr/>
            </p:nvSpPr>
            <p:spPr>
              <a:xfrm>
                <a:off x="2521" y="3360"/>
                <a:ext cx="826" cy="402"/>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grpSp>
        <p:sp>
          <p:nvSpPr>
            <p:cNvPr id="47116" name="矩形 480268"/>
            <p:cNvSpPr/>
            <p:nvPr/>
          </p:nvSpPr>
          <p:spPr>
            <a:xfrm>
              <a:off x="2503" y="2320"/>
              <a:ext cx="793" cy="203"/>
            </a:xfrm>
            <a:prstGeom prst="rect">
              <a:avLst/>
            </a:prstGeom>
            <a:noFill/>
            <a:ln w="508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7117" name="直接连接符 480269"/>
            <p:cNvSpPr/>
            <p:nvPr/>
          </p:nvSpPr>
          <p:spPr>
            <a:xfrm flipH="1" flipV="1">
              <a:off x="2515" y="2387"/>
              <a:ext cx="130" cy="55"/>
            </a:xfrm>
            <a:prstGeom prst="line">
              <a:avLst/>
            </a:prstGeom>
            <a:ln w="25400" cap="flat" cmpd="sng">
              <a:solidFill>
                <a:schemeClr val="tx1"/>
              </a:solidFill>
              <a:prstDash val="solid"/>
              <a:round/>
              <a:headEnd type="none" w="med" len="med"/>
              <a:tailEnd type="none" w="med" len="med"/>
            </a:ln>
          </p:spPr>
        </p:sp>
        <p:sp>
          <p:nvSpPr>
            <p:cNvPr id="47118" name="直接连接符 480270"/>
            <p:cNvSpPr/>
            <p:nvPr/>
          </p:nvSpPr>
          <p:spPr>
            <a:xfrm flipH="1">
              <a:off x="2506" y="2433"/>
              <a:ext cx="121" cy="50"/>
            </a:xfrm>
            <a:prstGeom prst="line">
              <a:avLst/>
            </a:prstGeom>
            <a:ln w="25400" cap="flat" cmpd="sng">
              <a:solidFill>
                <a:schemeClr val="tx1"/>
              </a:solidFill>
              <a:prstDash val="solid"/>
              <a:round/>
              <a:headEnd type="none" w="med" len="med"/>
              <a:tailEnd type="none" w="med" len="med"/>
            </a:ln>
          </p:spPr>
        </p:sp>
        <p:sp>
          <p:nvSpPr>
            <p:cNvPr id="47119" name="椭圆 480271"/>
            <p:cNvSpPr/>
            <p:nvPr/>
          </p:nvSpPr>
          <p:spPr>
            <a:xfrm>
              <a:off x="2417" y="239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7120" name="直接连接符 480272"/>
            <p:cNvSpPr/>
            <p:nvPr/>
          </p:nvSpPr>
          <p:spPr>
            <a:xfrm flipH="1">
              <a:off x="2209" y="2443"/>
              <a:ext cx="208" cy="0"/>
            </a:xfrm>
            <a:prstGeom prst="line">
              <a:avLst/>
            </a:prstGeom>
            <a:ln w="25400" cap="flat" cmpd="sng">
              <a:solidFill>
                <a:schemeClr val="tx1"/>
              </a:solidFill>
              <a:prstDash val="solid"/>
              <a:round/>
              <a:headEnd type="none" w="med" len="med"/>
              <a:tailEnd type="none" w="med" len="med"/>
            </a:ln>
          </p:spPr>
        </p:sp>
        <p:sp>
          <p:nvSpPr>
            <p:cNvPr id="47121" name="矩形 480273"/>
            <p:cNvSpPr/>
            <p:nvPr/>
          </p:nvSpPr>
          <p:spPr>
            <a:xfrm>
              <a:off x="2732" y="2331"/>
              <a:ext cx="303"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47122" name="矩形 480274"/>
            <p:cNvSpPr/>
            <p:nvPr/>
          </p:nvSpPr>
          <p:spPr>
            <a:xfrm>
              <a:off x="1928" y="2336"/>
              <a:ext cx="313" cy="210"/>
            </a:xfrm>
            <a:prstGeom prst="rect">
              <a:avLst/>
            </a:prstGeom>
            <a:noFill/>
            <a:ln w="12700">
              <a:noFill/>
            </a:ln>
          </p:spPr>
          <p:txBody>
            <a:bodyPr lIns="90488" tIns="44450" rIns="90488" bIns="44450" anchor="t" anchorCtr="0">
              <a:spAutoFit/>
            </a:bodyPr>
            <a:p>
              <a:pPr eaLnBrk="0" hangingPunct="0"/>
              <a:r>
                <a:rPr lang="en-US" altLang="zh-CN" err="1">
                  <a:solidFill>
                    <a:schemeClr val="accent1"/>
                  </a:solidFill>
                  <a:latin typeface="Arial" panose="020B0604020202020204" pitchFamily="34" charset="0"/>
                  <a:ea typeface="黑体" panose="02010609060101010101" pitchFamily="49" charset="-122"/>
                </a:rPr>
                <a:t>Clk</a:t>
              </a:r>
              <a:endParaRPr lang="en-US" altLang="zh-CN">
                <a:solidFill>
                  <a:schemeClr val="accent1"/>
                </a:solidFill>
                <a:latin typeface="Arial" panose="020B0604020202020204" pitchFamily="34" charset="0"/>
                <a:ea typeface="黑体" panose="02010609060101010101" pitchFamily="49" charset="-122"/>
              </a:endParaRPr>
            </a:p>
          </p:txBody>
        </p:sp>
        <p:grpSp>
          <p:nvGrpSpPr>
            <p:cNvPr id="47123" name="组合 480275"/>
            <p:cNvGrpSpPr/>
            <p:nvPr/>
          </p:nvGrpSpPr>
          <p:grpSpPr>
            <a:xfrm>
              <a:off x="3472" y="2605"/>
              <a:ext cx="880" cy="368"/>
              <a:chOff x="3472" y="2605"/>
              <a:chExt cx="880" cy="368"/>
            </a:xfrm>
          </p:grpSpPr>
          <p:sp>
            <p:nvSpPr>
              <p:cNvPr id="47124" name="矩形 480276"/>
              <p:cNvSpPr/>
              <p:nvPr/>
            </p:nvSpPr>
            <p:spPr>
              <a:xfrm>
                <a:off x="3472" y="2608"/>
                <a:ext cx="880" cy="352"/>
              </a:xfrm>
              <a:prstGeom prst="rect">
                <a:avLst/>
              </a:prstGeom>
              <a:noFill/>
              <a:ln w="508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7125" name="矩形 480277"/>
              <p:cNvSpPr/>
              <p:nvPr/>
            </p:nvSpPr>
            <p:spPr>
              <a:xfrm>
                <a:off x="3531" y="2605"/>
                <a:ext cx="764" cy="368"/>
              </a:xfrm>
              <a:prstGeom prst="rect">
                <a:avLst/>
              </a:prstGeom>
              <a:noFill/>
              <a:ln w="12700">
                <a:noFill/>
              </a:ln>
            </p:spPr>
            <p:txBody>
              <a:bodyPr wrap="none" lIns="90488" tIns="44450" rIns="90488" bIns="44450" anchor="t" anchorCtr="0">
                <a:spAutoFit/>
              </a:bodyPr>
              <a:p>
                <a:pPr algn="ctr" eaLnBrk="0" hangingPunct="0">
                  <a:lnSpc>
                    <a:spcPct val="90000"/>
                  </a:lnSpc>
                </a:pPr>
                <a:r>
                  <a:rPr lang="en-US" altLang="zh-CN" sz="1800">
                    <a:latin typeface="Arial" panose="020B0604020202020204" pitchFamily="34" charset="0"/>
                    <a:ea typeface="宋体" panose="02010600030101010101" pitchFamily="2" charset="-122"/>
                  </a:rPr>
                  <a:t>Next</a:t>
                </a:r>
                <a:r>
                  <a:rPr lang="en-US" altLang="zh-CN">
                    <a:latin typeface="Times New Roman" panose="02020603050405020304" pitchFamily="18" charset="0"/>
                    <a:ea typeface="宋体" panose="02010600030101010101" pitchFamily="2" charset="-122"/>
                  </a:rPr>
                  <a:t> </a:t>
                </a:r>
                <a:r>
                  <a:rPr lang="en-US" altLang="zh-CN" sz="1800" err="1">
                    <a:latin typeface="Arial" panose="020B0604020202020204" pitchFamily="34" charset="0"/>
                    <a:ea typeface="宋体" panose="02010600030101010101" pitchFamily="2" charset="-122"/>
                  </a:rPr>
                  <a:t>Addr</a:t>
                </a:r>
                <a:endParaRPr lang="en-US" altLang="zh-CN" sz="1800">
                  <a:latin typeface="Arial" panose="020B0604020202020204" pitchFamily="34" charset="0"/>
                  <a:ea typeface="宋体" panose="02010600030101010101" pitchFamily="2" charset="-122"/>
                </a:endParaRPr>
              </a:p>
              <a:p>
                <a:pPr algn="ctr" eaLnBrk="0" hangingPunct="0">
                  <a:lnSpc>
                    <a:spcPct val="90000"/>
                  </a:lnSpc>
                </a:pPr>
                <a:r>
                  <a:rPr lang="en-US" altLang="zh-CN" sz="1800">
                    <a:latin typeface="Arial" panose="020B0604020202020204" pitchFamily="34" charset="0"/>
                    <a:ea typeface="宋体" panose="02010600030101010101" pitchFamily="2" charset="-122"/>
                  </a:rPr>
                  <a:t>Logic</a:t>
                </a:r>
                <a:endParaRPr lang="en-US" altLang="zh-CN" sz="1800">
                  <a:latin typeface="Arial" panose="020B0604020202020204" pitchFamily="34" charset="0"/>
                  <a:ea typeface="宋体" panose="02010600030101010101" pitchFamily="2" charset="-122"/>
                </a:endParaRPr>
              </a:p>
            </p:txBody>
          </p:sp>
        </p:grpSp>
        <p:sp>
          <p:nvSpPr>
            <p:cNvPr id="47126" name="直接连接符 480278"/>
            <p:cNvSpPr/>
            <p:nvPr/>
          </p:nvSpPr>
          <p:spPr>
            <a:xfrm>
              <a:off x="2880" y="2552"/>
              <a:ext cx="0" cy="512"/>
            </a:xfrm>
            <a:prstGeom prst="line">
              <a:avLst/>
            </a:prstGeom>
            <a:ln w="25400" cap="flat" cmpd="sng">
              <a:solidFill>
                <a:schemeClr val="tx1"/>
              </a:solidFill>
              <a:prstDash val="solid"/>
              <a:round/>
              <a:headEnd type="none" w="med" len="med"/>
              <a:tailEnd type="triangle" w="med" len="med"/>
            </a:ln>
          </p:spPr>
        </p:sp>
        <p:sp>
          <p:nvSpPr>
            <p:cNvPr id="47127" name="直接连接符 480279"/>
            <p:cNvSpPr/>
            <p:nvPr/>
          </p:nvSpPr>
          <p:spPr>
            <a:xfrm>
              <a:off x="2888" y="2784"/>
              <a:ext cx="560" cy="0"/>
            </a:xfrm>
            <a:prstGeom prst="line">
              <a:avLst/>
            </a:prstGeom>
            <a:ln w="25400" cap="flat" cmpd="sng">
              <a:solidFill>
                <a:schemeClr val="tx1"/>
              </a:solidFill>
              <a:prstDash val="solid"/>
              <a:round/>
              <a:headEnd type="none" w="med" len="med"/>
              <a:tailEnd type="triangle" w="med" len="med"/>
            </a:ln>
          </p:spPr>
        </p:sp>
        <p:sp>
          <p:nvSpPr>
            <p:cNvPr id="47128" name="直接连接符 480280"/>
            <p:cNvSpPr/>
            <p:nvPr/>
          </p:nvSpPr>
          <p:spPr>
            <a:xfrm>
              <a:off x="2880" y="1985"/>
              <a:ext cx="0" cy="311"/>
            </a:xfrm>
            <a:prstGeom prst="line">
              <a:avLst/>
            </a:prstGeom>
            <a:ln w="25400" cap="flat" cmpd="sng">
              <a:solidFill>
                <a:schemeClr val="tx1"/>
              </a:solidFill>
              <a:prstDash val="solid"/>
              <a:round/>
              <a:headEnd type="none" w="med" len="med"/>
              <a:tailEnd type="triangle" w="med" len="med"/>
            </a:ln>
          </p:spPr>
        </p:sp>
        <p:sp>
          <p:nvSpPr>
            <p:cNvPr id="47129" name="直接连接符 480281"/>
            <p:cNvSpPr/>
            <p:nvPr/>
          </p:nvSpPr>
          <p:spPr>
            <a:xfrm>
              <a:off x="2888" y="1986"/>
              <a:ext cx="992" cy="0"/>
            </a:xfrm>
            <a:prstGeom prst="line">
              <a:avLst/>
            </a:prstGeom>
            <a:ln w="25400" cap="flat" cmpd="sng">
              <a:solidFill>
                <a:schemeClr val="tx1"/>
              </a:solidFill>
              <a:prstDash val="solid"/>
              <a:round/>
              <a:headEnd type="none" w="med" len="med"/>
              <a:tailEnd type="none" w="med" len="med"/>
            </a:ln>
          </p:spPr>
        </p:sp>
        <p:sp>
          <p:nvSpPr>
            <p:cNvPr id="47130" name="直接连接符 480282"/>
            <p:cNvSpPr/>
            <p:nvPr/>
          </p:nvSpPr>
          <p:spPr>
            <a:xfrm>
              <a:off x="3888" y="1985"/>
              <a:ext cx="0" cy="599"/>
            </a:xfrm>
            <a:prstGeom prst="line">
              <a:avLst/>
            </a:prstGeom>
            <a:ln w="25400" cap="flat" cmpd="sng">
              <a:solidFill>
                <a:schemeClr val="tx1"/>
              </a:solidFill>
              <a:prstDash val="solid"/>
              <a:round/>
              <a:headEnd type="none" w="med" len="med"/>
              <a:tailEnd type="none" w="med" len="med"/>
            </a:ln>
          </p:spPr>
        </p:sp>
      </p:grpSp>
      <p:sp>
        <p:nvSpPr>
          <p:cNvPr id="480284" name="文本框 480283"/>
          <p:cNvSpPr txBox="1"/>
          <p:nvPr/>
        </p:nvSpPr>
        <p:spPr>
          <a:xfrm>
            <a:off x="5173663" y="2986088"/>
            <a:ext cx="3754437" cy="1158875"/>
          </a:xfrm>
          <a:prstGeom prst="rect">
            <a:avLst/>
          </a:prstGeom>
          <a:noFill/>
          <a:ln w="25400">
            <a:noFill/>
          </a:ln>
        </p:spPr>
        <p:txBody>
          <a:bodyPr anchor="t" anchorCtr="0">
            <a:spAutoFit/>
          </a:bodyPr>
          <a:p>
            <a:pPr eaLnBrk="0" hangingPunct="0">
              <a:spcBef>
                <a:spcPct val="50000"/>
              </a:spcBef>
            </a:pPr>
            <a:r>
              <a:rPr lang="zh-CN" altLang="en-US" sz="2000" dirty="0">
                <a:solidFill>
                  <a:srgbClr val="CC0000"/>
                </a:solidFill>
                <a:latin typeface="Arial" panose="020B0604020202020204" pitchFamily="34" charset="0"/>
                <a:ea typeface="黑体" panose="02010609060101010101" pitchFamily="49" charset="-122"/>
              </a:rPr>
              <a:t>顺序：先取指令，再改</a:t>
            </a:r>
            <a:r>
              <a:rPr lang="en-US" altLang="zh-CN" sz="2000">
                <a:solidFill>
                  <a:srgbClr val="CC0000"/>
                </a:solidFill>
                <a:latin typeface="Arial" panose="020B0604020202020204" pitchFamily="34" charset="0"/>
                <a:ea typeface="黑体" panose="02010609060101010101" pitchFamily="49" charset="-122"/>
              </a:rPr>
              <a:t>PC</a:t>
            </a:r>
            <a:r>
              <a:rPr lang="zh-CN" altLang="en-US" sz="2000" dirty="0">
                <a:solidFill>
                  <a:srgbClr val="CC0000"/>
                </a:solidFill>
                <a:latin typeface="Arial" panose="020B0604020202020204" pitchFamily="34" charset="0"/>
                <a:ea typeface="黑体" panose="02010609060101010101" pitchFamily="49" charset="-122"/>
              </a:rPr>
              <a:t>的值（具体实现时，可以并行）</a:t>
            </a:r>
            <a:endParaRPr lang="zh-CN" altLang="en-US" sz="2000" dirty="0">
              <a:solidFill>
                <a:srgbClr val="CC0000"/>
              </a:solidFill>
              <a:latin typeface="Arial" panose="020B0604020202020204" pitchFamily="34" charset="0"/>
              <a:ea typeface="黑体" panose="02010609060101010101" pitchFamily="49" charset="-122"/>
            </a:endParaRPr>
          </a:p>
          <a:p>
            <a:pPr eaLnBrk="0" hangingPunct="0">
              <a:spcBef>
                <a:spcPct val="50000"/>
              </a:spcBef>
            </a:pPr>
            <a:r>
              <a:rPr lang="zh-CN" altLang="en-US" sz="2000" dirty="0">
                <a:solidFill>
                  <a:srgbClr val="CC0000"/>
                </a:solidFill>
                <a:latin typeface="Arial" panose="020B0604020202020204" pitchFamily="34" charset="0"/>
                <a:ea typeface="黑体" panose="02010609060101010101" pitchFamily="49" charset="-122"/>
              </a:rPr>
              <a:t> 绝不能先改</a:t>
            </a:r>
            <a:r>
              <a:rPr lang="en-US" altLang="zh-CN" sz="2000">
                <a:solidFill>
                  <a:srgbClr val="CC0000"/>
                </a:solidFill>
                <a:latin typeface="Arial" panose="020B0604020202020204" pitchFamily="34" charset="0"/>
                <a:ea typeface="黑体" panose="02010609060101010101" pitchFamily="49" charset="-122"/>
              </a:rPr>
              <a:t>PC</a:t>
            </a:r>
            <a:r>
              <a:rPr lang="zh-CN" altLang="en-US" sz="2000" dirty="0">
                <a:solidFill>
                  <a:srgbClr val="CC0000"/>
                </a:solidFill>
                <a:latin typeface="Arial" panose="020B0604020202020204" pitchFamily="34" charset="0"/>
                <a:ea typeface="黑体" panose="02010609060101010101" pitchFamily="49" charset="-122"/>
              </a:rPr>
              <a:t>的值，再取指令</a:t>
            </a:r>
            <a:endParaRPr lang="zh-CN" altLang="en-US" sz="2000" dirty="0">
              <a:solidFill>
                <a:srgbClr val="CC0000"/>
              </a:solidFill>
              <a:latin typeface="Arial" panose="020B0604020202020204" pitchFamily="34" charset="0"/>
              <a:ea typeface="黑体" panose="02010609060101010101" pitchFamily="49" charset="-122"/>
            </a:endParaRPr>
          </a:p>
        </p:txBody>
      </p:sp>
      <p:grpSp>
        <p:nvGrpSpPr>
          <p:cNvPr id="480285" name="组合 480284"/>
          <p:cNvGrpSpPr/>
          <p:nvPr/>
        </p:nvGrpSpPr>
        <p:grpSpPr>
          <a:xfrm>
            <a:off x="2522538" y="3265488"/>
            <a:ext cx="2197100" cy="1422400"/>
            <a:chOff x="1617" y="2057"/>
            <a:chExt cx="1360" cy="896"/>
          </a:xfrm>
        </p:grpSpPr>
        <p:sp>
          <p:nvSpPr>
            <p:cNvPr id="47133" name="直接连接符 480285"/>
            <p:cNvSpPr/>
            <p:nvPr/>
          </p:nvSpPr>
          <p:spPr>
            <a:xfrm flipH="1">
              <a:off x="2218" y="2264"/>
              <a:ext cx="476" cy="295"/>
            </a:xfrm>
            <a:prstGeom prst="line">
              <a:avLst/>
            </a:prstGeom>
            <a:ln w="25400" cap="flat" cmpd="sng">
              <a:solidFill>
                <a:srgbClr val="0000FF"/>
              </a:solidFill>
              <a:prstDash val="dash"/>
              <a:round/>
              <a:headEnd type="none" w="med" len="med"/>
              <a:tailEnd type="triangle" w="med" len="med"/>
            </a:ln>
          </p:spPr>
        </p:sp>
        <p:sp>
          <p:nvSpPr>
            <p:cNvPr id="47134" name="文本框 480286"/>
            <p:cNvSpPr txBox="1"/>
            <p:nvPr/>
          </p:nvSpPr>
          <p:spPr>
            <a:xfrm>
              <a:off x="2149" y="2057"/>
              <a:ext cx="828" cy="231"/>
            </a:xfrm>
            <a:prstGeom prst="rect">
              <a:avLst/>
            </a:prstGeom>
            <a:noFill/>
            <a:ln w="25400">
              <a:noFill/>
            </a:ln>
          </p:spPr>
          <p:txBody>
            <a:bodyPr anchor="t" anchorCtr="0">
              <a:spAutoFit/>
            </a:bodyPr>
            <a:p>
              <a:pPr algn="ctr" eaLnBrk="0" hangingPunct="0">
                <a:spcBef>
                  <a:spcPct val="50000"/>
                </a:spcBef>
              </a:pPr>
              <a:r>
                <a:rPr lang="zh-CN" altLang="en-US" sz="1800" dirty="0">
                  <a:solidFill>
                    <a:srgbClr val="0000FF"/>
                  </a:solidFill>
                  <a:latin typeface="Times New Roman" panose="02020603050405020304" pitchFamily="18" charset="0"/>
                  <a:ea typeface="黑体" panose="02010609060101010101" pitchFamily="49" charset="-122"/>
                </a:rPr>
                <a:t>下地址逻辑</a:t>
              </a:r>
              <a:endParaRPr lang="zh-CN" altLang="en-US" sz="1800" dirty="0">
                <a:solidFill>
                  <a:srgbClr val="0000FF"/>
                </a:solidFill>
                <a:latin typeface="Times New Roman" panose="02020603050405020304" pitchFamily="18" charset="0"/>
                <a:ea typeface="黑体" panose="02010609060101010101" pitchFamily="49" charset="-122"/>
              </a:endParaRPr>
            </a:p>
          </p:txBody>
        </p:sp>
        <p:sp>
          <p:nvSpPr>
            <p:cNvPr id="47135" name="矩形 480287"/>
            <p:cNvSpPr/>
            <p:nvPr/>
          </p:nvSpPr>
          <p:spPr>
            <a:xfrm>
              <a:off x="1617" y="2586"/>
              <a:ext cx="924" cy="367"/>
            </a:xfrm>
            <a:prstGeom prst="rect">
              <a:avLst/>
            </a:prstGeom>
            <a:noFill/>
            <a:ln w="50800" cap="flat" cmpd="sng">
              <a:solidFill>
                <a:schemeClr val="accent2"/>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480289" name="文本框 480288"/>
          <p:cNvSpPr txBox="1"/>
          <p:nvPr/>
        </p:nvSpPr>
        <p:spPr>
          <a:xfrm>
            <a:off x="5572125" y="4427538"/>
            <a:ext cx="2860675" cy="1096962"/>
          </a:xfrm>
          <a:prstGeom prst="rect">
            <a:avLst/>
          </a:prstGeom>
          <a:noFill/>
          <a:ln w="50800">
            <a:noFill/>
          </a:ln>
        </p:spPr>
        <p:txBody>
          <a:bodyPr anchor="t" anchorCtr="0">
            <a:spAutoFit/>
          </a:bodyPr>
          <a:p>
            <a:pPr eaLnBrk="0" hangingPunct="0">
              <a:spcBef>
                <a:spcPct val="50000"/>
              </a:spcBef>
            </a:pPr>
            <a:r>
              <a:rPr lang="zh-CN" altLang="en-US" sz="2200" dirty="0">
                <a:latin typeface="Times New Roman" panose="02020603050405020304" pitchFamily="18" charset="0"/>
                <a:ea typeface="黑体" panose="02010609060101010101" pitchFamily="49" charset="-122"/>
              </a:rPr>
              <a:t>取指后，各指令功能不同，数据通路中信息流动过程也不同</a:t>
            </a:r>
            <a:endParaRPr lang="zh-CN" altLang="en-US" sz="2200" dirty="0">
              <a:latin typeface="Times New Roman" panose="02020603050405020304" pitchFamily="18" charset="0"/>
              <a:ea typeface="黑体" panose="02010609060101010101" pitchFamily="49" charset="-122"/>
            </a:endParaRPr>
          </a:p>
        </p:txBody>
      </p:sp>
      <p:grpSp>
        <p:nvGrpSpPr>
          <p:cNvPr id="480290" name="组合 480289"/>
          <p:cNvGrpSpPr/>
          <p:nvPr/>
        </p:nvGrpSpPr>
        <p:grpSpPr>
          <a:xfrm>
            <a:off x="631825" y="2922588"/>
            <a:ext cx="4151313" cy="3344862"/>
            <a:chOff x="631" y="1847"/>
            <a:chExt cx="2652" cy="2107"/>
          </a:xfrm>
        </p:grpSpPr>
        <p:sp>
          <p:nvSpPr>
            <p:cNvPr id="47138" name="矩形 480290"/>
            <p:cNvSpPr/>
            <p:nvPr/>
          </p:nvSpPr>
          <p:spPr>
            <a:xfrm>
              <a:off x="631" y="1847"/>
              <a:ext cx="2624" cy="2094"/>
            </a:xfrm>
            <a:prstGeom prst="rect">
              <a:avLst/>
            </a:prstGeom>
            <a:noFill/>
            <a:ln w="50800" cap="flat" cmpd="sng">
              <a:solidFill>
                <a:srgbClr val="FE9AAB"/>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7139" name="文本框 480291"/>
            <p:cNvSpPr txBox="1"/>
            <p:nvPr/>
          </p:nvSpPr>
          <p:spPr>
            <a:xfrm>
              <a:off x="1728" y="3685"/>
              <a:ext cx="1555" cy="269"/>
            </a:xfrm>
            <a:prstGeom prst="rect">
              <a:avLst/>
            </a:prstGeom>
            <a:noFill/>
            <a:ln w="50800">
              <a:noFill/>
            </a:ln>
          </p:spPr>
          <p:txBody>
            <a:bodyPr anchor="t" anchorCtr="0">
              <a:spAutoFit/>
            </a:bodyPr>
            <a:p>
              <a:pPr algn="ctr" eaLnBrk="0" hangingPunct="0">
                <a:spcBef>
                  <a:spcPct val="50000"/>
                </a:spcBef>
              </a:pPr>
              <a:r>
                <a:rPr lang="zh-CN" altLang="en-US" sz="2200" dirty="0">
                  <a:solidFill>
                    <a:schemeClr val="accent1"/>
                  </a:solidFill>
                  <a:latin typeface="Arial" panose="020B0604020202020204" pitchFamily="34" charset="0"/>
                  <a:ea typeface="黑体" panose="02010609060101010101" pitchFamily="49" charset="-122"/>
                </a:rPr>
                <a:t>取指令部件</a:t>
              </a:r>
              <a:endParaRPr lang="zh-CN" altLang="en-US" sz="2200" dirty="0">
                <a:solidFill>
                  <a:schemeClr val="accent1"/>
                </a:solidFill>
                <a:latin typeface="Arial" panose="020B0604020202020204" pitchFamily="34" charset="0"/>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0259">
                                            <p:txEl>
                                              <p:charRg st="13" end="24"/>
                                            </p:txEl>
                                          </p:spTgt>
                                        </p:tgtEl>
                                        <p:attrNameLst>
                                          <p:attrName>style.visibility</p:attrName>
                                        </p:attrNameLst>
                                      </p:cBhvr>
                                      <p:to>
                                        <p:strVal val="visible"/>
                                      </p:to>
                                    </p:set>
                                    <p:animEffect transition="in" filter="blinds(horizontal)">
                                      <p:cBhvr>
                                        <p:cTn id="7" dur="500"/>
                                        <p:tgtEl>
                                          <p:spTgt spid="480259">
                                            <p:txEl>
                                              <p:charRg st="13"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80259">
                                            <p:txEl>
                                              <p:charRg st="24" end="42"/>
                                            </p:txEl>
                                          </p:spTgt>
                                        </p:tgtEl>
                                        <p:attrNameLst>
                                          <p:attrName>style.visibility</p:attrName>
                                        </p:attrNameLst>
                                      </p:cBhvr>
                                      <p:to>
                                        <p:strVal val="visible"/>
                                      </p:to>
                                    </p:set>
                                    <p:animEffect transition="in" filter="blinds(horizontal)">
                                      <p:cBhvr>
                                        <p:cTn id="12" dur="500"/>
                                        <p:tgtEl>
                                          <p:spTgt spid="480259">
                                            <p:txEl>
                                              <p:charRg st="24"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0259">
                                            <p:txEl>
                                              <p:charRg st="42" end="83"/>
                                            </p:txEl>
                                          </p:spTgt>
                                        </p:tgtEl>
                                        <p:attrNameLst>
                                          <p:attrName>style.visibility</p:attrName>
                                        </p:attrNameLst>
                                      </p:cBhvr>
                                      <p:to>
                                        <p:strVal val="visible"/>
                                      </p:to>
                                    </p:set>
                                    <p:animEffect transition="in" filter="blinds(horizontal)">
                                      <p:cBhvr>
                                        <p:cTn id="17" dur="500"/>
                                        <p:tgtEl>
                                          <p:spTgt spid="480259">
                                            <p:txEl>
                                              <p:charRg st="42" end="8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80290"/>
                                        </p:tgtEl>
                                        <p:attrNameLst>
                                          <p:attrName>style.visibility</p:attrName>
                                        </p:attrNameLst>
                                      </p:cBhvr>
                                      <p:to>
                                        <p:strVal val="visible"/>
                                      </p:to>
                                    </p:set>
                                    <p:animEffect transition="in" filter="blinds(horizontal)">
                                      <p:cBhvr>
                                        <p:cTn id="22" dur="500"/>
                                        <p:tgtEl>
                                          <p:spTgt spid="48029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80285"/>
                                        </p:tgtEl>
                                        <p:attrNameLst>
                                          <p:attrName>style.visibility</p:attrName>
                                        </p:attrNameLst>
                                      </p:cBhvr>
                                      <p:to>
                                        <p:strVal val="visible"/>
                                      </p:to>
                                    </p:set>
                                    <p:animEffect transition="in" filter="blinds(horizontal)">
                                      <p:cBhvr>
                                        <p:cTn id="27" dur="500"/>
                                        <p:tgtEl>
                                          <p:spTgt spid="48028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80284"/>
                                        </p:tgtEl>
                                        <p:attrNameLst>
                                          <p:attrName>style.visibility</p:attrName>
                                        </p:attrNameLst>
                                      </p:cBhvr>
                                      <p:to>
                                        <p:strVal val="visible"/>
                                      </p:to>
                                    </p:set>
                                    <p:animEffect transition="in" filter="blinds(horizontal)">
                                      <p:cBhvr>
                                        <p:cTn id="32" dur="500"/>
                                        <p:tgtEl>
                                          <p:spTgt spid="48028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80289">
                                            <p:txEl>
                                              <p:charRg st="0" end="27"/>
                                            </p:txEl>
                                          </p:spTgt>
                                        </p:tgtEl>
                                        <p:attrNameLst>
                                          <p:attrName>style.visibility</p:attrName>
                                        </p:attrNameLst>
                                      </p:cBhvr>
                                      <p:to>
                                        <p:strVal val="visible"/>
                                      </p:to>
                                    </p:set>
                                    <p:animEffect transition="in" filter="blinds(horizontal)">
                                      <p:cBhvr>
                                        <p:cTn id="37" dur="500"/>
                                        <p:tgtEl>
                                          <p:spTgt spid="480289">
                                            <p:txEl>
                                              <p:charRg st="0" end="27"/>
                                            </p:txEl>
                                          </p:spTgt>
                                        </p:tgtEl>
                                      </p:cBhvr>
                                    </p:animEffect>
                                  </p:childTnLst>
                                  <p:subTnLst>
                                    <p:animClr clrSpc="rgb" dir="cw">
                                      <p:cBhvr override="childStyle">
                                        <p:cTn dur="1" fill="hold" display="0" masterRel="nextClick" afterEffect="1"/>
                                        <p:tgtEl>
                                          <p:spTgt spid="480289">
                                            <p:txEl>
                                              <p:charRg st="0" end="27"/>
                                            </p:txEl>
                                          </p:spTgt>
                                        </p:tgtEl>
                                        <p:attrNameLst>
                                          <p:attrName>ppt_c</p:attrName>
                                        </p:attrNameLst>
                                      </p:cBhvr>
                                      <p:to>
                                        <a:srgbClr val="2DA9A9"/>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84" grpId="0"/>
      <p:bldP spid="480289" grpId="0"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标题 484353"/>
          <p:cNvSpPr>
            <a:spLocks noGrp="1"/>
          </p:cNvSpPr>
          <p:nvPr>
            <p:ph type="title"/>
          </p:nvPr>
        </p:nvSpPr>
        <p:spPr>
          <a:xfrm>
            <a:off x="236538" y="128588"/>
            <a:ext cx="8086725" cy="528637"/>
          </a:xfrm>
          <a:ln/>
        </p:spPr>
        <p:txBody>
          <a:bodyPr vert="horz" wrap="square" lIns="63500" tIns="25400" rIns="63500" bIns="25400" anchor="t" anchorCtr="0">
            <a:spAutoFit/>
          </a:bodyPr>
          <a:p>
            <a:r>
              <a:rPr lang="en-US" altLang="zh-CN">
                <a:ea typeface="宋体" panose="02010600030101010101" pitchFamily="2" charset="-122"/>
              </a:rPr>
              <a:t>RR</a:t>
            </a:r>
            <a:r>
              <a:rPr lang="zh-CN" altLang="en-US" dirty="0">
                <a:ea typeface="宋体" panose="02010600030101010101" pitchFamily="2" charset="-122"/>
              </a:rPr>
              <a:t>（</a:t>
            </a:r>
            <a:r>
              <a:rPr lang="en-US" altLang="zh-CN">
                <a:ea typeface="宋体" panose="02010600030101010101" pitchFamily="2" charset="-122"/>
              </a:rPr>
              <a:t>R-type</a:t>
            </a:r>
            <a:r>
              <a:rPr lang="zh-CN" altLang="en-US" dirty="0">
                <a:ea typeface="宋体" panose="02010600030101010101" pitchFamily="2" charset="-122"/>
              </a:rPr>
              <a:t>）</a:t>
            </a:r>
            <a:r>
              <a:rPr lang="zh-CN" altLang="en-US" dirty="0"/>
              <a:t>型指令的数据通路</a:t>
            </a:r>
            <a:endParaRPr lang="en-US" altLang="zh-CN"/>
          </a:p>
        </p:txBody>
      </p:sp>
      <p:sp>
        <p:nvSpPr>
          <p:cNvPr id="49154" name="文本占位符 484354"/>
          <p:cNvSpPr>
            <a:spLocks noGrp="1"/>
          </p:cNvSpPr>
          <p:nvPr>
            <p:ph idx="1"/>
          </p:nvPr>
        </p:nvSpPr>
        <p:spPr>
          <a:xfrm>
            <a:off x="100013" y="1939925"/>
            <a:ext cx="8191500" cy="385763"/>
          </a:xfrm>
          <a:ln/>
        </p:spPr>
        <p:txBody>
          <a:bodyPr vert="horz" wrap="square" lIns="63500" tIns="25400" rIns="63500" bIns="25400" anchor="t" anchorCtr="0">
            <a:spAutoFit/>
          </a:bodyPr>
          <a:p>
            <a:pPr>
              <a:lnSpc>
                <a:spcPct val="110000"/>
              </a:lnSpc>
              <a:buNone/>
            </a:pPr>
            <a:r>
              <a:rPr lang="zh-CN" altLang="en-US" sz="2000" dirty="0">
                <a:latin typeface="微软雅黑" panose="020B0503020204020204" pitchFamily="34" charset="-122"/>
                <a:ea typeface="微软雅黑" panose="020B0503020204020204" pitchFamily="34" charset="-122"/>
              </a:rPr>
              <a:t>功能：</a:t>
            </a:r>
            <a:r>
              <a:rPr lang="en-US" altLang="zh-CN" sz="2000" err="1">
                <a:latin typeface="微软雅黑" panose="020B0503020204020204" pitchFamily="34" charset="-122"/>
                <a:ea typeface="微软雅黑" panose="020B0503020204020204" pitchFamily="34" charset="-122"/>
              </a:rPr>
              <a:t>R[rd</a:t>
            </a:r>
            <a:r>
              <a:rPr lang="en-US" altLang="zh-CN" sz="200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sym typeface="Wingdings" panose="05000000000000000000" pitchFamily="2" charset="2"/>
              </a:rPr>
              <a:t>←</a:t>
            </a:r>
            <a:r>
              <a:rPr lang="en-US" altLang="zh-CN" sz="2000">
                <a:latin typeface="微软雅黑" panose="020B0503020204020204" pitchFamily="34" charset="-122"/>
                <a:ea typeface="微软雅黑" panose="020B0503020204020204" pitchFamily="34" charset="-122"/>
              </a:rPr>
              <a:t> </a:t>
            </a:r>
            <a:r>
              <a:rPr lang="en-US" altLang="zh-CN" sz="2000" err="1">
                <a:latin typeface="微软雅黑" panose="020B0503020204020204" pitchFamily="34" charset="-122"/>
                <a:ea typeface="微软雅黑" panose="020B0503020204020204" pitchFamily="34" charset="-122"/>
              </a:rPr>
              <a:t>R[rs</a:t>
            </a:r>
            <a:r>
              <a:rPr lang="en-US" altLang="zh-CN" sz="2000">
                <a:latin typeface="微软雅黑" panose="020B0503020204020204" pitchFamily="34" charset="-122"/>
                <a:ea typeface="微软雅黑" panose="020B0503020204020204" pitchFamily="34" charset="-122"/>
              </a:rPr>
              <a:t>] op </a:t>
            </a:r>
            <a:r>
              <a:rPr lang="en-US" altLang="zh-CN" sz="2000" err="1">
                <a:latin typeface="微软雅黑" panose="020B0503020204020204" pitchFamily="34" charset="-122"/>
                <a:ea typeface="微软雅黑" panose="020B0503020204020204" pitchFamily="34" charset="-122"/>
              </a:rPr>
              <a:t>R[rt</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a:t>
            </a:r>
            <a:r>
              <a:rPr lang="en-US" altLang="zh-CN" sz="2000">
                <a:latin typeface="微软雅黑" panose="020B0503020204020204" pitchFamily="34" charset="-122"/>
                <a:ea typeface="微软雅黑" panose="020B0503020204020204" pitchFamily="34" charset="-122"/>
              </a:rPr>
              <a:t>add    rd, </a:t>
            </a:r>
            <a:r>
              <a:rPr lang="en-US" altLang="zh-CN" sz="2000" err="1">
                <a:latin typeface="微软雅黑" panose="020B0503020204020204" pitchFamily="34" charset="-122"/>
                <a:ea typeface="微软雅黑" panose="020B0503020204020204" pitchFamily="34" charset="-122"/>
              </a:rPr>
              <a:t>rs</a:t>
            </a:r>
            <a:r>
              <a:rPr lang="en-US" altLang="zh-CN" sz="2000">
                <a:latin typeface="微软雅黑" panose="020B0503020204020204" pitchFamily="34" charset="-122"/>
                <a:ea typeface="微软雅黑" panose="020B0503020204020204" pitchFamily="34" charset="-122"/>
              </a:rPr>
              <a:t>, </a:t>
            </a:r>
            <a:r>
              <a:rPr lang="en-US" altLang="zh-CN" sz="2000" err="1">
                <a:latin typeface="微软雅黑" panose="020B0503020204020204" pitchFamily="34" charset="-122"/>
                <a:ea typeface="微软雅黑" panose="020B0503020204020204" pitchFamily="34" charset="-122"/>
              </a:rPr>
              <a:t>rt</a:t>
            </a:r>
            <a:endParaRPr lang="en-US" altLang="zh-CN" sz="2000">
              <a:latin typeface="微软雅黑" panose="020B0503020204020204" pitchFamily="34" charset="-122"/>
              <a:ea typeface="微软雅黑" panose="020B0503020204020204" pitchFamily="34" charset="-122"/>
            </a:endParaRPr>
          </a:p>
        </p:txBody>
      </p:sp>
      <p:sp>
        <p:nvSpPr>
          <p:cNvPr id="49155" name="直接连接符 484355"/>
          <p:cNvSpPr/>
          <p:nvPr/>
        </p:nvSpPr>
        <p:spPr>
          <a:xfrm flipH="1">
            <a:off x="6289675" y="4521200"/>
            <a:ext cx="2041525" cy="0"/>
          </a:xfrm>
          <a:prstGeom prst="line">
            <a:avLst/>
          </a:prstGeom>
          <a:ln w="25400" cap="flat" cmpd="sng">
            <a:solidFill>
              <a:schemeClr val="tx1"/>
            </a:solidFill>
            <a:prstDash val="solid"/>
            <a:round/>
            <a:headEnd type="triangle" w="med" len="med"/>
            <a:tailEnd type="none" w="med" len="med"/>
          </a:ln>
        </p:spPr>
      </p:sp>
      <p:sp>
        <p:nvSpPr>
          <p:cNvPr id="49156" name="直接连接符 484356"/>
          <p:cNvSpPr/>
          <p:nvPr/>
        </p:nvSpPr>
        <p:spPr>
          <a:xfrm>
            <a:off x="5805488" y="3902075"/>
            <a:ext cx="0" cy="279400"/>
          </a:xfrm>
          <a:prstGeom prst="line">
            <a:avLst/>
          </a:prstGeom>
          <a:ln w="25400" cap="flat" cmpd="sng">
            <a:solidFill>
              <a:schemeClr val="tx1"/>
            </a:solidFill>
            <a:prstDash val="solid"/>
            <a:round/>
            <a:headEnd type="none" w="med" len="med"/>
            <a:tailEnd type="none" w="med" len="med"/>
          </a:ln>
        </p:spPr>
      </p:sp>
      <p:sp>
        <p:nvSpPr>
          <p:cNvPr id="49157" name="直接连接符 484357"/>
          <p:cNvSpPr/>
          <p:nvPr/>
        </p:nvSpPr>
        <p:spPr>
          <a:xfrm>
            <a:off x="5819775" y="3902075"/>
            <a:ext cx="474663" cy="279400"/>
          </a:xfrm>
          <a:prstGeom prst="line">
            <a:avLst/>
          </a:prstGeom>
          <a:ln w="25400" cap="flat" cmpd="sng">
            <a:solidFill>
              <a:schemeClr val="tx1"/>
            </a:solidFill>
            <a:prstDash val="solid"/>
            <a:round/>
            <a:headEnd type="none" w="med" len="med"/>
            <a:tailEnd type="none" w="med" len="med"/>
          </a:ln>
        </p:spPr>
      </p:sp>
      <p:sp>
        <p:nvSpPr>
          <p:cNvPr id="49158" name="直接连接符 484358"/>
          <p:cNvSpPr/>
          <p:nvPr/>
        </p:nvSpPr>
        <p:spPr>
          <a:xfrm>
            <a:off x="5789613" y="4178300"/>
            <a:ext cx="269875" cy="184150"/>
          </a:xfrm>
          <a:prstGeom prst="line">
            <a:avLst/>
          </a:prstGeom>
          <a:ln w="25400" cap="flat" cmpd="sng">
            <a:solidFill>
              <a:schemeClr val="tx1"/>
            </a:solidFill>
            <a:prstDash val="solid"/>
            <a:round/>
            <a:headEnd type="none" w="med" len="med"/>
            <a:tailEnd type="none" w="med" len="med"/>
          </a:ln>
        </p:spPr>
      </p:sp>
      <p:sp>
        <p:nvSpPr>
          <p:cNvPr id="49159" name="直接连接符 484359"/>
          <p:cNvSpPr/>
          <p:nvPr/>
        </p:nvSpPr>
        <p:spPr>
          <a:xfrm>
            <a:off x="6057900" y="4359275"/>
            <a:ext cx="0" cy="279400"/>
          </a:xfrm>
          <a:prstGeom prst="line">
            <a:avLst/>
          </a:prstGeom>
          <a:ln w="25400" cap="flat" cmpd="sng">
            <a:solidFill>
              <a:schemeClr val="tx1"/>
            </a:solidFill>
            <a:prstDash val="solid"/>
            <a:round/>
            <a:headEnd type="none" w="med" len="med"/>
            <a:tailEnd type="none" w="med" len="med"/>
          </a:ln>
        </p:spPr>
      </p:sp>
      <p:sp>
        <p:nvSpPr>
          <p:cNvPr id="49160" name="直接连接符 484360"/>
          <p:cNvSpPr/>
          <p:nvPr/>
        </p:nvSpPr>
        <p:spPr>
          <a:xfrm>
            <a:off x="6308725" y="4206875"/>
            <a:ext cx="0" cy="584200"/>
          </a:xfrm>
          <a:prstGeom prst="line">
            <a:avLst/>
          </a:prstGeom>
          <a:ln w="25400" cap="flat" cmpd="sng">
            <a:solidFill>
              <a:schemeClr val="tx1"/>
            </a:solidFill>
            <a:prstDash val="solid"/>
            <a:round/>
            <a:headEnd type="none" w="med" len="med"/>
            <a:tailEnd type="none" w="med" len="med"/>
          </a:ln>
        </p:spPr>
      </p:sp>
      <p:sp>
        <p:nvSpPr>
          <p:cNvPr id="49161" name="直接连接符 484361"/>
          <p:cNvSpPr/>
          <p:nvPr/>
        </p:nvSpPr>
        <p:spPr>
          <a:xfrm flipV="1">
            <a:off x="5819775" y="4624388"/>
            <a:ext cx="255588" cy="192087"/>
          </a:xfrm>
          <a:prstGeom prst="line">
            <a:avLst/>
          </a:prstGeom>
          <a:ln w="25400" cap="flat" cmpd="sng">
            <a:solidFill>
              <a:schemeClr val="tx1"/>
            </a:solidFill>
            <a:prstDash val="solid"/>
            <a:round/>
            <a:headEnd type="none" w="med" len="med"/>
            <a:tailEnd type="none" w="med" len="med"/>
          </a:ln>
        </p:spPr>
      </p:sp>
      <p:sp>
        <p:nvSpPr>
          <p:cNvPr id="49162" name="直接连接符 484362"/>
          <p:cNvSpPr/>
          <p:nvPr/>
        </p:nvSpPr>
        <p:spPr>
          <a:xfrm>
            <a:off x="5805488" y="4816475"/>
            <a:ext cx="0" cy="309563"/>
          </a:xfrm>
          <a:prstGeom prst="line">
            <a:avLst/>
          </a:prstGeom>
          <a:ln w="25400" cap="flat" cmpd="sng">
            <a:solidFill>
              <a:schemeClr val="tx1"/>
            </a:solidFill>
            <a:prstDash val="solid"/>
            <a:round/>
            <a:headEnd type="none" w="med" len="med"/>
            <a:tailEnd type="none" w="med" len="med"/>
          </a:ln>
        </p:spPr>
      </p:sp>
      <p:sp>
        <p:nvSpPr>
          <p:cNvPr id="49163" name="直接连接符 484363"/>
          <p:cNvSpPr/>
          <p:nvPr/>
        </p:nvSpPr>
        <p:spPr>
          <a:xfrm flipV="1">
            <a:off x="5819775" y="4791075"/>
            <a:ext cx="474663" cy="330200"/>
          </a:xfrm>
          <a:prstGeom prst="line">
            <a:avLst/>
          </a:prstGeom>
          <a:ln w="25400" cap="flat" cmpd="sng">
            <a:solidFill>
              <a:schemeClr val="tx1"/>
            </a:solidFill>
            <a:prstDash val="solid"/>
            <a:round/>
            <a:headEnd type="none" w="med" len="med"/>
            <a:tailEnd type="none" w="med" len="med"/>
          </a:ln>
        </p:spPr>
      </p:sp>
      <p:sp>
        <p:nvSpPr>
          <p:cNvPr id="49164" name="直接连接符 484364"/>
          <p:cNvSpPr/>
          <p:nvPr/>
        </p:nvSpPr>
        <p:spPr>
          <a:xfrm flipH="1">
            <a:off x="6805613" y="4352925"/>
            <a:ext cx="180975" cy="292100"/>
          </a:xfrm>
          <a:prstGeom prst="line">
            <a:avLst/>
          </a:prstGeom>
          <a:ln w="12700" cap="flat" cmpd="sng">
            <a:solidFill>
              <a:schemeClr val="tx1"/>
            </a:solidFill>
            <a:prstDash val="solid"/>
            <a:round/>
            <a:headEnd type="none" w="med" len="med"/>
            <a:tailEnd type="none" w="med" len="med"/>
          </a:ln>
        </p:spPr>
      </p:sp>
      <p:sp>
        <p:nvSpPr>
          <p:cNvPr id="49165" name="矩形 484365"/>
          <p:cNvSpPr/>
          <p:nvPr/>
        </p:nvSpPr>
        <p:spPr>
          <a:xfrm>
            <a:off x="6461125" y="4498975"/>
            <a:ext cx="433388" cy="274638"/>
          </a:xfrm>
          <a:prstGeom prst="rect">
            <a:avLst/>
          </a:prstGeom>
          <a:noFill/>
          <a:ln w="12700">
            <a:noFill/>
          </a:ln>
        </p:spPr>
        <p:txBody>
          <a:bodyPr lIns="0" tIns="0" rIns="0" bIns="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49166" name="矩形 484366"/>
          <p:cNvSpPr/>
          <p:nvPr/>
        </p:nvSpPr>
        <p:spPr>
          <a:xfrm>
            <a:off x="6962775" y="4194175"/>
            <a:ext cx="8794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Result</a:t>
            </a:r>
            <a:endParaRPr lang="en-US" altLang="zh-CN" sz="1800">
              <a:latin typeface="Arial" panose="020B0604020202020204" pitchFamily="34" charset="0"/>
              <a:ea typeface="宋体" panose="02010600030101010101" pitchFamily="2" charset="-122"/>
            </a:endParaRPr>
          </a:p>
        </p:txBody>
      </p:sp>
      <p:sp>
        <p:nvSpPr>
          <p:cNvPr id="49167" name="直接连接符 484367"/>
          <p:cNvSpPr/>
          <p:nvPr/>
        </p:nvSpPr>
        <p:spPr>
          <a:xfrm>
            <a:off x="6057900" y="3721100"/>
            <a:ext cx="0" cy="307975"/>
          </a:xfrm>
          <a:prstGeom prst="line">
            <a:avLst/>
          </a:prstGeom>
          <a:ln w="25400" cap="flat" cmpd="sng">
            <a:solidFill>
              <a:srgbClr val="3366FF"/>
            </a:solidFill>
            <a:prstDash val="solid"/>
            <a:round/>
            <a:headEnd type="none" w="med" len="med"/>
            <a:tailEnd type="triangle" w="med" len="med"/>
          </a:ln>
        </p:spPr>
      </p:sp>
      <p:sp>
        <p:nvSpPr>
          <p:cNvPr id="49168" name="矩形 484369"/>
          <p:cNvSpPr/>
          <p:nvPr/>
        </p:nvSpPr>
        <p:spPr>
          <a:xfrm>
            <a:off x="1436688" y="4660900"/>
            <a:ext cx="536575" cy="363538"/>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49169" name="矩形 484370"/>
          <p:cNvSpPr/>
          <p:nvPr/>
        </p:nvSpPr>
        <p:spPr>
          <a:xfrm>
            <a:off x="1006475" y="4117975"/>
            <a:ext cx="801688" cy="363538"/>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49170" name="矩形 484371"/>
          <p:cNvSpPr/>
          <p:nvPr/>
        </p:nvSpPr>
        <p:spPr>
          <a:xfrm>
            <a:off x="2200275" y="3902075"/>
            <a:ext cx="1577975" cy="1212850"/>
          </a:xfrm>
          <a:prstGeom prst="rect">
            <a:avLst/>
          </a:prstGeom>
          <a:solidFill>
            <a:srgbClr val="FF9900">
              <a:alpha val="32001"/>
            </a:srgbClr>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171" name="直接连接符 484372"/>
          <p:cNvSpPr/>
          <p:nvPr/>
        </p:nvSpPr>
        <p:spPr>
          <a:xfrm>
            <a:off x="2243138" y="4873625"/>
            <a:ext cx="276225" cy="69850"/>
          </a:xfrm>
          <a:prstGeom prst="line">
            <a:avLst/>
          </a:prstGeom>
          <a:ln w="25400" cap="flat" cmpd="sng">
            <a:solidFill>
              <a:schemeClr val="tx1"/>
            </a:solidFill>
            <a:prstDash val="solid"/>
            <a:round/>
            <a:headEnd type="none" w="med" len="med"/>
            <a:tailEnd type="none" w="med" len="med"/>
          </a:ln>
        </p:spPr>
      </p:sp>
      <p:sp>
        <p:nvSpPr>
          <p:cNvPr id="49172" name="直接连接符 484373"/>
          <p:cNvSpPr/>
          <p:nvPr/>
        </p:nvSpPr>
        <p:spPr>
          <a:xfrm flipH="1">
            <a:off x="2214563" y="4968875"/>
            <a:ext cx="331787" cy="107950"/>
          </a:xfrm>
          <a:prstGeom prst="line">
            <a:avLst/>
          </a:prstGeom>
          <a:ln w="25400" cap="flat" cmpd="sng">
            <a:solidFill>
              <a:schemeClr val="tx1"/>
            </a:solidFill>
            <a:prstDash val="solid"/>
            <a:round/>
            <a:headEnd type="none" w="med" len="med"/>
            <a:tailEnd type="none" w="med" len="med"/>
          </a:ln>
        </p:spPr>
      </p:sp>
      <p:sp>
        <p:nvSpPr>
          <p:cNvPr id="49173" name="椭圆 484374"/>
          <p:cNvSpPr/>
          <p:nvPr/>
        </p:nvSpPr>
        <p:spPr>
          <a:xfrm>
            <a:off x="2032000" y="4911725"/>
            <a:ext cx="141288"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174" name="直接连接符 484376"/>
          <p:cNvSpPr/>
          <p:nvPr/>
        </p:nvSpPr>
        <p:spPr>
          <a:xfrm flipH="1">
            <a:off x="1092200" y="4422775"/>
            <a:ext cx="1119188" cy="0"/>
          </a:xfrm>
          <a:prstGeom prst="line">
            <a:avLst/>
          </a:prstGeom>
          <a:ln w="25400" cap="flat" cmpd="sng">
            <a:solidFill>
              <a:schemeClr val="tx1"/>
            </a:solidFill>
            <a:prstDash val="solid"/>
            <a:round/>
            <a:headEnd type="triangle" w="med" len="med"/>
            <a:tailEnd type="none" w="med" len="med"/>
          </a:ln>
        </p:spPr>
      </p:sp>
      <p:sp>
        <p:nvSpPr>
          <p:cNvPr id="49175" name="直接连接符 484377"/>
          <p:cNvSpPr/>
          <p:nvPr/>
        </p:nvSpPr>
        <p:spPr>
          <a:xfrm flipH="1">
            <a:off x="1603375" y="4276725"/>
            <a:ext cx="180975" cy="292100"/>
          </a:xfrm>
          <a:prstGeom prst="line">
            <a:avLst/>
          </a:prstGeom>
          <a:ln w="12700" cap="flat" cmpd="sng">
            <a:solidFill>
              <a:schemeClr val="tx1"/>
            </a:solidFill>
            <a:prstDash val="solid"/>
            <a:round/>
            <a:headEnd type="none" w="med" len="med"/>
            <a:tailEnd type="none" w="med" len="med"/>
          </a:ln>
        </p:spPr>
      </p:sp>
      <p:sp>
        <p:nvSpPr>
          <p:cNvPr id="49176" name="矩形 484378"/>
          <p:cNvSpPr/>
          <p:nvPr/>
        </p:nvSpPr>
        <p:spPr>
          <a:xfrm>
            <a:off x="1258888" y="44227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49177" name="直接连接符 484379"/>
          <p:cNvSpPr/>
          <p:nvPr/>
        </p:nvSpPr>
        <p:spPr>
          <a:xfrm>
            <a:off x="3805238" y="4041775"/>
            <a:ext cx="1985962" cy="0"/>
          </a:xfrm>
          <a:prstGeom prst="line">
            <a:avLst/>
          </a:prstGeom>
          <a:ln w="25400" cap="flat" cmpd="sng">
            <a:solidFill>
              <a:schemeClr val="tx1"/>
            </a:solidFill>
            <a:prstDash val="solid"/>
            <a:round/>
            <a:headEnd type="none" w="med" len="med"/>
            <a:tailEnd type="triangle" w="med" len="med"/>
          </a:ln>
        </p:spPr>
      </p:sp>
      <p:sp>
        <p:nvSpPr>
          <p:cNvPr id="49178" name="直接连接符 484380"/>
          <p:cNvSpPr/>
          <p:nvPr/>
        </p:nvSpPr>
        <p:spPr>
          <a:xfrm flipH="1">
            <a:off x="4875213" y="3895725"/>
            <a:ext cx="182562" cy="292100"/>
          </a:xfrm>
          <a:prstGeom prst="line">
            <a:avLst/>
          </a:prstGeom>
          <a:ln w="12700" cap="flat" cmpd="sng">
            <a:solidFill>
              <a:schemeClr val="tx1"/>
            </a:solidFill>
            <a:prstDash val="solid"/>
            <a:round/>
            <a:headEnd type="none" w="med" len="med"/>
            <a:tailEnd type="none" w="med" len="med"/>
          </a:ln>
        </p:spPr>
      </p:sp>
      <p:sp>
        <p:nvSpPr>
          <p:cNvPr id="49179" name="矩形 484381"/>
          <p:cNvSpPr/>
          <p:nvPr/>
        </p:nvSpPr>
        <p:spPr>
          <a:xfrm>
            <a:off x="4530725" y="41179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49180" name="矩形 484382"/>
          <p:cNvSpPr/>
          <p:nvPr/>
        </p:nvSpPr>
        <p:spPr>
          <a:xfrm>
            <a:off x="4194175" y="3736975"/>
            <a:ext cx="752475" cy="363538"/>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49181" name="直接连接符 484383"/>
          <p:cNvSpPr/>
          <p:nvPr/>
        </p:nvSpPr>
        <p:spPr>
          <a:xfrm flipV="1">
            <a:off x="2351088" y="3702050"/>
            <a:ext cx="0" cy="200025"/>
          </a:xfrm>
          <a:prstGeom prst="line">
            <a:avLst/>
          </a:prstGeom>
          <a:ln w="25400" cap="flat" cmpd="sng">
            <a:solidFill>
              <a:schemeClr val="tx1"/>
            </a:solidFill>
            <a:prstDash val="solid"/>
            <a:round/>
            <a:headEnd type="triangle" w="med" len="med"/>
            <a:tailEnd type="none" w="med" len="med"/>
          </a:ln>
        </p:spPr>
      </p:sp>
      <p:sp>
        <p:nvSpPr>
          <p:cNvPr id="49182" name="直接连接符 484384"/>
          <p:cNvSpPr/>
          <p:nvPr/>
        </p:nvSpPr>
        <p:spPr>
          <a:xfrm>
            <a:off x="3805238" y="4956175"/>
            <a:ext cx="1985962" cy="0"/>
          </a:xfrm>
          <a:prstGeom prst="line">
            <a:avLst/>
          </a:prstGeom>
          <a:ln w="25400" cap="flat" cmpd="sng">
            <a:solidFill>
              <a:schemeClr val="tx1"/>
            </a:solidFill>
            <a:prstDash val="solid"/>
            <a:round/>
            <a:headEnd type="none" w="med" len="med"/>
            <a:tailEnd type="triangle" w="med" len="med"/>
          </a:ln>
        </p:spPr>
      </p:sp>
      <p:sp>
        <p:nvSpPr>
          <p:cNvPr id="49183" name="直接连接符 484385"/>
          <p:cNvSpPr/>
          <p:nvPr/>
        </p:nvSpPr>
        <p:spPr>
          <a:xfrm flipH="1">
            <a:off x="4875213" y="4810125"/>
            <a:ext cx="182562" cy="292100"/>
          </a:xfrm>
          <a:prstGeom prst="line">
            <a:avLst/>
          </a:prstGeom>
          <a:ln w="12700" cap="flat" cmpd="sng">
            <a:solidFill>
              <a:schemeClr val="tx1"/>
            </a:solidFill>
            <a:prstDash val="solid"/>
            <a:round/>
            <a:headEnd type="none" w="med" len="med"/>
            <a:tailEnd type="none" w="med" len="med"/>
          </a:ln>
        </p:spPr>
      </p:sp>
      <p:sp>
        <p:nvSpPr>
          <p:cNvPr id="49184" name="矩形 484386"/>
          <p:cNvSpPr/>
          <p:nvPr/>
        </p:nvSpPr>
        <p:spPr>
          <a:xfrm>
            <a:off x="4530725" y="49561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49185" name="矩形 484387"/>
          <p:cNvSpPr/>
          <p:nvPr/>
        </p:nvSpPr>
        <p:spPr>
          <a:xfrm>
            <a:off x="4194175" y="4651375"/>
            <a:ext cx="752475" cy="363538"/>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49186" name="直接连接符 484388"/>
          <p:cNvSpPr/>
          <p:nvPr/>
        </p:nvSpPr>
        <p:spPr>
          <a:xfrm flipH="1">
            <a:off x="1511300" y="4970463"/>
            <a:ext cx="531813" cy="0"/>
          </a:xfrm>
          <a:prstGeom prst="line">
            <a:avLst/>
          </a:prstGeom>
          <a:ln w="25400" cap="flat" cmpd="sng">
            <a:solidFill>
              <a:schemeClr val="tx1"/>
            </a:solidFill>
            <a:prstDash val="solid"/>
            <a:round/>
            <a:headEnd type="none" w="med" len="med"/>
            <a:tailEnd type="none" w="med" len="med"/>
          </a:ln>
        </p:spPr>
      </p:sp>
      <p:sp>
        <p:nvSpPr>
          <p:cNvPr id="49187" name="直接连接符 484389"/>
          <p:cNvSpPr/>
          <p:nvPr/>
        </p:nvSpPr>
        <p:spPr>
          <a:xfrm>
            <a:off x="2700338" y="3444875"/>
            <a:ext cx="0" cy="431800"/>
          </a:xfrm>
          <a:prstGeom prst="line">
            <a:avLst/>
          </a:prstGeom>
          <a:ln w="25400" cap="flat" cmpd="sng">
            <a:solidFill>
              <a:schemeClr val="tx1"/>
            </a:solidFill>
            <a:prstDash val="solid"/>
            <a:round/>
            <a:headEnd type="none" w="med" len="med"/>
            <a:tailEnd type="none" w="med" len="med"/>
          </a:ln>
        </p:spPr>
      </p:sp>
      <p:sp>
        <p:nvSpPr>
          <p:cNvPr id="49188" name="直接连接符 484390"/>
          <p:cNvSpPr/>
          <p:nvPr/>
        </p:nvSpPr>
        <p:spPr>
          <a:xfrm flipV="1">
            <a:off x="2624138" y="3578225"/>
            <a:ext cx="153987" cy="165100"/>
          </a:xfrm>
          <a:prstGeom prst="line">
            <a:avLst/>
          </a:prstGeom>
          <a:ln w="12700" cap="flat" cmpd="sng">
            <a:solidFill>
              <a:schemeClr val="tx1"/>
            </a:solidFill>
            <a:prstDash val="solid"/>
            <a:round/>
            <a:headEnd type="none" w="med" len="med"/>
            <a:tailEnd type="none" w="med" len="med"/>
          </a:ln>
        </p:spPr>
      </p:sp>
      <p:sp>
        <p:nvSpPr>
          <p:cNvPr id="49189" name="矩形 484391"/>
          <p:cNvSpPr/>
          <p:nvPr/>
        </p:nvSpPr>
        <p:spPr>
          <a:xfrm>
            <a:off x="2432050" y="3432175"/>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49190" name="直接连接符 484392"/>
          <p:cNvSpPr/>
          <p:nvPr/>
        </p:nvSpPr>
        <p:spPr>
          <a:xfrm>
            <a:off x="3119438" y="3444875"/>
            <a:ext cx="0" cy="431800"/>
          </a:xfrm>
          <a:prstGeom prst="line">
            <a:avLst/>
          </a:prstGeom>
          <a:ln w="25400" cap="flat" cmpd="sng">
            <a:solidFill>
              <a:schemeClr val="tx1"/>
            </a:solidFill>
            <a:prstDash val="solid"/>
            <a:round/>
            <a:headEnd type="none" w="med" len="med"/>
            <a:tailEnd type="none" w="med" len="med"/>
          </a:ln>
        </p:spPr>
      </p:sp>
      <p:sp>
        <p:nvSpPr>
          <p:cNvPr id="49191" name="直接连接符 484393"/>
          <p:cNvSpPr/>
          <p:nvPr/>
        </p:nvSpPr>
        <p:spPr>
          <a:xfrm flipV="1">
            <a:off x="3043238" y="3578225"/>
            <a:ext cx="153987" cy="165100"/>
          </a:xfrm>
          <a:prstGeom prst="line">
            <a:avLst/>
          </a:prstGeom>
          <a:ln w="12700" cap="flat" cmpd="sng">
            <a:solidFill>
              <a:schemeClr val="tx1"/>
            </a:solidFill>
            <a:prstDash val="solid"/>
            <a:round/>
            <a:headEnd type="none" w="med" len="med"/>
            <a:tailEnd type="none" w="med" len="med"/>
          </a:ln>
        </p:spPr>
      </p:sp>
      <p:sp>
        <p:nvSpPr>
          <p:cNvPr id="49192" name="矩形 484394"/>
          <p:cNvSpPr/>
          <p:nvPr/>
        </p:nvSpPr>
        <p:spPr>
          <a:xfrm>
            <a:off x="2852738" y="3432175"/>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49193" name="直接连接符 484395"/>
          <p:cNvSpPr/>
          <p:nvPr/>
        </p:nvSpPr>
        <p:spPr>
          <a:xfrm>
            <a:off x="3624263" y="3444875"/>
            <a:ext cx="0" cy="431800"/>
          </a:xfrm>
          <a:prstGeom prst="line">
            <a:avLst/>
          </a:prstGeom>
          <a:ln w="25400" cap="flat" cmpd="sng">
            <a:solidFill>
              <a:schemeClr val="tx1"/>
            </a:solidFill>
            <a:prstDash val="solid"/>
            <a:round/>
            <a:headEnd type="none" w="med" len="med"/>
            <a:tailEnd type="none" w="med" len="med"/>
          </a:ln>
        </p:spPr>
      </p:sp>
      <p:sp>
        <p:nvSpPr>
          <p:cNvPr id="49194" name="直接连接符 484396"/>
          <p:cNvSpPr/>
          <p:nvPr/>
        </p:nvSpPr>
        <p:spPr>
          <a:xfrm flipV="1">
            <a:off x="3546475" y="3578225"/>
            <a:ext cx="153988" cy="165100"/>
          </a:xfrm>
          <a:prstGeom prst="line">
            <a:avLst/>
          </a:prstGeom>
          <a:ln w="12700" cap="flat" cmpd="sng">
            <a:solidFill>
              <a:schemeClr val="tx1"/>
            </a:solidFill>
            <a:prstDash val="solid"/>
            <a:round/>
            <a:headEnd type="none" w="med" len="med"/>
            <a:tailEnd type="none" w="med" len="med"/>
          </a:ln>
        </p:spPr>
      </p:sp>
      <p:sp>
        <p:nvSpPr>
          <p:cNvPr id="49195" name="矩形 484397"/>
          <p:cNvSpPr/>
          <p:nvPr/>
        </p:nvSpPr>
        <p:spPr>
          <a:xfrm>
            <a:off x="3355975" y="3432175"/>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49196" name="矩形 484398"/>
          <p:cNvSpPr/>
          <p:nvPr/>
        </p:nvSpPr>
        <p:spPr>
          <a:xfrm>
            <a:off x="2432050" y="3889375"/>
            <a:ext cx="523875" cy="363538"/>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49197" name="矩形 484399"/>
          <p:cNvSpPr/>
          <p:nvPr/>
        </p:nvSpPr>
        <p:spPr>
          <a:xfrm>
            <a:off x="2936875" y="3889375"/>
            <a:ext cx="4730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49198" name="矩形 484400"/>
          <p:cNvSpPr/>
          <p:nvPr/>
        </p:nvSpPr>
        <p:spPr>
          <a:xfrm>
            <a:off x="3355975" y="3889375"/>
            <a:ext cx="485775" cy="363538"/>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49199" name="矩形 484401"/>
          <p:cNvSpPr/>
          <p:nvPr/>
        </p:nvSpPr>
        <p:spPr>
          <a:xfrm>
            <a:off x="2432050" y="4194175"/>
            <a:ext cx="1222375" cy="63817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pPr eaLnBrk="0" hangingPunct="0"/>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49200" name="直接连接符 484402"/>
          <p:cNvSpPr/>
          <p:nvPr/>
        </p:nvSpPr>
        <p:spPr>
          <a:xfrm>
            <a:off x="7483475" y="4511675"/>
            <a:ext cx="0" cy="1193800"/>
          </a:xfrm>
          <a:prstGeom prst="line">
            <a:avLst/>
          </a:prstGeom>
          <a:ln w="25400" cap="flat" cmpd="sng">
            <a:solidFill>
              <a:schemeClr val="tx1"/>
            </a:solidFill>
            <a:prstDash val="solid"/>
            <a:round/>
            <a:headEnd type="none" w="med" len="med"/>
            <a:tailEnd type="none" w="med" len="med"/>
          </a:ln>
        </p:spPr>
      </p:sp>
      <p:sp>
        <p:nvSpPr>
          <p:cNvPr id="49201" name="直接连接符 484403"/>
          <p:cNvSpPr/>
          <p:nvPr/>
        </p:nvSpPr>
        <p:spPr>
          <a:xfrm flipH="1">
            <a:off x="1092200" y="5718175"/>
            <a:ext cx="6405563" cy="0"/>
          </a:xfrm>
          <a:prstGeom prst="line">
            <a:avLst/>
          </a:prstGeom>
          <a:ln w="25400" cap="flat" cmpd="sng">
            <a:solidFill>
              <a:schemeClr val="tx1"/>
            </a:solidFill>
            <a:prstDash val="solid"/>
            <a:round/>
            <a:headEnd type="none" w="med" len="med"/>
            <a:tailEnd type="none" w="med" len="med"/>
          </a:ln>
        </p:spPr>
      </p:sp>
      <p:sp>
        <p:nvSpPr>
          <p:cNvPr id="49202" name="直接连接符 484404"/>
          <p:cNvSpPr/>
          <p:nvPr/>
        </p:nvSpPr>
        <p:spPr>
          <a:xfrm flipV="1">
            <a:off x="1106488" y="4410075"/>
            <a:ext cx="0" cy="1320800"/>
          </a:xfrm>
          <a:prstGeom prst="line">
            <a:avLst/>
          </a:prstGeom>
          <a:ln w="25400" cap="flat" cmpd="sng">
            <a:solidFill>
              <a:schemeClr val="tx1"/>
            </a:solidFill>
            <a:prstDash val="solid"/>
            <a:round/>
            <a:headEnd type="none" w="med" len="med"/>
            <a:tailEnd type="none" w="med" len="med"/>
          </a:ln>
        </p:spPr>
      </p:sp>
      <p:sp>
        <p:nvSpPr>
          <p:cNvPr id="49203" name="矩形 484405"/>
          <p:cNvSpPr/>
          <p:nvPr/>
        </p:nvSpPr>
        <p:spPr>
          <a:xfrm>
            <a:off x="2936875" y="3127375"/>
            <a:ext cx="396875" cy="363538"/>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49204" name="矩形 484406"/>
          <p:cNvSpPr/>
          <p:nvPr/>
        </p:nvSpPr>
        <p:spPr>
          <a:xfrm>
            <a:off x="3440113" y="3127375"/>
            <a:ext cx="346075" cy="363538"/>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49205" name="矩形 484407"/>
          <p:cNvSpPr/>
          <p:nvPr/>
        </p:nvSpPr>
        <p:spPr>
          <a:xfrm>
            <a:off x="2517775" y="3127375"/>
            <a:ext cx="407988"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49206" name="矩形 484408"/>
          <p:cNvSpPr/>
          <p:nvPr/>
        </p:nvSpPr>
        <p:spPr>
          <a:xfrm rot="5400000">
            <a:off x="5859463" y="4322763"/>
            <a:ext cx="6508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49207" name="矩形 484409"/>
          <p:cNvSpPr/>
          <p:nvPr/>
        </p:nvSpPr>
        <p:spPr>
          <a:xfrm>
            <a:off x="581025" y="2473325"/>
            <a:ext cx="7523163" cy="396875"/>
          </a:xfrm>
          <a:prstGeom prst="rect">
            <a:avLst/>
          </a:prstGeom>
          <a:noFill/>
          <a:ln w="25400">
            <a:noFill/>
          </a:ln>
        </p:spPr>
        <p:txBody>
          <a:bodyPr anchor="t" anchorCtr="0">
            <a:spAutoFit/>
          </a:bodyPr>
          <a:p>
            <a:pPr eaLnBrk="0" hangingPunct="0"/>
            <a:r>
              <a:rPr lang="zh-CN" altLang="en-US" sz="2000" dirty="0">
                <a:solidFill>
                  <a:schemeClr val="accent2"/>
                </a:solidFill>
                <a:latin typeface="Arial" panose="020B0604020202020204" pitchFamily="34" charset="0"/>
                <a:ea typeface="黑体" panose="02010609060101010101" pitchFamily="49" charset="-122"/>
              </a:rPr>
              <a:t>不考虑公共操作，仅</a:t>
            </a:r>
            <a:r>
              <a:rPr lang="en-US" altLang="zh-CN" sz="2000">
                <a:solidFill>
                  <a:schemeClr val="accent2"/>
                </a:solidFill>
                <a:latin typeface="Arial" panose="020B0604020202020204" pitchFamily="34" charset="0"/>
                <a:ea typeface="黑体" panose="02010609060101010101" pitchFamily="49" charset="-122"/>
              </a:rPr>
              <a:t>R-Type</a:t>
            </a:r>
            <a:r>
              <a:rPr lang="zh-CN" altLang="en-US" sz="2000" dirty="0">
                <a:solidFill>
                  <a:schemeClr val="accent2"/>
                </a:solidFill>
                <a:latin typeface="Arial" panose="020B0604020202020204" pitchFamily="34" charset="0"/>
                <a:ea typeface="黑体" panose="02010609060101010101" pitchFamily="49" charset="-122"/>
              </a:rPr>
              <a:t>指令执行阶段的数据通路如下：</a:t>
            </a:r>
            <a:endParaRPr lang="zh-CN" altLang="en-US" sz="2000" dirty="0">
              <a:solidFill>
                <a:schemeClr val="accent2"/>
              </a:solidFill>
              <a:latin typeface="Arial" panose="020B0604020202020204" pitchFamily="34" charset="0"/>
              <a:ea typeface="黑体" panose="02010609060101010101" pitchFamily="49" charset="-122"/>
            </a:endParaRPr>
          </a:p>
        </p:txBody>
      </p:sp>
      <p:sp>
        <p:nvSpPr>
          <p:cNvPr id="49208" name="矩形 484411"/>
          <p:cNvSpPr/>
          <p:nvPr/>
        </p:nvSpPr>
        <p:spPr>
          <a:xfrm>
            <a:off x="0" y="5802313"/>
            <a:ext cx="4970463" cy="427037"/>
          </a:xfrm>
          <a:prstGeom prst="rect">
            <a:avLst/>
          </a:prstGeom>
          <a:noFill/>
          <a:ln w="25400">
            <a:noFill/>
          </a:ln>
        </p:spPr>
        <p:txBody>
          <a:bodyPr anchor="t" anchorCtr="0">
            <a:spAutoFit/>
          </a:bodyPr>
          <a:p>
            <a:pPr lvl="1" indent="0" eaLnBrk="0" hangingPunct="0">
              <a:lnSpc>
                <a:spcPct val="110000"/>
              </a:lnSpc>
              <a:spcBef>
                <a:spcPct val="40000"/>
              </a:spcBef>
            </a:pPr>
            <a:r>
              <a:rPr lang="en-US" altLang="zh-CN" sz="2000">
                <a:solidFill>
                  <a:srgbClr val="0000FF"/>
                </a:solidFill>
                <a:latin typeface="Arial" panose="020B0604020202020204" pitchFamily="34" charset="0"/>
                <a:ea typeface="黑体" panose="02010609060101010101" pitchFamily="49" charset="-122"/>
              </a:rPr>
              <a:t>Ra, </a:t>
            </a:r>
            <a:r>
              <a:rPr lang="en-US" altLang="zh-CN" sz="2000" err="1">
                <a:solidFill>
                  <a:srgbClr val="0000FF"/>
                </a:solidFill>
                <a:latin typeface="Arial" panose="020B0604020202020204" pitchFamily="34" charset="0"/>
                <a:ea typeface="黑体" panose="02010609060101010101" pitchFamily="49" charset="-122"/>
              </a:rPr>
              <a:t>Rb</a:t>
            </a:r>
            <a:r>
              <a:rPr lang="en-US" altLang="zh-CN" sz="2000">
                <a:solidFill>
                  <a:srgbClr val="0000FF"/>
                </a:solidFill>
                <a:latin typeface="Arial" panose="020B0604020202020204" pitchFamily="34" charset="0"/>
                <a:ea typeface="黑体" panose="02010609060101010101" pitchFamily="49" charset="-122"/>
              </a:rPr>
              <a:t>, </a:t>
            </a:r>
            <a:r>
              <a:rPr lang="en-US" altLang="zh-CN" sz="2000" err="1">
                <a:solidFill>
                  <a:srgbClr val="0000FF"/>
                </a:solidFill>
                <a:latin typeface="Arial" panose="020B0604020202020204" pitchFamily="34" charset="0"/>
                <a:ea typeface="黑体" panose="02010609060101010101" pitchFamily="49" charset="-122"/>
              </a:rPr>
              <a:t>Rw</a:t>
            </a:r>
            <a:r>
              <a:rPr lang="en-US" altLang="zh-CN" sz="200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分别对应指令的</a:t>
            </a:r>
            <a:r>
              <a:rPr lang="en-US" altLang="zh-CN" sz="2000" err="1">
                <a:latin typeface="Arial" panose="020B0604020202020204" pitchFamily="34" charset="0"/>
                <a:ea typeface="黑体" panose="02010609060101010101" pitchFamily="49" charset="-122"/>
              </a:rPr>
              <a:t>rs</a:t>
            </a:r>
            <a:r>
              <a:rPr lang="en-US" altLang="zh-CN" sz="2000">
                <a:latin typeface="Arial" panose="020B0604020202020204" pitchFamily="34" charset="0"/>
                <a:ea typeface="黑体" panose="02010609060101010101" pitchFamily="49" charset="-122"/>
              </a:rPr>
              <a:t>, </a:t>
            </a:r>
            <a:r>
              <a:rPr lang="en-US" altLang="zh-CN" sz="2000" err="1">
                <a:latin typeface="Arial" panose="020B0604020202020204" pitchFamily="34" charset="0"/>
                <a:ea typeface="黑体" panose="02010609060101010101" pitchFamily="49" charset="-122"/>
              </a:rPr>
              <a:t>rt</a:t>
            </a:r>
            <a:r>
              <a:rPr lang="en-US" altLang="zh-CN" sz="2000">
                <a:latin typeface="Arial" panose="020B0604020202020204" pitchFamily="34" charset="0"/>
                <a:ea typeface="黑体" panose="02010609060101010101" pitchFamily="49" charset="-122"/>
              </a:rPr>
              <a:t>, rd</a:t>
            </a:r>
            <a:endParaRPr lang="zh-CN" altLang="en-US" sz="2000" dirty="0">
              <a:latin typeface="Arial" panose="020B0604020202020204" pitchFamily="34" charset="0"/>
              <a:ea typeface="黑体" panose="02010609060101010101" pitchFamily="49" charset="-122"/>
            </a:endParaRPr>
          </a:p>
        </p:txBody>
      </p:sp>
      <p:grpSp>
        <p:nvGrpSpPr>
          <p:cNvPr id="49209" name="组合 484413"/>
          <p:cNvGrpSpPr/>
          <p:nvPr/>
        </p:nvGrpSpPr>
        <p:grpSpPr>
          <a:xfrm>
            <a:off x="2066925" y="711200"/>
            <a:ext cx="5905500" cy="973138"/>
            <a:chOff x="1918" y="672"/>
            <a:chExt cx="3767" cy="613"/>
          </a:xfrm>
        </p:grpSpPr>
        <p:grpSp>
          <p:nvGrpSpPr>
            <p:cNvPr id="49210" name="组合 484414"/>
            <p:cNvGrpSpPr/>
            <p:nvPr/>
          </p:nvGrpSpPr>
          <p:grpSpPr>
            <a:xfrm>
              <a:off x="1918" y="672"/>
              <a:ext cx="3767" cy="421"/>
              <a:chOff x="1918" y="672"/>
              <a:chExt cx="3767" cy="421"/>
            </a:xfrm>
          </p:grpSpPr>
          <p:grpSp>
            <p:nvGrpSpPr>
              <p:cNvPr id="49211" name="组合 484415"/>
              <p:cNvGrpSpPr/>
              <p:nvPr/>
            </p:nvGrpSpPr>
            <p:grpSpPr>
              <a:xfrm>
                <a:off x="1979" y="864"/>
                <a:ext cx="3607" cy="229"/>
                <a:chOff x="1979" y="864"/>
                <a:chExt cx="3607" cy="229"/>
              </a:xfrm>
            </p:grpSpPr>
            <p:sp>
              <p:nvSpPr>
                <p:cNvPr id="49212" name="矩形 484416"/>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49213" name="组合 484417"/>
                <p:cNvGrpSpPr/>
                <p:nvPr/>
              </p:nvGrpSpPr>
              <p:grpSpPr>
                <a:xfrm>
                  <a:off x="1979" y="864"/>
                  <a:ext cx="3607" cy="229"/>
                  <a:chOff x="1979" y="864"/>
                  <a:chExt cx="3607" cy="229"/>
                </a:xfrm>
              </p:grpSpPr>
              <p:grpSp>
                <p:nvGrpSpPr>
                  <p:cNvPr id="49214" name="组合 484418"/>
                  <p:cNvGrpSpPr/>
                  <p:nvPr/>
                </p:nvGrpSpPr>
                <p:grpSpPr>
                  <a:xfrm>
                    <a:off x="1979" y="864"/>
                    <a:ext cx="624" cy="229"/>
                    <a:chOff x="1979" y="864"/>
                    <a:chExt cx="624" cy="229"/>
                  </a:xfrm>
                </p:grpSpPr>
                <p:sp>
                  <p:nvSpPr>
                    <p:cNvPr id="49215" name="矩形 484419"/>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16" name="矩形 484420"/>
                    <p:cNvSpPr/>
                    <p:nvPr/>
                  </p:nvSpPr>
                  <p:spPr>
                    <a:xfrm>
                      <a:off x="2161" y="864"/>
                      <a:ext cx="2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49217" name="组合 484421"/>
                  <p:cNvGrpSpPr/>
                  <p:nvPr/>
                </p:nvGrpSpPr>
                <p:grpSpPr>
                  <a:xfrm>
                    <a:off x="2611" y="864"/>
                    <a:ext cx="580" cy="229"/>
                    <a:chOff x="2611" y="864"/>
                    <a:chExt cx="580" cy="229"/>
                  </a:xfrm>
                </p:grpSpPr>
                <p:sp>
                  <p:nvSpPr>
                    <p:cNvPr id="49218" name="矩形 484422"/>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19" name="矩形 484423"/>
                    <p:cNvSpPr/>
                    <p:nvPr/>
                  </p:nvSpPr>
                  <p:spPr>
                    <a:xfrm>
                      <a:off x="2776" y="864"/>
                      <a:ext cx="253"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49220" name="组合 484424"/>
                  <p:cNvGrpSpPr/>
                  <p:nvPr/>
                </p:nvGrpSpPr>
                <p:grpSpPr>
                  <a:xfrm>
                    <a:off x="3199" y="864"/>
                    <a:ext cx="579" cy="229"/>
                    <a:chOff x="3199" y="864"/>
                    <a:chExt cx="579" cy="229"/>
                  </a:xfrm>
                </p:grpSpPr>
                <p:sp>
                  <p:nvSpPr>
                    <p:cNvPr id="49221" name="矩形 484425"/>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22" name="矩形 484426"/>
                    <p:cNvSpPr/>
                    <p:nvPr/>
                  </p:nvSpPr>
                  <p:spPr>
                    <a:xfrm>
                      <a:off x="3363" y="864"/>
                      <a:ext cx="221"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49223" name="组合 484427"/>
                  <p:cNvGrpSpPr/>
                  <p:nvPr/>
                </p:nvGrpSpPr>
                <p:grpSpPr>
                  <a:xfrm>
                    <a:off x="3786" y="864"/>
                    <a:ext cx="579" cy="229"/>
                    <a:chOff x="3786" y="864"/>
                    <a:chExt cx="579" cy="229"/>
                  </a:xfrm>
                </p:grpSpPr>
                <p:sp>
                  <p:nvSpPr>
                    <p:cNvPr id="49224" name="矩形 484428"/>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25" name="矩形 484429"/>
                    <p:cNvSpPr/>
                    <p:nvPr/>
                  </p:nvSpPr>
                  <p:spPr>
                    <a:xfrm>
                      <a:off x="3951" y="864"/>
                      <a:ext cx="262"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49226" name="组合 484430"/>
                  <p:cNvGrpSpPr/>
                  <p:nvPr/>
                </p:nvGrpSpPr>
                <p:grpSpPr>
                  <a:xfrm>
                    <a:off x="4373" y="864"/>
                    <a:ext cx="620" cy="229"/>
                    <a:chOff x="4373" y="864"/>
                    <a:chExt cx="620" cy="229"/>
                  </a:xfrm>
                </p:grpSpPr>
                <p:sp>
                  <p:nvSpPr>
                    <p:cNvPr id="49227" name="矩形 484431"/>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28" name="矩形 484432"/>
                    <p:cNvSpPr/>
                    <p:nvPr/>
                  </p:nvSpPr>
                  <p:spPr>
                    <a:xfrm>
                      <a:off x="4448" y="864"/>
                      <a:ext cx="545"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49229" name="组合 484433"/>
                  <p:cNvGrpSpPr/>
                  <p:nvPr/>
                </p:nvGrpSpPr>
                <p:grpSpPr>
                  <a:xfrm>
                    <a:off x="4961" y="864"/>
                    <a:ext cx="625" cy="229"/>
                    <a:chOff x="4961" y="864"/>
                    <a:chExt cx="625" cy="229"/>
                  </a:xfrm>
                </p:grpSpPr>
                <p:sp>
                  <p:nvSpPr>
                    <p:cNvPr id="49230" name="矩形 484434"/>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31" name="矩形 484435"/>
                    <p:cNvSpPr/>
                    <p:nvPr/>
                  </p:nvSpPr>
                  <p:spPr>
                    <a:xfrm>
                      <a:off x="5143" y="864"/>
                      <a:ext cx="424"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49232" name="矩形 484436"/>
              <p:cNvSpPr/>
              <p:nvPr/>
            </p:nvSpPr>
            <p:spPr>
              <a:xfrm>
                <a:off x="5488" y="672"/>
                <a:ext cx="1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49233" name="矩形 484437"/>
              <p:cNvSpPr/>
              <p:nvPr/>
            </p:nvSpPr>
            <p:spPr>
              <a:xfrm>
                <a:off x="4810" y="672"/>
                <a:ext cx="1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49234" name="矩形 484438"/>
              <p:cNvSpPr/>
              <p:nvPr/>
            </p:nvSpPr>
            <p:spPr>
              <a:xfrm>
                <a:off x="4177"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49235" name="矩形 484439"/>
              <p:cNvSpPr/>
              <p:nvPr/>
            </p:nvSpPr>
            <p:spPr>
              <a:xfrm>
                <a:off x="3589"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49236" name="矩形 484440"/>
              <p:cNvSpPr/>
              <p:nvPr/>
            </p:nvSpPr>
            <p:spPr>
              <a:xfrm>
                <a:off x="3002"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49237" name="矩形 484441"/>
              <p:cNvSpPr/>
              <p:nvPr/>
            </p:nvSpPr>
            <p:spPr>
              <a:xfrm>
                <a:off x="2414"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49238" name="矩形 484442"/>
              <p:cNvSpPr/>
              <p:nvPr/>
            </p:nvSpPr>
            <p:spPr>
              <a:xfrm>
                <a:off x="1918"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49239" name="矩形 484443"/>
            <p:cNvSpPr/>
            <p:nvPr/>
          </p:nvSpPr>
          <p:spPr>
            <a:xfrm>
              <a:off x="2143" y="1056"/>
              <a:ext cx="496"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9240" name="矩形 484444"/>
            <p:cNvSpPr/>
            <p:nvPr/>
          </p:nvSpPr>
          <p:spPr>
            <a:xfrm>
              <a:off x="5126"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9241" name="矩形 484445"/>
            <p:cNvSpPr/>
            <p:nvPr/>
          </p:nvSpPr>
          <p:spPr>
            <a:xfrm>
              <a:off x="4493"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9242" name="矩形 484446"/>
            <p:cNvSpPr/>
            <p:nvPr/>
          </p:nvSpPr>
          <p:spPr>
            <a:xfrm>
              <a:off x="3906"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9243" name="矩形 484447"/>
            <p:cNvSpPr/>
            <p:nvPr/>
          </p:nvSpPr>
          <p:spPr>
            <a:xfrm>
              <a:off x="3317" y="1056"/>
              <a:ext cx="490" cy="229"/>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49244" name="矩形 484448"/>
            <p:cNvSpPr/>
            <p:nvPr/>
          </p:nvSpPr>
          <p:spPr>
            <a:xfrm>
              <a:off x="2731" y="1056"/>
              <a:ext cx="489"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
        <p:nvSpPr>
          <p:cNvPr id="49245" name="文本框 484449"/>
          <p:cNvSpPr txBox="1"/>
          <p:nvPr/>
        </p:nvSpPr>
        <p:spPr>
          <a:xfrm>
            <a:off x="6605588" y="1744663"/>
            <a:ext cx="2295525" cy="701675"/>
          </a:xfrm>
          <a:prstGeom prst="rect">
            <a:avLst/>
          </a:prstGeom>
          <a:noFill/>
          <a:ln w="50800">
            <a:noFill/>
          </a:ln>
        </p:spPr>
        <p:txBody>
          <a:bodyPr anchor="t" anchorCtr="0">
            <a:spAutoFit/>
          </a:bodyPr>
          <a:p>
            <a:pPr eaLnBrk="0" hangingPunct="0">
              <a:spcBef>
                <a:spcPct val="50000"/>
              </a:spcBef>
            </a:pPr>
            <a:r>
              <a:rPr lang="zh-CN" altLang="en-US" sz="2000" dirty="0">
                <a:solidFill>
                  <a:srgbClr val="FF8398"/>
                </a:solidFill>
                <a:latin typeface="微软雅黑" panose="020B0503020204020204" pitchFamily="34" charset="-122"/>
                <a:ea typeface="微软雅黑" panose="020B0503020204020204" pitchFamily="34" charset="-122"/>
              </a:rPr>
              <a:t>溢出时，不写结果并转异常处理程序</a:t>
            </a:r>
            <a:endParaRPr lang="zh-CN" altLang="en-US" sz="2000" dirty="0">
              <a:solidFill>
                <a:srgbClr val="FF8398"/>
              </a:solidFill>
              <a:latin typeface="微软雅黑" panose="020B0503020204020204" pitchFamily="34" charset="-122"/>
              <a:ea typeface="微软雅黑" panose="020B0503020204020204" pitchFamily="34" charset="-122"/>
            </a:endParaRPr>
          </a:p>
        </p:txBody>
      </p:sp>
      <p:sp>
        <p:nvSpPr>
          <p:cNvPr id="49246" name="文本框 484450"/>
          <p:cNvSpPr txBox="1"/>
          <p:nvPr/>
        </p:nvSpPr>
        <p:spPr>
          <a:xfrm>
            <a:off x="8050213" y="4024313"/>
            <a:ext cx="765175" cy="366712"/>
          </a:xfrm>
          <a:prstGeom prst="rect">
            <a:avLst/>
          </a:prstGeom>
          <a:noFill/>
          <a:ln w="50800">
            <a:noFill/>
          </a:ln>
        </p:spPr>
        <p:txBody>
          <a:bodyPr anchor="t" anchorCtr="0">
            <a:spAutoFit/>
          </a:bodyPr>
          <a:p>
            <a:pPr eaLnBrk="0" hangingPunct="0">
              <a:spcBef>
                <a:spcPct val="50000"/>
              </a:spcBef>
            </a:pPr>
            <a:r>
              <a:rPr lang="zh-CN" altLang="en-US" sz="1800" dirty="0">
                <a:solidFill>
                  <a:srgbClr val="FF8398"/>
                </a:solidFill>
                <a:latin typeface="黑体" panose="02010609060101010101" pitchFamily="49" charset="-122"/>
                <a:ea typeface="黑体" panose="02010609060101010101" pitchFamily="49" charset="-122"/>
              </a:rPr>
              <a:t>溢出</a:t>
            </a:r>
            <a:endParaRPr lang="zh-CN" altLang="en-US" sz="1800" dirty="0">
              <a:solidFill>
                <a:srgbClr val="FF8398"/>
              </a:solidFill>
              <a:latin typeface="黑体" panose="02010609060101010101" pitchFamily="49" charset="-122"/>
              <a:ea typeface="黑体" panose="02010609060101010101" pitchFamily="49" charset="-122"/>
            </a:endParaRPr>
          </a:p>
        </p:txBody>
      </p:sp>
      <p:sp>
        <p:nvSpPr>
          <p:cNvPr id="49247" name="直接连接符 484451"/>
          <p:cNvSpPr/>
          <p:nvPr/>
        </p:nvSpPr>
        <p:spPr>
          <a:xfrm flipV="1">
            <a:off x="2273300" y="3084513"/>
            <a:ext cx="0" cy="307975"/>
          </a:xfrm>
          <a:prstGeom prst="line">
            <a:avLst/>
          </a:prstGeom>
          <a:ln w="25400" cap="flat" cmpd="sng">
            <a:solidFill>
              <a:srgbClr val="3366FF"/>
            </a:solidFill>
            <a:prstDash val="solid"/>
            <a:round/>
            <a:headEnd type="triangle" w="med" len="med"/>
            <a:tailEnd type="none" w="med" len="med"/>
          </a:ln>
        </p:spPr>
      </p:sp>
      <p:grpSp>
        <p:nvGrpSpPr>
          <p:cNvPr id="49248" name="组合 484452"/>
          <p:cNvGrpSpPr/>
          <p:nvPr/>
        </p:nvGrpSpPr>
        <p:grpSpPr>
          <a:xfrm>
            <a:off x="2217738" y="2994025"/>
            <a:ext cx="5902325" cy="1247775"/>
            <a:chOff x="1397" y="1886"/>
            <a:chExt cx="3718" cy="786"/>
          </a:xfrm>
        </p:grpSpPr>
        <p:sp>
          <p:nvSpPr>
            <p:cNvPr id="49249" name="直接连接符 484453"/>
            <p:cNvSpPr/>
            <p:nvPr/>
          </p:nvSpPr>
          <p:spPr>
            <a:xfrm flipV="1">
              <a:off x="3972" y="2672"/>
              <a:ext cx="1143" cy="0"/>
            </a:xfrm>
            <a:prstGeom prst="line">
              <a:avLst/>
            </a:prstGeom>
            <a:ln w="28575" cap="flat" cmpd="sng">
              <a:solidFill>
                <a:srgbClr val="FF8398"/>
              </a:solidFill>
              <a:prstDash val="solid"/>
              <a:round/>
              <a:headEnd type="none" w="med" len="med"/>
              <a:tailEnd type="triangle" w="med" len="med"/>
            </a:ln>
          </p:spPr>
        </p:sp>
        <p:sp>
          <p:nvSpPr>
            <p:cNvPr id="49250" name="等腰三角形 484454"/>
            <p:cNvSpPr/>
            <p:nvPr/>
          </p:nvSpPr>
          <p:spPr>
            <a:xfrm>
              <a:off x="4268" y="2380"/>
              <a:ext cx="142" cy="138"/>
            </a:xfrm>
            <a:prstGeom prst="triangle">
              <a:avLst>
                <a:gd name="adj" fmla="val 50000"/>
              </a:avLst>
            </a:prstGeom>
            <a:noFill/>
            <a:ln w="28575" cap="flat" cmpd="sng">
              <a:solidFill>
                <a:srgbClr val="FE9AAB"/>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51" name="椭圆 484455"/>
            <p:cNvSpPr/>
            <p:nvPr/>
          </p:nvSpPr>
          <p:spPr>
            <a:xfrm>
              <a:off x="4315" y="2320"/>
              <a:ext cx="56" cy="56"/>
            </a:xfrm>
            <a:prstGeom prst="ellipse">
              <a:avLst/>
            </a:prstGeom>
            <a:noFill/>
            <a:ln w="28575" cap="flat" cmpd="sng">
              <a:solidFill>
                <a:srgbClr val="FE9AAB"/>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52" name="直接连接符 484456"/>
            <p:cNvSpPr/>
            <p:nvPr/>
          </p:nvSpPr>
          <p:spPr>
            <a:xfrm flipH="1">
              <a:off x="4341" y="2514"/>
              <a:ext cx="1" cy="154"/>
            </a:xfrm>
            <a:prstGeom prst="line">
              <a:avLst/>
            </a:prstGeom>
            <a:ln w="38100" cap="flat" cmpd="sng">
              <a:solidFill>
                <a:srgbClr val="FE9AAB"/>
              </a:solidFill>
              <a:prstDash val="solid"/>
              <a:round/>
              <a:headEnd type="none" w="med" len="med"/>
              <a:tailEnd type="none" w="med" len="med"/>
            </a:ln>
          </p:spPr>
        </p:sp>
        <p:sp>
          <p:nvSpPr>
            <p:cNvPr id="49253" name="直接连接符 484457"/>
            <p:cNvSpPr/>
            <p:nvPr/>
          </p:nvSpPr>
          <p:spPr>
            <a:xfrm>
              <a:off x="1512" y="1903"/>
              <a:ext cx="2820" cy="0"/>
            </a:xfrm>
            <a:prstGeom prst="line">
              <a:avLst/>
            </a:prstGeom>
            <a:ln w="28575" cap="flat" cmpd="sng">
              <a:solidFill>
                <a:srgbClr val="FE9AAB"/>
              </a:solidFill>
              <a:prstDash val="solid"/>
              <a:round/>
              <a:headEnd type="none" w="med" len="med"/>
              <a:tailEnd type="none" w="med" len="med"/>
            </a:ln>
          </p:spPr>
        </p:sp>
        <p:sp>
          <p:nvSpPr>
            <p:cNvPr id="49254" name="直接连接符 484458"/>
            <p:cNvSpPr/>
            <p:nvPr/>
          </p:nvSpPr>
          <p:spPr>
            <a:xfrm>
              <a:off x="4340" y="1886"/>
              <a:ext cx="0" cy="430"/>
            </a:xfrm>
            <a:prstGeom prst="line">
              <a:avLst/>
            </a:prstGeom>
            <a:ln w="38100" cap="flat" cmpd="sng">
              <a:solidFill>
                <a:srgbClr val="FE9AAB"/>
              </a:solidFill>
              <a:prstDash val="solid"/>
              <a:round/>
              <a:headEnd type="none" w="med" len="med"/>
              <a:tailEnd type="none" w="med" len="med"/>
            </a:ln>
          </p:spPr>
        </p:sp>
        <p:sp>
          <p:nvSpPr>
            <p:cNvPr id="49255" name="流程图: 延期 484459"/>
            <p:cNvSpPr/>
            <p:nvPr/>
          </p:nvSpPr>
          <p:spPr>
            <a:xfrm rot="5400000">
              <a:off x="1375" y="2130"/>
              <a:ext cx="189" cy="163"/>
            </a:xfrm>
            <a:prstGeom prst="flowChartDelay">
              <a:avLst/>
            </a:prstGeom>
            <a:noFill/>
            <a:ln w="28575" cap="flat" cmpd="sng">
              <a:solidFill>
                <a:srgbClr val="FE9AAB"/>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49256" name="直接连接符 484460"/>
            <p:cNvSpPr/>
            <p:nvPr/>
          </p:nvSpPr>
          <p:spPr>
            <a:xfrm>
              <a:off x="1521" y="1895"/>
              <a:ext cx="0" cy="223"/>
            </a:xfrm>
            <a:prstGeom prst="line">
              <a:avLst/>
            </a:prstGeom>
            <a:ln w="28575" cap="flat" cmpd="sng">
              <a:solidFill>
                <a:srgbClr val="FE9AAB"/>
              </a:solidFill>
              <a:prstDash val="solid"/>
              <a:round/>
              <a:headEnd type="none" w="med" len="med"/>
              <a:tailEnd type="none" w="med" len="med"/>
            </a:ln>
          </p:spPr>
        </p:sp>
      </p:grpSp>
      <p:sp>
        <p:nvSpPr>
          <p:cNvPr id="49257" name="矩形 484409"/>
          <p:cNvSpPr/>
          <p:nvPr/>
        </p:nvSpPr>
        <p:spPr>
          <a:xfrm>
            <a:off x="1092200" y="2822575"/>
            <a:ext cx="1265238" cy="398463"/>
          </a:xfrm>
          <a:prstGeom prst="rect">
            <a:avLst/>
          </a:prstGeom>
          <a:noFill/>
          <a:ln w="25400">
            <a:noFill/>
          </a:ln>
        </p:spPr>
        <p:txBody>
          <a:bodyPr wrap="square" anchor="t" anchorCtr="0">
            <a:spAutoFit/>
          </a:bodyPr>
          <a:p>
            <a:pPr eaLnBrk="0" hangingPunct="0"/>
            <a:r>
              <a:rPr lang="en-US" altLang="zh-CN" sz="2000" dirty="0">
                <a:solidFill>
                  <a:srgbClr val="FF0000"/>
                </a:solidFill>
                <a:latin typeface="Arial" panose="020B0604020202020204" pitchFamily="34" charset="0"/>
                <a:ea typeface="黑体" panose="02010609060101010101" pitchFamily="49" charset="-122"/>
              </a:rPr>
              <a:t>RegWr</a:t>
            </a:r>
            <a:endParaRPr lang="en-US" altLang="zh-CN" sz="2000" dirty="0">
              <a:solidFill>
                <a:srgbClr val="FF0000"/>
              </a:solidFill>
              <a:latin typeface="Arial" panose="020B0604020202020204" pitchFamily="34" charset="0"/>
              <a:ea typeface="黑体" panose="02010609060101010101" pitchFamily="49" charset="-122"/>
            </a:endParaRPr>
          </a:p>
        </p:txBody>
      </p:sp>
      <p:sp>
        <p:nvSpPr>
          <p:cNvPr id="49258" name="矩形 484409"/>
          <p:cNvSpPr/>
          <p:nvPr/>
        </p:nvSpPr>
        <p:spPr>
          <a:xfrm>
            <a:off x="5584825" y="3344863"/>
            <a:ext cx="1265238" cy="398462"/>
          </a:xfrm>
          <a:prstGeom prst="rect">
            <a:avLst/>
          </a:prstGeom>
          <a:noFill/>
          <a:ln w="25400">
            <a:noFill/>
          </a:ln>
        </p:spPr>
        <p:txBody>
          <a:bodyPr wrap="square" anchor="t" anchorCtr="0">
            <a:spAutoFit/>
          </a:bodyPr>
          <a:p>
            <a:pPr eaLnBrk="0" hangingPunct="0"/>
            <a:r>
              <a:rPr lang="en-US" altLang="zh-CN" sz="2000" dirty="0">
                <a:solidFill>
                  <a:srgbClr val="FF0000"/>
                </a:solidFill>
                <a:latin typeface="Arial" panose="020B0604020202020204" pitchFamily="34" charset="0"/>
                <a:ea typeface="黑体" panose="02010609060101010101" pitchFamily="49" charset="-122"/>
              </a:rPr>
              <a:t>ALUctr</a:t>
            </a:r>
            <a:endParaRPr lang="en-US" altLang="zh-CN" sz="2000" dirty="0">
              <a:solidFill>
                <a:srgbClr val="FF0000"/>
              </a:solidFill>
              <a:latin typeface="Arial" panose="020B0604020202020204" pitchFamily="34" charset="0"/>
              <a:ea typeface="黑体" panose="02010609060101010101" pitchFamily="49" charset="-122"/>
            </a:endParaRPr>
          </a:p>
        </p:txBody>
      </p:sp>
      <p:sp>
        <p:nvSpPr>
          <p:cNvPr id="49259" name="矩形 484411"/>
          <p:cNvSpPr/>
          <p:nvPr/>
        </p:nvSpPr>
        <p:spPr>
          <a:xfrm>
            <a:off x="12700" y="6229350"/>
            <a:ext cx="6089650" cy="430213"/>
          </a:xfrm>
          <a:prstGeom prst="rect">
            <a:avLst/>
          </a:prstGeom>
          <a:noFill/>
          <a:ln w="25400">
            <a:noFill/>
          </a:ln>
        </p:spPr>
        <p:txBody>
          <a:bodyPr wrap="square" anchor="t" anchorCtr="0">
            <a:spAutoFit/>
          </a:bodyPr>
          <a:p>
            <a:pPr lvl="1" indent="0" eaLnBrk="0" hangingPunct="0">
              <a:lnSpc>
                <a:spcPct val="110000"/>
              </a:lnSpc>
              <a:spcBef>
                <a:spcPct val="40000"/>
              </a:spcBef>
            </a:pPr>
            <a:r>
              <a:rPr lang="en-US" altLang="zh-CN" sz="2000">
                <a:solidFill>
                  <a:srgbClr val="0000FF"/>
                </a:solidFill>
                <a:latin typeface="Arial" panose="020B0604020202020204" pitchFamily="34" charset="0"/>
                <a:ea typeface="黑体" panose="02010609060101010101" pitchFamily="49" charset="-122"/>
              </a:rPr>
              <a:t>ALUctr</a:t>
            </a:r>
            <a:r>
              <a:rPr lang="zh-CN" altLang="en-US" sz="2000">
                <a:solidFill>
                  <a:srgbClr val="0000FF"/>
                </a:solidFill>
                <a:latin typeface="Arial" panose="020B0604020202020204" pitchFamily="34" charset="0"/>
                <a:ea typeface="黑体" panose="02010609060101010101" pitchFamily="49" charset="-122"/>
              </a:rPr>
              <a:t>，</a:t>
            </a:r>
            <a:r>
              <a:rPr lang="en-US" altLang="zh-CN" sz="2000">
                <a:solidFill>
                  <a:srgbClr val="0000FF"/>
                </a:solidFill>
                <a:latin typeface="Arial" panose="020B0604020202020204" pitchFamily="34" charset="0"/>
                <a:ea typeface="黑体" panose="02010609060101010101" pitchFamily="49" charset="-122"/>
              </a:rPr>
              <a:t>RegWr</a:t>
            </a:r>
            <a:r>
              <a:rPr lang="zh-CN" altLang="en-US" sz="2000">
                <a:solidFill>
                  <a:srgbClr val="0000FF"/>
                </a:solidFill>
                <a:latin typeface="Arial" panose="020B0604020202020204" pitchFamily="34" charset="0"/>
                <a:ea typeface="黑体" panose="02010609060101010101" pitchFamily="49" charset="-122"/>
              </a:rPr>
              <a:t>：</a:t>
            </a:r>
            <a:r>
              <a:rPr lang="en-US" altLang="zh-CN" sz="2000">
                <a:latin typeface="Arial" panose="020B0604020202020204" pitchFamily="34" charset="0"/>
                <a:ea typeface="黑体" panose="02010609060101010101" pitchFamily="49" charset="-122"/>
              </a:rPr>
              <a:t> </a:t>
            </a:r>
            <a:r>
              <a:rPr lang="zh-CN" altLang="zh-CN" sz="2000" dirty="0">
                <a:latin typeface="Arial" panose="020B0604020202020204" pitchFamily="34" charset="0"/>
                <a:ea typeface="黑体" panose="02010609060101010101" pitchFamily="49" charset="-122"/>
              </a:rPr>
              <a:t>指令译码后产生的控制信号</a:t>
            </a:r>
            <a:endParaRPr lang="zh-CN" altLang="zh-CN" sz="2000" dirty="0">
              <a:latin typeface="Arial" panose="020B0604020202020204" pitchFamily="34" charset="0"/>
              <a:ea typeface="黑体" panose="02010609060101010101" pitchFamily="49" charset="-122"/>
            </a:endParaRPr>
          </a:p>
        </p:txBody>
      </p:sp>
      <p:sp>
        <p:nvSpPr>
          <p:cNvPr id="49260" name="矩形 484411"/>
          <p:cNvSpPr/>
          <p:nvPr/>
        </p:nvSpPr>
        <p:spPr>
          <a:xfrm>
            <a:off x="5608638" y="5802313"/>
            <a:ext cx="4970462" cy="430212"/>
          </a:xfrm>
          <a:prstGeom prst="rect">
            <a:avLst/>
          </a:prstGeom>
          <a:noFill/>
          <a:ln w="25400">
            <a:noFill/>
          </a:ln>
        </p:spPr>
        <p:txBody>
          <a:bodyPr anchor="t" anchorCtr="0">
            <a:spAutoFit/>
          </a:bodyPr>
          <a:p>
            <a:pPr lvl="1" indent="0" eaLnBrk="0" hangingPunct="0">
              <a:lnSpc>
                <a:spcPct val="110000"/>
              </a:lnSpc>
              <a:spcBef>
                <a:spcPct val="40000"/>
              </a:spcBef>
            </a:pPr>
            <a:r>
              <a:rPr lang="en-US" altLang="zh-CN" sz="2000">
                <a:solidFill>
                  <a:srgbClr val="0000FF"/>
                </a:solidFill>
                <a:latin typeface="Arial" panose="020B0604020202020204" pitchFamily="34" charset="0"/>
                <a:ea typeface="黑体" panose="02010609060101010101" pitchFamily="49" charset="-122"/>
              </a:rPr>
              <a:t>add rd, rs, rt</a:t>
            </a:r>
            <a:r>
              <a:rPr lang="zh-CN" altLang="en-US" sz="2000">
                <a:solidFill>
                  <a:srgbClr val="0000FF"/>
                </a:solidFill>
                <a:latin typeface="Arial" panose="020B0604020202020204" pitchFamily="34" charset="0"/>
                <a:ea typeface="黑体" panose="02010609060101010101" pitchFamily="49" charset="-122"/>
              </a:rPr>
              <a:t>控制信号为？</a:t>
            </a:r>
            <a:endParaRPr lang="zh-CN" altLang="en-US" sz="2000" dirty="0">
              <a:latin typeface="Arial" panose="020B0604020202020204" pitchFamily="34" charset="0"/>
              <a:ea typeface="黑体" panose="02010609060101010101" pitchFamily="49" charset="-122"/>
            </a:endParaRPr>
          </a:p>
        </p:txBody>
      </p:sp>
      <p:sp>
        <p:nvSpPr>
          <p:cNvPr id="49261" name="矩形 484411"/>
          <p:cNvSpPr/>
          <p:nvPr/>
        </p:nvSpPr>
        <p:spPr>
          <a:xfrm>
            <a:off x="5664200" y="6232525"/>
            <a:ext cx="4970463" cy="430213"/>
          </a:xfrm>
          <a:prstGeom prst="rect">
            <a:avLst/>
          </a:prstGeom>
          <a:noFill/>
          <a:ln w="25400">
            <a:noFill/>
          </a:ln>
        </p:spPr>
        <p:txBody>
          <a:bodyPr anchor="t" anchorCtr="0">
            <a:spAutoFit/>
          </a:bodyPr>
          <a:p>
            <a:pPr lvl="1" indent="0" eaLnBrk="0" hangingPunct="0">
              <a:lnSpc>
                <a:spcPct val="110000"/>
              </a:lnSpc>
              <a:spcBef>
                <a:spcPct val="40000"/>
              </a:spcBef>
            </a:pPr>
            <a:r>
              <a:rPr lang="en-US" altLang="zh-CN" sz="2000">
                <a:solidFill>
                  <a:srgbClr val="FF0000"/>
                </a:solidFill>
                <a:latin typeface="Arial" panose="020B0604020202020204" pitchFamily="34" charset="0"/>
                <a:ea typeface="黑体" panose="02010609060101010101" pitchFamily="49" charset="-122"/>
              </a:rPr>
              <a:t>ALUctr=add, RegWr=1</a:t>
            </a:r>
            <a:endParaRPr lang="en-US" altLang="zh-CN" sz="2000" dirty="0">
              <a:solidFill>
                <a:srgbClr val="FF0000"/>
              </a:solidFill>
              <a:latin typeface="Arial" panose="020B0604020202020204" pitchFamily="34" charset="0"/>
              <a:ea typeface="黑体" panose="02010609060101010101" pitchFamily="49"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标题 304129"/>
          <p:cNvSpPr>
            <a:spLocks noGrp="1"/>
          </p:cNvSpPr>
          <p:nvPr>
            <p:ph type="title"/>
          </p:nvPr>
        </p:nvSpPr>
        <p:spPr>
          <a:xfrm>
            <a:off x="277813" y="158750"/>
            <a:ext cx="7775575" cy="531813"/>
          </a:xfrm>
          <a:ln/>
        </p:spPr>
        <p:txBody>
          <a:bodyPr vert="horz" wrap="square" lIns="63500" tIns="25400" rIns="63500" bIns="25400" anchor="t" anchorCtr="0">
            <a:spAutoFit/>
          </a:bodyPr>
          <a:p>
            <a:r>
              <a:rPr lang="zh-CN" altLang="en-US" dirty="0">
                <a:ea typeface="宋体" panose="02010600030101010101" pitchFamily="2" charset="-122"/>
              </a:rPr>
              <a:t>数据通路中的关键路径</a:t>
            </a:r>
            <a:r>
              <a:rPr lang="en-US" altLang="zh-CN">
                <a:ea typeface="宋体" panose="02010600030101010101" pitchFamily="2" charset="-122"/>
              </a:rPr>
              <a:t>(Load</a:t>
            </a:r>
            <a:r>
              <a:rPr lang="zh-CN" altLang="en-US" dirty="0">
                <a:ea typeface="宋体" panose="02010600030101010101" pitchFamily="2" charset="-122"/>
              </a:rPr>
              <a:t>操作</a:t>
            </a:r>
            <a:r>
              <a:rPr lang="en-US" altLang="zh-CN">
                <a:ea typeface="宋体" panose="02010600030101010101" pitchFamily="2" charset="-122"/>
              </a:rPr>
              <a:t>)</a:t>
            </a:r>
            <a:endParaRPr lang="en-US" altLang="zh-CN">
              <a:ea typeface="宋体" panose="02010600030101010101" pitchFamily="2" charset="-122"/>
            </a:endParaRPr>
          </a:p>
        </p:txBody>
      </p:sp>
      <p:sp>
        <p:nvSpPr>
          <p:cNvPr id="304131" name="内容占位符 304130"/>
          <p:cNvSpPr>
            <a:spLocks noGrp="1"/>
          </p:cNvSpPr>
          <p:nvPr>
            <p:ph idx="1"/>
          </p:nvPr>
        </p:nvSpPr>
        <p:spPr>
          <a:xfrm>
            <a:off x="65405" y="649605"/>
            <a:ext cx="8933180" cy="1545590"/>
          </a:xfrm>
          <a:ln/>
        </p:spPr>
        <p:txBody>
          <a:bodyPr vert="horz" wrap="square" lIns="63500" tIns="25400" rIns="63500" bIns="25400" anchor="t" anchorCtr="0">
            <a:spAutoFit/>
          </a:bodyPr>
          <a:p>
            <a:pPr>
              <a:spcBef>
                <a:spcPct val="10000"/>
              </a:spcBef>
            </a:pPr>
            <a:r>
              <a:rPr lang="zh-CN" altLang="en-US" dirty="0">
                <a:ea typeface="宋体" panose="02010600030101010101" pitchFamily="2" charset="-122"/>
              </a:rPr>
              <a:t>记住：寄存器组和理想存储器的定时方式</a:t>
            </a:r>
            <a:endParaRPr lang="zh-CN" altLang="en-US" dirty="0">
              <a:ea typeface="宋体" panose="02010600030101010101" pitchFamily="2" charset="-122"/>
            </a:endParaRPr>
          </a:p>
          <a:p>
            <a:pPr lvl="1">
              <a:spcBef>
                <a:spcPct val="10000"/>
              </a:spcBef>
            </a:pPr>
            <a:r>
              <a:rPr lang="zh-CN" altLang="en-US" dirty="0">
                <a:ea typeface="宋体" panose="02010600030101010101" pitchFamily="2" charset="-122"/>
              </a:rPr>
              <a:t>写操作时，作为时序逻辑电路。即：</a:t>
            </a:r>
            <a:endParaRPr lang="zh-CN" altLang="en-US" dirty="0">
              <a:ea typeface="宋体" panose="02010600030101010101" pitchFamily="2" charset="-122"/>
            </a:endParaRPr>
          </a:p>
          <a:p>
            <a:pPr lvl="2">
              <a:spcBef>
                <a:spcPct val="10000"/>
              </a:spcBef>
            </a:pPr>
            <a:r>
              <a:rPr lang="zh-CN" altLang="en-US" dirty="0">
                <a:ea typeface="宋体" panose="02010600030101010101" pitchFamily="2" charset="-122"/>
              </a:rPr>
              <a:t>时钟到达前，输入需</a:t>
            </a:r>
            <a:r>
              <a:rPr lang="en-US" altLang="zh-CN">
                <a:ea typeface="宋体" panose="02010600030101010101" pitchFamily="2" charset="-122"/>
              </a:rPr>
              <a:t>setup</a:t>
            </a:r>
            <a:r>
              <a:rPr lang="zh-CN" altLang="en-US" dirty="0">
                <a:ea typeface="宋体" panose="02010600030101010101" pitchFamily="2" charset="-122"/>
              </a:rPr>
              <a:t>；到达后经“</a:t>
            </a:r>
            <a:r>
              <a:rPr lang="en-US" altLang="zh-CN" dirty="0" err="1">
                <a:ea typeface="宋体" panose="02010600030101010101" pitchFamily="2" charset="-122"/>
              </a:rPr>
              <a:t>Clk</a:t>
            </a:r>
            <a:r>
              <a:rPr lang="en-US" altLang="zh-CN">
                <a:ea typeface="宋体" panose="02010600030101010101" pitchFamily="2" charset="-122"/>
              </a:rPr>
              <a:t> to Q”</a:t>
            </a:r>
            <a:r>
              <a:rPr lang="zh-CN" altLang="en-US" dirty="0">
                <a:ea typeface="宋体" panose="02010600030101010101" pitchFamily="2" charset="-122"/>
              </a:rPr>
              <a:t>，写入数据到达输出端</a:t>
            </a:r>
            <a:endParaRPr lang="zh-CN" altLang="en-US" dirty="0">
              <a:ea typeface="宋体" panose="02010600030101010101" pitchFamily="2" charset="-122"/>
            </a:endParaRPr>
          </a:p>
          <a:p>
            <a:pPr lvl="1">
              <a:spcBef>
                <a:spcPct val="10000"/>
              </a:spcBef>
            </a:pPr>
            <a:r>
              <a:rPr lang="zh-CN" altLang="en-US" dirty="0">
                <a:ea typeface="宋体" panose="02010600030101010101" pitchFamily="2" charset="-122"/>
              </a:rPr>
              <a:t>读操作时，作为组合逻辑电路。即：</a:t>
            </a:r>
            <a:endParaRPr lang="en-US" altLang="zh-CN">
              <a:ea typeface="宋体" panose="02010600030101010101" pitchFamily="2" charset="-122"/>
            </a:endParaRPr>
          </a:p>
          <a:p>
            <a:pPr lvl="2">
              <a:spcBef>
                <a:spcPct val="10000"/>
              </a:spcBef>
            </a:pPr>
            <a:r>
              <a:rPr lang="zh-CN" altLang="en-US" dirty="0">
                <a:ea typeface="宋体" panose="02010600030101010101" pitchFamily="2" charset="-122"/>
              </a:rPr>
              <a:t>地址有效后经过 “</a:t>
            </a:r>
            <a:r>
              <a:rPr lang="en-US" altLang="zh-CN">
                <a:ea typeface="宋体" panose="02010600030101010101" pitchFamily="2" charset="-122"/>
              </a:rPr>
              <a:t>access time”</a:t>
            </a:r>
            <a:r>
              <a:rPr lang="zh-CN" altLang="en-US" dirty="0">
                <a:ea typeface="宋体" panose="02010600030101010101" pitchFamily="2" charset="-122"/>
              </a:rPr>
              <a:t>，输出开始有效</a:t>
            </a:r>
            <a:endParaRPr lang="zh-CN" altLang="en-US" dirty="0">
              <a:ea typeface="宋体" panose="02010600030101010101" pitchFamily="2" charset="-122"/>
            </a:endParaRPr>
          </a:p>
        </p:txBody>
      </p:sp>
      <p:sp>
        <p:nvSpPr>
          <p:cNvPr id="304132" name="直接连接符 304131"/>
          <p:cNvSpPr/>
          <p:nvPr/>
        </p:nvSpPr>
        <p:spPr>
          <a:xfrm>
            <a:off x="3722688" y="5846763"/>
            <a:ext cx="1092200" cy="0"/>
          </a:xfrm>
          <a:prstGeom prst="line">
            <a:avLst/>
          </a:prstGeom>
          <a:ln w="50800" cap="flat" cmpd="sng">
            <a:solidFill>
              <a:schemeClr val="accent1"/>
            </a:solidFill>
            <a:prstDash val="solid"/>
            <a:round/>
            <a:headEnd type="none" w="med" len="med"/>
            <a:tailEnd type="triangle" w="med" len="med"/>
          </a:ln>
        </p:spPr>
      </p:sp>
      <p:sp>
        <p:nvSpPr>
          <p:cNvPr id="51204" name="矩形 304132"/>
          <p:cNvSpPr/>
          <p:nvPr/>
        </p:nvSpPr>
        <p:spPr>
          <a:xfrm>
            <a:off x="1725613" y="5584825"/>
            <a:ext cx="5365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51205" name="矩形 304133"/>
          <p:cNvSpPr/>
          <p:nvPr/>
        </p:nvSpPr>
        <p:spPr>
          <a:xfrm>
            <a:off x="2387600" y="4838700"/>
            <a:ext cx="1298575" cy="1187450"/>
          </a:xfrm>
          <a:prstGeom prst="rect">
            <a:avLst/>
          </a:prstGeom>
          <a:noFill/>
          <a:ln w="508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1206" name="直接连接符 304134"/>
          <p:cNvSpPr/>
          <p:nvPr/>
        </p:nvSpPr>
        <p:spPr>
          <a:xfrm>
            <a:off x="2409825" y="5797550"/>
            <a:ext cx="231775" cy="69850"/>
          </a:xfrm>
          <a:prstGeom prst="line">
            <a:avLst/>
          </a:prstGeom>
          <a:ln w="25400" cap="flat" cmpd="sng">
            <a:solidFill>
              <a:schemeClr val="tx1"/>
            </a:solidFill>
            <a:prstDash val="solid"/>
            <a:round/>
            <a:headEnd type="none" w="med" len="med"/>
            <a:tailEnd type="none" w="med" len="med"/>
          </a:ln>
        </p:spPr>
      </p:sp>
      <p:sp>
        <p:nvSpPr>
          <p:cNvPr id="51207" name="直接连接符 304135"/>
          <p:cNvSpPr/>
          <p:nvPr/>
        </p:nvSpPr>
        <p:spPr>
          <a:xfrm flipH="1">
            <a:off x="2384425" y="5892800"/>
            <a:ext cx="282575" cy="107950"/>
          </a:xfrm>
          <a:prstGeom prst="line">
            <a:avLst/>
          </a:prstGeom>
          <a:ln w="25400" cap="flat" cmpd="sng">
            <a:solidFill>
              <a:schemeClr val="tx1"/>
            </a:solidFill>
            <a:prstDash val="solid"/>
            <a:round/>
            <a:headEnd type="none" w="med" len="med"/>
            <a:tailEnd type="none" w="med" len="med"/>
          </a:ln>
        </p:spPr>
      </p:sp>
      <p:sp>
        <p:nvSpPr>
          <p:cNvPr id="51208" name="椭圆 304136"/>
          <p:cNvSpPr/>
          <p:nvPr/>
        </p:nvSpPr>
        <p:spPr>
          <a:xfrm>
            <a:off x="2235200" y="5835650"/>
            <a:ext cx="114300" cy="12700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51209" name="直接连接符 304137"/>
          <p:cNvSpPr/>
          <p:nvPr/>
        </p:nvSpPr>
        <p:spPr>
          <a:xfrm flipH="1">
            <a:off x="1795463" y="5880100"/>
            <a:ext cx="449262" cy="0"/>
          </a:xfrm>
          <a:prstGeom prst="line">
            <a:avLst/>
          </a:prstGeom>
          <a:ln w="25400" cap="flat" cmpd="sng">
            <a:solidFill>
              <a:schemeClr val="tx1"/>
            </a:solidFill>
            <a:prstDash val="solid"/>
            <a:round/>
            <a:headEnd type="none" w="med" len="med"/>
            <a:tailEnd type="none" w="med" len="med"/>
          </a:ln>
        </p:spPr>
      </p:sp>
      <p:sp>
        <p:nvSpPr>
          <p:cNvPr id="304139" name="直接连接符 304138"/>
          <p:cNvSpPr/>
          <p:nvPr/>
        </p:nvSpPr>
        <p:spPr>
          <a:xfrm>
            <a:off x="2554288" y="3786188"/>
            <a:ext cx="12700" cy="1041400"/>
          </a:xfrm>
          <a:prstGeom prst="line">
            <a:avLst/>
          </a:prstGeom>
          <a:ln w="50800" cap="flat" cmpd="sng">
            <a:solidFill>
              <a:schemeClr val="accent1"/>
            </a:solidFill>
            <a:prstDash val="solid"/>
            <a:round/>
            <a:headEnd type="none" w="med" len="med"/>
            <a:tailEnd type="triangle" w="med" len="med"/>
          </a:ln>
        </p:spPr>
      </p:sp>
      <p:sp>
        <p:nvSpPr>
          <p:cNvPr id="51211" name="直接连接符 304139"/>
          <p:cNvSpPr/>
          <p:nvPr/>
        </p:nvSpPr>
        <p:spPr>
          <a:xfrm flipV="1">
            <a:off x="2484438" y="4197350"/>
            <a:ext cx="188912" cy="207963"/>
          </a:xfrm>
          <a:prstGeom prst="line">
            <a:avLst/>
          </a:prstGeom>
          <a:ln w="12700" cap="flat" cmpd="sng">
            <a:solidFill>
              <a:schemeClr val="tx1"/>
            </a:solidFill>
            <a:prstDash val="solid"/>
            <a:round/>
            <a:headEnd type="none" w="med" len="med"/>
            <a:tailEnd type="none" w="med" len="med"/>
          </a:ln>
        </p:spPr>
      </p:sp>
      <p:sp>
        <p:nvSpPr>
          <p:cNvPr id="51212" name="矩形 304140"/>
          <p:cNvSpPr/>
          <p:nvPr/>
        </p:nvSpPr>
        <p:spPr>
          <a:xfrm>
            <a:off x="2309813" y="4051300"/>
            <a:ext cx="369887" cy="363538"/>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51213" name="矩形 304141"/>
          <p:cNvSpPr/>
          <p:nvPr/>
        </p:nvSpPr>
        <p:spPr>
          <a:xfrm>
            <a:off x="2411413" y="4813300"/>
            <a:ext cx="5238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51214" name="矩形 304142"/>
          <p:cNvSpPr/>
          <p:nvPr/>
        </p:nvSpPr>
        <p:spPr>
          <a:xfrm>
            <a:off x="2835275" y="4813300"/>
            <a:ext cx="4730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51215" name="矩形 304143"/>
          <p:cNvSpPr/>
          <p:nvPr/>
        </p:nvSpPr>
        <p:spPr>
          <a:xfrm>
            <a:off x="3262313" y="4813300"/>
            <a:ext cx="4857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51216" name="矩形 304144"/>
          <p:cNvSpPr/>
          <p:nvPr/>
        </p:nvSpPr>
        <p:spPr>
          <a:xfrm>
            <a:off x="2563813" y="5118100"/>
            <a:ext cx="1222375" cy="63817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51217" name="矩形 304145"/>
          <p:cNvSpPr/>
          <p:nvPr/>
        </p:nvSpPr>
        <p:spPr>
          <a:xfrm>
            <a:off x="2127250" y="3822700"/>
            <a:ext cx="4857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nvGrpSpPr>
          <p:cNvPr id="51218" name="组合 304146"/>
          <p:cNvGrpSpPr/>
          <p:nvPr/>
        </p:nvGrpSpPr>
        <p:grpSpPr>
          <a:xfrm>
            <a:off x="4814888" y="4826000"/>
            <a:ext cx="481012" cy="1219200"/>
            <a:chOff x="3057" y="2968"/>
            <a:chExt cx="303" cy="768"/>
          </a:xfrm>
        </p:grpSpPr>
        <p:grpSp>
          <p:nvGrpSpPr>
            <p:cNvPr id="51219" name="组合 304147"/>
            <p:cNvGrpSpPr/>
            <p:nvPr/>
          </p:nvGrpSpPr>
          <p:grpSpPr>
            <a:xfrm>
              <a:off x="3057" y="2968"/>
              <a:ext cx="288" cy="768"/>
              <a:chOff x="3057" y="2968"/>
              <a:chExt cx="288" cy="768"/>
            </a:xfrm>
          </p:grpSpPr>
          <p:sp>
            <p:nvSpPr>
              <p:cNvPr id="51220" name="直接连接符 304148"/>
              <p:cNvSpPr/>
              <p:nvPr/>
            </p:nvSpPr>
            <p:spPr>
              <a:xfrm>
                <a:off x="3057" y="2968"/>
                <a:ext cx="0" cy="176"/>
              </a:xfrm>
              <a:prstGeom prst="line">
                <a:avLst/>
              </a:prstGeom>
              <a:ln w="25400" cap="flat" cmpd="sng">
                <a:solidFill>
                  <a:schemeClr val="tx1"/>
                </a:solidFill>
                <a:prstDash val="solid"/>
                <a:round/>
                <a:headEnd type="none" w="med" len="med"/>
                <a:tailEnd type="none" w="med" len="med"/>
              </a:ln>
            </p:spPr>
          </p:sp>
          <p:sp>
            <p:nvSpPr>
              <p:cNvPr id="51221" name="直接连接符 304149"/>
              <p:cNvSpPr/>
              <p:nvPr/>
            </p:nvSpPr>
            <p:spPr>
              <a:xfrm>
                <a:off x="3065" y="2968"/>
                <a:ext cx="272" cy="176"/>
              </a:xfrm>
              <a:prstGeom prst="line">
                <a:avLst/>
              </a:prstGeom>
              <a:ln w="25400" cap="flat" cmpd="sng">
                <a:solidFill>
                  <a:schemeClr val="tx1"/>
                </a:solidFill>
                <a:prstDash val="solid"/>
                <a:round/>
                <a:headEnd type="none" w="med" len="med"/>
                <a:tailEnd type="none" w="med" len="med"/>
              </a:ln>
            </p:spPr>
          </p:sp>
          <p:sp>
            <p:nvSpPr>
              <p:cNvPr id="51222" name="直接连接符 304150"/>
              <p:cNvSpPr/>
              <p:nvPr/>
            </p:nvSpPr>
            <p:spPr>
              <a:xfrm>
                <a:off x="3065" y="3160"/>
                <a:ext cx="128" cy="80"/>
              </a:xfrm>
              <a:prstGeom prst="line">
                <a:avLst/>
              </a:prstGeom>
              <a:ln w="25400" cap="flat" cmpd="sng">
                <a:solidFill>
                  <a:schemeClr val="tx1"/>
                </a:solidFill>
                <a:prstDash val="solid"/>
                <a:round/>
                <a:headEnd type="none" w="med" len="med"/>
                <a:tailEnd type="none" w="med" len="med"/>
              </a:ln>
            </p:spPr>
          </p:sp>
          <p:sp>
            <p:nvSpPr>
              <p:cNvPr id="51223" name="直接连接符 304151"/>
              <p:cNvSpPr/>
              <p:nvPr/>
            </p:nvSpPr>
            <p:spPr>
              <a:xfrm>
                <a:off x="3201" y="3256"/>
                <a:ext cx="0" cy="176"/>
              </a:xfrm>
              <a:prstGeom prst="line">
                <a:avLst/>
              </a:prstGeom>
              <a:ln w="25400" cap="flat" cmpd="sng">
                <a:solidFill>
                  <a:schemeClr val="tx1"/>
                </a:solidFill>
                <a:prstDash val="solid"/>
                <a:round/>
                <a:headEnd type="none" w="med" len="med"/>
                <a:tailEnd type="none" w="med" len="med"/>
              </a:ln>
            </p:spPr>
          </p:sp>
          <p:sp>
            <p:nvSpPr>
              <p:cNvPr id="51224" name="直接连接符 304152"/>
              <p:cNvSpPr/>
              <p:nvPr/>
            </p:nvSpPr>
            <p:spPr>
              <a:xfrm>
                <a:off x="3345" y="3160"/>
                <a:ext cx="0" cy="368"/>
              </a:xfrm>
              <a:prstGeom prst="line">
                <a:avLst/>
              </a:prstGeom>
              <a:ln w="25400" cap="flat" cmpd="sng">
                <a:solidFill>
                  <a:schemeClr val="tx1"/>
                </a:solidFill>
                <a:prstDash val="solid"/>
                <a:round/>
                <a:headEnd type="none" w="med" len="med"/>
                <a:tailEnd type="none" w="med" len="med"/>
              </a:ln>
            </p:spPr>
          </p:sp>
          <p:sp>
            <p:nvSpPr>
              <p:cNvPr id="51225" name="直接连接符 304153"/>
              <p:cNvSpPr/>
              <p:nvPr/>
            </p:nvSpPr>
            <p:spPr>
              <a:xfrm flipV="1">
                <a:off x="3065" y="3432"/>
                <a:ext cx="128" cy="112"/>
              </a:xfrm>
              <a:prstGeom prst="line">
                <a:avLst/>
              </a:prstGeom>
              <a:ln w="25400" cap="flat" cmpd="sng">
                <a:solidFill>
                  <a:schemeClr val="tx1"/>
                </a:solidFill>
                <a:prstDash val="solid"/>
                <a:round/>
                <a:headEnd type="none" w="med" len="med"/>
                <a:tailEnd type="none" w="med" len="med"/>
              </a:ln>
            </p:spPr>
          </p:sp>
          <p:sp>
            <p:nvSpPr>
              <p:cNvPr id="51226" name="直接连接符 304154"/>
              <p:cNvSpPr/>
              <p:nvPr/>
            </p:nvSpPr>
            <p:spPr>
              <a:xfrm>
                <a:off x="3057" y="3544"/>
                <a:ext cx="0" cy="176"/>
              </a:xfrm>
              <a:prstGeom prst="line">
                <a:avLst/>
              </a:prstGeom>
              <a:ln w="25400" cap="flat" cmpd="sng">
                <a:solidFill>
                  <a:schemeClr val="tx1"/>
                </a:solidFill>
                <a:prstDash val="solid"/>
                <a:round/>
                <a:headEnd type="none" w="med" len="med"/>
                <a:tailEnd type="none" w="med" len="med"/>
              </a:ln>
            </p:spPr>
          </p:sp>
          <p:sp>
            <p:nvSpPr>
              <p:cNvPr id="51227" name="直接连接符 304155"/>
              <p:cNvSpPr/>
              <p:nvPr/>
            </p:nvSpPr>
            <p:spPr>
              <a:xfrm flipV="1">
                <a:off x="3065" y="3528"/>
                <a:ext cx="272" cy="208"/>
              </a:xfrm>
              <a:prstGeom prst="line">
                <a:avLst/>
              </a:prstGeom>
              <a:ln w="25400" cap="flat" cmpd="sng">
                <a:solidFill>
                  <a:schemeClr val="tx1"/>
                </a:solidFill>
                <a:prstDash val="solid"/>
                <a:round/>
                <a:headEnd type="none" w="med" len="med"/>
                <a:tailEnd type="none" w="med" len="med"/>
              </a:ln>
            </p:spPr>
          </p:sp>
        </p:grpSp>
        <p:sp>
          <p:nvSpPr>
            <p:cNvPr id="51228" name="矩形 304156"/>
            <p:cNvSpPr/>
            <p:nvPr/>
          </p:nvSpPr>
          <p:spPr>
            <a:xfrm rot="5400000">
              <a:off x="3036" y="3237"/>
              <a:ext cx="410"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grpSp>
      <p:sp>
        <p:nvSpPr>
          <p:cNvPr id="51229" name="矩形 304157"/>
          <p:cNvSpPr/>
          <p:nvPr/>
        </p:nvSpPr>
        <p:spPr>
          <a:xfrm>
            <a:off x="6394450" y="6102350"/>
            <a:ext cx="5365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51230" name="矩形 304158"/>
          <p:cNvSpPr/>
          <p:nvPr/>
        </p:nvSpPr>
        <p:spPr>
          <a:xfrm>
            <a:off x="5735638" y="5405438"/>
            <a:ext cx="1089025" cy="363537"/>
          </a:xfrm>
          <a:prstGeom prst="rect">
            <a:avLst/>
          </a:prstGeom>
          <a:noFill/>
          <a:ln w="12700">
            <a:noFill/>
          </a:ln>
        </p:spPr>
        <p:txBody>
          <a:bodyPr lIns="90488" tIns="44450" rIns="90488" bIns="44450" anchor="t" anchorCtr="0">
            <a:spAutoFit/>
          </a:bodyPr>
          <a:p>
            <a:r>
              <a:rPr lang="en-US" altLang="zh-CN" sz="1800" dirty="0" err="1">
                <a:latin typeface="Arial" panose="020B0604020202020204" pitchFamily="34" charset="0"/>
                <a:ea typeface="宋体" panose="02010600030101010101" pitchFamily="2" charset="-122"/>
              </a:rPr>
              <a:t>DataIn</a:t>
            </a:r>
            <a:endParaRPr lang="en-US" altLang="zh-CN" sz="1800">
              <a:latin typeface="Arial" panose="020B0604020202020204" pitchFamily="34" charset="0"/>
              <a:ea typeface="宋体" panose="02010600030101010101" pitchFamily="2" charset="-122"/>
            </a:endParaRPr>
          </a:p>
        </p:txBody>
      </p:sp>
      <p:sp>
        <p:nvSpPr>
          <p:cNvPr id="51231" name="矩形 304159"/>
          <p:cNvSpPr/>
          <p:nvPr/>
        </p:nvSpPr>
        <p:spPr>
          <a:xfrm>
            <a:off x="6694488" y="4881563"/>
            <a:ext cx="1201737" cy="1087437"/>
          </a:xfrm>
          <a:prstGeom prst="rect">
            <a:avLst/>
          </a:prstGeom>
          <a:noFill/>
          <a:ln w="508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1232" name="直接连接符 304160"/>
          <p:cNvSpPr/>
          <p:nvPr/>
        </p:nvSpPr>
        <p:spPr>
          <a:xfrm flipV="1">
            <a:off x="6750050" y="5703888"/>
            <a:ext cx="71438" cy="269875"/>
          </a:xfrm>
          <a:prstGeom prst="line">
            <a:avLst/>
          </a:prstGeom>
          <a:ln w="25400" cap="flat" cmpd="sng">
            <a:solidFill>
              <a:schemeClr val="tx1"/>
            </a:solidFill>
            <a:prstDash val="solid"/>
            <a:round/>
            <a:headEnd type="none" w="med" len="med"/>
            <a:tailEnd type="none" w="med" len="med"/>
          </a:ln>
        </p:spPr>
      </p:sp>
      <p:sp>
        <p:nvSpPr>
          <p:cNvPr id="51233" name="直接连接符 304161"/>
          <p:cNvSpPr/>
          <p:nvPr/>
        </p:nvSpPr>
        <p:spPr>
          <a:xfrm>
            <a:off x="6846888" y="5729288"/>
            <a:ext cx="109537" cy="219075"/>
          </a:xfrm>
          <a:prstGeom prst="line">
            <a:avLst/>
          </a:prstGeom>
          <a:ln w="25400" cap="flat" cmpd="sng">
            <a:solidFill>
              <a:schemeClr val="tx1"/>
            </a:solidFill>
            <a:prstDash val="solid"/>
            <a:round/>
            <a:headEnd type="none" w="med" len="med"/>
            <a:tailEnd type="none" w="med" len="med"/>
          </a:ln>
        </p:spPr>
      </p:sp>
      <p:sp>
        <p:nvSpPr>
          <p:cNvPr id="51234" name="椭圆 304162"/>
          <p:cNvSpPr/>
          <p:nvPr/>
        </p:nvSpPr>
        <p:spPr>
          <a:xfrm>
            <a:off x="6788150" y="6007100"/>
            <a:ext cx="128588" cy="109538"/>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51235" name="矩形 304163"/>
          <p:cNvSpPr/>
          <p:nvPr/>
        </p:nvSpPr>
        <p:spPr>
          <a:xfrm>
            <a:off x="7927975" y="5037138"/>
            <a:ext cx="10699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DataOut</a:t>
            </a:r>
            <a:endParaRPr lang="en-US" altLang="zh-CN" sz="1800">
              <a:latin typeface="Arial" panose="020B0604020202020204" pitchFamily="34" charset="0"/>
              <a:ea typeface="宋体" panose="02010600030101010101" pitchFamily="2" charset="-122"/>
            </a:endParaRPr>
          </a:p>
        </p:txBody>
      </p:sp>
      <p:sp>
        <p:nvSpPr>
          <p:cNvPr id="51236" name="直接连接符 304164"/>
          <p:cNvSpPr/>
          <p:nvPr/>
        </p:nvSpPr>
        <p:spPr>
          <a:xfrm>
            <a:off x="6859588" y="6108700"/>
            <a:ext cx="7937" cy="279400"/>
          </a:xfrm>
          <a:prstGeom prst="line">
            <a:avLst/>
          </a:prstGeom>
          <a:ln w="25400" cap="flat" cmpd="sng">
            <a:solidFill>
              <a:schemeClr val="tx1"/>
            </a:solidFill>
            <a:prstDash val="solid"/>
            <a:round/>
            <a:headEnd type="none" w="med" len="med"/>
            <a:tailEnd type="none" w="med" len="med"/>
          </a:ln>
        </p:spPr>
      </p:sp>
      <p:sp>
        <p:nvSpPr>
          <p:cNvPr id="304166" name="直接连接符 304165"/>
          <p:cNvSpPr/>
          <p:nvPr/>
        </p:nvSpPr>
        <p:spPr>
          <a:xfrm flipV="1">
            <a:off x="5292725" y="5237163"/>
            <a:ext cx="1422400" cy="0"/>
          </a:xfrm>
          <a:prstGeom prst="line">
            <a:avLst/>
          </a:prstGeom>
          <a:ln w="50800" cap="flat" cmpd="sng">
            <a:solidFill>
              <a:schemeClr val="accent1"/>
            </a:solidFill>
            <a:prstDash val="solid"/>
            <a:round/>
            <a:headEnd type="none" w="med" len="med"/>
            <a:tailEnd type="triangle" w="med" len="med"/>
          </a:ln>
        </p:spPr>
      </p:sp>
      <p:sp>
        <p:nvSpPr>
          <p:cNvPr id="51238" name="矩形 304166"/>
          <p:cNvSpPr/>
          <p:nvPr/>
        </p:nvSpPr>
        <p:spPr>
          <a:xfrm>
            <a:off x="5610225" y="4624388"/>
            <a:ext cx="10953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51239" name="矩形 304167"/>
          <p:cNvSpPr/>
          <p:nvPr/>
        </p:nvSpPr>
        <p:spPr>
          <a:xfrm>
            <a:off x="6761163" y="4975225"/>
            <a:ext cx="1057275" cy="912813"/>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Ideal</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51240" name="矩形 304168"/>
          <p:cNvSpPr/>
          <p:nvPr/>
        </p:nvSpPr>
        <p:spPr>
          <a:xfrm>
            <a:off x="900113" y="3248025"/>
            <a:ext cx="1241425" cy="1201738"/>
          </a:xfrm>
          <a:prstGeom prst="rect">
            <a:avLst/>
          </a:prstGeom>
          <a:noFill/>
          <a:ln w="508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1241" name="矩形 304169"/>
          <p:cNvSpPr/>
          <p:nvPr/>
        </p:nvSpPr>
        <p:spPr>
          <a:xfrm>
            <a:off x="2449513" y="3454400"/>
            <a:ext cx="18319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 bus</a:t>
            </a:r>
            <a:endParaRPr lang="en-US" altLang="zh-CN" sz="1800">
              <a:latin typeface="Arial" panose="020B0604020202020204" pitchFamily="34" charset="0"/>
              <a:ea typeface="宋体" panose="02010600030101010101" pitchFamily="2" charset="-122"/>
            </a:endParaRPr>
          </a:p>
        </p:txBody>
      </p:sp>
      <p:sp>
        <p:nvSpPr>
          <p:cNvPr id="304171" name="直接连接符 304170"/>
          <p:cNvSpPr/>
          <p:nvPr/>
        </p:nvSpPr>
        <p:spPr>
          <a:xfrm>
            <a:off x="2197100" y="3771900"/>
            <a:ext cx="1393825" cy="0"/>
          </a:xfrm>
          <a:prstGeom prst="line">
            <a:avLst/>
          </a:prstGeom>
          <a:ln w="50800" cap="flat" cmpd="sng">
            <a:solidFill>
              <a:schemeClr val="accent1"/>
            </a:solidFill>
            <a:prstDash val="solid"/>
            <a:round/>
            <a:headEnd type="none" w="med" len="med"/>
            <a:tailEnd type="none" w="med" len="med"/>
          </a:ln>
        </p:spPr>
      </p:sp>
      <p:sp>
        <p:nvSpPr>
          <p:cNvPr id="304172" name="直接连接符 304171"/>
          <p:cNvSpPr/>
          <p:nvPr/>
        </p:nvSpPr>
        <p:spPr>
          <a:xfrm>
            <a:off x="1474788" y="2743200"/>
            <a:ext cx="0" cy="512763"/>
          </a:xfrm>
          <a:prstGeom prst="line">
            <a:avLst/>
          </a:prstGeom>
          <a:ln w="50800" cap="flat" cmpd="sng">
            <a:solidFill>
              <a:schemeClr val="accent1"/>
            </a:solidFill>
            <a:prstDash val="solid"/>
            <a:round/>
            <a:headEnd type="none" w="med" len="med"/>
            <a:tailEnd type="triangle" w="med" len="med"/>
          </a:ln>
        </p:spPr>
      </p:sp>
      <p:sp>
        <p:nvSpPr>
          <p:cNvPr id="51244" name="矩形 304172"/>
          <p:cNvSpPr/>
          <p:nvPr/>
        </p:nvSpPr>
        <p:spPr>
          <a:xfrm>
            <a:off x="1450975" y="2794000"/>
            <a:ext cx="23272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51245" name="矩形 304173"/>
          <p:cNvSpPr/>
          <p:nvPr/>
        </p:nvSpPr>
        <p:spPr>
          <a:xfrm>
            <a:off x="836613" y="3403600"/>
            <a:ext cx="1362075" cy="912813"/>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Ideal</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51246" name="矩形 304174"/>
          <p:cNvSpPr/>
          <p:nvPr/>
        </p:nvSpPr>
        <p:spPr>
          <a:xfrm>
            <a:off x="217488" y="2252663"/>
            <a:ext cx="5365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51247" name="矩形 304175"/>
          <p:cNvSpPr/>
          <p:nvPr/>
        </p:nvSpPr>
        <p:spPr>
          <a:xfrm>
            <a:off x="882650" y="2457450"/>
            <a:ext cx="1187450" cy="263525"/>
          </a:xfrm>
          <a:prstGeom prst="rect">
            <a:avLst/>
          </a:prstGeom>
          <a:noFill/>
          <a:ln w="508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1248" name="直接连接符 304176"/>
          <p:cNvSpPr/>
          <p:nvPr/>
        </p:nvSpPr>
        <p:spPr>
          <a:xfrm>
            <a:off x="869950" y="2520950"/>
            <a:ext cx="203200" cy="50800"/>
          </a:xfrm>
          <a:prstGeom prst="line">
            <a:avLst/>
          </a:prstGeom>
          <a:ln w="25400" cap="flat" cmpd="sng">
            <a:solidFill>
              <a:schemeClr val="tx1"/>
            </a:solidFill>
            <a:prstDash val="solid"/>
            <a:round/>
            <a:headEnd type="none" w="med" len="med"/>
            <a:tailEnd type="none" w="med" len="med"/>
          </a:ln>
        </p:spPr>
      </p:sp>
      <p:sp>
        <p:nvSpPr>
          <p:cNvPr id="51249" name="直接连接符 304177"/>
          <p:cNvSpPr/>
          <p:nvPr/>
        </p:nvSpPr>
        <p:spPr>
          <a:xfrm flipH="1">
            <a:off x="844550" y="2597150"/>
            <a:ext cx="254000" cy="50800"/>
          </a:xfrm>
          <a:prstGeom prst="line">
            <a:avLst/>
          </a:prstGeom>
          <a:ln w="25400" cap="flat" cmpd="sng">
            <a:solidFill>
              <a:schemeClr val="tx1"/>
            </a:solidFill>
            <a:prstDash val="solid"/>
            <a:round/>
            <a:headEnd type="none" w="med" len="med"/>
            <a:tailEnd type="none" w="med" len="med"/>
          </a:ln>
        </p:spPr>
      </p:sp>
      <p:sp>
        <p:nvSpPr>
          <p:cNvPr id="51250" name="椭圆 304178"/>
          <p:cNvSpPr/>
          <p:nvPr/>
        </p:nvSpPr>
        <p:spPr>
          <a:xfrm>
            <a:off x="717550" y="252095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51251" name="直接连接符 304179"/>
          <p:cNvSpPr/>
          <p:nvPr/>
        </p:nvSpPr>
        <p:spPr>
          <a:xfrm flipH="1">
            <a:off x="330200" y="2586038"/>
            <a:ext cx="363538" cy="0"/>
          </a:xfrm>
          <a:prstGeom prst="line">
            <a:avLst/>
          </a:prstGeom>
          <a:ln w="25400" cap="flat" cmpd="sng">
            <a:solidFill>
              <a:schemeClr val="tx1"/>
            </a:solidFill>
            <a:prstDash val="solid"/>
            <a:round/>
            <a:headEnd type="none" w="med" len="med"/>
            <a:tailEnd type="none" w="med" len="med"/>
          </a:ln>
        </p:spPr>
      </p:sp>
      <p:sp>
        <p:nvSpPr>
          <p:cNvPr id="51252" name="矩形 304180"/>
          <p:cNvSpPr/>
          <p:nvPr/>
        </p:nvSpPr>
        <p:spPr>
          <a:xfrm>
            <a:off x="1262063" y="2417763"/>
            <a:ext cx="4984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304182" name="直接连接符 304181"/>
          <p:cNvSpPr/>
          <p:nvPr/>
        </p:nvSpPr>
        <p:spPr>
          <a:xfrm>
            <a:off x="3011488" y="3770313"/>
            <a:ext cx="0" cy="1027112"/>
          </a:xfrm>
          <a:prstGeom prst="line">
            <a:avLst/>
          </a:prstGeom>
          <a:ln w="50800" cap="flat" cmpd="sng">
            <a:solidFill>
              <a:schemeClr val="accent1"/>
            </a:solidFill>
            <a:prstDash val="solid"/>
            <a:round/>
            <a:headEnd type="none" w="med" len="med"/>
            <a:tailEnd type="triangle" w="med" len="med"/>
          </a:ln>
        </p:spPr>
      </p:sp>
      <p:sp>
        <p:nvSpPr>
          <p:cNvPr id="51254" name="直接连接符 304182"/>
          <p:cNvSpPr/>
          <p:nvPr/>
        </p:nvSpPr>
        <p:spPr>
          <a:xfrm flipV="1">
            <a:off x="2941638" y="4197350"/>
            <a:ext cx="188912" cy="207963"/>
          </a:xfrm>
          <a:prstGeom prst="line">
            <a:avLst/>
          </a:prstGeom>
          <a:ln w="12700" cap="flat" cmpd="sng">
            <a:solidFill>
              <a:schemeClr val="tx1"/>
            </a:solidFill>
            <a:prstDash val="solid"/>
            <a:round/>
            <a:headEnd type="none" w="med" len="med"/>
            <a:tailEnd type="none" w="med" len="med"/>
          </a:ln>
        </p:spPr>
      </p:sp>
      <p:sp>
        <p:nvSpPr>
          <p:cNvPr id="51255" name="矩形 304183"/>
          <p:cNvSpPr/>
          <p:nvPr/>
        </p:nvSpPr>
        <p:spPr>
          <a:xfrm>
            <a:off x="2792413" y="4051300"/>
            <a:ext cx="369887" cy="363538"/>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51256" name="矩形 304184"/>
          <p:cNvSpPr/>
          <p:nvPr/>
        </p:nvSpPr>
        <p:spPr>
          <a:xfrm>
            <a:off x="2597150" y="3822700"/>
            <a:ext cx="4730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304186" name="直接连接符 304185"/>
          <p:cNvSpPr/>
          <p:nvPr/>
        </p:nvSpPr>
        <p:spPr>
          <a:xfrm>
            <a:off x="3544888" y="3786188"/>
            <a:ext cx="0" cy="1025525"/>
          </a:xfrm>
          <a:prstGeom prst="line">
            <a:avLst/>
          </a:prstGeom>
          <a:ln w="50800" cap="flat" cmpd="sng">
            <a:solidFill>
              <a:schemeClr val="accent1"/>
            </a:solidFill>
            <a:prstDash val="solid"/>
            <a:round/>
            <a:headEnd type="none" w="med" len="med"/>
            <a:tailEnd type="triangle" w="med" len="med"/>
          </a:ln>
        </p:spPr>
      </p:sp>
      <p:sp>
        <p:nvSpPr>
          <p:cNvPr id="51258" name="直接连接符 304186"/>
          <p:cNvSpPr/>
          <p:nvPr/>
        </p:nvSpPr>
        <p:spPr>
          <a:xfrm flipV="1">
            <a:off x="3475038" y="4197350"/>
            <a:ext cx="188912" cy="207963"/>
          </a:xfrm>
          <a:prstGeom prst="line">
            <a:avLst/>
          </a:prstGeom>
          <a:ln w="12700" cap="flat" cmpd="sng">
            <a:solidFill>
              <a:schemeClr val="tx1"/>
            </a:solidFill>
            <a:prstDash val="solid"/>
            <a:round/>
            <a:headEnd type="none" w="med" len="med"/>
            <a:tailEnd type="none" w="med" len="med"/>
          </a:ln>
        </p:spPr>
      </p:sp>
      <p:sp>
        <p:nvSpPr>
          <p:cNvPr id="51259" name="矩形 304187"/>
          <p:cNvSpPr/>
          <p:nvPr/>
        </p:nvSpPr>
        <p:spPr>
          <a:xfrm>
            <a:off x="3313113" y="4051300"/>
            <a:ext cx="369887" cy="363538"/>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51260" name="矩形 304188"/>
          <p:cNvSpPr/>
          <p:nvPr/>
        </p:nvSpPr>
        <p:spPr>
          <a:xfrm>
            <a:off x="3155950" y="3822700"/>
            <a:ext cx="4222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51261" name="直接连接符 304189"/>
          <p:cNvSpPr/>
          <p:nvPr/>
        </p:nvSpPr>
        <p:spPr>
          <a:xfrm>
            <a:off x="4383088" y="3802063"/>
            <a:ext cx="0" cy="2032000"/>
          </a:xfrm>
          <a:prstGeom prst="line">
            <a:avLst/>
          </a:prstGeom>
          <a:ln w="25400" cap="flat" cmpd="sng">
            <a:solidFill>
              <a:schemeClr val="tx1"/>
            </a:solidFill>
            <a:prstDash val="solid"/>
            <a:round/>
            <a:headEnd type="none" w="med" len="med"/>
            <a:tailEnd type="triangle" w="med" len="med"/>
          </a:ln>
        </p:spPr>
      </p:sp>
      <p:sp>
        <p:nvSpPr>
          <p:cNvPr id="51262" name="直接连接符 304190"/>
          <p:cNvSpPr/>
          <p:nvPr/>
        </p:nvSpPr>
        <p:spPr>
          <a:xfrm flipV="1">
            <a:off x="4313238" y="4197350"/>
            <a:ext cx="188912" cy="207963"/>
          </a:xfrm>
          <a:prstGeom prst="line">
            <a:avLst/>
          </a:prstGeom>
          <a:ln w="12700" cap="flat" cmpd="sng">
            <a:solidFill>
              <a:schemeClr val="tx1"/>
            </a:solidFill>
            <a:prstDash val="solid"/>
            <a:round/>
            <a:headEnd type="none" w="med" len="med"/>
            <a:tailEnd type="none" w="med" len="med"/>
          </a:ln>
        </p:spPr>
      </p:sp>
      <p:sp>
        <p:nvSpPr>
          <p:cNvPr id="51263" name="矩形 304191"/>
          <p:cNvSpPr/>
          <p:nvPr/>
        </p:nvSpPr>
        <p:spPr>
          <a:xfrm>
            <a:off x="4011613" y="4051300"/>
            <a:ext cx="446087" cy="363538"/>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51264" name="矩形 304192"/>
          <p:cNvSpPr/>
          <p:nvPr/>
        </p:nvSpPr>
        <p:spPr>
          <a:xfrm>
            <a:off x="3790950" y="3797300"/>
            <a:ext cx="777875" cy="363538"/>
          </a:xfrm>
          <a:prstGeom prst="rect">
            <a:avLst/>
          </a:prstGeom>
          <a:noFill/>
          <a:ln w="12700">
            <a:noFill/>
          </a:ln>
        </p:spPr>
        <p:txBody>
          <a:bodyPr lIns="90488" tIns="44450" rIns="90488" bIns="44450" anchor="t" anchorCtr="0">
            <a:spAutoFit/>
          </a:bodyPr>
          <a:p>
            <a:r>
              <a:rPr lang="en-US" altLang="zh-CN" sz="1800" dirty="0" err="1">
                <a:latin typeface="Arial" panose="020B0604020202020204" pitchFamily="34" charset="0"/>
                <a:ea typeface="宋体" panose="02010600030101010101" pitchFamily="2" charset="-122"/>
              </a:rPr>
              <a:t>Imm</a:t>
            </a:r>
            <a:endParaRPr lang="en-US" altLang="zh-CN" sz="1800">
              <a:latin typeface="Arial" panose="020B0604020202020204" pitchFamily="34" charset="0"/>
              <a:ea typeface="宋体" panose="02010600030101010101" pitchFamily="2" charset="-122"/>
            </a:endParaRPr>
          </a:p>
        </p:txBody>
      </p:sp>
      <p:sp>
        <p:nvSpPr>
          <p:cNvPr id="304194" name="直接连接符 304193"/>
          <p:cNvSpPr/>
          <p:nvPr/>
        </p:nvSpPr>
        <p:spPr>
          <a:xfrm>
            <a:off x="3722688" y="4932363"/>
            <a:ext cx="1092200" cy="0"/>
          </a:xfrm>
          <a:prstGeom prst="line">
            <a:avLst/>
          </a:prstGeom>
          <a:ln w="50800" cap="flat" cmpd="sng">
            <a:solidFill>
              <a:schemeClr val="accent1"/>
            </a:solidFill>
            <a:prstDash val="solid"/>
            <a:round/>
            <a:headEnd type="none" w="med" len="med"/>
            <a:tailEnd type="triangle" w="med" len="med"/>
          </a:ln>
        </p:spPr>
      </p:sp>
      <p:sp>
        <p:nvSpPr>
          <p:cNvPr id="51266" name="直接连接符 304194"/>
          <p:cNvSpPr/>
          <p:nvPr/>
        </p:nvSpPr>
        <p:spPr>
          <a:xfrm>
            <a:off x="4154488" y="5859463"/>
            <a:ext cx="0" cy="279400"/>
          </a:xfrm>
          <a:prstGeom prst="line">
            <a:avLst/>
          </a:prstGeom>
          <a:ln w="25400" cap="flat" cmpd="sng">
            <a:solidFill>
              <a:schemeClr val="tx1"/>
            </a:solidFill>
            <a:prstDash val="solid"/>
            <a:round/>
            <a:headEnd type="none" w="med" len="med"/>
            <a:tailEnd type="none" w="med" len="med"/>
          </a:ln>
        </p:spPr>
      </p:sp>
      <p:sp>
        <p:nvSpPr>
          <p:cNvPr id="51267" name="直接连接符 304195"/>
          <p:cNvSpPr/>
          <p:nvPr/>
        </p:nvSpPr>
        <p:spPr>
          <a:xfrm>
            <a:off x="4167188" y="6151563"/>
            <a:ext cx="1270000" cy="0"/>
          </a:xfrm>
          <a:prstGeom prst="line">
            <a:avLst/>
          </a:prstGeom>
          <a:ln w="25400" cap="flat" cmpd="sng">
            <a:solidFill>
              <a:schemeClr val="tx1"/>
            </a:solidFill>
            <a:prstDash val="solid"/>
            <a:round/>
            <a:headEnd type="none" w="med" len="med"/>
            <a:tailEnd type="none" w="med" len="med"/>
          </a:ln>
        </p:spPr>
      </p:sp>
      <p:sp>
        <p:nvSpPr>
          <p:cNvPr id="51268" name="直接连接符 304196"/>
          <p:cNvSpPr/>
          <p:nvPr/>
        </p:nvSpPr>
        <p:spPr>
          <a:xfrm>
            <a:off x="5462588" y="5770563"/>
            <a:ext cx="1193800" cy="0"/>
          </a:xfrm>
          <a:prstGeom prst="line">
            <a:avLst/>
          </a:prstGeom>
          <a:ln w="25400" cap="flat" cmpd="sng">
            <a:solidFill>
              <a:schemeClr val="tx1"/>
            </a:solidFill>
            <a:prstDash val="solid"/>
            <a:round/>
            <a:headEnd type="none" w="med" len="med"/>
            <a:tailEnd type="triangle" w="med" len="med"/>
          </a:ln>
        </p:spPr>
      </p:sp>
      <p:sp>
        <p:nvSpPr>
          <p:cNvPr id="51269" name="直接连接符 304197"/>
          <p:cNvSpPr/>
          <p:nvPr/>
        </p:nvSpPr>
        <p:spPr>
          <a:xfrm>
            <a:off x="5449888" y="5783263"/>
            <a:ext cx="0" cy="355600"/>
          </a:xfrm>
          <a:prstGeom prst="line">
            <a:avLst/>
          </a:prstGeom>
          <a:ln w="25400" cap="flat" cmpd="sng">
            <a:solidFill>
              <a:schemeClr val="tx1"/>
            </a:solidFill>
            <a:prstDash val="solid"/>
            <a:round/>
            <a:headEnd type="none" w="med" len="med"/>
            <a:tailEnd type="none" w="med" len="med"/>
          </a:ln>
        </p:spPr>
      </p:sp>
      <p:sp>
        <p:nvSpPr>
          <p:cNvPr id="51270" name="直接连接符 304198"/>
          <p:cNvSpPr/>
          <p:nvPr/>
        </p:nvSpPr>
        <p:spPr>
          <a:xfrm flipH="1">
            <a:off x="4452938" y="6005513"/>
            <a:ext cx="165100" cy="215900"/>
          </a:xfrm>
          <a:prstGeom prst="line">
            <a:avLst/>
          </a:prstGeom>
          <a:ln w="12700" cap="flat" cmpd="sng">
            <a:solidFill>
              <a:schemeClr val="tx1"/>
            </a:solidFill>
            <a:prstDash val="solid"/>
            <a:round/>
            <a:headEnd type="none" w="med" len="med"/>
            <a:tailEnd type="none" w="med" len="med"/>
          </a:ln>
        </p:spPr>
      </p:sp>
      <p:sp>
        <p:nvSpPr>
          <p:cNvPr id="51271" name="矩形 304199"/>
          <p:cNvSpPr/>
          <p:nvPr/>
        </p:nvSpPr>
        <p:spPr>
          <a:xfrm>
            <a:off x="4292600" y="62277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51272" name="直接连接符 304200"/>
          <p:cNvSpPr/>
          <p:nvPr/>
        </p:nvSpPr>
        <p:spPr>
          <a:xfrm flipH="1">
            <a:off x="5443538" y="5091113"/>
            <a:ext cx="165100" cy="215900"/>
          </a:xfrm>
          <a:prstGeom prst="line">
            <a:avLst/>
          </a:prstGeom>
          <a:ln w="12700" cap="flat" cmpd="sng">
            <a:solidFill>
              <a:schemeClr val="tx1"/>
            </a:solidFill>
            <a:prstDash val="solid"/>
            <a:round/>
            <a:headEnd type="none" w="med" len="med"/>
            <a:tailEnd type="none" w="med" len="med"/>
          </a:ln>
        </p:spPr>
      </p:sp>
      <p:sp>
        <p:nvSpPr>
          <p:cNvPr id="51273" name="矩形 304201"/>
          <p:cNvSpPr/>
          <p:nvPr/>
        </p:nvSpPr>
        <p:spPr>
          <a:xfrm>
            <a:off x="5283200" y="47799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51274" name="直接连接符 304202"/>
          <p:cNvSpPr/>
          <p:nvPr/>
        </p:nvSpPr>
        <p:spPr>
          <a:xfrm flipH="1">
            <a:off x="3995738" y="4786313"/>
            <a:ext cx="165100" cy="215900"/>
          </a:xfrm>
          <a:prstGeom prst="line">
            <a:avLst/>
          </a:prstGeom>
          <a:ln w="12700" cap="flat" cmpd="sng">
            <a:solidFill>
              <a:schemeClr val="tx1"/>
            </a:solidFill>
            <a:prstDash val="solid"/>
            <a:round/>
            <a:headEnd type="none" w="med" len="med"/>
            <a:tailEnd type="none" w="med" len="med"/>
          </a:ln>
        </p:spPr>
      </p:sp>
      <p:sp>
        <p:nvSpPr>
          <p:cNvPr id="51275" name="矩形 304203"/>
          <p:cNvSpPr/>
          <p:nvPr/>
        </p:nvSpPr>
        <p:spPr>
          <a:xfrm>
            <a:off x="3835400" y="50085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304205" name="直接连接符 304204"/>
          <p:cNvSpPr/>
          <p:nvPr/>
        </p:nvSpPr>
        <p:spPr>
          <a:xfrm>
            <a:off x="7913688" y="5389563"/>
            <a:ext cx="892175" cy="0"/>
          </a:xfrm>
          <a:prstGeom prst="line">
            <a:avLst/>
          </a:prstGeom>
          <a:ln w="50800" cap="flat" cmpd="sng">
            <a:solidFill>
              <a:schemeClr val="accent1"/>
            </a:solidFill>
            <a:prstDash val="solid"/>
            <a:round/>
            <a:headEnd type="none" w="med" len="med"/>
            <a:tailEnd type="none" w="med" len="med"/>
          </a:ln>
        </p:spPr>
      </p:sp>
      <p:sp>
        <p:nvSpPr>
          <p:cNvPr id="304206" name="直接连接符 304205"/>
          <p:cNvSpPr/>
          <p:nvPr/>
        </p:nvSpPr>
        <p:spPr>
          <a:xfrm>
            <a:off x="8802688" y="5372100"/>
            <a:ext cx="0" cy="1211263"/>
          </a:xfrm>
          <a:prstGeom prst="line">
            <a:avLst/>
          </a:prstGeom>
          <a:ln w="50800" cap="flat" cmpd="sng">
            <a:solidFill>
              <a:schemeClr val="accent1"/>
            </a:solidFill>
            <a:prstDash val="solid"/>
            <a:round/>
            <a:headEnd type="none" w="med" len="med"/>
            <a:tailEnd type="none" w="med" len="med"/>
          </a:ln>
        </p:spPr>
      </p:sp>
      <p:sp>
        <p:nvSpPr>
          <p:cNvPr id="304207" name="直接连接符 304206"/>
          <p:cNvSpPr/>
          <p:nvPr/>
        </p:nvSpPr>
        <p:spPr>
          <a:xfrm flipH="1">
            <a:off x="1385888" y="6608763"/>
            <a:ext cx="7442200" cy="0"/>
          </a:xfrm>
          <a:prstGeom prst="line">
            <a:avLst/>
          </a:prstGeom>
          <a:ln w="50800" cap="flat" cmpd="sng">
            <a:solidFill>
              <a:schemeClr val="accent1"/>
            </a:solidFill>
            <a:prstDash val="solid"/>
            <a:round/>
            <a:headEnd type="none" w="med" len="med"/>
            <a:tailEnd type="none" w="med" len="med"/>
          </a:ln>
        </p:spPr>
      </p:sp>
      <p:sp>
        <p:nvSpPr>
          <p:cNvPr id="304208" name="直接连接符 304207"/>
          <p:cNvSpPr/>
          <p:nvPr/>
        </p:nvSpPr>
        <p:spPr>
          <a:xfrm>
            <a:off x="1411288" y="5294313"/>
            <a:ext cx="0" cy="1289050"/>
          </a:xfrm>
          <a:prstGeom prst="line">
            <a:avLst/>
          </a:prstGeom>
          <a:ln w="50800" cap="flat" cmpd="sng">
            <a:solidFill>
              <a:schemeClr val="accent1"/>
            </a:solidFill>
            <a:prstDash val="solid"/>
            <a:round/>
            <a:headEnd type="none" w="med" len="med"/>
            <a:tailEnd type="none" w="med" len="med"/>
          </a:ln>
        </p:spPr>
      </p:sp>
      <p:sp>
        <p:nvSpPr>
          <p:cNvPr id="304209" name="直接连接符 304208"/>
          <p:cNvSpPr/>
          <p:nvPr/>
        </p:nvSpPr>
        <p:spPr>
          <a:xfrm>
            <a:off x="1406525" y="5313363"/>
            <a:ext cx="969963" cy="0"/>
          </a:xfrm>
          <a:prstGeom prst="line">
            <a:avLst/>
          </a:prstGeom>
          <a:ln w="50800" cap="flat" cmpd="sng">
            <a:solidFill>
              <a:schemeClr val="accent1"/>
            </a:solidFill>
            <a:prstDash val="solid"/>
            <a:round/>
            <a:headEnd type="none" w="med" len="med"/>
            <a:tailEnd type="triangle" w="med" len="med"/>
          </a:ln>
        </p:spPr>
      </p:sp>
      <p:sp>
        <p:nvSpPr>
          <p:cNvPr id="51281" name="直接连接符 304209"/>
          <p:cNvSpPr/>
          <p:nvPr/>
        </p:nvSpPr>
        <p:spPr>
          <a:xfrm flipH="1">
            <a:off x="1785938" y="5167313"/>
            <a:ext cx="165100" cy="215900"/>
          </a:xfrm>
          <a:prstGeom prst="line">
            <a:avLst/>
          </a:prstGeom>
          <a:ln w="12700" cap="flat" cmpd="sng">
            <a:solidFill>
              <a:schemeClr val="tx1"/>
            </a:solidFill>
            <a:prstDash val="solid"/>
            <a:round/>
            <a:headEnd type="none" w="med" len="med"/>
            <a:tailEnd type="none" w="med" len="med"/>
          </a:ln>
        </p:spPr>
      </p:sp>
      <p:sp>
        <p:nvSpPr>
          <p:cNvPr id="51282" name="矩形 304210"/>
          <p:cNvSpPr/>
          <p:nvPr/>
        </p:nvSpPr>
        <p:spPr>
          <a:xfrm>
            <a:off x="1549400" y="49323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51283" name="直接连接符 304211"/>
          <p:cNvSpPr/>
          <p:nvPr/>
        </p:nvSpPr>
        <p:spPr>
          <a:xfrm>
            <a:off x="5678488" y="5249863"/>
            <a:ext cx="0" cy="1346200"/>
          </a:xfrm>
          <a:prstGeom prst="line">
            <a:avLst/>
          </a:prstGeom>
          <a:ln w="25400" cap="flat" cmpd="sng">
            <a:solidFill>
              <a:schemeClr val="tx1"/>
            </a:solidFill>
            <a:prstDash val="solid"/>
            <a:round/>
            <a:headEnd type="none" w="med" len="med"/>
            <a:tailEnd type="triangle" w="med" len="med"/>
          </a:ln>
        </p:spPr>
      </p:sp>
      <p:sp>
        <p:nvSpPr>
          <p:cNvPr id="51284" name="直接连接符 304212"/>
          <p:cNvSpPr/>
          <p:nvPr/>
        </p:nvSpPr>
        <p:spPr>
          <a:xfrm>
            <a:off x="3556000" y="3771900"/>
            <a:ext cx="812800" cy="0"/>
          </a:xfrm>
          <a:prstGeom prst="line">
            <a:avLst/>
          </a:prstGeom>
          <a:ln w="25400" cap="flat" cmpd="sng">
            <a:solidFill>
              <a:schemeClr val="tx1"/>
            </a:solidFill>
            <a:prstDash val="solid"/>
            <a:round/>
            <a:headEnd type="none" w="med" len="med"/>
            <a:tailEnd type="none" w="med" len="med"/>
          </a:ln>
        </p:spPr>
      </p:sp>
      <p:sp>
        <p:nvSpPr>
          <p:cNvPr id="304214" name="矩形 304213"/>
          <p:cNvSpPr/>
          <p:nvPr/>
        </p:nvSpPr>
        <p:spPr>
          <a:xfrm>
            <a:off x="4649788" y="2433638"/>
            <a:ext cx="4403725" cy="2286000"/>
          </a:xfrm>
          <a:prstGeom prst="rect">
            <a:avLst/>
          </a:prstGeom>
          <a:noFill/>
          <a:ln w="12700">
            <a:noFill/>
          </a:ln>
        </p:spPr>
        <p:txBody>
          <a:bodyPr wrap="none" lIns="90488" tIns="44450" rIns="90488" bIns="44450" anchor="t" anchorCtr="0">
            <a:spAutoFit/>
          </a:bodyPr>
          <a:p>
            <a:r>
              <a:rPr lang="en-US" altLang="zh-CN" sz="1800">
                <a:solidFill>
                  <a:schemeClr val="accent2"/>
                </a:solidFill>
                <a:latin typeface="Arial" panose="020B0604020202020204" pitchFamily="34" charset="0"/>
                <a:ea typeface="宋体" panose="02010600030101010101" pitchFamily="2" charset="-122"/>
              </a:rPr>
              <a:t>Critical Path (Load Operation) = </a:t>
            </a:r>
            <a:endParaRPr lang="en-US" altLang="zh-CN" sz="1800">
              <a:solidFill>
                <a:schemeClr val="accent2"/>
              </a:solidFill>
              <a:latin typeface="Arial" panose="020B0604020202020204" pitchFamily="34" charset="0"/>
              <a:ea typeface="宋体" panose="02010600030101010101" pitchFamily="2" charset="-122"/>
            </a:endParaRPr>
          </a:p>
          <a:p>
            <a:r>
              <a:rPr lang="en-US" altLang="zh-CN" sz="1800">
                <a:solidFill>
                  <a:schemeClr val="accent2"/>
                </a:solidFill>
                <a:latin typeface="Arial" panose="020B0604020202020204" pitchFamily="34" charset="0"/>
                <a:ea typeface="宋体" panose="02010600030101010101" pitchFamily="2" charset="-122"/>
              </a:rPr>
              <a:t>    PC’s prop time +</a:t>
            </a:r>
            <a:endParaRPr lang="en-US" altLang="zh-CN" sz="1800">
              <a:solidFill>
                <a:schemeClr val="accent2"/>
              </a:solidFill>
              <a:latin typeface="Arial" panose="020B0604020202020204" pitchFamily="34" charset="0"/>
              <a:ea typeface="宋体" panose="02010600030101010101" pitchFamily="2" charset="-122"/>
            </a:endParaRPr>
          </a:p>
          <a:p>
            <a:r>
              <a:rPr lang="en-US" altLang="zh-CN" sz="1800">
                <a:solidFill>
                  <a:schemeClr val="accent2"/>
                </a:solidFill>
                <a:latin typeface="Arial" panose="020B0604020202020204" pitchFamily="34" charset="0"/>
                <a:ea typeface="宋体" panose="02010600030101010101" pitchFamily="2" charset="-122"/>
              </a:rPr>
              <a:t>    Instruction Memory’s Access Time +</a:t>
            </a:r>
            <a:endParaRPr lang="en-US" altLang="zh-CN" sz="1800">
              <a:solidFill>
                <a:schemeClr val="accent2"/>
              </a:solidFill>
              <a:latin typeface="Arial" panose="020B0604020202020204" pitchFamily="34" charset="0"/>
              <a:ea typeface="宋体" panose="02010600030101010101" pitchFamily="2" charset="-122"/>
            </a:endParaRPr>
          </a:p>
          <a:p>
            <a:r>
              <a:rPr lang="en-US" altLang="zh-CN" sz="1800">
                <a:solidFill>
                  <a:schemeClr val="accent2"/>
                </a:solidFill>
                <a:latin typeface="Arial" panose="020B0604020202020204" pitchFamily="34" charset="0"/>
                <a:ea typeface="宋体" panose="02010600030101010101" pitchFamily="2" charset="-122"/>
              </a:rPr>
              <a:t>    Register File’s Access Time +</a:t>
            </a:r>
            <a:endParaRPr lang="en-US" altLang="zh-CN" sz="1800">
              <a:solidFill>
                <a:schemeClr val="accent2"/>
              </a:solidFill>
              <a:latin typeface="Arial" panose="020B0604020202020204" pitchFamily="34" charset="0"/>
              <a:ea typeface="宋体" panose="02010600030101010101" pitchFamily="2" charset="-122"/>
            </a:endParaRPr>
          </a:p>
          <a:p>
            <a:r>
              <a:rPr lang="en-US" altLang="zh-CN" sz="1800">
                <a:solidFill>
                  <a:schemeClr val="accent2"/>
                </a:solidFill>
                <a:latin typeface="Arial" panose="020B0604020202020204" pitchFamily="34" charset="0"/>
                <a:ea typeface="宋体" panose="02010600030101010101" pitchFamily="2" charset="-122"/>
              </a:rPr>
              <a:t>    ALU to Perform a 32-bit Add +</a:t>
            </a:r>
            <a:endParaRPr lang="en-US" altLang="zh-CN" sz="1800">
              <a:solidFill>
                <a:schemeClr val="accent2"/>
              </a:solidFill>
              <a:latin typeface="Arial" panose="020B0604020202020204" pitchFamily="34" charset="0"/>
              <a:ea typeface="宋体" panose="02010600030101010101" pitchFamily="2" charset="-122"/>
            </a:endParaRPr>
          </a:p>
          <a:p>
            <a:r>
              <a:rPr lang="en-US" altLang="zh-CN" sz="1800">
                <a:solidFill>
                  <a:schemeClr val="accent2"/>
                </a:solidFill>
                <a:latin typeface="Arial" panose="020B0604020202020204" pitchFamily="34" charset="0"/>
                <a:ea typeface="宋体" panose="02010600030101010101" pitchFamily="2" charset="-122"/>
              </a:rPr>
              <a:t>    Data Memory Access Time +</a:t>
            </a:r>
            <a:endParaRPr lang="en-US" altLang="zh-CN" sz="1800">
              <a:solidFill>
                <a:schemeClr val="accent2"/>
              </a:solidFill>
              <a:latin typeface="Arial" panose="020B0604020202020204" pitchFamily="34" charset="0"/>
              <a:ea typeface="宋体" panose="02010600030101010101" pitchFamily="2" charset="-122"/>
            </a:endParaRPr>
          </a:p>
          <a:p>
            <a:r>
              <a:rPr lang="en-US" altLang="zh-CN" sz="1800">
                <a:solidFill>
                  <a:schemeClr val="accent2"/>
                </a:solidFill>
                <a:latin typeface="Arial" panose="020B0604020202020204" pitchFamily="34" charset="0"/>
                <a:ea typeface="宋体" panose="02010600030101010101" pitchFamily="2" charset="-122"/>
              </a:rPr>
              <a:t>    Setup Time for Register File Write +</a:t>
            </a:r>
            <a:endParaRPr lang="en-US" altLang="zh-CN" sz="1800">
              <a:solidFill>
                <a:schemeClr val="accent2"/>
              </a:solidFill>
              <a:latin typeface="Arial" panose="020B0604020202020204" pitchFamily="34" charset="0"/>
              <a:ea typeface="宋体" panose="02010600030101010101" pitchFamily="2" charset="-122"/>
            </a:endParaRPr>
          </a:p>
          <a:p>
            <a:r>
              <a:rPr lang="en-US" altLang="zh-CN" sz="1800">
                <a:solidFill>
                  <a:schemeClr val="accent2"/>
                </a:solidFill>
                <a:latin typeface="Arial" panose="020B0604020202020204" pitchFamily="34" charset="0"/>
                <a:ea typeface="宋体" panose="02010600030101010101" pitchFamily="2" charset="-122"/>
              </a:rPr>
              <a:t>    Clock Skew</a:t>
            </a:r>
            <a:endParaRPr lang="en-US" altLang="zh-CN" sz="1800">
              <a:solidFill>
                <a:schemeClr val="accent2"/>
              </a:solidFill>
              <a:latin typeface="Arial" panose="020B0604020202020204" pitchFamily="34" charset="0"/>
              <a:ea typeface="宋体" panose="02010600030101010101" pitchFamily="2" charset="-122"/>
            </a:endParaRPr>
          </a:p>
        </p:txBody>
      </p:sp>
      <p:sp>
        <p:nvSpPr>
          <p:cNvPr id="304215" name="文本框 304214"/>
          <p:cNvSpPr txBox="1"/>
          <p:nvPr/>
        </p:nvSpPr>
        <p:spPr>
          <a:xfrm>
            <a:off x="5873750" y="636588"/>
            <a:ext cx="2914650" cy="641350"/>
          </a:xfrm>
          <a:prstGeom prst="rect">
            <a:avLst/>
          </a:prstGeom>
          <a:noFill/>
          <a:ln w="50800">
            <a:noFill/>
          </a:ln>
        </p:spPr>
        <p:txBody>
          <a:bodyPr anchor="t" anchorCtr="0">
            <a:spAutoFit/>
          </a:bodyPr>
          <a:p>
            <a:pPr>
              <a:spcBef>
                <a:spcPct val="20000"/>
              </a:spcBef>
            </a:pPr>
            <a:r>
              <a:rPr lang="en-US" altLang="zh-CN" sz="1800">
                <a:solidFill>
                  <a:srgbClr val="006600"/>
                </a:solidFill>
                <a:latin typeface="Arial" panose="020B0604020202020204" pitchFamily="34" charset="0"/>
                <a:ea typeface="宋体" panose="02010600030101010101" pitchFamily="2" charset="-122"/>
              </a:rPr>
              <a:t>Load</a:t>
            </a:r>
            <a:r>
              <a:rPr lang="zh-CN" altLang="en-US" sz="1800" dirty="0">
                <a:solidFill>
                  <a:srgbClr val="006600"/>
                </a:solidFill>
                <a:latin typeface="Arial" panose="020B0604020202020204" pitchFamily="34" charset="0"/>
                <a:ea typeface="宋体" panose="02010600030101010101" pitchFamily="2" charset="-122"/>
              </a:rPr>
              <a:t>操作：</a:t>
            </a:r>
            <a:endParaRPr lang="en-US" altLang="zh-CN" sz="1800">
              <a:solidFill>
                <a:srgbClr val="006600"/>
              </a:solidFill>
              <a:latin typeface="Arial" panose="020B0604020202020204" pitchFamily="34" charset="0"/>
              <a:ea typeface="宋体" panose="02010600030101010101" pitchFamily="2" charset="-122"/>
            </a:endParaRPr>
          </a:p>
          <a:p>
            <a:r>
              <a:rPr lang="en-US" altLang="zh-CN" sz="1800" dirty="0" err="1">
                <a:solidFill>
                  <a:srgbClr val="006600"/>
                </a:solidFill>
                <a:latin typeface="Arial" panose="020B0604020202020204" pitchFamily="34" charset="0"/>
                <a:ea typeface="宋体" panose="02010600030101010101" pitchFamily="2" charset="-122"/>
              </a:rPr>
              <a:t>R[Rt</a:t>
            </a:r>
            <a:r>
              <a:rPr lang="en-US" altLang="zh-CN" sz="1800">
                <a:solidFill>
                  <a:srgbClr val="006600"/>
                </a:solidFill>
                <a:latin typeface="Arial" panose="020B0604020202020204" pitchFamily="34" charset="0"/>
                <a:ea typeface="宋体" panose="02010600030101010101" pitchFamily="2" charset="-122"/>
              </a:rPr>
              <a:t>] ← M[R[Rs]+Imm16]</a:t>
            </a:r>
            <a:endParaRPr lang="en-US" altLang="en-US" sz="1800">
              <a:solidFill>
                <a:srgbClr val="006600"/>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4131">
                                            <p:txEl>
                                              <p:charRg st="19" end="36"/>
                                            </p:txEl>
                                          </p:spTgt>
                                        </p:tgtEl>
                                        <p:attrNameLst>
                                          <p:attrName>style.visibility</p:attrName>
                                        </p:attrNameLst>
                                      </p:cBhvr>
                                      <p:to>
                                        <p:strVal val="visible"/>
                                      </p:to>
                                    </p:set>
                                    <p:animEffect transition="in" filter="blinds(horizontal)">
                                      <p:cBhvr>
                                        <p:cTn id="7" dur="500"/>
                                        <p:tgtEl>
                                          <p:spTgt spid="304131">
                                            <p:txEl>
                                              <p:charRg st="19" end="3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04131">
                                            <p:txEl>
                                              <p:charRg st="36" end="76"/>
                                            </p:txEl>
                                          </p:spTgt>
                                        </p:tgtEl>
                                        <p:attrNameLst>
                                          <p:attrName>style.visibility</p:attrName>
                                        </p:attrNameLst>
                                      </p:cBhvr>
                                      <p:to>
                                        <p:strVal val="visible"/>
                                      </p:to>
                                    </p:set>
                                    <p:animEffect transition="in" filter="blinds(horizontal)">
                                      <p:cBhvr>
                                        <p:cTn id="10" dur="500"/>
                                        <p:tgtEl>
                                          <p:spTgt spid="304131">
                                            <p:txEl>
                                              <p:charRg st="36" end="7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04131">
                                            <p:txEl>
                                              <p:charRg st="76" end="93"/>
                                            </p:txEl>
                                          </p:spTgt>
                                        </p:tgtEl>
                                        <p:attrNameLst>
                                          <p:attrName>style.visibility</p:attrName>
                                        </p:attrNameLst>
                                      </p:cBhvr>
                                      <p:to>
                                        <p:strVal val="visible"/>
                                      </p:to>
                                    </p:set>
                                    <p:animEffect transition="in" filter="blinds(horizontal)">
                                      <p:cBhvr>
                                        <p:cTn id="15" dur="500"/>
                                        <p:tgtEl>
                                          <p:spTgt spid="304131">
                                            <p:txEl>
                                              <p:charRg st="76" end="9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04131">
                                            <p:txEl>
                                              <p:charRg st="93" end="122"/>
                                            </p:txEl>
                                          </p:spTgt>
                                        </p:tgtEl>
                                        <p:attrNameLst>
                                          <p:attrName>style.visibility</p:attrName>
                                        </p:attrNameLst>
                                      </p:cBhvr>
                                      <p:to>
                                        <p:strVal val="visible"/>
                                      </p:to>
                                    </p:set>
                                    <p:animEffect transition="in" filter="blinds(horizontal)">
                                      <p:cBhvr>
                                        <p:cTn id="18" dur="500"/>
                                        <p:tgtEl>
                                          <p:spTgt spid="304131">
                                            <p:txEl>
                                              <p:charRg st="93" end="12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04215"/>
                                        </p:tgtEl>
                                        <p:attrNameLst>
                                          <p:attrName>style.visibility</p:attrName>
                                        </p:attrNameLst>
                                      </p:cBhvr>
                                      <p:to>
                                        <p:strVal val="visible"/>
                                      </p:to>
                                    </p:set>
                                    <p:animEffect transition="in" filter="blinds(horizontal)">
                                      <p:cBhvr>
                                        <p:cTn id="23" dur="500"/>
                                        <p:tgtEl>
                                          <p:spTgt spid="304215"/>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1" fill="hold" nodeType="clickEffect">
                                  <p:stCondLst>
                                    <p:cond delay="0"/>
                                  </p:stCondLst>
                                  <p:childTnLst>
                                    <p:set>
                                      <p:cBhvr>
                                        <p:cTn id="27" dur="1" fill="hold">
                                          <p:stCondLst>
                                            <p:cond delay="0"/>
                                          </p:stCondLst>
                                        </p:cTn>
                                        <p:tgtEl>
                                          <p:spTgt spid="304172"/>
                                        </p:tgtEl>
                                        <p:attrNameLst>
                                          <p:attrName>style.visibility</p:attrName>
                                        </p:attrNameLst>
                                      </p:cBhvr>
                                      <p:to>
                                        <p:strVal val="visible"/>
                                      </p:to>
                                    </p:set>
                                    <p:animEffect transition="in" filter="slide(fromTop)">
                                      <p:cBhvr>
                                        <p:cTn id="28" dur="500"/>
                                        <p:tgtEl>
                                          <p:spTgt spid="304172"/>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1" fill="hold" nodeType="clickEffect">
                                  <p:stCondLst>
                                    <p:cond delay="0"/>
                                  </p:stCondLst>
                                  <p:childTnLst>
                                    <p:set>
                                      <p:cBhvr>
                                        <p:cTn id="32" dur="1" fill="hold">
                                          <p:stCondLst>
                                            <p:cond delay="0"/>
                                          </p:stCondLst>
                                        </p:cTn>
                                        <p:tgtEl>
                                          <p:spTgt spid="304171"/>
                                        </p:tgtEl>
                                        <p:attrNameLst>
                                          <p:attrName>style.visibility</p:attrName>
                                        </p:attrNameLst>
                                      </p:cBhvr>
                                      <p:to>
                                        <p:strVal val="visible"/>
                                      </p:to>
                                    </p:set>
                                    <p:animEffect transition="in" filter="slide(fromTop)">
                                      <p:cBhvr>
                                        <p:cTn id="33" dur="500"/>
                                        <p:tgtEl>
                                          <p:spTgt spid="304171"/>
                                        </p:tgtEl>
                                      </p:cBhvr>
                                    </p:animEffect>
                                  </p:childTnLst>
                                </p:cTn>
                              </p:par>
                              <p:par>
                                <p:cTn id="34" presetID="12" presetClass="entr" presetSubtype="1" fill="hold" nodeType="withEffect">
                                  <p:stCondLst>
                                    <p:cond delay="0"/>
                                  </p:stCondLst>
                                  <p:childTnLst>
                                    <p:set>
                                      <p:cBhvr>
                                        <p:cTn id="35" dur="1" fill="hold">
                                          <p:stCondLst>
                                            <p:cond delay="0"/>
                                          </p:stCondLst>
                                        </p:cTn>
                                        <p:tgtEl>
                                          <p:spTgt spid="304139"/>
                                        </p:tgtEl>
                                        <p:attrNameLst>
                                          <p:attrName>style.visibility</p:attrName>
                                        </p:attrNameLst>
                                      </p:cBhvr>
                                      <p:to>
                                        <p:strVal val="visible"/>
                                      </p:to>
                                    </p:set>
                                    <p:animEffect transition="in" filter="slide(fromTop)">
                                      <p:cBhvr>
                                        <p:cTn id="36" dur="500"/>
                                        <p:tgtEl>
                                          <p:spTgt spid="304139"/>
                                        </p:tgtEl>
                                      </p:cBhvr>
                                    </p:animEffect>
                                  </p:childTnLst>
                                </p:cTn>
                              </p:par>
                              <p:par>
                                <p:cTn id="37" presetID="12" presetClass="entr" presetSubtype="1" fill="hold" nodeType="withEffect">
                                  <p:stCondLst>
                                    <p:cond delay="0"/>
                                  </p:stCondLst>
                                  <p:childTnLst>
                                    <p:set>
                                      <p:cBhvr>
                                        <p:cTn id="38" dur="1" fill="hold">
                                          <p:stCondLst>
                                            <p:cond delay="0"/>
                                          </p:stCondLst>
                                        </p:cTn>
                                        <p:tgtEl>
                                          <p:spTgt spid="304182"/>
                                        </p:tgtEl>
                                        <p:attrNameLst>
                                          <p:attrName>style.visibility</p:attrName>
                                        </p:attrNameLst>
                                      </p:cBhvr>
                                      <p:to>
                                        <p:strVal val="visible"/>
                                      </p:to>
                                    </p:set>
                                    <p:animEffect transition="in" filter="slide(fromTop)">
                                      <p:cBhvr>
                                        <p:cTn id="39" dur="500"/>
                                        <p:tgtEl>
                                          <p:spTgt spid="304182"/>
                                        </p:tgtEl>
                                      </p:cBhvr>
                                    </p:animEffect>
                                  </p:childTnLst>
                                </p:cTn>
                              </p:par>
                              <p:par>
                                <p:cTn id="40" presetID="12" presetClass="entr" presetSubtype="1" fill="hold" nodeType="withEffect">
                                  <p:stCondLst>
                                    <p:cond delay="0"/>
                                  </p:stCondLst>
                                  <p:childTnLst>
                                    <p:set>
                                      <p:cBhvr>
                                        <p:cTn id="41" dur="1" fill="hold">
                                          <p:stCondLst>
                                            <p:cond delay="0"/>
                                          </p:stCondLst>
                                        </p:cTn>
                                        <p:tgtEl>
                                          <p:spTgt spid="304186"/>
                                        </p:tgtEl>
                                        <p:attrNameLst>
                                          <p:attrName>style.visibility</p:attrName>
                                        </p:attrNameLst>
                                      </p:cBhvr>
                                      <p:to>
                                        <p:strVal val="visible"/>
                                      </p:to>
                                    </p:set>
                                    <p:animEffect transition="in" filter="slide(fromTop)">
                                      <p:cBhvr>
                                        <p:cTn id="42" dur="500"/>
                                        <p:tgtEl>
                                          <p:spTgt spid="304186"/>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nodeType="clickEffect">
                                  <p:stCondLst>
                                    <p:cond delay="0"/>
                                  </p:stCondLst>
                                  <p:childTnLst>
                                    <p:set>
                                      <p:cBhvr>
                                        <p:cTn id="46" dur="1" fill="hold">
                                          <p:stCondLst>
                                            <p:cond delay="0"/>
                                          </p:stCondLst>
                                        </p:cTn>
                                        <p:tgtEl>
                                          <p:spTgt spid="304194"/>
                                        </p:tgtEl>
                                        <p:attrNameLst>
                                          <p:attrName>style.visibility</p:attrName>
                                        </p:attrNameLst>
                                      </p:cBhvr>
                                      <p:to>
                                        <p:strVal val="visible"/>
                                      </p:to>
                                    </p:set>
                                    <p:animEffect transition="in" filter="slide(fromLeft)">
                                      <p:cBhvr>
                                        <p:cTn id="47" dur="500"/>
                                        <p:tgtEl>
                                          <p:spTgt spid="304194"/>
                                        </p:tgtEl>
                                      </p:cBhvr>
                                    </p:animEffect>
                                  </p:childTnLst>
                                </p:cTn>
                              </p:par>
                              <p:par>
                                <p:cTn id="48" presetID="12" presetClass="entr" presetSubtype="8" fill="hold" nodeType="withEffect">
                                  <p:stCondLst>
                                    <p:cond delay="0"/>
                                  </p:stCondLst>
                                  <p:childTnLst>
                                    <p:set>
                                      <p:cBhvr>
                                        <p:cTn id="49" dur="1" fill="hold">
                                          <p:stCondLst>
                                            <p:cond delay="0"/>
                                          </p:stCondLst>
                                        </p:cTn>
                                        <p:tgtEl>
                                          <p:spTgt spid="304132"/>
                                        </p:tgtEl>
                                        <p:attrNameLst>
                                          <p:attrName>style.visibility</p:attrName>
                                        </p:attrNameLst>
                                      </p:cBhvr>
                                      <p:to>
                                        <p:strVal val="visible"/>
                                      </p:to>
                                    </p:set>
                                    <p:animEffect transition="in" filter="slide(fromLeft)">
                                      <p:cBhvr>
                                        <p:cTn id="50" dur="500"/>
                                        <p:tgtEl>
                                          <p:spTgt spid="304132"/>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nodeType="clickEffect">
                                  <p:stCondLst>
                                    <p:cond delay="0"/>
                                  </p:stCondLst>
                                  <p:childTnLst>
                                    <p:set>
                                      <p:cBhvr>
                                        <p:cTn id="54" dur="1" fill="hold">
                                          <p:stCondLst>
                                            <p:cond delay="0"/>
                                          </p:stCondLst>
                                        </p:cTn>
                                        <p:tgtEl>
                                          <p:spTgt spid="304166"/>
                                        </p:tgtEl>
                                        <p:attrNameLst>
                                          <p:attrName>style.visibility</p:attrName>
                                        </p:attrNameLst>
                                      </p:cBhvr>
                                      <p:to>
                                        <p:strVal val="visible"/>
                                      </p:to>
                                    </p:set>
                                    <p:animEffect transition="in" filter="slide(fromLeft)">
                                      <p:cBhvr>
                                        <p:cTn id="55" dur="500"/>
                                        <p:tgtEl>
                                          <p:spTgt spid="304166"/>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8" fill="hold" nodeType="clickEffect">
                                  <p:stCondLst>
                                    <p:cond delay="0"/>
                                  </p:stCondLst>
                                  <p:childTnLst>
                                    <p:set>
                                      <p:cBhvr>
                                        <p:cTn id="59" dur="1" fill="hold">
                                          <p:stCondLst>
                                            <p:cond delay="0"/>
                                          </p:stCondLst>
                                        </p:cTn>
                                        <p:tgtEl>
                                          <p:spTgt spid="304205"/>
                                        </p:tgtEl>
                                        <p:attrNameLst>
                                          <p:attrName>style.visibility</p:attrName>
                                        </p:attrNameLst>
                                      </p:cBhvr>
                                      <p:to>
                                        <p:strVal val="visible"/>
                                      </p:to>
                                    </p:set>
                                    <p:animEffect transition="in" filter="slide(fromLeft)">
                                      <p:cBhvr>
                                        <p:cTn id="60" dur="500"/>
                                        <p:tgtEl>
                                          <p:spTgt spid="304205"/>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1" fill="hold" nodeType="clickEffect">
                                  <p:stCondLst>
                                    <p:cond delay="0"/>
                                  </p:stCondLst>
                                  <p:childTnLst>
                                    <p:set>
                                      <p:cBhvr>
                                        <p:cTn id="64" dur="1" fill="hold">
                                          <p:stCondLst>
                                            <p:cond delay="0"/>
                                          </p:stCondLst>
                                        </p:cTn>
                                        <p:tgtEl>
                                          <p:spTgt spid="304206"/>
                                        </p:tgtEl>
                                        <p:attrNameLst>
                                          <p:attrName>style.visibility</p:attrName>
                                        </p:attrNameLst>
                                      </p:cBhvr>
                                      <p:to>
                                        <p:strVal val="visible"/>
                                      </p:to>
                                    </p:set>
                                    <p:animEffect transition="in" filter="slide(fromTop)">
                                      <p:cBhvr>
                                        <p:cTn id="65" dur="500"/>
                                        <p:tgtEl>
                                          <p:spTgt spid="304206"/>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2" fill="hold" nodeType="clickEffect">
                                  <p:stCondLst>
                                    <p:cond delay="0"/>
                                  </p:stCondLst>
                                  <p:childTnLst>
                                    <p:set>
                                      <p:cBhvr>
                                        <p:cTn id="69" dur="1" fill="hold">
                                          <p:stCondLst>
                                            <p:cond delay="0"/>
                                          </p:stCondLst>
                                        </p:cTn>
                                        <p:tgtEl>
                                          <p:spTgt spid="304207"/>
                                        </p:tgtEl>
                                        <p:attrNameLst>
                                          <p:attrName>style.visibility</p:attrName>
                                        </p:attrNameLst>
                                      </p:cBhvr>
                                      <p:to>
                                        <p:strVal val="visible"/>
                                      </p:to>
                                    </p:set>
                                    <p:animEffect transition="in" filter="slide(fromRight)">
                                      <p:cBhvr>
                                        <p:cTn id="70" dur="500"/>
                                        <p:tgtEl>
                                          <p:spTgt spid="304207"/>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4" fill="hold" nodeType="clickEffect">
                                  <p:stCondLst>
                                    <p:cond delay="0"/>
                                  </p:stCondLst>
                                  <p:childTnLst>
                                    <p:set>
                                      <p:cBhvr>
                                        <p:cTn id="74" dur="1" fill="hold">
                                          <p:stCondLst>
                                            <p:cond delay="0"/>
                                          </p:stCondLst>
                                        </p:cTn>
                                        <p:tgtEl>
                                          <p:spTgt spid="304208"/>
                                        </p:tgtEl>
                                        <p:attrNameLst>
                                          <p:attrName>style.visibility</p:attrName>
                                        </p:attrNameLst>
                                      </p:cBhvr>
                                      <p:to>
                                        <p:strVal val="visible"/>
                                      </p:to>
                                    </p:set>
                                    <p:animEffect transition="in" filter="slide(fromBottom)">
                                      <p:cBhvr>
                                        <p:cTn id="75" dur="500"/>
                                        <p:tgtEl>
                                          <p:spTgt spid="304208"/>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8" fill="hold" nodeType="clickEffect">
                                  <p:stCondLst>
                                    <p:cond delay="0"/>
                                  </p:stCondLst>
                                  <p:childTnLst>
                                    <p:set>
                                      <p:cBhvr>
                                        <p:cTn id="79" dur="1" fill="hold">
                                          <p:stCondLst>
                                            <p:cond delay="0"/>
                                          </p:stCondLst>
                                        </p:cTn>
                                        <p:tgtEl>
                                          <p:spTgt spid="304209"/>
                                        </p:tgtEl>
                                        <p:attrNameLst>
                                          <p:attrName>style.visibility</p:attrName>
                                        </p:attrNameLst>
                                      </p:cBhvr>
                                      <p:to>
                                        <p:strVal val="visible"/>
                                      </p:to>
                                    </p:set>
                                    <p:animEffect transition="in" filter="slide(fromLeft)">
                                      <p:cBhvr>
                                        <p:cTn id="80" dur="500"/>
                                        <p:tgtEl>
                                          <p:spTgt spid="304209"/>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04214"/>
                                        </p:tgtEl>
                                        <p:attrNameLst>
                                          <p:attrName>style.visibility</p:attrName>
                                        </p:attrNameLst>
                                      </p:cBhvr>
                                      <p:to>
                                        <p:strVal val="visible"/>
                                      </p:to>
                                    </p:set>
                                    <p:animEffect transition="in" filter="blinds(horizontal)">
                                      <p:cBhvr>
                                        <p:cTn id="85" dur="500"/>
                                        <p:tgtEl>
                                          <p:spTgt spid="304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214" grpId="0"/>
      <p:bldP spid="304215"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标题 1"/>
          <p:cNvSpPr>
            <a:spLocks noGrp="1"/>
          </p:cNvSpPr>
          <p:nvPr>
            <p:ph type="title"/>
          </p:nvPr>
        </p:nvSpPr>
        <p:spPr>
          <a:xfrm>
            <a:off x="168275" y="2339975"/>
            <a:ext cx="8807450" cy="531813"/>
          </a:xfrm>
          <a:ln/>
        </p:spPr>
        <p:txBody>
          <a:bodyPr lIns="63500" tIns="25400" rIns="63500" bIns="25400" anchor="t" anchorCtr="0">
            <a:spAutoFit/>
          </a:bodyPr>
          <a:p>
            <a:r>
              <a:rPr lang="zh-CN" altLang="en-US"/>
              <a:t>第二节</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196609"/>
          <p:cNvSpPr>
            <a:spLocks noGrp="1"/>
          </p:cNvSpPr>
          <p:nvPr>
            <p:ph type="title"/>
          </p:nvPr>
        </p:nvSpPr>
        <p:spPr>
          <a:xfrm>
            <a:off x="800100" y="114300"/>
            <a:ext cx="7642225" cy="422275"/>
          </a:xfrm>
          <a:ln/>
        </p:spPr>
        <p:txBody>
          <a:bodyPr vert="horz" wrap="square" lIns="63500" tIns="25400" rIns="63500" bIns="25400" anchor="t" anchorCtr="0">
            <a:spAutoFit/>
          </a:bodyPr>
          <a:p>
            <a:r>
              <a:rPr lang="zh-CN" altLang="en-US" dirty="0">
                <a:ea typeface="宋体" panose="02010600030101010101" pitchFamily="2" charset="-122"/>
              </a:rPr>
              <a:t>加法和减法指令</a:t>
            </a:r>
            <a:r>
              <a:rPr lang="en-US" altLang="zh-CN">
                <a:ea typeface="宋体" panose="02010600030101010101" pitchFamily="2" charset="-122"/>
              </a:rPr>
              <a:t>(R-type</a:t>
            </a:r>
            <a:r>
              <a:rPr lang="zh-CN" altLang="en-US" dirty="0">
                <a:ea typeface="宋体" panose="02010600030101010101" pitchFamily="2" charset="-122"/>
              </a:rPr>
              <a:t>类型）</a:t>
            </a:r>
            <a:endParaRPr lang="zh-CN" altLang="en-US" dirty="0">
              <a:ea typeface="宋体" panose="02010600030101010101" pitchFamily="2" charset="-122"/>
            </a:endParaRPr>
          </a:p>
        </p:txBody>
      </p:sp>
      <p:sp>
        <p:nvSpPr>
          <p:cNvPr id="54274" name="文本占位符 196610"/>
          <p:cNvSpPr>
            <a:spLocks noGrp="1"/>
          </p:cNvSpPr>
          <p:nvPr>
            <p:ph idx="1"/>
          </p:nvPr>
        </p:nvSpPr>
        <p:spPr>
          <a:xfrm>
            <a:off x="423863" y="901700"/>
            <a:ext cx="3170237" cy="4783138"/>
          </a:xfrm>
          <a:ln/>
        </p:spPr>
        <p:txBody>
          <a:bodyPr vert="horz" wrap="square" lIns="63500" tIns="25400" rIns="63500" bIns="25400" anchor="t" anchorCtr="0">
            <a:spAutoFit/>
          </a:bodyPr>
          <a:p>
            <a:pPr>
              <a:buNone/>
            </a:pPr>
            <a:r>
              <a:rPr lang="zh-CN" altLang="en-US" dirty="0">
                <a:solidFill>
                  <a:srgbClr val="339933"/>
                </a:solidFill>
                <a:ea typeface="宋体" panose="02010600030101010101" pitchFamily="2" charset="-122"/>
              </a:rPr>
              <a:t>实现目标（</a:t>
            </a:r>
            <a:r>
              <a:rPr lang="en-US" altLang="zh-CN">
                <a:solidFill>
                  <a:srgbClr val="339933"/>
                </a:solidFill>
                <a:ea typeface="宋体" panose="02010600030101010101" pitchFamily="2" charset="-122"/>
              </a:rPr>
              <a:t>7</a:t>
            </a:r>
            <a:r>
              <a:rPr lang="zh-CN" altLang="en-US" dirty="0">
                <a:solidFill>
                  <a:srgbClr val="339933"/>
                </a:solidFill>
                <a:ea typeface="宋体" panose="02010600030101010101" pitchFamily="2" charset="-122"/>
              </a:rPr>
              <a:t>条指令）：</a:t>
            </a:r>
            <a:endParaRPr lang="zh-CN" altLang="en-US" dirty="0">
              <a:solidFill>
                <a:srgbClr val="339933"/>
              </a:solidFill>
              <a:ea typeface="宋体" panose="02010600030101010101" pitchFamily="2" charset="-122"/>
            </a:endParaRPr>
          </a:p>
          <a:p>
            <a:r>
              <a:rPr lang="en-US" altLang="zh-CN">
                <a:ea typeface="宋体" panose="02010600030101010101" pitchFamily="2" charset="-122"/>
              </a:rPr>
              <a:t>ADD and subtract</a:t>
            </a:r>
            <a:endParaRPr lang="en-US" altLang="zh-CN">
              <a:ea typeface="宋体" panose="02010600030101010101" pitchFamily="2" charset="-122"/>
            </a:endParaRPr>
          </a:p>
          <a:p>
            <a:pPr lvl="1"/>
            <a:r>
              <a:rPr lang="en-US" altLang="zh-CN">
                <a:ea typeface="宋体" panose="02010600030101010101" pitchFamily="2" charset="-122"/>
              </a:rPr>
              <a:t>add rd,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endParaRPr lang="en-US" altLang="zh-CN">
              <a:ea typeface="宋体" panose="02010600030101010101" pitchFamily="2" charset="-122"/>
            </a:endParaRPr>
          </a:p>
          <a:p>
            <a:pPr lvl="1"/>
            <a:r>
              <a:rPr lang="en-US" altLang="zh-CN">
                <a:ea typeface="宋体" panose="02010600030101010101" pitchFamily="2" charset="-122"/>
              </a:rPr>
              <a:t>sub rd,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endParaRPr lang="en-US" altLang="zh-CN">
              <a:ea typeface="宋体" panose="02010600030101010101" pitchFamily="2" charset="-122"/>
            </a:endParaRPr>
          </a:p>
          <a:p>
            <a:r>
              <a:rPr lang="en-US" altLang="zh-CN">
                <a:ea typeface="宋体" panose="02010600030101010101" pitchFamily="2" charset="-122"/>
              </a:rPr>
              <a:t>OR Immediate:</a:t>
            </a:r>
            <a:endParaRPr lang="en-US" altLang="zh-CN">
              <a:ea typeface="宋体" panose="02010600030101010101" pitchFamily="2" charset="-122"/>
            </a:endParaRPr>
          </a:p>
          <a:p>
            <a:pPr lvl="1"/>
            <a:r>
              <a:rPr lang="en-US" altLang="zh-CN" dirty="0" err="1">
                <a:ea typeface="宋体" panose="02010600030101010101" pitchFamily="2" charset="-122"/>
              </a:rPr>
              <a:t>ori</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LOAD and STORE</a:t>
            </a:r>
            <a:endParaRPr lang="en-US" altLang="zh-CN">
              <a:ea typeface="宋体" panose="02010600030101010101" pitchFamily="2" charset="-122"/>
            </a:endParaRPr>
          </a:p>
          <a:p>
            <a:pPr lvl="1"/>
            <a:r>
              <a:rPr lang="en-US" altLang="zh-CN" dirty="0" err="1">
                <a:ea typeface="宋体" panose="02010600030101010101" pitchFamily="2" charset="-122"/>
              </a:rPr>
              <a:t>lw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lvl="1"/>
            <a:r>
              <a:rPr lang="en-US" altLang="zh-CN" dirty="0" err="1">
                <a:ea typeface="宋体" panose="02010600030101010101" pitchFamily="2" charset="-122"/>
              </a:rPr>
              <a:t>sw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BRANCH:</a:t>
            </a:r>
            <a:endParaRPr lang="en-US" altLang="zh-CN">
              <a:ea typeface="宋体" panose="02010600030101010101" pitchFamily="2" charset="-122"/>
            </a:endParaRPr>
          </a:p>
          <a:p>
            <a:pPr lvl="1"/>
            <a:r>
              <a:rPr lang="en-US" altLang="zh-CN" dirty="0" err="1">
                <a:ea typeface="宋体" panose="02010600030101010101" pitchFamily="2" charset="-122"/>
              </a:rPr>
              <a:t>beq</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JUMP:</a:t>
            </a:r>
            <a:endParaRPr lang="en-US" altLang="zh-CN">
              <a:ea typeface="宋体" panose="02010600030101010101" pitchFamily="2" charset="-122"/>
            </a:endParaRPr>
          </a:p>
          <a:p>
            <a:pPr lvl="1"/>
            <a:r>
              <a:rPr lang="en-US" altLang="zh-CN">
                <a:ea typeface="宋体" panose="02010600030101010101" pitchFamily="2" charset="-122"/>
              </a:rPr>
              <a:t>j  target</a:t>
            </a:r>
            <a:endParaRPr lang="en-US" altLang="zh-CN">
              <a:ea typeface="宋体" panose="02010600030101010101" pitchFamily="2" charset="-122"/>
            </a:endParaRPr>
          </a:p>
        </p:txBody>
      </p:sp>
      <p:sp>
        <p:nvSpPr>
          <p:cNvPr id="196683" name="文本框 196682"/>
          <p:cNvSpPr txBox="1"/>
          <p:nvPr/>
        </p:nvSpPr>
        <p:spPr>
          <a:xfrm>
            <a:off x="3324225" y="652463"/>
            <a:ext cx="5326063" cy="366712"/>
          </a:xfrm>
          <a:prstGeom prst="rect">
            <a:avLst/>
          </a:prstGeom>
          <a:noFill/>
          <a:ln w="50800">
            <a:noFill/>
          </a:ln>
        </p:spPr>
        <p:txBody>
          <a:bodyPr anchor="t" anchorCtr="0">
            <a:spAutoFit/>
          </a:bodyPr>
          <a:p>
            <a:pPr>
              <a:spcBef>
                <a:spcPct val="50000"/>
              </a:spcBef>
            </a:pPr>
            <a:r>
              <a:rPr lang="zh-CN" altLang="en-US" sz="1800" dirty="0">
                <a:solidFill>
                  <a:schemeClr val="accent1"/>
                </a:solidFill>
                <a:latin typeface="Arial" panose="020B0604020202020204" pitchFamily="34" charset="0"/>
                <a:ea typeface="宋体" panose="02010600030101010101" pitchFamily="2" charset="-122"/>
              </a:rPr>
              <a:t>首先考虑</a:t>
            </a:r>
            <a:r>
              <a:rPr lang="en-US" altLang="zh-CN" sz="1800">
                <a:solidFill>
                  <a:schemeClr val="accent1"/>
                </a:solidFill>
                <a:latin typeface="Arial" panose="020B0604020202020204" pitchFamily="34" charset="0"/>
                <a:ea typeface="宋体" panose="02010600030101010101" pitchFamily="2" charset="-122"/>
              </a:rPr>
              <a:t>add</a:t>
            </a:r>
            <a:r>
              <a:rPr lang="zh-CN" altLang="en-US" sz="1800" dirty="0">
                <a:solidFill>
                  <a:schemeClr val="accent1"/>
                </a:solidFill>
                <a:latin typeface="Arial" panose="020B0604020202020204" pitchFamily="34" charset="0"/>
                <a:ea typeface="宋体" panose="02010600030101010101" pitchFamily="2" charset="-122"/>
              </a:rPr>
              <a:t>和</a:t>
            </a:r>
            <a:r>
              <a:rPr lang="en-US" altLang="zh-CN" sz="1800">
                <a:solidFill>
                  <a:schemeClr val="accent1"/>
                </a:solidFill>
                <a:latin typeface="Arial" panose="020B0604020202020204" pitchFamily="34" charset="0"/>
                <a:ea typeface="宋体" panose="02010600030101010101" pitchFamily="2" charset="-122"/>
              </a:rPr>
              <a:t>sub</a:t>
            </a:r>
            <a:r>
              <a:rPr lang="zh-CN" altLang="en-US" sz="1800" dirty="0">
                <a:solidFill>
                  <a:schemeClr val="accent1"/>
                </a:solidFill>
                <a:latin typeface="Arial" panose="020B0604020202020204" pitchFamily="34" charset="0"/>
                <a:ea typeface="宋体" panose="02010600030101010101" pitchFamily="2" charset="-122"/>
              </a:rPr>
              <a:t>指令（</a:t>
            </a:r>
            <a:r>
              <a:rPr lang="en-US" altLang="zh-CN" sz="1800">
                <a:solidFill>
                  <a:schemeClr val="accent1"/>
                </a:solidFill>
                <a:latin typeface="Arial" panose="020B0604020202020204" pitchFamily="34" charset="0"/>
                <a:ea typeface="宋体" panose="02010600030101010101" pitchFamily="2" charset="-122"/>
              </a:rPr>
              <a:t>R-Type</a:t>
            </a:r>
            <a:r>
              <a:rPr lang="zh-CN" altLang="en-US" sz="1800" dirty="0">
                <a:solidFill>
                  <a:schemeClr val="accent1"/>
                </a:solidFill>
                <a:latin typeface="Arial" panose="020B0604020202020204" pitchFamily="34" charset="0"/>
                <a:ea typeface="宋体" panose="02010600030101010101" pitchFamily="2" charset="-122"/>
              </a:rPr>
              <a:t>指令的代表）</a:t>
            </a:r>
            <a:endParaRPr lang="zh-CN" altLang="en-US" sz="1800" dirty="0">
              <a:solidFill>
                <a:schemeClr val="accent1"/>
              </a:solidFill>
              <a:latin typeface="Arial" panose="020B0604020202020204" pitchFamily="34" charset="0"/>
              <a:ea typeface="宋体" panose="02010600030101010101" pitchFamily="2" charset="-122"/>
            </a:endParaRPr>
          </a:p>
        </p:txBody>
      </p:sp>
      <p:grpSp>
        <p:nvGrpSpPr>
          <p:cNvPr id="196685" name="组合 196684"/>
          <p:cNvGrpSpPr/>
          <p:nvPr/>
        </p:nvGrpSpPr>
        <p:grpSpPr>
          <a:xfrm>
            <a:off x="525463" y="1206500"/>
            <a:ext cx="8516937" cy="1074738"/>
            <a:chOff x="155" y="640"/>
            <a:chExt cx="5605" cy="677"/>
          </a:xfrm>
        </p:grpSpPr>
        <p:sp>
          <p:nvSpPr>
            <p:cNvPr id="54277" name="文本框 196681"/>
            <p:cNvSpPr txBox="1"/>
            <p:nvPr/>
          </p:nvSpPr>
          <p:spPr>
            <a:xfrm>
              <a:off x="1911" y="640"/>
              <a:ext cx="3849" cy="674"/>
            </a:xfrm>
            <a:prstGeom prst="rect">
              <a:avLst/>
            </a:prstGeom>
            <a:solidFill>
              <a:srgbClr val="FF8398">
                <a:alpha val="23000"/>
              </a:srgbClr>
            </a:solidFill>
            <a:ln w="50800">
              <a:noFill/>
            </a:ln>
          </p:spPr>
          <p:txBody>
            <a:bodyPr anchor="t" anchorCtr="0">
              <a:spAutoFit/>
            </a:bodyPr>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54278" name="文本框 196683"/>
            <p:cNvSpPr txBox="1"/>
            <p:nvPr/>
          </p:nvSpPr>
          <p:spPr>
            <a:xfrm>
              <a:off x="155" y="643"/>
              <a:ext cx="1664" cy="674"/>
            </a:xfrm>
            <a:prstGeom prst="rect">
              <a:avLst/>
            </a:prstGeom>
            <a:solidFill>
              <a:srgbClr val="FE9AAB">
                <a:alpha val="28998"/>
              </a:srgbClr>
            </a:solidFill>
            <a:ln w="50800">
              <a:noFill/>
            </a:ln>
          </p:spPr>
          <p:txBody>
            <a:bodyPr anchor="t" anchorCtr="0">
              <a:spAutoFit/>
            </a:bodyPr>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p:txBody>
        </p:sp>
      </p:grpSp>
      <p:grpSp>
        <p:nvGrpSpPr>
          <p:cNvPr id="54279" name="组合 196685"/>
          <p:cNvGrpSpPr/>
          <p:nvPr/>
        </p:nvGrpSpPr>
        <p:grpSpPr>
          <a:xfrm>
            <a:off x="3238500" y="1168400"/>
            <a:ext cx="5905500" cy="973138"/>
            <a:chOff x="1918" y="672"/>
            <a:chExt cx="3767" cy="613"/>
          </a:xfrm>
        </p:grpSpPr>
        <p:grpSp>
          <p:nvGrpSpPr>
            <p:cNvPr id="54280" name="组合 196686"/>
            <p:cNvGrpSpPr/>
            <p:nvPr/>
          </p:nvGrpSpPr>
          <p:grpSpPr>
            <a:xfrm>
              <a:off x="1918" y="672"/>
              <a:ext cx="3767" cy="421"/>
              <a:chOff x="1918" y="672"/>
              <a:chExt cx="3767" cy="421"/>
            </a:xfrm>
          </p:grpSpPr>
          <p:grpSp>
            <p:nvGrpSpPr>
              <p:cNvPr id="54281" name="组合 196687"/>
              <p:cNvGrpSpPr/>
              <p:nvPr/>
            </p:nvGrpSpPr>
            <p:grpSpPr>
              <a:xfrm>
                <a:off x="1979" y="864"/>
                <a:ext cx="3607" cy="229"/>
                <a:chOff x="1979" y="864"/>
                <a:chExt cx="3607" cy="229"/>
              </a:xfrm>
            </p:grpSpPr>
            <p:sp>
              <p:nvSpPr>
                <p:cNvPr id="54282" name="矩形 196688"/>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54283" name="组合 196689"/>
                <p:cNvGrpSpPr/>
                <p:nvPr/>
              </p:nvGrpSpPr>
              <p:grpSpPr>
                <a:xfrm>
                  <a:off x="1979" y="864"/>
                  <a:ext cx="3607" cy="229"/>
                  <a:chOff x="1979" y="864"/>
                  <a:chExt cx="3607" cy="229"/>
                </a:xfrm>
              </p:grpSpPr>
              <p:grpSp>
                <p:nvGrpSpPr>
                  <p:cNvPr id="54284" name="组合 196690"/>
                  <p:cNvGrpSpPr/>
                  <p:nvPr/>
                </p:nvGrpSpPr>
                <p:grpSpPr>
                  <a:xfrm>
                    <a:off x="1979" y="864"/>
                    <a:ext cx="624" cy="229"/>
                    <a:chOff x="1979" y="864"/>
                    <a:chExt cx="624" cy="229"/>
                  </a:xfrm>
                </p:grpSpPr>
                <p:sp>
                  <p:nvSpPr>
                    <p:cNvPr id="54285" name="矩形 196691"/>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286" name="矩形 196692"/>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54287" name="组合 196693"/>
                  <p:cNvGrpSpPr/>
                  <p:nvPr/>
                </p:nvGrpSpPr>
                <p:grpSpPr>
                  <a:xfrm>
                    <a:off x="2611" y="864"/>
                    <a:ext cx="580" cy="229"/>
                    <a:chOff x="2611" y="864"/>
                    <a:chExt cx="580" cy="229"/>
                  </a:xfrm>
                </p:grpSpPr>
                <p:sp>
                  <p:nvSpPr>
                    <p:cNvPr id="54288" name="矩形 196694"/>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289" name="矩形 196695"/>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54290" name="组合 196696"/>
                  <p:cNvGrpSpPr/>
                  <p:nvPr/>
                </p:nvGrpSpPr>
                <p:grpSpPr>
                  <a:xfrm>
                    <a:off x="3199" y="864"/>
                    <a:ext cx="579" cy="229"/>
                    <a:chOff x="3199" y="864"/>
                    <a:chExt cx="579" cy="229"/>
                  </a:xfrm>
                </p:grpSpPr>
                <p:sp>
                  <p:nvSpPr>
                    <p:cNvPr id="54291" name="矩形 196697"/>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292" name="矩形 196698"/>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54293" name="组合 196699"/>
                  <p:cNvGrpSpPr/>
                  <p:nvPr/>
                </p:nvGrpSpPr>
                <p:grpSpPr>
                  <a:xfrm>
                    <a:off x="3786" y="864"/>
                    <a:ext cx="579" cy="229"/>
                    <a:chOff x="3786" y="864"/>
                    <a:chExt cx="579" cy="229"/>
                  </a:xfrm>
                </p:grpSpPr>
                <p:sp>
                  <p:nvSpPr>
                    <p:cNvPr id="54294" name="矩形 196700"/>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295" name="矩形 196701"/>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54296" name="组合 196702"/>
                  <p:cNvGrpSpPr/>
                  <p:nvPr/>
                </p:nvGrpSpPr>
                <p:grpSpPr>
                  <a:xfrm>
                    <a:off x="4373" y="864"/>
                    <a:ext cx="620" cy="229"/>
                    <a:chOff x="4373" y="864"/>
                    <a:chExt cx="620" cy="229"/>
                  </a:xfrm>
                </p:grpSpPr>
                <p:sp>
                  <p:nvSpPr>
                    <p:cNvPr id="54297" name="矩形 196703"/>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298" name="矩形 196704"/>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54299" name="组合 196705"/>
                  <p:cNvGrpSpPr/>
                  <p:nvPr/>
                </p:nvGrpSpPr>
                <p:grpSpPr>
                  <a:xfrm>
                    <a:off x="4961" y="864"/>
                    <a:ext cx="625" cy="229"/>
                    <a:chOff x="4961" y="864"/>
                    <a:chExt cx="625" cy="229"/>
                  </a:xfrm>
                </p:grpSpPr>
                <p:sp>
                  <p:nvSpPr>
                    <p:cNvPr id="54300" name="矩形 196706"/>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301" name="矩形 196707"/>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54302" name="矩形 196708"/>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54303" name="矩形 196709"/>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54304" name="矩形 196710"/>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54305" name="矩形 196711"/>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54306" name="矩形 196712"/>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54307" name="矩形 196713"/>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54308" name="矩形 196714"/>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54309" name="矩形 196715"/>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10" name="矩形 196716"/>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11" name="矩形 196717"/>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12" name="矩形 196718"/>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13" name="矩形 196719"/>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14" name="矩形 196720"/>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54315" name="组合 196721"/>
          <p:cNvGrpSpPr/>
          <p:nvPr/>
        </p:nvGrpSpPr>
        <p:grpSpPr>
          <a:xfrm>
            <a:off x="3144838" y="2914650"/>
            <a:ext cx="5999162" cy="989013"/>
            <a:chOff x="1918" y="1392"/>
            <a:chExt cx="3763" cy="607"/>
          </a:xfrm>
        </p:grpSpPr>
        <p:sp>
          <p:nvSpPr>
            <p:cNvPr id="54316" name="矩形 196722"/>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54317" name="组合 196723"/>
            <p:cNvGrpSpPr/>
            <p:nvPr/>
          </p:nvGrpSpPr>
          <p:grpSpPr>
            <a:xfrm>
              <a:off x="1979" y="1584"/>
              <a:ext cx="624" cy="223"/>
              <a:chOff x="1979" y="1584"/>
              <a:chExt cx="624" cy="223"/>
            </a:xfrm>
          </p:grpSpPr>
          <p:sp>
            <p:nvSpPr>
              <p:cNvPr id="54318" name="矩形 196724"/>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319" name="矩形 196725"/>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54320" name="组合 196726"/>
            <p:cNvGrpSpPr/>
            <p:nvPr/>
          </p:nvGrpSpPr>
          <p:grpSpPr>
            <a:xfrm>
              <a:off x="2611" y="1584"/>
              <a:ext cx="580" cy="223"/>
              <a:chOff x="2611" y="1584"/>
              <a:chExt cx="580" cy="223"/>
            </a:xfrm>
          </p:grpSpPr>
          <p:sp>
            <p:nvSpPr>
              <p:cNvPr id="54321" name="矩形 196727"/>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322" name="矩形 196728"/>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54323" name="组合 196729"/>
            <p:cNvGrpSpPr/>
            <p:nvPr/>
          </p:nvGrpSpPr>
          <p:grpSpPr>
            <a:xfrm>
              <a:off x="3199" y="1584"/>
              <a:ext cx="579" cy="223"/>
              <a:chOff x="3199" y="1584"/>
              <a:chExt cx="579" cy="223"/>
            </a:xfrm>
          </p:grpSpPr>
          <p:sp>
            <p:nvSpPr>
              <p:cNvPr id="54324" name="矩形 196730"/>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325" name="矩形 196731"/>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54326" name="矩形 196732"/>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327" name="矩形 196733"/>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54328" name="矩形 196734"/>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54329" name="矩形 196735"/>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54330" name="矩形 196736"/>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54331" name="矩形 196737"/>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54332" name="矩形 196738"/>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54333" name="矩形 196739"/>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34" name="矩形 196740"/>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35" name="矩形 196741"/>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36" name="矩形 196742"/>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54337" name="组合 196743"/>
          <p:cNvGrpSpPr/>
          <p:nvPr/>
        </p:nvGrpSpPr>
        <p:grpSpPr>
          <a:xfrm>
            <a:off x="3130550" y="5059363"/>
            <a:ext cx="5975350" cy="1012825"/>
            <a:chOff x="1918" y="3360"/>
            <a:chExt cx="3764" cy="599"/>
          </a:xfrm>
        </p:grpSpPr>
        <p:sp>
          <p:nvSpPr>
            <p:cNvPr id="54338" name="矩形 196744"/>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54339" name="组合 196745"/>
            <p:cNvGrpSpPr/>
            <p:nvPr/>
          </p:nvGrpSpPr>
          <p:grpSpPr>
            <a:xfrm>
              <a:off x="1979" y="3552"/>
              <a:ext cx="624" cy="216"/>
              <a:chOff x="1979" y="3552"/>
              <a:chExt cx="624" cy="216"/>
            </a:xfrm>
          </p:grpSpPr>
          <p:sp>
            <p:nvSpPr>
              <p:cNvPr id="54340" name="矩形 196746"/>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341" name="矩形 196747"/>
              <p:cNvSpPr/>
              <p:nvPr/>
            </p:nvSpPr>
            <p:spPr>
              <a:xfrm>
                <a:off x="2161" y="3552"/>
                <a:ext cx="290" cy="216"/>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54342" name="矩形 196748"/>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4343" name="矩形 196749"/>
            <p:cNvSpPr/>
            <p:nvPr/>
          </p:nvSpPr>
          <p:spPr>
            <a:xfrm>
              <a:off x="3554" y="3552"/>
              <a:ext cx="1098" cy="215"/>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54344" name="矩形 196750"/>
            <p:cNvSpPr/>
            <p:nvPr/>
          </p:nvSpPr>
          <p:spPr>
            <a:xfrm>
              <a:off x="5488" y="3360"/>
              <a:ext cx="19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54345" name="矩形 196751"/>
            <p:cNvSpPr/>
            <p:nvPr/>
          </p:nvSpPr>
          <p:spPr>
            <a:xfrm>
              <a:off x="2414"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54346" name="矩形 196752"/>
            <p:cNvSpPr/>
            <p:nvPr/>
          </p:nvSpPr>
          <p:spPr>
            <a:xfrm>
              <a:off x="1918"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54347" name="矩形 196753"/>
            <p:cNvSpPr/>
            <p:nvPr/>
          </p:nvSpPr>
          <p:spPr>
            <a:xfrm>
              <a:off x="2143" y="3744"/>
              <a:ext cx="482"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4348" name="矩形 196754"/>
            <p:cNvSpPr/>
            <p:nvPr/>
          </p:nvSpPr>
          <p:spPr>
            <a:xfrm>
              <a:off x="3816" y="3744"/>
              <a:ext cx="570"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6683"/>
                                        </p:tgtEl>
                                        <p:attrNameLst>
                                          <p:attrName>style.visibility</p:attrName>
                                        </p:attrNameLst>
                                      </p:cBhvr>
                                      <p:to>
                                        <p:strVal val="visible"/>
                                      </p:to>
                                    </p:set>
                                    <p:animEffect transition="in" filter="blinds(horizontal)">
                                      <p:cBhvr>
                                        <p:cTn id="7" dur="500"/>
                                        <p:tgtEl>
                                          <p:spTgt spid="1966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6685"/>
                                        </p:tgtEl>
                                        <p:attrNameLst>
                                          <p:attrName>style.visibility</p:attrName>
                                        </p:attrNameLst>
                                      </p:cBhvr>
                                      <p:to>
                                        <p:strVal val="visible"/>
                                      </p:to>
                                    </p:set>
                                    <p:animEffect transition="in" filter="blinds(horizontal)">
                                      <p:cBhvr>
                                        <p:cTn id="12" dur="500"/>
                                        <p:tgtEl>
                                          <p:spTgt spid="196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8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198657"/>
          <p:cNvSpPr>
            <a:spLocks noGrp="1"/>
          </p:cNvSpPr>
          <p:nvPr>
            <p:ph type="title"/>
          </p:nvPr>
        </p:nvSpPr>
        <p:spPr>
          <a:xfrm>
            <a:off x="444500" y="203200"/>
            <a:ext cx="6886575" cy="422275"/>
          </a:xfrm>
          <a:ln/>
        </p:spPr>
        <p:txBody>
          <a:bodyPr vert="horz" wrap="square" lIns="63500" tIns="25400" rIns="63500" bIns="25400" anchor="t" anchorCtr="0">
            <a:spAutoFit/>
          </a:bodyPr>
          <a:p>
            <a:r>
              <a:rPr lang="en-US" altLang="zh-CN">
                <a:ea typeface="宋体" panose="02010600030101010101" pitchFamily="2" charset="-122"/>
              </a:rPr>
              <a:t>RR</a:t>
            </a:r>
            <a:r>
              <a:rPr lang="zh-CN" altLang="en-US" dirty="0">
                <a:ea typeface="宋体" panose="02010600030101010101" pitchFamily="2" charset="-122"/>
              </a:rPr>
              <a:t>（</a:t>
            </a:r>
            <a:r>
              <a:rPr lang="en-US" altLang="zh-CN">
                <a:ea typeface="宋体" panose="02010600030101010101" pitchFamily="2" charset="-122"/>
              </a:rPr>
              <a:t>R-type</a:t>
            </a:r>
            <a:r>
              <a:rPr lang="zh-CN" altLang="en-US" dirty="0">
                <a:ea typeface="宋体" panose="02010600030101010101" pitchFamily="2" charset="-122"/>
              </a:rPr>
              <a:t>）型指令的数据通路</a:t>
            </a:r>
            <a:endParaRPr lang="en-US" altLang="zh-CN">
              <a:ea typeface="宋体" panose="02010600030101010101" pitchFamily="2" charset="-122"/>
            </a:endParaRPr>
          </a:p>
        </p:txBody>
      </p:sp>
      <p:sp>
        <p:nvSpPr>
          <p:cNvPr id="198659" name="内容占位符 198658"/>
          <p:cNvSpPr>
            <a:spLocks noGrp="1"/>
          </p:cNvSpPr>
          <p:nvPr>
            <p:ph idx="1"/>
          </p:nvPr>
        </p:nvSpPr>
        <p:spPr>
          <a:xfrm>
            <a:off x="650875" y="1955800"/>
            <a:ext cx="8191500" cy="352425"/>
          </a:xfrm>
          <a:ln/>
        </p:spPr>
        <p:txBody>
          <a:bodyPr vert="horz" wrap="square" lIns="63500" tIns="25400" rIns="63500" bIns="25400" anchor="t" anchorCtr="0">
            <a:spAutoFit/>
          </a:bodyPr>
          <a:p>
            <a:pPr>
              <a:lnSpc>
                <a:spcPct val="110000"/>
              </a:lnSpc>
            </a:pPr>
            <a:r>
              <a:rPr lang="zh-CN" altLang="en-US" dirty="0">
                <a:ea typeface="黑体" panose="02010609060101010101" pitchFamily="49" charset="-122"/>
              </a:rPr>
              <a:t>功能：</a:t>
            </a:r>
            <a:r>
              <a:rPr lang="en-US" altLang="zh-CN" dirty="0" err="1">
                <a:ea typeface="宋体" panose="02010600030101010101" pitchFamily="2" charset="-122"/>
              </a:rPr>
              <a:t>R[rd</a:t>
            </a:r>
            <a:r>
              <a:rPr lang="en-US" altLang="zh-CN">
                <a:ea typeface="宋体" panose="02010600030101010101" pitchFamily="2" charset="-122"/>
              </a:rPr>
              <a:t>]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a:t>
            </a:r>
            <a:r>
              <a:rPr lang="en-US" altLang="zh-CN" dirty="0" err="1">
                <a:ea typeface="宋体" panose="02010600030101010101" pitchFamily="2" charset="-122"/>
              </a:rPr>
              <a:t>R[rs</a:t>
            </a:r>
            <a:r>
              <a:rPr lang="en-US" altLang="zh-CN">
                <a:ea typeface="宋体" panose="02010600030101010101" pitchFamily="2" charset="-122"/>
              </a:rPr>
              <a:t>] op </a:t>
            </a:r>
            <a:r>
              <a:rPr lang="en-US" altLang="zh-CN" dirty="0" err="1">
                <a:ea typeface="宋体" panose="02010600030101010101" pitchFamily="2" charset="-122"/>
              </a:rPr>
              <a:t>R[rt</a:t>
            </a:r>
            <a:r>
              <a:rPr lang="en-US" altLang="zh-CN">
                <a:ea typeface="宋体" panose="02010600030101010101" pitchFamily="2" charset="-122"/>
              </a:rPr>
              <a:t>] 		Example: add    rd,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endParaRPr lang="en-US" altLang="zh-CN">
              <a:ea typeface="宋体" panose="02010600030101010101" pitchFamily="2" charset="-122"/>
            </a:endParaRPr>
          </a:p>
        </p:txBody>
      </p:sp>
      <p:grpSp>
        <p:nvGrpSpPr>
          <p:cNvPr id="198695" name="组合 198694"/>
          <p:cNvGrpSpPr/>
          <p:nvPr/>
        </p:nvGrpSpPr>
        <p:grpSpPr>
          <a:xfrm>
            <a:off x="1006475" y="2884488"/>
            <a:ext cx="7324725" cy="2603500"/>
            <a:chOff x="1320" y="2466"/>
            <a:chExt cx="4190" cy="1640"/>
          </a:xfrm>
        </p:grpSpPr>
        <p:sp>
          <p:nvSpPr>
            <p:cNvPr id="56324" name="直接连接符 198695"/>
            <p:cNvSpPr/>
            <p:nvPr/>
          </p:nvSpPr>
          <p:spPr>
            <a:xfrm flipH="1">
              <a:off x="4342" y="3335"/>
              <a:ext cx="1168" cy="0"/>
            </a:xfrm>
            <a:prstGeom prst="line">
              <a:avLst/>
            </a:prstGeom>
            <a:ln w="25400" cap="flat" cmpd="sng">
              <a:solidFill>
                <a:schemeClr val="tx1"/>
              </a:solidFill>
              <a:prstDash val="solid"/>
              <a:round/>
              <a:headEnd type="triangle" w="med" len="med"/>
              <a:tailEnd type="none" w="med" len="med"/>
            </a:ln>
          </p:spPr>
        </p:sp>
        <p:grpSp>
          <p:nvGrpSpPr>
            <p:cNvPr id="56325" name="组合 198696"/>
            <p:cNvGrpSpPr/>
            <p:nvPr/>
          </p:nvGrpSpPr>
          <p:grpSpPr>
            <a:xfrm>
              <a:off x="1320" y="2466"/>
              <a:ext cx="3910" cy="1640"/>
              <a:chOff x="951" y="2160"/>
              <a:chExt cx="3910" cy="1640"/>
            </a:xfrm>
          </p:grpSpPr>
          <p:sp>
            <p:nvSpPr>
              <p:cNvPr id="56326" name="直接连接符 198697"/>
              <p:cNvSpPr/>
              <p:nvPr/>
            </p:nvSpPr>
            <p:spPr>
              <a:xfrm>
                <a:off x="3696" y="2648"/>
                <a:ext cx="0" cy="176"/>
              </a:xfrm>
              <a:prstGeom prst="line">
                <a:avLst/>
              </a:prstGeom>
              <a:ln w="25400" cap="flat" cmpd="sng">
                <a:solidFill>
                  <a:schemeClr val="tx1"/>
                </a:solidFill>
                <a:prstDash val="solid"/>
                <a:round/>
                <a:headEnd type="none" w="med" len="med"/>
                <a:tailEnd type="none" w="med" len="med"/>
              </a:ln>
            </p:spPr>
          </p:sp>
          <p:sp>
            <p:nvSpPr>
              <p:cNvPr id="56327" name="直接连接符 198698"/>
              <p:cNvSpPr/>
              <p:nvPr/>
            </p:nvSpPr>
            <p:spPr>
              <a:xfrm>
                <a:off x="3704" y="2648"/>
                <a:ext cx="272" cy="176"/>
              </a:xfrm>
              <a:prstGeom prst="line">
                <a:avLst/>
              </a:prstGeom>
              <a:ln w="25400" cap="flat" cmpd="sng">
                <a:solidFill>
                  <a:schemeClr val="tx1"/>
                </a:solidFill>
                <a:prstDash val="solid"/>
                <a:round/>
                <a:headEnd type="none" w="med" len="med"/>
                <a:tailEnd type="none" w="med" len="med"/>
              </a:ln>
            </p:spPr>
          </p:sp>
          <p:sp>
            <p:nvSpPr>
              <p:cNvPr id="56328" name="直接连接符 198699"/>
              <p:cNvSpPr/>
              <p:nvPr/>
            </p:nvSpPr>
            <p:spPr>
              <a:xfrm>
                <a:off x="3687" y="2822"/>
                <a:ext cx="154" cy="116"/>
              </a:xfrm>
              <a:prstGeom prst="line">
                <a:avLst/>
              </a:prstGeom>
              <a:ln w="25400" cap="flat" cmpd="sng">
                <a:solidFill>
                  <a:schemeClr val="tx1"/>
                </a:solidFill>
                <a:prstDash val="solid"/>
                <a:round/>
                <a:headEnd type="none" w="med" len="med"/>
                <a:tailEnd type="none" w="med" len="med"/>
              </a:ln>
            </p:spPr>
          </p:sp>
          <p:sp>
            <p:nvSpPr>
              <p:cNvPr id="56329" name="直接连接符 198700"/>
              <p:cNvSpPr/>
              <p:nvPr/>
            </p:nvSpPr>
            <p:spPr>
              <a:xfrm>
                <a:off x="3840" y="2936"/>
                <a:ext cx="0" cy="176"/>
              </a:xfrm>
              <a:prstGeom prst="line">
                <a:avLst/>
              </a:prstGeom>
              <a:ln w="25400" cap="flat" cmpd="sng">
                <a:solidFill>
                  <a:schemeClr val="tx1"/>
                </a:solidFill>
                <a:prstDash val="solid"/>
                <a:round/>
                <a:headEnd type="none" w="med" len="med"/>
                <a:tailEnd type="none" w="med" len="med"/>
              </a:ln>
            </p:spPr>
          </p:sp>
          <p:sp>
            <p:nvSpPr>
              <p:cNvPr id="56330" name="直接连接符 198701"/>
              <p:cNvSpPr/>
              <p:nvPr/>
            </p:nvSpPr>
            <p:spPr>
              <a:xfrm>
                <a:off x="3984" y="2840"/>
                <a:ext cx="0" cy="368"/>
              </a:xfrm>
              <a:prstGeom prst="line">
                <a:avLst/>
              </a:prstGeom>
              <a:ln w="25400" cap="flat" cmpd="sng">
                <a:solidFill>
                  <a:schemeClr val="tx1"/>
                </a:solidFill>
                <a:prstDash val="solid"/>
                <a:round/>
                <a:headEnd type="none" w="med" len="med"/>
                <a:tailEnd type="none" w="med" len="med"/>
              </a:ln>
            </p:spPr>
          </p:sp>
          <p:sp>
            <p:nvSpPr>
              <p:cNvPr id="56331" name="直接连接符 198702"/>
              <p:cNvSpPr/>
              <p:nvPr/>
            </p:nvSpPr>
            <p:spPr>
              <a:xfrm flipV="1">
                <a:off x="3704" y="3103"/>
                <a:ext cx="146" cy="121"/>
              </a:xfrm>
              <a:prstGeom prst="line">
                <a:avLst/>
              </a:prstGeom>
              <a:ln w="25400" cap="flat" cmpd="sng">
                <a:solidFill>
                  <a:schemeClr val="tx1"/>
                </a:solidFill>
                <a:prstDash val="solid"/>
                <a:round/>
                <a:headEnd type="none" w="med" len="med"/>
                <a:tailEnd type="none" w="med" len="med"/>
              </a:ln>
            </p:spPr>
          </p:sp>
          <p:sp>
            <p:nvSpPr>
              <p:cNvPr id="56332" name="直接连接符 198703"/>
              <p:cNvSpPr/>
              <p:nvPr/>
            </p:nvSpPr>
            <p:spPr>
              <a:xfrm>
                <a:off x="3696" y="3224"/>
                <a:ext cx="0" cy="195"/>
              </a:xfrm>
              <a:prstGeom prst="line">
                <a:avLst/>
              </a:prstGeom>
              <a:ln w="25400" cap="flat" cmpd="sng">
                <a:solidFill>
                  <a:schemeClr val="tx1"/>
                </a:solidFill>
                <a:prstDash val="solid"/>
                <a:round/>
                <a:headEnd type="none" w="med" len="med"/>
                <a:tailEnd type="none" w="med" len="med"/>
              </a:ln>
            </p:spPr>
          </p:sp>
          <p:sp>
            <p:nvSpPr>
              <p:cNvPr id="56333" name="直接连接符 198704"/>
              <p:cNvSpPr/>
              <p:nvPr/>
            </p:nvSpPr>
            <p:spPr>
              <a:xfrm flipV="1">
                <a:off x="3704" y="3208"/>
                <a:ext cx="272" cy="208"/>
              </a:xfrm>
              <a:prstGeom prst="line">
                <a:avLst/>
              </a:prstGeom>
              <a:ln w="25400" cap="flat" cmpd="sng">
                <a:solidFill>
                  <a:schemeClr val="tx1"/>
                </a:solidFill>
                <a:prstDash val="solid"/>
                <a:round/>
                <a:headEnd type="none" w="med" len="med"/>
                <a:tailEnd type="none" w="med" len="med"/>
              </a:ln>
            </p:spPr>
          </p:sp>
          <p:sp>
            <p:nvSpPr>
              <p:cNvPr id="56334" name="直接连接符 198705"/>
              <p:cNvSpPr/>
              <p:nvPr/>
            </p:nvSpPr>
            <p:spPr>
              <a:xfrm flipH="1">
                <a:off x="4268" y="2932"/>
                <a:ext cx="104" cy="184"/>
              </a:xfrm>
              <a:prstGeom prst="line">
                <a:avLst/>
              </a:prstGeom>
              <a:ln w="12700" cap="flat" cmpd="sng">
                <a:solidFill>
                  <a:schemeClr val="tx1"/>
                </a:solidFill>
                <a:prstDash val="solid"/>
                <a:round/>
                <a:headEnd type="none" w="med" len="med"/>
                <a:tailEnd type="none" w="med" len="med"/>
              </a:ln>
            </p:spPr>
          </p:sp>
          <p:sp>
            <p:nvSpPr>
              <p:cNvPr id="56335" name="矩形 198706"/>
              <p:cNvSpPr/>
              <p:nvPr/>
            </p:nvSpPr>
            <p:spPr>
              <a:xfrm>
                <a:off x="4071" y="3024"/>
                <a:ext cx="248" cy="173"/>
              </a:xfrm>
              <a:prstGeom prst="rect">
                <a:avLst/>
              </a:prstGeom>
              <a:noFill/>
              <a:ln w="12700">
                <a:noFill/>
              </a:ln>
            </p:spPr>
            <p:txBody>
              <a:bodyPr lIns="0" tIns="0" rIns="0" bIns="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56336" name="矩形 198707"/>
              <p:cNvSpPr/>
              <p:nvPr/>
            </p:nvSpPr>
            <p:spPr>
              <a:xfrm>
                <a:off x="4358" y="2832"/>
                <a:ext cx="503"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Result</a:t>
                </a:r>
                <a:endParaRPr lang="en-US" altLang="zh-CN" sz="1800">
                  <a:latin typeface="Arial" panose="020B0604020202020204" pitchFamily="34" charset="0"/>
                  <a:ea typeface="宋体" panose="02010600030101010101" pitchFamily="2" charset="-122"/>
                </a:endParaRPr>
              </a:p>
            </p:txBody>
          </p:sp>
          <p:sp>
            <p:nvSpPr>
              <p:cNvPr id="56337" name="直接连接符 198708"/>
              <p:cNvSpPr/>
              <p:nvPr/>
            </p:nvSpPr>
            <p:spPr>
              <a:xfrm>
                <a:off x="3840" y="2456"/>
                <a:ext cx="0" cy="272"/>
              </a:xfrm>
              <a:prstGeom prst="line">
                <a:avLst/>
              </a:prstGeom>
              <a:ln w="25400" cap="flat" cmpd="sng">
                <a:solidFill>
                  <a:srgbClr val="3366FF"/>
                </a:solidFill>
                <a:prstDash val="solid"/>
                <a:round/>
                <a:headEnd type="none" w="med" len="med"/>
                <a:tailEnd type="triangle" w="med" len="med"/>
              </a:ln>
            </p:spPr>
          </p:sp>
          <p:sp>
            <p:nvSpPr>
              <p:cNvPr id="56338" name="矩形 198709"/>
              <p:cNvSpPr/>
              <p:nvPr/>
            </p:nvSpPr>
            <p:spPr>
              <a:xfrm>
                <a:off x="3601" y="2256"/>
                <a:ext cx="1174" cy="229"/>
              </a:xfrm>
              <a:prstGeom prst="rect">
                <a:avLst/>
              </a:prstGeom>
              <a:noFill/>
              <a:ln w="12700">
                <a:noFill/>
              </a:ln>
            </p:spPr>
            <p:txBody>
              <a:bodyPr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ALUctr</a:t>
                </a:r>
                <a:r>
                  <a:rPr lang="zh-CN" altLang="en-US" sz="1800" dirty="0">
                    <a:solidFill>
                      <a:schemeClr val="accent1"/>
                    </a:solidFill>
                    <a:latin typeface="Arial" panose="020B0604020202020204" pitchFamily="34" charset="0"/>
                    <a:ea typeface="宋体" panose="02010600030101010101" pitchFamily="2" charset="-122"/>
                  </a:rPr>
                  <a:t>：</a:t>
                </a:r>
                <a:r>
                  <a:rPr lang="en-US" altLang="zh-CN" sz="1800">
                    <a:solidFill>
                      <a:schemeClr val="accent1"/>
                    </a:solidFill>
                    <a:latin typeface="Arial" panose="020B0604020202020204" pitchFamily="34" charset="0"/>
                    <a:ea typeface="宋体" panose="02010600030101010101" pitchFamily="2" charset="-122"/>
                  </a:rPr>
                  <a:t>add/sub</a:t>
                </a:r>
                <a:endParaRPr lang="en-US" altLang="zh-CN" sz="1800">
                  <a:solidFill>
                    <a:schemeClr val="accent1"/>
                  </a:solidFill>
                  <a:latin typeface="Arial" panose="020B0604020202020204" pitchFamily="34" charset="0"/>
                  <a:ea typeface="宋体" panose="02010600030101010101" pitchFamily="2" charset="-122"/>
                </a:endParaRPr>
              </a:p>
            </p:txBody>
          </p:sp>
          <p:sp>
            <p:nvSpPr>
              <p:cNvPr id="56339" name="矩形 198710"/>
              <p:cNvSpPr/>
              <p:nvPr/>
            </p:nvSpPr>
            <p:spPr>
              <a:xfrm>
                <a:off x="1197" y="3126"/>
                <a:ext cx="307"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56340" name="矩形 198711"/>
              <p:cNvSpPr/>
              <p:nvPr/>
            </p:nvSpPr>
            <p:spPr>
              <a:xfrm>
                <a:off x="951" y="2784"/>
                <a:ext cx="459"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56341" name="矩形 198712"/>
              <p:cNvSpPr/>
              <p:nvPr/>
            </p:nvSpPr>
            <p:spPr>
              <a:xfrm>
                <a:off x="1634" y="2648"/>
                <a:ext cx="902" cy="764"/>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6342" name="直接连接符 198713"/>
              <p:cNvSpPr/>
              <p:nvPr/>
            </p:nvSpPr>
            <p:spPr>
              <a:xfrm>
                <a:off x="1658" y="3260"/>
                <a:ext cx="158" cy="44"/>
              </a:xfrm>
              <a:prstGeom prst="line">
                <a:avLst/>
              </a:prstGeom>
              <a:ln w="25400" cap="flat" cmpd="sng">
                <a:solidFill>
                  <a:schemeClr val="tx1"/>
                </a:solidFill>
                <a:prstDash val="solid"/>
                <a:round/>
                <a:headEnd type="none" w="med" len="med"/>
                <a:tailEnd type="none" w="med" len="med"/>
              </a:ln>
            </p:spPr>
          </p:sp>
          <p:sp>
            <p:nvSpPr>
              <p:cNvPr id="56343" name="直接连接符 198714"/>
              <p:cNvSpPr/>
              <p:nvPr/>
            </p:nvSpPr>
            <p:spPr>
              <a:xfrm flipH="1">
                <a:off x="1642" y="3320"/>
                <a:ext cx="190" cy="68"/>
              </a:xfrm>
              <a:prstGeom prst="line">
                <a:avLst/>
              </a:prstGeom>
              <a:ln w="25400" cap="flat" cmpd="sng">
                <a:solidFill>
                  <a:schemeClr val="tx1"/>
                </a:solidFill>
                <a:prstDash val="solid"/>
                <a:round/>
                <a:headEnd type="none" w="med" len="med"/>
                <a:tailEnd type="none" w="med" len="med"/>
              </a:ln>
            </p:spPr>
          </p:sp>
          <p:sp>
            <p:nvSpPr>
              <p:cNvPr id="56344" name="椭圆 198715"/>
              <p:cNvSpPr/>
              <p:nvPr/>
            </p:nvSpPr>
            <p:spPr>
              <a:xfrm>
                <a:off x="1538" y="3284"/>
                <a:ext cx="80" cy="8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56345" name="矩形 198716"/>
              <p:cNvSpPr/>
              <p:nvPr/>
            </p:nvSpPr>
            <p:spPr>
              <a:xfrm>
                <a:off x="1286" y="2303"/>
                <a:ext cx="525"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56346" name="直接连接符 198717"/>
              <p:cNvSpPr/>
              <p:nvPr/>
            </p:nvSpPr>
            <p:spPr>
              <a:xfrm flipH="1">
                <a:off x="1000" y="2976"/>
                <a:ext cx="640" cy="0"/>
              </a:xfrm>
              <a:prstGeom prst="line">
                <a:avLst/>
              </a:prstGeom>
              <a:ln w="25400" cap="flat" cmpd="sng">
                <a:solidFill>
                  <a:schemeClr val="tx1"/>
                </a:solidFill>
                <a:prstDash val="solid"/>
                <a:round/>
                <a:headEnd type="triangle" w="med" len="med"/>
                <a:tailEnd type="none" w="med" len="med"/>
              </a:ln>
            </p:spPr>
          </p:sp>
          <p:sp>
            <p:nvSpPr>
              <p:cNvPr id="56347" name="直接连接符 198718"/>
              <p:cNvSpPr/>
              <p:nvPr/>
            </p:nvSpPr>
            <p:spPr>
              <a:xfrm flipH="1">
                <a:off x="1292" y="2884"/>
                <a:ext cx="104" cy="184"/>
              </a:xfrm>
              <a:prstGeom prst="line">
                <a:avLst/>
              </a:prstGeom>
              <a:ln w="12700" cap="flat" cmpd="sng">
                <a:solidFill>
                  <a:schemeClr val="tx1"/>
                </a:solidFill>
                <a:prstDash val="solid"/>
                <a:round/>
                <a:headEnd type="none" w="med" len="med"/>
                <a:tailEnd type="none" w="med" len="med"/>
              </a:ln>
            </p:spPr>
          </p:sp>
          <p:sp>
            <p:nvSpPr>
              <p:cNvPr id="56348" name="矩形 198719"/>
              <p:cNvSpPr/>
              <p:nvPr/>
            </p:nvSpPr>
            <p:spPr>
              <a:xfrm>
                <a:off x="1095" y="2976"/>
                <a:ext cx="24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56349" name="直接连接符 198720"/>
              <p:cNvSpPr/>
              <p:nvPr/>
            </p:nvSpPr>
            <p:spPr>
              <a:xfrm>
                <a:off x="2552" y="2736"/>
                <a:ext cx="1136" cy="0"/>
              </a:xfrm>
              <a:prstGeom prst="line">
                <a:avLst/>
              </a:prstGeom>
              <a:ln w="25400" cap="flat" cmpd="sng">
                <a:solidFill>
                  <a:schemeClr val="tx1"/>
                </a:solidFill>
                <a:prstDash val="solid"/>
                <a:round/>
                <a:headEnd type="none" w="med" len="med"/>
                <a:tailEnd type="triangle" w="med" len="med"/>
              </a:ln>
            </p:spPr>
          </p:sp>
          <p:sp>
            <p:nvSpPr>
              <p:cNvPr id="56350" name="直接连接符 198721"/>
              <p:cNvSpPr/>
              <p:nvPr/>
            </p:nvSpPr>
            <p:spPr>
              <a:xfrm flipH="1">
                <a:off x="3164" y="2644"/>
                <a:ext cx="104" cy="184"/>
              </a:xfrm>
              <a:prstGeom prst="line">
                <a:avLst/>
              </a:prstGeom>
              <a:ln w="12700" cap="flat" cmpd="sng">
                <a:solidFill>
                  <a:schemeClr val="tx1"/>
                </a:solidFill>
                <a:prstDash val="solid"/>
                <a:round/>
                <a:headEnd type="none" w="med" len="med"/>
                <a:tailEnd type="none" w="med" len="med"/>
              </a:ln>
            </p:spPr>
          </p:sp>
          <p:sp>
            <p:nvSpPr>
              <p:cNvPr id="56351" name="矩形 198722"/>
              <p:cNvSpPr/>
              <p:nvPr/>
            </p:nvSpPr>
            <p:spPr>
              <a:xfrm>
                <a:off x="2967" y="2784"/>
                <a:ext cx="24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56352" name="矩形 198723"/>
              <p:cNvSpPr/>
              <p:nvPr/>
            </p:nvSpPr>
            <p:spPr>
              <a:xfrm>
                <a:off x="2774" y="2544"/>
                <a:ext cx="43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56353" name="直接连接符 198724"/>
              <p:cNvSpPr/>
              <p:nvPr/>
            </p:nvSpPr>
            <p:spPr>
              <a:xfrm flipV="1">
                <a:off x="1728" y="2488"/>
                <a:ext cx="0" cy="160"/>
              </a:xfrm>
              <a:prstGeom prst="line">
                <a:avLst/>
              </a:prstGeom>
              <a:ln w="25400" cap="flat" cmpd="sng">
                <a:solidFill>
                  <a:srgbClr val="3366FF"/>
                </a:solidFill>
                <a:prstDash val="solid"/>
                <a:round/>
                <a:headEnd type="triangle" w="med" len="med"/>
                <a:tailEnd type="none" w="med" len="med"/>
              </a:ln>
            </p:spPr>
          </p:sp>
          <p:sp>
            <p:nvSpPr>
              <p:cNvPr id="56354" name="直接连接符 198725"/>
              <p:cNvSpPr/>
              <p:nvPr/>
            </p:nvSpPr>
            <p:spPr>
              <a:xfrm>
                <a:off x="2552" y="3312"/>
                <a:ext cx="1136" cy="0"/>
              </a:xfrm>
              <a:prstGeom prst="line">
                <a:avLst/>
              </a:prstGeom>
              <a:ln w="25400" cap="flat" cmpd="sng">
                <a:solidFill>
                  <a:schemeClr val="tx1"/>
                </a:solidFill>
                <a:prstDash val="solid"/>
                <a:round/>
                <a:headEnd type="none" w="med" len="med"/>
                <a:tailEnd type="triangle" w="med" len="med"/>
              </a:ln>
            </p:spPr>
          </p:sp>
          <p:sp>
            <p:nvSpPr>
              <p:cNvPr id="56355" name="直接连接符 198726"/>
              <p:cNvSpPr/>
              <p:nvPr/>
            </p:nvSpPr>
            <p:spPr>
              <a:xfrm flipH="1">
                <a:off x="3164" y="3220"/>
                <a:ext cx="104" cy="184"/>
              </a:xfrm>
              <a:prstGeom prst="line">
                <a:avLst/>
              </a:prstGeom>
              <a:ln w="12700" cap="flat" cmpd="sng">
                <a:solidFill>
                  <a:schemeClr val="tx1"/>
                </a:solidFill>
                <a:prstDash val="solid"/>
                <a:round/>
                <a:headEnd type="none" w="med" len="med"/>
                <a:tailEnd type="none" w="med" len="med"/>
              </a:ln>
            </p:spPr>
          </p:sp>
          <p:sp>
            <p:nvSpPr>
              <p:cNvPr id="56356" name="矩形 198727"/>
              <p:cNvSpPr/>
              <p:nvPr/>
            </p:nvSpPr>
            <p:spPr>
              <a:xfrm>
                <a:off x="2967" y="3312"/>
                <a:ext cx="24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56357" name="矩形 198728"/>
              <p:cNvSpPr/>
              <p:nvPr/>
            </p:nvSpPr>
            <p:spPr>
              <a:xfrm>
                <a:off x="2774" y="3120"/>
                <a:ext cx="43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56358" name="直接连接符 198729"/>
              <p:cNvSpPr/>
              <p:nvPr/>
            </p:nvSpPr>
            <p:spPr>
              <a:xfrm flipH="1">
                <a:off x="1240" y="3321"/>
                <a:ext cx="304" cy="0"/>
              </a:xfrm>
              <a:prstGeom prst="line">
                <a:avLst/>
              </a:prstGeom>
              <a:ln w="25400" cap="flat" cmpd="sng">
                <a:solidFill>
                  <a:schemeClr val="tx1"/>
                </a:solidFill>
                <a:prstDash val="solid"/>
                <a:round/>
                <a:headEnd type="none" w="med" len="med"/>
                <a:tailEnd type="none" w="med" len="med"/>
              </a:ln>
            </p:spPr>
          </p:sp>
          <p:sp>
            <p:nvSpPr>
              <p:cNvPr id="56359" name="直接连接符 198730"/>
              <p:cNvSpPr/>
              <p:nvPr/>
            </p:nvSpPr>
            <p:spPr>
              <a:xfrm>
                <a:off x="1920" y="2360"/>
                <a:ext cx="0" cy="272"/>
              </a:xfrm>
              <a:prstGeom prst="line">
                <a:avLst/>
              </a:prstGeom>
              <a:ln w="25400" cap="flat" cmpd="sng">
                <a:solidFill>
                  <a:schemeClr val="tx1"/>
                </a:solidFill>
                <a:prstDash val="solid"/>
                <a:round/>
                <a:headEnd type="none" w="med" len="med"/>
                <a:tailEnd type="none" w="med" len="med"/>
              </a:ln>
            </p:spPr>
          </p:sp>
          <p:sp>
            <p:nvSpPr>
              <p:cNvPr id="56360" name="直接连接符 198731"/>
              <p:cNvSpPr/>
              <p:nvPr/>
            </p:nvSpPr>
            <p:spPr>
              <a:xfrm flipV="1">
                <a:off x="1876" y="2444"/>
                <a:ext cx="88" cy="104"/>
              </a:xfrm>
              <a:prstGeom prst="line">
                <a:avLst/>
              </a:prstGeom>
              <a:ln w="12700" cap="flat" cmpd="sng">
                <a:solidFill>
                  <a:schemeClr val="tx1"/>
                </a:solidFill>
                <a:prstDash val="solid"/>
                <a:round/>
                <a:headEnd type="none" w="med" len="med"/>
                <a:tailEnd type="none" w="med" len="med"/>
              </a:ln>
            </p:spPr>
          </p:sp>
          <p:sp>
            <p:nvSpPr>
              <p:cNvPr id="56361" name="矩形 198732"/>
              <p:cNvSpPr/>
              <p:nvPr/>
            </p:nvSpPr>
            <p:spPr>
              <a:xfrm>
                <a:off x="1766" y="2352"/>
                <a:ext cx="17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56362" name="直接连接符 198733"/>
              <p:cNvSpPr/>
              <p:nvPr/>
            </p:nvSpPr>
            <p:spPr>
              <a:xfrm>
                <a:off x="2160" y="2360"/>
                <a:ext cx="0" cy="272"/>
              </a:xfrm>
              <a:prstGeom prst="line">
                <a:avLst/>
              </a:prstGeom>
              <a:ln w="25400" cap="flat" cmpd="sng">
                <a:solidFill>
                  <a:schemeClr val="tx1"/>
                </a:solidFill>
                <a:prstDash val="solid"/>
                <a:round/>
                <a:headEnd type="none" w="med" len="med"/>
                <a:tailEnd type="none" w="med" len="med"/>
              </a:ln>
            </p:spPr>
          </p:sp>
          <p:sp>
            <p:nvSpPr>
              <p:cNvPr id="56363" name="直接连接符 198734"/>
              <p:cNvSpPr/>
              <p:nvPr/>
            </p:nvSpPr>
            <p:spPr>
              <a:xfrm flipV="1">
                <a:off x="2116" y="2444"/>
                <a:ext cx="88" cy="104"/>
              </a:xfrm>
              <a:prstGeom prst="line">
                <a:avLst/>
              </a:prstGeom>
              <a:ln w="12700" cap="flat" cmpd="sng">
                <a:solidFill>
                  <a:schemeClr val="tx1"/>
                </a:solidFill>
                <a:prstDash val="solid"/>
                <a:round/>
                <a:headEnd type="none" w="med" len="med"/>
                <a:tailEnd type="none" w="med" len="med"/>
              </a:ln>
            </p:spPr>
          </p:sp>
          <p:sp>
            <p:nvSpPr>
              <p:cNvPr id="56364" name="矩形 198735"/>
              <p:cNvSpPr/>
              <p:nvPr/>
            </p:nvSpPr>
            <p:spPr>
              <a:xfrm>
                <a:off x="2007" y="2352"/>
                <a:ext cx="17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56365" name="直接连接符 198736"/>
              <p:cNvSpPr/>
              <p:nvPr/>
            </p:nvSpPr>
            <p:spPr>
              <a:xfrm>
                <a:off x="2448" y="2360"/>
                <a:ext cx="0" cy="272"/>
              </a:xfrm>
              <a:prstGeom prst="line">
                <a:avLst/>
              </a:prstGeom>
              <a:ln w="25400" cap="flat" cmpd="sng">
                <a:solidFill>
                  <a:schemeClr val="tx1"/>
                </a:solidFill>
                <a:prstDash val="solid"/>
                <a:round/>
                <a:headEnd type="none" w="med" len="med"/>
                <a:tailEnd type="none" w="med" len="med"/>
              </a:ln>
            </p:spPr>
          </p:sp>
          <p:sp>
            <p:nvSpPr>
              <p:cNvPr id="56366" name="直接连接符 198737"/>
              <p:cNvSpPr/>
              <p:nvPr/>
            </p:nvSpPr>
            <p:spPr>
              <a:xfrm flipV="1">
                <a:off x="2404" y="2444"/>
                <a:ext cx="88" cy="104"/>
              </a:xfrm>
              <a:prstGeom prst="line">
                <a:avLst/>
              </a:prstGeom>
              <a:ln w="12700" cap="flat" cmpd="sng">
                <a:solidFill>
                  <a:schemeClr val="tx1"/>
                </a:solidFill>
                <a:prstDash val="solid"/>
                <a:round/>
                <a:headEnd type="none" w="med" len="med"/>
                <a:tailEnd type="none" w="med" len="med"/>
              </a:ln>
            </p:spPr>
          </p:sp>
          <p:sp>
            <p:nvSpPr>
              <p:cNvPr id="56367" name="矩形 198738"/>
              <p:cNvSpPr/>
              <p:nvPr/>
            </p:nvSpPr>
            <p:spPr>
              <a:xfrm>
                <a:off x="2295" y="2352"/>
                <a:ext cx="17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56368" name="矩形 198739"/>
              <p:cNvSpPr/>
              <p:nvPr/>
            </p:nvSpPr>
            <p:spPr>
              <a:xfrm>
                <a:off x="1766" y="2640"/>
                <a:ext cx="300"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56369" name="矩形 198740"/>
              <p:cNvSpPr/>
              <p:nvPr/>
            </p:nvSpPr>
            <p:spPr>
              <a:xfrm>
                <a:off x="2055" y="2640"/>
                <a:ext cx="271"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56370" name="矩形 198741"/>
              <p:cNvSpPr/>
              <p:nvPr/>
            </p:nvSpPr>
            <p:spPr>
              <a:xfrm>
                <a:off x="2295" y="2640"/>
                <a:ext cx="278"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56371" name="矩形 198742"/>
              <p:cNvSpPr/>
              <p:nvPr/>
            </p:nvSpPr>
            <p:spPr>
              <a:xfrm>
                <a:off x="1766" y="2832"/>
                <a:ext cx="700" cy="402"/>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56372" name="直接连接符 198743"/>
              <p:cNvSpPr/>
              <p:nvPr/>
            </p:nvSpPr>
            <p:spPr>
              <a:xfrm>
                <a:off x="4656" y="3032"/>
                <a:ext cx="0" cy="752"/>
              </a:xfrm>
              <a:prstGeom prst="line">
                <a:avLst/>
              </a:prstGeom>
              <a:ln w="25400" cap="flat" cmpd="sng">
                <a:solidFill>
                  <a:schemeClr val="tx1"/>
                </a:solidFill>
                <a:prstDash val="solid"/>
                <a:round/>
                <a:headEnd type="none" w="med" len="med"/>
                <a:tailEnd type="none" w="med" len="med"/>
              </a:ln>
            </p:spPr>
          </p:sp>
          <p:sp>
            <p:nvSpPr>
              <p:cNvPr id="56373" name="直接连接符 198744"/>
              <p:cNvSpPr/>
              <p:nvPr/>
            </p:nvSpPr>
            <p:spPr>
              <a:xfrm flipH="1">
                <a:off x="1000" y="3792"/>
                <a:ext cx="3664" cy="0"/>
              </a:xfrm>
              <a:prstGeom prst="line">
                <a:avLst/>
              </a:prstGeom>
              <a:ln w="25400" cap="flat" cmpd="sng">
                <a:solidFill>
                  <a:schemeClr val="tx1"/>
                </a:solidFill>
                <a:prstDash val="solid"/>
                <a:round/>
                <a:headEnd type="none" w="med" len="med"/>
                <a:tailEnd type="none" w="med" len="med"/>
              </a:ln>
            </p:spPr>
          </p:sp>
          <p:sp>
            <p:nvSpPr>
              <p:cNvPr id="56374" name="直接连接符 198745"/>
              <p:cNvSpPr/>
              <p:nvPr/>
            </p:nvSpPr>
            <p:spPr>
              <a:xfrm flipV="1">
                <a:off x="1008" y="2968"/>
                <a:ext cx="0" cy="832"/>
              </a:xfrm>
              <a:prstGeom prst="line">
                <a:avLst/>
              </a:prstGeom>
              <a:ln w="25400" cap="flat" cmpd="sng">
                <a:solidFill>
                  <a:schemeClr val="tx1"/>
                </a:solidFill>
                <a:prstDash val="solid"/>
                <a:round/>
                <a:headEnd type="none" w="med" len="med"/>
                <a:tailEnd type="none" w="med" len="med"/>
              </a:ln>
            </p:spPr>
          </p:sp>
          <p:sp>
            <p:nvSpPr>
              <p:cNvPr id="56375" name="矩形 198746"/>
              <p:cNvSpPr/>
              <p:nvPr/>
            </p:nvSpPr>
            <p:spPr>
              <a:xfrm>
                <a:off x="2055" y="2160"/>
                <a:ext cx="227"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56376" name="矩形 198747"/>
              <p:cNvSpPr/>
              <p:nvPr/>
            </p:nvSpPr>
            <p:spPr>
              <a:xfrm>
                <a:off x="2343" y="2160"/>
                <a:ext cx="198"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56377" name="矩形 198748"/>
              <p:cNvSpPr/>
              <p:nvPr/>
            </p:nvSpPr>
            <p:spPr>
              <a:xfrm>
                <a:off x="1815" y="2160"/>
                <a:ext cx="23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56378" name="矩形 198749"/>
              <p:cNvSpPr/>
              <p:nvPr/>
            </p:nvSpPr>
            <p:spPr>
              <a:xfrm rot="5400000">
                <a:off x="3717" y="2933"/>
                <a:ext cx="410" cy="20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grpSp>
      </p:grpSp>
      <p:sp>
        <p:nvSpPr>
          <p:cNvPr id="198751" name="矩形 198750"/>
          <p:cNvSpPr/>
          <p:nvPr/>
        </p:nvSpPr>
        <p:spPr>
          <a:xfrm>
            <a:off x="595313" y="2430463"/>
            <a:ext cx="7523162" cy="396875"/>
          </a:xfrm>
          <a:prstGeom prst="rect">
            <a:avLst/>
          </a:prstGeom>
          <a:noFill/>
          <a:ln w="25400">
            <a:noFill/>
          </a:ln>
        </p:spPr>
        <p:txBody>
          <a:bodyPr anchor="t" anchorCtr="0">
            <a:spAutoFit/>
          </a:bodyPr>
          <a:p>
            <a:r>
              <a:rPr lang="zh-CN" altLang="en-US" sz="2000" dirty="0">
                <a:solidFill>
                  <a:schemeClr val="accent2"/>
                </a:solidFill>
                <a:latin typeface="Arial" panose="020B0604020202020204" pitchFamily="34" charset="0"/>
                <a:ea typeface="黑体" panose="02010609060101010101" pitchFamily="49" charset="-122"/>
              </a:rPr>
              <a:t>不考虑公共操作，仅</a:t>
            </a:r>
            <a:r>
              <a:rPr lang="en-US" altLang="zh-CN" sz="2000">
                <a:solidFill>
                  <a:schemeClr val="accent2"/>
                </a:solidFill>
                <a:latin typeface="Arial" panose="020B0604020202020204" pitchFamily="34" charset="0"/>
                <a:ea typeface="黑体" panose="02010609060101010101" pitchFamily="49" charset="-122"/>
              </a:rPr>
              <a:t>R-Type</a:t>
            </a:r>
            <a:r>
              <a:rPr lang="zh-CN" altLang="en-US" sz="2000" dirty="0">
                <a:solidFill>
                  <a:schemeClr val="accent2"/>
                </a:solidFill>
                <a:latin typeface="Arial" panose="020B0604020202020204" pitchFamily="34" charset="0"/>
                <a:ea typeface="黑体" panose="02010609060101010101" pitchFamily="49" charset="-122"/>
              </a:rPr>
              <a:t>指令执行阶段的数据通路如下：</a:t>
            </a:r>
            <a:endParaRPr lang="zh-CN" altLang="en-US" sz="2000" dirty="0">
              <a:solidFill>
                <a:schemeClr val="accent2"/>
              </a:solidFill>
              <a:latin typeface="Arial" panose="020B0604020202020204" pitchFamily="34" charset="0"/>
              <a:ea typeface="黑体" panose="02010609060101010101" pitchFamily="49" charset="-122"/>
            </a:endParaRPr>
          </a:p>
        </p:txBody>
      </p:sp>
      <p:sp>
        <p:nvSpPr>
          <p:cNvPr id="198752" name="矩形 198751"/>
          <p:cNvSpPr/>
          <p:nvPr/>
        </p:nvSpPr>
        <p:spPr>
          <a:xfrm>
            <a:off x="161925" y="6124575"/>
            <a:ext cx="5676900" cy="396875"/>
          </a:xfrm>
          <a:prstGeom prst="rect">
            <a:avLst/>
          </a:prstGeom>
          <a:noFill/>
          <a:ln w="25400">
            <a:noFill/>
          </a:ln>
        </p:spPr>
        <p:txBody>
          <a:bodyPr anchor="t" anchorCtr="0">
            <a:spAutoFit/>
          </a:bodyPr>
          <a:p>
            <a:pPr algn="ctr"/>
            <a:r>
              <a:rPr lang="en-US" altLang="zh-CN" sz="2000" dirty="0" err="1">
                <a:solidFill>
                  <a:srgbClr val="0000FF"/>
                </a:solidFill>
                <a:latin typeface="Arial" panose="020B0604020202020204" pitchFamily="34" charset="0"/>
                <a:ea typeface="黑体" panose="02010609060101010101" pitchFamily="49" charset="-122"/>
              </a:rPr>
              <a:t>ALUctr,RegWr</a:t>
            </a:r>
            <a:r>
              <a:rPr lang="en-US" altLang="zh-CN" sz="200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指令译码后产生的控制信号</a:t>
            </a:r>
            <a:endParaRPr lang="zh-CN" altLang="en-US" sz="2000" dirty="0">
              <a:latin typeface="Arial" panose="020B0604020202020204" pitchFamily="34" charset="0"/>
              <a:ea typeface="黑体" panose="02010609060101010101" pitchFamily="49" charset="-122"/>
            </a:endParaRPr>
          </a:p>
        </p:txBody>
      </p:sp>
      <p:sp>
        <p:nvSpPr>
          <p:cNvPr id="198753" name="矩形 198752"/>
          <p:cNvSpPr/>
          <p:nvPr/>
        </p:nvSpPr>
        <p:spPr>
          <a:xfrm>
            <a:off x="-12700" y="5645150"/>
            <a:ext cx="4970463" cy="427038"/>
          </a:xfrm>
          <a:prstGeom prst="rect">
            <a:avLst/>
          </a:prstGeom>
          <a:noFill/>
          <a:ln w="25400">
            <a:noFill/>
          </a:ln>
        </p:spPr>
        <p:txBody>
          <a:bodyPr anchor="t" anchorCtr="0">
            <a:spAutoFit/>
          </a:bodyPr>
          <a:p>
            <a:pPr lvl="1" indent="0">
              <a:lnSpc>
                <a:spcPct val="110000"/>
              </a:lnSpc>
              <a:spcBef>
                <a:spcPct val="40000"/>
              </a:spcBef>
            </a:pPr>
            <a:r>
              <a:rPr lang="en-US" altLang="zh-CN" sz="2000">
                <a:solidFill>
                  <a:srgbClr val="0000FF"/>
                </a:solidFill>
                <a:latin typeface="Arial" panose="020B0604020202020204" pitchFamily="34" charset="0"/>
                <a:ea typeface="黑体" panose="02010609060101010101" pitchFamily="49" charset="-122"/>
              </a:rPr>
              <a:t>Ra, </a:t>
            </a:r>
            <a:r>
              <a:rPr lang="en-US" altLang="zh-CN" sz="2000" dirty="0" err="1">
                <a:solidFill>
                  <a:srgbClr val="0000FF"/>
                </a:solidFill>
                <a:latin typeface="Arial" panose="020B0604020202020204" pitchFamily="34" charset="0"/>
                <a:ea typeface="黑体" panose="02010609060101010101" pitchFamily="49" charset="-122"/>
              </a:rPr>
              <a:t>Rb</a:t>
            </a:r>
            <a:r>
              <a:rPr lang="en-US" altLang="zh-CN" sz="2000">
                <a:solidFill>
                  <a:srgbClr val="0000FF"/>
                </a:solidFill>
                <a:latin typeface="Arial" panose="020B0604020202020204" pitchFamily="34" charset="0"/>
                <a:ea typeface="黑体" panose="02010609060101010101" pitchFamily="49" charset="-122"/>
              </a:rPr>
              <a:t>, </a:t>
            </a:r>
            <a:r>
              <a:rPr lang="en-US" altLang="zh-CN" sz="2000" dirty="0" err="1">
                <a:solidFill>
                  <a:srgbClr val="0000FF"/>
                </a:solidFill>
                <a:latin typeface="Arial" panose="020B0604020202020204" pitchFamily="34" charset="0"/>
                <a:ea typeface="黑体" panose="02010609060101010101" pitchFamily="49" charset="-122"/>
              </a:rPr>
              <a:t>Rw</a:t>
            </a:r>
            <a:r>
              <a:rPr lang="en-US" altLang="zh-CN" sz="200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分别对应指令的</a:t>
            </a:r>
            <a:r>
              <a:rPr lang="en-US" altLang="zh-CN" sz="2000" dirty="0" err="1">
                <a:latin typeface="Arial" panose="020B0604020202020204" pitchFamily="34" charset="0"/>
                <a:ea typeface="黑体" panose="02010609060101010101" pitchFamily="49" charset="-122"/>
              </a:rPr>
              <a:t>rs</a:t>
            </a:r>
            <a:r>
              <a:rPr lang="en-US" altLang="zh-CN" sz="2000">
                <a:latin typeface="Arial" panose="020B0604020202020204" pitchFamily="34" charset="0"/>
                <a:ea typeface="黑体" panose="02010609060101010101" pitchFamily="49" charset="-122"/>
              </a:rPr>
              <a:t>, </a:t>
            </a:r>
            <a:r>
              <a:rPr lang="en-US" altLang="zh-CN" sz="2000" dirty="0" err="1">
                <a:latin typeface="Arial" panose="020B0604020202020204" pitchFamily="34" charset="0"/>
                <a:ea typeface="黑体" panose="02010609060101010101" pitchFamily="49" charset="-122"/>
              </a:rPr>
              <a:t>rt</a:t>
            </a:r>
            <a:r>
              <a:rPr lang="en-US" altLang="zh-CN" sz="2000">
                <a:latin typeface="Arial" panose="020B0604020202020204" pitchFamily="34" charset="0"/>
                <a:ea typeface="黑体" panose="02010609060101010101" pitchFamily="49" charset="-122"/>
              </a:rPr>
              <a:t>, rd</a:t>
            </a:r>
            <a:endParaRPr lang="zh-CN" altLang="en-US" sz="2000" dirty="0">
              <a:latin typeface="Arial" panose="020B0604020202020204" pitchFamily="34" charset="0"/>
              <a:ea typeface="黑体" panose="02010609060101010101" pitchFamily="49" charset="-122"/>
            </a:endParaRPr>
          </a:p>
        </p:txBody>
      </p:sp>
      <p:sp>
        <p:nvSpPr>
          <p:cNvPr id="198754" name="矩形 198753"/>
          <p:cNvSpPr/>
          <p:nvPr/>
        </p:nvSpPr>
        <p:spPr>
          <a:xfrm>
            <a:off x="5773738" y="5543550"/>
            <a:ext cx="3230562" cy="765175"/>
          </a:xfrm>
          <a:prstGeom prst="rect">
            <a:avLst/>
          </a:prstGeom>
          <a:noFill/>
          <a:ln w="50800">
            <a:noFill/>
          </a:ln>
        </p:spPr>
        <p:txBody>
          <a:bodyPr anchor="t" anchorCtr="0">
            <a:spAutoFit/>
          </a:bodyPr>
          <a:p>
            <a:pPr>
              <a:spcBef>
                <a:spcPct val="45000"/>
              </a:spcBef>
            </a:pPr>
            <a:r>
              <a:rPr lang="zh-CN" altLang="en-US" sz="1800" dirty="0">
                <a:solidFill>
                  <a:schemeClr val="accent2"/>
                </a:solidFill>
                <a:latin typeface="Arial" panose="020B0604020202020204" pitchFamily="34" charset="0"/>
                <a:ea typeface="黑体" panose="02010609060101010101" pitchFamily="49" charset="-122"/>
              </a:rPr>
              <a:t>“</a:t>
            </a:r>
            <a:r>
              <a:rPr lang="en-US" altLang="zh-CN" sz="1800">
                <a:solidFill>
                  <a:schemeClr val="accent2"/>
                </a:solidFill>
                <a:latin typeface="Arial" panose="020B0604020202020204" pitchFamily="34" charset="0"/>
                <a:ea typeface="黑体" panose="02010609060101010101" pitchFamily="49" charset="-122"/>
              </a:rPr>
              <a:t>add rd, </a:t>
            </a:r>
            <a:r>
              <a:rPr lang="en-US" altLang="zh-CN" sz="1800" dirty="0" err="1">
                <a:solidFill>
                  <a:schemeClr val="accent2"/>
                </a:solidFill>
                <a:latin typeface="Arial" panose="020B0604020202020204" pitchFamily="34" charset="0"/>
                <a:ea typeface="黑体" panose="02010609060101010101" pitchFamily="49" charset="-122"/>
              </a:rPr>
              <a:t>rs</a:t>
            </a:r>
            <a:r>
              <a:rPr lang="en-US" altLang="zh-CN" sz="1800">
                <a:solidFill>
                  <a:schemeClr val="accent2"/>
                </a:solidFill>
                <a:latin typeface="Arial" panose="020B0604020202020204" pitchFamily="34" charset="0"/>
                <a:ea typeface="黑体" panose="02010609060101010101" pitchFamily="49" charset="-122"/>
              </a:rPr>
              <a:t>, </a:t>
            </a:r>
            <a:r>
              <a:rPr lang="en-US" altLang="zh-CN" sz="1800" dirty="0" err="1">
                <a:solidFill>
                  <a:schemeClr val="accent2"/>
                </a:solidFill>
                <a:latin typeface="Arial" panose="020B0604020202020204" pitchFamily="34" charset="0"/>
                <a:ea typeface="黑体" panose="02010609060101010101" pitchFamily="49" charset="-122"/>
              </a:rPr>
              <a:t>rt</a:t>
            </a:r>
            <a:r>
              <a:rPr lang="en-US" altLang="zh-CN" sz="1800">
                <a:solidFill>
                  <a:schemeClr val="accent2"/>
                </a:solidFill>
                <a:latin typeface="Arial" panose="020B0604020202020204" pitchFamily="34" charset="0"/>
                <a:ea typeface="黑体" panose="02010609060101010101" pitchFamily="49" charset="-122"/>
              </a:rPr>
              <a:t>”</a:t>
            </a:r>
            <a:r>
              <a:rPr lang="zh-CN" altLang="en-US" sz="1800" dirty="0">
                <a:solidFill>
                  <a:schemeClr val="accent2"/>
                </a:solidFill>
                <a:latin typeface="Arial" panose="020B0604020202020204" pitchFamily="34" charset="0"/>
                <a:ea typeface="黑体" panose="02010609060101010101" pitchFamily="49" charset="-122"/>
              </a:rPr>
              <a:t>控制信号为？</a:t>
            </a:r>
            <a:endParaRPr lang="zh-CN" altLang="en-US" sz="1800" dirty="0">
              <a:solidFill>
                <a:schemeClr val="accent2"/>
              </a:solidFill>
              <a:latin typeface="Arial" panose="020B0604020202020204" pitchFamily="34" charset="0"/>
              <a:ea typeface="黑体" panose="02010609060101010101" pitchFamily="49" charset="-122"/>
            </a:endParaRPr>
          </a:p>
          <a:p>
            <a:pPr>
              <a:spcBef>
                <a:spcPct val="45000"/>
              </a:spcBef>
            </a:pPr>
            <a:r>
              <a:rPr lang="en-US" altLang="zh-CN" sz="1800" dirty="0" err="1">
                <a:solidFill>
                  <a:schemeClr val="accent1"/>
                </a:solidFill>
                <a:latin typeface="Arial" panose="020B0604020202020204" pitchFamily="34" charset="0"/>
                <a:ea typeface="黑体" panose="02010609060101010101" pitchFamily="49" charset="-122"/>
              </a:rPr>
              <a:t>ALUctr</a:t>
            </a:r>
            <a:r>
              <a:rPr lang="en-US" altLang="zh-CN" sz="1800">
                <a:solidFill>
                  <a:schemeClr val="accent1"/>
                </a:solidFill>
                <a:latin typeface="Arial" panose="020B0604020202020204" pitchFamily="34" charset="0"/>
                <a:ea typeface="黑体" panose="02010609060101010101" pitchFamily="49" charset="-122"/>
              </a:rPr>
              <a:t>=add</a:t>
            </a:r>
            <a:r>
              <a:rPr lang="zh-CN" altLang="en-US" sz="1800" dirty="0">
                <a:solidFill>
                  <a:schemeClr val="accent1"/>
                </a:solidFill>
                <a:latin typeface="Arial" panose="020B0604020202020204" pitchFamily="34" charset="0"/>
                <a:ea typeface="黑体" panose="02010609060101010101" pitchFamily="49" charset="-122"/>
              </a:rPr>
              <a:t>，</a:t>
            </a:r>
            <a:r>
              <a:rPr lang="en-US" altLang="zh-CN" sz="1800" dirty="0" err="1">
                <a:solidFill>
                  <a:schemeClr val="accent1"/>
                </a:solidFill>
                <a:latin typeface="Arial" panose="020B0604020202020204" pitchFamily="34" charset="0"/>
                <a:ea typeface="黑体" panose="02010609060101010101" pitchFamily="49" charset="-122"/>
              </a:rPr>
              <a:t>RegWr</a:t>
            </a:r>
            <a:r>
              <a:rPr lang="en-US" altLang="zh-CN" sz="1800">
                <a:solidFill>
                  <a:schemeClr val="accent1"/>
                </a:solidFill>
                <a:latin typeface="Arial" panose="020B0604020202020204" pitchFamily="34" charset="0"/>
                <a:ea typeface="黑体" panose="02010609060101010101" pitchFamily="49" charset="-122"/>
              </a:rPr>
              <a:t>=1</a:t>
            </a:r>
            <a:endParaRPr lang="en-US" altLang="zh-CN" sz="1800">
              <a:solidFill>
                <a:schemeClr val="accent1"/>
              </a:solidFill>
              <a:latin typeface="Arial" panose="020B0604020202020204" pitchFamily="34" charset="0"/>
              <a:ea typeface="黑体" panose="02010609060101010101" pitchFamily="49" charset="-122"/>
            </a:endParaRPr>
          </a:p>
        </p:txBody>
      </p:sp>
      <p:grpSp>
        <p:nvGrpSpPr>
          <p:cNvPr id="56383" name="组合 198754"/>
          <p:cNvGrpSpPr/>
          <p:nvPr/>
        </p:nvGrpSpPr>
        <p:grpSpPr>
          <a:xfrm>
            <a:off x="2066925" y="711200"/>
            <a:ext cx="5905500" cy="973138"/>
            <a:chOff x="1918" y="672"/>
            <a:chExt cx="3767" cy="613"/>
          </a:xfrm>
        </p:grpSpPr>
        <p:grpSp>
          <p:nvGrpSpPr>
            <p:cNvPr id="56384" name="组合 198755"/>
            <p:cNvGrpSpPr/>
            <p:nvPr/>
          </p:nvGrpSpPr>
          <p:grpSpPr>
            <a:xfrm>
              <a:off x="1918" y="672"/>
              <a:ext cx="3767" cy="421"/>
              <a:chOff x="1918" y="672"/>
              <a:chExt cx="3767" cy="421"/>
            </a:xfrm>
          </p:grpSpPr>
          <p:grpSp>
            <p:nvGrpSpPr>
              <p:cNvPr id="56385" name="组合 198756"/>
              <p:cNvGrpSpPr/>
              <p:nvPr/>
            </p:nvGrpSpPr>
            <p:grpSpPr>
              <a:xfrm>
                <a:off x="1979" y="864"/>
                <a:ext cx="3607" cy="229"/>
                <a:chOff x="1979" y="864"/>
                <a:chExt cx="3607" cy="229"/>
              </a:xfrm>
            </p:grpSpPr>
            <p:sp>
              <p:nvSpPr>
                <p:cNvPr id="56386" name="矩形 198757"/>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56387" name="组合 198758"/>
                <p:cNvGrpSpPr/>
                <p:nvPr/>
              </p:nvGrpSpPr>
              <p:grpSpPr>
                <a:xfrm>
                  <a:off x="1979" y="864"/>
                  <a:ext cx="3607" cy="229"/>
                  <a:chOff x="1979" y="864"/>
                  <a:chExt cx="3607" cy="229"/>
                </a:xfrm>
              </p:grpSpPr>
              <p:grpSp>
                <p:nvGrpSpPr>
                  <p:cNvPr id="56388" name="组合 198759"/>
                  <p:cNvGrpSpPr/>
                  <p:nvPr/>
                </p:nvGrpSpPr>
                <p:grpSpPr>
                  <a:xfrm>
                    <a:off x="1979" y="864"/>
                    <a:ext cx="624" cy="229"/>
                    <a:chOff x="1979" y="864"/>
                    <a:chExt cx="624" cy="229"/>
                  </a:xfrm>
                </p:grpSpPr>
                <p:sp>
                  <p:nvSpPr>
                    <p:cNvPr id="56389" name="矩形 198760"/>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6390" name="矩形 198761"/>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56391" name="组合 198762"/>
                  <p:cNvGrpSpPr/>
                  <p:nvPr/>
                </p:nvGrpSpPr>
                <p:grpSpPr>
                  <a:xfrm>
                    <a:off x="2611" y="864"/>
                    <a:ext cx="580" cy="229"/>
                    <a:chOff x="2611" y="864"/>
                    <a:chExt cx="580" cy="229"/>
                  </a:xfrm>
                </p:grpSpPr>
                <p:sp>
                  <p:nvSpPr>
                    <p:cNvPr id="56392" name="矩形 198763"/>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6393" name="矩形 198764"/>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56394" name="组合 198765"/>
                  <p:cNvGrpSpPr/>
                  <p:nvPr/>
                </p:nvGrpSpPr>
                <p:grpSpPr>
                  <a:xfrm>
                    <a:off x="3199" y="864"/>
                    <a:ext cx="579" cy="229"/>
                    <a:chOff x="3199" y="864"/>
                    <a:chExt cx="579" cy="229"/>
                  </a:xfrm>
                </p:grpSpPr>
                <p:sp>
                  <p:nvSpPr>
                    <p:cNvPr id="56395" name="矩形 198766"/>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6396" name="矩形 198767"/>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56397" name="组合 198768"/>
                  <p:cNvGrpSpPr/>
                  <p:nvPr/>
                </p:nvGrpSpPr>
                <p:grpSpPr>
                  <a:xfrm>
                    <a:off x="3786" y="864"/>
                    <a:ext cx="579" cy="229"/>
                    <a:chOff x="3786" y="864"/>
                    <a:chExt cx="579" cy="229"/>
                  </a:xfrm>
                </p:grpSpPr>
                <p:sp>
                  <p:nvSpPr>
                    <p:cNvPr id="56398" name="矩形 198769"/>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6399" name="矩形 198770"/>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56400" name="组合 198771"/>
                  <p:cNvGrpSpPr/>
                  <p:nvPr/>
                </p:nvGrpSpPr>
                <p:grpSpPr>
                  <a:xfrm>
                    <a:off x="4373" y="864"/>
                    <a:ext cx="620" cy="229"/>
                    <a:chOff x="4373" y="864"/>
                    <a:chExt cx="620" cy="229"/>
                  </a:xfrm>
                </p:grpSpPr>
                <p:sp>
                  <p:nvSpPr>
                    <p:cNvPr id="56401" name="矩形 198772"/>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6402" name="矩形 198773"/>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56403" name="组合 198774"/>
                  <p:cNvGrpSpPr/>
                  <p:nvPr/>
                </p:nvGrpSpPr>
                <p:grpSpPr>
                  <a:xfrm>
                    <a:off x="4961" y="864"/>
                    <a:ext cx="625" cy="229"/>
                    <a:chOff x="4961" y="864"/>
                    <a:chExt cx="625" cy="229"/>
                  </a:xfrm>
                </p:grpSpPr>
                <p:sp>
                  <p:nvSpPr>
                    <p:cNvPr id="56404" name="矩形 198775"/>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6405" name="矩形 198776"/>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56406" name="矩形 198777"/>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56407" name="矩形 198778"/>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56408" name="矩形 198779"/>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56409" name="矩形 198780"/>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56410" name="矩形 198781"/>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56411" name="矩形 198782"/>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56412" name="矩形 198783"/>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56413" name="矩形 198784"/>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6414" name="矩形 198785"/>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6415" name="矩形 198786"/>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6416" name="矩形 198787"/>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6417" name="矩形 198788"/>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6418" name="矩形 198789"/>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8659">
                                            <p:txEl>
                                              <p:charRg st="0" end="55"/>
                                            </p:txEl>
                                          </p:spTgt>
                                        </p:tgtEl>
                                        <p:attrNameLst>
                                          <p:attrName>style.visibility</p:attrName>
                                        </p:attrNameLst>
                                      </p:cBhvr>
                                      <p:to>
                                        <p:strVal val="visible"/>
                                      </p:to>
                                    </p:set>
                                    <p:animEffect transition="in" filter="blinds(horizontal)">
                                      <p:cBhvr>
                                        <p:cTn id="7" dur="500"/>
                                        <p:tgtEl>
                                          <p:spTgt spid="198659">
                                            <p:txEl>
                                              <p:charRg st="0" end="5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8751"/>
                                        </p:tgtEl>
                                        <p:attrNameLst>
                                          <p:attrName>style.visibility</p:attrName>
                                        </p:attrNameLst>
                                      </p:cBhvr>
                                      <p:to>
                                        <p:strVal val="visible"/>
                                      </p:to>
                                    </p:set>
                                    <p:animEffect transition="in" filter="blinds(horizontal)">
                                      <p:cBhvr>
                                        <p:cTn id="12" dur="500"/>
                                        <p:tgtEl>
                                          <p:spTgt spid="19875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8695"/>
                                        </p:tgtEl>
                                        <p:attrNameLst>
                                          <p:attrName>style.visibility</p:attrName>
                                        </p:attrNameLst>
                                      </p:cBhvr>
                                      <p:to>
                                        <p:strVal val="visible"/>
                                      </p:to>
                                    </p:set>
                                    <p:animEffect transition="in" filter="blinds(horizontal)">
                                      <p:cBhvr>
                                        <p:cTn id="17" dur="500"/>
                                        <p:tgtEl>
                                          <p:spTgt spid="198695"/>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98753"/>
                                        </p:tgtEl>
                                        <p:attrNameLst>
                                          <p:attrName>style.visibility</p:attrName>
                                        </p:attrNameLst>
                                      </p:cBhvr>
                                      <p:to>
                                        <p:strVal val="visible"/>
                                      </p:to>
                                    </p:set>
                                    <p:animEffect transition="in" filter="checkerboard(across)">
                                      <p:cBhvr>
                                        <p:cTn id="22" dur="500"/>
                                        <p:tgtEl>
                                          <p:spTgt spid="19875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98752"/>
                                        </p:tgtEl>
                                        <p:attrNameLst>
                                          <p:attrName>style.visibility</p:attrName>
                                        </p:attrNameLst>
                                      </p:cBhvr>
                                      <p:to>
                                        <p:strVal val="visible"/>
                                      </p:to>
                                    </p:set>
                                    <p:animEffect transition="in" filter="checkerboard(across)">
                                      <p:cBhvr>
                                        <p:cTn id="27" dur="500"/>
                                        <p:tgtEl>
                                          <p:spTgt spid="19875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8754">
                                            <p:txEl>
                                              <p:charRg st="0" end="23"/>
                                            </p:txEl>
                                          </p:spTgt>
                                        </p:tgtEl>
                                        <p:attrNameLst>
                                          <p:attrName>style.visibility</p:attrName>
                                        </p:attrNameLst>
                                      </p:cBhvr>
                                      <p:to>
                                        <p:strVal val="visible"/>
                                      </p:to>
                                    </p:set>
                                    <p:animEffect transition="in" filter="blinds(horizontal)">
                                      <p:cBhvr>
                                        <p:cTn id="32" dur="500"/>
                                        <p:tgtEl>
                                          <p:spTgt spid="198754">
                                            <p:txEl>
                                              <p:charRg st="0" end="2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8754">
                                            <p:txEl>
                                              <p:charRg st="23" end="42"/>
                                            </p:txEl>
                                          </p:spTgt>
                                        </p:tgtEl>
                                        <p:attrNameLst>
                                          <p:attrName>style.visibility</p:attrName>
                                        </p:attrNameLst>
                                      </p:cBhvr>
                                      <p:to>
                                        <p:strVal val="visible"/>
                                      </p:to>
                                    </p:set>
                                    <p:animEffect transition="in" filter="blinds(horizontal)">
                                      <p:cBhvr>
                                        <p:cTn id="37" dur="500"/>
                                        <p:tgtEl>
                                          <p:spTgt spid="198754">
                                            <p:txEl>
                                              <p:charRg st="23" end="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P spid="198751" grpId="0"/>
      <p:bldP spid="198752" grpId="0"/>
      <p:bldP spid="19875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标题 200705"/>
          <p:cNvSpPr>
            <a:spLocks noGrp="1"/>
          </p:cNvSpPr>
          <p:nvPr>
            <p:ph type="title"/>
          </p:nvPr>
        </p:nvSpPr>
        <p:spPr>
          <a:xfrm>
            <a:off x="444500" y="203200"/>
            <a:ext cx="9283700" cy="531813"/>
          </a:xfrm>
          <a:ln/>
        </p:spPr>
        <p:txBody>
          <a:bodyPr vert="horz" wrap="square" lIns="63500" tIns="25400" rIns="63500" bIns="25400" anchor="t" anchorCtr="0">
            <a:spAutoFit/>
          </a:bodyPr>
          <a:p>
            <a:r>
              <a:rPr lang="zh-CN" altLang="en-US" dirty="0">
                <a:ea typeface="宋体" panose="02010600030101010101" pitchFamily="2" charset="-122"/>
              </a:rPr>
              <a:t>带立即数的逻辑指令（</a:t>
            </a:r>
            <a:r>
              <a:rPr lang="en-US" altLang="zh-CN" dirty="0" err="1">
                <a:ea typeface="宋体" panose="02010600030101010101" pitchFamily="2" charset="-122"/>
              </a:rPr>
              <a:t>ori</a:t>
            </a:r>
            <a:r>
              <a:rPr lang="zh-CN" altLang="en-US" dirty="0">
                <a:ea typeface="宋体" panose="02010600030101010101" pitchFamily="2" charset="-122"/>
              </a:rPr>
              <a:t>指令）</a:t>
            </a:r>
            <a:endParaRPr lang="zh-CN" altLang="en-US" dirty="0">
              <a:ea typeface="宋体" panose="02010600030101010101" pitchFamily="2" charset="-122"/>
            </a:endParaRPr>
          </a:p>
        </p:txBody>
      </p:sp>
      <p:sp>
        <p:nvSpPr>
          <p:cNvPr id="58370" name="文本占位符 200778"/>
          <p:cNvSpPr>
            <a:spLocks noGrp="1"/>
          </p:cNvSpPr>
          <p:nvPr>
            <p:ph idx="1"/>
          </p:nvPr>
        </p:nvSpPr>
        <p:spPr>
          <a:xfrm>
            <a:off x="423863" y="901700"/>
            <a:ext cx="3170237" cy="4783138"/>
          </a:xfrm>
          <a:ln/>
        </p:spPr>
        <p:txBody>
          <a:bodyPr vert="horz" wrap="square" lIns="63500" tIns="25400" rIns="63500" bIns="25400" anchor="t" anchorCtr="0">
            <a:spAutoFit/>
          </a:bodyPr>
          <a:p>
            <a:pPr marL="342900" indent="-342900">
              <a:buNone/>
            </a:pPr>
            <a:r>
              <a:rPr lang="zh-CN" altLang="en-US" dirty="0">
                <a:solidFill>
                  <a:srgbClr val="339933"/>
                </a:solidFill>
                <a:latin typeface="宋体" panose="02010600030101010101" pitchFamily="2" charset="-122"/>
                <a:ea typeface="宋体" panose="02010600030101010101" pitchFamily="2" charset="-122"/>
              </a:rPr>
              <a:t>实现目标（</a:t>
            </a:r>
            <a:r>
              <a:rPr lang="en-US" altLang="zh-CN">
                <a:solidFill>
                  <a:srgbClr val="339933"/>
                </a:solidFill>
                <a:latin typeface="宋体" panose="02010600030101010101" pitchFamily="2" charset="-122"/>
                <a:ea typeface="宋体" panose="02010600030101010101" pitchFamily="2" charset="-122"/>
              </a:rPr>
              <a:t>7</a:t>
            </a:r>
            <a:r>
              <a:rPr lang="zh-CN" altLang="en-US" dirty="0">
                <a:solidFill>
                  <a:srgbClr val="339933"/>
                </a:solidFill>
                <a:latin typeface="宋体" panose="02010600030101010101" pitchFamily="2" charset="-122"/>
                <a:ea typeface="宋体" panose="02010600030101010101" pitchFamily="2" charset="-122"/>
              </a:rPr>
              <a:t>条指令）</a:t>
            </a:r>
            <a:r>
              <a:rPr lang="zh-CN" altLang="en-US" b="0" dirty="0">
                <a:solidFill>
                  <a:srgbClr val="339933"/>
                </a:solidFill>
                <a:ea typeface="宋体" panose="02010600030101010101" pitchFamily="2" charset="-122"/>
              </a:rPr>
              <a:t>：</a:t>
            </a:r>
            <a:endParaRPr lang="zh-CN" altLang="en-US" b="0" dirty="0">
              <a:solidFill>
                <a:srgbClr val="339933"/>
              </a:solidFill>
              <a:ea typeface="宋体" panose="02010600030101010101" pitchFamily="2" charset="-122"/>
            </a:endParaRPr>
          </a:p>
          <a:p>
            <a:pPr marL="342900" indent="-342900"/>
            <a:r>
              <a:rPr lang="en-US" altLang="zh-CN">
                <a:solidFill>
                  <a:srgbClr val="6D6D6D"/>
                </a:solidFill>
                <a:ea typeface="宋体" panose="02010600030101010101" pitchFamily="2" charset="-122"/>
              </a:rPr>
              <a:t>ADD and subtract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add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sub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342900" indent="-342900"/>
            <a:r>
              <a:rPr lang="en-US" altLang="zh-CN">
                <a:ea typeface="宋体" panose="02010600030101010101" pitchFamily="2" charset="-122"/>
              </a:rPr>
              <a:t>OR Immediate:</a:t>
            </a:r>
            <a:endParaRPr lang="en-US" altLang="zh-CN">
              <a:ea typeface="宋体" panose="02010600030101010101" pitchFamily="2" charset="-122"/>
            </a:endParaRPr>
          </a:p>
          <a:p>
            <a:pPr marL="742950" lvl="1" indent="-285750"/>
            <a:r>
              <a:rPr lang="en-US" altLang="zh-CN" dirty="0" err="1">
                <a:ea typeface="宋体" panose="02010600030101010101" pitchFamily="2" charset="-122"/>
              </a:rPr>
              <a:t>ori</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marL="342900" indent="-342900"/>
            <a:r>
              <a:rPr lang="en-US" altLang="zh-CN">
                <a:ea typeface="宋体" panose="02010600030101010101" pitchFamily="2" charset="-122"/>
              </a:rPr>
              <a:t>LOAD and STORE</a:t>
            </a:r>
            <a:endParaRPr lang="en-US" altLang="zh-CN">
              <a:ea typeface="宋体" panose="02010600030101010101" pitchFamily="2" charset="-122"/>
            </a:endParaRPr>
          </a:p>
          <a:p>
            <a:pPr marL="742950" lvl="1" indent="-285750"/>
            <a:r>
              <a:rPr lang="en-US" altLang="zh-CN" dirty="0" err="1">
                <a:ea typeface="宋体" panose="02010600030101010101" pitchFamily="2" charset="-122"/>
              </a:rPr>
              <a:t>lw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marL="742950" lvl="1" indent="-285750"/>
            <a:r>
              <a:rPr lang="en-US" altLang="zh-CN" dirty="0" err="1">
                <a:ea typeface="宋体" panose="02010600030101010101" pitchFamily="2" charset="-122"/>
              </a:rPr>
              <a:t>sw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marL="342900" indent="-342900"/>
            <a:r>
              <a:rPr lang="en-US" altLang="zh-CN">
                <a:ea typeface="宋体" panose="02010600030101010101" pitchFamily="2" charset="-122"/>
              </a:rPr>
              <a:t>BRANCH:</a:t>
            </a:r>
            <a:endParaRPr lang="en-US" altLang="zh-CN">
              <a:ea typeface="宋体" panose="02010600030101010101" pitchFamily="2" charset="-122"/>
            </a:endParaRPr>
          </a:p>
          <a:p>
            <a:pPr marL="742950" lvl="1" indent="-285750"/>
            <a:r>
              <a:rPr lang="en-US" altLang="zh-CN" dirty="0" err="1">
                <a:ea typeface="宋体" panose="02010600030101010101" pitchFamily="2" charset="-122"/>
              </a:rPr>
              <a:t>beq</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imm16</a:t>
            </a:r>
            <a:endParaRPr lang="en-US" altLang="zh-CN">
              <a:ea typeface="宋体" panose="02010600030101010101" pitchFamily="2" charset="-122"/>
            </a:endParaRPr>
          </a:p>
          <a:p>
            <a:pPr marL="342900" indent="-342900"/>
            <a:r>
              <a:rPr lang="en-US" altLang="zh-CN">
                <a:ea typeface="宋体" panose="02010600030101010101" pitchFamily="2" charset="-122"/>
              </a:rPr>
              <a:t>JUMP:</a:t>
            </a:r>
            <a:endParaRPr lang="en-US" altLang="zh-CN">
              <a:ea typeface="宋体" panose="02010600030101010101" pitchFamily="2" charset="-122"/>
            </a:endParaRPr>
          </a:p>
          <a:p>
            <a:pPr marL="742950" lvl="1" indent="-285750"/>
            <a:r>
              <a:rPr lang="en-US" altLang="zh-CN">
                <a:ea typeface="宋体" panose="02010600030101010101" pitchFamily="2" charset="-122"/>
              </a:rPr>
              <a:t>j  target</a:t>
            </a:r>
            <a:endParaRPr lang="en-US" altLang="zh-CN">
              <a:ea typeface="宋体" panose="02010600030101010101" pitchFamily="2" charset="-122"/>
            </a:endParaRPr>
          </a:p>
        </p:txBody>
      </p:sp>
      <p:grpSp>
        <p:nvGrpSpPr>
          <p:cNvPr id="200782" name="组合 200781"/>
          <p:cNvGrpSpPr/>
          <p:nvPr/>
        </p:nvGrpSpPr>
        <p:grpSpPr>
          <a:xfrm>
            <a:off x="609600" y="2222500"/>
            <a:ext cx="8534400" cy="1069975"/>
            <a:chOff x="384" y="1408"/>
            <a:chExt cx="5376" cy="674"/>
          </a:xfrm>
        </p:grpSpPr>
        <p:sp>
          <p:nvSpPr>
            <p:cNvPr id="58372" name="文本框 200779"/>
            <p:cNvSpPr txBox="1"/>
            <p:nvPr/>
          </p:nvSpPr>
          <p:spPr>
            <a:xfrm>
              <a:off x="384" y="1509"/>
              <a:ext cx="1526" cy="443"/>
            </a:xfrm>
            <a:prstGeom prst="rect">
              <a:avLst/>
            </a:prstGeom>
            <a:solidFill>
              <a:srgbClr val="FF99CC">
                <a:alpha val="31000"/>
              </a:srgbClr>
            </a:solidFill>
            <a:ln w="50800">
              <a:noFill/>
            </a:ln>
          </p:spPr>
          <p:txBody>
            <a:bodyPr anchor="t" anchorCtr="0">
              <a:spAutoFit/>
            </a:bodyPr>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58373" name="文本框 200780"/>
            <p:cNvSpPr txBox="1"/>
            <p:nvPr/>
          </p:nvSpPr>
          <p:spPr>
            <a:xfrm>
              <a:off x="1965" y="1408"/>
              <a:ext cx="3795" cy="674"/>
            </a:xfrm>
            <a:prstGeom prst="rect">
              <a:avLst/>
            </a:prstGeom>
            <a:solidFill>
              <a:srgbClr val="FF99CC">
                <a:alpha val="29999"/>
              </a:srgbClr>
            </a:solidFill>
            <a:ln w="50800">
              <a:noFill/>
            </a:ln>
          </p:spPr>
          <p:txBody>
            <a:bodyPr anchor="t" anchorCtr="0">
              <a:spAutoFit/>
            </a:bodyPr>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a:p>
              <a:pPr>
                <a:spcBef>
                  <a:spcPct val="50000"/>
                </a:spcBef>
              </a:pPr>
              <a:endParaRPr lang="zh-CN" altLang="en-US" dirty="0">
                <a:latin typeface="Times New Roman" panose="02020603050405020304" pitchFamily="18" charset="0"/>
                <a:ea typeface="宋体" panose="02010600030101010101" pitchFamily="2" charset="-122"/>
              </a:endParaRPr>
            </a:p>
          </p:txBody>
        </p:sp>
      </p:grpSp>
      <p:sp>
        <p:nvSpPr>
          <p:cNvPr id="200783" name="文本框 200782"/>
          <p:cNvSpPr txBox="1"/>
          <p:nvPr/>
        </p:nvSpPr>
        <p:spPr>
          <a:xfrm>
            <a:off x="3975100" y="3697288"/>
            <a:ext cx="4659313" cy="762000"/>
          </a:xfrm>
          <a:prstGeom prst="rect">
            <a:avLst/>
          </a:prstGeom>
          <a:noFill/>
          <a:ln w="50800">
            <a:noFill/>
          </a:ln>
        </p:spPr>
        <p:txBody>
          <a:bodyPr anchor="t" anchorCtr="0">
            <a:spAutoFit/>
          </a:bodyPr>
          <a:p>
            <a:pPr>
              <a:spcBef>
                <a:spcPct val="50000"/>
              </a:spcBef>
            </a:pPr>
            <a:r>
              <a:rPr lang="en-US" altLang="zh-CN" sz="2200" b="0">
                <a:solidFill>
                  <a:schemeClr val="accent1"/>
                </a:solidFill>
                <a:latin typeface="Arial" panose="020B0604020202020204" pitchFamily="34" charset="0"/>
                <a:ea typeface="黑体" panose="02010609060101010101" pitchFamily="49" charset="-122"/>
              </a:rPr>
              <a:t>2.  </a:t>
            </a:r>
            <a:r>
              <a:rPr lang="zh-CN" altLang="en-US" sz="2200" b="0" dirty="0">
                <a:solidFill>
                  <a:schemeClr val="accent1"/>
                </a:solidFill>
                <a:latin typeface="Arial" panose="020B0604020202020204" pitchFamily="34" charset="0"/>
                <a:ea typeface="黑体" panose="02010609060101010101" pitchFamily="49" charset="-122"/>
              </a:rPr>
              <a:t>考虑</a:t>
            </a:r>
            <a:r>
              <a:rPr lang="en-US" altLang="zh-CN" sz="2200" b="0" dirty="0" err="1">
                <a:solidFill>
                  <a:schemeClr val="accent1"/>
                </a:solidFill>
                <a:latin typeface="Arial" panose="020B0604020202020204" pitchFamily="34" charset="0"/>
                <a:ea typeface="黑体" panose="02010609060101010101" pitchFamily="49" charset="-122"/>
              </a:rPr>
              <a:t>ori</a:t>
            </a:r>
            <a:r>
              <a:rPr lang="en-US" altLang="zh-CN" sz="2200" b="0">
                <a:solidFill>
                  <a:schemeClr val="accent1"/>
                </a:solidFill>
                <a:latin typeface="Arial" panose="020B0604020202020204" pitchFamily="34" charset="0"/>
                <a:ea typeface="黑体" panose="02010609060101010101" pitchFamily="49" charset="-122"/>
              </a:rPr>
              <a:t> </a:t>
            </a:r>
            <a:r>
              <a:rPr lang="zh-CN" altLang="en-US" sz="2200" b="0" dirty="0">
                <a:solidFill>
                  <a:schemeClr val="accent1"/>
                </a:solidFill>
                <a:latin typeface="Arial" panose="020B0604020202020204" pitchFamily="34" charset="0"/>
                <a:ea typeface="黑体" panose="02010609060101010101" pitchFamily="49" charset="-122"/>
              </a:rPr>
              <a:t>指令（</a:t>
            </a:r>
            <a:r>
              <a:rPr lang="en-US" altLang="zh-CN" sz="2200" b="0">
                <a:solidFill>
                  <a:schemeClr val="accent1"/>
                </a:solidFill>
                <a:latin typeface="Arial" panose="020B0604020202020204" pitchFamily="34" charset="0"/>
                <a:ea typeface="黑体" panose="02010609060101010101" pitchFamily="49" charset="-122"/>
              </a:rPr>
              <a:t>I-Type</a:t>
            </a:r>
            <a:r>
              <a:rPr lang="zh-CN" altLang="en-US" sz="2200" b="0" dirty="0">
                <a:solidFill>
                  <a:schemeClr val="accent1"/>
                </a:solidFill>
                <a:latin typeface="Arial" panose="020B0604020202020204" pitchFamily="34" charset="0"/>
                <a:ea typeface="黑体" panose="02010609060101010101" pitchFamily="49" charset="-122"/>
              </a:rPr>
              <a:t>指令和逻辑运算指令的代表）</a:t>
            </a:r>
            <a:endParaRPr lang="zh-CN" altLang="en-US" sz="2200" b="0" dirty="0">
              <a:solidFill>
                <a:schemeClr val="accent1"/>
              </a:solidFill>
              <a:latin typeface="Arial" panose="020B0604020202020204" pitchFamily="34" charset="0"/>
              <a:ea typeface="黑体" panose="02010609060101010101" pitchFamily="49" charset="-122"/>
            </a:endParaRPr>
          </a:p>
        </p:txBody>
      </p:sp>
      <p:grpSp>
        <p:nvGrpSpPr>
          <p:cNvPr id="58375" name="组合 200783"/>
          <p:cNvGrpSpPr/>
          <p:nvPr/>
        </p:nvGrpSpPr>
        <p:grpSpPr>
          <a:xfrm>
            <a:off x="3238500" y="990600"/>
            <a:ext cx="5905500" cy="973138"/>
            <a:chOff x="1918" y="672"/>
            <a:chExt cx="3767" cy="613"/>
          </a:xfrm>
        </p:grpSpPr>
        <p:grpSp>
          <p:nvGrpSpPr>
            <p:cNvPr id="58376" name="组合 200784"/>
            <p:cNvGrpSpPr/>
            <p:nvPr/>
          </p:nvGrpSpPr>
          <p:grpSpPr>
            <a:xfrm>
              <a:off x="1918" y="672"/>
              <a:ext cx="3767" cy="421"/>
              <a:chOff x="1918" y="672"/>
              <a:chExt cx="3767" cy="421"/>
            </a:xfrm>
          </p:grpSpPr>
          <p:grpSp>
            <p:nvGrpSpPr>
              <p:cNvPr id="58377" name="组合 200785"/>
              <p:cNvGrpSpPr/>
              <p:nvPr/>
            </p:nvGrpSpPr>
            <p:grpSpPr>
              <a:xfrm>
                <a:off x="1979" y="864"/>
                <a:ext cx="3607" cy="229"/>
                <a:chOff x="1979" y="864"/>
                <a:chExt cx="3607" cy="229"/>
              </a:xfrm>
            </p:grpSpPr>
            <p:sp>
              <p:nvSpPr>
                <p:cNvPr id="58378" name="矩形 200786"/>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58379" name="组合 200787"/>
                <p:cNvGrpSpPr/>
                <p:nvPr/>
              </p:nvGrpSpPr>
              <p:grpSpPr>
                <a:xfrm>
                  <a:off x="1979" y="864"/>
                  <a:ext cx="3607" cy="229"/>
                  <a:chOff x="1979" y="864"/>
                  <a:chExt cx="3607" cy="229"/>
                </a:xfrm>
              </p:grpSpPr>
              <p:grpSp>
                <p:nvGrpSpPr>
                  <p:cNvPr id="58380" name="组合 200788"/>
                  <p:cNvGrpSpPr/>
                  <p:nvPr/>
                </p:nvGrpSpPr>
                <p:grpSpPr>
                  <a:xfrm>
                    <a:off x="1979" y="864"/>
                    <a:ext cx="624" cy="229"/>
                    <a:chOff x="1979" y="864"/>
                    <a:chExt cx="624" cy="229"/>
                  </a:xfrm>
                </p:grpSpPr>
                <p:sp>
                  <p:nvSpPr>
                    <p:cNvPr id="58381" name="矩形 200789"/>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382" name="矩形 200790"/>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58383" name="组合 200791"/>
                  <p:cNvGrpSpPr/>
                  <p:nvPr/>
                </p:nvGrpSpPr>
                <p:grpSpPr>
                  <a:xfrm>
                    <a:off x="2611" y="864"/>
                    <a:ext cx="580" cy="229"/>
                    <a:chOff x="2611" y="864"/>
                    <a:chExt cx="580" cy="229"/>
                  </a:xfrm>
                </p:grpSpPr>
                <p:sp>
                  <p:nvSpPr>
                    <p:cNvPr id="58384" name="矩形 200792"/>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385" name="矩形 200793"/>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58386" name="组合 200794"/>
                  <p:cNvGrpSpPr/>
                  <p:nvPr/>
                </p:nvGrpSpPr>
                <p:grpSpPr>
                  <a:xfrm>
                    <a:off x="3199" y="864"/>
                    <a:ext cx="579" cy="229"/>
                    <a:chOff x="3199" y="864"/>
                    <a:chExt cx="579" cy="229"/>
                  </a:xfrm>
                </p:grpSpPr>
                <p:sp>
                  <p:nvSpPr>
                    <p:cNvPr id="58387" name="矩形 200795"/>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388" name="矩形 200796"/>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58389" name="组合 200797"/>
                  <p:cNvGrpSpPr/>
                  <p:nvPr/>
                </p:nvGrpSpPr>
                <p:grpSpPr>
                  <a:xfrm>
                    <a:off x="3786" y="864"/>
                    <a:ext cx="579" cy="229"/>
                    <a:chOff x="3786" y="864"/>
                    <a:chExt cx="579" cy="229"/>
                  </a:xfrm>
                </p:grpSpPr>
                <p:sp>
                  <p:nvSpPr>
                    <p:cNvPr id="58390" name="矩形 200798"/>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391" name="矩形 200799"/>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58392" name="组合 200800"/>
                  <p:cNvGrpSpPr/>
                  <p:nvPr/>
                </p:nvGrpSpPr>
                <p:grpSpPr>
                  <a:xfrm>
                    <a:off x="4373" y="864"/>
                    <a:ext cx="620" cy="229"/>
                    <a:chOff x="4373" y="864"/>
                    <a:chExt cx="620" cy="229"/>
                  </a:xfrm>
                </p:grpSpPr>
                <p:sp>
                  <p:nvSpPr>
                    <p:cNvPr id="58393" name="矩形 200801"/>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394" name="矩形 200802"/>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58395" name="组合 200803"/>
                  <p:cNvGrpSpPr/>
                  <p:nvPr/>
                </p:nvGrpSpPr>
                <p:grpSpPr>
                  <a:xfrm>
                    <a:off x="4961" y="864"/>
                    <a:ext cx="625" cy="229"/>
                    <a:chOff x="4961" y="864"/>
                    <a:chExt cx="625" cy="229"/>
                  </a:xfrm>
                </p:grpSpPr>
                <p:sp>
                  <p:nvSpPr>
                    <p:cNvPr id="58396" name="矩形 200804"/>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397" name="矩形 200805"/>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58398" name="矩形 200806"/>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58399" name="矩形 200807"/>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58400" name="矩形 200808"/>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58401" name="矩形 200809"/>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58402" name="矩形 200810"/>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58403" name="矩形 200811"/>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58404" name="矩形 200812"/>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58405" name="矩形 200813"/>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06" name="矩形 200814"/>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07" name="矩形 200815"/>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08" name="矩形 200816"/>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09" name="矩形 200817"/>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10" name="矩形 200818"/>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58411" name="组合 200819"/>
          <p:cNvGrpSpPr/>
          <p:nvPr/>
        </p:nvGrpSpPr>
        <p:grpSpPr>
          <a:xfrm>
            <a:off x="3144838" y="2330450"/>
            <a:ext cx="5999162" cy="989013"/>
            <a:chOff x="1918" y="1392"/>
            <a:chExt cx="3763" cy="607"/>
          </a:xfrm>
        </p:grpSpPr>
        <p:sp>
          <p:nvSpPr>
            <p:cNvPr id="58412" name="矩形 200820"/>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58413" name="组合 200821"/>
            <p:cNvGrpSpPr/>
            <p:nvPr/>
          </p:nvGrpSpPr>
          <p:grpSpPr>
            <a:xfrm>
              <a:off x="1979" y="1584"/>
              <a:ext cx="624" cy="223"/>
              <a:chOff x="1979" y="1584"/>
              <a:chExt cx="624" cy="223"/>
            </a:xfrm>
          </p:grpSpPr>
          <p:sp>
            <p:nvSpPr>
              <p:cNvPr id="58414" name="矩形 200822"/>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415" name="矩形 200823"/>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58416" name="组合 200824"/>
            <p:cNvGrpSpPr/>
            <p:nvPr/>
          </p:nvGrpSpPr>
          <p:grpSpPr>
            <a:xfrm>
              <a:off x="2611" y="1584"/>
              <a:ext cx="580" cy="223"/>
              <a:chOff x="2611" y="1584"/>
              <a:chExt cx="580" cy="223"/>
            </a:xfrm>
          </p:grpSpPr>
          <p:sp>
            <p:nvSpPr>
              <p:cNvPr id="58417" name="矩形 200825"/>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418" name="矩形 200826"/>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58419" name="组合 200827"/>
            <p:cNvGrpSpPr/>
            <p:nvPr/>
          </p:nvGrpSpPr>
          <p:grpSpPr>
            <a:xfrm>
              <a:off x="3199" y="1584"/>
              <a:ext cx="579" cy="223"/>
              <a:chOff x="3199" y="1584"/>
              <a:chExt cx="579" cy="223"/>
            </a:xfrm>
          </p:grpSpPr>
          <p:sp>
            <p:nvSpPr>
              <p:cNvPr id="58420" name="矩形 200828"/>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421" name="矩形 200829"/>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58422" name="矩形 200830"/>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423" name="矩形 200831"/>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58424" name="矩形 200832"/>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58425" name="矩形 200833"/>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58426" name="矩形 200834"/>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58427" name="矩形 200835"/>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58428" name="矩形 200836"/>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58429" name="矩形 200837"/>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30" name="矩形 200838"/>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31" name="矩形 200839"/>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32" name="矩形 200840"/>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58433" name="组合 200841"/>
          <p:cNvGrpSpPr/>
          <p:nvPr/>
        </p:nvGrpSpPr>
        <p:grpSpPr>
          <a:xfrm>
            <a:off x="3130550" y="5059363"/>
            <a:ext cx="5975350" cy="1012825"/>
            <a:chOff x="1918" y="3360"/>
            <a:chExt cx="3764" cy="599"/>
          </a:xfrm>
        </p:grpSpPr>
        <p:sp>
          <p:nvSpPr>
            <p:cNvPr id="58434" name="矩形 200842"/>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58435" name="组合 200843"/>
            <p:cNvGrpSpPr/>
            <p:nvPr/>
          </p:nvGrpSpPr>
          <p:grpSpPr>
            <a:xfrm>
              <a:off x="1979" y="3552"/>
              <a:ext cx="624" cy="216"/>
              <a:chOff x="1979" y="3552"/>
              <a:chExt cx="624" cy="216"/>
            </a:xfrm>
          </p:grpSpPr>
          <p:sp>
            <p:nvSpPr>
              <p:cNvPr id="58436" name="矩形 200844"/>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437" name="矩形 200845"/>
              <p:cNvSpPr/>
              <p:nvPr/>
            </p:nvSpPr>
            <p:spPr>
              <a:xfrm>
                <a:off x="2161" y="3552"/>
                <a:ext cx="290" cy="216"/>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58438" name="矩形 200846"/>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58439" name="矩形 200847"/>
            <p:cNvSpPr/>
            <p:nvPr/>
          </p:nvSpPr>
          <p:spPr>
            <a:xfrm>
              <a:off x="3554" y="3552"/>
              <a:ext cx="1098" cy="215"/>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58440" name="矩形 200848"/>
            <p:cNvSpPr/>
            <p:nvPr/>
          </p:nvSpPr>
          <p:spPr>
            <a:xfrm>
              <a:off x="5488" y="3360"/>
              <a:ext cx="19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58441" name="矩形 200849"/>
            <p:cNvSpPr/>
            <p:nvPr/>
          </p:nvSpPr>
          <p:spPr>
            <a:xfrm>
              <a:off x="2414"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58442" name="矩形 200850"/>
            <p:cNvSpPr/>
            <p:nvPr/>
          </p:nvSpPr>
          <p:spPr>
            <a:xfrm>
              <a:off x="1918"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58443" name="矩形 200851"/>
            <p:cNvSpPr/>
            <p:nvPr/>
          </p:nvSpPr>
          <p:spPr>
            <a:xfrm>
              <a:off x="2143" y="3744"/>
              <a:ext cx="482"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58444" name="矩形 200852"/>
            <p:cNvSpPr/>
            <p:nvPr/>
          </p:nvSpPr>
          <p:spPr>
            <a:xfrm>
              <a:off x="3816" y="3744"/>
              <a:ext cx="570"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0783"/>
                                        </p:tgtEl>
                                        <p:attrNameLst>
                                          <p:attrName>style.visibility</p:attrName>
                                        </p:attrNameLst>
                                      </p:cBhvr>
                                      <p:to>
                                        <p:strVal val="visible"/>
                                      </p:to>
                                    </p:set>
                                    <p:animEffect transition="in" filter="blinds(horizontal)">
                                      <p:cBhvr>
                                        <p:cTn id="7" dur="500"/>
                                        <p:tgtEl>
                                          <p:spTgt spid="2007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0782"/>
                                        </p:tgtEl>
                                        <p:attrNameLst>
                                          <p:attrName>style.visibility</p:attrName>
                                        </p:attrNameLst>
                                      </p:cBhvr>
                                      <p:to>
                                        <p:strVal val="visible"/>
                                      </p:to>
                                    </p:set>
                                    <p:animEffect transition="in" filter="blinds(horizontal)">
                                      <p:cBhvr>
                                        <p:cTn id="12" dur="500"/>
                                        <p:tgtEl>
                                          <p:spTgt spid="200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8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标题 202753"/>
          <p:cNvSpPr>
            <a:spLocks noGrp="1"/>
          </p:cNvSpPr>
          <p:nvPr>
            <p:ph type="title"/>
          </p:nvPr>
        </p:nvSpPr>
        <p:spPr>
          <a:xfrm>
            <a:off x="444500" y="203200"/>
            <a:ext cx="9264650" cy="531813"/>
          </a:xfrm>
          <a:ln/>
        </p:spPr>
        <p:txBody>
          <a:bodyPr vert="horz" wrap="square" lIns="63500" tIns="25400" rIns="63500" bIns="25400" anchor="t" anchorCtr="0">
            <a:spAutoFit/>
          </a:bodyPr>
          <a:p>
            <a:r>
              <a:rPr lang="en-US" altLang="zh-CN">
                <a:ea typeface="宋体" panose="02010600030101010101" pitchFamily="2" charset="-122"/>
              </a:rPr>
              <a:t>RTL: The OR Immediate Instruction</a:t>
            </a:r>
            <a:endParaRPr lang="en-US" altLang="zh-CN">
              <a:ea typeface="宋体" panose="02010600030101010101" pitchFamily="2" charset="-122"/>
            </a:endParaRPr>
          </a:p>
        </p:txBody>
      </p:sp>
      <p:sp>
        <p:nvSpPr>
          <p:cNvPr id="202755" name="内容占位符 202754"/>
          <p:cNvSpPr>
            <a:spLocks noGrp="1"/>
          </p:cNvSpPr>
          <p:nvPr>
            <p:ph idx="1"/>
          </p:nvPr>
        </p:nvSpPr>
        <p:spPr>
          <a:xfrm>
            <a:off x="495300" y="1981200"/>
            <a:ext cx="8191500" cy="2079625"/>
          </a:xfrm>
          <a:ln/>
        </p:spPr>
        <p:txBody>
          <a:bodyPr vert="horz" wrap="square" lIns="63500" tIns="25400" rIns="63500" bIns="25400" anchor="t" anchorCtr="0">
            <a:spAutoFit/>
          </a:bodyPr>
          <a:p>
            <a:pPr>
              <a:lnSpc>
                <a:spcPct val="105000"/>
              </a:lnSpc>
            </a:pPr>
            <a:r>
              <a:rPr lang="en-US" altLang="zh-CN" sz="2000" dirty="0" err="1">
                <a:ea typeface="宋体" panose="02010600030101010101" pitchFamily="2" charset="-122"/>
              </a:rPr>
              <a:t>ori</a:t>
            </a:r>
            <a:r>
              <a:rPr lang="en-US" altLang="zh-CN" sz="2000">
                <a:ea typeface="宋体" panose="02010600030101010101" pitchFamily="2" charset="-122"/>
              </a:rPr>
              <a:t>	</a:t>
            </a:r>
            <a:r>
              <a:rPr lang="en-US" altLang="zh-CN" sz="2000" dirty="0" err="1">
                <a:ea typeface="宋体" panose="02010600030101010101" pitchFamily="2" charset="-122"/>
              </a:rPr>
              <a:t>rt</a:t>
            </a:r>
            <a:r>
              <a:rPr lang="en-US" altLang="zh-CN" sz="2000">
                <a:ea typeface="宋体" panose="02010600030101010101" pitchFamily="2" charset="-122"/>
              </a:rPr>
              <a:t>, </a:t>
            </a:r>
            <a:r>
              <a:rPr lang="en-US" altLang="zh-CN" sz="2000" dirty="0" err="1">
                <a:ea typeface="宋体" panose="02010600030101010101" pitchFamily="2" charset="-122"/>
              </a:rPr>
              <a:t>rs</a:t>
            </a:r>
            <a:r>
              <a:rPr lang="en-US" altLang="zh-CN" sz="2000">
                <a:ea typeface="宋体" panose="02010600030101010101" pitchFamily="2" charset="-122"/>
              </a:rPr>
              <a:t>, imm16</a:t>
            </a:r>
            <a:endParaRPr lang="en-US" altLang="zh-CN" sz="2000">
              <a:ea typeface="宋体" panose="02010600030101010101" pitchFamily="2" charset="-122"/>
            </a:endParaRPr>
          </a:p>
          <a:p>
            <a:pPr lvl="1">
              <a:lnSpc>
                <a:spcPct val="105000"/>
              </a:lnSpc>
            </a:pPr>
            <a:r>
              <a:rPr lang="en-US" altLang="zh-CN" sz="2000">
                <a:ea typeface="宋体" panose="02010600030101010101" pitchFamily="2" charset="-122"/>
              </a:rPr>
              <a:t>M[PC]		</a:t>
            </a:r>
            <a:r>
              <a:rPr lang="zh-CN" altLang="en-US" sz="2000" dirty="0">
                <a:solidFill>
                  <a:schemeClr val="accent1"/>
                </a:solidFill>
                <a:ea typeface="黑体" panose="02010609060101010101" pitchFamily="49" charset="-122"/>
              </a:rPr>
              <a:t>取指令（公共操作，取指部件完成）</a:t>
            </a:r>
            <a:endParaRPr lang="en-US" altLang="zh-CN" sz="2000">
              <a:solidFill>
                <a:schemeClr val="accent1"/>
              </a:solidFill>
              <a:ea typeface="黑体" panose="02010609060101010101" pitchFamily="49" charset="-122"/>
            </a:endParaRPr>
          </a:p>
          <a:p>
            <a:pPr lvl="1">
              <a:lnSpc>
                <a:spcPct val="105000"/>
              </a:lnSpc>
            </a:pPr>
            <a:r>
              <a:rPr lang="en-US" altLang="zh-CN" sz="2000" dirty="0" err="1">
                <a:ea typeface="黑体" panose="02010609060101010101" pitchFamily="49" charset="-122"/>
              </a:rPr>
              <a:t>R[rt</a:t>
            </a:r>
            <a:r>
              <a:rPr lang="en-US" altLang="zh-CN" sz="2000">
                <a:ea typeface="黑体" panose="02010609060101010101" pitchFamily="49" charset="-122"/>
              </a:rPr>
              <a:t>]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a:t>
            </a:r>
            <a:r>
              <a:rPr lang="en-US" altLang="zh-CN" sz="2000" dirty="0" err="1">
                <a:ea typeface="黑体" panose="02010609060101010101" pitchFamily="49" charset="-122"/>
              </a:rPr>
              <a:t>R[rs</a:t>
            </a:r>
            <a:r>
              <a:rPr lang="en-US" altLang="zh-CN" sz="2000">
                <a:ea typeface="黑体" panose="02010609060101010101" pitchFamily="49" charset="-122"/>
              </a:rPr>
              <a:t>] or ZeroExt(imm16)</a:t>
            </a:r>
            <a:endParaRPr lang="en-US" altLang="zh-CN" sz="2000">
              <a:ea typeface="黑体" panose="02010609060101010101" pitchFamily="49" charset="-122"/>
            </a:endParaRPr>
          </a:p>
          <a:p>
            <a:pPr lvl="1">
              <a:lnSpc>
                <a:spcPct val="105000"/>
              </a:lnSpc>
              <a:buNone/>
            </a:pPr>
            <a:r>
              <a:rPr lang="en-US" altLang="zh-CN" sz="2000">
                <a:ea typeface="黑体" panose="02010609060101010101" pitchFamily="49" charset="-122"/>
              </a:rPr>
              <a:t>                                    </a:t>
            </a:r>
            <a:r>
              <a:rPr lang="zh-CN" altLang="en-US" sz="2000" dirty="0">
                <a:solidFill>
                  <a:schemeClr val="accent1"/>
                </a:solidFill>
                <a:ea typeface="黑体" panose="02010609060101010101" pitchFamily="49" charset="-122"/>
              </a:rPr>
              <a:t>立即数零扩展，并与</a:t>
            </a:r>
            <a:r>
              <a:rPr lang="en-US" altLang="zh-CN" sz="2000" dirty="0" err="1">
                <a:solidFill>
                  <a:schemeClr val="accent1"/>
                </a:solidFill>
                <a:ea typeface="黑体" panose="02010609060101010101" pitchFamily="49" charset="-122"/>
              </a:rPr>
              <a:t>rs</a:t>
            </a:r>
            <a:r>
              <a:rPr lang="zh-CN" altLang="en-US" sz="2000" dirty="0">
                <a:solidFill>
                  <a:schemeClr val="accent1"/>
                </a:solidFill>
                <a:ea typeface="黑体" panose="02010609060101010101" pitchFamily="49" charset="-122"/>
              </a:rPr>
              <a:t>内容做“或”运算</a:t>
            </a:r>
            <a:endParaRPr lang="en-US" altLang="zh-CN" sz="2000">
              <a:solidFill>
                <a:schemeClr val="accent1"/>
              </a:solidFill>
              <a:ea typeface="黑体" panose="02010609060101010101" pitchFamily="49" charset="-122"/>
            </a:endParaRPr>
          </a:p>
          <a:p>
            <a:pPr lvl="1">
              <a:lnSpc>
                <a:spcPct val="105000"/>
              </a:lnSpc>
            </a:pPr>
            <a:r>
              <a:rPr lang="en-US" altLang="zh-CN" sz="2000">
                <a:ea typeface="黑体" panose="02010609060101010101" pitchFamily="49" charset="-122"/>
              </a:rPr>
              <a:t>PC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PC + 4            </a:t>
            </a:r>
            <a:r>
              <a:rPr lang="zh-CN" altLang="en-US" sz="2000" dirty="0">
                <a:solidFill>
                  <a:schemeClr val="accent1"/>
                </a:solidFill>
                <a:ea typeface="黑体" panose="02010609060101010101" pitchFamily="49" charset="-122"/>
              </a:rPr>
              <a:t>计算下地址（公共操作，取指部件完成）</a:t>
            </a:r>
            <a:endParaRPr lang="zh-CN" altLang="en-US" sz="2000" dirty="0">
              <a:solidFill>
                <a:schemeClr val="accent1"/>
              </a:solidFill>
              <a:ea typeface="黑体" panose="02010609060101010101" pitchFamily="49" charset="-122"/>
            </a:endParaRPr>
          </a:p>
        </p:txBody>
      </p:sp>
      <p:grpSp>
        <p:nvGrpSpPr>
          <p:cNvPr id="202778" name="组合 202777"/>
          <p:cNvGrpSpPr/>
          <p:nvPr/>
        </p:nvGrpSpPr>
        <p:grpSpPr>
          <a:xfrm>
            <a:off x="355600" y="4244975"/>
            <a:ext cx="8108950" cy="1385888"/>
            <a:chOff x="-160" y="2506"/>
            <a:chExt cx="5438" cy="873"/>
          </a:xfrm>
        </p:grpSpPr>
        <p:grpSp>
          <p:nvGrpSpPr>
            <p:cNvPr id="60420" name="组合 202778"/>
            <p:cNvGrpSpPr/>
            <p:nvPr/>
          </p:nvGrpSpPr>
          <p:grpSpPr>
            <a:xfrm>
              <a:off x="1549" y="2766"/>
              <a:ext cx="3729" cy="613"/>
              <a:chOff x="1091" y="3194"/>
              <a:chExt cx="3729" cy="613"/>
            </a:xfrm>
          </p:grpSpPr>
          <p:sp>
            <p:nvSpPr>
              <p:cNvPr id="60421" name="矩形 202779"/>
              <p:cNvSpPr/>
              <p:nvPr/>
            </p:nvSpPr>
            <p:spPr>
              <a:xfrm>
                <a:off x="1108" y="3394"/>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0422" name="矩形 202780"/>
              <p:cNvSpPr/>
              <p:nvPr/>
            </p:nvSpPr>
            <p:spPr>
              <a:xfrm>
                <a:off x="2911" y="3390"/>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0423" name="矩形 202781"/>
              <p:cNvSpPr/>
              <p:nvPr/>
            </p:nvSpPr>
            <p:spPr>
              <a:xfrm>
                <a:off x="3462" y="3386"/>
                <a:ext cx="879"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0424" name="矩形 202782"/>
              <p:cNvSpPr/>
              <p:nvPr/>
            </p:nvSpPr>
            <p:spPr>
              <a:xfrm>
                <a:off x="4614" y="3194"/>
                <a:ext cx="20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0425" name="矩形 202783"/>
              <p:cNvSpPr/>
              <p:nvPr/>
            </p:nvSpPr>
            <p:spPr>
              <a:xfrm>
                <a:off x="2715" y="3194"/>
                <a:ext cx="292"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0426" name="矩形 202784"/>
              <p:cNvSpPr/>
              <p:nvPr/>
            </p:nvSpPr>
            <p:spPr>
              <a:xfrm>
                <a:off x="2895" y="3194"/>
                <a:ext cx="292"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15</a:t>
                </a:r>
                <a:endParaRPr lang="zh-CN" altLang="en-US" sz="1800" dirty="0">
                  <a:latin typeface="Arial" panose="020B0604020202020204" pitchFamily="34" charset="0"/>
                  <a:ea typeface="宋体" panose="02010600030101010101" pitchFamily="2" charset="-122"/>
                </a:endParaRPr>
              </a:p>
            </p:txBody>
          </p:sp>
          <p:sp>
            <p:nvSpPr>
              <p:cNvPr id="60427" name="矩形 202785"/>
              <p:cNvSpPr/>
              <p:nvPr/>
            </p:nvSpPr>
            <p:spPr>
              <a:xfrm>
                <a:off x="1091" y="3194"/>
                <a:ext cx="292"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0428" name="矩形 202786"/>
              <p:cNvSpPr/>
              <p:nvPr/>
            </p:nvSpPr>
            <p:spPr>
              <a:xfrm>
                <a:off x="3573" y="3578"/>
                <a:ext cx="59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0429" name="矩形 202787"/>
              <p:cNvSpPr/>
              <p:nvPr/>
            </p:nvSpPr>
            <p:spPr>
              <a:xfrm>
                <a:off x="1819" y="3578"/>
                <a:ext cx="60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0430" name="矩形 202788"/>
              <p:cNvSpPr/>
              <p:nvPr/>
            </p:nvSpPr>
            <p:spPr>
              <a:xfrm>
                <a:off x="1203" y="3392"/>
                <a:ext cx="1611"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0000 0000 0000 0000</a:t>
                </a:r>
                <a:endParaRPr lang="zh-CN" altLang="en-US" sz="1800" dirty="0">
                  <a:latin typeface="Arial" panose="020B0604020202020204" pitchFamily="34" charset="0"/>
                  <a:ea typeface="宋体" panose="02010600030101010101" pitchFamily="2" charset="-122"/>
                </a:endParaRPr>
              </a:p>
            </p:txBody>
          </p:sp>
        </p:grpSp>
        <p:sp>
          <p:nvSpPr>
            <p:cNvPr id="60431" name="矩形 202789"/>
            <p:cNvSpPr/>
            <p:nvPr/>
          </p:nvSpPr>
          <p:spPr>
            <a:xfrm>
              <a:off x="-160" y="2506"/>
              <a:ext cx="2253" cy="269"/>
            </a:xfrm>
            <a:prstGeom prst="rect">
              <a:avLst/>
            </a:prstGeom>
            <a:noFill/>
            <a:ln w="25400">
              <a:noFill/>
            </a:ln>
          </p:spPr>
          <p:txBody>
            <a:bodyPr anchor="t" anchorCtr="0">
              <a:spAutoFit/>
            </a:bodyPr>
            <a:p>
              <a:pPr algn="ctr"/>
              <a:r>
                <a:rPr lang="zh-CN" altLang="en-US" sz="2200" dirty="0">
                  <a:solidFill>
                    <a:srgbClr val="0000FF"/>
                  </a:solidFill>
                  <a:latin typeface="Arial" panose="020B0604020202020204" pitchFamily="34" charset="0"/>
                  <a:ea typeface="黑体" panose="02010609060101010101" pitchFamily="49" charset="-122"/>
                </a:rPr>
                <a:t>零扩展 </a:t>
              </a:r>
              <a:r>
                <a:rPr lang="en-US" altLang="zh-CN" sz="2200">
                  <a:solidFill>
                    <a:srgbClr val="0000FF"/>
                  </a:solidFill>
                  <a:latin typeface="Arial" panose="020B0604020202020204" pitchFamily="34" charset="0"/>
                  <a:ea typeface="黑体" panose="02010609060101010101" pitchFamily="49" charset="-122"/>
                </a:rPr>
                <a:t>ZeroExt(imm16)</a:t>
              </a:r>
              <a:endParaRPr lang="zh-CN" altLang="en-US" sz="2200" dirty="0">
                <a:solidFill>
                  <a:srgbClr val="0000FF"/>
                </a:solidFill>
                <a:latin typeface="Arial" panose="020B0604020202020204" pitchFamily="34" charset="0"/>
                <a:ea typeface="黑体" panose="02010609060101010101" pitchFamily="49" charset="-122"/>
              </a:endParaRPr>
            </a:p>
          </p:txBody>
        </p:sp>
      </p:grpSp>
      <p:sp>
        <p:nvSpPr>
          <p:cNvPr id="202791" name="文本框 202790"/>
          <p:cNvSpPr txBox="1"/>
          <p:nvPr/>
        </p:nvSpPr>
        <p:spPr>
          <a:xfrm>
            <a:off x="565150" y="5830888"/>
            <a:ext cx="8578850" cy="427037"/>
          </a:xfrm>
          <a:prstGeom prst="rect">
            <a:avLst/>
          </a:prstGeom>
          <a:noFill/>
          <a:ln w="25400">
            <a:noFill/>
          </a:ln>
        </p:spPr>
        <p:txBody>
          <a:bodyPr anchor="t" anchorCtr="0">
            <a:spAutoFit/>
          </a:bodyPr>
          <a:p>
            <a:pPr>
              <a:spcBef>
                <a:spcPct val="50000"/>
              </a:spcBef>
            </a:pPr>
            <a:r>
              <a:rPr lang="zh-CN" altLang="en-US" sz="2200" dirty="0">
                <a:solidFill>
                  <a:srgbClr val="CC0000"/>
                </a:solidFill>
                <a:latin typeface="Arial" panose="020B0604020202020204" pitchFamily="34" charset="0"/>
                <a:ea typeface="黑体" panose="02010609060101010101" pitchFamily="49" charset="-122"/>
              </a:rPr>
              <a:t>思考：应在前面数据通路上加哪些元件和连线？用何控制信号？</a:t>
            </a:r>
            <a:endParaRPr lang="zh-CN" altLang="en-US" sz="2200" dirty="0">
              <a:solidFill>
                <a:srgbClr val="CC0000"/>
              </a:solidFill>
              <a:latin typeface="Arial" panose="020B0604020202020204" pitchFamily="34" charset="0"/>
              <a:ea typeface="黑体" panose="02010609060101010101" pitchFamily="49" charset="-122"/>
            </a:endParaRPr>
          </a:p>
        </p:txBody>
      </p:sp>
      <p:sp>
        <p:nvSpPr>
          <p:cNvPr id="60433" name="文本框 202791"/>
          <p:cNvSpPr txBox="1"/>
          <p:nvPr/>
        </p:nvSpPr>
        <p:spPr>
          <a:xfrm>
            <a:off x="4638675" y="1789113"/>
            <a:ext cx="3725863" cy="427037"/>
          </a:xfrm>
          <a:prstGeom prst="rect">
            <a:avLst/>
          </a:prstGeom>
          <a:noFill/>
          <a:ln w="50800">
            <a:noFill/>
          </a:ln>
        </p:spPr>
        <p:txBody>
          <a:bodyPr anchor="t" anchorCtr="0">
            <a:spAutoFit/>
          </a:bodyPr>
          <a:p>
            <a:pPr>
              <a:spcBef>
                <a:spcPct val="50000"/>
              </a:spcBef>
            </a:pPr>
            <a:r>
              <a:rPr lang="zh-CN" altLang="en-US" sz="2200" dirty="0">
                <a:solidFill>
                  <a:srgbClr val="339933"/>
                </a:solidFill>
                <a:latin typeface="Times New Roman" panose="02020603050405020304" pitchFamily="18" charset="0"/>
                <a:ea typeface="黑体" panose="02010609060101010101" pitchFamily="49" charset="-122"/>
              </a:rPr>
              <a:t>逻辑运算，立即数为逻辑数</a:t>
            </a:r>
            <a:endParaRPr lang="zh-CN" altLang="en-US" sz="2200" dirty="0">
              <a:solidFill>
                <a:srgbClr val="339933"/>
              </a:solidFill>
              <a:latin typeface="Times New Roman" panose="02020603050405020304" pitchFamily="18" charset="0"/>
              <a:ea typeface="黑体" panose="02010609060101010101" pitchFamily="49" charset="-122"/>
            </a:endParaRPr>
          </a:p>
        </p:txBody>
      </p:sp>
      <p:grpSp>
        <p:nvGrpSpPr>
          <p:cNvPr id="60434" name="组合 202792"/>
          <p:cNvGrpSpPr/>
          <p:nvPr/>
        </p:nvGrpSpPr>
        <p:grpSpPr>
          <a:xfrm>
            <a:off x="2014538" y="717550"/>
            <a:ext cx="5999162" cy="989013"/>
            <a:chOff x="1918" y="1392"/>
            <a:chExt cx="3763" cy="607"/>
          </a:xfrm>
        </p:grpSpPr>
        <p:sp>
          <p:nvSpPr>
            <p:cNvPr id="60435" name="矩形 202793"/>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60436" name="组合 202794"/>
            <p:cNvGrpSpPr/>
            <p:nvPr/>
          </p:nvGrpSpPr>
          <p:grpSpPr>
            <a:xfrm>
              <a:off x="1979" y="1584"/>
              <a:ext cx="624" cy="223"/>
              <a:chOff x="1979" y="1584"/>
              <a:chExt cx="624" cy="223"/>
            </a:xfrm>
          </p:grpSpPr>
          <p:sp>
            <p:nvSpPr>
              <p:cNvPr id="60437" name="矩形 202795"/>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0438" name="矩形 202796"/>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60439" name="组合 202797"/>
            <p:cNvGrpSpPr/>
            <p:nvPr/>
          </p:nvGrpSpPr>
          <p:grpSpPr>
            <a:xfrm>
              <a:off x="2611" y="1584"/>
              <a:ext cx="580" cy="223"/>
              <a:chOff x="2611" y="1584"/>
              <a:chExt cx="580" cy="223"/>
            </a:xfrm>
          </p:grpSpPr>
          <p:sp>
            <p:nvSpPr>
              <p:cNvPr id="60440" name="矩形 202798"/>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0441" name="矩形 202799"/>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60442" name="组合 202800"/>
            <p:cNvGrpSpPr/>
            <p:nvPr/>
          </p:nvGrpSpPr>
          <p:grpSpPr>
            <a:xfrm>
              <a:off x="3199" y="1584"/>
              <a:ext cx="579" cy="223"/>
              <a:chOff x="3199" y="1584"/>
              <a:chExt cx="579" cy="223"/>
            </a:xfrm>
          </p:grpSpPr>
          <p:sp>
            <p:nvSpPr>
              <p:cNvPr id="60443" name="矩形 202801"/>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0444" name="矩形 202802"/>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60445" name="矩形 202803"/>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0446" name="矩形 202804"/>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0447" name="矩形 202805"/>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0448" name="矩形 202806"/>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0449" name="矩形 202807"/>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60450" name="矩形 202808"/>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60451" name="矩形 202809"/>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0452" name="矩形 202810"/>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0453" name="矩形 202811"/>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0454" name="矩形 202812"/>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0455" name="矩形 202813"/>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2755">
                                            <p:txEl>
                                              <p:charRg st="18" end="42"/>
                                            </p:txEl>
                                          </p:spTgt>
                                        </p:tgtEl>
                                        <p:attrNameLst>
                                          <p:attrName>style.visibility</p:attrName>
                                        </p:attrNameLst>
                                      </p:cBhvr>
                                      <p:to>
                                        <p:strVal val="visible"/>
                                      </p:to>
                                    </p:set>
                                    <p:animEffect transition="in" filter="blinds(horizontal)">
                                      <p:cBhvr>
                                        <p:cTn id="7" dur="500"/>
                                        <p:tgtEl>
                                          <p:spTgt spid="202755">
                                            <p:txEl>
                                              <p:charRg st="18" end="4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2755">
                                            <p:txEl>
                                              <p:charRg st="42" end="74"/>
                                            </p:txEl>
                                          </p:spTgt>
                                        </p:tgtEl>
                                        <p:attrNameLst>
                                          <p:attrName>style.visibility</p:attrName>
                                        </p:attrNameLst>
                                      </p:cBhvr>
                                      <p:to>
                                        <p:strVal val="visible"/>
                                      </p:to>
                                    </p:set>
                                    <p:animEffect transition="in" filter="blinds(horizontal)">
                                      <p:cBhvr>
                                        <p:cTn id="12" dur="500"/>
                                        <p:tgtEl>
                                          <p:spTgt spid="202755">
                                            <p:txEl>
                                              <p:charRg st="42" end="7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02755">
                                            <p:txEl>
                                              <p:charRg st="74" end="130"/>
                                            </p:txEl>
                                          </p:spTgt>
                                        </p:tgtEl>
                                        <p:attrNameLst>
                                          <p:attrName>style.visibility</p:attrName>
                                        </p:attrNameLst>
                                      </p:cBhvr>
                                      <p:to>
                                        <p:strVal val="visible"/>
                                      </p:to>
                                    </p:set>
                                    <p:animEffect transition="in" filter="blinds(horizontal)">
                                      <p:cBhvr>
                                        <p:cTn id="15" dur="500"/>
                                        <p:tgtEl>
                                          <p:spTgt spid="202755">
                                            <p:txEl>
                                              <p:charRg st="74" end="13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02755">
                                            <p:txEl>
                                              <p:charRg st="130" end="172"/>
                                            </p:txEl>
                                          </p:spTgt>
                                        </p:tgtEl>
                                        <p:attrNameLst>
                                          <p:attrName>style.visibility</p:attrName>
                                        </p:attrNameLst>
                                      </p:cBhvr>
                                      <p:to>
                                        <p:strVal val="visible"/>
                                      </p:to>
                                    </p:set>
                                    <p:animEffect transition="in" filter="blinds(horizontal)">
                                      <p:cBhvr>
                                        <p:cTn id="20" dur="500"/>
                                        <p:tgtEl>
                                          <p:spTgt spid="202755">
                                            <p:txEl>
                                              <p:charRg st="130" end="17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202778"/>
                                        </p:tgtEl>
                                        <p:attrNameLst>
                                          <p:attrName>style.visibility</p:attrName>
                                        </p:attrNameLst>
                                      </p:cBhvr>
                                      <p:to>
                                        <p:strVal val="visible"/>
                                      </p:to>
                                    </p:set>
                                    <p:animEffect transition="in" filter="checkerboard(across)">
                                      <p:cBhvr>
                                        <p:cTn id="25" dur="500"/>
                                        <p:tgtEl>
                                          <p:spTgt spid="202778"/>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202791"/>
                                        </p:tgtEl>
                                        <p:attrNameLst>
                                          <p:attrName>style.visibility</p:attrName>
                                        </p:attrNameLst>
                                      </p:cBhvr>
                                      <p:to>
                                        <p:strVal val="visible"/>
                                      </p:to>
                                    </p:set>
                                    <p:animEffect transition="in" filter="checkerboard(across)">
                                      <p:cBhvr>
                                        <p:cTn id="30" dur="500"/>
                                        <p:tgtEl>
                                          <p:spTgt spid="202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9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204801"/>
          <p:cNvSpPr>
            <a:spLocks noGrp="1"/>
          </p:cNvSpPr>
          <p:nvPr>
            <p:ph type="title"/>
          </p:nvPr>
        </p:nvSpPr>
        <p:spPr>
          <a:xfrm>
            <a:off x="444500" y="203200"/>
            <a:ext cx="7053263" cy="422275"/>
          </a:xfrm>
          <a:ln/>
        </p:spPr>
        <p:txBody>
          <a:bodyPr vert="horz" wrap="square" lIns="63500" tIns="25400" rIns="63500" bIns="25400" anchor="t" anchorCtr="0">
            <a:spAutoFit/>
          </a:bodyPr>
          <a:p>
            <a:r>
              <a:rPr lang="zh-CN" altLang="en-US" dirty="0">
                <a:ea typeface="宋体" panose="02010600030101010101" pitchFamily="2" charset="-122"/>
              </a:rPr>
              <a:t>带立即数的逻辑指令的数据通路</a:t>
            </a:r>
            <a:endParaRPr lang="zh-CN" altLang="en-US" dirty="0">
              <a:ea typeface="宋体" panose="02010600030101010101" pitchFamily="2" charset="-122"/>
            </a:endParaRPr>
          </a:p>
        </p:txBody>
      </p:sp>
      <p:sp>
        <p:nvSpPr>
          <p:cNvPr id="62466" name="文本占位符 204802"/>
          <p:cNvSpPr>
            <a:spLocks noGrp="1"/>
          </p:cNvSpPr>
          <p:nvPr>
            <p:ph idx="1"/>
          </p:nvPr>
        </p:nvSpPr>
        <p:spPr>
          <a:xfrm>
            <a:off x="419100" y="749300"/>
            <a:ext cx="8191500" cy="325438"/>
          </a:xfrm>
          <a:ln/>
        </p:spPr>
        <p:txBody>
          <a:bodyPr vert="horz" wrap="square" lIns="63500" tIns="25400" rIns="63500" bIns="25400" anchor="t" anchorCtr="0">
            <a:spAutoFit/>
          </a:bodyPr>
          <a:p>
            <a:r>
              <a:rPr lang="en-US" altLang="zh-CN" dirty="0" err="1">
                <a:ea typeface="宋体" panose="02010600030101010101" pitchFamily="2" charset="-122"/>
              </a:rPr>
              <a:t>R[</a:t>
            </a:r>
            <a:r>
              <a:rPr lang="en-US" altLang="zh-CN" dirty="0" err="1">
                <a:solidFill>
                  <a:srgbClr val="A50021"/>
                </a:solidFill>
                <a:ea typeface="宋体" panose="02010600030101010101" pitchFamily="2" charset="-122"/>
              </a:rPr>
              <a:t>rt</a:t>
            </a:r>
            <a:r>
              <a:rPr lang="en-US" altLang="zh-CN">
                <a:ea typeface="宋体" panose="02010600030101010101" pitchFamily="2" charset="-122"/>
              </a:rPr>
              <a:t>] </a:t>
            </a:r>
            <a:r>
              <a:rPr lang="en-US" altLang="zh-CN">
                <a:solidFill>
                  <a:srgbClr val="CC0000"/>
                </a:solidFill>
                <a:ea typeface="宋体" panose="02010600030101010101" pitchFamily="2" charset="-122"/>
                <a:sym typeface="Wingdings" panose="05000000000000000000" pitchFamily="2" charset="2"/>
              </a:rPr>
              <a:t>←</a:t>
            </a:r>
            <a:r>
              <a:rPr lang="en-US" altLang="zh-CN">
                <a:ea typeface="宋体" panose="02010600030101010101" pitchFamily="2" charset="-122"/>
              </a:rPr>
              <a:t> </a:t>
            </a:r>
            <a:r>
              <a:rPr lang="en-US" altLang="zh-CN" dirty="0" err="1">
                <a:ea typeface="宋体" panose="02010600030101010101" pitchFamily="2" charset="-122"/>
              </a:rPr>
              <a:t>R[rs</a:t>
            </a:r>
            <a:r>
              <a:rPr lang="en-US" altLang="zh-CN">
                <a:ea typeface="宋体" panose="02010600030101010101" pitchFamily="2" charset="-122"/>
              </a:rPr>
              <a:t>] op ZeroExt[imm16]] 	Example: </a:t>
            </a:r>
            <a:r>
              <a:rPr lang="en-US" altLang="zh-CN" dirty="0" err="1">
                <a:ea typeface="宋体" panose="02010600030101010101" pitchFamily="2" charset="-122"/>
              </a:rPr>
              <a:t>ori</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p:txBody>
      </p:sp>
      <p:grpSp>
        <p:nvGrpSpPr>
          <p:cNvPr id="62467" name="组合 204803"/>
          <p:cNvGrpSpPr/>
          <p:nvPr/>
        </p:nvGrpSpPr>
        <p:grpSpPr>
          <a:xfrm>
            <a:off x="5791200" y="3608388"/>
            <a:ext cx="457200" cy="1219200"/>
            <a:chOff x="3648" y="2552"/>
            <a:chExt cx="288" cy="768"/>
          </a:xfrm>
        </p:grpSpPr>
        <p:sp>
          <p:nvSpPr>
            <p:cNvPr id="62468" name="直接连接符 204804"/>
            <p:cNvSpPr/>
            <p:nvPr/>
          </p:nvSpPr>
          <p:spPr>
            <a:xfrm>
              <a:off x="3648" y="2552"/>
              <a:ext cx="0" cy="176"/>
            </a:xfrm>
            <a:prstGeom prst="line">
              <a:avLst/>
            </a:prstGeom>
            <a:ln w="25400" cap="flat" cmpd="sng">
              <a:solidFill>
                <a:schemeClr val="tx1"/>
              </a:solidFill>
              <a:prstDash val="solid"/>
              <a:round/>
              <a:headEnd type="none" w="med" len="med"/>
              <a:tailEnd type="none" w="med" len="med"/>
            </a:ln>
          </p:spPr>
        </p:sp>
        <p:sp>
          <p:nvSpPr>
            <p:cNvPr id="62469" name="直接连接符 204805"/>
            <p:cNvSpPr/>
            <p:nvPr/>
          </p:nvSpPr>
          <p:spPr>
            <a:xfrm>
              <a:off x="3656" y="2552"/>
              <a:ext cx="272" cy="176"/>
            </a:xfrm>
            <a:prstGeom prst="line">
              <a:avLst/>
            </a:prstGeom>
            <a:ln w="25400" cap="flat" cmpd="sng">
              <a:solidFill>
                <a:schemeClr val="tx1"/>
              </a:solidFill>
              <a:prstDash val="solid"/>
              <a:round/>
              <a:headEnd type="none" w="med" len="med"/>
              <a:tailEnd type="none" w="med" len="med"/>
            </a:ln>
          </p:spPr>
        </p:sp>
        <p:sp>
          <p:nvSpPr>
            <p:cNvPr id="62470" name="直接连接符 204806"/>
            <p:cNvSpPr/>
            <p:nvPr/>
          </p:nvSpPr>
          <p:spPr>
            <a:xfrm>
              <a:off x="3656" y="2744"/>
              <a:ext cx="128" cy="80"/>
            </a:xfrm>
            <a:prstGeom prst="line">
              <a:avLst/>
            </a:prstGeom>
            <a:ln w="25400" cap="flat" cmpd="sng">
              <a:solidFill>
                <a:schemeClr val="tx1"/>
              </a:solidFill>
              <a:prstDash val="solid"/>
              <a:round/>
              <a:headEnd type="none" w="med" len="med"/>
              <a:tailEnd type="none" w="med" len="med"/>
            </a:ln>
          </p:spPr>
        </p:sp>
        <p:sp>
          <p:nvSpPr>
            <p:cNvPr id="62471" name="直接连接符 204807"/>
            <p:cNvSpPr/>
            <p:nvPr/>
          </p:nvSpPr>
          <p:spPr>
            <a:xfrm>
              <a:off x="3792" y="2840"/>
              <a:ext cx="0" cy="176"/>
            </a:xfrm>
            <a:prstGeom prst="line">
              <a:avLst/>
            </a:prstGeom>
            <a:ln w="25400" cap="flat" cmpd="sng">
              <a:solidFill>
                <a:schemeClr val="tx1"/>
              </a:solidFill>
              <a:prstDash val="solid"/>
              <a:round/>
              <a:headEnd type="none" w="med" len="med"/>
              <a:tailEnd type="none" w="med" len="med"/>
            </a:ln>
          </p:spPr>
        </p:sp>
        <p:sp>
          <p:nvSpPr>
            <p:cNvPr id="62472" name="直接连接符 204808"/>
            <p:cNvSpPr/>
            <p:nvPr/>
          </p:nvSpPr>
          <p:spPr>
            <a:xfrm>
              <a:off x="3936" y="2744"/>
              <a:ext cx="0" cy="368"/>
            </a:xfrm>
            <a:prstGeom prst="line">
              <a:avLst/>
            </a:prstGeom>
            <a:ln w="25400" cap="flat" cmpd="sng">
              <a:solidFill>
                <a:schemeClr val="tx1"/>
              </a:solidFill>
              <a:prstDash val="solid"/>
              <a:round/>
              <a:headEnd type="none" w="med" len="med"/>
              <a:tailEnd type="none" w="med" len="med"/>
            </a:ln>
          </p:spPr>
        </p:sp>
        <p:sp>
          <p:nvSpPr>
            <p:cNvPr id="62473" name="直接连接符 204809"/>
            <p:cNvSpPr/>
            <p:nvPr/>
          </p:nvSpPr>
          <p:spPr>
            <a:xfrm flipV="1">
              <a:off x="3656" y="3016"/>
              <a:ext cx="128" cy="112"/>
            </a:xfrm>
            <a:prstGeom prst="line">
              <a:avLst/>
            </a:prstGeom>
            <a:ln w="25400" cap="flat" cmpd="sng">
              <a:solidFill>
                <a:schemeClr val="tx1"/>
              </a:solidFill>
              <a:prstDash val="solid"/>
              <a:round/>
              <a:headEnd type="none" w="med" len="med"/>
              <a:tailEnd type="none" w="med" len="med"/>
            </a:ln>
          </p:spPr>
        </p:sp>
        <p:sp>
          <p:nvSpPr>
            <p:cNvPr id="62474" name="直接连接符 204810"/>
            <p:cNvSpPr/>
            <p:nvPr/>
          </p:nvSpPr>
          <p:spPr>
            <a:xfrm>
              <a:off x="3648" y="3128"/>
              <a:ext cx="0" cy="176"/>
            </a:xfrm>
            <a:prstGeom prst="line">
              <a:avLst/>
            </a:prstGeom>
            <a:ln w="25400" cap="flat" cmpd="sng">
              <a:solidFill>
                <a:schemeClr val="tx1"/>
              </a:solidFill>
              <a:prstDash val="solid"/>
              <a:round/>
              <a:headEnd type="none" w="med" len="med"/>
              <a:tailEnd type="none" w="med" len="med"/>
            </a:ln>
          </p:spPr>
        </p:sp>
        <p:sp>
          <p:nvSpPr>
            <p:cNvPr id="62475" name="直接连接符 204811"/>
            <p:cNvSpPr/>
            <p:nvPr/>
          </p:nvSpPr>
          <p:spPr>
            <a:xfrm flipV="1">
              <a:off x="3656" y="3112"/>
              <a:ext cx="272" cy="208"/>
            </a:xfrm>
            <a:prstGeom prst="line">
              <a:avLst/>
            </a:prstGeom>
            <a:ln w="25400" cap="flat" cmpd="sng">
              <a:solidFill>
                <a:schemeClr val="tx1"/>
              </a:solidFill>
              <a:prstDash val="solid"/>
              <a:round/>
              <a:headEnd type="none" w="med" len="med"/>
              <a:tailEnd type="none" w="med" len="med"/>
            </a:ln>
          </p:spPr>
        </p:sp>
      </p:grpSp>
      <p:sp>
        <p:nvSpPr>
          <p:cNvPr id="62476" name="直接连接符 204812"/>
          <p:cNvSpPr/>
          <p:nvPr/>
        </p:nvSpPr>
        <p:spPr>
          <a:xfrm flipH="1">
            <a:off x="6235700" y="4205288"/>
            <a:ext cx="1854200" cy="0"/>
          </a:xfrm>
          <a:prstGeom prst="line">
            <a:avLst/>
          </a:prstGeom>
          <a:ln w="25400" cap="flat" cmpd="sng">
            <a:solidFill>
              <a:schemeClr val="tx1"/>
            </a:solidFill>
            <a:prstDash val="solid"/>
            <a:round/>
            <a:headEnd type="triangle" w="med" len="med"/>
            <a:tailEnd type="none" w="med" len="med"/>
          </a:ln>
        </p:spPr>
      </p:sp>
      <p:sp>
        <p:nvSpPr>
          <p:cNvPr id="62477" name="直接连接符 204813"/>
          <p:cNvSpPr/>
          <p:nvPr/>
        </p:nvSpPr>
        <p:spPr>
          <a:xfrm flipH="1">
            <a:off x="6623050" y="4135438"/>
            <a:ext cx="88900" cy="139700"/>
          </a:xfrm>
          <a:prstGeom prst="line">
            <a:avLst/>
          </a:prstGeom>
          <a:ln w="12700" cap="flat" cmpd="sng">
            <a:solidFill>
              <a:schemeClr val="tx1"/>
            </a:solidFill>
            <a:prstDash val="solid"/>
            <a:round/>
            <a:headEnd type="none" w="med" len="med"/>
            <a:tailEnd type="none" w="med" len="med"/>
          </a:ln>
        </p:spPr>
      </p:sp>
      <p:sp>
        <p:nvSpPr>
          <p:cNvPr id="62478" name="矩形 204814"/>
          <p:cNvSpPr/>
          <p:nvPr/>
        </p:nvSpPr>
        <p:spPr>
          <a:xfrm>
            <a:off x="6310313" y="42052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479" name="矩形 204815"/>
          <p:cNvSpPr/>
          <p:nvPr/>
        </p:nvSpPr>
        <p:spPr>
          <a:xfrm>
            <a:off x="6386513" y="3824288"/>
            <a:ext cx="8794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Result</a:t>
            </a:r>
            <a:endParaRPr lang="en-US" altLang="zh-CN" sz="1800">
              <a:latin typeface="Arial" panose="020B0604020202020204" pitchFamily="34" charset="0"/>
              <a:ea typeface="宋体" panose="02010600030101010101" pitchFamily="2" charset="-122"/>
            </a:endParaRPr>
          </a:p>
        </p:txBody>
      </p:sp>
      <p:sp>
        <p:nvSpPr>
          <p:cNvPr id="62480" name="直接连接符 204816"/>
          <p:cNvSpPr/>
          <p:nvPr/>
        </p:nvSpPr>
        <p:spPr>
          <a:xfrm>
            <a:off x="6019800" y="3303588"/>
            <a:ext cx="0" cy="431800"/>
          </a:xfrm>
          <a:prstGeom prst="line">
            <a:avLst/>
          </a:prstGeom>
          <a:ln w="25400" cap="flat" cmpd="sng">
            <a:solidFill>
              <a:schemeClr val="tx1"/>
            </a:solidFill>
            <a:prstDash val="solid"/>
            <a:round/>
            <a:headEnd type="none" w="med" len="med"/>
            <a:tailEnd type="triangle" w="med" len="med"/>
          </a:ln>
        </p:spPr>
      </p:sp>
      <p:sp>
        <p:nvSpPr>
          <p:cNvPr id="62481" name="矩形 204817"/>
          <p:cNvSpPr/>
          <p:nvPr/>
        </p:nvSpPr>
        <p:spPr>
          <a:xfrm>
            <a:off x="5640388" y="2986088"/>
            <a:ext cx="1139825" cy="363537"/>
          </a:xfrm>
          <a:prstGeom prst="rect">
            <a:avLst/>
          </a:prstGeom>
          <a:noFill/>
          <a:ln w="12700">
            <a:noFill/>
          </a:ln>
        </p:spPr>
        <p:txBody>
          <a:bodyPr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2482" name="矩形 204818"/>
          <p:cNvSpPr/>
          <p:nvPr/>
        </p:nvSpPr>
        <p:spPr>
          <a:xfrm>
            <a:off x="1824038" y="4367213"/>
            <a:ext cx="474662" cy="333375"/>
          </a:xfrm>
          <a:prstGeom prst="rect">
            <a:avLst/>
          </a:prstGeom>
          <a:noFill/>
          <a:ln w="12700">
            <a:noFill/>
          </a:ln>
        </p:spPr>
        <p:txBody>
          <a:bodyPr wrap="none" lIns="90488" tIns="44450" rIns="90488" bIns="44450" anchor="t" anchorCtr="0">
            <a:spAutoFit/>
          </a:bodyPr>
          <a:p>
            <a:r>
              <a:rPr lang="en-US" altLang="zh-CN" b="0" dirty="0" err="1">
                <a:latin typeface="Times New Roman" panose="02020603050405020304" pitchFamily="18" charset="0"/>
                <a:ea typeface="宋体" panose="02010600030101010101" pitchFamily="2" charset="-122"/>
              </a:rPr>
              <a:t>Clk</a:t>
            </a:r>
            <a:endParaRPr lang="en-US" altLang="zh-CN" b="0">
              <a:latin typeface="Times New Roman" panose="02020603050405020304" pitchFamily="18" charset="0"/>
              <a:ea typeface="宋体" panose="02010600030101010101" pitchFamily="2" charset="-122"/>
            </a:endParaRPr>
          </a:p>
        </p:txBody>
      </p:sp>
      <p:sp>
        <p:nvSpPr>
          <p:cNvPr id="62483" name="矩形 204819"/>
          <p:cNvSpPr/>
          <p:nvPr/>
        </p:nvSpPr>
        <p:spPr>
          <a:xfrm>
            <a:off x="1433513" y="3748088"/>
            <a:ext cx="803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62484" name="矩形 204820"/>
          <p:cNvSpPr/>
          <p:nvPr/>
        </p:nvSpPr>
        <p:spPr>
          <a:xfrm>
            <a:off x="2517775" y="3608388"/>
            <a:ext cx="1431925" cy="121285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485" name="直接连接符 204821"/>
          <p:cNvSpPr/>
          <p:nvPr/>
        </p:nvSpPr>
        <p:spPr>
          <a:xfrm>
            <a:off x="2555875" y="4579938"/>
            <a:ext cx="250825" cy="69850"/>
          </a:xfrm>
          <a:prstGeom prst="line">
            <a:avLst/>
          </a:prstGeom>
          <a:ln w="25400" cap="flat" cmpd="sng">
            <a:solidFill>
              <a:schemeClr val="tx1"/>
            </a:solidFill>
            <a:prstDash val="solid"/>
            <a:round/>
            <a:headEnd type="none" w="med" len="med"/>
            <a:tailEnd type="none" w="med" len="med"/>
          </a:ln>
        </p:spPr>
      </p:sp>
      <p:sp>
        <p:nvSpPr>
          <p:cNvPr id="62486" name="直接连接符 204822"/>
          <p:cNvSpPr/>
          <p:nvPr/>
        </p:nvSpPr>
        <p:spPr>
          <a:xfrm flipH="1">
            <a:off x="2530475" y="4675188"/>
            <a:ext cx="301625" cy="107950"/>
          </a:xfrm>
          <a:prstGeom prst="line">
            <a:avLst/>
          </a:prstGeom>
          <a:ln w="25400" cap="flat" cmpd="sng">
            <a:solidFill>
              <a:schemeClr val="tx1"/>
            </a:solidFill>
            <a:prstDash val="solid"/>
            <a:round/>
            <a:headEnd type="none" w="med" len="med"/>
            <a:tailEnd type="none" w="med" len="med"/>
          </a:ln>
        </p:spPr>
      </p:sp>
      <p:sp>
        <p:nvSpPr>
          <p:cNvPr id="62487" name="椭圆 204823"/>
          <p:cNvSpPr/>
          <p:nvPr/>
        </p:nvSpPr>
        <p:spPr>
          <a:xfrm>
            <a:off x="2365375" y="4618038"/>
            <a:ext cx="127000" cy="12700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62488" name="矩形 204824"/>
          <p:cNvSpPr/>
          <p:nvPr/>
        </p:nvSpPr>
        <p:spPr>
          <a:xfrm>
            <a:off x="1965325" y="3060700"/>
            <a:ext cx="9175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2489" name="直接连接符 204825"/>
          <p:cNvSpPr/>
          <p:nvPr/>
        </p:nvSpPr>
        <p:spPr>
          <a:xfrm flipH="1">
            <a:off x="1511300" y="4129088"/>
            <a:ext cx="1016000" cy="0"/>
          </a:xfrm>
          <a:prstGeom prst="line">
            <a:avLst/>
          </a:prstGeom>
          <a:ln w="25400" cap="flat" cmpd="sng">
            <a:solidFill>
              <a:schemeClr val="tx1"/>
            </a:solidFill>
            <a:prstDash val="solid"/>
            <a:round/>
            <a:headEnd type="triangle" w="med" len="med"/>
            <a:tailEnd type="none" w="med" len="med"/>
          </a:ln>
        </p:spPr>
      </p:sp>
      <p:sp>
        <p:nvSpPr>
          <p:cNvPr id="62490" name="直接连接符 204826"/>
          <p:cNvSpPr/>
          <p:nvPr/>
        </p:nvSpPr>
        <p:spPr>
          <a:xfrm flipH="1">
            <a:off x="2051050" y="4059238"/>
            <a:ext cx="88900" cy="139700"/>
          </a:xfrm>
          <a:prstGeom prst="line">
            <a:avLst/>
          </a:prstGeom>
          <a:ln w="12700" cap="flat" cmpd="sng">
            <a:solidFill>
              <a:schemeClr val="tx1"/>
            </a:solidFill>
            <a:prstDash val="solid"/>
            <a:round/>
            <a:headEnd type="none" w="med" len="med"/>
            <a:tailEnd type="none" w="med" len="med"/>
          </a:ln>
        </p:spPr>
      </p:sp>
      <p:sp>
        <p:nvSpPr>
          <p:cNvPr id="62491" name="矩形 204827"/>
          <p:cNvSpPr/>
          <p:nvPr/>
        </p:nvSpPr>
        <p:spPr>
          <a:xfrm>
            <a:off x="1738313" y="41290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492" name="直接连接符 204828"/>
          <p:cNvSpPr/>
          <p:nvPr/>
        </p:nvSpPr>
        <p:spPr>
          <a:xfrm>
            <a:off x="3975100" y="3748088"/>
            <a:ext cx="1803400" cy="0"/>
          </a:xfrm>
          <a:prstGeom prst="line">
            <a:avLst/>
          </a:prstGeom>
          <a:ln w="25400" cap="flat" cmpd="sng">
            <a:solidFill>
              <a:schemeClr val="tx1"/>
            </a:solidFill>
            <a:prstDash val="solid"/>
            <a:round/>
            <a:headEnd type="none" w="med" len="med"/>
            <a:tailEnd type="triangle" w="med" len="med"/>
          </a:ln>
        </p:spPr>
      </p:sp>
      <p:sp>
        <p:nvSpPr>
          <p:cNvPr id="62493" name="直接连接符 204829"/>
          <p:cNvSpPr/>
          <p:nvPr/>
        </p:nvSpPr>
        <p:spPr>
          <a:xfrm flipH="1">
            <a:off x="4946650" y="3678238"/>
            <a:ext cx="88900" cy="139700"/>
          </a:xfrm>
          <a:prstGeom prst="line">
            <a:avLst/>
          </a:prstGeom>
          <a:ln w="12700" cap="flat" cmpd="sng">
            <a:solidFill>
              <a:schemeClr val="tx1"/>
            </a:solidFill>
            <a:prstDash val="solid"/>
            <a:round/>
            <a:headEnd type="none" w="med" len="med"/>
            <a:tailEnd type="none" w="med" len="med"/>
          </a:ln>
        </p:spPr>
      </p:sp>
      <p:sp>
        <p:nvSpPr>
          <p:cNvPr id="62494" name="矩形 204830"/>
          <p:cNvSpPr/>
          <p:nvPr/>
        </p:nvSpPr>
        <p:spPr>
          <a:xfrm>
            <a:off x="4633913" y="38242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495" name="矩形 204831"/>
          <p:cNvSpPr/>
          <p:nvPr/>
        </p:nvSpPr>
        <p:spPr>
          <a:xfrm>
            <a:off x="4329113" y="3443288"/>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62496" name="直接连接符 204832"/>
          <p:cNvSpPr/>
          <p:nvPr/>
        </p:nvSpPr>
        <p:spPr>
          <a:xfrm flipV="1">
            <a:off x="2667000" y="3354388"/>
            <a:ext cx="0" cy="254000"/>
          </a:xfrm>
          <a:prstGeom prst="line">
            <a:avLst/>
          </a:prstGeom>
          <a:ln w="25400" cap="flat" cmpd="sng">
            <a:solidFill>
              <a:schemeClr val="tx1"/>
            </a:solidFill>
            <a:prstDash val="solid"/>
            <a:round/>
            <a:headEnd type="none" w="med" len="med"/>
            <a:tailEnd type="none" w="med" len="med"/>
          </a:ln>
        </p:spPr>
      </p:sp>
      <p:sp>
        <p:nvSpPr>
          <p:cNvPr id="62497" name="直接连接符 204833"/>
          <p:cNvSpPr/>
          <p:nvPr/>
        </p:nvSpPr>
        <p:spPr>
          <a:xfrm>
            <a:off x="3975100" y="4662488"/>
            <a:ext cx="965200" cy="0"/>
          </a:xfrm>
          <a:prstGeom prst="line">
            <a:avLst/>
          </a:prstGeom>
          <a:ln w="25400" cap="flat" cmpd="sng">
            <a:solidFill>
              <a:schemeClr val="tx1"/>
            </a:solidFill>
            <a:prstDash val="solid"/>
            <a:round/>
            <a:headEnd type="none" w="med" len="med"/>
            <a:tailEnd type="triangle" w="med" len="med"/>
          </a:ln>
        </p:spPr>
      </p:sp>
      <p:sp>
        <p:nvSpPr>
          <p:cNvPr id="62498" name="直接连接符 204834"/>
          <p:cNvSpPr/>
          <p:nvPr/>
        </p:nvSpPr>
        <p:spPr>
          <a:xfrm flipH="1">
            <a:off x="4489450" y="4592638"/>
            <a:ext cx="88900" cy="139700"/>
          </a:xfrm>
          <a:prstGeom prst="line">
            <a:avLst/>
          </a:prstGeom>
          <a:ln w="12700" cap="flat" cmpd="sng">
            <a:solidFill>
              <a:schemeClr val="tx1"/>
            </a:solidFill>
            <a:prstDash val="solid"/>
            <a:round/>
            <a:headEnd type="none" w="med" len="med"/>
            <a:tailEnd type="none" w="med" len="med"/>
          </a:ln>
        </p:spPr>
      </p:sp>
      <p:sp>
        <p:nvSpPr>
          <p:cNvPr id="62499" name="矩形 204835"/>
          <p:cNvSpPr/>
          <p:nvPr/>
        </p:nvSpPr>
        <p:spPr>
          <a:xfrm>
            <a:off x="4176713" y="46624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500" name="矩形 204836"/>
          <p:cNvSpPr/>
          <p:nvPr/>
        </p:nvSpPr>
        <p:spPr>
          <a:xfrm>
            <a:off x="3948113" y="4357688"/>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62501" name="直接连接符 204837"/>
          <p:cNvSpPr/>
          <p:nvPr/>
        </p:nvSpPr>
        <p:spPr>
          <a:xfrm flipH="1">
            <a:off x="1892300" y="4662488"/>
            <a:ext cx="482600" cy="0"/>
          </a:xfrm>
          <a:prstGeom prst="line">
            <a:avLst/>
          </a:prstGeom>
          <a:ln w="25400" cap="flat" cmpd="sng">
            <a:solidFill>
              <a:schemeClr val="tx1"/>
            </a:solidFill>
            <a:prstDash val="solid"/>
            <a:round/>
            <a:headEnd type="none" w="med" len="med"/>
            <a:tailEnd type="none" w="med" len="med"/>
          </a:ln>
        </p:spPr>
      </p:sp>
      <p:sp>
        <p:nvSpPr>
          <p:cNvPr id="62502" name="直接连接符 204838"/>
          <p:cNvSpPr/>
          <p:nvPr/>
        </p:nvSpPr>
        <p:spPr>
          <a:xfrm>
            <a:off x="2971800" y="2998788"/>
            <a:ext cx="0" cy="584200"/>
          </a:xfrm>
          <a:prstGeom prst="line">
            <a:avLst/>
          </a:prstGeom>
          <a:ln w="25400" cap="flat" cmpd="sng">
            <a:solidFill>
              <a:schemeClr val="tx1"/>
            </a:solidFill>
            <a:prstDash val="solid"/>
            <a:round/>
            <a:headEnd type="none" w="med" len="med"/>
            <a:tailEnd type="none" w="med" len="med"/>
          </a:ln>
        </p:spPr>
      </p:sp>
      <p:sp>
        <p:nvSpPr>
          <p:cNvPr id="62503" name="直接连接符 204839"/>
          <p:cNvSpPr/>
          <p:nvPr/>
        </p:nvSpPr>
        <p:spPr>
          <a:xfrm flipV="1">
            <a:off x="2901950" y="3284538"/>
            <a:ext cx="139700" cy="165100"/>
          </a:xfrm>
          <a:prstGeom prst="line">
            <a:avLst/>
          </a:prstGeom>
          <a:ln w="12700" cap="flat" cmpd="sng">
            <a:solidFill>
              <a:schemeClr val="tx1"/>
            </a:solidFill>
            <a:prstDash val="solid"/>
            <a:round/>
            <a:headEnd type="none" w="med" len="med"/>
            <a:tailEnd type="none" w="med" len="med"/>
          </a:ln>
        </p:spPr>
      </p:sp>
      <p:sp>
        <p:nvSpPr>
          <p:cNvPr id="62504" name="矩形 204840"/>
          <p:cNvSpPr/>
          <p:nvPr/>
        </p:nvSpPr>
        <p:spPr>
          <a:xfrm>
            <a:off x="2728913" y="3138488"/>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62505" name="直接连接符 204841"/>
          <p:cNvSpPr/>
          <p:nvPr/>
        </p:nvSpPr>
        <p:spPr>
          <a:xfrm>
            <a:off x="3352800" y="3151188"/>
            <a:ext cx="0" cy="431800"/>
          </a:xfrm>
          <a:prstGeom prst="line">
            <a:avLst/>
          </a:prstGeom>
          <a:ln w="25400" cap="flat" cmpd="sng">
            <a:solidFill>
              <a:schemeClr val="tx1"/>
            </a:solidFill>
            <a:prstDash val="solid"/>
            <a:round/>
            <a:headEnd type="none" w="med" len="med"/>
            <a:tailEnd type="none" w="med" len="med"/>
          </a:ln>
        </p:spPr>
      </p:sp>
      <p:sp>
        <p:nvSpPr>
          <p:cNvPr id="62506" name="直接连接符 204842"/>
          <p:cNvSpPr/>
          <p:nvPr/>
        </p:nvSpPr>
        <p:spPr>
          <a:xfrm flipV="1">
            <a:off x="3282950" y="3284538"/>
            <a:ext cx="139700" cy="165100"/>
          </a:xfrm>
          <a:prstGeom prst="line">
            <a:avLst/>
          </a:prstGeom>
          <a:ln w="12700" cap="flat" cmpd="sng">
            <a:solidFill>
              <a:schemeClr val="tx1"/>
            </a:solidFill>
            <a:prstDash val="solid"/>
            <a:round/>
            <a:headEnd type="none" w="med" len="med"/>
            <a:tailEnd type="none" w="med" len="med"/>
          </a:ln>
        </p:spPr>
      </p:sp>
      <p:sp>
        <p:nvSpPr>
          <p:cNvPr id="62507" name="矩形 204843"/>
          <p:cNvSpPr/>
          <p:nvPr/>
        </p:nvSpPr>
        <p:spPr>
          <a:xfrm>
            <a:off x="3109913" y="3138488"/>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62508" name="直接连接符 204844"/>
          <p:cNvSpPr/>
          <p:nvPr/>
        </p:nvSpPr>
        <p:spPr>
          <a:xfrm>
            <a:off x="3810000" y="3151188"/>
            <a:ext cx="0" cy="431800"/>
          </a:xfrm>
          <a:prstGeom prst="line">
            <a:avLst/>
          </a:prstGeom>
          <a:ln w="25400" cap="flat" cmpd="sng">
            <a:solidFill>
              <a:schemeClr val="tx1"/>
            </a:solidFill>
            <a:prstDash val="solid"/>
            <a:round/>
            <a:headEnd type="none" w="med" len="med"/>
            <a:tailEnd type="none" w="med" len="med"/>
          </a:ln>
        </p:spPr>
      </p:sp>
      <p:sp>
        <p:nvSpPr>
          <p:cNvPr id="62509" name="直接连接符 204845"/>
          <p:cNvSpPr/>
          <p:nvPr/>
        </p:nvSpPr>
        <p:spPr>
          <a:xfrm flipV="1">
            <a:off x="3740150" y="3284538"/>
            <a:ext cx="139700" cy="165100"/>
          </a:xfrm>
          <a:prstGeom prst="line">
            <a:avLst/>
          </a:prstGeom>
          <a:ln w="12700" cap="flat" cmpd="sng">
            <a:solidFill>
              <a:schemeClr val="tx1"/>
            </a:solidFill>
            <a:prstDash val="solid"/>
            <a:round/>
            <a:headEnd type="none" w="med" len="med"/>
            <a:tailEnd type="none" w="med" len="med"/>
          </a:ln>
        </p:spPr>
      </p:sp>
      <p:sp>
        <p:nvSpPr>
          <p:cNvPr id="62510" name="矩形 204846"/>
          <p:cNvSpPr/>
          <p:nvPr/>
        </p:nvSpPr>
        <p:spPr>
          <a:xfrm>
            <a:off x="3567113" y="3138488"/>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62511" name="矩形 204847"/>
          <p:cNvSpPr/>
          <p:nvPr/>
        </p:nvSpPr>
        <p:spPr>
          <a:xfrm>
            <a:off x="2728913" y="3595688"/>
            <a:ext cx="5238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62512" name="矩形 204848"/>
          <p:cNvSpPr/>
          <p:nvPr/>
        </p:nvSpPr>
        <p:spPr>
          <a:xfrm>
            <a:off x="3186113" y="3595688"/>
            <a:ext cx="4730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62513" name="矩形 204849"/>
          <p:cNvSpPr/>
          <p:nvPr/>
        </p:nvSpPr>
        <p:spPr>
          <a:xfrm>
            <a:off x="3567113" y="3595688"/>
            <a:ext cx="4857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62514" name="矩形 204850"/>
          <p:cNvSpPr/>
          <p:nvPr/>
        </p:nvSpPr>
        <p:spPr>
          <a:xfrm>
            <a:off x="2728913" y="3900488"/>
            <a:ext cx="1222375" cy="63817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62515" name="直接连接符 204851"/>
          <p:cNvSpPr/>
          <p:nvPr/>
        </p:nvSpPr>
        <p:spPr>
          <a:xfrm flipH="1">
            <a:off x="1511300" y="5957888"/>
            <a:ext cx="5740400" cy="0"/>
          </a:xfrm>
          <a:prstGeom prst="line">
            <a:avLst/>
          </a:prstGeom>
          <a:ln w="25400" cap="flat" cmpd="sng">
            <a:solidFill>
              <a:schemeClr val="tx1"/>
            </a:solidFill>
            <a:prstDash val="solid"/>
            <a:round/>
            <a:headEnd type="none" w="med" len="med"/>
            <a:tailEnd type="none" w="med" len="med"/>
          </a:ln>
        </p:spPr>
      </p:sp>
      <p:sp>
        <p:nvSpPr>
          <p:cNvPr id="62516" name="直接连接符 204852"/>
          <p:cNvSpPr/>
          <p:nvPr/>
        </p:nvSpPr>
        <p:spPr>
          <a:xfrm flipV="1">
            <a:off x="1524000" y="4116388"/>
            <a:ext cx="0" cy="1854200"/>
          </a:xfrm>
          <a:prstGeom prst="line">
            <a:avLst/>
          </a:prstGeom>
          <a:ln w="25400" cap="flat" cmpd="sng">
            <a:solidFill>
              <a:schemeClr val="tx1"/>
            </a:solidFill>
            <a:prstDash val="solid"/>
            <a:round/>
            <a:headEnd type="none" w="med" len="med"/>
            <a:tailEnd type="none" w="med" len="med"/>
          </a:ln>
        </p:spPr>
      </p:sp>
      <p:sp>
        <p:nvSpPr>
          <p:cNvPr id="62517" name="矩形 204853"/>
          <p:cNvSpPr/>
          <p:nvPr/>
        </p:nvSpPr>
        <p:spPr>
          <a:xfrm>
            <a:off x="3313113" y="2922588"/>
            <a:ext cx="4730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62518" name="矩形 204854"/>
          <p:cNvSpPr/>
          <p:nvPr/>
        </p:nvSpPr>
        <p:spPr>
          <a:xfrm>
            <a:off x="3602038" y="2617788"/>
            <a:ext cx="13239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Don’t</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Care</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a:t>
            </a:r>
            <a:r>
              <a:rPr lang="en-US" altLang="zh-CN" sz="1800" dirty="0" err="1">
                <a:latin typeface="Arial" panose="020B0604020202020204" pitchFamily="34" charset="0"/>
                <a:ea typeface="宋体" panose="02010600030101010101" pitchFamily="2" charset="-122"/>
              </a:rPr>
              <a:t>Rt</a:t>
            </a:r>
            <a:r>
              <a:rPr lang="en-US" altLang="zh-CN" sz="1800">
                <a:latin typeface="Arial" panose="020B0604020202020204" pitchFamily="34" charset="0"/>
                <a:ea typeface="宋体" panose="02010600030101010101" pitchFamily="2" charset="-122"/>
              </a:rPr>
              <a:t>)</a:t>
            </a:r>
            <a:endParaRPr lang="en-US" altLang="zh-CN" sz="1800">
              <a:latin typeface="Arial" panose="020B0604020202020204" pitchFamily="34" charset="0"/>
              <a:ea typeface="宋体" panose="02010600030101010101" pitchFamily="2" charset="-122"/>
            </a:endParaRPr>
          </a:p>
        </p:txBody>
      </p:sp>
      <p:sp>
        <p:nvSpPr>
          <p:cNvPr id="62519" name="直接连接符 204888"/>
          <p:cNvSpPr/>
          <p:nvPr/>
        </p:nvSpPr>
        <p:spPr>
          <a:xfrm>
            <a:off x="5270500" y="4662488"/>
            <a:ext cx="508000" cy="0"/>
          </a:xfrm>
          <a:prstGeom prst="line">
            <a:avLst/>
          </a:prstGeom>
          <a:ln w="25400" cap="flat" cmpd="sng">
            <a:solidFill>
              <a:schemeClr val="tx1"/>
            </a:solidFill>
            <a:prstDash val="solid"/>
            <a:round/>
            <a:headEnd type="none" w="med" len="med"/>
            <a:tailEnd type="triangle" w="med" len="med"/>
          </a:ln>
        </p:spPr>
      </p:sp>
      <p:sp>
        <p:nvSpPr>
          <p:cNvPr id="62520" name="直接连接符 204889"/>
          <p:cNvSpPr/>
          <p:nvPr/>
        </p:nvSpPr>
        <p:spPr>
          <a:xfrm>
            <a:off x="7239000" y="4217988"/>
            <a:ext cx="0" cy="1727200"/>
          </a:xfrm>
          <a:prstGeom prst="line">
            <a:avLst/>
          </a:prstGeom>
          <a:ln w="25400" cap="flat" cmpd="sng">
            <a:solidFill>
              <a:schemeClr val="tx1"/>
            </a:solidFill>
            <a:prstDash val="solid"/>
            <a:round/>
            <a:headEnd type="none" w="med" len="med"/>
            <a:tailEnd type="none" w="med" len="med"/>
          </a:ln>
        </p:spPr>
      </p:sp>
      <p:sp>
        <p:nvSpPr>
          <p:cNvPr id="62521" name="矩形 204890"/>
          <p:cNvSpPr/>
          <p:nvPr/>
        </p:nvSpPr>
        <p:spPr>
          <a:xfrm rot="5400000">
            <a:off x="5773738" y="4068763"/>
            <a:ext cx="6508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62522" name="文本框 204914"/>
          <p:cNvSpPr txBox="1"/>
          <p:nvPr/>
        </p:nvSpPr>
        <p:spPr>
          <a:xfrm>
            <a:off x="5567363" y="2609850"/>
            <a:ext cx="2506662" cy="336550"/>
          </a:xfrm>
          <a:prstGeom prst="rect">
            <a:avLst/>
          </a:prstGeom>
          <a:noFill/>
          <a:ln w="25400">
            <a:noFill/>
          </a:ln>
        </p:spPr>
        <p:txBody>
          <a:bodyPr anchor="t"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62523" name="文本框 204915"/>
          <p:cNvSpPr txBox="1"/>
          <p:nvPr/>
        </p:nvSpPr>
        <p:spPr>
          <a:xfrm>
            <a:off x="273050" y="1976438"/>
            <a:ext cx="2924175" cy="366712"/>
          </a:xfrm>
          <a:prstGeom prst="rect">
            <a:avLst/>
          </a:prstGeom>
          <a:noFill/>
          <a:ln w="25400">
            <a:noFill/>
          </a:ln>
        </p:spPr>
        <p:txBody>
          <a:bodyPr anchor="t" anchorCtr="0">
            <a:spAutoFit/>
          </a:bodyPr>
          <a:p>
            <a:pPr>
              <a:spcBef>
                <a:spcPct val="50000"/>
              </a:spcBef>
            </a:pPr>
            <a:r>
              <a:rPr lang="en-US" altLang="zh-CN" sz="1800" b="0">
                <a:solidFill>
                  <a:srgbClr val="CC0000"/>
                </a:solidFill>
                <a:latin typeface="Arial" panose="020B0604020202020204" pitchFamily="34" charset="0"/>
                <a:ea typeface="黑体" panose="02010609060101010101" pitchFamily="49" charset="-122"/>
              </a:rPr>
              <a:t>R-Type</a:t>
            </a:r>
            <a:r>
              <a:rPr lang="zh-CN" altLang="en-US" sz="1800" b="0" dirty="0">
                <a:solidFill>
                  <a:srgbClr val="CC0000"/>
                </a:solidFill>
                <a:latin typeface="Arial" panose="020B0604020202020204" pitchFamily="34" charset="0"/>
                <a:ea typeface="黑体" panose="02010609060101010101" pitchFamily="49" charset="-122"/>
              </a:rPr>
              <a:t>类型的结果写入</a:t>
            </a:r>
            <a:r>
              <a:rPr lang="en-US" altLang="zh-CN" sz="1800" b="0">
                <a:solidFill>
                  <a:srgbClr val="CC0000"/>
                </a:solidFill>
                <a:latin typeface="Arial" panose="020B0604020202020204" pitchFamily="34" charset="0"/>
                <a:ea typeface="黑体" panose="02010609060101010101" pitchFamily="49" charset="-122"/>
              </a:rPr>
              <a:t>Rd</a:t>
            </a:r>
            <a:endParaRPr lang="en-US" altLang="zh-CN" sz="1800" b="0">
              <a:solidFill>
                <a:srgbClr val="CC0000"/>
              </a:solidFill>
              <a:latin typeface="Arial" panose="020B0604020202020204" pitchFamily="34" charset="0"/>
              <a:ea typeface="黑体" panose="02010609060101010101" pitchFamily="49" charset="-122"/>
            </a:endParaRPr>
          </a:p>
        </p:txBody>
      </p:sp>
      <p:sp>
        <p:nvSpPr>
          <p:cNvPr id="62524" name="文本框 204916"/>
          <p:cNvSpPr txBox="1"/>
          <p:nvPr/>
        </p:nvSpPr>
        <p:spPr>
          <a:xfrm>
            <a:off x="7289800" y="5113338"/>
            <a:ext cx="1662113" cy="641350"/>
          </a:xfrm>
          <a:prstGeom prst="rect">
            <a:avLst/>
          </a:prstGeom>
          <a:noFill/>
          <a:ln w="25400">
            <a:noFill/>
          </a:ln>
        </p:spPr>
        <p:txBody>
          <a:bodyPr anchor="t" anchorCtr="0">
            <a:spAutoFit/>
          </a:bodyPr>
          <a:p>
            <a:pPr>
              <a:spcBef>
                <a:spcPct val="50000"/>
              </a:spcBef>
            </a:pPr>
            <a:r>
              <a:rPr lang="en-US" altLang="zh-CN" sz="1800" b="0">
                <a:solidFill>
                  <a:srgbClr val="CC0000"/>
                </a:solidFill>
                <a:latin typeface="Arial" panose="020B0604020202020204" pitchFamily="34" charset="0"/>
                <a:ea typeface="黑体" panose="02010609060101010101" pitchFamily="49" charset="-122"/>
              </a:rPr>
              <a:t>R-Type</a:t>
            </a:r>
            <a:r>
              <a:rPr lang="zh-CN" altLang="en-US" sz="1800" b="0" dirty="0">
                <a:solidFill>
                  <a:srgbClr val="CC0000"/>
                </a:solidFill>
                <a:latin typeface="Arial" panose="020B0604020202020204" pitchFamily="34" charset="0"/>
                <a:ea typeface="黑体" panose="02010609060101010101" pitchFamily="49" charset="-122"/>
              </a:rPr>
              <a:t>的操作数来自</a:t>
            </a:r>
            <a:r>
              <a:rPr lang="en-US" altLang="zh-CN" sz="1800" b="0" dirty="0" err="1">
                <a:solidFill>
                  <a:srgbClr val="CC0000"/>
                </a:solidFill>
                <a:latin typeface="Arial" panose="020B0604020202020204" pitchFamily="34" charset="0"/>
                <a:ea typeface="黑体" panose="02010609060101010101" pitchFamily="49" charset="-122"/>
              </a:rPr>
              <a:t>busB</a:t>
            </a:r>
            <a:endParaRPr lang="en-US" altLang="zh-CN" sz="1800" b="0">
              <a:solidFill>
                <a:srgbClr val="CC0000"/>
              </a:solidFill>
              <a:latin typeface="Arial" panose="020B0604020202020204" pitchFamily="34" charset="0"/>
              <a:ea typeface="黑体" panose="02010609060101010101" pitchFamily="49" charset="-122"/>
            </a:endParaRPr>
          </a:p>
        </p:txBody>
      </p:sp>
      <p:grpSp>
        <p:nvGrpSpPr>
          <p:cNvPr id="204919" name="组合 204918"/>
          <p:cNvGrpSpPr/>
          <p:nvPr/>
        </p:nvGrpSpPr>
        <p:grpSpPr>
          <a:xfrm>
            <a:off x="3470275" y="2236788"/>
            <a:ext cx="4999038" cy="2144712"/>
            <a:chOff x="2249" y="1657"/>
            <a:chExt cx="2661" cy="1351"/>
          </a:xfrm>
        </p:grpSpPr>
        <p:sp>
          <p:nvSpPr>
            <p:cNvPr id="62526" name="文本框 204912"/>
            <p:cNvSpPr txBox="1"/>
            <p:nvPr/>
          </p:nvSpPr>
          <p:spPr>
            <a:xfrm>
              <a:off x="3435" y="1657"/>
              <a:ext cx="1475" cy="239"/>
            </a:xfrm>
            <a:prstGeom prst="rect">
              <a:avLst/>
            </a:prstGeom>
            <a:noFill/>
            <a:ln w="12700" cap="flat" cmpd="sng">
              <a:solidFill>
                <a:schemeClr val="accent2"/>
              </a:solidFill>
              <a:prstDash val="solid"/>
              <a:miter/>
              <a:headEnd type="none" w="med" len="med"/>
              <a:tailEnd type="none" w="med" len="med"/>
            </a:ln>
          </p:spPr>
          <p:txBody>
            <a:bodyPr anchor="t" anchorCtr="0">
              <a:spAutoFit/>
            </a:bodyPr>
            <a:p>
              <a:r>
                <a:rPr lang="zh-CN" altLang="en-US" sz="1800" dirty="0">
                  <a:solidFill>
                    <a:srgbClr val="0000FF"/>
                  </a:solidFill>
                  <a:latin typeface="黑体" panose="02010609060101010101" pitchFamily="49" charset="-122"/>
                  <a:ea typeface="黑体" panose="02010609060101010101" pitchFamily="49" charset="-122"/>
                </a:rPr>
                <a:t>应加兰色部分，为什么？</a:t>
              </a:r>
              <a:endParaRPr lang="zh-CN" altLang="en-US" sz="1800" dirty="0">
                <a:solidFill>
                  <a:srgbClr val="0000FF"/>
                </a:solidFill>
                <a:latin typeface="黑体" panose="02010609060101010101" pitchFamily="49" charset="-122"/>
                <a:ea typeface="黑体" panose="02010609060101010101" pitchFamily="49" charset="-122"/>
              </a:endParaRPr>
            </a:p>
          </p:txBody>
        </p:sp>
        <p:sp>
          <p:nvSpPr>
            <p:cNvPr id="62527" name="直接连接符 204913"/>
            <p:cNvSpPr/>
            <p:nvPr/>
          </p:nvSpPr>
          <p:spPr>
            <a:xfrm flipH="1">
              <a:off x="2249" y="1755"/>
              <a:ext cx="1180" cy="192"/>
            </a:xfrm>
            <a:prstGeom prst="line">
              <a:avLst/>
            </a:prstGeom>
            <a:ln w="12700" cap="flat" cmpd="sng">
              <a:solidFill>
                <a:srgbClr val="0000FF"/>
              </a:solidFill>
              <a:prstDash val="solid"/>
              <a:round/>
              <a:headEnd type="none" w="med" len="med"/>
              <a:tailEnd type="triangle" w="med" len="med"/>
            </a:ln>
          </p:spPr>
        </p:sp>
        <p:sp>
          <p:nvSpPr>
            <p:cNvPr id="62528" name="直接连接符 204917"/>
            <p:cNvSpPr/>
            <p:nvPr/>
          </p:nvSpPr>
          <p:spPr>
            <a:xfrm flipH="1">
              <a:off x="3191" y="1883"/>
              <a:ext cx="210" cy="1125"/>
            </a:xfrm>
            <a:prstGeom prst="line">
              <a:avLst/>
            </a:prstGeom>
            <a:ln w="19050" cap="flat" cmpd="sng">
              <a:solidFill>
                <a:schemeClr val="accent2"/>
              </a:solidFill>
              <a:prstDash val="solid"/>
              <a:round/>
              <a:headEnd type="none" w="med" len="med"/>
              <a:tailEnd type="triangle" w="med" len="med"/>
            </a:ln>
          </p:spPr>
        </p:sp>
      </p:grpSp>
      <p:sp>
        <p:nvSpPr>
          <p:cNvPr id="204920" name="文本框 204919"/>
          <p:cNvSpPr txBox="1"/>
          <p:nvPr/>
        </p:nvSpPr>
        <p:spPr>
          <a:xfrm>
            <a:off x="1146175" y="6084888"/>
            <a:ext cx="7797800" cy="366712"/>
          </a:xfrm>
          <a:prstGeom prst="rect">
            <a:avLst/>
          </a:prstGeom>
          <a:noFill/>
          <a:ln w="50800">
            <a:noFill/>
          </a:ln>
        </p:spPr>
        <p:txBody>
          <a:bodyPr anchor="t" anchorCtr="0">
            <a:spAutoFit/>
          </a:bodyPr>
          <a:p>
            <a:pPr>
              <a:spcBef>
                <a:spcPct val="50000"/>
              </a:spcBef>
            </a:pPr>
            <a:r>
              <a:rPr lang="en-US" altLang="zh-CN" sz="1800" dirty="0" err="1">
                <a:solidFill>
                  <a:srgbClr val="006600"/>
                </a:solidFill>
                <a:latin typeface="Arial" panose="020B0604020202020204" pitchFamily="34" charset="0"/>
                <a:ea typeface="黑体" panose="02010609060101010101" pitchFamily="49" charset="-122"/>
              </a:rPr>
              <a:t>Ori</a:t>
            </a:r>
            <a:r>
              <a:rPr lang="zh-CN" altLang="en-US" sz="1800" dirty="0">
                <a:solidFill>
                  <a:srgbClr val="006600"/>
                </a:solidFill>
                <a:latin typeface="Arial" panose="020B0604020202020204" pitchFamily="34" charset="0"/>
                <a:ea typeface="黑体" panose="02010609060101010101" pitchFamily="49" charset="-122"/>
              </a:rPr>
              <a:t>指令的控制信号：</a:t>
            </a:r>
            <a:r>
              <a:rPr lang="en-US" altLang="zh-CN" sz="1800" dirty="0" err="1">
                <a:solidFill>
                  <a:srgbClr val="006600"/>
                </a:solidFill>
                <a:latin typeface="Arial" panose="020B0604020202020204" pitchFamily="34" charset="0"/>
                <a:ea typeface="黑体" panose="02010609060101010101" pitchFamily="49" charset="-122"/>
              </a:rPr>
              <a:t>RegDst</a:t>
            </a:r>
            <a:r>
              <a:rPr lang="en-US" altLang="zh-CN" sz="1800">
                <a:solidFill>
                  <a:srgbClr val="006600"/>
                </a:solidFill>
                <a:latin typeface="Arial" panose="020B0604020202020204" pitchFamily="34" charset="0"/>
                <a:ea typeface="黑体" panose="02010609060101010101" pitchFamily="49" charset="-122"/>
              </a:rPr>
              <a:t>=</a:t>
            </a:r>
            <a:r>
              <a:rPr lang="zh-CN" altLang="en-US" sz="1800" dirty="0">
                <a:solidFill>
                  <a:srgbClr val="006600"/>
                </a:solidFill>
                <a:latin typeface="Arial" panose="020B0604020202020204" pitchFamily="34" charset="0"/>
                <a:ea typeface="黑体" panose="02010609060101010101" pitchFamily="49" charset="-122"/>
              </a:rPr>
              <a:t>？；</a:t>
            </a:r>
            <a:r>
              <a:rPr lang="en-US" altLang="zh-CN" sz="1800" dirty="0" err="1">
                <a:solidFill>
                  <a:srgbClr val="006600"/>
                </a:solidFill>
                <a:latin typeface="Arial" panose="020B0604020202020204" pitchFamily="34" charset="0"/>
                <a:ea typeface="黑体" panose="02010609060101010101" pitchFamily="49" charset="-122"/>
              </a:rPr>
              <a:t>RegWr</a:t>
            </a:r>
            <a:r>
              <a:rPr lang="en-US" altLang="zh-CN" sz="1800">
                <a:solidFill>
                  <a:srgbClr val="006600"/>
                </a:solidFill>
                <a:latin typeface="Arial" panose="020B0604020202020204" pitchFamily="34" charset="0"/>
                <a:ea typeface="黑体" panose="02010609060101010101" pitchFamily="49" charset="-122"/>
              </a:rPr>
              <a:t>=</a:t>
            </a:r>
            <a:r>
              <a:rPr lang="zh-CN" altLang="en-US" sz="1800" dirty="0">
                <a:solidFill>
                  <a:srgbClr val="006600"/>
                </a:solidFill>
                <a:latin typeface="Arial" panose="020B0604020202020204" pitchFamily="34" charset="0"/>
                <a:ea typeface="黑体" panose="02010609060101010101" pitchFamily="49" charset="-122"/>
              </a:rPr>
              <a:t>？；</a:t>
            </a:r>
            <a:r>
              <a:rPr lang="en-US" altLang="zh-CN" sz="1800" dirty="0" err="1">
                <a:solidFill>
                  <a:srgbClr val="006600"/>
                </a:solidFill>
                <a:latin typeface="Arial" panose="020B0604020202020204" pitchFamily="34" charset="0"/>
                <a:ea typeface="黑体" panose="02010609060101010101" pitchFamily="49" charset="-122"/>
              </a:rPr>
              <a:t>ALUctr</a:t>
            </a:r>
            <a:r>
              <a:rPr lang="en-US" altLang="zh-CN" sz="1800">
                <a:solidFill>
                  <a:srgbClr val="006600"/>
                </a:solidFill>
                <a:latin typeface="Arial" panose="020B0604020202020204" pitchFamily="34" charset="0"/>
                <a:ea typeface="黑体" panose="02010609060101010101" pitchFamily="49" charset="-122"/>
              </a:rPr>
              <a:t>=</a:t>
            </a:r>
            <a:r>
              <a:rPr lang="zh-CN" altLang="en-US" sz="1800" dirty="0">
                <a:solidFill>
                  <a:srgbClr val="006600"/>
                </a:solidFill>
                <a:latin typeface="Arial" panose="020B0604020202020204" pitchFamily="34" charset="0"/>
                <a:ea typeface="黑体" panose="02010609060101010101" pitchFamily="49" charset="-122"/>
              </a:rPr>
              <a:t>？；</a:t>
            </a:r>
            <a:r>
              <a:rPr lang="en-US" altLang="zh-CN" sz="1800" dirty="0" err="1">
                <a:solidFill>
                  <a:srgbClr val="006600"/>
                </a:solidFill>
                <a:latin typeface="Arial" panose="020B0604020202020204" pitchFamily="34" charset="0"/>
                <a:ea typeface="黑体" panose="02010609060101010101" pitchFamily="49" charset="-122"/>
              </a:rPr>
              <a:t>ALUSrc</a:t>
            </a:r>
            <a:r>
              <a:rPr lang="en-US" altLang="zh-CN" sz="1800">
                <a:solidFill>
                  <a:srgbClr val="006600"/>
                </a:solidFill>
                <a:latin typeface="Arial" panose="020B0604020202020204" pitchFamily="34" charset="0"/>
                <a:ea typeface="黑体" panose="02010609060101010101" pitchFamily="49" charset="-122"/>
              </a:rPr>
              <a:t>=</a:t>
            </a:r>
            <a:r>
              <a:rPr lang="zh-CN" altLang="en-US" sz="1800" dirty="0">
                <a:solidFill>
                  <a:srgbClr val="006600"/>
                </a:solidFill>
                <a:latin typeface="Arial" panose="020B0604020202020204" pitchFamily="34" charset="0"/>
                <a:ea typeface="黑体" panose="02010609060101010101" pitchFamily="49" charset="-122"/>
              </a:rPr>
              <a:t>？</a:t>
            </a:r>
            <a:endParaRPr lang="zh-CN" altLang="en-US" sz="1800" dirty="0">
              <a:solidFill>
                <a:srgbClr val="006600"/>
              </a:solidFill>
              <a:latin typeface="Arial" panose="020B0604020202020204" pitchFamily="34" charset="0"/>
              <a:ea typeface="黑体" panose="02010609060101010101" pitchFamily="49" charset="-122"/>
            </a:endParaRPr>
          </a:p>
        </p:txBody>
      </p:sp>
      <p:grpSp>
        <p:nvGrpSpPr>
          <p:cNvPr id="204931" name="组合 204930"/>
          <p:cNvGrpSpPr/>
          <p:nvPr/>
        </p:nvGrpSpPr>
        <p:grpSpPr>
          <a:xfrm>
            <a:off x="1103313" y="2347913"/>
            <a:ext cx="2538412" cy="706437"/>
            <a:chOff x="823" y="1449"/>
            <a:chExt cx="1363" cy="445"/>
          </a:xfrm>
        </p:grpSpPr>
        <p:grpSp>
          <p:nvGrpSpPr>
            <p:cNvPr id="62532" name="组合 204855"/>
            <p:cNvGrpSpPr/>
            <p:nvPr/>
          </p:nvGrpSpPr>
          <p:grpSpPr>
            <a:xfrm>
              <a:off x="823" y="1449"/>
              <a:ext cx="1363" cy="445"/>
              <a:chOff x="823" y="1728"/>
              <a:chExt cx="1363" cy="445"/>
            </a:xfrm>
          </p:grpSpPr>
          <p:sp>
            <p:nvSpPr>
              <p:cNvPr id="62533" name="矩形 204856"/>
              <p:cNvSpPr/>
              <p:nvPr/>
            </p:nvSpPr>
            <p:spPr>
              <a:xfrm>
                <a:off x="1959" y="1728"/>
                <a:ext cx="227"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62534" name="组合 204857"/>
              <p:cNvGrpSpPr/>
              <p:nvPr/>
            </p:nvGrpSpPr>
            <p:grpSpPr>
              <a:xfrm>
                <a:off x="1408" y="1944"/>
                <a:ext cx="736" cy="192"/>
                <a:chOff x="1408" y="1944"/>
                <a:chExt cx="736" cy="192"/>
              </a:xfrm>
            </p:grpSpPr>
            <p:sp>
              <p:nvSpPr>
                <p:cNvPr id="62535" name="直接连接符 204858"/>
                <p:cNvSpPr/>
                <p:nvPr/>
              </p:nvSpPr>
              <p:spPr>
                <a:xfrm flipH="1">
                  <a:off x="1408" y="1944"/>
                  <a:ext cx="736" cy="0"/>
                </a:xfrm>
                <a:prstGeom prst="line">
                  <a:avLst/>
                </a:prstGeom>
                <a:ln w="25400" cap="flat" cmpd="sng">
                  <a:solidFill>
                    <a:srgbClr val="0000FF"/>
                  </a:solidFill>
                  <a:prstDash val="solid"/>
                  <a:round/>
                  <a:headEnd type="none" w="med" len="med"/>
                  <a:tailEnd type="none" w="med" len="med"/>
                </a:ln>
              </p:spPr>
            </p:sp>
            <p:sp>
              <p:nvSpPr>
                <p:cNvPr id="62536" name="直接连接符 204859"/>
                <p:cNvSpPr/>
                <p:nvPr/>
              </p:nvSpPr>
              <p:spPr>
                <a:xfrm flipH="1">
                  <a:off x="2032" y="1952"/>
                  <a:ext cx="112" cy="176"/>
                </a:xfrm>
                <a:prstGeom prst="line">
                  <a:avLst/>
                </a:prstGeom>
                <a:ln w="25400" cap="flat" cmpd="sng">
                  <a:solidFill>
                    <a:srgbClr val="0000FF"/>
                  </a:solidFill>
                  <a:prstDash val="solid"/>
                  <a:round/>
                  <a:headEnd type="none" w="med" len="med"/>
                  <a:tailEnd type="none" w="med" len="med"/>
                </a:ln>
              </p:spPr>
            </p:sp>
            <p:sp>
              <p:nvSpPr>
                <p:cNvPr id="62537" name="直接连接符 204860"/>
                <p:cNvSpPr/>
                <p:nvPr/>
              </p:nvSpPr>
              <p:spPr>
                <a:xfrm>
                  <a:off x="1424" y="1952"/>
                  <a:ext cx="80" cy="176"/>
                </a:xfrm>
                <a:prstGeom prst="line">
                  <a:avLst/>
                </a:prstGeom>
                <a:ln w="25400" cap="flat" cmpd="sng">
                  <a:solidFill>
                    <a:srgbClr val="0000FF"/>
                  </a:solidFill>
                  <a:prstDash val="solid"/>
                  <a:round/>
                  <a:headEnd type="none" w="med" len="med"/>
                  <a:tailEnd type="none" w="med" len="med"/>
                </a:ln>
              </p:spPr>
            </p:sp>
            <p:sp>
              <p:nvSpPr>
                <p:cNvPr id="62538" name="直接连接符 204861"/>
                <p:cNvSpPr/>
                <p:nvPr/>
              </p:nvSpPr>
              <p:spPr>
                <a:xfrm flipH="1">
                  <a:off x="1504" y="2136"/>
                  <a:ext cx="544" cy="0"/>
                </a:xfrm>
                <a:prstGeom prst="line">
                  <a:avLst/>
                </a:prstGeom>
                <a:ln w="25400" cap="flat" cmpd="sng">
                  <a:solidFill>
                    <a:srgbClr val="0000FF"/>
                  </a:solidFill>
                  <a:prstDash val="solid"/>
                  <a:round/>
                  <a:headEnd type="none" w="med" len="med"/>
                  <a:tailEnd type="none" w="med" len="med"/>
                </a:ln>
              </p:spPr>
            </p:sp>
          </p:grpSp>
          <p:sp>
            <p:nvSpPr>
              <p:cNvPr id="62539" name="直接连接符 204862"/>
              <p:cNvSpPr/>
              <p:nvPr/>
            </p:nvSpPr>
            <p:spPr>
              <a:xfrm>
                <a:off x="1968" y="1784"/>
                <a:ext cx="1" cy="155"/>
              </a:xfrm>
              <a:prstGeom prst="line">
                <a:avLst/>
              </a:prstGeom>
              <a:ln w="25400" cap="flat" cmpd="sng">
                <a:solidFill>
                  <a:srgbClr val="0000FF"/>
                </a:solidFill>
                <a:prstDash val="solid"/>
                <a:round/>
                <a:headEnd type="none" w="med" len="med"/>
                <a:tailEnd type="none" w="med" len="med"/>
              </a:ln>
            </p:spPr>
          </p:sp>
          <p:sp>
            <p:nvSpPr>
              <p:cNvPr id="62540" name="直接连接符 204863"/>
              <p:cNvSpPr/>
              <p:nvPr/>
            </p:nvSpPr>
            <p:spPr>
              <a:xfrm>
                <a:off x="1584" y="1784"/>
                <a:ext cx="0" cy="164"/>
              </a:xfrm>
              <a:prstGeom prst="line">
                <a:avLst/>
              </a:prstGeom>
              <a:ln w="25400" cap="flat" cmpd="sng">
                <a:solidFill>
                  <a:srgbClr val="0000FF"/>
                </a:solidFill>
                <a:prstDash val="solid"/>
                <a:round/>
                <a:headEnd type="none" w="med" len="med"/>
                <a:tailEnd type="none" w="med" len="med"/>
              </a:ln>
            </p:spPr>
          </p:sp>
          <p:sp>
            <p:nvSpPr>
              <p:cNvPr id="62541" name="矩形 204864"/>
              <p:cNvSpPr/>
              <p:nvPr/>
            </p:nvSpPr>
            <p:spPr>
              <a:xfrm>
                <a:off x="1568" y="1735"/>
                <a:ext cx="263" cy="229"/>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62542" name="直接连接符 204865"/>
              <p:cNvSpPr/>
              <p:nvPr/>
            </p:nvSpPr>
            <p:spPr>
              <a:xfrm flipH="1">
                <a:off x="856" y="2064"/>
                <a:ext cx="640" cy="0"/>
              </a:xfrm>
              <a:prstGeom prst="line">
                <a:avLst/>
              </a:prstGeom>
              <a:ln w="25400" cap="flat" cmpd="sng">
                <a:solidFill>
                  <a:srgbClr val="0000FF"/>
                </a:solidFill>
                <a:prstDash val="solid"/>
                <a:round/>
                <a:headEnd type="triangle" w="med" len="med"/>
                <a:tailEnd type="none" w="med" len="med"/>
              </a:ln>
            </p:spPr>
          </p:sp>
          <p:sp>
            <p:nvSpPr>
              <p:cNvPr id="62543" name="矩形 204866"/>
              <p:cNvSpPr/>
              <p:nvPr/>
            </p:nvSpPr>
            <p:spPr>
              <a:xfrm>
                <a:off x="823" y="1862"/>
                <a:ext cx="527"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2544" name="矩形 204867"/>
              <p:cNvSpPr/>
              <p:nvPr/>
            </p:nvSpPr>
            <p:spPr>
              <a:xfrm>
                <a:off x="1600" y="1944"/>
                <a:ext cx="342"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grpSp>
        <p:sp>
          <p:nvSpPr>
            <p:cNvPr id="62545" name="文本框 204921"/>
            <p:cNvSpPr txBox="1"/>
            <p:nvPr/>
          </p:nvSpPr>
          <p:spPr>
            <a:xfrm>
              <a:off x="1489" y="1616"/>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62546" name="文本框 204922"/>
            <p:cNvSpPr txBox="1"/>
            <p:nvPr/>
          </p:nvSpPr>
          <p:spPr>
            <a:xfrm>
              <a:off x="1868" y="1626"/>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204936" name="组合 204935"/>
          <p:cNvGrpSpPr/>
          <p:nvPr/>
        </p:nvGrpSpPr>
        <p:grpSpPr>
          <a:xfrm>
            <a:off x="2195513" y="4370388"/>
            <a:ext cx="3914775" cy="1646237"/>
            <a:chOff x="1383" y="2753"/>
            <a:chExt cx="2466" cy="1037"/>
          </a:xfrm>
        </p:grpSpPr>
        <p:grpSp>
          <p:nvGrpSpPr>
            <p:cNvPr id="62548" name="组合 204868"/>
            <p:cNvGrpSpPr/>
            <p:nvPr/>
          </p:nvGrpSpPr>
          <p:grpSpPr>
            <a:xfrm>
              <a:off x="1383" y="2753"/>
              <a:ext cx="2466" cy="1037"/>
              <a:chOff x="1383" y="3032"/>
              <a:chExt cx="2466" cy="1037"/>
            </a:xfrm>
          </p:grpSpPr>
          <p:grpSp>
            <p:nvGrpSpPr>
              <p:cNvPr id="62549" name="组合 204869"/>
              <p:cNvGrpSpPr/>
              <p:nvPr/>
            </p:nvGrpSpPr>
            <p:grpSpPr>
              <a:xfrm>
                <a:off x="1383" y="3032"/>
                <a:ext cx="1929" cy="1003"/>
                <a:chOff x="1383" y="3032"/>
                <a:chExt cx="1929" cy="1003"/>
              </a:xfrm>
            </p:grpSpPr>
            <p:sp>
              <p:nvSpPr>
                <p:cNvPr id="62550" name="矩形 204870"/>
                <p:cNvSpPr/>
                <p:nvPr/>
              </p:nvSpPr>
              <p:spPr>
                <a:xfrm rot="5400000">
                  <a:off x="2216" y="3591"/>
                  <a:ext cx="650"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ZeroExt</a:t>
                  </a:r>
                  <a:endParaRPr lang="en-US" altLang="zh-CN" sz="1800">
                    <a:latin typeface="Arial" panose="020B0604020202020204" pitchFamily="34" charset="0"/>
                    <a:ea typeface="宋体" panose="02010600030101010101" pitchFamily="2" charset="-122"/>
                  </a:endParaRPr>
                </a:p>
              </p:txBody>
            </p:sp>
            <p:sp>
              <p:nvSpPr>
                <p:cNvPr id="62551" name="矩形 204871"/>
                <p:cNvSpPr/>
                <p:nvPr/>
              </p:nvSpPr>
              <p:spPr>
                <a:xfrm rot="5400000">
                  <a:off x="2984" y="3301"/>
                  <a:ext cx="402"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62552" name="直接连接符 204872"/>
                <p:cNvSpPr/>
                <p:nvPr/>
              </p:nvSpPr>
              <p:spPr>
                <a:xfrm>
                  <a:off x="1832" y="3696"/>
                  <a:ext cx="608" cy="0"/>
                </a:xfrm>
                <a:prstGeom prst="line">
                  <a:avLst/>
                </a:prstGeom>
                <a:ln w="25400" cap="flat" cmpd="sng">
                  <a:solidFill>
                    <a:srgbClr val="0000FF"/>
                  </a:solidFill>
                  <a:prstDash val="solid"/>
                  <a:round/>
                  <a:headEnd type="none" w="med" len="med"/>
                  <a:tailEnd type="none" w="med" len="med"/>
                </a:ln>
              </p:spPr>
            </p:sp>
            <p:sp>
              <p:nvSpPr>
                <p:cNvPr id="62553" name="矩形 204873"/>
                <p:cNvSpPr/>
                <p:nvPr/>
              </p:nvSpPr>
              <p:spPr>
                <a:xfrm>
                  <a:off x="1911" y="3696"/>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grpSp>
              <p:nvGrpSpPr>
                <p:cNvPr id="62554" name="组合 204874"/>
                <p:cNvGrpSpPr/>
                <p:nvPr/>
              </p:nvGrpSpPr>
              <p:grpSpPr>
                <a:xfrm>
                  <a:off x="1383" y="3032"/>
                  <a:ext cx="1929" cy="944"/>
                  <a:chOff x="1383" y="3032"/>
                  <a:chExt cx="1929" cy="944"/>
                </a:xfrm>
              </p:grpSpPr>
              <p:grpSp>
                <p:nvGrpSpPr>
                  <p:cNvPr id="62555" name="组合 204875"/>
                  <p:cNvGrpSpPr/>
                  <p:nvPr/>
                </p:nvGrpSpPr>
                <p:grpSpPr>
                  <a:xfrm>
                    <a:off x="3120" y="3032"/>
                    <a:ext cx="192" cy="720"/>
                    <a:chOff x="3120" y="3032"/>
                    <a:chExt cx="192" cy="720"/>
                  </a:xfrm>
                </p:grpSpPr>
                <p:sp>
                  <p:nvSpPr>
                    <p:cNvPr id="62556" name="直接连接符 204876"/>
                    <p:cNvSpPr/>
                    <p:nvPr/>
                  </p:nvSpPr>
                  <p:spPr>
                    <a:xfrm>
                      <a:off x="3120" y="3032"/>
                      <a:ext cx="0" cy="704"/>
                    </a:xfrm>
                    <a:prstGeom prst="line">
                      <a:avLst/>
                    </a:prstGeom>
                    <a:ln w="25400" cap="flat" cmpd="sng">
                      <a:solidFill>
                        <a:srgbClr val="0000FF"/>
                      </a:solidFill>
                      <a:prstDash val="solid"/>
                      <a:round/>
                      <a:headEnd type="none" w="med" len="med"/>
                      <a:tailEnd type="none" w="med" len="med"/>
                    </a:ln>
                  </p:spPr>
                </p:sp>
                <p:sp>
                  <p:nvSpPr>
                    <p:cNvPr id="62557" name="直接连接符 204877"/>
                    <p:cNvSpPr/>
                    <p:nvPr/>
                  </p:nvSpPr>
                  <p:spPr>
                    <a:xfrm>
                      <a:off x="3128" y="3032"/>
                      <a:ext cx="176" cy="80"/>
                    </a:xfrm>
                    <a:prstGeom prst="line">
                      <a:avLst/>
                    </a:prstGeom>
                    <a:ln w="25400" cap="flat" cmpd="sng">
                      <a:solidFill>
                        <a:srgbClr val="0000FF"/>
                      </a:solidFill>
                      <a:prstDash val="solid"/>
                      <a:round/>
                      <a:headEnd type="none" w="med" len="med"/>
                      <a:tailEnd type="none" w="med" len="med"/>
                    </a:ln>
                  </p:spPr>
                </p:sp>
                <p:sp>
                  <p:nvSpPr>
                    <p:cNvPr id="62558" name="直接连接符 204878"/>
                    <p:cNvSpPr/>
                    <p:nvPr/>
                  </p:nvSpPr>
                  <p:spPr>
                    <a:xfrm flipV="1">
                      <a:off x="3128" y="3640"/>
                      <a:ext cx="176" cy="112"/>
                    </a:xfrm>
                    <a:prstGeom prst="line">
                      <a:avLst/>
                    </a:prstGeom>
                    <a:ln w="25400" cap="flat" cmpd="sng">
                      <a:solidFill>
                        <a:srgbClr val="0000FF"/>
                      </a:solidFill>
                      <a:prstDash val="solid"/>
                      <a:round/>
                      <a:headEnd type="none" w="med" len="med"/>
                      <a:tailEnd type="none" w="med" len="med"/>
                    </a:ln>
                  </p:spPr>
                </p:sp>
                <p:sp>
                  <p:nvSpPr>
                    <p:cNvPr id="62559" name="直接连接符 204879"/>
                    <p:cNvSpPr/>
                    <p:nvPr/>
                  </p:nvSpPr>
                  <p:spPr>
                    <a:xfrm>
                      <a:off x="3312" y="3128"/>
                      <a:ext cx="0" cy="512"/>
                    </a:xfrm>
                    <a:prstGeom prst="line">
                      <a:avLst/>
                    </a:prstGeom>
                    <a:ln w="25400" cap="flat" cmpd="sng">
                      <a:solidFill>
                        <a:srgbClr val="0000FF"/>
                      </a:solidFill>
                      <a:prstDash val="solid"/>
                      <a:round/>
                      <a:headEnd type="none" w="med" len="med"/>
                      <a:tailEnd type="none" w="med" len="med"/>
                    </a:ln>
                  </p:spPr>
                </p:sp>
              </p:grpSp>
              <p:sp>
                <p:nvSpPr>
                  <p:cNvPr id="62560" name="矩形 204880"/>
                  <p:cNvSpPr/>
                  <p:nvPr/>
                </p:nvSpPr>
                <p:spPr>
                  <a:xfrm>
                    <a:off x="2456" y="3416"/>
                    <a:ext cx="224" cy="512"/>
                  </a:xfrm>
                  <a:prstGeom prst="rect">
                    <a:avLst/>
                  </a:prstGeom>
                  <a:noFill/>
                  <a:ln w="25400" cap="flat" cmpd="sng">
                    <a:solidFill>
                      <a:srgbClr val="0000FF"/>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61" name="直接连接符 204881"/>
                  <p:cNvSpPr/>
                  <p:nvPr/>
                </p:nvSpPr>
                <p:spPr>
                  <a:xfrm>
                    <a:off x="2696" y="3648"/>
                    <a:ext cx="416" cy="0"/>
                  </a:xfrm>
                  <a:prstGeom prst="line">
                    <a:avLst/>
                  </a:prstGeom>
                  <a:ln w="25400" cap="flat" cmpd="sng">
                    <a:solidFill>
                      <a:srgbClr val="0000FF"/>
                    </a:solidFill>
                    <a:prstDash val="solid"/>
                    <a:round/>
                    <a:headEnd type="none" w="med" len="med"/>
                    <a:tailEnd type="triangle" w="med" len="med"/>
                  </a:ln>
                </p:spPr>
              </p:sp>
              <p:sp>
                <p:nvSpPr>
                  <p:cNvPr id="62562" name="矩形 204882"/>
                  <p:cNvSpPr/>
                  <p:nvPr/>
                </p:nvSpPr>
                <p:spPr>
                  <a:xfrm>
                    <a:off x="2691" y="3672"/>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563" name="直接连接符 204883"/>
                  <p:cNvSpPr/>
                  <p:nvPr/>
                </p:nvSpPr>
                <p:spPr>
                  <a:xfrm flipH="1">
                    <a:off x="2876" y="3604"/>
                    <a:ext cx="56" cy="88"/>
                  </a:xfrm>
                  <a:prstGeom prst="line">
                    <a:avLst/>
                  </a:prstGeom>
                  <a:ln w="12700" cap="flat" cmpd="sng">
                    <a:solidFill>
                      <a:srgbClr val="0000FF"/>
                    </a:solidFill>
                    <a:prstDash val="solid"/>
                    <a:round/>
                    <a:headEnd type="none" w="med" len="med"/>
                    <a:tailEnd type="none" w="med" len="med"/>
                  </a:ln>
                </p:spPr>
              </p:sp>
              <p:sp>
                <p:nvSpPr>
                  <p:cNvPr id="62564" name="直接连接符 204884"/>
                  <p:cNvSpPr/>
                  <p:nvPr/>
                </p:nvSpPr>
                <p:spPr>
                  <a:xfrm flipH="1">
                    <a:off x="2108" y="3652"/>
                    <a:ext cx="56" cy="88"/>
                  </a:xfrm>
                  <a:prstGeom prst="line">
                    <a:avLst/>
                  </a:prstGeom>
                  <a:ln w="12700" cap="flat" cmpd="sng">
                    <a:solidFill>
                      <a:srgbClr val="0000FF"/>
                    </a:solidFill>
                    <a:prstDash val="solid"/>
                    <a:round/>
                    <a:headEnd type="none" w="med" len="med"/>
                    <a:tailEnd type="none" w="med" len="med"/>
                  </a:ln>
                </p:spPr>
              </p:sp>
              <p:sp>
                <p:nvSpPr>
                  <p:cNvPr id="62565" name="矩形 204885"/>
                  <p:cNvSpPr/>
                  <p:nvPr/>
                </p:nvSpPr>
                <p:spPr>
                  <a:xfrm>
                    <a:off x="1383" y="3600"/>
                    <a:ext cx="570"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62566" name="直接连接符 204886"/>
                  <p:cNvSpPr/>
                  <p:nvPr/>
                </p:nvSpPr>
                <p:spPr>
                  <a:xfrm>
                    <a:off x="3216" y="3704"/>
                    <a:ext cx="0" cy="272"/>
                  </a:xfrm>
                  <a:prstGeom prst="line">
                    <a:avLst/>
                  </a:prstGeom>
                  <a:ln w="25400" cap="flat" cmpd="sng">
                    <a:solidFill>
                      <a:schemeClr val="tx1"/>
                    </a:solidFill>
                    <a:prstDash val="solid"/>
                    <a:round/>
                    <a:headEnd type="triangle" w="med" len="med"/>
                    <a:tailEnd type="none" w="med" len="med"/>
                  </a:ln>
                </p:spPr>
              </p:sp>
            </p:grpSp>
          </p:grpSp>
          <p:sp>
            <p:nvSpPr>
              <p:cNvPr id="62567" name="矩形 204887"/>
              <p:cNvSpPr/>
              <p:nvPr/>
            </p:nvSpPr>
            <p:spPr>
              <a:xfrm>
                <a:off x="3207" y="3840"/>
                <a:ext cx="642"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grpSp>
        <p:grpSp>
          <p:nvGrpSpPr>
            <p:cNvPr id="62568" name="组合 204931"/>
            <p:cNvGrpSpPr/>
            <p:nvPr/>
          </p:nvGrpSpPr>
          <p:grpSpPr>
            <a:xfrm>
              <a:off x="3075" y="2821"/>
              <a:ext cx="142" cy="625"/>
              <a:chOff x="3075" y="2821"/>
              <a:chExt cx="142" cy="625"/>
            </a:xfrm>
          </p:grpSpPr>
          <p:sp>
            <p:nvSpPr>
              <p:cNvPr id="62569" name="文本框 204923"/>
              <p:cNvSpPr txBox="1"/>
              <p:nvPr/>
            </p:nvSpPr>
            <p:spPr>
              <a:xfrm>
                <a:off x="3089" y="2821"/>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62570" name="文本框 204924"/>
              <p:cNvSpPr txBox="1"/>
              <p:nvPr/>
            </p:nvSpPr>
            <p:spPr>
              <a:xfrm>
                <a:off x="3075" y="3234"/>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grpSp>
        <p:nvGrpSpPr>
          <p:cNvPr id="62571" name="组合 204936"/>
          <p:cNvGrpSpPr/>
          <p:nvPr/>
        </p:nvGrpSpPr>
        <p:grpSpPr>
          <a:xfrm>
            <a:off x="3144838" y="1060450"/>
            <a:ext cx="5999162" cy="989013"/>
            <a:chOff x="1918" y="1392"/>
            <a:chExt cx="3763" cy="607"/>
          </a:xfrm>
        </p:grpSpPr>
        <p:sp>
          <p:nvSpPr>
            <p:cNvPr id="62572" name="矩形 204937"/>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62573" name="组合 204938"/>
            <p:cNvGrpSpPr/>
            <p:nvPr/>
          </p:nvGrpSpPr>
          <p:grpSpPr>
            <a:xfrm>
              <a:off x="1979" y="1584"/>
              <a:ext cx="624" cy="223"/>
              <a:chOff x="1979" y="1584"/>
              <a:chExt cx="624" cy="223"/>
            </a:xfrm>
          </p:grpSpPr>
          <p:sp>
            <p:nvSpPr>
              <p:cNvPr id="62574" name="矩形 204939"/>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75" name="矩形 204940"/>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62576" name="组合 204941"/>
            <p:cNvGrpSpPr/>
            <p:nvPr/>
          </p:nvGrpSpPr>
          <p:grpSpPr>
            <a:xfrm>
              <a:off x="2611" y="1584"/>
              <a:ext cx="580" cy="223"/>
              <a:chOff x="2611" y="1584"/>
              <a:chExt cx="580" cy="223"/>
            </a:xfrm>
          </p:grpSpPr>
          <p:sp>
            <p:nvSpPr>
              <p:cNvPr id="62577" name="矩形 204942"/>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78" name="矩形 204943"/>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62579" name="组合 204944"/>
            <p:cNvGrpSpPr/>
            <p:nvPr/>
          </p:nvGrpSpPr>
          <p:grpSpPr>
            <a:xfrm>
              <a:off x="3199" y="1584"/>
              <a:ext cx="579" cy="223"/>
              <a:chOff x="3199" y="1584"/>
              <a:chExt cx="579" cy="223"/>
            </a:xfrm>
          </p:grpSpPr>
          <p:sp>
            <p:nvSpPr>
              <p:cNvPr id="62580" name="矩形 204945"/>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81" name="矩形 204946"/>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62582" name="矩形 204947"/>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83" name="矩形 204948"/>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2584" name="矩形 204949"/>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2585" name="矩形 204950"/>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2586" name="矩形 204951"/>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62587" name="矩形 204952"/>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62588" name="矩形 204953"/>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2589" name="矩形 204954"/>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2590" name="矩形 204955"/>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2591" name="矩形 204956"/>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2592" name="矩形 204957"/>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931"/>
                                        </p:tgtEl>
                                        <p:attrNameLst>
                                          <p:attrName>style.visibility</p:attrName>
                                        </p:attrNameLst>
                                      </p:cBhvr>
                                      <p:to>
                                        <p:strVal val="visible"/>
                                      </p:to>
                                    </p:set>
                                    <p:animEffect transition="in" filter="blinds(horizontal)">
                                      <p:cBhvr>
                                        <p:cTn id="7" dur="500"/>
                                        <p:tgtEl>
                                          <p:spTgt spid="2049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4936"/>
                                        </p:tgtEl>
                                        <p:attrNameLst>
                                          <p:attrName>style.visibility</p:attrName>
                                        </p:attrNameLst>
                                      </p:cBhvr>
                                      <p:to>
                                        <p:strVal val="visible"/>
                                      </p:to>
                                    </p:set>
                                    <p:animEffect transition="in" filter="blinds(horizontal)">
                                      <p:cBhvr>
                                        <p:cTn id="12" dur="500"/>
                                        <p:tgtEl>
                                          <p:spTgt spid="2049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4919"/>
                                        </p:tgtEl>
                                        <p:attrNameLst>
                                          <p:attrName>style.visibility</p:attrName>
                                        </p:attrNameLst>
                                      </p:cBhvr>
                                      <p:to>
                                        <p:strVal val="visible"/>
                                      </p:to>
                                    </p:set>
                                    <p:animEffect transition="in" filter="blinds(horizontal)">
                                      <p:cBhvr>
                                        <p:cTn id="17" dur="500"/>
                                        <p:tgtEl>
                                          <p:spTgt spid="2049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920"/>
                                        </p:tgtEl>
                                        <p:attrNameLst>
                                          <p:attrName>style.visibility</p:attrName>
                                        </p:attrNameLst>
                                      </p:cBhvr>
                                      <p:to>
                                        <p:strVal val="visible"/>
                                      </p:to>
                                    </p:set>
                                    <p:animEffect transition="in" filter="blinds(horizontal)">
                                      <p:cBhvr>
                                        <p:cTn id="22" dur="500"/>
                                        <p:tgtEl>
                                          <p:spTgt spid="204920"/>
                                        </p:tgtEl>
                                      </p:cBhvr>
                                    </p:animEffect>
                                  </p:childTnLst>
                                  <p:subTnLst>
                                    <p:set>
                                      <p:cBhvr override="childStyle">
                                        <p:cTn dur="1" fill="hold" display="0" masterRel="nextClick" afterEffect="1"/>
                                        <p:tgtEl>
                                          <p:spTgt spid="20492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2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204801"/>
          <p:cNvSpPr>
            <a:spLocks noGrp="1"/>
          </p:cNvSpPr>
          <p:nvPr>
            <p:ph type="title"/>
          </p:nvPr>
        </p:nvSpPr>
        <p:spPr>
          <a:xfrm>
            <a:off x="444500" y="203200"/>
            <a:ext cx="7053263" cy="422275"/>
          </a:xfrm>
        </p:spPr>
        <p:txBody>
          <a:bodyPr vert="horz" wrap="square" lIns="63500" tIns="25400" rIns="63500" bIns="25400" anchor="t" anchorCtr="0">
            <a:spAutoFit/>
          </a:bodyPr>
          <a:p>
            <a:r>
              <a:rPr lang="zh-CN" altLang="en-US" dirty="0">
                <a:ea typeface="宋体" panose="02010600030101010101" pitchFamily="2" charset="-122"/>
              </a:rPr>
              <a:t>带立即数的逻辑指令的数据通路</a:t>
            </a:r>
            <a:endParaRPr lang="zh-CN" altLang="en-US" dirty="0">
              <a:ea typeface="宋体" panose="02010600030101010101" pitchFamily="2" charset="-122"/>
            </a:endParaRPr>
          </a:p>
        </p:txBody>
      </p:sp>
      <p:sp>
        <p:nvSpPr>
          <p:cNvPr id="62466" name="文本占位符 204802"/>
          <p:cNvSpPr>
            <a:spLocks noGrp="1"/>
          </p:cNvSpPr>
          <p:nvPr>
            <p:ph idx="1"/>
          </p:nvPr>
        </p:nvSpPr>
        <p:spPr>
          <a:xfrm>
            <a:off x="419100" y="749300"/>
            <a:ext cx="8191500" cy="325438"/>
          </a:xfrm>
        </p:spPr>
        <p:txBody>
          <a:bodyPr vert="horz" wrap="square" lIns="63500" tIns="25400" rIns="63500" bIns="25400" anchor="t" anchorCtr="0">
            <a:spAutoFit/>
          </a:bodyPr>
          <a:p>
            <a:r>
              <a:rPr lang="en-US" altLang="zh-CN" dirty="0" err="1">
                <a:ea typeface="宋体" panose="02010600030101010101" pitchFamily="2" charset="-122"/>
              </a:rPr>
              <a:t>R[</a:t>
            </a:r>
            <a:r>
              <a:rPr lang="en-US" altLang="zh-CN" dirty="0" err="1">
                <a:solidFill>
                  <a:srgbClr val="A50021"/>
                </a:solidFill>
                <a:ea typeface="宋体" panose="02010600030101010101" pitchFamily="2" charset="-122"/>
              </a:rPr>
              <a:t>rt</a:t>
            </a:r>
            <a:r>
              <a:rPr lang="en-US" altLang="zh-CN">
                <a:ea typeface="宋体" panose="02010600030101010101" pitchFamily="2" charset="-122"/>
              </a:rPr>
              <a:t>] </a:t>
            </a:r>
            <a:r>
              <a:rPr lang="en-US" altLang="zh-CN">
                <a:solidFill>
                  <a:srgbClr val="CC0000"/>
                </a:solidFill>
                <a:ea typeface="宋体" panose="02010600030101010101" pitchFamily="2" charset="-122"/>
                <a:sym typeface="Wingdings" panose="05000000000000000000" pitchFamily="2" charset="2"/>
              </a:rPr>
              <a:t>←</a:t>
            </a:r>
            <a:r>
              <a:rPr lang="en-US" altLang="zh-CN">
                <a:ea typeface="宋体" panose="02010600030101010101" pitchFamily="2" charset="-122"/>
              </a:rPr>
              <a:t> </a:t>
            </a:r>
            <a:r>
              <a:rPr lang="en-US" altLang="zh-CN" dirty="0" err="1">
                <a:ea typeface="宋体" panose="02010600030101010101" pitchFamily="2" charset="-122"/>
              </a:rPr>
              <a:t>R[rs</a:t>
            </a:r>
            <a:r>
              <a:rPr lang="en-US" altLang="zh-CN">
                <a:ea typeface="宋体" panose="02010600030101010101" pitchFamily="2" charset="-122"/>
              </a:rPr>
              <a:t>] op ZeroExt[imm16]] 	Example: </a:t>
            </a:r>
            <a:r>
              <a:rPr lang="en-US" altLang="zh-CN" dirty="0" err="1">
                <a:ea typeface="宋体" panose="02010600030101010101" pitchFamily="2" charset="-122"/>
              </a:rPr>
              <a:t>ori</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p:txBody>
      </p:sp>
      <p:grpSp>
        <p:nvGrpSpPr>
          <p:cNvPr id="62467" name="组合 204803"/>
          <p:cNvGrpSpPr/>
          <p:nvPr/>
        </p:nvGrpSpPr>
        <p:grpSpPr>
          <a:xfrm>
            <a:off x="5791200" y="3608388"/>
            <a:ext cx="457200" cy="1219200"/>
            <a:chOff x="3648" y="2552"/>
            <a:chExt cx="288" cy="768"/>
          </a:xfrm>
        </p:grpSpPr>
        <p:sp>
          <p:nvSpPr>
            <p:cNvPr id="62468" name="直接连接符 204804"/>
            <p:cNvSpPr/>
            <p:nvPr/>
          </p:nvSpPr>
          <p:spPr>
            <a:xfrm>
              <a:off x="3648" y="2552"/>
              <a:ext cx="0" cy="176"/>
            </a:xfrm>
            <a:prstGeom prst="line">
              <a:avLst/>
            </a:prstGeom>
            <a:ln w="25400" cap="flat" cmpd="sng">
              <a:solidFill>
                <a:schemeClr val="tx1"/>
              </a:solidFill>
              <a:prstDash val="solid"/>
              <a:round/>
              <a:headEnd type="none" w="med" len="med"/>
              <a:tailEnd type="none" w="med" len="med"/>
            </a:ln>
          </p:spPr>
        </p:sp>
        <p:sp>
          <p:nvSpPr>
            <p:cNvPr id="62469" name="直接连接符 204805"/>
            <p:cNvSpPr/>
            <p:nvPr/>
          </p:nvSpPr>
          <p:spPr>
            <a:xfrm>
              <a:off x="3656" y="2552"/>
              <a:ext cx="272" cy="176"/>
            </a:xfrm>
            <a:prstGeom prst="line">
              <a:avLst/>
            </a:prstGeom>
            <a:ln w="25400" cap="flat" cmpd="sng">
              <a:solidFill>
                <a:schemeClr val="tx1"/>
              </a:solidFill>
              <a:prstDash val="solid"/>
              <a:round/>
              <a:headEnd type="none" w="med" len="med"/>
              <a:tailEnd type="none" w="med" len="med"/>
            </a:ln>
          </p:spPr>
        </p:sp>
        <p:sp>
          <p:nvSpPr>
            <p:cNvPr id="62470" name="直接连接符 204806"/>
            <p:cNvSpPr/>
            <p:nvPr/>
          </p:nvSpPr>
          <p:spPr>
            <a:xfrm>
              <a:off x="3656" y="2744"/>
              <a:ext cx="128" cy="80"/>
            </a:xfrm>
            <a:prstGeom prst="line">
              <a:avLst/>
            </a:prstGeom>
            <a:ln w="25400" cap="flat" cmpd="sng">
              <a:solidFill>
                <a:schemeClr val="tx1"/>
              </a:solidFill>
              <a:prstDash val="solid"/>
              <a:round/>
              <a:headEnd type="none" w="med" len="med"/>
              <a:tailEnd type="none" w="med" len="med"/>
            </a:ln>
          </p:spPr>
        </p:sp>
        <p:sp>
          <p:nvSpPr>
            <p:cNvPr id="62471" name="直接连接符 204807"/>
            <p:cNvSpPr/>
            <p:nvPr/>
          </p:nvSpPr>
          <p:spPr>
            <a:xfrm>
              <a:off x="3792" y="2840"/>
              <a:ext cx="0" cy="176"/>
            </a:xfrm>
            <a:prstGeom prst="line">
              <a:avLst/>
            </a:prstGeom>
            <a:ln w="25400" cap="flat" cmpd="sng">
              <a:solidFill>
                <a:schemeClr val="tx1"/>
              </a:solidFill>
              <a:prstDash val="solid"/>
              <a:round/>
              <a:headEnd type="none" w="med" len="med"/>
              <a:tailEnd type="none" w="med" len="med"/>
            </a:ln>
          </p:spPr>
        </p:sp>
        <p:sp>
          <p:nvSpPr>
            <p:cNvPr id="62472" name="直接连接符 204808"/>
            <p:cNvSpPr/>
            <p:nvPr/>
          </p:nvSpPr>
          <p:spPr>
            <a:xfrm>
              <a:off x="3936" y="2744"/>
              <a:ext cx="0" cy="368"/>
            </a:xfrm>
            <a:prstGeom prst="line">
              <a:avLst/>
            </a:prstGeom>
            <a:ln w="25400" cap="flat" cmpd="sng">
              <a:solidFill>
                <a:schemeClr val="tx1"/>
              </a:solidFill>
              <a:prstDash val="solid"/>
              <a:round/>
              <a:headEnd type="none" w="med" len="med"/>
              <a:tailEnd type="none" w="med" len="med"/>
            </a:ln>
          </p:spPr>
        </p:sp>
        <p:sp>
          <p:nvSpPr>
            <p:cNvPr id="62473" name="直接连接符 204809"/>
            <p:cNvSpPr/>
            <p:nvPr/>
          </p:nvSpPr>
          <p:spPr>
            <a:xfrm flipV="1">
              <a:off x="3656" y="3016"/>
              <a:ext cx="128" cy="112"/>
            </a:xfrm>
            <a:prstGeom prst="line">
              <a:avLst/>
            </a:prstGeom>
            <a:ln w="25400" cap="flat" cmpd="sng">
              <a:solidFill>
                <a:schemeClr val="tx1"/>
              </a:solidFill>
              <a:prstDash val="solid"/>
              <a:round/>
              <a:headEnd type="none" w="med" len="med"/>
              <a:tailEnd type="none" w="med" len="med"/>
            </a:ln>
          </p:spPr>
        </p:sp>
        <p:sp>
          <p:nvSpPr>
            <p:cNvPr id="62474" name="直接连接符 204810"/>
            <p:cNvSpPr/>
            <p:nvPr/>
          </p:nvSpPr>
          <p:spPr>
            <a:xfrm>
              <a:off x="3648" y="3128"/>
              <a:ext cx="0" cy="176"/>
            </a:xfrm>
            <a:prstGeom prst="line">
              <a:avLst/>
            </a:prstGeom>
            <a:ln w="25400" cap="flat" cmpd="sng">
              <a:solidFill>
                <a:schemeClr val="tx1"/>
              </a:solidFill>
              <a:prstDash val="solid"/>
              <a:round/>
              <a:headEnd type="none" w="med" len="med"/>
              <a:tailEnd type="none" w="med" len="med"/>
            </a:ln>
          </p:spPr>
        </p:sp>
        <p:sp>
          <p:nvSpPr>
            <p:cNvPr id="62475" name="直接连接符 204811"/>
            <p:cNvSpPr/>
            <p:nvPr/>
          </p:nvSpPr>
          <p:spPr>
            <a:xfrm flipV="1">
              <a:off x="3656" y="3112"/>
              <a:ext cx="272" cy="208"/>
            </a:xfrm>
            <a:prstGeom prst="line">
              <a:avLst/>
            </a:prstGeom>
            <a:ln w="25400" cap="flat" cmpd="sng">
              <a:solidFill>
                <a:schemeClr val="tx1"/>
              </a:solidFill>
              <a:prstDash val="solid"/>
              <a:round/>
              <a:headEnd type="none" w="med" len="med"/>
              <a:tailEnd type="none" w="med" len="med"/>
            </a:ln>
          </p:spPr>
        </p:sp>
      </p:grpSp>
      <p:sp>
        <p:nvSpPr>
          <p:cNvPr id="62476" name="直接连接符 204812"/>
          <p:cNvSpPr/>
          <p:nvPr/>
        </p:nvSpPr>
        <p:spPr>
          <a:xfrm flipH="1">
            <a:off x="6235700" y="4205288"/>
            <a:ext cx="1854200" cy="0"/>
          </a:xfrm>
          <a:prstGeom prst="line">
            <a:avLst/>
          </a:prstGeom>
          <a:ln w="25400" cap="flat" cmpd="sng">
            <a:solidFill>
              <a:schemeClr val="tx1"/>
            </a:solidFill>
            <a:prstDash val="solid"/>
            <a:round/>
            <a:headEnd type="triangle" w="med" len="med"/>
            <a:tailEnd type="none" w="med" len="med"/>
          </a:ln>
        </p:spPr>
      </p:sp>
      <p:sp>
        <p:nvSpPr>
          <p:cNvPr id="62477" name="直接连接符 204813"/>
          <p:cNvSpPr/>
          <p:nvPr/>
        </p:nvSpPr>
        <p:spPr>
          <a:xfrm flipH="1">
            <a:off x="6623050" y="4135438"/>
            <a:ext cx="88900" cy="139700"/>
          </a:xfrm>
          <a:prstGeom prst="line">
            <a:avLst/>
          </a:prstGeom>
          <a:ln w="12700" cap="flat" cmpd="sng">
            <a:solidFill>
              <a:schemeClr val="tx1"/>
            </a:solidFill>
            <a:prstDash val="solid"/>
            <a:round/>
            <a:headEnd type="none" w="med" len="med"/>
            <a:tailEnd type="none" w="med" len="med"/>
          </a:ln>
        </p:spPr>
      </p:sp>
      <p:sp>
        <p:nvSpPr>
          <p:cNvPr id="62478" name="矩形 204814"/>
          <p:cNvSpPr/>
          <p:nvPr/>
        </p:nvSpPr>
        <p:spPr>
          <a:xfrm>
            <a:off x="6310313" y="42052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479" name="矩形 204815"/>
          <p:cNvSpPr/>
          <p:nvPr/>
        </p:nvSpPr>
        <p:spPr>
          <a:xfrm>
            <a:off x="6386513" y="3824288"/>
            <a:ext cx="8794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Result</a:t>
            </a:r>
            <a:endParaRPr lang="en-US" altLang="zh-CN" sz="1800">
              <a:latin typeface="Arial" panose="020B0604020202020204" pitchFamily="34" charset="0"/>
              <a:ea typeface="宋体" panose="02010600030101010101" pitchFamily="2" charset="-122"/>
            </a:endParaRPr>
          </a:p>
        </p:txBody>
      </p:sp>
      <p:sp>
        <p:nvSpPr>
          <p:cNvPr id="62480" name="直接连接符 204816"/>
          <p:cNvSpPr/>
          <p:nvPr/>
        </p:nvSpPr>
        <p:spPr>
          <a:xfrm>
            <a:off x="6019800" y="3303588"/>
            <a:ext cx="0" cy="431800"/>
          </a:xfrm>
          <a:prstGeom prst="line">
            <a:avLst/>
          </a:prstGeom>
          <a:ln w="25400" cap="flat" cmpd="sng">
            <a:solidFill>
              <a:schemeClr val="tx1"/>
            </a:solidFill>
            <a:prstDash val="solid"/>
            <a:round/>
            <a:headEnd type="none" w="med" len="med"/>
            <a:tailEnd type="triangle" w="med" len="med"/>
          </a:ln>
        </p:spPr>
      </p:sp>
      <p:sp>
        <p:nvSpPr>
          <p:cNvPr id="62481" name="矩形 204817"/>
          <p:cNvSpPr/>
          <p:nvPr/>
        </p:nvSpPr>
        <p:spPr>
          <a:xfrm>
            <a:off x="5640388" y="2986088"/>
            <a:ext cx="1139825" cy="363537"/>
          </a:xfrm>
          <a:prstGeom prst="rect">
            <a:avLst/>
          </a:prstGeom>
          <a:noFill/>
          <a:ln w="12700">
            <a:noFill/>
          </a:ln>
        </p:spPr>
        <p:txBody>
          <a:bodyPr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2482" name="矩形 204818"/>
          <p:cNvSpPr/>
          <p:nvPr/>
        </p:nvSpPr>
        <p:spPr>
          <a:xfrm>
            <a:off x="1824038" y="4367213"/>
            <a:ext cx="474662" cy="333375"/>
          </a:xfrm>
          <a:prstGeom prst="rect">
            <a:avLst/>
          </a:prstGeom>
          <a:noFill/>
          <a:ln w="12700">
            <a:noFill/>
          </a:ln>
        </p:spPr>
        <p:txBody>
          <a:bodyPr wrap="none" lIns="90488" tIns="44450" rIns="90488" bIns="44450" anchor="t" anchorCtr="0">
            <a:spAutoFit/>
          </a:bodyPr>
          <a:p>
            <a:r>
              <a:rPr lang="en-US" altLang="zh-CN" b="0" dirty="0" err="1">
                <a:latin typeface="Times New Roman" panose="02020603050405020304" pitchFamily="18" charset="0"/>
                <a:ea typeface="宋体" panose="02010600030101010101" pitchFamily="2" charset="-122"/>
              </a:rPr>
              <a:t>Clk</a:t>
            </a:r>
            <a:endParaRPr lang="en-US" altLang="zh-CN" b="0">
              <a:latin typeface="Times New Roman" panose="02020603050405020304" pitchFamily="18" charset="0"/>
              <a:ea typeface="宋体" panose="02010600030101010101" pitchFamily="2" charset="-122"/>
            </a:endParaRPr>
          </a:p>
        </p:txBody>
      </p:sp>
      <p:sp>
        <p:nvSpPr>
          <p:cNvPr id="62483" name="矩形 204819"/>
          <p:cNvSpPr/>
          <p:nvPr/>
        </p:nvSpPr>
        <p:spPr>
          <a:xfrm>
            <a:off x="1433513" y="3748088"/>
            <a:ext cx="803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62484" name="矩形 204820"/>
          <p:cNvSpPr/>
          <p:nvPr/>
        </p:nvSpPr>
        <p:spPr>
          <a:xfrm>
            <a:off x="2517775" y="3608388"/>
            <a:ext cx="1431925" cy="121285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485" name="直接连接符 204821"/>
          <p:cNvSpPr/>
          <p:nvPr/>
        </p:nvSpPr>
        <p:spPr>
          <a:xfrm>
            <a:off x="2555875" y="4579938"/>
            <a:ext cx="250825" cy="69850"/>
          </a:xfrm>
          <a:prstGeom prst="line">
            <a:avLst/>
          </a:prstGeom>
          <a:ln w="25400" cap="flat" cmpd="sng">
            <a:solidFill>
              <a:schemeClr val="tx1"/>
            </a:solidFill>
            <a:prstDash val="solid"/>
            <a:round/>
            <a:headEnd type="none" w="med" len="med"/>
            <a:tailEnd type="none" w="med" len="med"/>
          </a:ln>
        </p:spPr>
      </p:sp>
      <p:sp>
        <p:nvSpPr>
          <p:cNvPr id="62486" name="直接连接符 204822"/>
          <p:cNvSpPr/>
          <p:nvPr/>
        </p:nvSpPr>
        <p:spPr>
          <a:xfrm flipH="1">
            <a:off x="2530475" y="4675188"/>
            <a:ext cx="301625" cy="107950"/>
          </a:xfrm>
          <a:prstGeom prst="line">
            <a:avLst/>
          </a:prstGeom>
          <a:ln w="25400" cap="flat" cmpd="sng">
            <a:solidFill>
              <a:schemeClr val="tx1"/>
            </a:solidFill>
            <a:prstDash val="solid"/>
            <a:round/>
            <a:headEnd type="none" w="med" len="med"/>
            <a:tailEnd type="none" w="med" len="med"/>
          </a:ln>
        </p:spPr>
      </p:sp>
      <p:sp>
        <p:nvSpPr>
          <p:cNvPr id="62487" name="椭圆 204823"/>
          <p:cNvSpPr/>
          <p:nvPr/>
        </p:nvSpPr>
        <p:spPr>
          <a:xfrm>
            <a:off x="2365375" y="4618038"/>
            <a:ext cx="127000" cy="12700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62488" name="矩形 204824"/>
          <p:cNvSpPr/>
          <p:nvPr/>
        </p:nvSpPr>
        <p:spPr>
          <a:xfrm>
            <a:off x="1965325" y="3060700"/>
            <a:ext cx="9175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2489" name="直接连接符 204825"/>
          <p:cNvSpPr/>
          <p:nvPr/>
        </p:nvSpPr>
        <p:spPr>
          <a:xfrm flipH="1">
            <a:off x="1511300" y="4129088"/>
            <a:ext cx="1016000" cy="0"/>
          </a:xfrm>
          <a:prstGeom prst="line">
            <a:avLst/>
          </a:prstGeom>
          <a:ln w="25400" cap="flat" cmpd="sng">
            <a:solidFill>
              <a:schemeClr val="tx1"/>
            </a:solidFill>
            <a:prstDash val="solid"/>
            <a:round/>
            <a:headEnd type="triangle" w="med" len="med"/>
            <a:tailEnd type="none" w="med" len="med"/>
          </a:ln>
        </p:spPr>
      </p:sp>
      <p:sp>
        <p:nvSpPr>
          <p:cNvPr id="62490" name="直接连接符 204826"/>
          <p:cNvSpPr/>
          <p:nvPr/>
        </p:nvSpPr>
        <p:spPr>
          <a:xfrm flipH="1">
            <a:off x="2051050" y="4059238"/>
            <a:ext cx="88900" cy="139700"/>
          </a:xfrm>
          <a:prstGeom prst="line">
            <a:avLst/>
          </a:prstGeom>
          <a:ln w="12700" cap="flat" cmpd="sng">
            <a:solidFill>
              <a:schemeClr val="tx1"/>
            </a:solidFill>
            <a:prstDash val="solid"/>
            <a:round/>
            <a:headEnd type="none" w="med" len="med"/>
            <a:tailEnd type="none" w="med" len="med"/>
          </a:ln>
        </p:spPr>
      </p:sp>
      <p:sp>
        <p:nvSpPr>
          <p:cNvPr id="62491" name="矩形 204827"/>
          <p:cNvSpPr/>
          <p:nvPr/>
        </p:nvSpPr>
        <p:spPr>
          <a:xfrm>
            <a:off x="1738313" y="41290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492" name="直接连接符 204828"/>
          <p:cNvSpPr/>
          <p:nvPr/>
        </p:nvSpPr>
        <p:spPr>
          <a:xfrm>
            <a:off x="3975100" y="3748088"/>
            <a:ext cx="1803400" cy="0"/>
          </a:xfrm>
          <a:prstGeom prst="line">
            <a:avLst/>
          </a:prstGeom>
          <a:ln w="25400" cap="flat" cmpd="sng">
            <a:solidFill>
              <a:schemeClr val="tx1"/>
            </a:solidFill>
            <a:prstDash val="solid"/>
            <a:round/>
            <a:headEnd type="none" w="med" len="med"/>
            <a:tailEnd type="triangle" w="med" len="med"/>
          </a:ln>
        </p:spPr>
      </p:sp>
      <p:sp>
        <p:nvSpPr>
          <p:cNvPr id="62493" name="直接连接符 204829"/>
          <p:cNvSpPr/>
          <p:nvPr/>
        </p:nvSpPr>
        <p:spPr>
          <a:xfrm flipH="1">
            <a:off x="4946650" y="3678238"/>
            <a:ext cx="88900" cy="139700"/>
          </a:xfrm>
          <a:prstGeom prst="line">
            <a:avLst/>
          </a:prstGeom>
          <a:ln w="12700" cap="flat" cmpd="sng">
            <a:solidFill>
              <a:schemeClr val="tx1"/>
            </a:solidFill>
            <a:prstDash val="solid"/>
            <a:round/>
            <a:headEnd type="none" w="med" len="med"/>
            <a:tailEnd type="none" w="med" len="med"/>
          </a:ln>
        </p:spPr>
      </p:sp>
      <p:sp>
        <p:nvSpPr>
          <p:cNvPr id="62494" name="矩形 204830"/>
          <p:cNvSpPr/>
          <p:nvPr/>
        </p:nvSpPr>
        <p:spPr>
          <a:xfrm>
            <a:off x="4633913" y="38242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495" name="矩形 204831"/>
          <p:cNvSpPr/>
          <p:nvPr/>
        </p:nvSpPr>
        <p:spPr>
          <a:xfrm>
            <a:off x="4329113" y="3443288"/>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62496" name="直接连接符 204832"/>
          <p:cNvSpPr/>
          <p:nvPr/>
        </p:nvSpPr>
        <p:spPr>
          <a:xfrm flipV="1">
            <a:off x="2667000" y="3354388"/>
            <a:ext cx="0" cy="254000"/>
          </a:xfrm>
          <a:prstGeom prst="line">
            <a:avLst/>
          </a:prstGeom>
          <a:ln w="25400" cap="flat" cmpd="sng">
            <a:solidFill>
              <a:schemeClr val="tx1"/>
            </a:solidFill>
            <a:prstDash val="solid"/>
            <a:round/>
            <a:headEnd type="none" w="med" len="med"/>
            <a:tailEnd type="none" w="med" len="med"/>
          </a:ln>
        </p:spPr>
      </p:sp>
      <p:sp>
        <p:nvSpPr>
          <p:cNvPr id="62497" name="直接连接符 204833"/>
          <p:cNvSpPr/>
          <p:nvPr/>
        </p:nvSpPr>
        <p:spPr>
          <a:xfrm>
            <a:off x="3975100" y="4662488"/>
            <a:ext cx="965200" cy="0"/>
          </a:xfrm>
          <a:prstGeom prst="line">
            <a:avLst/>
          </a:prstGeom>
          <a:ln w="25400" cap="flat" cmpd="sng">
            <a:solidFill>
              <a:schemeClr val="tx1"/>
            </a:solidFill>
            <a:prstDash val="solid"/>
            <a:round/>
            <a:headEnd type="none" w="med" len="med"/>
            <a:tailEnd type="triangle" w="med" len="med"/>
          </a:ln>
        </p:spPr>
      </p:sp>
      <p:sp>
        <p:nvSpPr>
          <p:cNvPr id="62498" name="直接连接符 204834"/>
          <p:cNvSpPr/>
          <p:nvPr/>
        </p:nvSpPr>
        <p:spPr>
          <a:xfrm flipH="1">
            <a:off x="4489450" y="4592638"/>
            <a:ext cx="88900" cy="139700"/>
          </a:xfrm>
          <a:prstGeom prst="line">
            <a:avLst/>
          </a:prstGeom>
          <a:ln w="12700" cap="flat" cmpd="sng">
            <a:solidFill>
              <a:schemeClr val="tx1"/>
            </a:solidFill>
            <a:prstDash val="solid"/>
            <a:round/>
            <a:headEnd type="none" w="med" len="med"/>
            <a:tailEnd type="none" w="med" len="med"/>
          </a:ln>
        </p:spPr>
      </p:sp>
      <p:sp>
        <p:nvSpPr>
          <p:cNvPr id="62499" name="矩形 204835"/>
          <p:cNvSpPr/>
          <p:nvPr/>
        </p:nvSpPr>
        <p:spPr>
          <a:xfrm>
            <a:off x="4176713" y="46624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500" name="矩形 204836"/>
          <p:cNvSpPr/>
          <p:nvPr/>
        </p:nvSpPr>
        <p:spPr>
          <a:xfrm>
            <a:off x="3948113" y="4357688"/>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62501" name="直接连接符 204837"/>
          <p:cNvSpPr/>
          <p:nvPr/>
        </p:nvSpPr>
        <p:spPr>
          <a:xfrm flipH="1">
            <a:off x="1892300" y="4662488"/>
            <a:ext cx="482600" cy="0"/>
          </a:xfrm>
          <a:prstGeom prst="line">
            <a:avLst/>
          </a:prstGeom>
          <a:ln w="25400" cap="flat" cmpd="sng">
            <a:solidFill>
              <a:schemeClr val="tx1"/>
            </a:solidFill>
            <a:prstDash val="solid"/>
            <a:round/>
            <a:headEnd type="none" w="med" len="med"/>
            <a:tailEnd type="none" w="med" len="med"/>
          </a:ln>
        </p:spPr>
      </p:sp>
      <p:sp>
        <p:nvSpPr>
          <p:cNvPr id="62502" name="直接连接符 204838"/>
          <p:cNvSpPr/>
          <p:nvPr/>
        </p:nvSpPr>
        <p:spPr>
          <a:xfrm>
            <a:off x="2971800" y="2998788"/>
            <a:ext cx="0" cy="584200"/>
          </a:xfrm>
          <a:prstGeom prst="line">
            <a:avLst/>
          </a:prstGeom>
          <a:ln w="25400" cap="flat" cmpd="sng">
            <a:solidFill>
              <a:schemeClr val="tx1"/>
            </a:solidFill>
            <a:prstDash val="solid"/>
            <a:round/>
            <a:headEnd type="none" w="med" len="med"/>
            <a:tailEnd type="none" w="med" len="med"/>
          </a:ln>
        </p:spPr>
      </p:sp>
      <p:sp>
        <p:nvSpPr>
          <p:cNvPr id="62503" name="直接连接符 204839"/>
          <p:cNvSpPr/>
          <p:nvPr/>
        </p:nvSpPr>
        <p:spPr>
          <a:xfrm flipV="1">
            <a:off x="2901950" y="3284538"/>
            <a:ext cx="139700" cy="165100"/>
          </a:xfrm>
          <a:prstGeom prst="line">
            <a:avLst/>
          </a:prstGeom>
          <a:ln w="12700" cap="flat" cmpd="sng">
            <a:solidFill>
              <a:schemeClr val="tx1"/>
            </a:solidFill>
            <a:prstDash val="solid"/>
            <a:round/>
            <a:headEnd type="none" w="med" len="med"/>
            <a:tailEnd type="none" w="med" len="med"/>
          </a:ln>
        </p:spPr>
      </p:sp>
      <p:sp>
        <p:nvSpPr>
          <p:cNvPr id="62504" name="矩形 204840"/>
          <p:cNvSpPr/>
          <p:nvPr/>
        </p:nvSpPr>
        <p:spPr>
          <a:xfrm>
            <a:off x="2728913" y="3138488"/>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62505" name="直接连接符 204841"/>
          <p:cNvSpPr/>
          <p:nvPr/>
        </p:nvSpPr>
        <p:spPr>
          <a:xfrm>
            <a:off x="3352800" y="3151188"/>
            <a:ext cx="0" cy="431800"/>
          </a:xfrm>
          <a:prstGeom prst="line">
            <a:avLst/>
          </a:prstGeom>
          <a:ln w="25400" cap="flat" cmpd="sng">
            <a:solidFill>
              <a:schemeClr val="tx1"/>
            </a:solidFill>
            <a:prstDash val="solid"/>
            <a:round/>
            <a:headEnd type="none" w="med" len="med"/>
            <a:tailEnd type="none" w="med" len="med"/>
          </a:ln>
        </p:spPr>
      </p:sp>
      <p:sp>
        <p:nvSpPr>
          <p:cNvPr id="62506" name="直接连接符 204842"/>
          <p:cNvSpPr/>
          <p:nvPr/>
        </p:nvSpPr>
        <p:spPr>
          <a:xfrm flipV="1">
            <a:off x="3282950" y="3284538"/>
            <a:ext cx="139700" cy="165100"/>
          </a:xfrm>
          <a:prstGeom prst="line">
            <a:avLst/>
          </a:prstGeom>
          <a:ln w="12700" cap="flat" cmpd="sng">
            <a:solidFill>
              <a:schemeClr val="tx1"/>
            </a:solidFill>
            <a:prstDash val="solid"/>
            <a:round/>
            <a:headEnd type="none" w="med" len="med"/>
            <a:tailEnd type="none" w="med" len="med"/>
          </a:ln>
        </p:spPr>
      </p:sp>
      <p:sp>
        <p:nvSpPr>
          <p:cNvPr id="62507" name="矩形 204843"/>
          <p:cNvSpPr/>
          <p:nvPr/>
        </p:nvSpPr>
        <p:spPr>
          <a:xfrm>
            <a:off x="3109913" y="3138488"/>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62508" name="直接连接符 204844"/>
          <p:cNvSpPr/>
          <p:nvPr/>
        </p:nvSpPr>
        <p:spPr>
          <a:xfrm>
            <a:off x="3810000" y="3151188"/>
            <a:ext cx="0" cy="431800"/>
          </a:xfrm>
          <a:prstGeom prst="line">
            <a:avLst/>
          </a:prstGeom>
          <a:ln w="25400" cap="flat" cmpd="sng">
            <a:solidFill>
              <a:schemeClr val="tx1"/>
            </a:solidFill>
            <a:prstDash val="solid"/>
            <a:round/>
            <a:headEnd type="none" w="med" len="med"/>
            <a:tailEnd type="none" w="med" len="med"/>
          </a:ln>
        </p:spPr>
      </p:sp>
      <p:sp>
        <p:nvSpPr>
          <p:cNvPr id="62509" name="直接连接符 204845"/>
          <p:cNvSpPr/>
          <p:nvPr/>
        </p:nvSpPr>
        <p:spPr>
          <a:xfrm flipV="1">
            <a:off x="3740150" y="3284538"/>
            <a:ext cx="139700" cy="165100"/>
          </a:xfrm>
          <a:prstGeom prst="line">
            <a:avLst/>
          </a:prstGeom>
          <a:ln w="12700" cap="flat" cmpd="sng">
            <a:solidFill>
              <a:schemeClr val="tx1"/>
            </a:solidFill>
            <a:prstDash val="solid"/>
            <a:round/>
            <a:headEnd type="none" w="med" len="med"/>
            <a:tailEnd type="none" w="med" len="med"/>
          </a:ln>
        </p:spPr>
      </p:sp>
      <p:sp>
        <p:nvSpPr>
          <p:cNvPr id="62510" name="矩形 204846"/>
          <p:cNvSpPr/>
          <p:nvPr/>
        </p:nvSpPr>
        <p:spPr>
          <a:xfrm>
            <a:off x="3567113" y="3138488"/>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62511" name="矩形 204847"/>
          <p:cNvSpPr/>
          <p:nvPr/>
        </p:nvSpPr>
        <p:spPr>
          <a:xfrm>
            <a:off x="2728913" y="3595688"/>
            <a:ext cx="5238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62512" name="矩形 204848"/>
          <p:cNvSpPr/>
          <p:nvPr/>
        </p:nvSpPr>
        <p:spPr>
          <a:xfrm>
            <a:off x="3186113" y="3595688"/>
            <a:ext cx="4730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62513" name="矩形 204849"/>
          <p:cNvSpPr/>
          <p:nvPr/>
        </p:nvSpPr>
        <p:spPr>
          <a:xfrm>
            <a:off x="3567113" y="3595688"/>
            <a:ext cx="4857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62514" name="矩形 204850"/>
          <p:cNvSpPr/>
          <p:nvPr/>
        </p:nvSpPr>
        <p:spPr>
          <a:xfrm>
            <a:off x="2728913" y="3900488"/>
            <a:ext cx="1222375" cy="63817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62515" name="直接连接符 204851"/>
          <p:cNvSpPr/>
          <p:nvPr/>
        </p:nvSpPr>
        <p:spPr>
          <a:xfrm flipH="1">
            <a:off x="1511300" y="5957888"/>
            <a:ext cx="5740400" cy="0"/>
          </a:xfrm>
          <a:prstGeom prst="line">
            <a:avLst/>
          </a:prstGeom>
          <a:ln w="25400" cap="flat" cmpd="sng">
            <a:solidFill>
              <a:schemeClr val="tx1"/>
            </a:solidFill>
            <a:prstDash val="solid"/>
            <a:round/>
            <a:headEnd type="none" w="med" len="med"/>
            <a:tailEnd type="none" w="med" len="med"/>
          </a:ln>
        </p:spPr>
      </p:sp>
      <p:sp>
        <p:nvSpPr>
          <p:cNvPr id="62516" name="直接连接符 204852"/>
          <p:cNvSpPr/>
          <p:nvPr/>
        </p:nvSpPr>
        <p:spPr>
          <a:xfrm flipV="1">
            <a:off x="1524000" y="4116388"/>
            <a:ext cx="0" cy="1854200"/>
          </a:xfrm>
          <a:prstGeom prst="line">
            <a:avLst/>
          </a:prstGeom>
          <a:ln w="25400" cap="flat" cmpd="sng">
            <a:solidFill>
              <a:schemeClr val="tx1"/>
            </a:solidFill>
            <a:prstDash val="solid"/>
            <a:round/>
            <a:headEnd type="none" w="med" len="med"/>
            <a:tailEnd type="none" w="med" len="med"/>
          </a:ln>
        </p:spPr>
      </p:sp>
      <p:sp>
        <p:nvSpPr>
          <p:cNvPr id="62517" name="矩形 204853"/>
          <p:cNvSpPr/>
          <p:nvPr/>
        </p:nvSpPr>
        <p:spPr>
          <a:xfrm>
            <a:off x="3313113" y="2922588"/>
            <a:ext cx="4730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62518" name="矩形 204854"/>
          <p:cNvSpPr/>
          <p:nvPr/>
        </p:nvSpPr>
        <p:spPr>
          <a:xfrm>
            <a:off x="3602038" y="2617788"/>
            <a:ext cx="13239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Don’t</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Care</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a:t>
            </a:r>
            <a:r>
              <a:rPr lang="en-US" altLang="zh-CN" sz="1800" dirty="0" err="1">
                <a:latin typeface="Arial" panose="020B0604020202020204" pitchFamily="34" charset="0"/>
                <a:ea typeface="宋体" panose="02010600030101010101" pitchFamily="2" charset="-122"/>
              </a:rPr>
              <a:t>Rt</a:t>
            </a:r>
            <a:r>
              <a:rPr lang="en-US" altLang="zh-CN" sz="1800">
                <a:latin typeface="Arial" panose="020B0604020202020204" pitchFamily="34" charset="0"/>
                <a:ea typeface="宋体" panose="02010600030101010101" pitchFamily="2" charset="-122"/>
              </a:rPr>
              <a:t>)</a:t>
            </a:r>
            <a:endParaRPr lang="en-US" altLang="zh-CN" sz="1800">
              <a:latin typeface="Arial" panose="020B0604020202020204" pitchFamily="34" charset="0"/>
              <a:ea typeface="宋体" panose="02010600030101010101" pitchFamily="2" charset="-122"/>
            </a:endParaRPr>
          </a:p>
        </p:txBody>
      </p:sp>
      <p:sp>
        <p:nvSpPr>
          <p:cNvPr id="62519" name="直接连接符 204888"/>
          <p:cNvSpPr/>
          <p:nvPr/>
        </p:nvSpPr>
        <p:spPr>
          <a:xfrm>
            <a:off x="5270500" y="4662488"/>
            <a:ext cx="508000" cy="0"/>
          </a:xfrm>
          <a:prstGeom prst="line">
            <a:avLst/>
          </a:prstGeom>
          <a:ln w="25400" cap="flat" cmpd="sng">
            <a:solidFill>
              <a:schemeClr val="tx1"/>
            </a:solidFill>
            <a:prstDash val="solid"/>
            <a:round/>
            <a:headEnd type="none" w="med" len="med"/>
            <a:tailEnd type="triangle" w="med" len="med"/>
          </a:ln>
        </p:spPr>
      </p:sp>
      <p:sp>
        <p:nvSpPr>
          <p:cNvPr id="62520" name="直接连接符 204889"/>
          <p:cNvSpPr/>
          <p:nvPr/>
        </p:nvSpPr>
        <p:spPr>
          <a:xfrm>
            <a:off x="7239000" y="4217988"/>
            <a:ext cx="0" cy="1727200"/>
          </a:xfrm>
          <a:prstGeom prst="line">
            <a:avLst/>
          </a:prstGeom>
          <a:ln w="25400" cap="flat" cmpd="sng">
            <a:solidFill>
              <a:schemeClr val="tx1"/>
            </a:solidFill>
            <a:prstDash val="solid"/>
            <a:round/>
            <a:headEnd type="none" w="med" len="med"/>
            <a:tailEnd type="none" w="med" len="med"/>
          </a:ln>
        </p:spPr>
      </p:sp>
      <p:sp>
        <p:nvSpPr>
          <p:cNvPr id="62521" name="矩形 204890"/>
          <p:cNvSpPr/>
          <p:nvPr/>
        </p:nvSpPr>
        <p:spPr>
          <a:xfrm rot="5400000">
            <a:off x="5773738" y="4068763"/>
            <a:ext cx="6508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62522" name="文本框 204914"/>
          <p:cNvSpPr txBox="1"/>
          <p:nvPr/>
        </p:nvSpPr>
        <p:spPr>
          <a:xfrm>
            <a:off x="5567363" y="2609850"/>
            <a:ext cx="2506662" cy="336550"/>
          </a:xfrm>
          <a:prstGeom prst="rect">
            <a:avLst/>
          </a:prstGeom>
          <a:noFill/>
          <a:ln w="25400">
            <a:noFill/>
          </a:ln>
        </p:spPr>
        <p:txBody>
          <a:bodyPr anchor="t" anchorCtr="0">
            <a:spAutoFit/>
          </a:bodyPr>
          <a:p>
            <a:pPr algn="ctr"/>
            <a:endParaRPr lang="zh-CN" altLang="en-US" dirty="0">
              <a:latin typeface="Times New Roman" panose="02020603050405020304" pitchFamily="18" charset="0"/>
              <a:ea typeface="宋体" panose="02010600030101010101" pitchFamily="2" charset="-122"/>
            </a:endParaRPr>
          </a:p>
        </p:txBody>
      </p:sp>
      <p:sp>
        <p:nvSpPr>
          <p:cNvPr id="62523" name="文本框 204915"/>
          <p:cNvSpPr txBox="1"/>
          <p:nvPr/>
        </p:nvSpPr>
        <p:spPr>
          <a:xfrm>
            <a:off x="273050" y="1976438"/>
            <a:ext cx="2924175" cy="366712"/>
          </a:xfrm>
          <a:prstGeom prst="rect">
            <a:avLst/>
          </a:prstGeom>
          <a:noFill/>
          <a:ln w="25400">
            <a:noFill/>
          </a:ln>
        </p:spPr>
        <p:txBody>
          <a:bodyPr anchor="t" anchorCtr="0">
            <a:spAutoFit/>
          </a:bodyPr>
          <a:p>
            <a:pPr>
              <a:spcBef>
                <a:spcPct val="50000"/>
              </a:spcBef>
            </a:pPr>
            <a:r>
              <a:rPr lang="en-US" altLang="zh-CN" sz="1800" b="0">
                <a:solidFill>
                  <a:srgbClr val="CC0000"/>
                </a:solidFill>
                <a:latin typeface="Arial" panose="020B0604020202020204" pitchFamily="34" charset="0"/>
                <a:ea typeface="黑体" panose="02010609060101010101" pitchFamily="49" charset="-122"/>
              </a:rPr>
              <a:t>R-Type</a:t>
            </a:r>
            <a:r>
              <a:rPr lang="zh-CN" altLang="en-US" sz="1800" b="0" dirty="0">
                <a:solidFill>
                  <a:srgbClr val="CC0000"/>
                </a:solidFill>
                <a:latin typeface="Arial" panose="020B0604020202020204" pitchFamily="34" charset="0"/>
                <a:ea typeface="黑体" panose="02010609060101010101" pitchFamily="49" charset="-122"/>
              </a:rPr>
              <a:t>类型的结果写入</a:t>
            </a:r>
            <a:r>
              <a:rPr lang="en-US" altLang="zh-CN" sz="1800" b="0">
                <a:solidFill>
                  <a:srgbClr val="CC0000"/>
                </a:solidFill>
                <a:latin typeface="Arial" panose="020B0604020202020204" pitchFamily="34" charset="0"/>
                <a:ea typeface="黑体" panose="02010609060101010101" pitchFamily="49" charset="-122"/>
              </a:rPr>
              <a:t>Rd</a:t>
            </a:r>
            <a:endParaRPr lang="en-US" altLang="zh-CN" sz="1800" b="0">
              <a:solidFill>
                <a:srgbClr val="CC0000"/>
              </a:solidFill>
              <a:latin typeface="Arial" panose="020B0604020202020204" pitchFamily="34" charset="0"/>
              <a:ea typeface="黑体" panose="02010609060101010101" pitchFamily="49" charset="-122"/>
            </a:endParaRPr>
          </a:p>
        </p:txBody>
      </p:sp>
      <p:sp>
        <p:nvSpPr>
          <p:cNvPr id="62524" name="文本框 204916"/>
          <p:cNvSpPr txBox="1"/>
          <p:nvPr/>
        </p:nvSpPr>
        <p:spPr>
          <a:xfrm>
            <a:off x="7289800" y="5113338"/>
            <a:ext cx="1662113" cy="641350"/>
          </a:xfrm>
          <a:prstGeom prst="rect">
            <a:avLst/>
          </a:prstGeom>
          <a:noFill/>
          <a:ln w="25400">
            <a:noFill/>
          </a:ln>
        </p:spPr>
        <p:txBody>
          <a:bodyPr anchor="t" anchorCtr="0">
            <a:spAutoFit/>
          </a:bodyPr>
          <a:p>
            <a:pPr>
              <a:spcBef>
                <a:spcPct val="50000"/>
              </a:spcBef>
            </a:pPr>
            <a:r>
              <a:rPr lang="en-US" altLang="zh-CN" sz="1800" b="0">
                <a:solidFill>
                  <a:srgbClr val="CC0000"/>
                </a:solidFill>
                <a:latin typeface="Arial" panose="020B0604020202020204" pitchFamily="34" charset="0"/>
                <a:ea typeface="黑体" panose="02010609060101010101" pitchFamily="49" charset="-122"/>
              </a:rPr>
              <a:t>R-Type</a:t>
            </a:r>
            <a:r>
              <a:rPr lang="zh-CN" altLang="en-US" sz="1800" b="0" dirty="0">
                <a:solidFill>
                  <a:srgbClr val="CC0000"/>
                </a:solidFill>
                <a:latin typeface="Arial" panose="020B0604020202020204" pitchFamily="34" charset="0"/>
                <a:ea typeface="黑体" panose="02010609060101010101" pitchFamily="49" charset="-122"/>
              </a:rPr>
              <a:t>的操作数来自</a:t>
            </a:r>
            <a:r>
              <a:rPr lang="en-US" altLang="zh-CN" sz="1800" b="0" dirty="0" err="1">
                <a:solidFill>
                  <a:srgbClr val="CC0000"/>
                </a:solidFill>
                <a:latin typeface="Arial" panose="020B0604020202020204" pitchFamily="34" charset="0"/>
                <a:ea typeface="黑体" panose="02010609060101010101" pitchFamily="49" charset="-122"/>
              </a:rPr>
              <a:t>busB</a:t>
            </a:r>
            <a:endParaRPr lang="en-US" altLang="zh-CN" sz="1800" b="0">
              <a:solidFill>
                <a:srgbClr val="CC0000"/>
              </a:solidFill>
              <a:latin typeface="Arial" panose="020B0604020202020204" pitchFamily="34" charset="0"/>
              <a:ea typeface="黑体" panose="02010609060101010101" pitchFamily="49" charset="-122"/>
            </a:endParaRPr>
          </a:p>
        </p:txBody>
      </p:sp>
      <p:grpSp>
        <p:nvGrpSpPr>
          <p:cNvPr id="204919" name="组合 204918"/>
          <p:cNvGrpSpPr/>
          <p:nvPr/>
        </p:nvGrpSpPr>
        <p:grpSpPr>
          <a:xfrm>
            <a:off x="3470275" y="2236788"/>
            <a:ext cx="4999038" cy="2144712"/>
            <a:chOff x="2249" y="1657"/>
            <a:chExt cx="2661" cy="1351"/>
          </a:xfrm>
        </p:grpSpPr>
        <p:sp>
          <p:nvSpPr>
            <p:cNvPr id="62526" name="文本框 204912"/>
            <p:cNvSpPr txBox="1"/>
            <p:nvPr/>
          </p:nvSpPr>
          <p:spPr>
            <a:xfrm>
              <a:off x="3435" y="1657"/>
              <a:ext cx="1475" cy="239"/>
            </a:xfrm>
            <a:prstGeom prst="rect">
              <a:avLst/>
            </a:prstGeom>
            <a:noFill/>
            <a:ln w="12700" cap="flat" cmpd="sng">
              <a:solidFill>
                <a:schemeClr val="accent2"/>
              </a:solidFill>
              <a:prstDash val="solid"/>
              <a:miter/>
              <a:headEnd type="none" w="med" len="med"/>
              <a:tailEnd type="none" w="med" len="med"/>
            </a:ln>
          </p:spPr>
          <p:txBody>
            <a:bodyPr anchor="t" anchorCtr="0">
              <a:spAutoFit/>
            </a:bodyPr>
            <a:p>
              <a:r>
                <a:rPr lang="zh-CN" altLang="en-US" sz="1800" dirty="0">
                  <a:solidFill>
                    <a:srgbClr val="0000FF"/>
                  </a:solidFill>
                  <a:latin typeface="黑体" panose="02010609060101010101" pitchFamily="49" charset="-122"/>
                  <a:ea typeface="黑体" panose="02010609060101010101" pitchFamily="49" charset="-122"/>
                </a:rPr>
                <a:t>应加兰色部分，为什么？</a:t>
              </a:r>
              <a:endParaRPr lang="zh-CN" altLang="en-US" sz="1800" dirty="0">
                <a:solidFill>
                  <a:srgbClr val="0000FF"/>
                </a:solidFill>
                <a:latin typeface="黑体" panose="02010609060101010101" pitchFamily="49" charset="-122"/>
                <a:ea typeface="黑体" panose="02010609060101010101" pitchFamily="49" charset="-122"/>
              </a:endParaRPr>
            </a:p>
          </p:txBody>
        </p:sp>
        <p:sp>
          <p:nvSpPr>
            <p:cNvPr id="62527" name="直接连接符 204913"/>
            <p:cNvSpPr/>
            <p:nvPr/>
          </p:nvSpPr>
          <p:spPr>
            <a:xfrm flipH="1">
              <a:off x="2249" y="1755"/>
              <a:ext cx="1180" cy="192"/>
            </a:xfrm>
            <a:prstGeom prst="line">
              <a:avLst/>
            </a:prstGeom>
            <a:ln w="12700" cap="flat" cmpd="sng">
              <a:solidFill>
                <a:srgbClr val="0000FF"/>
              </a:solidFill>
              <a:prstDash val="solid"/>
              <a:round/>
              <a:headEnd type="none" w="med" len="med"/>
              <a:tailEnd type="triangle" w="med" len="med"/>
            </a:ln>
          </p:spPr>
        </p:sp>
        <p:sp>
          <p:nvSpPr>
            <p:cNvPr id="62528" name="直接连接符 204917"/>
            <p:cNvSpPr/>
            <p:nvPr/>
          </p:nvSpPr>
          <p:spPr>
            <a:xfrm flipH="1">
              <a:off x="3191" y="1883"/>
              <a:ext cx="210" cy="1125"/>
            </a:xfrm>
            <a:prstGeom prst="line">
              <a:avLst/>
            </a:prstGeom>
            <a:ln w="19050" cap="flat" cmpd="sng">
              <a:solidFill>
                <a:schemeClr val="accent2"/>
              </a:solidFill>
              <a:prstDash val="solid"/>
              <a:round/>
              <a:headEnd type="none" w="med" len="med"/>
              <a:tailEnd type="triangle" w="med" len="med"/>
            </a:ln>
          </p:spPr>
        </p:sp>
      </p:grpSp>
      <p:grpSp>
        <p:nvGrpSpPr>
          <p:cNvPr id="204931" name="组合 204930"/>
          <p:cNvGrpSpPr/>
          <p:nvPr/>
        </p:nvGrpSpPr>
        <p:grpSpPr>
          <a:xfrm>
            <a:off x="1103313" y="2347913"/>
            <a:ext cx="2538412" cy="706437"/>
            <a:chOff x="823" y="1449"/>
            <a:chExt cx="1363" cy="445"/>
          </a:xfrm>
        </p:grpSpPr>
        <p:grpSp>
          <p:nvGrpSpPr>
            <p:cNvPr id="62532" name="组合 204855"/>
            <p:cNvGrpSpPr/>
            <p:nvPr/>
          </p:nvGrpSpPr>
          <p:grpSpPr>
            <a:xfrm>
              <a:off x="823" y="1449"/>
              <a:ext cx="1363" cy="445"/>
              <a:chOff x="823" y="1728"/>
              <a:chExt cx="1363" cy="445"/>
            </a:xfrm>
          </p:grpSpPr>
          <p:sp>
            <p:nvSpPr>
              <p:cNvPr id="62533" name="矩形 204856"/>
              <p:cNvSpPr/>
              <p:nvPr/>
            </p:nvSpPr>
            <p:spPr>
              <a:xfrm>
                <a:off x="1959" y="1728"/>
                <a:ext cx="227"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62534" name="组合 204857"/>
              <p:cNvGrpSpPr/>
              <p:nvPr/>
            </p:nvGrpSpPr>
            <p:grpSpPr>
              <a:xfrm>
                <a:off x="1408" y="1944"/>
                <a:ext cx="736" cy="192"/>
                <a:chOff x="1408" y="1944"/>
                <a:chExt cx="736" cy="192"/>
              </a:xfrm>
            </p:grpSpPr>
            <p:sp>
              <p:nvSpPr>
                <p:cNvPr id="62535" name="直接连接符 204858"/>
                <p:cNvSpPr/>
                <p:nvPr/>
              </p:nvSpPr>
              <p:spPr>
                <a:xfrm flipH="1">
                  <a:off x="1408" y="1944"/>
                  <a:ext cx="736" cy="0"/>
                </a:xfrm>
                <a:prstGeom prst="line">
                  <a:avLst/>
                </a:prstGeom>
                <a:ln w="25400" cap="flat" cmpd="sng">
                  <a:solidFill>
                    <a:srgbClr val="0000FF"/>
                  </a:solidFill>
                  <a:prstDash val="solid"/>
                  <a:round/>
                  <a:headEnd type="none" w="med" len="med"/>
                  <a:tailEnd type="none" w="med" len="med"/>
                </a:ln>
              </p:spPr>
            </p:sp>
            <p:sp>
              <p:nvSpPr>
                <p:cNvPr id="62536" name="直接连接符 204859"/>
                <p:cNvSpPr/>
                <p:nvPr/>
              </p:nvSpPr>
              <p:spPr>
                <a:xfrm flipH="1">
                  <a:off x="2032" y="1952"/>
                  <a:ext cx="112" cy="176"/>
                </a:xfrm>
                <a:prstGeom prst="line">
                  <a:avLst/>
                </a:prstGeom>
                <a:ln w="25400" cap="flat" cmpd="sng">
                  <a:solidFill>
                    <a:srgbClr val="0000FF"/>
                  </a:solidFill>
                  <a:prstDash val="solid"/>
                  <a:round/>
                  <a:headEnd type="none" w="med" len="med"/>
                  <a:tailEnd type="none" w="med" len="med"/>
                </a:ln>
              </p:spPr>
            </p:sp>
            <p:sp>
              <p:nvSpPr>
                <p:cNvPr id="62537" name="直接连接符 204860"/>
                <p:cNvSpPr/>
                <p:nvPr/>
              </p:nvSpPr>
              <p:spPr>
                <a:xfrm>
                  <a:off x="1424" y="1952"/>
                  <a:ext cx="80" cy="176"/>
                </a:xfrm>
                <a:prstGeom prst="line">
                  <a:avLst/>
                </a:prstGeom>
                <a:ln w="25400" cap="flat" cmpd="sng">
                  <a:solidFill>
                    <a:srgbClr val="0000FF"/>
                  </a:solidFill>
                  <a:prstDash val="solid"/>
                  <a:round/>
                  <a:headEnd type="none" w="med" len="med"/>
                  <a:tailEnd type="none" w="med" len="med"/>
                </a:ln>
              </p:spPr>
            </p:sp>
            <p:sp>
              <p:nvSpPr>
                <p:cNvPr id="62538" name="直接连接符 204861"/>
                <p:cNvSpPr/>
                <p:nvPr/>
              </p:nvSpPr>
              <p:spPr>
                <a:xfrm flipH="1">
                  <a:off x="1504" y="2136"/>
                  <a:ext cx="544" cy="0"/>
                </a:xfrm>
                <a:prstGeom prst="line">
                  <a:avLst/>
                </a:prstGeom>
                <a:ln w="25400" cap="flat" cmpd="sng">
                  <a:solidFill>
                    <a:srgbClr val="0000FF"/>
                  </a:solidFill>
                  <a:prstDash val="solid"/>
                  <a:round/>
                  <a:headEnd type="none" w="med" len="med"/>
                  <a:tailEnd type="none" w="med" len="med"/>
                </a:ln>
              </p:spPr>
            </p:sp>
          </p:grpSp>
          <p:sp>
            <p:nvSpPr>
              <p:cNvPr id="62539" name="直接连接符 204862"/>
              <p:cNvSpPr/>
              <p:nvPr/>
            </p:nvSpPr>
            <p:spPr>
              <a:xfrm>
                <a:off x="1968" y="1784"/>
                <a:ext cx="1" cy="155"/>
              </a:xfrm>
              <a:prstGeom prst="line">
                <a:avLst/>
              </a:prstGeom>
              <a:ln w="25400" cap="flat" cmpd="sng">
                <a:solidFill>
                  <a:srgbClr val="0000FF"/>
                </a:solidFill>
                <a:prstDash val="solid"/>
                <a:round/>
                <a:headEnd type="none" w="med" len="med"/>
                <a:tailEnd type="none" w="med" len="med"/>
              </a:ln>
            </p:spPr>
          </p:sp>
          <p:sp>
            <p:nvSpPr>
              <p:cNvPr id="62540" name="直接连接符 204863"/>
              <p:cNvSpPr/>
              <p:nvPr/>
            </p:nvSpPr>
            <p:spPr>
              <a:xfrm>
                <a:off x="1584" y="1784"/>
                <a:ext cx="0" cy="164"/>
              </a:xfrm>
              <a:prstGeom prst="line">
                <a:avLst/>
              </a:prstGeom>
              <a:ln w="25400" cap="flat" cmpd="sng">
                <a:solidFill>
                  <a:srgbClr val="0000FF"/>
                </a:solidFill>
                <a:prstDash val="solid"/>
                <a:round/>
                <a:headEnd type="none" w="med" len="med"/>
                <a:tailEnd type="none" w="med" len="med"/>
              </a:ln>
            </p:spPr>
          </p:sp>
          <p:sp>
            <p:nvSpPr>
              <p:cNvPr id="62541" name="矩形 204864"/>
              <p:cNvSpPr/>
              <p:nvPr/>
            </p:nvSpPr>
            <p:spPr>
              <a:xfrm>
                <a:off x="1568" y="1735"/>
                <a:ext cx="263" cy="229"/>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62542" name="直接连接符 204865"/>
              <p:cNvSpPr/>
              <p:nvPr/>
            </p:nvSpPr>
            <p:spPr>
              <a:xfrm flipH="1">
                <a:off x="856" y="2064"/>
                <a:ext cx="640" cy="0"/>
              </a:xfrm>
              <a:prstGeom prst="line">
                <a:avLst/>
              </a:prstGeom>
              <a:ln w="25400" cap="flat" cmpd="sng">
                <a:solidFill>
                  <a:srgbClr val="0000FF"/>
                </a:solidFill>
                <a:prstDash val="solid"/>
                <a:round/>
                <a:headEnd type="triangle" w="med" len="med"/>
                <a:tailEnd type="none" w="med" len="med"/>
              </a:ln>
            </p:spPr>
          </p:sp>
          <p:sp>
            <p:nvSpPr>
              <p:cNvPr id="62543" name="矩形 204866"/>
              <p:cNvSpPr/>
              <p:nvPr/>
            </p:nvSpPr>
            <p:spPr>
              <a:xfrm>
                <a:off x="823" y="1862"/>
                <a:ext cx="527"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2544" name="矩形 204867"/>
              <p:cNvSpPr/>
              <p:nvPr/>
            </p:nvSpPr>
            <p:spPr>
              <a:xfrm>
                <a:off x="1600" y="1944"/>
                <a:ext cx="342"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grpSp>
        <p:sp>
          <p:nvSpPr>
            <p:cNvPr id="62545" name="文本框 204921"/>
            <p:cNvSpPr txBox="1"/>
            <p:nvPr/>
          </p:nvSpPr>
          <p:spPr>
            <a:xfrm>
              <a:off x="1489" y="1616"/>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62546" name="文本框 204922"/>
            <p:cNvSpPr txBox="1"/>
            <p:nvPr/>
          </p:nvSpPr>
          <p:spPr>
            <a:xfrm>
              <a:off x="1868" y="1626"/>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204936" name="组合 204935"/>
          <p:cNvGrpSpPr/>
          <p:nvPr/>
        </p:nvGrpSpPr>
        <p:grpSpPr>
          <a:xfrm>
            <a:off x="2195513" y="4370388"/>
            <a:ext cx="3914775" cy="1646237"/>
            <a:chOff x="1383" y="2753"/>
            <a:chExt cx="2466" cy="1037"/>
          </a:xfrm>
        </p:grpSpPr>
        <p:grpSp>
          <p:nvGrpSpPr>
            <p:cNvPr id="62548" name="组合 204868"/>
            <p:cNvGrpSpPr/>
            <p:nvPr/>
          </p:nvGrpSpPr>
          <p:grpSpPr>
            <a:xfrm>
              <a:off x="1383" y="2753"/>
              <a:ext cx="2466" cy="1037"/>
              <a:chOff x="1383" y="3032"/>
              <a:chExt cx="2466" cy="1037"/>
            </a:xfrm>
          </p:grpSpPr>
          <p:grpSp>
            <p:nvGrpSpPr>
              <p:cNvPr id="62549" name="组合 204869"/>
              <p:cNvGrpSpPr/>
              <p:nvPr/>
            </p:nvGrpSpPr>
            <p:grpSpPr>
              <a:xfrm>
                <a:off x="1383" y="3032"/>
                <a:ext cx="1929" cy="1003"/>
                <a:chOff x="1383" y="3032"/>
                <a:chExt cx="1929" cy="1003"/>
              </a:xfrm>
            </p:grpSpPr>
            <p:sp>
              <p:nvSpPr>
                <p:cNvPr id="62550" name="矩形 204870"/>
                <p:cNvSpPr/>
                <p:nvPr/>
              </p:nvSpPr>
              <p:spPr>
                <a:xfrm rot="5400000">
                  <a:off x="2216" y="3591"/>
                  <a:ext cx="650"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ZeroExt</a:t>
                  </a:r>
                  <a:endParaRPr lang="en-US" altLang="zh-CN" sz="1800">
                    <a:latin typeface="Arial" panose="020B0604020202020204" pitchFamily="34" charset="0"/>
                    <a:ea typeface="宋体" panose="02010600030101010101" pitchFamily="2" charset="-122"/>
                  </a:endParaRPr>
                </a:p>
              </p:txBody>
            </p:sp>
            <p:sp>
              <p:nvSpPr>
                <p:cNvPr id="62551" name="矩形 204871"/>
                <p:cNvSpPr/>
                <p:nvPr/>
              </p:nvSpPr>
              <p:spPr>
                <a:xfrm rot="5400000">
                  <a:off x="2984" y="3301"/>
                  <a:ext cx="402"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62552" name="直接连接符 204872"/>
                <p:cNvSpPr/>
                <p:nvPr/>
              </p:nvSpPr>
              <p:spPr>
                <a:xfrm>
                  <a:off x="1832" y="3696"/>
                  <a:ext cx="608" cy="0"/>
                </a:xfrm>
                <a:prstGeom prst="line">
                  <a:avLst/>
                </a:prstGeom>
                <a:ln w="25400" cap="flat" cmpd="sng">
                  <a:solidFill>
                    <a:srgbClr val="0000FF"/>
                  </a:solidFill>
                  <a:prstDash val="solid"/>
                  <a:round/>
                  <a:headEnd type="none" w="med" len="med"/>
                  <a:tailEnd type="none" w="med" len="med"/>
                </a:ln>
              </p:spPr>
            </p:sp>
            <p:sp>
              <p:nvSpPr>
                <p:cNvPr id="62553" name="矩形 204873"/>
                <p:cNvSpPr/>
                <p:nvPr/>
              </p:nvSpPr>
              <p:spPr>
                <a:xfrm>
                  <a:off x="1911" y="3696"/>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grpSp>
              <p:nvGrpSpPr>
                <p:cNvPr id="62554" name="组合 204874"/>
                <p:cNvGrpSpPr/>
                <p:nvPr/>
              </p:nvGrpSpPr>
              <p:grpSpPr>
                <a:xfrm>
                  <a:off x="1383" y="3032"/>
                  <a:ext cx="1929" cy="944"/>
                  <a:chOff x="1383" y="3032"/>
                  <a:chExt cx="1929" cy="944"/>
                </a:xfrm>
              </p:grpSpPr>
              <p:grpSp>
                <p:nvGrpSpPr>
                  <p:cNvPr id="62555" name="组合 204875"/>
                  <p:cNvGrpSpPr/>
                  <p:nvPr/>
                </p:nvGrpSpPr>
                <p:grpSpPr>
                  <a:xfrm>
                    <a:off x="3120" y="3032"/>
                    <a:ext cx="192" cy="720"/>
                    <a:chOff x="3120" y="3032"/>
                    <a:chExt cx="192" cy="720"/>
                  </a:xfrm>
                </p:grpSpPr>
                <p:sp>
                  <p:nvSpPr>
                    <p:cNvPr id="62556" name="直接连接符 204876"/>
                    <p:cNvSpPr/>
                    <p:nvPr/>
                  </p:nvSpPr>
                  <p:spPr>
                    <a:xfrm>
                      <a:off x="3120" y="3032"/>
                      <a:ext cx="0" cy="704"/>
                    </a:xfrm>
                    <a:prstGeom prst="line">
                      <a:avLst/>
                    </a:prstGeom>
                    <a:ln w="25400" cap="flat" cmpd="sng">
                      <a:solidFill>
                        <a:srgbClr val="0000FF"/>
                      </a:solidFill>
                      <a:prstDash val="solid"/>
                      <a:round/>
                      <a:headEnd type="none" w="med" len="med"/>
                      <a:tailEnd type="none" w="med" len="med"/>
                    </a:ln>
                  </p:spPr>
                </p:sp>
                <p:sp>
                  <p:nvSpPr>
                    <p:cNvPr id="62557" name="直接连接符 204877"/>
                    <p:cNvSpPr/>
                    <p:nvPr/>
                  </p:nvSpPr>
                  <p:spPr>
                    <a:xfrm>
                      <a:off x="3128" y="3032"/>
                      <a:ext cx="176" cy="80"/>
                    </a:xfrm>
                    <a:prstGeom prst="line">
                      <a:avLst/>
                    </a:prstGeom>
                    <a:ln w="25400" cap="flat" cmpd="sng">
                      <a:solidFill>
                        <a:srgbClr val="0000FF"/>
                      </a:solidFill>
                      <a:prstDash val="solid"/>
                      <a:round/>
                      <a:headEnd type="none" w="med" len="med"/>
                      <a:tailEnd type="none" w="med" len="med"/>
                    </a:ln>
                  </p:spPr>
                </p:sp>
                <p:sp>
                  <p:nvSpPr>
                    <p:cNvPr id="62558" name="直接连接符 204878"/>
                    <p:cNvSpPr/>
                    <p:nvPr/>
                  </p:nvSpPr>
                  <p:spPr>
                    <a:xfrm flipV="1">
                      <a:off x="3128" y="3640"/>
                      <a:ext cx="176" cy="112"/>
                    </a:xfrm>
                    <a:prstGeom prst="line">
                      <a:avLst/>
                    </a:prstGeom>
                    <a:ln w="25400" cap="flat" cmpd="sng">
                      <a:solidFill>
                        <a:srgbClr val="0000FF"/>
                      </a:solidFill>
                      <a:prstDash val="solid"/>
                      <a:round/>
                      <a:headEnd type="none" w="med" len="med"/>
                      <a:tailEnd type="none" w="med" len="med"/>
                    </a:ln>
                  </p:spPr>
                </p:sp>
                <p:sp>
                  <p:nvSpPr>
                    <p:cNvPr id="62559" name="直接连接符 204879"/>
                    <p:cNvSpPr/>
                    <p:nvPr/>
                  </p:nvSpPr>
                  <p:spPr>
                    <a:xfrm>
                      <a:off x="3312" y="3128"/>
                      <a:ext cx="0" cy="512"/>
                    </a:xfrm>
                    <a:prstGeom prst="line">
                      <a:avLst/>
                    </a:prstGeom>
                    <a:ln w="25400" cap="flat" cmpd="sng">
                      <a:solidFill>
                        <a:srgbClr val="0000FF"/>
                      </a:solidFill>
                      <a:prstDash val="solid"/>
                      <a:round/>
                      <a:headEnd type="none" w="med" len="med"/>
                      <a:tailEnd type="none" w="med" len="med"/>
                    </a:ln>
                  </p:spPr>
                </p:sp>
              </p:grpSp>
              <p:sp>
                <p:nvSpPr>
                  <p:cNvPr id="62560" name="矩形 204880"/>
                  <p:cNvSpPr/>
                  <p:nvPr/>
                </p:nvSpPr>
                <p:spPr>
                  <a:xfrm>
                    <a:off x="2456" y="3416"/>
                    <a:ext cx="224" cy="512"/>
                  </a:xfrm>
                  <a:prstGeom prst="rect">
                    <a:avLst/>
                  </a:prstGeom>
                  <a:noFill/>
                  <a:ln w="25400" cap="flat" cmpd="sng">
                    <a:solidFill>
                      <a:srgbClr val="0000FF"/>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61" name="直接连接符 204881"/>
                  <p:cNvSpPr/>
                  <p:nvPr/>
                </p:nvSpPr>
                <p:spPr>
                  <a:xfrm>
                    <a:off x="2696" y="3648"/>
                    <a:ext cx="416" cy="0"/>
                  </a:xfrm>
                  <a:prstGeom prst="line">
                    <a:avLst/>
                  </a:prstGeom>
                  <a:ln w="25400" cap="flat" cmpd="sng">
                    <a:solidFill>
                      <a:srgbClr val="0000FF"/>
                    </a:solidFill>
                    <a:prstDash val="solid"/>
                    <a:round/>
                    <a:headEnd type="none" w="med" len="med"/>
                    <a:tailEnd type="triangle" w="med" len="med"/>
                  </a:ln>
                </p:spPr>
              </p:sp>
              <p:sp>
                <p:nvSpPr>
                  <p:cNvPr id="62562" name="矩形 204882"/>
                  <p:cNvSpPr/>
                  <p:nvPr/>
                </p:nvSpPr>
                <p:spPr>
                  <a:xfrm>
                    <a:off x="2691" y="3672"/>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2563" name="直接连接符 204883"/>
                  <p:cNvSpPr/>
                  <p:nvPr/>
                </p:nvSpPr>
                <p:spPr>
                  <a:xfrm flipH="1">
                    <a:off x="2876" y="3604"/>
                    <a:ext cx="56" cy="88"/>
                  </a:xfrm>
                  <a:prstGeom prst="line">
                    <a:avLst/>
                  </a:prstGeom>
                  <a:ln w="12700" cap="flat" cmpd="sng">
                    <a:solidFill>
                      <a:srgbClr val="0000FF"/>
                    </a:solidFill>
                    <a:prstDash val="solid"/>
                    <a:round/>
                    <a:headEnd type="none" w="med" len="med"/>
                    <a:tailEnd type="none" w="med" len="med"/>
                  </a:ln>
                </p:spPr>
              </p:sp>
              <p:sp>
                <p:nvSpPr>
                  <p:cNvPr id="62564" name="直接连接符 204884"/>
                  <p:cNvSpPr/>
                  <p:nvPr/>
                </p:nvSpPr>
                <p:spPr>
                  <a:xfrm flipH="1">
                    <a:off x="2108" y="3652"/>
                    <a:ext cx="56" cy="88"/>
                  </a:xfrm>
                  <a:prstGeom prst="line">
                    <a:avLst/>
                  </a:prstGeom>
                  <a:ln w="12700" cap="flat" cmpd="sng">
                    <a:solidFill>
                      <a:srgbClr val="0000FF"/>
                    </a:solidFill>
                    <a:prstDash val="solid"/>
                    <a:round/>
                    <a:headEnd type="none" w="med" len="med"/>
                    <a:tailEnd type="none" w="med" len="med"/>
                  </a:ln>
                </p:spPr>
              </p:sp>
              <p:sp>
                <p:nvSpPr>
                  <p:cNvPr id="62565" name="矩形 204885"/>
                  <p:cNvSpPr/>
                  <p:nvPr/>
                </p:nvSpPr>
                <p:spPr>
                  <a:xfrm>
                    <a:off x="1383" y="3600"/>
                    <a:ext cx="570"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62566" name="直接连接符 204886"/>
                  <p:cNvSpPr/>
                  <p:nvPr/>
                </p:nvSpPr>
                <p:spPr>
                  <a:xfrm>
                    <a:off x="3216" y="3704"/>
                    <a:ext cx="0" cy="272"/>
                  </a:xfrm>
                  <a:prstGeom prst="line">
                    <a:avLst/>
                  </a:prstGeom>
                  <a:ln w="25400" cap="flat" cmpd="sng">
                    <a:solidFill>
                      <a:schemeClr val="tx1"/>
                    </a:solidFill>
                    <a:prstDash val="solid"/>
                    <a:round/>
                    <a:headEnd type="triangle" w="med" len="med"/>
                    <a:tailEnd type="none" w="med" len="med"/>
                  </a:ln>
                </p:spPr>
              </p:sp>
            </p:grpSp>
          </p:grpSp>
          <p:sp>
            <p:nvSpPr>
              <p:cNvPr id="62567" name="矩形 204887"/>
              <p:cNvSpPr/>
              <p:nvPr/>
            </p:nvSpPr>
            <p:spPr>
              <a:xfrm>
                <a:off x="3207" y="3840"/>
                <a:ext cx="642"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grpSp>
        <p:grpSp>
          <p:nvGrpSpPr>
            <p:cNvPr id="62568" name="组合 204931"/>
            <p:cNvGrpSpPr/>
            <p:nvPr/>
          </p:nvGrpSpPr>
          <p:grpSpPr>
            <a:xfrm>
              <a:off x="3075" y="2821"/>
              <a:ext cx="142" cy="625"/>
              <a:chOff x="3075" y="2821"/>
              <a:chExt cx="142" cy="625"/>
            </a:xfrm>
          </p:grpSpPr>
          <p:sp>
            <p:nvSpPr>
              <p:cNvPr id="62569" name="文本框 204923"/>
              <p:cNvSpPr txBox="1"/>
              <p:nvPr/>
            </p:nvSpPr>
            <p:spPr>
              <a:xfrm>
                <a:off x="3089" y="2821"/>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62570" name="文本框 204924"/>
              <p:cNvSpPr txBox="1"/>
              <p:nvPr/>
            </p:nvSpPr>
            <p:spPr>
              <a:xfrm>
                <a:off x="3075" y="3234"/>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grpSp>
        <p:nvGrpSpPr>
          <p:cNvPr id="62571" name="组合 204936"/>
          <p:cNvGrpSpPr/>
          <p:nvPr/>
        </p:nvGrpSpPr>
        <p:grpSpPr>
          <a:xfrm>
            <a:off x="3144838" y="1060450"/>
            <a:ext cx="5999162" cy="989013"/>
            <a:chOff x="1918" y="1392"/>
            <a:chExt cx="3763" cy="607"/>
          </a:xfrm>
        </p:grpSpPr>
        <p:sp>
          <p:nvSpPr>
            <p:cNvPr id="62572" name="矩形 204937"/>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62573" name="组合 204938"/>
            <p:cNvGrpSpPr/>
            <p:nvPr/>
          </p:nvGrpSpPr>
          <p:grpSpPr>
            <a:xfrm>
              <a:off x="1979" y="1584"/>
              <a:ext cx="624" cy="223"/>
              <a:chOff x="1979" y="1584"/>
              <a:chExt cx="624" cy="223"/>
            </a:xfrm>
          </p:grpSpPr>
          <p:sp>
            <p:nvSpPr>
              <p:cNvPr id="62574" name="矩形 204939"/>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75" name="矩形 204940"/>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62576" name="组合 204941"/>
            <p:cNvGrpSpPr/>
            <p:nvPr/>
          </p:nvGrpSpPr>
          <p:grpSpPr>
            <a:xfrm>
              <a:off x="2611" y="1584"/>
              <a:ext cx="580" cy="223"/>
              <a:chOff x="2611" y="1584"/>
              <a:chExt cx="580" cy="223"/>
            </a:xfrm>
          </p:grpSpPr>
          <p:sp>
            <p:nvSpPr>
              <p:cNvPr id="62577" name="矩形 204942"/>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78" name="矩形 204943"/>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62579" name="组合 204944"/>
            <p:cNvGrpSpPr/>
            <p:nvPr/>
          </p:nvGrpSpPr>
          <p:grpSpPr>
            <a:xfrm>
              <a:off x="3199" y="1584"/>
              <a:ext cx="579" cy="223"/>
              <a:chOff x="3199" y="1584"/>
              <a:chExt cx="579" cy="223"/>
            </a:xfrm>
          </p:grpSpPr>
          <p:sp>
            <p:nvSpPr>
              <p:cNvPr id="62580" name="矩形 204945"/>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81" name="矩形 204946"/>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62582" name="矩形 204947"/>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2583" name="矩形 204948"/>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2584" name="矩形 204949"/>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2585" name="矩形 204950"/>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2586" name="矩形 204951"/>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62587" name="矩形 204952"/>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62588" name="矩形 204953"/>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2589" name="矩形 204954"/>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2590" name="矩形 204955"/>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2591" name="矩形 204956"/>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2592" name="矩形 204957"/>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
        <p:nvSpPr>
          <p:cNvPr id="2" name="文本框 1"/>
          <p:cNvSpPr txBox="1"/>
          <p:nvPr/>
        </p:nvSpPr>
        <p:spPr>
          <a:xfrm>
            <a:off x="1155700" y="6089650"/>
            <a:ext cx="7632700" cy="366713"/>
          </a:xfrm>
          <a:prstGeom prst="rect">
            <a:avLst/>
          </a:prstGeom>
          <a:noFill/>
          <a:ln w="50800">
            <a:noFill/>
          </a:ln>
        </p:spPr>
        <p:txBody>
          <a:bodyPr anchor="t" anchorCtr="0">
            <a:spAutoFit/>
          </a:bodyPr>
          <a:p>
            <a:pPr>
              <a:spcBef>
                <a:spcPct val="50000"/>
              </a:spcBef>
            </a:pPr>
            <a:r>
              <a:rPr lang="en-US" altLang="zh-CN" sz="1800" dirty="0" err="1">
                <a:solidFill>
                  <a:schemeClr val="accent2"/>
                </a:solidFill>
                <a:latin typeface="Arial" panose="020B0604020202020204" pitchFamily="34" charset="0"/>
                <a:ea typeface="黑体" panose="02010609060101010101" pitchFamily="49" charset="-122"/>
              </a:rPr>
              <a:t>Ori</a:t>
            </a:r>
            <a:r>
              <a:rPr lang="zh-CN" altLang="en-US" sz="1800" dirty="0">
                <a:solidFill>
                  <a:schemeClr val="accent2"/>
                </a:solidFill>
                <a:latin typeface="Arial" panose="020B0604020202020204" pitchFamily="34" charset="0"/>
                <a:ea typeface="黑体" panose="02010609060101010101" pitchFamily="49" charset="-122"/>
              </a:rPr>
              <a:t>指令的控制信号：</a:t>
            </a:r>
            <a:r>
              <a:rPr lang="en-US" altLang="zh-CN" sz="1800" dirty="0" err="1">
                <a:solidFill>
                  <a:schemeClr val="accent2"/>
                </a:solidFill>
                <a:latin typeface="Arial" panose="020B0604020202020204" pitchFamily="34" charset="0"/>
                <a:ea typeface="黑体" panose="02010609060101010101" pitchFamily="49" charset="-122"/>
              </a:rPr>
              <a:t>RegDst</a:t>
            </a:r>
            <a:r>
              <a:rPr lang="en-US" altLang="zh-CN" sz="1800">
                <a:solidFill>
                  <a:schemeClr val="accent2"/>
                </a:solidFill>
                <a:latin typeface="Arial" panose="020B0604020202020204" pitchFamily="34" charset="0"/>
                <a:ea typeface="黑体" panose="02010609060101010101" pitchFamily="49" charset="-122"/>
              </a:rPr>
              <a:t>=1</a:t>
            </a:r>
            <a:r>
              <a:rPr lang="zh-CN" altLang="en-US" sz="1800" dirty="0">
                <a:solidFill>
                  <a:schemeClr val="accent2"/>
                </a:solidFill>
                <a:latin typeface="Arial" panose="020B0604020202020204" pitchFamily="34" charset="0"/>
                <a:ea typeface="黑体" panose="02010609060101010101" pitchFamily="49" charset="-122"/>
              </a:rPr>
              <a:t>；</a:t>
            </a:r>
            <a:r>
              <a:rPr lang="en-US" altLang="zh-CN" sz="1800" dirty="0" err="1">
                <a:solidFill>
                  <a:schemeClr val="accent2"/>
                </a:solidFill>
                <a:latin typeface="Arial" panose="020B0604020202020204" pitchFamily="34" charset="0"/>
                <a:ea typeface="黑体" panose="02010609060101010101" pitchFamily="49" charset="-122"/>
              </a:rPr>
              <a:t>RegWr</a:t>
            </a:r>
            <a:r>
              <a:rPr lang="en-US" altLang="zh-CN" sz="1800">
                <a:solidFill>
                  <a:schemeClr val="accent2"/>
                </a:solidFill>
                <a:latin typeface="Arial" panose="020B0604020202020204" pitchFamily="34" charset="0"/>
                <a:ea typeface="黑体" panose="02010609060101010101" pitchFamily="49" charset="-122"/>
              </a:rPr>
              <a:t>=1</a:t>
            </a:r>
            <a:r>
              <a:rPr lang="zh-CN" altLang="en-US" sz="1800" dirty="0">
                <a:solidFill>
                  <a:schemeClr val="accent2"/>
                </a:solidFill>
                <a:latin typeface="Arial" panose="020B0604020202020204" pitchFamily="34" charset="0"/>
                <a:ea typeface="黑体" panose="02010609060101010101" pitchFamily="49" charset="-122"/>
              </a:rPr>
              <a:t>；</a:t>
            </a:r>
            <a:r>
              <a:rPr lang="en-US" altLang="zh-CN" sz="1800" dirty="0" err="1">
                <a:solidFill>
                  <a:schemeClr val="accent2"/>
                </a:solidFill>
                <a:latin typeface="Arial" panose="020B0604020202020204" pitchFamily="34" charset="0"/>
                <a:ea typeface="黑体" panose="02010609060101010101" pitchFamily="49" charset="-122"/>
              </a:rPr>
              <a:t>ALUSrc</a:t>
            </a:r>
            <a:r>
              <a:rPr lang="en-US" altLang="zh-CN" sz="1800">
                <a:solidFill>
                  <a:schemeClr val="accent2"/>
                </a:solidFill>
                <a:latin typeface="Arial" panose="020B0604020202020204" pitchFamily="34" charset="0"/>
                <a:ea typeface="黑体" panose="02010609060101010101" pitchFamily="49" charset="-122"/>
              </a:rPr>
              <a:t>=1</a:t>
            </a:r>
            <a:r>
              <a:rPr lang="zh-CN" altLang="en-US" sz="1800" dirty="0">
                <a:solidFill>
                  <a:schemeClr val="accent2"/>
                </a:solidFill>
                <a:latin typeface="Arial" panose="020B0604020202020204" pitchFamily="34" charset="0"/>
                <a:ea typeface="黑体" panose="02010609060101010101" pitchFamily="49" charset="-122"/>
              </a:rPr>
              <a:t>；</a:t>
            </a:r>
            <a:r>
              <a:rPr lang="en-US" altLang="zh-CN" sz="1800" dirty="0" err="1">
                <a:solidFill>
                  <a:schemeClr val="accent2"/>
                </a:solidFill>
                <a:latin typeface="Arial" panose="020B0604020202020204" pitchFamily="34" charset="0"/>
                <a:ea typeface="黑体" panose="02010609060101010101" pitchFamily="49" charset="-122"/>
              </a:rPr>
              <a:t>ALUctr</a:t>
            </a:r>
            <a:r>
              <a:rPr lang="en-US" altLang="zh-CN" sz="1800">
                <a:solidFill>
                  <a:schemeClr val="accent2"/>
                </a:solidFill>
                <a:latin typeface="Arial" panose="020B0604020202020204" pitchFamily="34" charset="0"/>
                <a:ea typeface="黑体" panose="02010609060101010101" pitchFamily="49" charset="-122"/>
              </a:rPr>
              <a:t>=or</a:t>
            </a:r>
            <a:endParaRPr lang="zh-CN" altLang="en-US" sz="1800" dirty="0">
              <a:solidFill>
                <a:schemeClr val="accent2"/>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标题 206849"/>
          <p:cNvSpPr>
            <a:spLocks noGrp="1"/>
          </p:cNvSpPr>
          <p:nvPr>
            <p:ph type="title"/>
          </p:nvPr>
        </p:nvSpPr>
        <p:spPr>
          <a:xfrm>
            <a:off x="800100" y="228600"/>
            <a:ext cx="7934325" cy="422275"/>
          </a:xfrm>
          <a:ln/>
        </p:spPr>
        <p:txBody>
          <a:bodyPr vert="horz" wrap="square" lIns="63500" tIns="25400" rIns="63500" bIns="25400" anchor="t" anchorCtr="0">
            <a:spAutoFit/>
          </a:bodyPr>
          <a:p>
            <a:r>
              <a:rPr lang="zh-CN" altLang="en-US" dirty="0">
                <a:ea typeface="宋体" panose="02010600030101010101" pitchFamily="2" charset="-122"/>
              </a:rPr>
              <a:t>访存指令中的数据装入指令 </a:t>
            </a:r>
            <a:r>
              <a:rPr lang="en-US" altLang="zh-CN">
                <a:ea typeface="宋体" panose="02010600030101010101" pitchFamily="2" charset="-122"/>
              </a:rPr>
              <a:t>(</a:t>
            </a:r>
            <a:r>
              <a:rPr lang="en-US" altLang="zh-CN" dirty="0" err="1">
                <a:ea typeface="宋体" panose="02010600030101010101" pitchFamily="2" charset="-122"/>
              </a:rPr>
              <a:t>lw</a:t>
            </a:r>
            <a:r>
              <a:rPr lang="en-US" altLang="zh-CN">
                <a:ea typeface="宋体" panose="02010600030101010101" pitchFamily="2" charset="-122"/>
              </a:rPr>
              <a:t>)</a:t>
            </a:r>
            <a:endParaRPr lang="en-US" altLang="zh-CN">
              <a:ea typeface="宋体" panose="02010600030101010101" pitchFamily="2" charset="-122"/>
            </a:endParaRPr>
          </a:p>
        </p:txBody>
      </p:sp>
      <p:sp>
        <p:nvSpPr>
          <p:cNvPr id="64514" name="文本占位符 206922"/>
          <p:cNvSpPr>
            <a:spLocks noGrp="1"/>
          </p:cNvSpPr>
          <p:nvPr>
            <p:ph idx="1"/>
          </p:nvPr>
        </p:nvSpPr>
        <p:spPr>
          <a:xfrm>
            <a:off x="423863" y="901700"/>
            <a:ext cx="3170237" cy="4783138"/>
          </a:xfrm>
          <a:ln/>
        </p:spPr>
        <p:txBody>
          <a:bodyPr vert="horz" wrap="square" lIns="63500" tIns="25400" rIns="63500" bIns="25400" anchor="t" anchorCtr="0">
            <a:spAutoFit/>
          </a:bodyPr>
          <a:p>
            <a:pPr marL="342900" indent="-342900">
              <a:buNone/>
            </a:pPr>
            <a:r>
              <a:rPr lang="zh-CN" altLang="en-US" dirty="0">
                <a:solidFill>
                  <a:srgbClr val="339933"/>
                </a:solidFill>
                <a:latin typeface="宋体" panose="02010600030101010101" pitchFamily="2" charset="-122"/>
                <a:ea typeface="宋体" panose="02010600030101010101" pitchFamily="2" charset="-122"/>
              </a:rPr>
              <a:t>实现目标（</a:t>
            </a:r>
            <a:r>
              <a:rPr lang="en-US" altLang="zh-CN">
                <a:solidFill>
                  <a:srgbClr val="339933"/>
                </a:solidFill>
                <a:latin typeface="宋体" panose="02010600030101010101" pitchFamily="2" charset="-122"/>
                <a:ea typeface="宋体" panose="02010600030101010101" pitchFamily="2" charset="-122"/>
              </a:rPr>
              <a:t>7</a:t>
            </a:r>
            <a:r>
              <a:rPr lang="zh-CN" altLang="en-US" dirty="0">
                <a:solidFill>
                  <a:srgbClr val="339933"/>
                </a:solidFill>
                <a:latin typeface="宋体" panose="02010600030101010101" pitchFamily="2" charset="-122"/>
                <a:ea typeface="宋体" panose="02010600030101010101" pitchFamily="2" charset="-122"/>
              </a:rPr>
              <a:t>条指令）：</a:t>
            </a:r>
            <a:endParaRPr lang="zh-CN" altLang="en-US" dirty="0">
              <a:solidFill>
                <a:srgbClr val="339933"/>
              </a:solidFill>
              <a:latin typeface="宋体" panose="02010600030101010101" pitchFamily="2" charset="-122"/>
              <a:ea typeface="宋体" panose="02010600030101010101" pitchFamily="2" charset="-122"/>
            </a:endParaRPr>
          </a:p>
          <a:p>
            <a:pPr marL="342900" indent="-342900"/>
            <a:r>
              <a:rPr lang="en-US" altLang="zh-CN">
                <a:solidFill>
                  <a:srgbClr val="6D6D6D"/>
                </a:solidFill>
                <a:ea typeface="宋体" panose="02010600030101010101" pitchFamily="2" charset="-122"/>
              </a:rPr>
              <a:t>ADD and subtract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add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sub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342900" indent="-342900"/>
            <a:r>
              <a:rPr lang="en-US" altLang="zh-CN">
                <a:solidFill>
                  <a:srgbClr val="6D6D6D"/>
                </a:solidFill>
                <a:ea typeface="宋体" panose="02010600030101010101" pitchFamily="2" charset="-122"/>
              </a:rPr>
              <a:t>OR Immediate:</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ori</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342900" indent="-342900"/>
            <a:r>
              <a:rPr lang="en-US" altLang="zh-CN">
                <a:ea typeface="宋体" panose="02010600030101010101" pitchFamily="2" charset="-122"/>
              </a:rPr>
              <a:t>LOAD and STORE</a:t>
            </a:r>
            <a:endParaRPr lang="en-US" altLang="zh-CN">
              <a:ea typeface="宋体" panose="02010600030101010101" pitchFamily="2" charset="-122"/>
            </a:endParaRPr>
          </a:p>
          <a:p>
            <a:pPr marL="742950" lvl="1" indent="-285750"/>
            <a:r>
              <a:rPr lang="en-US" altLang="zh-CN" dirty="0" err="1">
                <a:ea typeface="宋体" panose="02010600030101010101" pitchFamily="2" charset="-122"/>
              </a:rPr>
              <a:t>lw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marL="742950" lvl="1" indent="-285750"/>
            <a:r>
              <a:rPr lang="en-US" altLang="zh-CN" dirty="0" err="1">
                <a:ea typeface="宋体" panose="02010600030101010101" pitchFamily="2" charset="-122"/>
              </a:rPr>
              <a:t>sw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marL="342900" indent="-342900"/>
            <a:r>
              <a:rPr lang="en-US" altLang="zh-CN">
                <a:ea typeface="宋体" panose="02010600030101010101" pitchFamily="2" charset="-122"/>
              </a:rPr>
              <a:t>BRANCH:</a:t>
            </a:r>
            <a:endParaRPr lang="en-US" altLang="zh-CN">
              <a:ea typeface="宋体" panose="02010600030101010101" pitchFamily="2" charset="-122"/>
            </a:endParaRPr>
          </a:p>
          <a:p>
            <a:pPr marL="742950" lvl="1" indent="-285750"/>
            <a:r>
              <a:rPr lang="en-US" altLang="zh-CN" dirty="0" err="1">
                <a:ea typeface="宋体" panose="02010600030101010101" pitchFamily="2" charset="-122"/>
              </a:rPr>
              <a:t>beq</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imm16</a:t>
            </a:r>
            <a:endParaRPr lang="en-US" altLang="zh-CN">
              <a:ea typeface="宋体" panose="02010600030101010101" pitchFamily="2" charset="-122"/>
            </a:endParaRPr>
          </a:p>
          <a:p>
            <a:pPr marL="342900" indent="-342900"/>
            <a:r>
              <a:rPr lang="en-US" altLang="zh-CN">
                <a:ea typeface="宋体" panose="02010600030101010101" pitchFamily="2" charset="-122"/>
              </a:rPr>
              <a:t>JUMP:</a:t>
            </a:r>
            <a:endParaRPr lang="en-US" altLang="zh-CN">
              <a:ea typeface="宋体" panose="02010600030101010101" pitchFamily="2" charset="-122"/>
            </a:endParaRPr>
          </a:p>
          <a:p>
            <a:pPr marL="742950" lvl="1" indent="-285750"/>
            <a:r>
              <a:rPr lang="en-US" altLang="zh-CN">
                <a:ea typeface="宋体" panose="02010600030101010101" pitchFamily="2" charset="-122"/>
              </a:rPr>
              <a:t>j  target</a:t>
            </a:r>
            <a:endParaRPr lang="en-US" altLang="zh-CN">
              <a:ea typeface="宋体" panose="02010600030101010101" pitchFamily="2" charset="-122"/>
            </a:endParaRPr>
          </a:p>
        </p:txBody>
      </p:sp>
      <p:sp>
        <p:nvSpPr>
          <p:cNvPr id="206924" name="文本框 206923"/>
          <p:cNvSpPr txBox="1"/>
          <p:nvPr/>
        </p:nvSpPr>
        <p:spPr>
          <a:xfrm>
            <a:off x="3743325" y="3540125"/>
            <a:ext cx="4967288" cy="427038"/>
          </a:xfrm>
          <a:prstGeom prst="rect">
            <a:avLst/>
          </a:prstGeom>
          <a:noFill/>
          <a:ln w="50800">
            <a:noFill/>
          </a:ln>
        </p:spPr>
        <p:txBody>
          <a:bodyPr anchor="t" anchorCtr="0">
            <a:spAutoFit/>
          </a:bodyPr>
          <a:p>
            <a:pPr>
              <a:spcBef>
                <a:spcPct val="50000"/>
              </a:spcBef>
            </a:pPr>
            <a:r>
              <a:rPr lang="en-US" altLang="zh-CN" sz="2200">
                <a:solidFill>
                  <a:schemeClr val="accent1"/>
                </a:solidFill>
                <a:latin typeface="Arial" panose="020B0604020202020204" pitchFamily="34" charset="0"/>
                <a:ea typeface="黑体" panose="02010609060101010101" pitchFamily="49" charset="-122"/>
              </a:rPr>
              <a:t>3.  </a:t>
            </a:r>
            <a:r>
              <a:rPr lang="zh-CN" altLang="en-US" sz="2200" dirty="0">
                <a:solidFill>
                  <a:schemeClr val="accent1"/>
                </a:solidFill>
                <a:latin typeface="Arial" panose="020B0604020202020204" pitchFamily="34" charset="0"/>
                <a:ea typeface="黑体" panose="02010609060101010101" pitchFamily="49" charset="-122"/>
              </a:rPr>
              <a:t>考虑</a:t>
            </a:r>
            <a:r>
              <a:rPr lang="en-US" altLang="zh-CN" sz="2200" dirty="0" err="1">
                <a:solidFill>
                  <a:schemeClr val="accent1"/>
                </a:solidFill>
                <a:latin typeface="Arial" panose="020B0604020202020204" pitchFamily="34" charset="0"/>
                <a:ea typeface="黑体" panose="02010609060101010101" pitchFamily="49" charset="-122"/>
              </a:rPr>
              <a:t>lw</a:t>
            </a:r>
            <a:r>
              <a:rPr lang="en-US" altLang="zh-CN" sz="2200">
                <a:solidFill>
                  <a:schemeClr val="accent1"/>
                </a:solidFill>
                <a:latin typeface="Arial" panose="020B0604020202020204" pitchFamily="34" charset="0"/>
                <a:ea typeface="黑体" panose="02010609060101010101" pitchFamily="49" charset="-122"/>
              </a:rPr>
              <a:t> </a:t>
            </a:r>
            <a:r>
              <a:rPr lang="zh-CN" altLang="en-US" sz="2200" dirty="0">
                <a:solidFill>
                  <a:schemeClr val="accent1"/>
                </a:solidFill>
                <a:latin typeface="Arial" panose="020B0604020202020204" pitchFamily="34" charset="0"/>
                <a:ea typeface="黑体" panose="02010609060101010101" pitchFamily="49" charset="-122"/>
              </a:rPr>
              <a:t>指令（访存指令的代表）</a:t>
            </a:r>
            <a:endParaRPr lang="zh-CN" altLang="en-US" sz="2200" dirty="0">
              <a:solidFill>
                <a:schemeClr val="accent1"/>
              </a:solidFill>
              <a:latin typeface="Arial" panose="020B0604020202020204" pitchFamily="34" charset="0"/>
              <a:ea typeface="黑体" panose="02010609060101010101" pitchFamily="49" charset="-122"/>
            </a:endParaRPr>
          </a:p>
        </p:txBody>
      </p:sp>
      <p:grpSp>
        <p:nvGrpSpPr>
          <p:cNvPr id="206927" name="组合 206926"/>
          <p:cNvGrpSpPr/>
          <p:nvPr/>
        </p:nvGrpSpPr>
        <p:grpSpPr>
          <a:xfrm>
            <a:off x="623888" y="2266950"/>
            <a:ext cx="8520112" cy="1577975"/>
            <a:chOff x="366" y="1412"/>
            <a:chExt cx="5367" cy="994"/>
          </a:xfrm>
        </p:grpSpPr>
        <p:sp>
          <p:nvSpPr>
            <p:cNvPr id="64517" name="文本框 206924"/>
            <p:cNvSpPr txBox="1"/>
            <p:nvPr/>
          </p:nvSpPr>
          <p:spPr>
            <a:xfrm>
              <a:off x="366" y="2194"/>
              <a:ext cx="1682" cy="212"/>
            </a:xfrm>
            <a:prstGeom prst="rect">
              <a:avLst/>
            </a:prstGeom>
            <a:solidFill>
              <a:srgbClr val="FF99CC">
                <a:alpha val="42000"/>
              </a:srgbClr>
            </a:solidFill>
            <a:ln w="50800">
              <a:noFill/>
            </a:ln>
          </p:spPr>
          <p:txBody>
            <a:bodyPr anchor="t" anchorCtr="0">
              <a:spAutoFit/>
            </a:bodyPr>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64518" name="矩形 206925"/>
            <p:cNvSpPr/>
            <p:nvPr/>
          </p:nvSpPr>
          <p:spPr>
            <a:xfrm>
              <a:off x="1893" y="1412"/>
              <a:ext cx="3840" cy="667"/>
            </a:xfrm>
            <a:prstGeom prst="rect">
              <a:avLst/>
            </a:prstGeom>
            <a:solidFill>
              <a:srgbClr val="FF99CC">
                <a:alpha val="35001"/>
              </a:srgbClr>
            </a:solidFill>
            <a:ln w="50800">
              <a:noFill/>
            </a:ln>
          </p:spPr>
          <p:txBody>
            <a:bodyPr anchor="t" anchorCtr="0"/>
            <a:p>
              <a:endParaRPr lang="zh-CN" altLang="en-US">
                <a:latin typeface="Arial" panose="020B0604020202020204" pitchFamily="34" charset="0"/>
              </a:endParaRPr>
            </a:p>
          </p:txBody>
        </p:sp>
      </p:grpSp>
      <p:grpSp>
        <p:nvGrpSpPr>
          <p:cNvPr id="64519" name="组合 206927"/>
          <p:cNvGrpSpPr/>
          <p:nvPr/>
        </p:nvGrpSpPr>
        <p:grpSpPr>
          <a:xfrm>
            <a:off x="3238500" y="990600"/>
            <a:ext cx="5905500" cy="973138"/>
            <a:chOff x="1918" y="672"/>
            <a:chExt cx="3767" cy="613"/>
          </a:xfrm>
        </p:grpSpPr>
        <p:grpSp>
          <p:nvGrpSpPr>
            <p:cNvPr id="64520" name="组合 206928"/>
            <p:cNvGrpSpPr/>
            <p:nvPr/>
          </p:nvGrpSpPr>
          <p:grpSpPr>
            <a:xfrm>
              <a:off x="1918" y="672"/>
              <a:ext cx="3767" cy="421"/>
              <a:chOff x="1918" y="672"/>
              <a:chExt cx="3767" cy="421"/>
            </a:xfrm>
          </p:grpSpPr>
          <p:grpSp>
            <p:nvGrpSpPr>
              <p:cNvPr id="64521" name="组合 206929"/>
              <p:cNvGrpSpPr/>
              <p:nvPr/>
            </p:nvGrpSpPr>
            <p:grpSpPr>
              <a:xfrm>
                <a:off x="1979" y="864"/>
                <a:ext cx="3607" cy="229"/>
                <a:chOff x="1979" y="864"/>
                <a:chExt cx="3607" cy="229"/>
              </a:xfrm>
            </p:grpSpPr>
            <p:sp>
              <p:nvSpPr>
                <p:cNvPr id="64522" name="矩形 206930"/>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64523" name="组合 206931"/>
                <p:cNvGrpSpPr/>
                <p:nvPr/>
              </p:nvGrpSpPr>
              <p:grpSpPr>
                <a:xfrm>
                  <a:off x="1979" y="864"/>
                  <a:ext cx="3607" cy="229"/>
                  <a:chOff x="1979" y="864"/>
                  <a:chExt cx="3607" cy="229"/>
                </a:xfrm>
              </p:grpSpPr>
              <p:grpSp>
                <p:nvGrpSpPr>
                  <p:cNvPr id="64524" name="组合 206932"/>
                  <p:cNvGrpSpPr/>
                  <p:nvPr/>
                </p:nvGrpSpPr>
                <p:grpSpPr>
                  <a:xfrm>
                    <a:off x="1979" y="864"/>
                    <a:ext cx="624" cy="229"/>
                    <a:chOff x="1979" y="864"/>
                    <a:chExt cx="624" cy="229"/>
                  </a:xfrm>
                </p:grpSpPr>
                <p:sp>
                  <p:nvSpPr>
                    <p:cNvPr id="64525" name="矩形 206933"/>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26" name="矩形 206934"/>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64527" name="组合 206935"/>
                  <p:cNvGrpSpPr/>
                  <p:nvPr/>
                </p:nvGrpSpPr>
                <p:grpSpPr>
                  <a:xfrm>
                    <a:off x="2611" y="864"/>
                    <a:ext cx="580" cy="229"/>
                    <a:chOff x="2611" y="864"/>
                    <a:chExt cx="580" cy="229"/>
                  </a:xfrm>
                </p:grpSpPr>
                <p:sp>
                  <p:nvSpPr>
                    <p:cNvPr id="64528" name="矩形 206936"/>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29" name="矩形 206937"/>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64530" name="组合 206938"/>
                  <p:cNvGrpSpPr/>
                  <p:nvPr/>
                </p:nvGrpSpPr>
                <p:grpSpPr>
                  <a:xfrm>
                    <a:off x="3199" y="864"/>
                    <a:ext cx="579" cy="229"/>
                    <a:chOff x="3199" y="864"/>
                    <a:chExt cx="579" cy="229"/>
                  </a:xfrm>
                </p:grpSpPr>
                <p:sp>
                  <p:nvSpPr>
                    <p:cNvPr id="64531" name="矩形 206939"/>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32" name="矩形 206940"/>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64533" name="组合 206941"/>
                  <p:cNvGrpSpPr/>
                  <p:nvPr/>
                </p:nvGrpSpPr>
                <p:grpSpPr>
                  <a:xfrm>
                    <a:off x="3786" y="864"/>
                    <a:ext cx="579" cy="229"/>
                    <a:chOff x="3786" y="864"/>
                    <a:chExt cx="579" cy="229"/>
                  </a:xfrm>
                </p:grpSpPr>
                <p:sp>
                  <p:nvSpPr>
                    <p:cNvPr id="64534" name="矩形 206942"/>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35" name="矩形 206943"/>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64536" name="组合 206944"/>
                  <p:cNvGrpSpPr/>
                  <p:nvPr/>
                </p:nvGrpSpPr>
                <p:grpSpPr>
                  <a:xfrm>
                    <a:off x="4373" y="864"/>
                    <a:ext cx="620" cy="229"/>
                    <a:chOff x="4373" y="864"/>
                    <a:chExt cx="620" cy="229"/>
                  </a:xfrm>
                </p:grpSpPr>
                <p:sp>
                  <p:nvSpPr>
                    <p:cNvPr id="64537" name="矩形 206945"/>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38" name="矩形 206946"/>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64539" name="组合 206947"/>
                  <p:cNvGrpSpPr/>
                  <p:nvPr/>
                </p:nvGrpSpPr>
                <p:grpSpPr>
                  <a:xfrm>
                    <a:off x="4961" y="864"/>
                    <a:ext cx="625" cy="229"/>
                    <a:chOff x="4961" y="864"/>
                    <a:chExt cx="625" cy="229"/>
                  </a:xfrm>
                </p:grpSpPr>
                <p:sp>
                  <p:nvSpPr>
                    <p:cNvPr id="64540" name="矩形 206948"/>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41" name="矩形 206949"/>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64542" name="矩形 206950"/>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4543" name="矩形 206951"/>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64544" name="矩形 206952"/>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64545" name="矩形 206953"/>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4546" name="矩形 206954"/>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64547" name="矩形 206955"/>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64548" name="矩形 206956"/>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64549" name="矩形 206957"/>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50" name="矩形 206958"/>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51" name="矩形 206959"/>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52" name="矩形 206960"/>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53" name="矩形 206961"/>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54" name="矩形 206962"/>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64555" name="组合 206963"/>
          <p:cNvGrpSpPr/>
          <p:nvPr/>
        </p:nvGrpSpPr>
        <p:grpSpPr>
          <a:xfrm>
            <a:off x="3144838" y="2330450"/>
            <a:ext cx="5999162" cy="989013"/>
            <a:chOff x="1918" y="1392"/>
            <a:chExt cx="3763" cy="607"/>
          </a:xfrm>
        </p:grpSpPr>
        <p:sp>
          <p:nvSpPr>
            <p:cNvPr id="64556" name="矩形 206964"/>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64557" name="组合 206965"/>
            <p:cNvGrpSpPr/>
            <p:nvPr/>
          </p:nvGrpSpPr>
          <p:grpSpPr>
            <a:xfrm>
              <a:off x="1979" y="1584"/>
              <a:ext cx="624" cy="223"/>
              <a:chOff x="1979" y="1584"/>
              <a:chExt cx="624" cy="223"/>
            </a:xfrm>
          </p:grpSpPr>
          <p:sp>
            <p:nvSpPr>
              <p:cNvPr id="64558" name="矩形 206966"/>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59" name="矩形 206967"/>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64560" name="组合 206968"/>
            <p:cNvGrpSpPr/>
            <p:nvPr/>
          </p:nvGrpSpPr>
          <p:grpSpPr>
            <a:xfrm>
              <a:off x="2611" y="1584"/>
              <a:ext cx="580" cy="223"/>
              <a:chOff x="2611" y="1584"/>
              <a:chExt cx="580" cy="223"/>
            </a:xfrm>
          </p:grpSpPr>
          <p:sp>
            <p:nvSpPr>
              <p:cNvPr id="64561" name="矩形 206969"/>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62" name="矩形 206970"/>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64563" name="组合 206971"/>
            <p:cNvGrpSpPr/>
            <p:nvPr/>
          </p:nvGrpSpPr>
          <p:grpSpPr>
            <a:xfrm>
              <a:off x="3199" y="1584"/>
              <a:ext cx="579" cy="223"/>
              <a:chOff x="3199" y="1584"/>
              <a:chExt cx="579" cy="223"/>
            </a:xfrm>
          </p:grpSpPr>
          <p:sp>
            <p:nvSpPr>
              <p:cNvPr id="64564" name="矩形 206972"/>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65" name="矩形 206973"/>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64566" name="矩形 206974"/>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67" name="矩形 206975"/>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4568" name="矩形 206976"/>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4569" name="矩形 206977"/>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4570" name="矩形 206978"/>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64571" name="矩形 206979"/>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64572" name="矩形 206980"/>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4573" name="矩形 206981"/>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74" name="矩形 206982"/>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75" name="矩形 206983"/>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76" name="矩形 206984"/>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64577" name="组合 206985"/>
          <p:cNvGrpSpPr/>
          <p:nvPr/>
        </p:nvGrpSpPr>
        <p:grpSpPr>
          <a:xfrm>
            <a:off x="3130550" y="5059363"/>
            <a:ext cx="5975350" cy="1012825"/>
            <a:chOff x="1918" y="3360"/>
            <a:chExt cx="3764" cy="599"/>
          </a:xfrm>
        </p:grpSpPr>
        <p:sp>
          <p:nvSpPr>
            <p:cNvPr id="64578" name="矩形 206986"/>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64579" name="组合 206987"/>
            <p:cNvGrpSpPr/>
            <p:nvPr/>
          </p:nvGrpSpPr>
          <p:grpSpPr>
            <a:xfrm>
              <a:off x="1979" y="3552"/>
              <a:ext cx="624" cy="216"/>
              <a:chOff x="1979" y="3552"/>
              <a:chExt cx="624" cy="216"/>
            </a:xfrm>
          </p:grpSpPr>
          <p:sp>
            <p:nvSpPr>
              <p:cNvPr id="64580" name="矩形 206988"/>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81" name="矩形 206989"/>
              <p:cNvSpPr/>
              <p:nvPr/>
            </p:nvSpPr>
            <p:spPr>
              <a:xfrm>
                <a:off x="2161" y="3552"/>
                <a:ext cx="290" cy="216"/>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64582" name="矩形 206990"/>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4583" name="矩形 206991"/>
            <p:cNvSpPr/>
            <p:nvPr/>
          </p:nvSpPr>
          <p:spPr>
            <a:xfrm>
              <a:off x="3554" y="3552"/>
              <a:ext cx="1098" cy="215"/>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64584" name="矩形 206992"/>
            <p:cNvSpPr/>
            <p:nvPr/>
          </p:nvSpPr>
          <p:spPr>
            <a:xfrm>
              <a:off x="5488" y="3360"/>
              <a:ext cx="19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4585" name="矩形 206993"/>
            <p:cNvSpPr/>
            <p:nvPr/>
          </p:nvSpPr>
          <p:spPr>
            <a:xfrm>
              <a:off x="2414"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64586" name="矩形 206994"/>
            <p:cNvSpPr/>
            <p:nvPr/>
          </p:nvSpPr>
          <p:spPr>
            <a:xfrm>
              <a:off x="1918"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4587" name="矩形 206995"/>
            <p:cNvSpPr/>
            <p:nvPr/>
          </p:nvSpPr>
          <p:spPr>
            <a:xfrm>
              <a:off x="2143" y="3744"/>
              <a:ext cx="482"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4588" name="矩形 206996"/>
            <p:cNvSpPr/>
            <p:nvPr/>
          </p:nvSpPr>
          <p:spPr>
            <a:xfrm>
              <a:off x="3816" y="3744"/>
              <a:ext cx="570"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6924"/>
                                        </p:tgtEl>
                                        <p:attrNameLst>
                                          <p:attrName>style.visibility</p:attrName>
                                        </p:attrNameLst>
                                      </p:cBhvr>
                                      <p:to>
                                        <p:strVal val="visible"/>
                                      </p:to>
                                    </p:set>
                                    <p:animEffect transition="in" filter="blinds(horizontal)">
                                      <p:cBhvr>
                                        <p:cTn id="7" dur="500"/>
                                        <p:tgtEl>
                                          <p:spTgt spid="2069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6927"/>
                                        </p:tgtEl>
                                        <p:attrNameLst>
                                          <p:attrName>style.visibility</p:attrName>
                                        </p:attrNameLst>
                                      </p:cBhvr>
                                      <p:to>
                                        <p:strVal val="visible"/>
                                      </p:to>
                                    </p:set>
                                    <p:animEffect transition="in" filter="blinds(horizontal)">
                                      <p:cBhvr>
                                        <p:cTn id="12" dur="500"/>
                                        <p:tgtEl>
                                          <p:spTgt spid="206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208897"/>
          <p:cNvSpPr>
            <a:spLocks noGrp="1"/>
          </p:cNvSpPr>
          <p:nvPr>
            <p:ph type="title"/>
          </p:nvPr>
        </p:nvSpPr>
        <p:spPr>
          <a:xfrm>
            <a:off x="715963" y="207963"/>
            <a:ext cx="4557712" cy="422275"/>
          </a:xfrm>
          <a:ln/>
        </p:spPr>
        <p:txBody>
          <a:bodyPr vert="horz" wrap="none" lIns="63500" tIns="25400" rIns="63500" bIns="25400" anchor="t" anchorCtr="0">
            <a:spAutoFit/>
          </a:bodyPr>
          <a:p>
            <a:r>
              <a:rPr lang="en-US" altLang="zh-CN">
                <a:ea typeface="宋体" panose="02010600030101010101" pitchFamily="2" charset="-122"/>
              </a:rPr>
              <a:t>RTL: The Load Instruction</a:t>
            </a:r>
            <a:endParaRPr lang="en-US" altLang="zh-CN">
              <a:ea typeface="宋体" panose="02010600030101010101" pitchFamily="2" charset="-122"/>
            </a:endParaRPr>
          </a:p>
        </p:txBody>
      </p:sp>
      <p:sp>
        <p:nvSpPr>
          <p:cNvPr id="208899" name="内容占位符 208898"/>
          <p:cNvSpPr>
            <a:spLocks noGrp="1"/>
          </p:cNvSpPr>
          <p:nvPr>
            <p:ph idx="1"/>
          </p:nvPr>
        </p:nvSpPr>
        <p:spPr>
          <a:xfrm>
            <a:off x="249238" y="1601788"/>
            <a:ext cx="8656637" cy="2460625"/>
          </a:xfrm>
          <a:ln/>
        </p:spPr>
        <p:txBody>
          <a:bodyPr vert="horz" wrap="square" lIns="63500" tIns="25400" rIns="63500" bIns="25400" anchor="t" anchorCtr="0">
            <a:spAutoFit/>
          </a:bodyPr>
          <a:p>
            <a:pPr>
              <a:lnSpc>
                <a:spcPct val="130000"/>
              </a:lnSpc>
            </a:pPr>
            <a:r>
              <a:rPr lang="en-US" altLang="zh-CN" sz="2000" dirty="0" err="1">
                <a:ea typeface="黑体" panose="02010609060101010101" pitchFamily="49" charset="-122"/>
              </a:rPr>
              <a:t>lw</a:t>
            </a:r>
            <a:r>
              <a:rPr lang="en-US" altLang="zh-CN" sz="2000">
                <a:ea typeface="黑体" panose="02010609060101010101" pitchFamily="49" charset="-122"/>
              </a:rPr>
              <a:t>	</a:t>
            </a:r>
            <a:r>
              <a:rPr lang="en-US" altLang="zh-CN" sz="2000" dirty="0" err="1">
                <a:ea typeface="黑体" panose="02010609060101010101" pitchFamily="49" charset="-122"/>
              </a:rPr>
              <a:t>rt</a:t>
            </a:r>
            <a:r>
              <a:rPr lang="en-US" altLang="zh-CN" sz="2000">
                <a:ea typeface="黑体" panose="02010609060101010101" pitchFamily="49" charset="-122"/>
              </a:rPr>
              <a:t>, </a:t>
            </a:r>
            <a:r>
              <a:rPr lang="en-US" altLang="zh-CN" sz="2000" dirty="0" err="1">
                <a:ea typeface="黑体" panose="02010609060101010101" pitchFamily="49" charset="-122"/>
              </a:rPr>
              <a:t>rs</a:t>
            </a:r>
            <a:r>
              <a:rPr lang="en-US" altLang="zh-CN" sz="2000">
                <a:ea typeface="黑体" panose="02010609060101010101" pitchFamily="49" charset="-122"/>
              </a:rPr>
              <a:t>, imm16</a:t>
            </a:r>
            <a:endParaRPr lang="en-US" altLang="zh-CN" sz="2000">
              <a:ea typeface="黑体" panose="02010609060101010101" pitchFamily="49" charset="-122"/>
            </a:endParaRPr>
          </a:p>
          <a:p>
            <a:pPr lvl="1">
              <a:lnSpc>
                <a:spcPct val="130000"/>
              </a:lnSpc>
            </a:pPr>
            <a:r>
              <a:rPr lang="en-US" altLang="zh-CN" sz="2000">
                <a:ea typeface="黑体" panose="02010609060101010101" pitchFamily="49" charset="-122"/>
              </a:rPr>
              <a:t>M[PC]		            </a:t>
            </a:r>
            <a:r>
              <a:rPr lang="zh-CN" altLang="en-US" sz="2000" dirty="0">
                <a:solidFill>
                  <a:srgbClr val="0000FF"/>
                </a:solidFill>
                <a:ea typeface="黑体" panose="02010609060101010101" pitchFamily="49" charset="-122"/>
              </a:rPr>
              <a:t>取指令（公共操作，取指部件完成）</a:t>
            </a:r>
            <a:endParaRPr lang="en-US" altLang="zh-CN" sz="2000">
              <a:ea typeface="黑体" panose="02010609060101010101" pitchFamily="49" charset="-122"/>
            </a:endParaRPr>
          </a:p>
          <a:p>
            <a:pPr lvl="1">
              <a:lnSpc>
                <a:spcPct val="130000"/>
              </a:lnSpc>
            </a:pPr>
            <a:r>
              <a:rPr lang="en-US" altLang="zh-CN" sz="2000" dirty="0" err="1">
                <a:ea typeface="黑体" panose="02010609060101010101" pitchFamily="49" charset="-122"/>
              </a:rPr>
              <a:t>Addr</a:t>
            </a:r>
            <a:r>
              <a:rPr lang="en-US" altLang="zh-CN" sz="2000">
                <a:ea typeface="黑体" panose="02010609060101010101" pitchFamily="49" charset="-122"/>
              </a:rPr>
              <a:t>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a:t>
            </a:r>
            <a:r>
              <a:rPr lang="en-US" altLang="zh-CN" sz="2000" dirty="0" err="1">
                <a:ea typeface="黑体" panose="02010609060101010101" pitchFamily="49" charset="-122"/>
              </a:rPr>
              <a:t>R[rs</a:t>
            </a:r>
            <a:r>
              <a:rPr lang="en-US" altLang="zh-CN" sz="2000">
                <a:ea typeface="黑体" panose="02010609060101010101" pitchFamily="49" charset="-122"/>
              </a:rPr>
              <a:t>] + SignExt(imm16)    </a:t>
            </a:r>
            <a:r>
              <a:rPr lang="zh-CN" altLang="en-US" sz="2000" dirty="0">
                <a:ea typeface="黑体" panose="02010609060101010101" pitchFamily="49" charset="-122"/>
              </a:rPr>
              <a:t>计算存储单元地址 </a:t>
            </a:r>
            <a:r>
              <a:rPr lang="en-US" altLang="zh-CN" sz="2000">
                <a:solidFill>
                  <a:schemeClr val="accent1"/>
                </a:solidFill>
                <a:ea typeface="黑体" panose="02010609060101010101" pitchFamily="49" charset="-122"/>
              </a:rPr>
              <a:t>(</a:t>
            </a:r>
            <a:r>
              <a:rPr lang="zh-CN" altLang="en-US" sz="2000" dirty="0">
                <a:solidFill>
                  <a:schemeClr val="accent1"/>
                </a:solidFill>
                <a:ea typeface="黑体" panose="02010609060101010101" pitchFamily="49" charset="-122"/>
              </a:rPr>
              <a:t>符号扩展！</a:t>
            </a:r>
            <a:r>
              <a:rPr lang="en-US" altLang="zh-CN" sz="2000">
                <a:solidFill>
                  <a:schemeClr val="accent1"/>
                </a:solidFill>
                <a:ea typeface="黑体" panose="02010609060101010101" pitchFamily="49" charset="-122"/>
              </a:rPr>
              <a:t>)</a:t>
            </a:r>
            <a:endParaRPr lang="en-US" altLang="zh-CN" sz="2000">
              <a:solidFill>
                <a:schemeClr val="accent1"/>
              </a:solidFill>
              <a:ea typeface="黑体" panose="02010609060101010101" pitchFamily="49" charset="-122"/>
            </a:endParaRPr>
          </a:p>
          <a:p>
            <a:pPr lvl="1">
              <a:lnSpc>
                <a:spcPct val="130000"/>
              </a:lnSpc>
            </a:pPr>
            <a:r>
              <a:rPr lang="en-US" altLang="zh-CN" sz="2000" dirty="0" err="1">
                <a:ea typeface="黑体" panose="02010609060101010101" pitchFamily="49" charset="-122"/>
              </a:rPr>
              <a:t>R[rt</a:t>
            </a:r>
            <a:r>
              <a:rPr lang="en-US" altLang="zh-CN" sz="2000">
                <a:ea typeface="黑体" panose="02010609060101010101" pitchFamily="49" charset="-122"/>
              </a:rPr>
              <a:t>]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M [</a:t>
            </a:r>
            <a:r>
              <a:rPr lang="en-US" altLang="zh-CN" sz="2000" dirty="0" err="1">
                <a:ea typeface="黑体" panose="02010609060101010101" pitchFamily="49" charset="-122"/>
              </a:rPr>
              <a:t>Addr</a:t>
            </a:r>
            <a:r>
              <a:rPr lang="en-US" altLang="zh-CN" sz="2000">
                <a:ea typeface="黑体" panose="02010609060101010101" pitchFamily="49" charset="-122"/>
              </a:rPr>
              <a:t>]	           </a:t>
            </a:r>
            <a:r>
              <a:rPr lang="zh-CN" altLang="en-US" sz="2000" dirty="0">
                <a:ea typeface="黑体" panose="02010609060101010101" pitchFamily="49" charset="-122"/>
              </a:rPr>
              <a:t>装入数据到寄存器</a:t>
            </a:r>
            <a:r>
              <a:rPr lang="en-US" altLang="zh-CN" sz="2000" dirty="0" err="1">
                <a:ea typeface="黑体" panose="02010609060101010101" pitchFamily="49" charset="-122"/>
              </a:rPr>
              <a:t>rt</a:t>
            </a:r>
            <a:r>
              <a:rPr lang="zh-CN" altLang="en-US" sz="2000" dirty="0">
                <a:ea typeface="黑体" panose="02010609060101010101" pitchFamily="49" charset="-122"/>
              </a:rPr>
              <a:t>中</a:t>
            </a:r>
            <a:endParaRPr lang="en-US" altLang="zh-CN" sz="2000">
              <a:ea typeface="黑体" panose="02010609060101010101" pitchFamily="49" charset="-122"/>
            </a:endParaRPr>
          </a:p>
          <a:p>
            <a:pPr lvl="1">
              <a:lnSpc>
                <a:spcPct val="130000"/>
              </a:lnSpc>
            </a:pPr>
            <a:r>
              <a:rPr lang="en-US" altLang="zh-CN" sz="2000">
                <a:ea typeface="黑体" panose="02010609060101010101" pitchFamily="49" charset="-122"/>
              </a:rPr>
              <a:t>PC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PC + 4	          </a:t>
            </a:r>
            <a:r>
              <a:rPr lang="zh-CN" altLang="en-US" sz="2000" dirty="0">
                <a:solidFill>
                  <a:srgbClr val="0000FF"/>
                </a:solidFill>
                <a:ea typeface="黑体" panose="02010609060101010101" pitchFamily="49" charset="-122"/>
              </a:rPr>
              <a:t>计算下地址（公共操作，取指部件完成）</a:t>
            </a:r>
            <a:endParaRPr lang="en-US" altLang="zh-CN" sz="2000">
              <a:solidFill>
                <a:srgbClr val="0000FF"/>
              </a:solidFill>
              <a:ea typeface="黑体" panose="02010609060101010101" pitchFamily="49" charset="-122"/>
            </a:endParaRPr>
          </a:p>
        </p:txBody>
      </p:sp>
      <p:grpSp>
        <p:nvGrpSpPr>
          <p:cNvPr id="208900" name="组合 208899"/>
          <p:cNvGrpSpPr/>
          <p:nvPr/>
        </p:nvGrpSpPr>
        <p:grpSpPr>
          <a:xfrm>
            <a:off x="2730500" y="4432300"/>
            <a:ext cx="5899150" cy="973138"/>
            <a:chOff x="1091" y="2906"/>
            <a:chExt cx="3716" cy="613"/>
          </a:xfrm>
        </p:grpSpPr>
        <p:grpSp>
          <p:nvGrpSpPr>
            <p:cNvPr id="66564" name="组合 208900"/>
            <p:cNvGrpSpPr/>
            <p:nvPr/>
          </p:nvGrpSpPr>
          <p:grpSpPr>
            <a:xfrm>
              <a:off x="1091" y="2906"/>
              <a:ext cx="3716" cy="613"/>
              <a:chOff x="1091" y="2906"/>
              <a:chExt cx="3716" cy="613"/>
            </a:xfrm>
          </p:grpSpPr>
          <p:sp>
            <p:nvSpPr>
              <p:cNvPr id="66565" name="矩形 208901"/>
              <p:cNvSpPr/>
              <p:nvPr/>
            </p:nvSpPr>
            <p:spPr>
              <a:xfrm>
                <a:off x="1108" y="3106"/>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6566" name="矩形 208902"/>
              <p:cNvSpPr/>
              <p:nvPr/>
            </p:nvSpPr>
            <p:spPr>
              <a:xfrm>
                <a:off x="2911" y="3102"/>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6567" name="矩形 208903"/>
              <p:cNvSpPr/>
              <p:nvPr/>
            </p:nvSpPr>
            <p:spPr>
              <a:xfrm>
                <a:off x="3462" y="3098"/>
                <a:ext cx="826"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6568" name="矩形 208904"/>
              <p:cNvSpPr/>
              <p:nvPr/>
            </p:nvSpPr>
            <p:spPr>
              <a:xfrm>
                <a:off x="4613" y="2906"/>
                <a:ext cx="19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6569" name="矩形 208905"/>
              <p:cNvSpPr/>
              <p:nvPr/>
            </p:nvSpPr>
            <p:spPr>
              <a:xfrm>
                <a:off x="2715" y="2906"/>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6570" name="矩形 208906"/>
              <p:cNvSpPr/>
              <p:nvPr/>
            </p:nvSpPr>
            <p:spPr>
              <a:xfrm>
                <a:off x="2895" y="2906"/>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15</a:t>
                </a:r>
                <a:endParaRPr lang="zh-CN" altLang="en-US" sz="1800" dirty="0">
                  <a:latin typeface="Arial" panose="020B0604020202020204" pitchFamily="34" charset="0"/>
                  <a:ea typeface="宋体" panose="02010600030101010101" pitchFamily="2" charset="-122"/>
                </a:endParaRPr>
              </a:p>
            </p:txBody>
          </p:sp>
          <p:sp>
            <p:nvSpPr>
              <p:cNvPr id="66571" name="矩形 208907"/>
              <p:cNvSpPr/>
              <p:nvPr/>
            </p:nvSpPr>
            <p:spPr>
              <a:xfrm>
                <a:off x="1091" y="2906"/>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6572" name="矩形 208908"/>
              <p:cNvSpPr/>
              <p:nvPr/>
            </p:nvSpPr>
            <p:spPr>
              <a:xfrm>
                <a:off x="3573" y="3290"/>
                <a:ext cx="562"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6573" name="矩形 208909"/>
              <p:cNvSpPr/>
              <p:nvPr/>
            </p:nvSpPr>
            <p:spPr>
              <a:xfrm>
                <a:off x="1819" y="3290"/>
                <a:ext cx="562"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6574" name="矩形 208910"/>
              <p:cNvSpPr/>
              <p:nvPr/>
            </p:nvSpPr>
            <p:spPr>
              <a:xfrm>
                <a:off x="1203" y="3104"/>
                <a:ext cx="159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0000 0000 00000 000</a:t>
                </a:r>
                <a:r>
                  <a:rPr lang="en-US" altLang="zh-CN" sz="1800">
                    <a:latin typeface="Arial" panose="020B0604020202020204" pitchFamily="34" charset="0"/>
                    <a:ea typeface="宋体" panose="02010600030101010101" pitchFamily="2" charset="-122"/>
                  </a:rPr>
                  <a:t>0</a:t>
                </a:r>
                <a:endParaRPr lang="en-US" altLang="zh-CN" sz="1800">
                  <a:latin typeface="Arial" panose="020B0604020202020204" pitchFamily="34" charset="0"/>
                  <a:ea typeface="宋体" panose="02010600030101010101" pitchFamily="2" charset="-122"/>
                </a:endParaRPr>
              </a:p>
            </p:txBody>
          </p:sp>
        </p:grpSp>
        <p:sp>
          <p:nvSpPr>
            <p:cNvPr id="66575" name="矩形 208911"/>
            <p:cNvSpPr/>
            <p:nvPr/>
          </p:nvSpPr>
          <p:spPr>
            <a:xfrm>
              <a:off x="2914" y="3088"/>
              <a:ext cx="19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grpSp>
      <p:grpSp>
        <p:nvGrpSpPr>
          <p:cNvPr id="208913" name="组合 208912"/>
          <p:cNvGrpSpPr/>
          <p:nvPr/>
        </p:nvGrpSpPr>
        <p:grpSpPr>
          <a:xfrm>
            <a:off x="2730500" y="5143500"/>
            <a:ext cx="5899150" cy="973138"/>
            <a:chOff x="1091" y="3434"/>
            <a:chExt cx="3716" cy="613"/>
          </a:xfrm>
        </p:grpSpPr>
        <p:sp>
          <p:nvSpPr>
            <p:cNvPr id="66577" name="矩形 208913"/>
            <p:cNvSpPr/>
            <p:nvPr/>
          </p:nvSpPr>
          <p:spPr>
            <a:xfrm>
              <a:off x="4613" y="3434"/>
              <a:ext cx="19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6578" name="矩形 208914"/>
            <p:cNvSpPr/>
            <p:nvPr/>
          </p:nvSpPr>
          <p:spPr>
            <a:xfrm>
              <a:off x="2715" y="3434"/>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6579" name="矩形 208915"/>
            <p:cNvSpPr/>
            <p:nvPr/>
          </p:nvSpPr>
          <p:spPr>
            <a:xfrm>
              <a:off x="2895" y="3434"/>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15</a:t>
              </a:r>
              <a:endParaRPr lang="zh-CN" altLang="en-US" sz="1800" dirty="0">
                <a:latin typeface="Arial" panose="020B0604020202020204" pitchFamily="34" charset="0"/>
                <a:ea typeface="宋体" panose="02010600030101010101" pitchFamily="2" charset="-122"/>
              </a:endParaRPr>
            </a:p>
          </p:txBody>
        </p:sp>
        <p:sp>
          <p:nvSpPr>
            <p:cNvPr id="66580" name="矩形 208916"/>
            <p:cNvSpPr/>
            <p:nvPr/>
          </p:nvSpPr>
          <p:spPr>
            <a:xfrm>
              <a:off x="1091" y="3434"/>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nvGrpSpPr>
            <p:cNvPr id="66581" name="组合 208917"/>
            <p:cNvGrpSpPr/>
            <p:nvPr/>
          </p:nvGrpSpPr>
          <p:grpSpPr>
            <a:xfrm>
              <a:off x="1108" y="3611"/>
              <a:ext cx="3603" cy="436"/>
              <a:chOff x="1108" y="3611"/>
              <a:chExt cx="3603" cy="436"/>
            </a:xfrm>
          </p:grpSpPr>
          <p:sp>
            <p:nvSpPr>
              <p:cNvPr id="66582" name="矩形 208918"/>
              <p:cNvSpPr/>
              <p:nvPr/>
            </p:nvSpPr>
            <p:spPr>
              <a:xfrm>
                <a:off x="1108" y="3634"/>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6583" name="矩形 208919"/>
              <p:cNvSpPr/>
              <p:nvPr/>
            </p:nvSpPr>
            <p:spPr>
              <a:xfrm>
                <a:off x="2911" y="3630"/>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6584" name="矩形 208920"/>
              <p:cNvSpPr/>
              <p:nvPr/>
            </p:nvSpPr>
            <p:spPr>
              <a:xfrm>
                <a:off x="3462" y="3626"/>
                <a:ext cx="826"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6585" name="矩形 208921"/>
              <p:cNvSpPr/>
              <p:nvPr/>
            </p:nvSpPr>
            <p:spPr>
              <a:xfrm>
                <a:off x="3573" y="3818"/>
                <a:ext cx="562"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6586" name="矩形 208922"/>
              <p:cNvSpPr/>
              <p:nvPr/>
            </p:nvSpPr>
            <p:spPr>
              <a:xfrm>
                <a:off x="1819" y="3818"/>
                <a:ext cx="562"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6587" name="矩形 208923"/>
              <p:cNvSpPr/>
              <p:nvPr/>
            </p:nvSpPr>
            <p:spPr>
              <a:xfrm>
                <a:off x="1213" y="3611"/>
                <a:ext cx="1546" cy="229"/>
              </a:xfrm>
              <a:prstGeom prst="rect">
                <a:avLst/>
              </a:prstGeom>
              <a:noFill/>
              <a:ln w="12700">
                <a:noFill/>
              </a:ln>
            </p:spPr>
            <p:txBody>
              <a:bodyPr wrap="none" lIns="90488" tIns="44450" rIns="90488" bIns="44450" anchor="t" anchorCtr="0">
                <a:spAutoFit/>
              </a:bodyPr>
              <a:p>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1111 1111 1111 1111</a:t>
                </a:r>
                <a:endParaRPr lang="zh-CN" altLang="en-US" sz="1800" dirty="0">
                  <a:latin typeface="Arial" panose="020B0604020202020204" pitchFamily="34" charset="0"/>
                  <a:ea typeface="宋体" panose="02010600030101010101" pitchFamily="2" charset="-122"/>
                </a:endParaRPr>
              </a:p>
            </p:txBody>
          </p:sp>
          <p:sp>
            <p:nvSpPr>
              <p:cNvPr id="66588" name="矩形 208924"/>
              <p:cNvSpPr/>
              <p:nvPr/>
            </p:nvSpPr>
            <p:spPr>
              <a:xfrm>
                <a:off x="2914" y="3616"/>
                <a:ext cx="19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grpSp>
      </p:grpSp>
      <p:sp>
        <p:nvSpPr>
          <p:cNvPr id="208948" name="矩形 208947"/>
          <p:cNvSpPr/>
          <p:nvPr/>
        </p:nvSpPr>
        <p:spPr>
          <a:xfrm>
            <a:off x="257175" y="4156075"/>
            <a:ext cx="4079875" cy="396875"/>
          </a:xfrm>
          <a:prstGeom prst="rect">
            <a:avLst/>
          </a:prstGeom>
          <a:noFill/>
          <a:ln w="25400">
            <a:noFill/>
          </a:ln>
        </p:spPr>
        <p:txBody>
          <a:bodyPr anchor="t" anchorCtr="0">
            <a:spAutoFit/>
          </a:bodyPr>
          <a:p>
            <a:pPr algn="ctr"/>
            <a:r>
              <a:rPr lang="zh-CN" altLang="en-US" sz="2000" dirty="0">
                <a:solidFill>
                  <a:srgbClr val="CC0000"/>
                </a:solidFill>
                <a:latin typeface="Arial" panose="020B0604020202020204" pitchFamily="34" charset="0"/>
                <a:ea typeface="黑体" panose="02010609060101010101" pitchFamily="49" charset="-122"/>
              </a:rPr>
              <a:t>符号扩展</a:t>
            </a:r>
            <a:r>
              <a:rPr lang="en-US" altLang="zh-CN" sz="2000">
                <a:solidFill>
                  <a:srgbClr val="CC0000"/>
                </a:solidFill>
                <a:latin typeface="Arial" panose="020B0604020202020204" pitchFamily="34" charset="0"/>
                <a:ea typeface="黑体" panose="02010609060101010101" pitchFamily="49" charset="-122"/>
              </a:rPr>
              <a:t>( </a:t>
            </a:r>
            <a:r>
              <a:rPr lang="zh-CN" altLang="en-US" sz="2000" dirty="0">
                <a:solidFill>
                  <a:srgbClr val="CC0000"/>
                </a:solidFill>
                <a:latin typeface="Arial" panose="020B0604020202020204" pitchFamily="34" charset="0"/>
                <a:ea typeface="黑体" panose="02010609060101010101" pitchFamily="49" charset="-122"/>
              </a:rPr>
              <a:t>为什么不是零扩展</a:t>
            </a:r>
            <a:r>
              <a:rPr lang="en-US" altLang="zh-CN" sz="2000">
                <a:solidFill>
                  <a:srgbClr val="CC0000"/>
                </a:solidFill>
                <a:latin typeface="Arial" panose="020B0604020202020204" pitchFamily="34" charset="0"/>
                <a:ea typeface="黑体" panose="02010609060101010101" pitchFamily="49" charset="-122"/>
              </a:rPr>
              <a:t>? ) </a:t>
            </a:r>
            <a:r>
              <a:rPr lang="zh-CN" altLang="en-US" sz="2000" dirty="0">
                <a:solidFill>
                  <a:srgbClr val="CC0000"/>
                </a:solidFill>
                <a:latin typeface="Arial" panose="020B0604020202020204" pitchFamily="34" charset="0"/>
                <a:ea typeface="黑体" panose="02010609060101010101" pitchFamily="49" charset="-122"/>
              </a:rPr>
              <a:t>：</a:t>
            </a:r>
            <a:endParaRPr lang="zh-CN" altLang="en-US" sz="2000" dirty="0">
              <a:solidFill>
                <a:srgbClr val="CC0000"/>
              </a:solidFill>
              <a:latin typeface="Arial" panose="020B0604020202020204" pitchFamily="34" charset="0"/>
              <a:ea typeface="黑体" panose="02010609060101010101" pitchFamily="49" charset="-122"/>
            </a:endParaRPr>
          </a:p>
        </p:txBody>
      </p:sp>
      <p:sp>
        <p:nvSpPr>
          <p:cNvPr id="208949" name="文本框 208948"/>
          <p:cNvSpPr txBox="1"/>
          <p:nvPr/>
        </p:nvSpPr>
        <p:spPr>
          <a:xfrm>
            <a:off x="415925" y="6189663"/>
            <a:ext cx="8318500" cy="427037"/>
          </a:xfrm>
          <a:prstGeom prst="rect">
            <a:avLst/>
          </a:prstGeom>
          <a:noFill/>
          <a:ln w="25400">
            <a:noFill/>
          </a:ln>
        </p:spPr>
        <p:txBody>
          <a:bodyPr anchor="t" anchorCtr="0">
            <a:spAutoFit/>
          </a:bodyPr>
          <a:p>
            <a:pPr>
              <a:spcBef>
                <a:spcPct val="50000"/>
              </a:spcBef>
            </a:pPr>
            <a:r>
              <a:rPr lang="zh-CN" altLang="en-US" sz="2200" dirty="0">
                <a:solidFill>
                  <a:srgbClr val="CC0000"/>
                </a:solidFill>
                <a:latin typeface="Arial" panose="020B0604020202020204" pitchFamily="34" charset="0"/>
                <a:ea typeface="黑体" panose="02010609060101010101" pitchFamily="49" charset="-122"/>
              </a:rPr>
              <a:t>思考：应在原数据通路上加哪些元件和连线？用何控制信号？</a:t>
            </a:r>
            <a:endParaRPr lang="zh-CN" altLang="en-US" sz="2200" dirty="0">
              <a:solidFill>
                <a:srgbClr val="CC0000"/>
              </a:solidFill>
              <a:latin typeface="Arial" panose="020B0604020202020204" pitchFamily="34" charset="0"/>
              <a:ea typeface="黑体" panose="02010609060101010101" pitchFamily="49" charset="-122"/>
            </a:endParaRPr>
          </a:p>
        </p:txBody>
      </p:sp>
      <p:sp>
        <p:nvSpPr>
          <p:cNvPr id="66591" name="文本框 208949"/>
          <p:cNvSpPr txBox="1"/>
          <p:nvPr/>
        </p:nvSpPr>
        <p:spPr>
          <a:xfrm>
            <a:off x="5840413" y="344488"/>
            <a:ext cx="2447925" cy="396875"/>
          </a:xfrm>
          <a:prstGeom prst="rect">
            <a:avLst/>
          </a:prstGeom>
          <a:noFill/>
          <a:ln w="25400">
            <a:noFill/>
          </a:ln>
        </p:spPr>
        <p:txBody>
          <a:bodyPr anchor="t" anchorCtr="0">
            <a:spAutoFit/>
          </a:bodyPr>
          <a:p>
            <a:pPr algn="ctr">
              <a:spcBef>
                <a:spcPct val="50000"/>
              </a:spcBef>
            </a:pPr>
            <a:r>
              <a:rPr lang="zh-CN" altLang="en-US" sz="2000" dirty="0">
                <a:solidFill>
                  <a:srgbClr val="0000FF"/>
                </a:solidFill>
                <a:latin typeface="Times New Roman" panose="02020603050405020304" pitchFamily="18" charset="0"/>
                <a:ea typeface="黑体" panose="02010609060101010101" pitchFamily="49" charset="-122"/>
              </a:rPr>
              <a:t>立即数用补码表示</a:t>
            </a:r>
            <a:endParaRPr lang="zh-CN" altLang="en-US" sz="2000" dirty="0">
              <a:solidFill>
                <a:srgbClr val="0000FF"/>
              </a:solidFill>
              <a:latin typeface="Times New Roman" panose="02020603050405020304" pitchFamily="18" charset="0"/>
              <a:ea typeface="黑体" panose="02010609060101010101" pitchFamily="49" charset="-122"/>
            </a:endParaRPr>
          </a:p>
        </p:txBody>
      </p:sp>
      <p:grpSp>
        <p:nvGrpSpPr>
          <p:cNvPr id="66592" name="组合 208950"/>
          <p:cNvGrpSpPr/>
          <p:nvPr/>
        </p:nvGrpSpPr>
        <p:grpSpPr>
          <a:xfrm>
            <a:off x="2306638" y="742950"/>
            <a:ext cx="5999162" cy="989013"/>
            <a:chOff x="1918" y="1392"/>
            <a:chExt cx="3763" cy="607"/>
          </a:xfrm>
        </p:grpSpPr>
        <p:sp>
          <p:nvSpPr>
            <p:cNvPr id="66593" name="矩形 208951"/>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66594" name="组合 208952"/>
            <p:cNvGrpSpPr/>
            <p:nvPr/>
          </p:nvGrpSpPr>
          <p:grpSpPr>
            <a:xfrm>
              <a:off x="1979" y="1584"/>
              <a:ext cx="624" cy="223"/>
              <a:chOff x="1979" y="1584"/>
              <a:chExt cx="624" cy="223"/>
            </a:xfrm>
          </p:grpSpPr>
          <p:sp>
            <p:nvSpPr>
              <p:cNvPr id="66595" name="矩形 208953"/>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6596" name="矩形 208954"/>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66597" name="组合 208955"/>
            <p:cNvGrpSpPr/>
            <p:nvPr/>
          </p:nvGrpSpPr>
          <p:grpSpPr>
            <a:xfrm>
              <a:off x="2611" y="1584"/>
              <a:ext cx="580" cy="223"/>
              <a:chOff x="2611" y="1584"/>
              <a:chExt cx="580" cy="223"/>
            </a:xfrm>
          </p:grpSpPr>
          <p:sp>
            <p:nvSpPr>
              <p:cNvPr id="66598" name="矩形 208956"/>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6599" name="矩形 208957"/>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66600" name="组合 208958"/>
            <p:cNvGrpSpPr/>
            <p:nvPr/>
          </p:nvGrpSpPr>
          <p:grpSpPr>
            <a:xfrm>
              <a:off x="3199" y="1584"/>
              <a:ext cx="579" cy="223"/>
              <a:chOff x="3199" y="1584"/>
              <a:chExt cx="579" cy="223"/>
            </a:xfrm>
          </p:grpSpPr>
          <p:sp>
            <p:nvSpPr>
              <p:cNvPr id="66601" name="矩形 208959"/>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6602" name="矩形 208960"/>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66603" name="矩形 208961"/>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6604" name="矩形 208962"/>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6605" name="矩形 208963"/>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6606" name="矩形 208964"/>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6607" name="矩形 208965"/>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66608" name="矩形 208966"/>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66609" name="矩形 208967"/>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6610" name="矩形 208968"/>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6611" name="矩形 208969"/>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6612" name="矩形 208970"/>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6613" name="矩形 208971"/>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8899">
                                            <p:txEl>
                                              <p:charRg st="17" end="53"/>
                                            </p:txEl>
                                          </p:spTgt>
                                        </p:tgtEl>
                                        <p:attrNameLst>
                                          <p:attrName>style.visibility</p:attrName>
                                        </p:attrNameLst>
                                      </p:cBhvr>
                                      <p:to>
                                        <p:strVal val="visible"/>
                                      </p:to>
                                    </p:set>
                                    <p:animEffect transition="in" filter="blinds(horizontal)">
                                      <p:cBhvr>
                                        <p:cTn id="7" dur="500"/>
                                        <p:tgtEl>
                                          <p:spTgt spid="208899">
                                            <p:txEl>
                                              <p:charRg st="17"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8899">
                                            <p:txEl>
                                              <p:charRg st="53" end="103"/>
                                            </p:txEl>
                                          </p:spTgt>
                                        </p:tgtEl>
                                        <p:attrNameLst>
                                          <p:attrName>style.visibility</p:attrName>
                                        </p:attrNameLst>
                                      </p:cBhvr>
                                      <p:to>
                                        <p:strVal val="visible"/>
                                      </p:to>
                                    </p:set>
                                    <p:animEffect transition="in" filter="blinds(horizontal)">
                                      <p:cBhvr>
                                        <p:cTn id="12" dur="500"/>
                                        <p:tgtEl>
                                          <p:spTgt spid="208899">
                                            <p:txEl>
                                              <p:charRg st="53" end="10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8899">
                                            <p:txEl>
                                              <p:charRg st="103" end="143"/>
                                            </p:txEl>
                                          </p:spTgt>
                                        </p:tgtEl>
                                        <p:attrNameLst>
                                          <p:attrName>style.visibility</p:attrName>
                                        </p:attrNameLst>
                                      </p:cBhvr>
                                      <p:to>
                                        <p:strVal val="visible"/>
                                      </p:to>
                                    </p:set>
                                    <p:animEffect transition="in" filter="blinds(horizontal)">
                                      <p:cBhvr>
                                        <p:cTn id="17" dur="500"/>
                                        <p:tgtEl>
                                          <p:spTgt spid="208899">
                                            <p:txEl>
                                              <p:charRg st="103" end="14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8899">
                                            <p:txEl>
                                              <p:charRg st="143" end="184"/>
                                            </p:txEl>
                                          </p:spTgt>
                                        </p:tgtEl>
                                        <p:attrNameLst>
                                          <p:attrName>style.visibility</p:attrName>
                                        </p:attrNameLst>
                                      </p:cBhvr>
                                      <p:to>
                                        <p:strVal val="visible"/>
                                      </p:to>
                                    </p:set>
                                    <p:animEffect transition="in" filter="blinds(horizontal)">
                                      <p:cBhvr>
                                        <p:cTn id="22" dur="500"/>
                                        <p:tgtEl>
                                          <p:spTgt spid="208899">
                                            <p:txEl>
                                              <p:charRg st="143" end="18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08948"/>
                                        </p:tgtEl>
                                        <p:attrNameLst>
                                          <p:attrName>style.visibility</p:attrName>
                                        </p:attrNameLst>
                                      </p:cBhvr>
                                      <p:to>
                                        <p:strVal val="visible"/>
                                      </p:to>
                                    </p:set>
                                    <p:animEffect transition="in" filter="checkerboard(across)">
                                      <p:cBhvr>
                                        <p:cTn id="27" dur="500"/>
                                        <p:tgtEl>
                                          <p:spTgt spid="208948"/>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08900"/>
                                        </p:tgtEl>
                                        <p:attrNameLst>
                                          <p:attrName>style.visibility</p:attrName>
                                        </p:attrNameLst>
                                      </p:cBhvr>
                                      <p:to>
                                        <p:strVal val="visible"/>
                                      </p:to>
                                    </p:set>
                                    <p:animEffect transition="in" filter="checkerboard(across)">
                                      <p:cBhvr>
                                        <p:cTn id="32" dur="500"/>
                                        <p:tgtEl>
                                          <p:spTgt spid="208900"/>
                                        </p:tgtEl>
                                      </p:cBhvr>
                                    </p:animEffect>
                                  </p:childTnLst>
                                </p:cTn>
                              </p:par>
                              <p:par>
                                <p:cTn id="33" presetID="5" presetClass="entr" presetSubtype="10" fill="hold" nodeType="withEffect">
                                  <p:stCondLst>
                                    <p:cond delay="0"/>
                                  </p:stCondLst>
                                  <p:childTnLst>
                                    <p:set>
                                      <p:cBhvr>
                                        <p:cTn id="34" dur="1" fill="hold">
                                          <p:stCondLst>
                                            <p:cond delay="0"/>
                                          </p:stCondLst>
                                        </p:cTn>
                                        <p:tgtEl>
                                          <p:spTgt spid="208913"/>
                                        </p:tgtEl>
                                        <p:attrNameLst>
                                          <p:attrName>style.visibility</p:attrName>
                                        </p:attrNameLst>
                                      </p:cBhvr>
                                      <p:to>
                                        <p:strVal val="visible"/>
                                      </p:to>
                                    </p:set>
                                    <p:animEffect transition="in" filter="checkerboard(across)">
                                      <p:cBhvr>
                                        <p:cTn id="35" dur="500"/>
                                        <p:tgtEl>
                                          <p:spTgt spid="208913"/>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208949"/>
                                        </p:tgtEl>
                                        <p:attrNameLst>
                                          <p:attrName>style.visibility</p:attrName>
                                        </p:attrNameLst>
                                      </p:cBhvr>
                                      <p:to>
                                        <p:strVal val="visible"/>
                                      </p:to>
                                    </p:set>
                                    <p:animEffect transition="in" filter="checkerboard(across)">
                                      <p:cBhvr>
                                        <p:cTn id="40" dur="500"/>
                                        <p:tgtEl>
                                          <p:spTgt spid="208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48" grpId="0"/>
      <p:bldP spid="20894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210945"/>
          <p:cNvSpPr>
            <a:spLocks noGrp="1"/>
          </p:cNvSpPr>
          <p:nvPr>
            <p:ph type="title"/>
          </p:nvPr>
        </p:nvSpPr>
        <p:spPr>
          <a:xfrm>
            <a:off x="444500" y="203200"/>
            <a:ext cx="5962650" cy="422275"/>
          </a:xfrm>
          <a:ln/>
        </p:spPr>
        <p:txBody>
          <a:bodyPr vert="horz" wrap="square" lIns="63500" tIns="25400" rIns="63500" bIns="25400" anchor="t" anchorCtr="0">
            <a:spAutoFit/>
          </a:bodyPr>
          <a:p>
            <a:r>
              <a:rPr lang="zh-CN" altLang="en-US" dirty="0">
                <a:ea typeface="宋体" panose="02010600030101010101" pitchFamily="2" charset="-122"/>
              </a:rPr>
              <a:t>装入</a:t>
            </a:r>
            <a:r>
              <a:rPr lang="en-US" altLang="zh-CN">
                <a:ea typeface="宋体" panose="02010600030101010101" pitchFamily="2" charset="-122"/>
              </a:rPr>
              <a:t>(</a:t>
            </a:r>
            <a:r>
              <a:rPr lang="en-US" altLang="zh-CN" dirty="0" err="1">
                <a:ea typeface="宋体" panose="02010600030101010101" pitchFamily="2" charset="-122"/>
              </a:rPr>
              <a:t>lw</a:t>
            </a:r>
            <a:r>
              <a:rPr lang="en-US" altLang="zh-CN">
                <a:ea typeface="宋体" panose="02010600030101010101" pitchFamily="2" charset="-122"/>
              </a:rPr>
              <a:t>)</a:t>
            </a:r>
            <a:r>
              <a:rPr lang="zh-CN" altLang="en-US" dirty="0">
                <a:ea typeface="宋体" panose="02010600030101010101" pitchFamily="2" charset="-122"/>
              </a:rPr>
              <a:t>指令的数据通路</a:t>
            </a:r>
            <a:endParaRPr lang="zh-CN" altLang="en-US" dirty="0">
              <a:ea typeface="宋体" panose="02010600030101010101" pitchFamily="2" charset="-122"/>
            </a:endParaRPr>
          </a:p>
        </p:txBody>
      </p:sp>
      <p:sp>
        <p:nvSpPr>
          <p:cNvPr id="68610" name="文本占位符 210946"/>
          <p:cNvSpPr>
            <a:spLocks noGrp="1"/>
          </p:cNvSpPr>
          <p:nvPr>
            <p:ph idx="1"/>
          </p:nvPr>
        </p:nvSpPr>
        <p:spPr>
          <a:xfrm>
            <a:off x="419100" y="666750"/>
            <a:ext cx="8191500" cy="325438"/>
          </a:xfrm>
          <a:ln/>
        </p:spPr>
        <p:txBody>
          <a:bodyPr vert="horz" wrap="square" lIns="63500" tIns="25400" rIns="63500" bIns="25400" anchor="t" anchorCtr="0">
            <a:spAutoFit/>
          </a:bodyPr>
          <a:p>
            <a:r>
              <a:rPr lang="en-US" altLang="zh-CN" dirty="0" err="1">
                <a:ea typeface="宋体" panose="02010600030101010101" pitchFamily="2" charset="-122"/>
              </a:rPr>
              <a:t>R[rt</a:t>
            </a:r>
            <a:r>
              <a:rPr lang="en-US" altLang="zh-CN">
                <a:ea typeface="宋体" panose="02010600030101010101" pitchFamily="2" charset="-122"/>
              </a:rPr>
              <a:t>]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M[ </a:t>
            </a:r>
            <a:r>
              <a:rPr lang="en-US" altLang="zh-CN" dirty="0" err="1">
                <a:solidFill>
                  <a:srgbClr val="0000FF"/>
                </a:solidFill>
                <a:ea typeface="宋体" panose="02010600030101010101" pitchFamily="2" charset="-122"/>
              </a:rPr>
              <a:t>R[rs</a:t>
            </a:r>
            <a:r>
              <a:rPr lang="en-US" altLang="zh-CN">
                <a:solidFill>
                  <a:srgbClr val="0000FF"/>
                </a:solidFill>
                <a:ea typeface="宋体" panose="02010600030101010101" pitchFamily="2" charset="-122"/>
              </a:rPr>
              <a:t>] + SignExt[imm16]</a:t>
            </a:r>
            <a:r>
              <a:rPr lang="en-US" altLang="zh-CN">
                <a:ea typeface="宋体" panose="02010600030101010101" pitchFamily="2" charset="-122"/>
              </a:rPr>
              <a:t> ] 	Example: </a:t>
            </a:r>
            <a:r>
              <a:rPr lang="en-US" altLang="zh-CN" dirty="0" err="1">
                <a:ea typeface="宋体" panose="02010600030101010101" pitchFamily="2" charset="-122"/>
              </a:rPr>
              <a:t>lw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p:txBody>
      </p:sp>
      <p:grpSp>
        <p:nvGrpSpPr>
          <p:cNvPr id="68611" name="组合 210968"/>
          <p:cNvGrpSpPr/>
          <p:nvPr/>
        </p:nvGrpSpPr>
        <p:grpSpPr>
          <a:xfrm>
            <a:off x="4929188" y="3125788"/>
            <a:ext cx="457200" cy="1157287"/>
            <a:chOff x="3168" y="2365"/>
            <a:chExt cx="288" cy="729"/>
          </a:xfrm>
        </p:grpSpPr>
        <p:sp>
          <p:nvSpPr>
            <p:cNvPr id="68612" name="直接连接符 210969"/>
            <p:cNvSpPr/>
            <p:nvPr/>
          </p:nvSpPr>
          <p:spPr>
            <a:xfrm>
              <a:off x="3168" y="2365"/>
              <a:ext cx="0" cy="166"/>
            </a:xfrm>
            <a:prstGeom prst="line">
              <a:avLst/>
            </a:prstGeom>
            <a:ln w="25400" cap="flat" cmpd="sng">
              <a:solidFill>
                <a:schemeClr val="tx1"/>
              </a:solidFill>
              <a:prstDash val="solid"/>
              <a:round/>
              <a:headEnd type="none" w="med" len="med"/>
              <a:tailEnd type="none" w="med" len="med"/>
            </a:ln>
          </p:spPr>
        </p:sp>
        <p:sp>
          <p:nvSpPr>
            <p:cNvPr id="68613" name="直接连接符 210970"/>
            <p:cNvSpPr/>
            <p:nvPr/>
          </p:nvSpPr>
          <p:spPr>
            <a:xfrm>
              <a:off x="3176" y="2365"/>
              <a:ext cx="272" cy="166"/>
            </a:xfrm>
            <a:prstGeom prst="line">
              <a:avLst/>
            </a:prstGeom>
            <a:ln w="25400" cap="flat" cmpd="sng">
              <a:solidFill>
                <a:schemeClr val="tx1"/>
              </a:solidFill>
              <a:prstDash val="solid"/>
              <a:round/>
              <a:headEnd type="none" w="med" len="med"/>
              <a:tailEnd type="none" w="med" len="med"/>
            </a:ln>
          </p:spPr>
        </p:sp>
        <p:sp>
          <p:nvSpPr>
            <p:cNvPr id="68614" name="直接连接符 210971"/>
            <p:cNvSpPr/>
            <p:nvPr/>
          </p:nvSpPr>
          <p:spPr>
            <a:xfrm>
              <a:off x="3176" y="2547"/>
              <a:ext cx="128" cy="76"/>
            </a:xfrm>
            <a:prstGeom prst="line">
              <a:avLst/>
            </a:prstGeom>
            <a:ln w="25400" cap="flat" cmpd="sng">
              <a:solidFill>
                <a:schemeClr val="tx1"/>
              </a:solidFill>
              <a:prstDash val="solid"/>
              <a:round/>
              <a:headEnd type="none" w="med" len="med"/>
              <a:tailEnd type="none" w="med" len="med"/>
            </a:ln>
          </p:spPr>
        </p:sp>
        <p:sp>
          <p:nvSpPr>
            <p:cNvPr id="68615" name="直接连接符 210972"/>
            <p:cNvSpPr/>
            <p:nvPr/>
          </p:nvSpPr>
          <p:spPr>
            <a:xfrm>
              <a:off x="3312" y="2639"/>
              <a:ext cx="0" cy="166"/>
            </a:xfrm>
            <a:prstGeom prst="line">
              <a:avLst/>
            </a:prstGeom>
            <a:ln w="25400" cap="flat" cmpd="sng">
              <a:solidFill>
                <a:schemeClr val="tx1"/>
              </a:solidFill>
              <a:prstDash val="solid"/>
              <a:round/>
              <a:headEnd type="none" w="med" len="med"/>
              <a:tailEnd type="none" w="med" len="med"/>
            </a:ln>
          </p:spPr>
        </p:sp>
        <p:sp>
          <p:nvSpPr>
            <p:cNvPr id="68616" name="直接连接符 210973"/>
            <p:cNvSpPr/>
            <p:nvPr/>
          </p:nvSpPr>
          <p:spPr>
            <a:xfrm>
              <a:off x="3456" y="2547"/>
              <a:ext cx="0" cy="349"/>
            </a:xfrm>
            <a:prstGeom prst="line">
              <a:avLst/>
            </a:prstGeom>
            <a:ln w="25400" cap="flat" cmpd="sng">
              <a:solidFill>
                <a:schemeClr val="tx1"/>
              </a:solidFill>
              <a:prstDash val="solid"/>
              <a:round/>
              <a:headEnd type="none" w="med" len="med"/>
              <a:tailEnd type="none" w="med" len="med"/>
            </a:ln>
          </p:spPr>
        </p:sp>
        <p:sp>
          <p:nvSpPr>
            <p:cNvPr id="68617" name="直接连接符 210974"/>
            <p:cNvSpPr/>
            <p:nvPr/>
          </p:nvSpPr>
          <p:spPr>
            <a:xfrm flipV="1">
              <a:off x="3176" y="2805"/>
              <a:ext cx="128" cy="107"/>
            </a:xfrm>
            <a:prstGeom prst="line">
              <a:avLst/>
            </a:prstGeom>
            <a:ln w="25400" cap="flat" cmpd="sng">
              <a:solidFill>
                <a:schemeClr val="tx1"/>
              </a:solidFill>
              <a:prstDash val="solid"/>
              <a:round/>
              <a:headEnd type="none" w="med" len="med"/>
              <a:tailEnd type="none" w="med" len="med"/>
            </a:ln>
          </p:spPr>
        </p:sp>
        <p:sp>
          <p:nvSpPr>
            <p:cNvPr id="68618" name="直接连接符 210975"/>
            <p:cNvSpPr/>
            <p:nvPr/>
          </p:nvSpPr>
          <p:spPr>
            <a:xfrm>
              <a:off x="3168" y="2912"/>
              <a:ext cx="0" cy="166"/>
            </a:xfrm>
            <a:prstGeom prst="line">
              <a:avLst/>
            </a:prstGeom>
            <a:ln w="25400" cap="flat" cmpd="sng">
              <a:solidFill>
                <a:schemeClr val="tx1"/>
              </a:solidFill>
              <a:prstDash val="solid"/>
              <a:round/>
              <a:headEnd type="none" w="med" len="med"/>
              <a:tailEnd type="none" w="med" len="med"/>
            </a:ln>
          </p:spPr>
        </p:sp>
        <p:sp>
          <p:nvSpPr>
            <p:cNvPr id="68619" name="直接连接符 210976"/>
            <p:cNvSpPr/>
            <p:nvPr/>
          </p:nvSpPr>
          <p:spPr>
            <a:xfrm flipV="1">
              <a:off x="3176" y="2896"/>
              <a:ext cx="272" cy="198"/>
            </a:xfrm>
            <a:prstGeom prst="line">
              <a:avLst/>
            </a:prstGeom>
            <a:ln w="25400" cap="flat" cmpd="sng">
              <a:solidFill>
                <a:schemeClr val="tx1"/>
              </a:solidFill>
              <a:prstDash val="solid"/>
              <a:round/>
              <a:headEnd type="none" w="med" len="med"/>
              <a:tailEnd type="none" w="med" len="med"/>
            </a:ln>
          </p:spPr>
        </p:sp>
      </p:grpSp>
      <p:sp>
        <p:nvSpPr>
          <p:cNvPr id="68620" name="直接连接符 210977"/>
          <p:cNvSpPr/>
          <p:nvPr/>
        </p:nvSpPr>
        <p:spPr>
          <a:xfrm flipH="1">
            <a:off x="5373688" y="3692525"/>
            <a:ext cx="2311400" cy="0"/>
          </a:xfrm>
          <a:prstGeom prst="line">
            <a:avLst/>
          </a:prstGeom>
          <a:ln w="25400" cap="flat" cmpd="sng">
            <a:solidFill>
              <a:schemeClr val="tx1"/>
            </a:solidFill>
            <a:prstDash val="solid"/>
            <a:round/>
            <a:headEnd type="triangle" w="med" len="med"/>
            <a:tailEnd type="none" w="med" len="med"/>
          </a:ln>
        </p:spPr>
      </p:sp>
      <p:sp>
        <p:nvSpPr>
          <p:cNvPr id="68621" name="直接连接符 210978"/>
          <p:cNvSpPr/>
          <p:nvPr/>
        </p:nvSpPr>
        <p:spPr>
          <a:xfrm flipH="1">
            <a:off x="5761038" y="3625850"/>
            <a:ext cx="88900" cy="131763"/>
          </a:xfrm>
          <a:prstGeom prst="line">
            <a:avLst/>
          </a:prstGeom>
          <a:ln w="12700" cap="flat" cmpd="sng">
            <a:solidFill>
              <a:schemeClr val="tx1"/>
            </a:solidFill>
            <a:prstDash val="solid"/>
            <a:round/>
            <a:headEnd type="none" w="med" len="med"/>
            <a:tailEnd type="none" w="med" len="med"/>
          </a:ln>
        </p:spPr>
      </p:sp>
      <p:sp>
        <p:nvSpPr>
          <p:cNvPr id="68622" name="矩形 210979"/>
          <p:cNvSpPr/>
          <p:nvPr/>
        </p:nvSpPr>
        <p:spPr>
          <a:xfrm>
            <a:off x="5448300" y="368935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8623" name="直接连接符 210980"/>
          <p:cNvSpPr/>
          <p:nvPr/>
        </p:nvSpPr>
        <p:spPr>
          <a:xfrm>
            <a:off x="5157788" y="2836863"/>
            <a:ext cx="0" cy="407987"/>
          </a:xfrm>
          <a:prstGeom prst="line">
            <a:avLst/>
          </a:prstGeom>
          <a:ln w="25400" cap="flat" cmpd="sng">
            <a:solidFill>
              <a:schemeClr val="tx1"/>
            </a:solidFill>
            <a:prstDash val="solid"/>
            <a:round/>
            <a:headEnd type="none" w="med" len="med"/>
            <a:tailEnd type="triangle" w="med" len="med"/>
          </a:ln>
        </p:spPr>
      </p:sp>
      <p:sp>
        <p:nvSpPr>
          <p:cNvPr id="68624" name="矩形 210981"/>
          <p:cNvSpPr/>
          <p:nvPr/>
        </p:nvSpPr>
        <p:spPr>
          <a:xfrm>
            <a:off x="4778375" y="2532063"/>
            <a:ext cx="950913" cy="363537"/>
          </a:xfrm>
          <a:prstGeom prst="rect">
            <a:avLst/>
          </a:prstGeom>
          <a:noFill/>
          <a:ln w="12700">
            <a:noFill/>
          </a:ln>
        </p:spPr>
        <p:txBody>
          <a:bodyPr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8625" name="矩形 210982"/>
          <p:cNvSpPr/>
          <p:nvPr/>
        </p:nvSpPr>
        <p:spPr>
          <a:xfrm>
            <a:off x="962025" y="3843338"/>
            <a:ext cx="5365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68626" name="矩形 210983"/>
          <p:cNvSpPr/>
          <p:nvPr/>
        </p:nvSpPr>
        <p:spPr>
          <a:xfrm>
            <a:off x="571500" y="3255963"/>
            <a:ext cx="803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68627" name="矩形 210984"/>
          <p:cNvSpPr/>
          <p:nvPr/>
        </p:nvSpPr>
        <p:spPr>
          <a:xfrm>
            <a:off x="1655763" y="3125788"/>
            <a:ext cx="1431925" cy="1150937"/>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8628" name="直接连接符 210985"/>
          <p:cNvSpPr/>
          <p:nvPr/>
        </p:nvSpPr>
        <p:spPr>
          <a:xfrm>
            <a:off x="1693863" y="4048125"/>
            <a:ext cx="250825" cy="65088"/>
          </a:xfrm>
          <a:prstGeom prst="line">
            <a:avLst/>
          </a:prstGeom>
          <a:ln w="25400" cap="flat" cmpd="sng">
            <a:solidFill>
              <a:schemeClr val="tx1"/>
            </a:solidFill>
            <a:prstDash val="solid"/>
            <a:round/>
            <a:headEnd type="none" w="med" len="med"/>
            <a:tailEnd type="none" w="med" len="med"/>
          </a:ln>
        </p:spPr>
      </p:sp>
      <p:sp>
        <p:nvSpPr>
          <p:cNvPr id="68629" name="直接连接符 210986"/>
          <p:cNvSpPr/>
          <p:nvPr/>
        </p:nvSpPr>
        <p:spPr>
          <a:xfrm flipH="1">
            <a:off x="1668463" y="4138613"/>
            <a:ext cx="301625" cy="101600"/>
          </a:xfrm>
          <a:prstGeom prst="line">
            <a:avLst/>
          </a:prstGeom>
          <a:ln w="25400" cap="flat" cmpd="sng">
            <a:solidFill>
              <a:schemeClr val="tx1"/>
            </a:solidFill>
            <a:prstDash val="solid"/>
            <a:round/>
            <a:headEnd type="none" w="med" len="med"/>
            <a:tailEnd type="none" w="med" len="med"/>
          </a:ln>
        </p:spPr>
      </p:sp>
      <p:sp>
        <p:nvSpPr>
          <p:cNvPr id="68630" name="椭圆 210987"/>
          <p:cNvSpPr/>
          <p:nvPr/>
        </p:nvSpPr>
        <p:spPr>
          <a:xfrm>
            <a:off x="1503363" y="4084638"/>
            <a:ext cx="127000" cy="119062"/>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68631" name="矩形 210988"/>
          <p:cNvSpPr/>
          <p:nvPr/>
        </p:nvSpPr>
        <p:spPr>
          <a:xfrm>
            <a:off x="1179513" y="2603500"/>
            <a:ext cx="9175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8632" name="直接连接符 210989"/>
          <p:cNvSpPr/>
          <p:nvPr/>
        </p:nvSpPr>
        <p:spPr>
          <a:xfrm flipH="1">
            <a:off x="649288" y="3619500"/>
            <a:ext cx="1016000" cy="0"/>
          </a:xfrm>
          <a:prstGeom prst="line">
            <a:avLst/>
          </a:prstGeom>
          <a:ln w="25400" cap="flat" cmpd="sng">
            <a:solidFill>
              <a:schemeClr val="tx1"/>
            </a:solidFill>
            <a:prstDash val="solid"/>
            <a:round/>
            <a:headEnd type="triangle" w="med" len="med"/>
            <a:tailEnd type="none" w="med" len="med"/>
          </a:ln>
        </p:spPr>
      </p:sp>
      <p:sp>
        <p:nvSpPr>
          <p:cNvPr id="68633" name="直接连接符 210990"/>
          <p:cNvSpPr/>
          <p:nvPr/>
        </p:nvSpPr>
        <p:spPr>
          <a:xfrm flipH="1">
            <a:off x="1189038" y="3554413"/>
            <a:ext cx="88900" cy="131762"/>
          </a:xfrm>
          <a:prstGeom prst="line">
            <a:avLst/>
          </a:prstGeom>
          <a:ln w="12700" cap="flat" cmpd="sng">
            <a:solidFill>
              <a:schemeClr val="tx1"/>
            </a:solidFill>
            <a:prstDash val="solid"/>
            <a:round/>
            <a:headEnd type="none" w="med" len="med"/>
            <a:tailEnd type="none" w="med" len="med"/>
          </a:ln>
        </p:spPr>
      </p:sp>
      <p:sp>
        <p:nvSpPr>
          <p:cNvPr id="68634" name="矩形 210991"/>
          <p:cNvSpPr/>
          <p:nvPr/>
        </p:nvSpPr>
        <p:spPr>
          <a:xfrm>
            <a:off x="876300" y="361791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8635" name="直接连接符 210992"/>
          <p:cNvSpPr/>
          <p:nvPr/>
        </p:nvSpPr>
        <p:spPr>
          <a:xfrm>
            <a:off x="3113088" y="3257550"/>
            <a:ext cx="1803400" cy="0"/>
          </a:xfrm>
          <a:prstGeom prst="line">
            <a:avLst/>
          </a:prstGeom>
          <a:ln w="25400" cap="flat" cmpd="sng">
            <a:solidFill>
              <a:schemeClr val="tx1"/>
            </a:solidFill>
            <a:prstDash val="solid"/>
            <a:round/>
            <a:headEnd type="none" w="med" len="med"/>
            <a:tailEnd type="triangle" w="med" len="med"/>
          </a:ln>
        </p:spPr>
      </p:sp>
      <p:sp>
        <p:nvSpPr>
          <p:cNvPr id="68636" name="直接连接符 210993"/>
          <p:cNvSpPr/>
          <p:nvPr/>
        </p:nvSpPr>
        <p:spPr>
          <a:xfrm flipH="1">
            <a:off x="4084638" y="3192463"/>
            <a:ext cx="88900" cy="131762"/>
          </a:xfrm>
          <a:prstGeom prst="line">
            <a:avLst/>
          </a:prstGeom>
          <a:ln w="12700" cap="flat" cmpd="sng">
            <a:solidFill>
              <a:schemeClr val="tx1"/>
            </a:solidFill>
            <a:prstDash val="solid"/>
            <a:round/>
            <a:headEnd type="none" w="med" len="med"/>
            <a:tailEnd type="none" w="med" len="med"/>
          </a:ln>
        </p:spPr>
      </p:sp>
      <p:sp>
        <p:nvSpPr>
          <p:cNvPr id="68637" name="矩形 210994"/>
          <p:cNvSpPr/>
          <p:nvPr/>
        </p:nvSpPr>
        <p:spPr>
          <a:xfrm>
            <a:off x="3771900" y="332740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8638" name="矩形 210995"/>
          <p:cNvSpPr/>
          <p:nvPr/>
        </p:nvSpPr>
        <p:spPr>
          <a:xfrm>
            <a:off x="3467100" y="2967038"/>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68639" name="直接连接符 210996"/>
          <p:cNvSpPr/>
          <p:nvPr/>
        </p:nvSpPr>
        <p:spPr>
          <a:xfrm flipV="1">
            <a:off x="1804988" y="2882900"/>
            <a:ext cx="0" cy="242888"/>
          </a:xfrm>
          <a:prstGeom prst="line">
            <a:avLst/>
          </a:prstGeom>
          <a:ln w="25400" cap="flat" cmpd="sng">
            <a:solidFill>
              <a:schemeClr val="tx1"/>
            </a:solidFill>
            <a:prstDash val="solid"/>
            <a:round/>
            <a:headEnd type="none" w="med" len="med"/>
            <a:tailEnd type="none" w="med" len="med"/>
          </a:ln>
        </p:spPr>
      </p:sp>
      <p:sp>
        <p:nvSpPr>
          <p:cNvPr id="68640" name="直接连接符 210997"/>
          <p:cNvSpPr/>
          <p:nvPr/>
        </p:nvSpPr>
        <p:spPr>
          <a:xfrm>
            <a:off x="3113088" y="4125913"/>
            <a:ext cx="965200" cy="0"/>
          </a:xfrm>
          <a:prstGeom prst="line">
            <a:avLst/>
          </a:prstGeom>
          <a:ln w="25400" cap="flat" cmpd="sng">
            <a:solidFill>
              <a:schemeClr val="tx1"/>
            </a:solidFill>
            <a:prstDash val="solid"/>
            <a:round/>
            <a:headEnd type="none" w="med" len="med"/>
            <a:tailEnd type="triangle" w="med" len="med"/>
          </a:ln>
        </p:spPr>
      </p:sp>
      <p:sp>
        <p:nvSpPr>
          <p:cNvPr id="68641" name="直接连接符 210998"/>
          <p:cNvSpPr/>
          <p:nvPr/>
        </p:nvSpPr>
        <p:spPr>
          <a:xfrm flipH="1">
            <a:off x="3627438" y="4060825"/>
            <a:ext cx="88900" cy="131763"/>
          </a:xfrm>
          <a:prstGeom prst="line">
            <a:avLst/>
          </a:prstGeom>
          <a:ln w="12700" cap="flat" cmpd="sng">
            <a:solidFill>
              <a:schemeClr val="tx1"/>
            </a:solidFill>
            <a:prstDash val="solid"/>
            <a:round/>
            <a:headEnd type="none" w="med" len="med"/>
            <a:tailEnd type="none" w="med" len="med"/>
          </a:ln>
        </p:spPr>
      </p:sp>
      <p:sp>
        <p:nvSpPr>
          <p:cNvPr id="68642" name="矩形 210999"/>
          <p:cNvSpPr/>
          <p:nvPr/>
        </p:nvSpPr>
        <p:spPr>
          <a:xfrm>
            <a:off x="3314700" y="412432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8643" name="矩形 211000"/>
          <p:cNvSpPr/>
          <p:nvPr/>
        </p:nvSpPr>
        <p:spPr>
          <a:xfrm>
            <a:off x="3086100" y="3833813"/>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68644" name="直接连接符 211001"/>
          <p:cNvSpPr/>
          <p:nvPr/>
        </p:nvSpPr>
        <p:spPr>
          <a:xfrm flipH="1">
            <a:off x="1030288" y="4125913"/>
            <a:ext cx="482600" cy="0"/>
          </a:xfrm>
          <a:prstGeom prst="line">
            <a:avLst/>
          </a:prstGeom>
          <a:ln w="25400" cap="flat" cmpd="sng">
            <a:solidFill>
              <a:schemeClr val="tx1"/>
            </a:solidFill>
            <a:prstDash val="solid"/>
            <a:round/>
            <a:headEnd type="none" w="med" len="med"/>
            <a:tailEnd type="none" w="med" len="med"/>
          </a:ln>
        </p:spPr>
      </p:sp>
      <p:sp>
        <p:nvSpPr>
          <p:cNvPr id="68645" name="直接连接符 211002"/>
          <p:cNvSpPr/>
          <p:nvPr/>
        </p:nvSpPr>
        <p:spPr>
          <a:xfrm>
            <a:off x="2109788" y="2474913"/>
            <a:ext cx="0" cy="625475"/>
          </a:xfrm>
          <a:prstGeom prst="line">
            <a:avLst/>
          </a:prstGeom>
          <a:ln w="25400" cap="flat" cmpd="sng">
            <a:solidFill>
              <a:schemeClr val="tx1"/>
            </a:solidFill>
            <a:prstDash val="solid"/>
            <a:round/>
            <a:headEnd type="none" w="med" len="med"/>
            <a:tailEnd type="none" w="med" len="med"/>
          </a:ln>
        </p:spPr>
      </p:sp>
      <p:sp>
        <p:nvSpPr>
          <p:cNvPr id="68646" name="直接连接符 211003"/>
          <p:cNvSpPr/>
          <p:nvPr/>
        </p:nvSpPr>
        <p:spPr>
          <a:xfrm flipV="1">
            <a:off x="2039938" y="2817813"/>
            <a:ext cx="139700" cy="157162"/>
          </a:xfrm>
          <a:prstGeom prst="line">
            <a:avLst/>
          </a:prstGeom>
          <a:ln w="12700" cap="flat" cmpd="sng">
            <a:solidFill>
              <a:schemeClr val="tx1"/>
            </a:solidFill>
            <a:prstDash val="solid"/>
            <a:round/>
            <a:headEnd type="none" w="med" len="med"/>
            <a:tailEnd type="none" w="med" len="med"/>
          </a:ln>
        </p:spPr>
      </p:sp>
      <p:sp>
        <p:nvSpPr>
          <p:cNvPr id="68647" name="矩形 211004"/>
          <p:cNvSpPr/>
          <p:nvPr/>
        </p:nvSpPr>
        <p:spPr>
          <a:xfrm>
            <a:off x="1866900" y="2676525"/>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68648" name="直接连接符 211005"/>
          <p:cNvSpPr/>
          <p:nvPr/>
        </p:nvSpPr>
        <p:spPr>
          <a:xfrm>
            <a:off x="2490788" y="2692400"/>
            <a:ext cx="0" cy="407988"/>
          </a:xfrm>
          <a:prstGeom prst="line">
            <a:avLst/>
          </a:prstGeom>
          <a:ln w="25400" cap="flat" cmpd="sng">
            <a:solidFill>
              <a:schemeClr val="tx1"/>
            </a:solidFill>
            <a:prstDash val="solid"/>
            <a:round/>
            <a:headEnd type="none" w="med" len="med"/>
            <a:tailEnd type="none" w="med" len="med"/>
          </a:ln>
        </p:spPr>
      </p:sp>
      <p:sp>
        <p:nvSpPr>
          <p:cNvPr id="68649" name="直接连接符 211006"/>
          <p:cNvSpPr/>
          <p:nvPr/>
        </p:nvSpPr>
        <p:spPr>
          <a:xfrm flipV="1">
            <a:off x="2420938" y="2817813"/>
            <a:ext cx="139700" cy="157162"/>
          </a:xfrm>
          <a:prstGeom prst="line">
            <a:avLst/>
          </a:prstGeom>
          <a:ln w="12700" cap="flat" cmpd="sng">
            <a:solidFill>
              <a:schemeClr val="tx1"/>
            </a:solidFill>
            <a:prstDash val="solid"/>
            <a:round/>
            <a:headEnd type="none" w="med" len="med"/>
            <a:tailEnd type="none" w="med" len="med"/>
          </a:ln>
        </p:spPr>
      </p:sp>
      <p:sp>
        <p:nvSpPr>
          <p:cNvPr id="68650" name="矩形 211007"/>
          <p:cNvSpPr/>
          <p:nvPr/>
        </p:nvSpPr>
        <p:spPr>
          <a:xfrm>
            <a:off x="2247900" y="2676525"/>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68651" name="直接连接符 211008"/>
          <p:cNvSpPr/>
          <p:nvPr/>
        </p:nvSpPr>
        <p:spPr>
          <a:xfrm>
            <a:off x="2947988" y="2692400"/>
            <a:ext cx="0" cy="407988"/>
          </a:xfrm>
          <a:prstGeom prst="line">
            <a:avLst/>
          </a:prstGeom>
          <a:ln w="25400" cap="flat" cmpd="sng">
            <a:solidFill>
              <a:schemeClr val="tx1"/>
            </a:solidFill>
            <a:prstDash val="solid"/>
            <a:round/>
            <a:headEnd type="none" w="med" len="med"/>
            <a:tailEnd type="none" w="med" len="med"/>
          </a:ln>
        </p:spPr>
      </p:sp>
      <p:sp>
        <p:nvSpPr>
          <p:cNvPr id="68652" name="直接连接符 211009"/>
          <p:cNvSpPr/>
          <p:nvPr/>
        </p:nvSpPr>
        <p:spPr>
          <a:xfrm flipV="1">
            <a:off x="2878138" y="2817813"/>
            <a:ext cx="139700" cy="157162"/>
          </a:xfrm>
          <a:prstGeom prst="line">
            <a:avLst/>
          </a:prstGeom>
          <a:ln w="12700" cap="flat" cmpd="sng">
            <a:solidFill>
              <a:schemeClr val="tx1"/>
            </a:solidFill>
            <a:prstDash val="solid"/>
            <a:round/>
            <a:headEnd type="none" w="med" len="med"/>
            <a:tailEnd type="none" w="med" len="med"/>
          </a:ln>
        </p:spPr>
      </p:sp>
      <p:sp>
        <p:nvSpPr>
          <p:cNvPr id="68653" name="矩形 211010"/>
          <p:cNvSpPr/>
          <p:nvPr/>
        </p:nvSpPr>
        <p:spPr>
          <a:xfrm>
            <a:off x="2705100" y="2676525"/>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5</a:t>
            </a:r>
            <a:endParaRPr lang="zh-CN" altLang="en-US" b="0" dirty="0">
              <a:latin typeface="Times New Roman" panose="02020603050405020304" pitchFamily="18" charset="0"/>
              <a:ea typeface="宋体" panose="02010600030101010101" pitchFamily="2" charset="-122"/>
            </a:endParaRPr>
          </a:p>
        </p:txBody>
      </p:sp>
      <p:sp>
        <p:nvSpPr>
          <p:cNvPr id="68654" name="矩形 211011"/>
          <p:cNvSpPr/>
          <p:nvPr/>
        </p:nvSpPr>
        <p:spPr>
          <a:xfrm>
            <a:off x="1866900" y="3111500"/>
            <a:ext cx="5238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68655" name="矩形 211012"/>
          <p:cNvSpPr/>
          <p:nvPr/>
        </p:nvSpPr>
        <p:spPr>
          <a:xfrm>
            <a:off x="2324100" y="3111500"/>
            <a:ext cx="4730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68656" name="矩形 211013"/>
          <p:cNvSpPr/>
          <p:nvPr/>
        </p:nvSpPr>
        <p:spPr>
          <a:xfrm>
            <a:off x="2705100" y="3111500"/>
            <a:ext cx="4857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68657" name="矩形 211014"/>
          <p:cNvSpPr/>
          <p:nvPr/>
        </p:nvSpPr>
        <p:spPr>
          <a:xfrm>
            <a:off x="1866900" y="3400425"/>
            <a:ext cx="1222375" cy="63817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68658" name="直接连接符 211015"/>
          <p:cNvSpPr/>
          <p:nvPr/>
        </p:nvSpPr>
        <p:spPr>
          <a:xfrm flipH="1">
            <a:off x="649288" y="5718175"/>
            <a:ext cx="7797800" cy="0"/>
          </a:xfrm>
          <a:prstGeom prst="line">
            <a:avLst/>
          </a:prstGeom>
          <a:ln w="25400" cap="flat" cmpd="sng">
            <a:solidFill>
              <a:schemeClr val="tx1"/>
            </a:solidFill>
            <a:prstDash val="solid"/>
            <a:round/>
            <a:headEnd type="none" w="med" len="med"/>
            <a:tailEnd type="none" w="med" len="med"/>
          </a:ln>
        </p:spPr>
      </p:sp>
      <p:sp>
        <p:nvSpPr>
          <p:cNvPr id="68659" name="直接连接符 211016"/>
          <p:cNvSpPr/>
          <p:nvPr/>
        </p:nvSpPr>
        <p:spPr>
          <a:xfrm flipV="1">
            <a:off x="661988" y="3606800"/>
            <a:ext cx="0" cy="2124075"/>
          </a:xfrm>
          <a:prstGeom prst="line">
            <a:avLst/>
          </a:prstGeom>
          <a:ln w="25400" cap="flat" cmpd="sng">
            <a:solidFill>
              <a:schemeClr val="tx1"/>
            </a:solidFill>
            <a:prstDash val="solid"/>
            <a:round/>
            <a:headEnd type="none" w="med" len="med"/>
            <a:tailEnd type="none" w="med" len="med"/>
          </a:ln>
        </p:spPr>
      </p:sp>
      <p:sp>
        <p:nvSpPr>
          <p:cNvPr id="68660" name="矩形 211017"/>
          <p:cNvSpPr/>
          <p:nvPr/>
        </p:nvSpPr>
        <p:spPr>
          <a:xfrm>
            <a:off x="2476500" y="2460625"/>
            <a:ext cx="4730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68661" name="矩形 211018"/>
          <p:cNvSpPr/>
          <p:nvPr/>
        </p:nvSpPr>
        <p:spPr>
          <a:xfrm>
            <a:off x="2247900" y="1809750"/>
            <a:ext cx="4222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68662" name="组合 211019"/>
          <p:cNvGrpSpPr/>
          <p:nvPr/>
        </p:nvGrpSpPr>
        <p:grpSpPr>
          <a:xfrm>
            <a:off x="4062413" y="3849688"/>
            <a:ext cx="304800" cy="1084262"/>
            <a:chOff x="2640" y="2821"/>
            <a:chExt cx="192" cy="683"/>
          </a:xfrm>
        </p:grpSpPr>
        <p:sp>
          <p:nvSpPr>
            <p:cNvPr id="68663" name="直接连接符 211020"/>
            <p:cNvSpPr/>
            <p:nvPr/>
          </p:nvSpPr>
          <p:spPr>
            <a:xfrm>
              <a:off x="2640" y="2821"/>
              <a:ext cx="0" cy="667"/>
            </a:xfrm>
            <a:prstGeom prst="line">
              <a:avLst/>
            </a:prstGeom>
            <a:ln w="25400" cap="flat" cmpd="sng">
              <a:solidFill>
                <a:schemeClr val="tx1"/>
              </a:solidFill>
              <a:prstDash val="solid"/>
              <a:round/>
              <a:headEnd type="none" w="med" len="med"/>
              <a:tailEnd type="none" w="med" len="med"/>
            </a:ln>
          </p:spPr>
        </p:sp>
        <p:sp>
          <p:nvSpPr>
            <p:cNvPr id="68664" name="直接连接符 211021"/>
            <p:cNvSpPr/>
            <p:nvPr/>
          </p:nvSpPr>
          <p:spPr>
            <a:xfrm>
              <a:off x="2648" y="2821"/>
              <a:ext cx="176" cy="75"/>
            </a:xfrm>
            <a:prstGeom prst="line">
              <a:avLst/>
            </a:prstGeom>
            <a:ln w="25400" cap="flat" cmpd="sng">
              <a:solidFill>
                <a:schemeClr val="tx1"/>
              </a:solidFill>
              <a:prstDash val="solid"/>
              <a:round/>
              <a:headEnd type="none" w="med" len="med"/>
              <a:tailEnd type="none" w="med" len="med"/>
            </a:ln>
          </p:spPr>
        </p:sp>
        <p:sp>
          <p:nvSpPr>
            <p:cNvPr id="68665" name="直接连接符 211022"/>
            <p:cNvSpPr/>
            <p:nvPr/>
          </p:nvSpPr>
          <p:spPr>
            <a:xfrm flipV="1">
              <a:off x="2648" y="3397"/>
              <a:ext cx="176" cy="107"/>
            </a:xfrm>
            <a:prstGeom prst="line">
              <a:avLst/>
            </a:prstGeom>
            <a:ln w="25400" cap="flat" cmpd="sng">
              <a:solidFill>
                <a:schemeClr val="tx1"/>
              </a:solidFill>
              <a:prstDash val="solid"/>
              <a:round/>
              <a:headEnd type="none" w="med" len="med"/>
              <a:tailEnd type="none" w="med" len="med"/>
            </a:ln>
          </p:spPr>
        </p:sp>
        <p:sp>
          <p:nvSpPr>
            <p:cNvPr id="68666" name="直接连接符 211023"/>
            <p:cNvSpPr/>
            <p:nvPr/>
          </p:nvSpPr>
          <p:spPr>
            <a:xfrm>
              <a:off x="2832" y="2912"/>
              <a:ext cx="0" cy="485"/>
            </a:xfrm>
            <a:prstGeom prst="line">
              <a:avLst/>
            </a:prstGeom>
            <a:ln w="25400" cap="flat" cmpd="sng">
              <a:solidFill>
                <a:schemeClr val="tx1"/>
              </a:solidFill>
              <a:prstDash val="solid"/>
              <a:round/>
              <a:headEnd type="none" w="med" len="med"/>
              <a:tailEnd type="none" w="med" len="med"/>
            </a:ln>
          </p:spPr>
        </p:sp>
      </p:grpSp>
      <p:grpSp>
        <p:nvGrpSpPr>
          <p:cNvPr id="68667" name="组合 211024"/>
          <p:cNvGrpSpPr/>
          <p:nvPr/>
        </p:nvGrpSpPr>
        <p:grpSpPr>
          <a:xfrm>
            <a:off x="1373188" y="2209800"/>
            <a:ext cx="1168400" cy="288925"/>
            <a:chOff x="928" y="1788"/>
            <a:chExt cx="736" cy="182"/>
          </a:xfrm>
        </p:grpSpPr>
        <p:sp>
          <p:nvSpPr>
            <p:cNvPr id="68668" name="直接连接符 211025"/>
            <p:cNvSpPr/>
            <p:nvPr/>
          </p:nvSpPr>
          <p:spPr>
            <a:xfrm flipH="1">
              <a:off x="928" y="1788"/>
              <a:ext cx="736" cy="0"/>
            </a:xfrm>
            <a:prstGeom prst="line">
              <a:avLst/>
            </a:prstGeom>
            <a:ln w="25400" cap="flat" cmpd="sng">
              <a:solidFill>
                <a:schemeClr val="tx1"/>
              </a:solidFill>
              <a:prstDash val="solid"/>
              <a:round/>
              <a:headEnd type="none" w="med" len="med"/>
              <a:tailEnd type="none" w="med" len="med"/>
            </a:ln>
          </p:spPr>
        </p:sp>
        <p:sp>
          <p:nvSpPr>
            <p:cNvPr id="68669" name="直接连接符 211026"/>
            <p:cNvSpPr/>
            <p:nvPr/>
          </p:nvSpPr>
          <p:spPr>
            <a:xfrm flipH="1">
              <a:off x="1552" y="1796"/>
              <a:ext cx="112" cy="166"/>
            </a:xfrm>
            <a:prstGeom prst="line">
              <a:avLst/>
            </a:prstGeom>
            <a:ln w="25400" cap="flat" cmpd="sng">
              <a:solidFill>
                <a:schemeClr val="tx1"/>
              </a:solidFill>
              <a:prstDash val="solid"/>
              <a:round/>
              <a:headEnd type="none" w="med" len="med"/>
              <a:tailEnd type="none" w="med" len="med"/>
            </a:ln>
          </p:spPr>
        </p:sp>
        <p:sp>
          <p:nvSpPr>
            <p:cNvPr id="68670" name="直接连接符 211027"/>
            <p:cNvSpPr/>
            <p:nvPr/>
          </p:nvSpPr>
          <p:spPr>
            <a:xfrm>
              <a:off x="944" y="1796"/>
              <a:ext cx="80" cy="166"/>
            </a:xfrm>
            <a:prstGeom prst="line">
              <a:avLst/>
            </a:prstGeom>
            <a:ln w="25400" cap="flat" cmpd="sng">
              <a:solidFill>
                <a:schemeClr val="tx1"/>
              </a:solidFill>
              <a:prstDash val="solid"/>
              <a:round/>
              <a:headEnd type="none" w="med" len="med"/>
              <a:tailEnd type="none" w="med" len="med"/>
            </a:ln>
          </p:spPr>
        </p:sp>
        <p:sp>
          <p:nvSpPr>
            <p:cNvPr id="68671" name="直接连接符 211028"/>
            <p:cNvSpPr/>
            <p:nvPr/>
          </p:nvSpPr>
          <p:spPr>
            <a:xfrm flipH="1">
              <a:off x="1024" y="1970"/>
              <a:ext cx="544" cy="0"/>
            </a:xfrm>
            <a:prstGeom prst="line">
              <a:avLst/>
            </a:prstGeom>
            <a:ln w="25400" cap="flat" cmpd="sng">
              <a:solidFill>
                <a:schemeClr val="tx1"/>
              </a:solidFill>
              <a:prstDash val="solid"/>
              <a:round/>
              <a:headEnd type="none" w="med" len="med"/>
              <a:tailEnd type="none" w="med" len="med"/>
            </a:ln>
          </p:spPr>
        </p:sp>
      </p:grpSp>
      <p:sp>
        <p:nvSpPr>
          <p:cNvPr id="68672" name="矩形 211029"/>
          <p:cNvSpPr/>
          <p:nvPr/>
        </p:nvSpPr>
        <p:spPr>
          <a:xfrm>
            <a:off x="2740025" y="2316163"/>
            <a:ext cx="13239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Don’t</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Care</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a:t>
            </a:r>
            <a:r>
              <a:rPr lang="en-US" altLang="zh-CN" sz="1800" dirty="0" err="1">
                <a:latin typeface="Arial" panose="020B0604020202020204" pitchFamily="34" charset="0"/>
                <a:ea typeface="宋体" panose="02010600030101010101" pitchFamily="2" charset="-122"/>
              </a:rPr>
              <a:t>Rt</a:t>
            </a:r>
            <a:r>
              <a:rPr lang="en-US" altLang="zh-CN" sz="1800">
                <a:latin typeface="Arial" panose="020B0604020202020204" pitchFamily="34" charset="0"/>
                <a:ea typeface="宋体" panose="02010600030101010101" pitchFamily="2" charset="-122"/>
              </a:rPr>
              <a:t>)</a:t>
            </a:r>
            <a:endParaRPr lang="en-US" altLang="zh-CN" sz="1800">
              <a:latin typeface="Arial" panose="020B0604020202020204" pitchFamily="34" charset="0"/>
              <a:ea typeface="宋体" panose="02010600030101010101" pitchFamily="2" charset="-122"/>
            </a:endParaRPr>
          </a:p>
        </p:txBody>
      </p:sp>
      <p:sp>
        <p:nvSpPr>
          <p:cNvPr id="68673" name="直接连接符 211030"/>
          <p:cNvSpPr/>
          <p:nvPr/>
        </p:nvSpPr>
        <p:spPr>
          <a:xfrm>
            <a:off x="2262188" y="1968500"/>
            <a:ext cx="0" cy="236538"/>
          </a:xfrm>
          <a:prstGeom prst="line">
            <a:avLst/>
          </a:prstGeom>
          <a:ln w="25400" cap="flat" cmpd="sng">
            <a:solidFill>
              <a:schemeClr val="tx1"/>
            </a:solidFill>
            <a:prstDash val="solid"/>
            <a:round/>
            <a:headEnd type="none" w="med" len="med"/>
            <a:tailEnd type="none" w="med" len="med"/>
          </a:ln>
        </p:spPr>
      </p:sp>
      <p:sp>
        <p:nvSpPr>
          <p:cNvPr id="68674" name="直接连接符 211031"/>
          <p:cNvSpPr/>
          <p:nvPr/>
        </p:nvSpPr>
        <p:spPr>
          <a:xfrm flipH="1">
            <a:off x="1638300" y="1954213"/>
            <a:ext cx="0" cy="265112"/>
          </a:xfrm>
          <a:prstGeom prst="line">
            <a:avLst/>
          </a:prstGeom>
          <a:ln w="25400" cap="flat" cmpd="sng">
            <a:solidFill>
              <a:schemeClr val="tx1"/>
            </a:solidFill>
            <a:prstDash val="solid"/>
            <a:round/>
            <a:headEnd type="none" w="med" len="med"/>
            <a:tailEnd type="none" w="med" len="med"/>
          </a:ln>
        </p:spPr>
      </p:sp>
      <p:sp>
        <p:nvSpPr>
          <p:cNvPr id="68675" name="矩形 211032"/>
          <p:cNvSpPr/>
          <p:nvPr/>
        </p:nvSpPr>
        <p:spPr>
          <a:xfrm>
            <a:off x="1638300" y="1809750"/>
            <a:ext cx="4857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68676" name="直接连接符 211033"/>
          <p:cNvSpPr/>
          <p:nvPr/>
        </p:nvSpPr>
        <p:spPr>
          <a:xfrm flipH="1">
            <a:off x="573088" y="2390775"/>
            <a:ext cx="939800" cy="0"/>
          </a:xfrm>
          <a:prstGeom prst="line">
            <a:avLst/>
          </a:prstGeom>
          <a:ln w="25400" cap="flat" cmpd="sng">
            <a:solidFill>
              <a:schemeClr val="tx1"/>
            </a:solidFill>
            <a:prstDash val="solid"/>
            <a:round/>
            <a:headEnd type="triangle" w="med" len="med"/>
            <a:tailEnd type="none" w="med" len="med"/>
          </a:ln>
        </p:spPr>
      </p:sp>
      <p:sp>
        <p:nvSpPr>
          <p:cNvPr id="68677" name="矩形 211034"/>
          <p:cNvSpPr/>
          <p:nvPr/>
        </p:nvSpPr>
        <p:spPr>
          <a:xfrm>
            <a:off x="495300" y="2098675"/>
            <a:ext cx="9810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8678" name="矩形 211035"/>
          <p:cNvSpPr/>
          <p:nvPr/>
        </p:nvSpPr>
        <p:spPr>
          <a:xfrm>
            <a:off x="3036888" y="4500563"/>
            <a:ext cx="355600" cy="9144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8679" name="矩形 211036"/>
          <p:cNvSpPr/>
          <p:nvPr/>
        </p:nvSpPr>
        <p:spPr>
          <a:xfrm rot="5400000">
            <a:off x="3881438" y="4256088"/>
            <a:ext cx="638175" cy="365125"/>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68680" name="矩形 211037"/>
          <p:cNvSpPr/>
          <p:nvPr/>
        </p:nvSpPr>
        <p:spPr>
          <a:xfrm>
            <a:off x="1676400" y="2206625"/>
            <a:ext cx="6381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68681" name="直接连接符 211038"/>
          <p:cNvSpPr/>
          <p:nvPr/>
        </p:nvSpPr>
        <p:spPr>
          <a:xfrm>
            <a:off x="3417888" y="4776788"/>
            <a:ext cx="660400" cy="0"/>
          </a:xfrm>
          <a:prstGeom prst="line">
            <a:avLst/>
          </a:prstGeom>
          <a:ln w="25400" cap="flat" cmpd="sng">
            <a:solidFill>
              <a:schemeClr val="tx1"/>
            </a:solidFill>
            <a:prstDash val="solid"/>
            <a:round/>
            <a:headEnd type="none" w="med" len="med"/>
            <a:tailEnd type="triangle" w="med" len="med"/>
          </a:ln>
        </p:spPr>
      </p:sp>
      <p:sp>
        <p:nvSpPr>
          <p:cNvPr id="68682" name="矩形 211039"/>
          <p:cNvSpPr/>
          <p:nvPr/>
        </p:nvSpPr>
        <p:spPr>
          <a:xfrm>
            <a:off x="3409950" y="481171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8683" name="直接连接符 211040"/>
          <p:cNvSpPr/>
          <p:nvPr/>
        </p:nvSpPr>
        <p:spPr>
          <a:xfrm flipH="1">
            <a:off x="3703638" y="4711700"/>
            <a:ext cx="88900" cy="131763"/>
          </a:xfrm>
          <a:prstGeom prst="line">
            <a:avLst/>
          </a:prstGeom>
          <a:ln w="12700" cap="flat" cmpd="sng">
            <a:solidFill>
              <a:schemeClr val="tx1"/>
            </a:solidFill>
            <a:prstDash val="solid"/>
            <a:round/>
            <a:headEnd type="none" w="med" len="med"/>
            <a:tailEnd type="none" w="med" len="med"/>
          </a:ln>
        </p:spPr>
      </p:sp>
      <p:sp>
        <p:nvSpPr>
          <p:cNvPr id="68684" name="直接连接符 211041"/>
          <p:cNvSpPr/>
          <p:nvPr/>
        </p:nvSpPr>
        <p:spPr>
          <a:xfrm>
            <a:off x="2046288" y="4994275"/>
            <a:ext cx="965200" cy="0"/>
          </a:xfrm>
          <a:prstGeom prst="line">
            <a:avLst/>
          </a:prstGeom>
          <a:ln w="25400" cap="flat" cmpd="sng">
            <a:solidFill>
              <a:schemeClr val="tx1"/>
            </a:solidFill>
            <a:prstDash val="solid"/>
            <a:round/>
            <a:headEnd type="none" w="med" len="med"/>
            <a:tailEnd type="triangle" w="med" len="med"/>
          </a:ln>
        </p:spPr>
      </p:sp>
      <p:sp>
        <p:nvSpPr>
          <p:cNvPr id="68685" name="直接连接符 211042"/>
          <p:cNvSpPr/>
          <p:nvPr/>
        </p:nvSpPr>
        <p:spPr>
          <a:xfrm flipH="1">
            <a:off x="2484438" y="4927600"/>
            <a:ext cx="88900" cy="133350"/>
          </a:xfrm>
          <a:prstGeom prst="line">
            <a:avLst/>
          </a:prstGeom>
          <a:ln w="12700" cap="flat" cmpd="sng">
            <a:solidFill>
              <a:schemeClr val="tx1"/>
            </a:solidFill>
            <a:prstDash val="solid"/>
            <a:round/>
            <a:headEnd type="none" w="med" len="med"/>
            <a:tailEnd type="none" w="med" len="med"/>
          </a:ln>
        </p:spPr>
      </p:sp>
      <p:sp>
        <p:nvSpPr>
          <p:cNvPr id="68686" name="矩形 211043"/>
          <p:cNvSpPr/>
          <p:nvPr/>
        </p:nvSpPr>
        <p:spPr>
          <a:xfrm>
            <a:off x="2171700" y="49926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8687" name="矩形 211044"/>
          <p:cNvSpPr/>
          <p:nvPr/>
        </p:nvSpPr>
        <p:spPr>
          <a:xfrm>
            <a:off x="1333500" y="4846638"/>
            <a:ext cx="9048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68688" name="直接连接符 211045"/>
          <p:cNvSpPr/>
          <p:nvPr/>
        </p:nvSpPr>
        <p:spPr>
          <a:xfrm>
            <a:off x="4243388" y="4856163"/>
            <a:ext cx="0" cy="420687"/>
          </a:xfrm>
          <a:prstGeom prst="line">
            <a:avLst/>
          </a:prstGeom>
          <a:ln w="28575" cap="flat" cmpd="sng">
            <a:solidFill>
              <a:schemeClr val="tx1"/>
            </a:solidFill>
            <a:prstDash val="solid"/>
            <a:round/>
            <a:headEnd type="triangle" w="med" len="med"/>
            <a:tailEnd type="none" w="med" len="med"/>
          </a:ln>
        </p:spPr>
      </p:sp>
      <p:sp>
        <p:nvSpPr>
          <p:cNvPr id="68689" name="矩形 211046"/>
          <p:cNvSpPr/>
          <p:nvPr/>
        </p:nvSpPr>
        <p:spPr>
          <a:xfrm>
            <a:off x="3924300" y="5281613"/>
            <a:ext cx="10191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8690" name="直接连接符 211047"/>
          <p:cNvSpPr/>
          <p:nvPr/>
        </p:nvSpPr>
        <p:spPr>
          <a:xfrm>
            <a:off x="4408488" y="4125913"/>
            <a:ext cx="508000" cy="0"/>
          </a:xfrm>
          <a:prstGeom prst="line">
            <a:avLst/>
          </a:prstGeom>
          <a:ln w="25400" cap="flat" cmpd="sng">
            <a:solidFill>
              <a:schemeClr val="tx1"/>
            </a:solidFill>
            <a:prstDash val="solid"/>
            <a:round/>
            <a:headEnd type="none" w="med" len="med"/>
            <a:tailEnd type="triangle" w="med" len="med"/>
          </a:ln>
        </p:spPr>
      </p:sp>
      <p:sp>
        <p:nvSpPr>
          <p:cNvPr id="68691" name="直接连接符 211048"/>
          <p:cNvSpPr/>
          <p:nvPr/>
        </p:nvSpPr>
        <p:spPr>
          <a:xfrm>
            <a:off x="8434388" y="3994150"/>
            <a:ext cx="0" cy="1711325"/>
          </a:xfrm>
          <a:prstGeom prst="line">
            <a:avLst/>
          </a:prstGeom>
          <a:ln w="25400" cap="flat" cmpd="sng">
            <a:solidFill>
              <a:schemeClr val="tx1"/>
            </a:solidFill>
            <a:prstDash val="solid"/>
            <a:round/>
            <a:headEnd type="none" w="med" len="med"/>
            <a:tailEnd type="none" w="med" len="med"/>
          </a:ln>
        </p:spPr>
      </p:sp>
      <p:sp>
        <p:nvSpPr>
          <p:cNvPr id="68692" name="矩形 211049"/>
          <p:cNvSpPr/>
          <p:nvPr/>
        </p:nvSpPr>
        <p:spPr>
          <a:xfrm rot="5400000">
            <a:off x="4919663" y="3548063"/>
            <a:ext cx="650875" cy="365125"/>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grpSp>
        <p:nvGrpSpPr>
          <p:cNvPr id="211051" name="组合 211050"/>
          <p:cNvGrpSpPr/>
          <p:nvPr/>
        </p:nvGrpSpPr>
        <p:grpSpPr>
          <a:xfrm>
            <a:off x="2924175" y="2749550"/>
            <a:ext cx="5778500" cy="3417888"/>
            <a:chOff x="1905" y="2128"/>
            <a:chExt cx="3640" cy="2153"/>
          </a:xfrm>
        </p:grpSpPr>
        <p:sp>
          <p:nvSpPr>
            <p:cNvPr id="68694" name="矩形 211051"/>
            <p:cNvSpPr/>
            <p:nvPr/>
          </p:nvSpPr>
          <p:spPr>
            <a:xfrm rot="5400000">
              <a:off x="1813" y="3341"/>
              <a:ext cx="498"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    Ext</a:t>
              </a:r>
              <a:endParaRPr lang="en-US" altLang="zh-CN" sz="1800">
                <a:latin typeface="Arial" panose="020B0604020202020204" pitchFamily="34" charset="0"/>
                <a:ea typeface="宋体" panose="02010600030101010101" pitchFamily="2" charset="-122"/>
              </a:endParaRPr>
            </a:p>
          </p:txBody>
        </p:sp>
        <p:sp>
          <p:nvSpPr>
            <p:cNvPr id="68695" name="直接连接符 211052"/>
            <p:cNvSpPr/>
            <p:nvPr/>
          </p:nvSpPr>
          <p:spPr>
            <a:xfrm>
              <a:off x="2088" y="3831"/>
              <a:ext cx="0" cy="254"/>
            </a:xfrm>
            <a:prstGeom prst="line">
              <a:avLst/>
            </a:prstGeom>
            <a:ln w="28575" cap="flat" cmpd="sng">
              <a:solidFill>
                <a:schemeClr val="accent2"/>
              </a:solidFill>
              <a:prstDash val="solid"/>
              <a:round/>
              <a:headEnd type="triangle" w="med" len="med"/>
              <a:tailEnd type="none" w="med" len="med"/>
            </a:ln>
          </p:spPr>
        </p:sp>
        <p:sp>
          <p:nvSpPr>
            <p:cNvPr id="68696" name="矩形 211053"/>
            <p:cNvSpPr/>
            <p:nvPr/>
          </p:nvSpPr>
          <p:spPr>
            <a:xfrm>
              <a:off x="1905" y="4052"/>
              <a:ext cx="538"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ExtOp</a:t>
              </a:r>
              <a:endParaRPr lang="en-US" altLang="zh-CN" sz="1800">
                <a:solidFill>
                  <a:schemeClr val="accent1"/>
                </a:solidFill>
                <a:latin typeface="Arial" panose="020B0604020202020204" pitchFamily="34" charset="0"/>
                <a:ea typeface="宋体" panose="02010600030101010101" pitchFamily="2" charset="-122"/>
              </a:endParaRPr>
            </a:p>
          </p:txBody>
        </p:sp>
        <p:grpSp>
          <p:nvGrpSpPr>
            <p:cNvPr id="68697" name="组合 211054"/>
            <p:cNvGrpSpPr/>
            <p:nvPr/>
          </p:nvGrpSpPr>
          <p:grpSpPr>
            <a:xfrm>
              <a:off x="3111" y="2128"/>
              <a:ext cx="2434" cy="1782"/>
              <a:chOff x="3111" y="2128"/>
              <a:chExt cx="2434" cy="1782"/>
            </a:xfrm>
          </p:grpSpPr>
          <p:grpSp>
            <p:nvGrpSpPr>
              <p:cNvPr id="68698" name="组合 211055"/>
              <p:cNvGrpSpPr/>
              <p:nvPr/>
            </p:nvGrpSpPr>
            <p:grpSpPr>
              <a:xfrm>
                <a:off x="4896" y="2547"/>
                <a:ext cx="192" cy="684"/>
                <a:chOff x="4896" y="2547"/>
                <a:chExt cx="192" cy="684"/>
              </a:xfrm>
            </p:grpSpPr>
            <p:sp>
              <p:nvSpPr>
                <p:cNvPr id="68699" name="直接连接符 211056"/>
                <p:cNvSpPr/>
                <p:nvPr/>
              </p:nvSpPr>
              <p:spPr>
                <a:xfrm>
                  <a:off x="4896" y="2547"/>
                  <a:ext cx="0" cy="668"/>
                </a:xfrm>
                <a:prstGeom prst="line">
                  <a:avLst/>
                </a:prstGeom>
                <a:ln w="25400" cap="flat" cmpd="sng">
                  <a:solidFill>
                    <a:srgbClr val="0000FF"/>
                  </a:solidFill>
                  <a:prstDash val="solid"/>
                  <a:round/>
                  <a:headEnd type="none" w="med" len="med"/>
                  <a:tailEnd type="none" w="med" len="med"/>
                </a:ln>
              </p:spPr>
            </p:sp>
            <p:sp>
              <p:nvSpPr>
                <p:cNvPr id="68700" name="直接连接符 211057"/>
                <p:cNvSpPr/>
                <p:nvPr/>
              </p:nvSpPr>
              <p:spPr>
                <a:xfrm>
                  <a:off x="4904" y="2547"/>
                  <a:ext cx="176" cy="76"/>
                </a:xfrm>
                <a:prstGeom prst="line">
                  <a:avLst/>
                </a:prstGeom>
                <a:ln w="25400" cap="flat" cmpd="sng">
                  <a:solidFill>
                    <a:srgbClr val="0000FF"/>
                  </a:solidFill>
                  <a:prstDash val="solid"/>
                  <a:round/>
                  <a:headEnd type="none" w="med" len="med"/>
                  <a:tailEnd type="none" w="med" len="med"/>
                </a:ln>
              </p:spPr>
            </p:sp>
            <p:sp>
              <p:nvSpPr>
                <p:cNvPr id="68701" name="直接连接符 211058"/>
                <p:cNvSpPr/>
                <p:nvPr/>
              </p:nvSpPr>
              <p:spPr>
                <a:xfrm flipV="1">
                  <a:off x="4904" y="3124"/>
                  <a:ext cx="176" cy="107"/>
                </a:xfrm>
                <a:prstGeom prst="line">
                  <a:avLst/>
                </a:prstGeom>
                <a:ln w="25400" cap="flat" cmpd="sng">
                  <a:solidFill>
                    <a:srgbClr val="0000FF"/>
                  </a:solidFill>
                  <a:prstDash val="solid"/>
                  <a:round/>
                  <a:headEnd type="none" w="med" len="med"/>
                  <a:tailEnd type="none" w="med" len="med"/>
                </a:ln>
              </p:spPr>
            </p:sp>
            <p:sp>
              <p:nvSpPr>
                <p:cNvPr id="68702" name="直接连接符 211059"/>
                <p:cNvSpPr/>
                <p:nvPr/>
              </p:nvSpPr>
              <p:spPr>
                <a:xfrm>
                  <a:off x="5088" y="2639"/>
                  <a:ext cx="0" cy="485"/>
                </a:xfrm>
                <a:prstGeom prst="line">
                  <a:avLst/>
                </a:prstGeom>
                <a:ln w="25400" cap="flat" cmpd="sng">
                  <a:solidFill>
                    <a:srgbClr val="0000FF"/>
                  </a:solidFill>
                  <a:prstDash val="solid"/>
                  <a:round/>
                  <a:headEnd type="none" w="med" len="med"/>
                  <a:tailEnd type="none" w="med" len="med"/>
                </a:ln>
              </p:spPr>
            </p:sp>
          </p:grpSp>
          <p:sp>
            <p:nvSpPr>
              <p:cNvPr id="68703" name="矩形 211060"/>
              <p:cNvSpPr/>
              <p:nvPr/>
            </p:nvSpPr>
            <p:spPr>
              <a:xfrm rot="5400000">
                <a:off x="4748" y="2790"/>
                <a:ext cx="402"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68704" name="直接连接符 211061"/>
              <p:cNvSpPr/>
              <p:nvPr/>
            </p:nvSpPr>
            <p:spPr>
              <a:xfrm flipV="1">
                <a:off x="4992" y="2304"/>
                <a:ext cx="0" cy="289"/>
              </a:xfrm>
              <a:prstGeom prst="line">
                <a:avLst/>
              </a:prstGeom>
              <a:ln w="25400" cap="flat" cmpd="sng">
                <a:solidFill>
                  <a:srgbClr val="0000FF"/>
                </a:solidFill>
                <a:prstDash val="solid"/>
                <a:round/>
                <a:headEnd type="triangle" w="med" len="med"/>
                <a:tailEnd type="none" w="med" len="med"/>
              </a:ln>
            </p:spPr>
          </p:sp>
          <p:sp>
            <p:nvSpPr>
              <p:cNvPr id="68705" name="矩形 211062"/>
              <p:cNvSpPr/>
              <p:nvPr/>
            </p:nvSpPr>
            <p:spPr>
              <a:xfrm>
                <a:off x="4695" y="2128"/>
                <a:ext cx="850"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MemtoReg</a:t>
                </a:r>
                <a:endParaRPr lang="en-US" altLang="zh-CN" sz="1800">
                  <a:solidFill>
                    <a:schemeClr val="accent1"/>
                  </a:solidFill>
                  <a:latin typeface="Arial" panose="020B0604020202020204" pitchFamily="34" charset="0"/>
                  <a:ea typeface="宋体" panose="02010600030101010101" pitchFamily="2" charset="-122"/>
                </a:endParaRPr>
              </a:p>
            </p:txBody>
          </p:sp>
          <p:sp>
            <p:nvSpPr>
              <p:cNvPr id="68706" name="直接连接符 211063"/>
              <p:cNvSpPr/>
              <p:nvPr/>
            </p:nvSpPr>
            <p:spPr>
              <a:xfrm>
                <a:off x="5096" y="2904"/>
                <a:ext cx="272" cy="0"/>
              </a:xfrm>
              <a:prstGeom prst="line">
                <a:avLst/>
              </a:prstGeom>
              <a:ln w="25400" cap="flat" cmpd="sng">
                <a:solidFill>
                  <a:schemeClr val="tx1"/>
                </a:solidFill>
                <a:prstDash val="solid"/>
                <a:round/>
                <a:headEnd type="none" w="med" len="med"/>
                <a:tailEnd type="none" w="med" len="med"/>
              </a:ln>
            </p:spPr>
          </p:sp>
          <p:sp>
            <p:nvSpPr>
              <p:cNvPr id="68707" name="矩形 211064"/>
              <p:cNvSpPr/>
              <p:nvPr/>
            </p:nvSpPr>
            <p:spPr>
              <a:xfrm>
                <a:off x="3794" y="3185"/>
                <a:ext cx="710" cy="725"/>
              </a:xfrm>
              <a:prstGeom prst="rect">
                <a:avLst/>
              </a:prstGeom>
              <a:noFill/>
              <a:ln w="25400" cap="flat" cmpd="sng">
                <a:solidFill>
                  <a:srgbClr val="0000FF"/>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8708" name="直接连接符 211065"/>
              <p:cNvSpPr/>
              <p:nvPr/>
            </p:nvSpPr>
            <p:spPr>
              <a:xfrm flipH="1">
                <a:off x="3400" y="3815"/>
                <a:ext cx="304" cy="0"/>
              </a:xfrm>
              <a:prstGeom prst="line">
                <a:avLst/>
              </a:prstGeom>
              <a:ln w="25400" cap="flat" cmpd="sng">
                <a:solidFill>
                  <a:srgbClr val="0000FF"/>
                </a:solidFill>
                <a:prstDash val="solid"/>
                <a:round/>
                <a:headEnd type="none" w="med" len="med"/>
                <a:tailEnd type="none" w="med" len="med"/>
              </a:ln>
            </p:spPr>
          </p:sp>
          <p:sp>
            <p:nvSpPr>
              <p:cNvPr id="68709" name="矩形 211066"/>
              <p:cNvSpPr/>
              <p:nvPr/>
            </p:nvSpPr>
            <p:spPr>
              <a:xfrm>
                <a:off x="3357" y="3637"/>
                <a:ext cx="338"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68710" name="矩形 211067"/>
              <p:cNvSpPr/>
              <p:nvPr/>
            </p:nvSpPr>
            <p:spPr>
              <a:xfrm>
                <a:off x="3111" y="3313"/>
                <a:ext cx="586"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Data</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In</a:t>
                </a:r>
                <a:endParaRPr lang="en-US" altLang="zh-CN" sz="1800">
                  <a:latin typeface="Arial" panose="020B0604020202020204" pitchFamily="34" charset="0"/>
                  <a:ea typeface="宋体" panose="02010600030101010101" pitchFamily="2" charset="-122"/>
                </a:endParaRPr>
              </a:p>
            </p:txBody>
          </p:sp>
          <p:sp>
            <p:nvSpPr>
              <p:cNvPr id="68711" name="直接连接符 211068"/>
              <p:cNvSpPr/>
              <p:nvPr/>
            </p:nvSpPr>
            <p:spPr>
              <a:xfrm>
                <a:off x="3818" y="3766"/>
                <a:ext cx="158" cy="41"/>
              </a:xfrm>
              <a:prstGeom prst="line">
                <a:avLst/>
              </a:prstGeom>
              <a:ln w="25400" cap="flat" cmpd="sng">
                <a:solidFill>
                  <a:srgbClr val="0000FF"/>
                </a:solidFill>
                <a:prstDash val="solid"/>
                <a:round/>
                <a:headEnd type="none" w="med" len="med"/>
                <a:tailEnd type="none" w="med" len="med"/>
              </a:ln>
            </p:spPr>
          </p:sp>
          <p:sp>
            <p:nvSpPr>
              <p:cNvPr id="68712" name="直接连接符 211069"/>
              <p:cNvSpPr/>
              <p:nvPr/>
            </p:nvSpPr>
            <p:spPr>
              <a:xfrm flipH="1">
                <a:off x="3802" y="3823"/>
                <a:ext cx="190" cy="64"/>
              </a:xfrm>
              <a:prstGeom prst="line">
                <a:avLst/>
              </a:prstGeom>
              <a:ln w="25400" cap="flat" cmpd="sng">
                <a:solidFill>
                  <a:srgbClr val="0000FF"/>
                </a:solidFill>
                <a:prstDash val="solid"/>
                <a:round/>
                <a:headEnd type="none" w="med" len="med"/>
                <a:tailEnd type="none" w="med" len="med"/>
              </a:ln>
            </p:spPr>
          </p:sp>
          <p:sp>
            <p:nvSpPr>
              <p:cNvPr id="68713" name="椭圆 211070"/>
              <p:cNvSpPr/>
              <p:nvPr/>
            </p:nvSpPr>
            <p:spPr>
              <a:xfrm>
                <a:off x="3698" y="3789"/>
                <a:ext cx="80" cy="75"/>
              </a:xfrm>
              <a:prstGeom prst="ellipse">
                <a:avLst/>
              </a:prstGeom>
              <a:noFill/>
              <a:ln w="25400" cap="flat" cmpd="sng">
                <a:solidFill>
                  <a:srgbClr val="0000FF"/>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68714" name="矩形 211071"/>
              <p:cNvSpPr/>
              <p:nvPr/>
            </p:nvSpPr>
            <p:spPr>
              <a:xfrm>
                <a:off x="3782" y="3175"/>
                <a:ext cx="490"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68715" name="直接连接符 211072"/>
              <p:cNvSpPr/>
              <p:nvPr/>
            </p:nvSpPr>
            <p:spPr>
              <a:xfrm flipH="1">
                <a:off x="3160" y="3496"/>
                <a:ext cx="640" cy="0"/>
              </a:xfrm>
              <a:prstGeom prst="line">
                <a:avLst/>
              </a:prstGeom>
              <a:ln w="25400" cap="flat" cmpd="sng">
                <a:solidFill>
                  <a:srgbClr val="0000FF"/>
                </a:solidFill>
                <a:prstDash val="solid"/>
                <a:round/>
                <a:headEnd type="triangle" w="med" len="med"/>
                <a:tailEnd type="none" w="med" len="med"/>
              </a:ln>
            </p:spPr>
          </p:sp>
          <p:sp>
            <p:nvSpPr>
              <p:cNvPr id="68716" name="直接连接符 211073"/>
              <p:cNvSpPr/>
              <p:nvPr/>
            </p:nvSpPr>
            <p:spPr>
              <a:xfrm flipH="1">
                <a:off x="3500" y="3455"/>
                <a:ext cx="56" cy="83"/>
              </a:xfrm>
              <a:prstGeom prst="line">
                <a:avLst/>
              </a:prstGeom>
              <a:ln w="12700" cap="flat" cmpd="sng">
                <a:solidFill>
                  <a:srgbClr val="0000FF"/>
                </a:solidFill>
                <a:prstDash val="solid"/>
                <a:round/>
                <a:headEnd type="none" w="med" len="med"/>
                <a:tailEnd type="none" w="med" len="med"/>
              </a:ln>
            </p:spPr>
          </p:sp>
          <p:sp>
            <p:nvSpPr>
              <p:cNvPr id="68717" name="矩形 211074"/>
              <p:cNvSpPr/>
              <p:nvPr/>
            </p:nvSpPr>
            <p:spPr>
              <a:xfrm>
                <a:off x="3303" y="3495"/>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8718" name="直接连接符 211075"/>
              <p:cNvSpPr/>
              <p:nvPr/>
            </p:nvSpPr>
            <p:spPr>
              <a:xfrm flipV="1">
                <a:off x="3984" y="3033"/>
                <a:ext cx="0" cy="152"/>
              </a:xfrm>
              <a:prstGeom prst="line">
                <a:avLst/>
              </a:prstGeom>
              <a:ln w="25400" cap="flat" cmpd="sng">
                <a:solidFill>
                  <a:srgbClr val="0000FF"/>
                </a:solidFill>
                <a:prstDash val="solid"/>
                <a:round/>
                <a:headEnd type="none" w="med" len="med"/>
                <a:tailEnd type="none" w="med" len="med"/>
              </a:ln>
            </p:spPr>
          </p:sp>
          <p:sp>
            <p:nvSpPr>
              <p:cNvPr id="68719" name="直接连接符 211076"/>
              <p:cNvSpPr/>
              <p:nvPr/>
            </p:nvSpPr>
            <p:spPr>
              <a:xfrm>
                <a:off x="4320" y="2730"/>
                <a:ext cx="0" cy="439"/>
              </a:xfrm>
              <a:prstGeom prst="line">
                <a:avLst/>
              </a:prstGeom>
              <a:ln w="25400" cap="flat" cmpd="sng">
                <a:solidFill>
                  <a:srgbClr val="0000FF"/>
                </a:solidFill>
                <a:prstDash val="solid"/>
                <a:round/>
                <a:headEnd type="none" w="med" len="med"/>
                <a:tailEnd type="triangle" w="med" len="med"/>
              </a:ln>
            </p:spPr>
          </p:sp>
          <p:sp>
            <p:nvSpPr>
              <p:cNvPr id="68720" name="矩形 211077"/>
              <p:cNvSpPr/>
              <p:nvPr/>
            </p:nvSpPr>
            <p:spPr>
              <a:xfrm>
                <a:off x="4167" y="3176"/>
                <a:ext cx="362"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68721" name="矩形 211078"/>
              <p:cNvSpPr/>
              <p:nvPr/>
            </p:nvSpPr>
            <p:spPr>
              <a:xfrm>
                <a:off x="3789" y="3404"/>
                <a:ext cx="666" cy="402"/>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68722" name="直接连接符 211079"/>
              <p:cNvSpPr/>
              <p:nvPr/>
            </p:nvSpPr>
            <p:spPr>
              <a:xfrm>
                <a:off x="4616" y="3041"/>
                <a:ext cx="272" cy="0"/>
              </a:xfrm>
              <a:prstGeom prst="line">
                <a:avLst/>
              </a:prstGeom>
              <a:ln w="25400" cap="flat" cmpd="sng">
                <a:solidFill>
                  <a:srgbClr val="0000FF"/>
                </a:solidFill>
                <a:prstDash val="solid"/>
                <a:round/>
                <a:headEnd type="none" w="med" len="med"/>
                <a:tailEnd type="triangle" w="med" len="med"/>
              </a:ln>
            </p:spPr>
          </p:sp>
          <p:sp>
            <p:nvSpPr>
              <p:cNvPr id="68723" name="直接连接符 211080"/>
              <p:cNvSpPr/>
              <p:nvPr/>
            </p:nvSpPr>
            <p:spPr>
              <a:xfrm>
                <a:off x="4608" y="3049"/>
                <a:ext cx="0" cy="485"/>
              </a:xfrm>
              <a:prstGeom prst="line">
                <a:avLst/>
              </a:prstGeom>
              <a:ln w="25400" cap="flat" cmpd="sng">
                <a:solidFill>
                  <a:srgbClr val="0000FF"/>
                </a:solidFill>
                <a:prstDash val="solid"/>
                <a:round/>
                <a:headEnd type="none" w="med" len="med"/>
                <a:tailEnd type="none" w="med" len="med"/>
              </a:ln>
            </p:spPr>
          </p:sp>
          <p:sp>
            <p:nvSpPr>
              <p:cNvPr id="68724" name="直接连接符 211081"/>
              <p:cNvSpPr/>
              <p:nvPr/>
            </p:nvSpPr>
            <p:spPr>
              <a:xfrm flipH="1">
                <a:off x="4504" y="3542"/>
                <a:ext cx="112" cy="0"/>
              </a:xfrm>
              <a:prstGeom prst="line">
                <a:avLst/>
              </a:prstGeom>
              <a:ln w="25400" cap="flat" cmpd="sng">
                <a:solidFill>
                  <a:srgbClr val="0000FF"/>
                </a:solidFill>
                <a:prstDash val="solid"/>
                <a:round/>
                <a:headEnd type="none" w="med" len="med"/>
                <a:tailEnd type="none" w="med" len="med"/>
              </a:ln>
            </p:spPr>
          </p:sp>
          <p:sp>
            <p:nvSpPr>
              <p:cNvPr id="68725" name="直接连接符 211082"/>
              <p:cNvSpPr/>
              <p:nvPr/>
            </p:nvSpPr>
            <p:spPr>
              <a:xfrm flipH="1">
                <a:off x="4652" y="2999"/>
                <a:ext cx="56" cy="83"/>
              </a:xfrm>
              <a:prstGeom prst="line">
                <a:avLst/>
              </a:prstGeom>
              <a:ln w="12700" cap="flat" cmpd="sng">
                <a:solidFill>
                  <a:srgbClr val="0000FF"/>
                </a:solidFill>
                <a:prstDash val="solid"/>
                <a:round/>
                <a:headEnd type="none" w="med" len="med"/>
                <a:tailEnd type="none" w="med" len="med"/>
              </a:ln>
            </p:spPr>
          </p:sp>
          <p:sp>
            <p:nvSpPr>
              <p:cNvPr id="68726" name="矩形 211083"/>
              <p:cNvSpPr/>
              <p:nvPr/>
            </p:nvSpPr>
            <p:spPr>
              <a:xfrm>
                <a:off x="4503" y="2857"/>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68727" name="矩形 211084"/>
              <p:cNvSpPr/>
              <p:nvPr/>
            </p:nvSpPr>
            <p:spPr>
              <a:xfrm>
                <a:off x="3543" y="2857"/>
                <a:ext cx="634"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MemWr</a:t>
                </a:r>
                <a:endParaRPr lang="en-US" altLang="zh-CN" sz="1800">
                  <a:solidFill>
                    <a:schemeClr val="accent1"/>
                  </a:solidFill>
                  <a:latin typeface="Arial" panose="020B0604020202020204" pitchFamily="34" charset="0"/>
                  <a:ea typeface="宋体" panose="02010600030101010101" pitchFamily="2" charset="-122"/>
                </a:endParaRPr>
              </a:p>
            </p:txBody>
          </p:sp>
        </p:grpSp>
      </p:grpSp>
      <p:grpSp>
        <p:nvGrpSpPr>
          <p:cNvPr id="211088" name="组合 211087"/>
          <p:cNvGrpSpPr/>
          <p:nvPr/>
        </p:nvGrpSpPr>
        <p:grpSpPr>
          <a:xfrm>
            <a:off x="5249863" y="2033588"/>
            <a:ext cx="2830512" cy="1522412"/>
            <a:chOff x="3355" y="1281"/>
            <a:chExt cx="1655" cy="959"/>
          </a:xfrm>
        </p:grpSpPr>
        <p:sp>
          <p:nvSpPr>
            <p:cNvPr id="68729" name="文本框 211085"/>
            <p:cNvSpPr txBox="1"/>
            <p:nvPr/>
          </p:nvSpPr>
          <p:spPr>
            <a:xfrm>
              <a:off x="3355" y="1281"/>
              <a:ext cx="1655" cy="251"/>
            </a:xfrm>
            <a:prstGeom prst="rect">
              <a:avLst/>
            </a:prstGeom>
            <a:noFill/>
            <a:ln w="12700" cap="flat" cmpd="sng">
              <a:solidFill>
                <a:schemeClr val="accent2"/>
              </a:solidFill>
              <a:prstDash val="solid"/>
              <a:miter/>
              <a:headEnd type="none" w="med" len="med"/>
              <a:tailEnd type="none" w="med" len="med"/>
            </a:ln>
          </p:spPr>
          <p:txBody>
            <a:bodyPr anchor="t" anchorCtr="0">
              <a:spAutoFit/>
            </a:bodyPr>
            <a:p>
              <a:pPr>
                <a:spcBef>
                  <a:spcPct val="50000"/>
                </a:spcBef>
              </a:pPr>
              <a:r>
                <a:rPr lang="zh-CN" altLang="en-US" sz="2000" dirty="0">
                  <a:solidFill>
                    <a:schemeClr val="accent2"/>
                  </a:solidFill>
                  <a:latin typeface="Arial" panose="020B0604020202020204" pitchFamily="34" charset="0"/>
                  <a:ea typeface="黑体" panose="02010609060101010101" pitchFamily="49" charset="-122"/>
                </a:rPr>
                <a:t>蓝色部分，为什么？</a:t>
              </a:r>
              <a:endParaRPr lang="zh-CN" altLang="en-US" sz="2000" dirty="0">
                <a:solidFill>
                  <a:schemeClr val="accent2"/>
                </a:solidFill>
                <a:latin typeface="Arial" panose="020B0604020202020204" pitchFamily="34" charset="0"/>
                <a:ea typeface="黑体" panose="02010609060101010101" pitchFamily="49" charset="-122"/>
              </a:endParaRPr>
            </a:p>
          </p:txBody>
        </p:sp>
        <p:sp>
          <p:nvSpPr>
            <p:cNvPr id="68730" name="直接连接符 211086"/>
            <p:cNvSpPr/>
            <p:nvPr/>
          </p:nvSpPr>
          <p:spPr>
            <a:xfrm>
              <a:off x="3959" y="1527"/>
              <a:ext cx="786" cy="713"/>
            </a:xfrm>
            <a:prstGeom prst="line">
              <a:avLst/>
            </a:prstGeom>
            <a:ln w="19050" cap="flat" cmpd="sng">
              <a:solidFill>
                <a:schemeClr val="accent2"/>
              </a:solidFill>
              <a:prstDash val="solid"/>
              <a:round/>
              <a:headEnd type="none" w="med" len="med"/>
              <a:tailEnd type="triangle" w="med" len="med"/>
            </a:ln>
          </p:spPr>
        </p:sp>
      </p:grpSp>
      <p:sp>
        <p:nvSpPr>
          <p:cNvPr id="211089" name="文本框 211088"/>
          <p:cNvSpPr txBox="1"/>
          <p:nvPr/>
        </p:nvSpPr>
        <p:spPr>
          <a:xfrm>
            <a:off x="0" y="6091238"/>
            <a:ext cx="8943975" cy="366712"/>
          </a:xfrm>
          <a:prstGeom prst="rect">
            <a:avLst/>
          </a:prstGeom>
          <a:noFill/>
          <a:ln w="50800">
            <a:noFill/>
          </a:ln>
        </p:spPr>
        <p:txBody>
          <a:bodyPr anchor="t" anchorCtr="0">
            <a:spAutoFit/>
          </a:bodyPr>
          <a:p>
            <a:pPr>
              <a:spcBef>
                <a:spcPct val="50000"/>
              </a:spcBef>
            </a:pPr>
            <a:r>
              <a:rPr lang="zh-CN" altLang="en-US" sz="1800" dirty="0">
                <a:solidFill>
                  <a:srgbClr val="006600"/>
                </a:solidFill>
                <a:latin typeface="Arial" panose="020B0604020202020204" pitchFamily="34" charset="0"/>
                <a:ea typeface="黑体" panose="02010609060101010101" pitchFamily="49" charset="-122"/>
              </a:rPr>
              <a:t>控制信号</a:t>
            </a:r>
            <a:r>
              <a:rPr lang="en-US" altLang="zh-CN" sz="1800" dirty="0" err="1">
                <a:solidFill>
                  <a:srgbClr val="006600"/>
                </a:solidFill>
                <a:latin typeface="Arial" panose="020B0604020202020204" pitchFamily="34" charset="0"/>
                <a:ea typeface="黑体" panose="02010609060101010101" pitchFamily="49" charset="-122"/>
              </a:rPr>
              <a:t>RegDst</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RegWr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ALUctr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ExtOp</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ALUSrc</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MemtoReg</a:t>
            </a:r>
            <a:r>
              <a:rPr lang="en-US" altLang="zh-CN" sz="1800">
                <a:solidFill>
                  <a:srgbClr val="006600"/>
                </a:solidFill>
                <a:latin typeface="Arial" panose="020B0604020202020204" pitchFamily="34" charset="0"/>
                <a:ea typeface="黑体" panose="02010609060101010101" pitchFamily="49" charset="-122"/>
              </a:rPr>
              <a:t> </a:t>
            </a:r>
            <a:r>
              <a:rPr lang="zh-CN" altLang="en-US" sz="1800" dirty="0">
                <a:solidFill>
                  <a:srgbClr val="006600"/>
                </a:solidFill>
                <a:latin typeface="Arial" panose="020B0604020202020204" pitchFamily="34" charset="0"/>
                <a:ea typeface="黑体" panose="02010609060101010101" pitchFamily="49" charset="-122"/>
              </a:rPr>
              <a:t>各取何值？</a:t>
            </a:r>
            <a:endParaRPr lang="zh-CN" altLang="en-US" sz="1800" dirty="0">
              <a:solidFill>
                <a:srgbClr val="006600"/>
              </a:solidFill>
              <a:latin typeface="Arial" panose="020B0604020202020204" pitchFamily="34" charset="0"/>
              <a:ea typeface="黑体" panose="02010609060101010101" pitchFamily="49" charset="-122"/>
            </a:endParaRPr>
          </a:p>
        </p:txBody>
      </p:sp>
      <p:grpSp>
        <p:nvGrpSpPr>
          <p:cNvPr id="68732" name="组合 211089"/>
          <p:cNvGrpSpPr/>
          <p:nvPr/>
        </p:nvGrpSpPr>
        <p:grpSpPr>
          <a:xfrm>
            <a:off x="1522413" y="2152650"/>
            <a:ext cx="804862" cy="352425"/>
            <a:chOff x="1625" y="1752"/>
            <a:chExt cx="507" cy="222"/>
          </a:xfrm>
        </p:grpSpPr>
        <p:sp>
          <p:nvSpPr>
            <p:cNvPr id="68733" name="文本框 211090"/>
            <p:cNvSpPr txBox="1"/>
            <p:nvPr/>
          </p:nvSpPr>
          <p:spPr>
            <a:xfrm>
              <a:off x="1625" y="1752"/>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68734" name="文本框 211091"/>
            <p:cNvSpPr txBox="1"/>
            <p:nvPr/>
          </p:nvSpPr>
          <p:spPr>
            <a:xfrm>
              <a:off x="2004" y="1762"/>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68735" name="组合 211092"/>
          <p:cNvGrpSpPr/>
          <p:nvPr/>
        </p:nvGrpSpPr>
        <p:grpSpPr>
          <a:xfrm>
            <a:off x="7596188" y="3435350"/>
            <a:ext cx="225425" cy="992188"/>
            <a:chOff x="3075" y="2821"/>
            <a:chExt cx="142" cy="625"/>
          </a:xfrm>
        </p:grpSpPr>
        <p:sp>
          <p:nvSpPr>
            <p:cNvPr id="68736" name="文本框 211093"/>
            <p:cNvSpPr txBox="1"/>
            <p:nvPr/>
          </p:nvSpPr>
          <p:spPr>
            <a:xfrm>
              <a:off x="3089" y="2821"/>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68737" name="文本框 211094"/>
            <p:cNvSpPr txBox="1"/>
            <p:nvPr/>
          </p:nvSpPr>
          <p:spPr>
            <a:xfrm>
              <a:off x="3075" y="3234"/>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sp>
        <p:nvSpPr>
          <p:cNvPr id="211096" name="文本框 211095"/>
          <p:cNvSpPr txBox="1"/>
          <p:nvPr/>
        </p:nvSpPr>
        <p:spPr>
          <a:xfrm>
            <a:off x="0" y="6175375"/>
            <a:ext cx="8958263" cy="366713"/>
          </a:xfrm>
          <a:prstGeom prst="rect">
            <a:avLst/>
          </a:prstGeom>
          <a:solidFill>
            <a:schemeClr val="bg1"/>
          </a:solidFill>
          <a:ln w="50800">
            <a:noFill/>
          </a:ln>
        </p:spPr>
        <p:txBody>
          <a:bodyPr anchor="t" anchorCtr="0">
            <a:spAutoFit/>
          </a:bodyPr>
          <a:p>
            <a:pPr>
              <a:spcBef>
                <a:spcPct val="50000"/>
              </a:spcBef>
            </a:pPr>
            <a:r>
              <a:rPr lang="en-US" altLang="zh-CN" sz="1800" dirty="0" err="1">
                <a:solidFill>
                  <a:schemeClr val="accent2"/>
                </a:solidFill>
                <a:latin typeface="Arial" panose="020B0604020202020204" pitchFamily="34" charset="0"/>
                <a:ea typeface="黑体" panose="02010609060101010101" pitchFamily="49" charset="-122"/>
              </a:rPr>
              <a:t>RegDst</a:t>
            </a:r>
            <a:r>
              <a:rPr lang="en-US" altLang="zh-CN" sz="1800">
                <a:solidFill>
                  <a:schemeClr val="accent2"/>
                </a:solidFill>
                <a:latin typeface="Arial" panose="020B0604020202020204" pitchFamily="34" charset="0"/>
                <a:ea typeface="黑体" panose="02010609060101010101" pitchFamily="49" charset="-122"/>
              </a:rPr>
              <a:t>=1, </a:t>
            </a:r>
            <a:r>
              <a:rPr lang="en-US" altLang="zh-CN" sz="1800" dirty="0" err="1">
                <a:solidFill>
                  <a:schemeClr val="accent2"/>
                </a:solidFill>
                <a:latin typeface="Arial" panose="020B0604020202020204" pitchFamily="34" charset="0"/>
                <a:ea typeface="黑体" panose="02010609060101010101" pitchFamily="49" charset="-122"/>
              </a:rPr>
              <a:t>RegWr</a:t>
            </a:r>
            <a:r>
              <a:rPr lang="en-US" altLang="zh-CN" sz="1800">
                <a:solidFill>
                  <a:schemeClr val="accent2"/>
                </a:solidFill>
                <a:latin typeface="Arial" panose="020B0604020202020204" pitchFamily="34" charset="0"/>
                <a:ea typeface="黑体" panose="02010609060101010101" pitchFamily="49" charset="-122"/>
              </a:rPr>
              <a:t>=1, </a:t>
            </a:r>
            <a:r>
              <a:rPr lang="en-US" altLang="zh-CN" sz="1800" dirty="0" err="1">
                <a:solidFill>
                  <a:schemeClr val="accent2"/>
                </a:solidFill>
                <a:latin typeface="Arial" panose="020B0604020202020204" pitchFamily="34" charset="0"/>
                <a:ea typeface="黑体" panose="02010609060101010101" pitchFamily="49" charset="-122"/>
              </a:rPr>
              <a:t>ALUctr</a:t>
            </a:r>
            <a:r>
              <a:rPr lang="en-US" altLang="zh-CN" sz="1800">
                <a:solidFill>
                  <a:schemeClr val="accent2"/>
                </a:solidFill>
                <a:latin typeface="Arial" panose="020B0604020202020204" pitchFamily="34" charset="0"/>
                <a:ea typeface="黑体" panose="02010609060101010101" pitchFamily="49" charset="-122"/>
              </a:rPr>
              <a:t>=add, </a:t>
            </a:r>
            <a:r>
              <a:rPr lang="en-US" altLang="zh-CN" sz="1800" dirty="0" err="1">
                <a:solidFill>
                  <a:schemeClr val="accent2"/>
                </a:solidFill>
                <a:latin typeface="Arial" panose="020B0604020202020204" pitchFamily="34" charset="0"/>
                <a:ea typeface="黑体" panose="02010609060101010101" pitchFamily="49" charset="-122"/>
              </a:rPr>
              <a:t>ExtOp</a:t>
            </a:r>
            <a:r>
              <a:rPr lang="en-US" altLang="zh-CN" sz="1800">
                <a:solidFill>
                  <a:schemeClr val="accent2"/>
                </a:solidFill>
                <a:latin typeface="Arial" panose="020B0604020202020204" pitchFamily="34" charset="0"/>
                <a:ea typeface="黑体" panose="02010609060101010101" pitchFamily="49" charset="-122"/>
              </a:rPr>
              <a:t>=1, </a:t>
            </a:r>
            <a:r>
              <a:rPr lang="en-US" altLang="zh-CN" sz="1800" dirty="0" err="1">
                <a:solidFill>
                  <a:schemeClr val="accent2"/>
                </a:solidFill>
                <a:latin typeface="Arial" panose="020B0604020202020204" pitchFamily="34" charset="0"/>
                <a:ea typeface="黑体" panose="02010609060101010101" pitchFamily="49" charset="-122"/>
              </a:rPr>
              <a:t>ALUSrc</a:t>
            </a:r>
            <a:r>
              <a:rPr lang="en-US" altLang="zh-CN" sz="1800">
                <a:solidFill>
                  <a:schemeClr val="accent2"/>
                </a:solidFill>
                <a:latin typeface="Arial" panose="020B0604020202020204" pitchFamily="34" charset="0"/>
                <a:ea typeface="黑体" panose="02010609060101010101" pitchFamily="49" charset="-122"/>
              </a:rPr>
              <a:t>=1, </a:t>
            </a:r>
            <a:r>
              <a:rPr lang="en-US" altLang="zh-CN" sz="1800" dirty="0" err="1">
                <a:solidFill>
                  <a:schemeClr val="accent2"/>
                </a:solidFill>
                <a:latin typeface="Arial" panose="020B0604020202020204" pitchFamily="34" charset="0"/>
                <a:ea typeface="黑体" panose="02010609060101010101" pitchFamily="49" charset="-122"/>
              </a:rPr>
              <a:t>MemWr</a:t>
            </a:r>
            <a:r>
              <a:rPr lang="en-US" altLang="zh-CN" sz="1800">
                <a:solidFill>
                  <a:schemeClr val="accent2"/>
                </a:solidFill>
                <a:latin typeface="Arial" panose="020B0604020202020204" pitchFamily="34" charset="0"/>
                <a:ea typeface="黑体" panose="02010609060101010101" pitchFamily="49" charset="-122"/>
              </a:rPr>
              <a:t>=0, </a:t>
            </a:r>
            <a:r>
              <a:rPr lang="en-US" altLang="zh-CN" sz="1800" dirty="0" err="1">
                <a:solidFill>
                  <a:schemeClr val="accent2"/>
                </a:solidFill>
                <a:latin typeface="Arial" panose="020B0604020202020204" pitchFamily="34" charset="0"/>
                <a:ea typeface="黑体" panose="02010609060101010101" pitchFamily="49" charset="-122"/>
              </a:rPr>
              <a:t>MemtoReg</a:t>
            </a:r>
            <a:r>
              <a:rPr lang="en-US" altLang="zh-CN" sz="1800">
                <a:solidFill>
                  <a:schemeClr val="accent2"/>
                </a:solidFill>
                <a:latin typeface="Arial" panose="020B0604020202020204" pitchFamily="34" charset="0"/>
                <a:ea typeface="黑体" panose="02010609060101010101" pitchFamily="49" charset="-122"/>
              </a:rPr>
              <a:t>=1</a:t>
            </a:r>
            <a:endParaRPr lang="zh-CN" altLang="en-US" sz="1800" dirty="0">
              <a:solidFill>
                <a:schemeClr val="accent2"/>
              </a:solidFill>
              <a:latin typeface="Arial" panose="020B0604020202020204" pitchFamily="34" charset="0"/>
              <a:ea typeface="黑体" panose="02010609060101010101" pitchFamily="49" charset="-122"/>
            </a:endParaRPr>
          </a:p>
        </p:txBody>
      </p:sp>
      <p:sp>
        <p:nvSpPr>
          <p:cNvPr id="211097" name="文本框 211096"/>
          <p:cNvSpPr txBox="1"/>
          <p:nvPr/>
        </p:nvSpPr>
        <p:spPr>
          <a:xfrm>
            <a:off x="3914775" y="5689600"/>
            <a:ext cx="3440113" cy="366713"/>
          </a:xfrm>
          <a:prstGeom prst="rect">
            <a:avLst/>
          </a:prstGeom>
          <a:noFill/>
          <a:ln w="50800">
            <a:noFill/>
          </a:ln>
        </p:spPr>
        <p:txBody>
          <a:bodyPr anchor="t" anchorCtr="0">
            <a:spAutoFit/>
          </a:bodyPr>
          <a:p>
            <a:pPr>
              <a:spcBef>
                <a:spcPct val="50000"/>
              </a:spcBef>
            </a:pPr>
            <a:r>
              <a:rPr lang="en-US" altLang="zh-CN" sz="1800">
                <a:solidFill>
                  <a:srgbClr val="A50021"/>
                </a:solidFill>
                <a:latin typeface="Arial" panose="020B0604020202020204" pitchFamily="34" charset="0"/>
                <a:ea typeface="黑体" panose="02010609060101010101" pitchFamily="49" charset="-122"/>
              </a:rPr>
              <a:t>0:</a:t>
            </a:r>
            <a:r>
              <a:rPr lang="zh-CN" altLang="en-US" sz="1800" dirty="0">
                <a:solidFill>
                  <a:srgbClr val="A50021"/>
                </a:solidFill>
                <a:latin typeface="Arial" panose="020B0604020202020204" pitchFamily="34" charset="0"/>
                <a:ea typeface="黑体" panose="02010609060101010101" pitchFamily="49" charset="-122"/>
              </a:rPr>
              <a:t>零扩展，</a:t>
            </a:r>
            <a:r>
              <a:rPr lang="en-US" altLang="zh-CN" sz="1800">
                <a:solidFill>
                  <a:srgbClr val="A50021"/>
                </a:solidFill>
                <a:latin typeface="Arial" panose="020B0604020202020204" pitchFamily="34" charset="0"/>
                <a:ea typeface="黑体" panose="02010609060101010101" pitchFamily="49" charset="-122"/>
              </a:rPr>
              <a:t>1</a:t>
            </a:r>
            <a:r>
              <a:rPr lang="zh-CN" altLang="en-US" sz="1800" dirty="0">
                <a:solidFill>
                  <a:srgbClr val="A50021"/>
                </a:solidFill>
                <a:latin typeface="Arial" panose="020B0604020202020204" pitchFamily="34" charset="0"/>
                <a:ea typeface="黑体" panose="02010609060101010101" pitchFamily="49" charset="-122"/>
              </a:rPr>
              <a:t>：符号扩展</a:t>
            </a:r>
            <a:endParaRPr lang="zh-CN" altLang="en-US" sz="1800" dirty="0">
              <a:solidFill>
                <a:srgbClr val="A50021"/>
              </a:solidFill>
              <a:latin typeface="Arial" panose="020B0604020202020204" pitchFamily="34" charset="0"/>
              <a:ea typeface="黑体" panose="02010609060101010101" pitchFamily="49" charset="-122"/>
            </a:endParaRPr>
          </a:p>
        </p:txBody>
      </p:sp>
      <p:grpSp>
        <p:nvGrpSpPr>
          <p:cNvPr id="68740" name="组合 211097"/>
          <p:cNvGrpSpPr/>
          <p:nvPr/>
        </p:nvGrpSpPr>
        <p:grpSpPr>
          <a:xfrm>
            <a:off x="3995738" y="3935413"/>
            <a:ext cx="225425" cy="992187"/>
            <a:chOff x="3075" y="2821"/>
            <a:chExt cx="142" cy="625"/>
          </a:xfrm>
        </p:grpSpPr>
        <p:sp>
          <p:nvSpPr>
            <p:cNvPr id="68741" name="文本框 211098"/>
            <p:cNvSpPr txBox="1"/>
            <p:nvPr/>
          </p:nvSpPr>
          <p:spPr>
            <a:xfrm>
              <a:off x="3089" y="2821"/>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68742" name="文本框 211099"/>
            <p:cNvSpPr txBox="1"/>
            <p:nvPr/>
          </p:nvSpPr>
          <p:spPr>
            <a:xfrm>
              <a:off x="3075" y="3234"/>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68743" name="组合 211100"/>
          <p:cNvGrpSpPr/>
          <p:nvPr/>
        </p:nvGrpSpPr>
        <p:grpSpPr>
          <a:xfrm>
            <a:off x="2306638" y="1009650"/>
            <a:ext cx="5999162" cy="989013"/>
            <a:chOff x="1918" y="1392"/>
            <a:chExt cx="3763" cy="607"/>
          </a:xfrm>
        </p:grpSpPr>
        <p:sp>
          <p:nvSpPr>
            <p:cNvPr id="68744" name="矩形 211101"/>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68745" name="组合 211102"/>
            <p:cNvGrpSpPr/>
            <p:nvPr/>
          </p:nvGrpSpPr>
          <p:grpSpPr>
            <a:xfrm>
              <a:off x="1979" y="1584"/>
              <a:ext cx="624" cy="223"/>
              <a:chOff x="1979" y="1584"/>
              <a:chExt cx="624" cy="223"/>
            </a:xfrm>
          </p:grpSpPr>
          <p:sp>
            <p:nvSpPr>
              <p:cNvPr id="68746" name="矩形 211103"/>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8747" name="矩形 211104"/>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68748" name="组合 211105"/>
            <p:cNvGrpSpPr/>
            <p:nvPr/>
          </p:nvGrpSpPr>
          <p:grpSpPr>
            <a:xfrm>
              <a:off x="2611" y="1584"/>
              <a:ext cx="580" cy="223"/>
              <a:chOff x="2611" y="1584"/>
              <a:chExt cx="580" cy="223"/>
            </a:xfrm>
          </p:grpSpPr>
          <p:sp>
            <p:nvSpPr>
              <p:cNvPr id="68749" name="矩形 211106"/>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8750" name="矩形 211107"/>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68751" name="组合 211108"/>
            <p:cNvGrpSpPr/>
            <p:nvPr/>
          </p:nvGrpSpPr>
          <p:grpSpPr>
            <a:xfrm>
              <a:off x="3199" y="1584"/>
              <a:ext cx="579" cy="223"/>
              <a:chOff x="3199" y="1584"/>
              <a:chExt cx="579" cy="223"/>
            </a:xfrm>
          </p:grpSpPr>
          <p:sp>
            <p:nvSpPr>
              <p:cNvPr id="68752" name="矩形 211109"/>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8753" name="矩形 211110"/>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68754" name="矩形 211111"/>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68755" name="矩形 211112"/>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68756" name="矩形 211113"/>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68757" name="矩形 211114"/>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68758" name="矩形 211115"/>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68759" name="矩形 211116"/>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68760" name="矩形 211117"/>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68761" name="矩形 211118"/>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8762" name="矩形 211119"/>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8763" name="矩形 211120"/>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68764" name="矩形 211121"/>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11051"/>
                                        </p:tgtEl>
                                        <p:attrNameLst>
                                          <p:attrName>style.visibility</p:attrName>
                                        </p:attrNameLst>
                                      </p:cBhvr>
                                      <p:to>
                                        <p:strVal val="visible"/>
                                      </p:to>
                                    </p:set>
                                    <p:animEffect transition="in" filter="checkerboard(across)">
                                      <p:cBhvr>
                                        <p:cTn id="7" dur="500"/>
                                        <p:tgtEl>
                                          <p:spTgt spid="2110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088"/>
                                        </p:tgtEl>
                                        <p:attrNameLst>
                                          <p:attrName>style.visibility</p:attrName>
                                        </p:attrNameLst>
                                      </p:cBhvr>
                                      <p:to>
                                        <p:strVal val="visible"/>
                                      </p:to>
                                    </p:set>
                                    <p:animEffect transition="in" filter="blinds(horizontal)">
                                      <p:cBhvr>
                                        <p:cTn id="12" dur="500"/>
                                        <p:tgtEl>
                                          <p:spTgt spid="2110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1097"/>
                                        </p:tgtEl>
                                        <p:attrNameLst>
                                          <p:attrName>style.visibility</p:attrName>
                                        </p:attrNameLst>
                                      </p:cBhvr>
                                      <p:to>
                                        <p:strVal val="visible"/>
                                      </p:to>
                                    </p:set>
                                    <p:animEffect transition="in" filter="blinds(horizontal)">
                                      <p:cBhvr>
                                        <p:cTn id="17" dur="500"/>
                                        <p:tgtEl>
                                          <p:spTgt spid="21109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1089"/>
                                        </p:tgtEl>
                                        <p:attrNameLst>
                                          <p:attrName>style.visibility</p:attrName>
                                        </p:attrNameLst>
                                      </p:cBhvr>
                                      <p:to>
                                        <p:strVal val="visible"/>
                                      </p:to>
                                    </p:set>
                                    <p:animEffect transition="in" filter="blinds(horizontal)">
                                      <p:cBhvr>
                                        <p:cTn id="22" dur="500"/>
                                        <p:tgtEl>
                                          <p:spTgt spid="211089"/>
                                        </p:tgtEl>
                                      </p:cBhvr>
                                    </p:animEffect>
                                  </p:childTnLst>
                                  <p:subTnLst>
                                    <p:set>
                                      <p:cBhvr override="childStyle">
                                        <p:cTn dur="1" fill="hold" display="0" masterRel="nextClick" afterEffect="1"/>
                                        <p:tgtEl>
                                          <p:spTgt spid="211089"/>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1096"/>
                                        </p:tgtEl>
                                        <p:attrNameLst>
                                          <p:attrName>style.visibility</p:attrName>
                                        </p:attrNameLst>
                                      </p:cBhvr>
                                      <p:to>
                                        <p:strVal val="visible"/>
                                      </p:to>
                                    </p:set>
                                    <p:animEffect transition="in" filter="blinds(horizontal)">
                                      <p:cBhvr>
                                        <p:cTn id="27" dur="500"/>
                                        <p:tgtEl>
                                          <p:spTgt spid="211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089" grpId="0"/>
      <p:bldP spid="211096" grpId="0" bldLvl="0" animBg="1"/>
      <p:bldP spid="21109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212993"/>
          <p:cNvSpPr>
            <a:spLocks noGrp="1"/>
          </p:cNvSpPr>
          <p:nvPr>
            <p:ph type="title"/>
          </p:nvPr>
        </p:nvSpPr>
        <p:spPr>
          <a:xfrm>
            <a:off x="444500" y="203200"/>
            <a:ext cx="6548438" cy="422275"/>
          </a:xfrm>
          <a:ln/>
        </p:spPr>
        <p:txBody>
          <a:bodyPr vert="horz" wrap="square" lIns="63500" tIns="25400" rIns="63500" bIns="25400" anchor="t" anchorCtr="0">
            <a:spAutoFit/>
          </a:bodyPr>
          <a:p>
            <a:r>
              <a:rPr lang="zh-CN" altLang="en-US" dirty="0">
                <a:ea typeface="宋体" panose="02010600030101010101" pitchFamily="2" charset="-122"/>
              </a:rPr>
              <a:t>访存指令中的存数指令 </a:t>
            </a:r>
            <a:r>
              <a:rPr lang="en-US" altLang="zh-CN">
                <a:ea typeface="宋体" panose="02010600030101010101" pitchFamily="2" charset="-122"/>
              </a:rPr>
              <a:t>(</a:t>
            </a:r>
            <a:r>
              <a:rPr lang="en-US" altLang="zh-CN" dirty="0" err="1">
                <a:ea typeface="宋体" panose="02010600030101010101" pitchFamily="2" charset="-122"/>
              </a:rPr>
              <a:t>sw</a:t>
            </a:r>
            <a:r>
              <a:rPr lang="en-US" altLang="zh-CN">
                <a:ea typeface="宋体" panose="02010600030101010101" pitchFamily="2" charset="-122"/>
              </a:rPr>
              <a:t>)</a:t>
            </a:r>
            <a:endParaRPr lang="en-US" altLang="zh-CN">
              <a:ea typeface="宋体" panose="02010600030101010101" pitchFamily="2" charset="-122"/>
            </a:endParaRPr>
          </a:p>
        </p:txBody>
      </p:sp>
      <p:sp>
        <p:nvSpPr>
          <p:cNvPr id="70658" name="文本占位符 213066"/>
          <p:cNvSpPr>
            <a:spLocks noGrp="1"/>
          </p:cNvSpPr>
          <p:nvPr>
            <p:ph idx="1"/>
          </p:nvPr>
        </p:nvSpPr>
        <p:spPr>
          <a:xfrm>
            <a:off x="423863" y="901700"/>
            <a:ext cx="3170237" cy="4783138"/>
          </a:xfrm>
          <a:ln/>
        </p:spPr>
        <p:txBody>
          <a:bodyPr vert="horz" wrap="square" lIns="63500" tIns="25400" rIns="63500" bIns="25400" anchor="t" anchorCtr="0">
            <a:spAutoFit/>
          </a:bodyPr>
          <a:p>
            <a:pPr marL="342900" indent="-342900">
              <a:buNone/>
            </a:pPr>
            <a:r>
              <a:rPr lang="zh-CN" altLang="en-US" dirty="0">
                <a:solidFill>
                  <a:srgbClr val="339933"/>
                </a:solidFill>
                <a:ea typeface="宋体" panose="02010600030101010101" pitchFamily="2" charset="-122"/>
              </a:rPr>
              <a:t>实现目标（</a:t>
            </a:r>
            <a:r>
              <a:rPr lang="en-US" altLang="zh-CN">
                <a:solidFill>
                  <a:srgbClr val="339933"/>
                </a:solidFill>
                <a:ea typeface="宋体" panose="02010600030101010101" pitchFamily="2" charset="-122"/>
              </a:rPr>
              <a:t>7</a:t>
            </a:r>
            <a:r>
              <a:rPr lang="zh-CN" altLang="en-US" dirty="0">
                <a:solidFill>
                  <a:srgbClr val="339933"/>
                </a:solidFill>
                <a:ea typeface="宋体" panose="02010600030101010101" pitchFamily="2" charset="-122"/>
              </a:rPr>
              <a:t>条指令）：</a:t>
            </a:r>
            <a:endParaRPr lang="zh-CN" altLang="en-US" dirty="0">
              <a:solidFill>
                <a:srgbClr val="339933"/>
              </a:solidFill>
              <a:ea typeface="宋体" panose="02010600030101010101" pitchFamily="2" charset="-122"/>
            </a:endParaRPr>
          </a:p>
          <a:p>
            <a:pPr marL="342900" indent="-342900"/>
            <a:r>
              <a:rPr lang="en-US" altLang="zh-CN">
                <a:solidFill>
                  <a:srgbClr val="6D6D6D"/>
                </a:solidFill>
                <a:ea typeface="宋体" panose="02010600030101010101" pitchFamily="2" charset="-122"/>
              </a:rPr>
              <a:t>ADD and subtract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add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sub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342900" indent="-342900"/>
            <a:r>
              <a:rPr lang="en-US" altLang="zh-CN">
                <a:solidFill>
                  <a:srgbClr val="6D6D6D"/>
                </a:solidFill>
                <a:ea typeface="宋体" panose="02010600030101010101" pitchFamily="2" charset="-122"/>
              </a:rPr>
              <a:t>OR Immediate:</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ori</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342900" indent="-342900"/>
            <a:r>
              <a:rPr lang="en-US" altLang="zh-CN">
                <a:solidFill>
                  <a:srgbClr val="6D6D6D"/>
                </a:solidFill>
                <a:ea typeface="宋体" panose="02010600030101010101" pitchFamily="2" charset="-122"/>
              </a:rPr>
              <a:t>LOAD and STORE</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lw</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742950" lvl="1" indent="-285750"/>
            <a:r>
              <a:rPr lang="en-US" altLang="zh-CN" dirty="0" err="1">
                <a:ea typeface="宋体" panose="02010600030101010101" pitchFamily="2" charset="-122"/>
              </a:rPr>
              <a:t>sw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marL="342900" indent="-342900"/>
            <a:r>
              <a:rPr lang="en-US" altLang="zh-CN">
                <a:ea typeface="宋体" panose="02010600030101010101" pitchFamily="2" charset="-122"/>
              </a:rPr>
              <a:t>BRANCH:</a:t>
            </a:r>
            <a:endParaRPr lang="en-US" altLang="zh-CN">
              <a:ea typeface="宋体" panose="02010600030101010101" pitchFamily="2" charset="-122"/>
            </a:endParaRPr>
          </a:p>
          <a:p>
            <a:pPr marL="742950" lvl="1" indent="-285750"/>
            <a:r>
              <a:rPr lang="en-US" altLang="zh-CN" dirty="0" err="1">
                <a:ea typeface="宋体" panose="02010600030101010101" pitchFamily="2" charset="-122"/>
              </a:rPr>
              <a:t>beq</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imm16</a:t>
            </a:r>
            <a:endParaRPr lang="en-US" altLang="zh-CN">
              <a:ea typeface="宋体" panose="02010600030101010101" pitchFamily="2" charset="-122"/>
            </a:endParaRPr>
          </a:p>
          <a:p>
            <a:pPr marL="342900" indent="-342900"/>
            <a:r>
              <a:rPr lang="en-US" altLang="zh-CN">
                <a:ea typeface="宋体" panose="02010600030101010101" pitchFamily="2" charset="-122"/>
              </a:rPr>
              <a:t>JUMP:</a:t>
            </a:r>
            <a:endParaRPr lang="en-US" altLang="zh-CN">
              <a:ea typeface="宋体" panose="02010600030101010101" pitchFamily="2" charset="-122"/>
            </a:endParaRPr>
          </a:p>
          <a:p>
            <a:pPr marL="742950" lvl="1" indent="-285750"/>
            <a:r>
              <a:rPr lang="en-US" altLang="zh-CN">
                <a:ea typeface="宋体" panose="02010600030101010101" pitchFamily="2" charset="-122"/>
              </a:rPr>
              <a:t>j  target</a:t>
            </a:r>
            <a:endParaRPr lang="en-US" altLang="zh-CN">
              <a:ea typeface="宋体" panose="02010600030101010101" pitchFamily="2" charset="-122"/>
            </a:endParaRPr>
          </a:p>
        </p:txBody>
      </p:sp>
      <p:sp>
        <p:nvSpPr>
          <p:cNvPr id="213068" name="文本框 213067"/>
          <p:cNvSpPr txBox="1"/>
          <p:nvPr/>
        </p:nvSpPr>
        <p:spPr>
          <a:xfrm>
            <a:off x="3679825" y="3819525"/>
            <a:ext cx="4903788" cy="427038"/>
          </a:xfrm>
          <a:prstGeom prst="rect">
            <a:avLst/>
          </a:prstGeom>
          <a:noFill/>
          <a:ln w="50800">
            <a:noFill/>
          </a:ln>
        </p:spPr>
        <p:txBody>
          <a:bodyPr anchor="t" anchorCtr="0">
            <a:spAutoFit/>
          </a:bodyPr>
          <a:p>
            <a:pPr>
              <a:spcBef>
                <a:spcPct val="50000"/>
              </a:spcBef>
            </a:pPr>
            <a:r>
              <a:rPr lang="en-US" altLang="zh-CN" sz="2200">
                <a:solidFill>
                  <a:schemeClr val="accent1"/>
                </a:solidFill>
                <a:latin typeface="Arial" panose="020B0604020202020204" pitchFamily="34" charset="0"/>
                <a:ea typeface="黑体" panose="02010609060101010101" pitchFamily="49" charset="-122"/>
              </a:rPr>
              <a:t>4.  </a:t>
            </a:r>
            <a:r>
              <a:rPr lang="zh-CN" altLang="en-US" sz="2200" dirty="0">
                <a:solidFill>
                  <a:schemeClr val="accent1"/>
                </a:solidFill>
                <a:latin typeface="Arial" panose="020B0604020202020204" pitchFamily="34" charset="0"/>
                <a:ea typeface="黑体" panose="02010609060101010101" pitchFamily="49" charset="-122"/>
              </a:rPr>
              <a:t>考虑</a:t>
            </a:r>
            <a:r>
              <a:rPr lang="en-US" altLang="zh-CN" sz="2200" dirty="0" err="1">
                <a:solidFill>
                  <a:schemeClr val="accent1"/>
                </a:solidFill>
                <a:latin typeface="Arial" panose="020B0604020202020204" pitchFamily="34" charset="0"/>
                <a:ea typeface="黑体" panose="02010609060101010101" pitchFamily="49" charset="-122"/>
              </a:rPr>
              <a:t>sw</a:t>
            </a:r>
            <a:r>
              <a:rPr lang="en-US" altLang="zh-CN" sz="2200">
                <a:solidFill>
                  <a:schemeClr val="accent1"/>
                </a:solidFill>
                <a:latin typeface="Arial" panose="020B0604020202020204" pitchFamily="34" charset="0"/>
                <a:ea typeface="黑体" panose="02010609060101010101" pitchFamily="49" charset="-122"/>
              </a:rPr>
              <a:t> </a:t>
            </a:r>
            <a:r>
              <a:rPr lang="zh-CN" altLang="en-US" sz="2200" dirty="0">
                <a:solidFill>
                  <a:schemeClr val="accent1"/>
                </a:solidFill>
                <a:latin typeface="Arial" panose="020B0604020202020204" pitchFamily="34" charset="0"/>
                <a:ea typeface="黑体" panose="02010609060101010101" pitchFamily="49" charset="-122"/>
              </a:rPr>
              <a:t>指令（访存指令的代表）</a:t>
            </a:r>
            <a:endParaRPr lang="zh-CN" altLang="en-US" sz="2200" dirty="0">
              <a:solidFill>
                <a:schemeClr val="accent1"/>
              </a:solidFill>
              <a:latin typeface="Arial" panose="020B0604020202020204" pitchFamily="34" charset="0"/>
              <a:ea typeface="黑体" panose="02010609060101010101" pitchFamily="49" charset="-122"/>
            </a:endParaRPr>
          </a:p>
        </p:txBody>
      </p:sp>
      <p:grpSp>
        <p:nvGrpSpPr>
          <p:cNvPr id="213072" name="组合 213071"/>
          <p:cNvGrpSpPr/>
          <p:nvPr/>
        </p:nvGrpSpPr>
        <p:grpSpPr>
          <a:xfrm>
            <a:off x="639763" y="2228850"/>
            <a:ext cx="8504237" cy="1968500"/>
            <a:chOff x="376" y="1412"/>
            <a:chExt cx="5357" cy="1240"/>
          </a:xfrm>
        </p:grpSpPr>
        <p:sp>
          <p:nvSpPr>
            <p:cNvPr id="70661" name="文本框 213069"/>
            <p:cNvSpPr txBox="1"/>
            <p:nvPr/>
          </p:nvSpPr>
          <p:spPr>
            <a:xfrm>
              <a:off x="376" y="2440"/>
              <a:ext cx="1682" cy="212"/>
            </a:xfrm>
            <a:prstGeom prst="rect">
              <a:avLst/>
            </a:prstGeom>
            <a:solidFill>
              <a:srgbClr val="FF99CC">
                <a:alpha val="42000"/>
              </a:srgbClr>
            </a:solidFill>
            <a:ln w="50800">
              <a:noFill/>
            </a:ln>
          </p:spPr>
          <p:txBody>
            <a:bodyPr anchor="t" anchorCtr="0">
              <a:spAutoFit/>
            </a:bodyPr>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70662" name="矩形 213070"/>
            <p:cNvSpPr/>
            <p:nvPr/>
          </p:nvSpPr>
          <p:spPr>
            <a:xfrm>
              <a:off x="1893" y="1412"/>
              <a:ext cx="3840" cy="667"/>
            </a:xfrm>
            <a:prstGeom prst="rect">
              <a:avLst/>
            </a:prstGeom>
            <a:solidFill>
              <a:srgbClr val="FF99CC">
                <a:alpha val="35001"/>
              </a:srgbClr>
            </a:solidFill>
            <a:ln w="50800">
              <a:noFill/>
            </a:ln>
          </p:spPr>
          <p:txBody>
            <a:bodyPr anchor="t" anchorCtr="0"/>
            <a:p>
              <a:endParaRPr lang="zh-CN" altLang="en-US">
                <a:latin typeface="Arial" panose="020B0604020202020204" pitchFamily="34" charset="0"/>
              </a:endParaRPr>
            </a:p>
          </p:txBody>
        </p:sp>
      </p:grpSp>
      <p:grpSp>
        <p:nvGrpSpPr>
          <p:cNvPr id="70663" name="组合 213072"/>
          <p:cNvGrpSpPr/>
          <p:nvPr/>
        </p:nvGrpSpPr>
        <p:grpSpPr>
          <a:xfrm>
            <a:off x="3068638" y="2266950"/>
            <a:ext cx="5999162" cy="989013"/>
            <a:chOff x="1918" y="1392"/>
            <a:chExt cx="3763" cy="607"/>
          </a:xfrm>
        </p:grpSpPr>
        <p:sp>
          <p:nvSpPr>
            <p:cNvPr id="70664" name="矩形 213073"/>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0665" name="组合 213074"/>
            <p:cNvGrpSpPr/>
            <p:nvPr/>
          </p:nvGrpSpPr>
          <p:grpSpPr>
            <a:xfrm>
              <a:off x="1979" y="1584"/>
              <a:ext cx="624" cy="223"/>
              <a:chOff x="1979" y="1584"/>
              <a:chExt cx="624" cy="223"/>
            </a:xfrm>
          </p:grpSpPr>
          <p:sp>
            <p:nvSpPr>
              <p:cNvPr id="70666" name="矩形 213075"/>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667" name="矩形 213076"/>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70668" name="组合 213077"/>
            <p:cNvGrpSpPr/>
            <p:nvPr/>
          </p:nvGrpSpPr>
          <p:grpSpPr>
            <a:xfrm>
              <a:off x="2611" y="1584"/>
              <a:ext cx="580" cy="223"/>
              <a:chOff x="2611" y="1584"/>
              <a:chExt cx="580" cy="223"/>
            </a:xfrm>
          </p:grpSpPr>
          <p:sp>
            <p:nvSpPr>
              <p:cNvPr id="70669" name="矩形 213078"/>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670" name="矩形 213079"/>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70671" name="组合 213080"/>
            <p:cNvGrpSpPr/>
            <p:nvPr/>
          </p:nvGrpSpPr>
          <p:grpSpPr>
            <a:xfrm>
              <a:off x="3199" y="1584"/>
              <a:ext cx="579" cy="223"/>
              <a:chOff x="3199" y="1584"/>
              <a:chExt cx="579" cy="223"/>
            </a:xfrm>
          </p:grpSpPr>
          <p:sp>
            <p:nvSpPr>
              <p:cNvPr id="70672" name="矩形 213081"/>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673" name="矩形 213082"/>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70674" name="矩形 213083"/>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675" name="矩形 213084"/>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70676" name="矩形 213085"/>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0677" name="矩形 213086"/>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70678" name="矩形 213087"/>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70679" name="矩形 213088"/>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0680" name="矩形 213089"/>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70681" name="矩形 213090"/>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682" name="矩形 213091"/>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683" name="矩形 213092"/>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684" name="矩形 213093"/>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70685" name="组合 213094"/>
          <p:cNvGrpSpPr/>
          <p:nvPr/>
        </p:nvGrpSpPr>
        <p:grpSpPr>
          <a:xfrm>
            <a:off x="3238500" y="990600"/>
            <a:ext cx="5905500" cy="973138"/>
            <a:chOff x="1918" y="672"/>
            <a:chExt cx="3767" cy="613"/>
          </a:xfrm>
        </p:grpSpPr>
        <p:grpSp>
          <p:nvGrpSpPr>
            <p:cNvPr id="70686" name="组合 213095"/>
            <p:cNvGrpSpPr/>
            <p:nvPr/>
          </p:nvGrpSpPr>
          <p:grpSpPr>
            <a:xfrm>
              <a:off x="1918" y="672"/>
              <a:ext cx="3767" cy="421"/>
              <a:chOff x="1918" y="672"/>
              <a:chExt cx="3767" cy="421"/>
            </a:xfrm>
          </p:grpSpPr>
          <p:grpSp>
            <p:nvGrpSpPr>
              <p:cNvPr id="70687" name="组合 213096"/>
              <p:cNvGrpSpPr/>
              <p:nvPr/>
            </p:nvGrpSpPr>
            <p:grpSpPr>
              <a:xfrm>
                <a:off x="1979" y="864"/>
                <a:ext cx="3607" cy="229"/>
                <a:chOff x="1979" y="864"/>
                <a:chExt cx="3607" cy="229"/>
              </a:xfrm>
            </p:grpSpPr>
            <p:sp>
              <p:nvSpPr>
                <p:cNvPr id="70688" name="矩形 213097"/>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0689" name="组合 213098"/>
                <p:cNvGrpSpPr/>
                <p:nvPr/>
              </p:nvGrpSpPr>
              <p:grpSpPr>
                <a:xfrm>
                  <a:off x="1979" y="864"/>
                  <a:ext cx="3607" cy="229"/>
                  <a:chOff x="1979" y="864"/>
                  <a:chExt cx="3607" cy="229"/>
                </a:xfrm>
              </p:grpSpPr>
              <p:grpSp>
                <p:nvGrpSpPr>
                  <p:cNvPr id="70690" name="组合 213099"/>
                  <p:cNvGrpSpPr/>
                  <p:nvPr/>
                </p:nvGrpSpPr>
                <p:grpSpPr>
                  <a:xfrm>
                    <a:off x="1979" y="864"/>
                    <a:ext cx="624" cy="229"/>
                    <a:chOff x="1979" y="864"/>
                    <a:chExt cx="624" cy="229"/>
                  </a:xfrm>
                </p:grpSpPr>
                <p:sp>
                  <p:nvSpPr>
                    <p:cNvPr id="70691" name="矩形 213100"/>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692" name="矩形 213101"/>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70693" name="组合 213102"/>
                  <p:cNvGrpSpPr/>
                  <p:nvPr/>
                </p:nvGrpSpPr>
                <p:grpSpPr>
                  <a:xfrm>
                    <a:off x="2611" y="864"/>
                    <a:ext cx="580" cy="229"/>
                    <a:chOff x="2611" y="864"/>
                    <a:chExt cx="580" cy="229"/>
                  </a:xfrm>
                </p:grpSpPr>
                <p:sp>
                  <p:nvSpPr>
                    <p:cNvPr id="70694" name="矩形 213103"/>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695" name="矩形 213104"/>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70696" name="组合 213105"/>
                  <p:cNvGrpSpPr/>
                  <p:nvPr/>
                </p:nvGrpSpPr>
                <p:grpSpPr>
                  <a:xfrm>
                    <a:off x="3199" y="864"/>
                    <a:ext cx="579" cy="229"/>
                    <a:chOff x="3199" y="864"/>
                    <a:chExt cx="579" cy="229"/>
                  </a:xfrm>
                </p:grpSpPr>
                <p:sp>
                  <p:nvSpPr>
                    <p:cNvPr id="70697" name="矩形 213106"/>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698" name="矩形 213107"/>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70699" name="组合 213108"/>
                  <p:cNvGrpSpPr/>
                  <p:nvPr/>
                </p:nvGrpSpPr>
                <p:grpSpPr>
                  <a:xfrm>
                    <a:off x="3786" y="864"/>
                    <a:ext cx="579" cy="229"/>
                    <a:chOff x="3786" y="864"/>
                    <a:chExt cx="579" cy="229"/>
                  </a:xfrm>
                </p:grpSpPr>
                <p:sp>
                  <p:nvSpPr>
                    <p:cNvPr id="70700" name="矩形 213109"/>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701" name="矩形 213110"/>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70702" name="组合 213111"/>
                  <p:cNvGrpSpPr/>
                  <p:nvPr/>
                </p:nvGrpSpPr>
                <p:grpSpPr>
                  <a:xfrm>
                    <a:off x="4373" y="864"/>
                    <a:ext cx="620" cy="229"/>
                    <a:chOff x="4373" y="864"/>
                    <a:chExt cx="620" cy="229"/>
                  </a:xfrm>
                </p:grpSpPr>
                <p:sp>
                  <p:nvSpPr>
                    <p:cNvPr id="70703" name="矩形 213112"/>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704" name="矩形 213113"/>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70705" name="组合 213114"/>
                  <p:cNvGrpSpPr/>
                  <p:nvPr/>
                </p:nvGrpSpPr>
                <p:grpSpPr>
                  <a:xfrm>
                    <a:off x="4961" y="864"/>
                    <a:ext cx="625" cy="229"/>
                    <a:chOff x="4961" y="864"/>
                    <a:chExt cx="625" cy="229"/>
                  </a:xfrm>
                </p:grpSpPr>
                <p:sp>
                  <p:nvSpPr>
                    <p:cNvPr id="70706" name="矩形 213115"/>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707" name="矩形 213116"/>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70708" name="矩形 213117"/>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0709" name="矩形 213118"/>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70710" name="矩形 213119"/>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70711" name="矩形 213120"/>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70712" name="矩形 213121"/>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70713" name="矩形 213122"/>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0714" name="矩形 213123"/>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70715" name="矩形 213124"/>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716" name="矩形 213125"/>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717" name="矩形 213126"/>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718" name="矩形 213127"/>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719" name="矩形 213128"/>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720" name="矩形 213129"/>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70721" name="组合 213130"/>
          <p:cNvGrpSpPr/>
          <p:nvPr/>
        </p:nvGrpSpPr>
        <p:grpSpPr>
          <a:xfrm>
            <a:off x="3130550" y="5059363"/>
            <a:ext cx="5975350" cy="1012825"/>
            <a:chOff x="1918" y="3360"/>
            <a:chExt cx="3764" cy="599"/>
          </a:xfrm>
        </p:grpSpPr>
        <p:sp>
          <p:nvSpPr>
            <p:cNvPr id="70722" name="矩形 213131"/>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0723" name="组合 213132"/>
            <p:cNvGrpSpPr/>
            <p:nvPr/>
          </p:nvGrpSpPr>
          <p:grpSpPr>
            <a:xfrm>
              <a:off x="1979" y="3552"/>
              <a:ext cx="624" cy="216"/>
              <a:chOff x="1979" y="3552"/>
              <a:chExt cx="624" cy="216"/>
            </a:xfrm>
          </p:grpSpPr>
          <p:sp>
            <p:nvSpPr>
              <p:cNvPr id="70724" name="矩形 213133"/>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725" name="矩形 213134"/>
              <p:cNvSpPr/>
              <p:nvPr/>
            </p:nvSpPr>
            <p:spPr>
              <a:xfrm>
                <a:off x="2161" y="3552"/>
                <a:ext cx="290" cy="216"/>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70726" name="矩形 213135"/>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0727" name="矩形 213136"/>
            <p:cNvSpPr/>
            <p:nvPr/>
          </p:nvSpPr>
          <p:spPr>
            <a:xfrm>
              <a:off x="3554" y="3552"/>
              <a:ext cx="1098" cy="215"/>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70728" name="矩形 213137"/>
            <p:cNvSpPr/>
            <p:nvPr/>
          </p:nvSpPr>
          <p:spPr>
            <a:xfrm>
              <a:off x="5488" y="3360"/>
              <a:ext cx="19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0729" name="矩形 213138"/>
            <p:cNvSpPr/>
            <p:nvPr/>
          </p:nvSpPr>
          <p:spPr>
            <a:xfrm>
              <a:off x="2414"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0730" name="矩形 213139"/>
            <p:cNvSpPr/>
            <p:nvPr/>
          </p:nvSpPr>
          <p:spPr>
            <a:xfrm>
              <a:off x="1918"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70731" name="矩形 213140"/>
            <p:cNvSpPr/>
            <p:nvPr/>
          </p:nvSpPr>
          <p:spPr>
            <a:xfrm>
              <a:off x="2143" y="3744"/>
              <a:ext cx="482"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0732" name="矩形 213141"/>
            <p:cNvSpPr/>
            <p:nvPr/>
          </p:nvSpPr>
          <p:spPr>
            <a:xfrm>
              <a:off x="3816" y="3744"/>
              <a:ext cx="570"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3068"/>
                                        </p:tgtEl>
                                        <p:attrNameLst>
                                          <p:attrName>style.visibility</p:attrName>
                                        </p:attrNameLst>
                                      </p:cBhvr>
                                      <p:to>
                                        <p:strVal val="visible"/>
                                      </p:to>
                                    </p:set>
                                    <p:animEffect transition="in" filter="blinds(horizontal)">
                                      <p:cBhvr>
                                        <p:cTn id="7" dur="500"/>
                                        <p:tgtEl>
                                          <p:spTgt spid="2130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3072"/>
                                        </p:tgtEl>
                                        <p:attrNameLst>
                                          <p:attrName>style.visibility</p:attrName>
                                        </p:attrNameLst>
                                      </p:cBhvr>
                                      <p:to>
                                        <p:strVal val="visible"/>
                                      </p:to>
                                    </p:set>
                                    <p:animEffect transition="in" filter="blinds(horizontal)">
                                      <p:cBhvr>
                                        <p:cTn id="12" dur="500"/>
                                        <p:tgtEl>
                                          <p:spTgt spid="213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6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215041"/>
          <p:cNvSpPr>
            <a:spLocks noGrp="1"/>
          </p:cNvSpPr>
          <p:nvPr>
            <p:ph type="title"/>
          </p:nvPr>
        </p:nvSpPr>
        <p:spPr>
          <a:xfrm>
            <a:off x="720725" y="207963"/>
            <a:ext cx="4616450" cy="422275"/>
          </a:xfrm>
          <a:ln/>
        </p:spPr>
        <p:txBody>
          <a:bodyPr vert="horz" wrap="none" lIns="63500" tIns="25400" rIns="63500" bIns="25400" anchor="t" anchorCtr="0">
            <a:spAutoFit/>
          </a:bodyPr>
          <a:p>
            <a:r>
              <a:rPr lang="en-US" altLang="zh-CN">
                <a:ea typeface="宋体" panose="02010600030101010101" pitchFamily="2" charset="-122"/>
              </a:rPr>
              <a:t>RTL: The Store Instruction</a:t>
            </a:r>
            <a:endParaRPr lang="en-US" altLang="zh-CN">
              <a:ea typeface="宋体" panose="02010600030101010101" pitchFamily="2" charset="-122"/>
            </a:endParaRPr>
          </a:p>
        </p:txBody>
      </p:sp>
      <p:sp>
        <p:nvSpPr>
          <p:cNvPr id="215043" name="内容占位符 215042"/>
          <p:cNvSpPr>
            <a:spLocks noGrp="1"/>
          </p:cNvSpPr>
          <p:nvPr>
            <p:ph idx="1"/>
          </p:nvPr>
        </p:nvSpPr>
        <p:spPr>
          <a:xfrm>
            <a:off x="198438" y="2462213"/>
            <a:ext cx="8743950" cy="2000250"/>
          </a:xfrm>
          <a:ln/>
        </p:spPr>
        <p:txBody>
          <a:bodyPr vert="horz" wrap="square" lIns="63500" tIns="25400" rIns="63500" bIns="25400" anchor="t" anchorCtr="0">
            <a:spAutoFit/>
          </a:bodyPr>
          <a:p>
            <a:r>
              <a:rPr lang="en-US" altLang="zh-CN" sz="2000" dirty="0" err="1">
                <a:ea typeface="黑体" panose="02010609060101010101" pitchFamily="49" charset="-122"/>
              </a:rPr>
              <a:t>sw</a:t>
            </a:r>
            <a:r>
              <a:rPr lang="en-US" altLang="zh-CN" sz="2000">
                <a:ea typeface="黑体" panose="02010609060101010101" pitchFamily="49" charset="-122"/>
              </a:rPr>
              <a:t>	</a:t>
            </a:r>
            <a:r>
              <a:rPr lang="en-US" altLang="zh-CN" sz="2000" dirty="0" err="1">
                <a:ea typeface="黑体" panose="02010609060101010101" pitchFamily="49" charset="-122"/>
              </a:rPr>
              <a:t>rt</a:t>
            </a:r>
            <a:r>
              <a:rPr lang="en-US" altLang="zh-CN" sz="2000">
                <a:ea typeface="黑体" panose="02010609060101010101" pitchFamily="49" charset="-122"/>
              </a:rPr>
              <a:t>, </a:t>
            </a:r>
            <a:r>
              <a:rPr lang="en-US" altLang="zh-CN" sz="2000" dirty="0" err="1">
                <a:ea typeface="黑体" panose="02010609060101010101" pitchFamily="49" charset="-122"/>
              </a:rPr>
              <a:t>rs</a:t>
            </a:r>
            <a:r>
              <a:rPr lang="en-US" altLang="zh-CN" sz="2000">
                <a:ea typeface="黑体" panose="02010609060101010101" pitchFamily="49" charset="-122"/>
              </a:rPr>
              <a:t>, imm16</a:t>
            </a:r>
            <a:endParaRPr lang="en-US" altLang="zh-CN" sz="2000">
              <a:ea typeface="黑体" panose="02010609060101010101" pitchFamily="49" charset="-122"/>
            </a:endParaRPr>
          </a:p>
          <a:p>
            <a:pPr lvl="1"/>
            <a:r>
              <a:rPr lang="en-US" altLang="zh-CN" sz="2000">
                <a:ea typeface="黑体" panose="02010609060101010101" pitchFamily="49" charset="-122"/>
              </a:rPr>
              <a:t>M[PC]			       </a:t>
            </a:r>
            <a:r>
              <a:rPr lang="zh-CN" altLang="en-US" sz="2000" dirty="0">
                <a:solidFill>
                  <a:srgbClr val="0000FF"/>
                </a:solidFill>
                <a:ea typeface="黑体" panose="02010609060101010101" pitchFamily="49" charset="-122"/>
              </a:rPr>
              <a:t>取指令（公共操作，取指部件完成）</a:t>
            </a:r>
            <a:endParaRPr lang="en-US" altLang="zh-CN" sz="2000">
              <a:ea typeface="黑体" panose="02010609060101010101" pitchFamily="49" charset="-122"/>
            </a:endParaRPr>
          </a:p>
          <a:p>
            <a:pPr lvl="1"/>
            <a:r>
              <a:rPr lang="en-US" altLang="zh-CN" sz="2000" dirty="0" err="1">
                <a:ea typeface="黑体" panose="02010609060101010101" pitchFamily="49" charset="-122"/>
              </a:rPr>
              <a:t>Addr</a:t>
            </a:r>
            <a:r>
              <a:rPr lang="en-US" altLang="zh-CN" sz="2000">
                <a:ea typeface="黑体" panose="02010609060101010101" pitchFamily="49" charset="-122"/>
              </a:rPr>
              <a:t>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a:t>
            </a:r>
            <a:r>
              <a:rPr lang="en-US" altLang="zh-CN" sz="2000" dirty="0" err="1">
                <a:ea typeface="黑体" panose="02010609060101010101" pitchFamily="49" charset="-122"/>
              </a:rPr>
              <a:t>R[rs</a:t>
            </a:r>
            <a:r>
              <a:rPr lang="en-US" altLang="zh-CN" sz="2000">
                <a:ea typeface="黑体" panose="02010609060101010101" pitchFamily="49" charset="-122"/>
              </a:rPr>
              <a:t>] + SignExt(imm16)   </a:t>
            </a:r>
            <a:r>
              <a:rPr lang="zh-CN" altLang="en-US" sz="2000" dirty="0">
                <a:ea typeface="黑体" panose="02010609060101010101" pitchFamily="49" charset="-122"/>
              </a:rPr>
              <a:t>计算存储单元地址</a:t>
            </a:r>
            <a:r>
              <a:rPr lang="zh-CN" altLang="en-US" sz="2000" dirty="0">
                <a:solidFill>
                  <a:schemeClr val="accent1"/>
                </a:solidFill>
                <a:ea typeface="黑体" panose="02010609060101010101" pitchFamily="49" charset="-122"/>
              </a:rPr>
              <a:t>（符号扩展！）</a:t>
            </a:r>
            <a:endParaRPr lang="en-US" altLang="zh-CN" sz="2000">
              <a:ea typeface="黑体" panose="02010609060101010101" pitchFamily="49" charset="-122"/>
            </a:endParaRPr>
          </a:p>
          <a:p>
            <a:pPr lvl="1"/>
            <a:r>
              <a:rPr lang="en-US" altLang="zh-CN" sz="2000" dirty="0" err="1">
                <a:ea typeface="黑体" panose="02010609060101010101" pitchFamily="49" charset="-122"/>
              </a:rPr>
              <a:t>Mem[Addr</a:t>
            </a:r>
            <a:r>
              <a:rPr lang="en-US" altLang="zh-CN" sz="2000">
                <a:ea typeface="黑体" panose="02010609060101010101" pitchFamily="49" charset="-122"/>
              </a:rPr>
              <a:t>]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a:t>
            </a:r>
            <a:r>
              <a:rPr lang="en-US" altLang="zh-CN" sz="2000" dirty="0" err="1">
                <a:ea typeface="黑体" panose="02010609060101010101" pitchFamily="49" charset="-122"/>
              </a:rPr>
              <a:t>R[rt</a:t>
            </a:r>
            <a:r>
              <a:rPr lang="en-US" altLang="zh-CN" sz="2000">
                <a:ea typeface="黑体" panose="02010609060101010101" pitchFamily="49" charset="-122"/>
              </a:rPr>
              <a:t>]	       </a:t>
            </a:r>
            <a:r>
              <a:rPr lang="zh-CN" altLang="en-US" sz="2000" dirty="0">
                <a:ea typeface="黑体" panose="02010609060101010101" pitchFamily="49" charset="-122"/>
              </a:rPr>
              <a:t>寄存器</a:t>
            </a:r>
            <a:r>
              <a:rPr lang="en-US" altLang="zh-CN" sz="2000" dirty="0" err="1">
                <a:ea typeface="黑体" panose="02010609060101010101" pitchFamily="49" charset="-122"/>
              </a:rPr>
              <a:t>rt</a:t>
            </a:r>
            <a:r>
              <a:rPr lang="zh-CN" altLang="en-US" sz="2000" dirty="0">
                <a:ea typeface="黑体" panose="02010609060101010101" pitchFamily="49" charset="-122"/>
              </a:rPr>
              <a:t>中的内容存到内存单元中</a:t>
            </a:r>
            <a:endParaRPr lang="en-US" altLang="zh-CN" sz="2000">
              <a:ea typeface="黑体" panose="02010609060101010101" pitchFamily="49" charset="-122"/>
            </a:endParaRPr>
          </a:p>
          <a:p>
            <a:pPr lvl="1"/>
            <a:r>
              <a:rPr lang="en-US" altLang="zh-CN" sz="2000">
                <a:ea typeface="黑体" panose="02010609060101010101" pitchFamily="49" charset="-122"/>
              </a:rPr>
              <a:t>PC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PC + 4		    </a:t>
            </a:r>
            <a:r>
              <a:rPr lang="zh-CN" altLang="en-US" sz="2000" dirty="0">
                <a:solidFill>
                  <a:srgbClr val="0000FF"/>
                </a:solidFill>
                <a:ea typeface="黑体" panose="02010609060101010101" pitchFamily="49" charset="-122"/>
              </a:rPr>
              <a:t>计算下地址（公共操作，取指部件完成）</a:t>
            </a:r>
            <a:r>
              <a:rPr lang="zh-CN" altLang="en-US" dirty="0">
                <a:solidFill>
                  <a:srgbClr val="0000FF"/>
                </a:solidFill>
                <a:ea typeface="宋体" panose="02010600030101010101" pitchFamily="2" charset="-122"/>
              </a:rPr>
              <a:t>  </a:t>
            </a:r>
            <a:endParaRPr lang="en-US" altLang="zh-CN">
              <a:solidFill>
                <a:srgbClr val="0000FF"/>
              </a:solidFill>
              <a:ea typeface="宋体" panose="02010600030101010101" pitchFamily="2" charset="-122"/>
            </a:endParaRPr>
          </a:p>
        </p:txBody>
      </p:sp>
      <p:grpSp>
        <p:nvGrpSpPr>
          <p:cNvPr id="72707" name="组合 215067"/>
          <p:cNvGrpSpPr/>
          <p:nvPr/>
        </p:nvGrpSpPr>
        <p:grpSpPr>
          <a:xfrm>
            <a:off x="2281238" y="971550"/>
            <a:ext cx="5999162" cy="989013"/>
            <a:chOff x="1918" y="1392"/>
            <a:chExt cx="3763" cy="607"/>
          </a:xfrm>
        </p:grpSpPr>
        <p:sp>
          <p:nvSpPr>
            <p:cNvPr id="72708" name="矩形 215068"/>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2709" name="组合 215069"/>
            <p:cNvGrpSpPr/>
            <p:nvPr/>
          </p:nvGrpSpPr>
          <p:grpSpPr>
            <a:xfrm>
              <a:off x="1979" y="1584"/>
              <a:ext cx="624" cy="223"/>
              <a:chOff x="1979" y="1584"/>
              <a:chExt cx="624" cy="223"/>
            </a:xfrm>
          </p:grpSpPr>
          <p:sp>
            <p:nvSpPr>
              <p:cNvPr id="72710" name="矩形 215070"/>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2711" name="矩形 215071"/>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72712" name="组合 215072"/>
            <p:cNvGrpSpPr/>
            <p:nvPr/>
          </p:nvGrpSpPr>
          <p:grpSpPr>
            <a:xfrm>
              <a:off x="2611" y="1584"/>
              <a:ext cx="580" cy="223"/>
              <a:chOff x="2611" y="1584"/>
              <a:chExt cx="580" cy="223"/>
            </a:xfrm>
          </p:grpSpPr>
          <p:sp>
            <p:nvSpPr>
              <p:cNvPr id="72713" name="矩形 215073"/>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2714" name="矩形 215074"/>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72715" name="组合 215075"/>
            <p:cNvGrpSpPr/>
            <p:nvPr/>
          </p:nvGrpSpPr>
          <p:grpSpPr>
            <a:xfrm>
              <a:off x="3199" y="1584"/>
              <a:ext cx="579" cy="223"/>
              <a:chOff x="3199" y="1584"/>
              <a:chExt cx="579" cy="223"/>
            </a:xfrm>
          </p:grpSpPr>
          <p:sp>
            <p:nvSpPr>
              <p:cNvPr id="72716" name="矩形 215076"/>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2717" name="矩形 215077"/>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72718" name="矩形 215078"/>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2719" name="矩形 215079"/>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72720" name="矩形 215080"/>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2721" name="矩形 215081"/>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72722" name="矩形 215082"/>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72723" name="矩形 215083"/>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2724" name="矩形 215084"/>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72725" name="矩形 215085"/>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2726" name="矩形 215086"/>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2727" name="矩形 215087"/>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2728" name="矩形 215088"/>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
        <p:nvSpPr>
          <p:cNvPr id="215090" name="文本框 215089"/>
          <p:cNvSpPr txBox="1"/>
          <p:nvPr/>
        </p:nvSpPr>
        <p:spPr>
          <a:xfrm>
            <a:off x="377825" y="5795963"/>
            <a:ext cx="8318500" cy="427037"/>
          </a:xfrm>
          <a:prstGeom prst="rect">
            <a:avLst/>
          </a:prstGeom>
          <a:noFill/>
          <a:ln w="25400">
            <a:noFill/>
          </a:ln>
        </p:spPr>
        <p:txBody>
          <a:bodyPr anchor="t" anchorCtr="0">
            <a:spAutoFit/>
          </a:bodyPr>
          <a:p>
            <a:pPr>
              <a:spcBef>
                <a:spcPct val="50000"/>
              </a:spcBef>
            </a:pPr>
            <a:r>
              <a:rPr lang="zh-CN" altLang="en-US" sz="2200" dirty="0">
                <a:solidFill>
                  <a:srgbClr val="CC0000"/>
                </a:solidFill>
                <a:latin typeface="Arial" panose="020B0604020202020204" pitchFamily="34" charset="0"/>
                <a:ea typeface="黑体" panose="02010609060101010101" pitchFamily="49" charset="-122"/>
              </a:rPr>
              <a:t>思考：应在原数据通路上加哪些元件和连线？用何控制信号？</a:t>
            </a:r>
            <a:endParaRPr lang="zh-CN" altLang="en-US" sz="2200" dirty="0">
              <a:solidFill>
                <a:srgbClr val="CC0000"/>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43">
                                            <p:txEl>
                                              <p:charRg st="17" end="49"/>
                                            </p:txEl>
                                          </p:spTgt>
                                        </p:tgtEl>
                                        <p:attrNameLst>
                                          <p:attrName>style.visibility</p:attrName>
                                        </p:attrNameLst>
                                      </p:cBhvr>
                                      <p:to>
                                        <p:strVal val="visible"/>
                                      </p:to>
                                    </p:set>
                                    <p:animEffect transition="in" filter="blinds(horizontal)">
                                      <p:cBhvr>
                                        <p:cTn id="7" dur="500"/>
                                        <p:tgtEl>
                                          <p:spTgt spid="215043">
                                            <p:txEl>
                                              <p:charRg st="17" end="4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043">
                                            <p:txEl>
                                              <p:charRg st="49" end="97"/>
                                            </p:txEl>
                                          </p:spTgt>
                                        </p:tgtEl>
                                        <p:attrNameLst>
                                          <p:attrName>style.visibility</p:attrName>
                                        </p:attrNameLst>
                                      </p:cBhvr>
                                      <p:to>
                                        <p:strVal val="visible"/>
                                      </p:to>
                                    </p:set>
                                    <p:animEffect transition="in" filter="blinds(horizontal)">
                                      <p:cBhvr>
                                        <p:cTn id="12" dur="500"/>
                                        <p:tgtEl>
                                          <p:spTgt spid="215043">
                                            <p:txEl>
                                              <p:charRg st="49" end="9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5043">
                                            <p:txEl>
                                              <p:charRg st="97" end="139"/>
                                            </p:txEl>
                                          </p:spTgt>
                                        </p:tgtEl>
                                        <p:attrNameLst>
                                          <p:attrName>style.visibility</p:attrName>
                                        </p:attrNameLst>
                                      </p:cBhvr>
                                      <p:to>
                                        <p:strVal val="visible"/>
                                      </p:to>
                                    </p:set>
                                    <p:animEffect transition="in" filter="blinds(horizontal)">
                                      <p:cBhvr>
                                        <p:cTn id="17" dur="500"/>
                                        <p:tgtEl>
                                          <p:spTgt spid="215043">
                                            <p:txEl>
                                              <p:charRg st="97" end="13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5043">
                                            <p:txEl>
                                              <p:charRg st="139" end="177"/>
                                            </p:txEl>
                                          </p:spTgt>
                                        </p:tgtEl>
                                        <p:attrNameLst>
                                          <p:attrName>style.visibility</p:attrName>
                                        </p:attrNameLst>
                                      </p:cBhvr>
                                      <p:to>
                                        <p:strVal val="visible"/>
                                      </p:to>
                                    </p:set>
                                    <p:animEffect transition="in" filter="blinds(horizontal)">
                                      <p:cBhvr>
                                        <p:cTn id="22" dur="500"/>
                                        <p:tgtEl>
                                          <p:spTgt spid="215043">
                                            <p:txEl>
                                              <p:charRg st="139" end="17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15090"/>
                                        </p:tgtEl>
                                        <p:attrNameLst>
                                          <p:attrName>style.visibility</p:attrName>
                                        </p:attrNameLst>
                                      </p:cBhvr>
                                      <p:to>
                                        <p:strVal val="visible"/>
                                      </p:to>
                                    </p:set>
                                    <p:animEffect transition="in" filter="checkerboard(across)">
                                      <p:cBhvr>
                                        <p:cTn id="27" dur="500"/>
                                        <p:tgtEl>
                                          <p:spTgt spid="215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217089"/>
          <p:cNvSpPr>
            <a:spLocks noGrp="1"/>
          </p:cNvSpPr>
          <p:nvPr>
            <p:ph type="title"/>
          </p:nvPr>
        </p:nvSpPr>
        <p:spPr>
          <a:xfrm>
            <a:off x="444500" y="203200"/>
            <a:ext cx="6178550" cy="422275"/>
          </a:xfrm>
          <a:ln/>
        </p:spPr>
        <p:txBody>
          <a:bodyPr vert="horz" wrap="square" lIns="63500" tIns="25400" rIns="63500" bIns="25400" anchor="t" anchorCtr="0">
            <a:spAutoFit/>
          </a:bodyPr>
          <a:p>
            <a:r>
              <a:rPr lang="zh-CN" altLang="en-US" dirty="0">
                <a:ea typeface="宋体" panose="02010600030101010101" pitchFamily="2" charset="-122"/>
              </a:rPr>
              <a:t>存数</a:t>
            </a:r>
            <a:r>
              <a:rPr lang="en-US" altLang="zh-CN">
                <a:ea typeface="宋体" panose="02010600030101010101" pitchFamily="2" charset="-122"/>
              </a:rPr>
              <a:t>(</a:t>
            </a:r>
            <a:r>
              <a:rPr lang="en-US" altLang="zh-CN" dirty="0" err="1">
                <a:ea typeface="宋体" panose="02010600030101010101" pitchFamily="2" charset="-122"/>
              </a:rPr>
              <a:t>sw</a:t>
            </a:r>
            <a:r>
              <a:rPr lang="en-US" altLang="zh-CN">
                <a:ea typeface="宋体" panose="02010600030101010101" pitchFamily="2" charset="-122"/>
              </a:rPr>
              <a:t>)</a:t>
            </a:r>
            <a:r>
              <a:rPr lang="zh-CN" altLang="en-US" dirty="0">
                <a:ea typeface="宋体" panose="02010600030101010101" pitchFamily="2" charset="-122"/>
              </a:rPr>
              <a:t>指令的数据通路</a:t>
            </a:r>
            <a:endParaRPr lang="zh-CN" altLang="en-US" dirty="0">
              <a:ea typeface="宋体" panose="02010600030101010101" pitchFamily="2" charset="-122"/>
            </a:endParaRPr>
          </a:p>
        </p:txBody>
      </p:sp>
      <p:sp>
        <p:nvSpPr>
          <p:cNvPr id="74754" name="文本占位符 217090"/>
          <p:cNvSpPr>
            <a:spLocks noGrp="1"/>
          </p:cNvSpPr>
          <p:nvPr>
            <p:ph idx="1"/>
          </p:nvPr>
        </p:nvSpPr>
        <p:spPr>
          <a:xfrm>
            <a:off x="431800" y="711200"/>
            <a:ext cx="8191500" cy="415925"/>
          </a:xfrm>
          <a:ln/>
        </p:spPr>
        <p:txBody>
          <a:bodyPr vert="horz" wrap="square" lIns="63500" tIns="25400" rIns="63500" bIns="25400" anchor="t" anchorCtr="0">
            <a:spAutoFit/>
          </a:bodyPr>
          <a:p>
            <a:r>
              <a:rPr lang="en-US" altLang="zh-CN">
                <a:ea typeface="宋体" panose="02010600030101010101" pitchFamily="2" charset="-122"/>
              </a:rPr>
              <a:t>M[ </a:t>
            </a:r>
            <a:r>
              <a:rPr lang="en-US" altLang="zh-CN" dirty="0" err="1">
                <a:solidFill>
                  <a:srgbClr val="0000FF"/>
                </a:solidFill>
                <a:ea typeface="宋体" panose="02010600030101010101" pitchFamily="2" charset="-122"/>
              </a:rPr>
              <a:t>R[rs</a:t>
            </a:r>
            <a:r>
              <a:rPr lang="en-US" altLang="zh-CN">
                <a:solidFill>
                  <a:srgbClr val="0000FF"/>
                </a:solidFill>
                <a:ea typeface="宋体" panose="02010600030101010101" pitchFamily="2" charset="-122"/>
              </a:rPr>
              <a:t>] + SignExt[imm16] </a:t>
            </a:r>
            <a:r>
              <a:rPr lang="en-US" altLang="zh-CN" sz="2400">
                <a:solidFill>
                  <a:srgbClr val="CC0000"/>
                </a:solidFill>
                <a:latin typeface="黑体" panose="02010609060101010101" pitchFamily="49" charset="-122"/>
                <a:ea typeface="黑体" panose="02010609060101010101" pitchFamily="49" charset="-122"/>
                <a:sym typeface="Wingdings" panose="05000000000000000000" pitchFamily="2" charset="2"/>
              </a:rPr>
              <a:t>←</a:t>
            </a:r>
            <a:r>
              <a:rPr lang="en-US" altLang="zh-CN" sz="2400">
                <a:solidFill>
                  <a:srgbClr val="0000FF"/>
                </a:solidFill>
                <a:latin typeface="黑体" panose="02010609060101010101" pitchFamily="49" charset="-122"/>
                <a:ea typeface="黑体" panose="02010609060101010101" pitchFamily="49" charset="-122"/>
              </a:rPr>
              <a:t> </a:t>
            </a:r>
            <a:r>
              <a:rPr lang="en-US" altLang="zh-CN" dirty="0" err="1">
                <a:solidFill>
                  <a:srgbClr val="0000FF"/>
                </a:solidFill>
                <a:ea typeface="宋体" panose="02010600030101010101" pitchFamily="2" charset="-122"/>
              </a:rPr>
              <a:t>R[rt</a:t>
            </a:r>
            <a:r>
              <a:rPr lang="en-US" altLang="zh-CN">
                <a:solidFill>
                  <a:srgbClr val="0000FF"/>
                </a:solidFill>
                <a:ea typeface="宋体" panose="02010600030101010101" pitchFamily="2" charset="-122"/>
              </a:rPr>
              <a:t>]</a:t>
            </a:r>
            <a:r>
              <a:rPr lang="en-US" altLang="zh-CN">
                <a:ea typeface="宋体" panose="02010600030101010101" pitchFamily="2" charset="-122"/>
              </a:rPr>
              <a:t> ] 	Example: </a:t>
            </a:r>
            <a:r>
              <a:rPr lang="en-US" altLang="zh-CN" dirty="0" err="1">
                <a:ea typeface="宋体" panose="02010600030101010101" pitchFamily="2" charset="-122"/>
              </a:rPr>
              <a:t>sw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p:txBody>
      </p:sp>
      <p:grpSp>
        <p:nvGrpSpPr>
          <p:cNvPr id="74755" name="组合 217091"/>
          <p:cNvGrpSpPr/>
          <p:nvPr/>
        </p:nvGrpSpPr>
        <p:grpSpPr>
          <a:xfrm>
            <a:off x="4953000" y="3321050"/>
            <a:ext cx="457200" cy="1136650"/>
            <a:chOff x="3120" y="2398"/>
            <a:chExt cx="288" cy="716"/>
          </a:xfrm>
        </p:grpSpPr>
        <p:sp>
          <p:nvSpPr>
            <p:cNvPr id="74756" name="直接连接符 217092"/>
            <p:cNvSpPr/>
            <p:nvPr/>
          </p:nvSpPr>
          <p:spPr>
            <a:xfrm>
              <a:off x="3120" y="2398"/>
              <a:ext cx="0" cy="163"/>
            </a:xfrm>
            <a:prstGeom prst="line">
              <a:avLst/>
            </a:prstGeom>
            <a:ln w="25400" cap="flat" cmpd="sng">
              <a:solidFill>
                <a:schemeClr val="tx1"/>
              </a:solidFill>
              <a:prstDash val="solid"/>
              <a:round/>
              <a:headEnd type="none" w="med" len="med"/>
              <a:tailEnd type="none" w="med" len="med"/>
            </a:ln>
          </p:spPr>
        </p:sp>
        <p:sp>
          <p:nvSpPr>
            <p:cNvPr id="74757" name="直接连接符 217093"/>
            <p:cNvSpPr/>
            <p:nvPr/>
          </p:nvSpPr>
          <p:spPr>
            <a:xfrm>
              <a:off x="3128" y="2398"/>
              <a:ext cx="272" cy="163"/>
            </a:xfrm>
            <a:prstGeom prst="line">
              <a:avLst/>
            </a:prstGeom>
            <a:ln w="25400" cap="flat" cmpd="sng">
              <a:solidFill>
                <a:schemeClr val="tx1"/>
              </a:solidFill>
              <a:prstDash val="solid"/>
              <a:round/>
              <a:headEnd type="none" w="med" len="med"/>
              <a:tailEnd type="none" w="med" len="med"/>
            </a:ln>
          </p:spPr>
        </p:sp>
        <p:sp>
          <p:nvSpPr>
            <p:cNvPr id="74758" name="直接连接符 217094"/>
            <p:cNvSpPr/>
            <p:nvPr/>
          </p:nvSpPr>
          <p:spPr>
            <a:xfrm>
              <a:off x="3128" y="2577"/>
              <a:ext cx="128" cy="74"/>
            </a:xfrm>
            <a:prstGeom prst="line">
              <a:avLst/>
            </a:prstGeom>
            <a:ln w="25400" cap="flat" cmpd="sng">
              <a:solidFill>
                <a:schemeClr val="tx1"/>
              </a:solidFill>
              <a:prstDash val="solid"/>
              <a:round/>
              <a:headEnd type="none" w="med" len="med"/>
              <a:tailEnd type="none" w="med" len="med"/>
            </a:ln>
          </p:spPr>
        </p:sp>
        <p:sp>
          <p:nvSpPr>
            <p:cNvPr id="74759" name="直接连接符 217095"/>
            <p:cNvSpPr/>
            <p:nvPr/>
          </p:nvSpPr>
          <p:spPr>
            <a:xfrm>
              <a:off x="3264" y="2667"/>
              <a:ext cx="0" cy="163"/>
            </a:xfrm>
            <a:prstGeom prst="line">
              <a:avLst/>
            </a:prstGeom>
            <a:ln w="25400" cap="flat" cmpd="sng">
              <a:solidFill>
                <a:schemeClr val="tx1"/>
              </a:solidFill>
              <a:prstDash val="solid"/>
              <a:round/>
              <a:headEnd type="none" w="med" len="med"/>
              <a:tailEnd type="none" w="med" len="med"/>
            </a:ln>
          </p:spPr>
        </p:sp>
        <p:sp>
          <p:nvSpPr>
            <p:cNvPr id="74760" name="直接连接符 217096"/>
            <p:cNvSpPr/>
            <p:nvPr/>
          </p:nvSpPr>
          <p:spPr>
            <a:xfrm>
              <a:off x="3408" y="2577"/>
              <a:ext cx="0" cy="342"/>
            </a:xfrm>
            <a:prstGeom prst="line">
              <a:avLst/>
            </a:prstGeom>
            <a:ln w="25400" cap="flat" cmpd="sng">
              <a:solidFill>
                <a:schemeClr val="tx1"/>
              </a:solidFill>
              <a:prstDash val="solid"/>
              <a:round/>
              <a:headEnd type="none" w="med" len="med"/>
              <a:tailEnd type="none" w="med" len="med"/>
            </a:ln>
          </p:spPr>
        </p:sp>
        <p:sp>
          <p:nvSpPr>
            <p:cNvPr id="74761" name="直接连接符 217097"/>
            <p:cNvSpPr/>
            <p:nvPr/>
          </p:nvSpPr>
          <p:spPr>
            <a:xfrm flipV="1">
              <a:off x="3128" y="2830"/>
              <a:ext cx="128" cy="105"/>
            </a:xfrm>
            <a:prstGeom prst="line">
              <a:avLst/>
            </a:prstGeom>
            <a:ln w="25400" cap="flat" cmpd="sng">
              <a:solidFill>
                <a:schemeClr val="tx1"/>
              </a:solidFill>
              <a:prstDash val="solid"/>
              <a:round/>
              <a:headEnd type="none" w="med" len="med"/>
              <a:tailEnd type="none" w="med" len="med"/>
            </a:ln>
          </p:spPr>
        </p:sp>
        <p:sp>
          <p:nvSpPr>
            <p:cNvPr id="74762" name="直接连接符 217098"/>
            <p:cNvSpPr/>
            <p:nvPr/>
          </p:nvSpPr>
          <p:spPr>
            <a:xfrm>
              <a:off x="3120" y="2935"/>
              <a:ext cx="0" cy="163"/>
            </a:xfrm>
            <a:prstGeom prst="line">
              <a:avLst/>
            </a:prstGeom>
            <a:ln w="25400" cap="flat" cmpd="sng">
              <a:solidFill>
                <a:schemeClr val="tx1"/>
              </a:solidFill>
              <a:prstDash val="solid"/>
              <a:round/>
              <a:headEnd type="none" w="med" len="med"/>
              <a:tailEnd type="none" w="med" len="med"/>
            </a:ln>
          </p:spPr>
        </p:sp>
        <p:sp>
          <p:nvSpPr>
            <p:cNvPr id="74763" name="直接连接符 217099"/>
            <p:cNvSpPr/>
            <p:nvPr/>
          </p:nvSpPr>
          <p:spPr>
            <a:xfrm flipV="1">
              <a:off x="3128" y="2919"/>
              <a:ext cx="272" cy="195"/>
            </a:xfrm>
            <a:prstGeom prst="line">
              <a:avLst/>
            </a:prstGeom>
            <a:ln w="25400" cap="flat" cmpd="sng">
              <a:solidFill>
                <a:schemeClr val="tx1"/>
              </a:solidFill>
              <a:prstDash val="solid"/>
              <a:round/>
              <a:headEnd type="none" w="med" len="med"/>
              <a:tailEnd type="none" w="med" len="med"/>
            </a:ln>
          </p:spPr>
        </p:sp>
      </p:grpSp>
      <p:sp>
        <p:nvSpPr>
          <p:cNvPr id="74764" name="直接连接符 217100"/>
          <p:cNvSpPr/>
          <p:nvPr/>
        </p:nvSpPr>
        <p:spPr>
          <a:xfrm flipH="1">
            <a:off x="5397500" y="3876675"/>
            <a:ext cx="2311400" cy="0"/>
          </a:xfrm>
          <a:prstGeom prst="line">
            <a:avLst/>
          </a:prstGeom>
          <a:ln w="25400" cap="flat" cmpd="sng">
            <a:solidFill>
              <a:schemeClr val="tx1"/>
            </a:solidFill>
            <a:prstDash val="solid"/>
            <a:round/>
            <a:headEnd type="triangle" w="med" len="med"/>
            <a:tailEnd type="none" w="med" len="med"/>
          </a:ln>
        </p:spPr>
      </p:sp>
      <p:sp>
        <p:nvSpPr>
          <p:cNvPr id="74765" name="直接连接符 217101"/>
          <p:cNvSpPr/>
          <p:nvPr/>
        </p:nvSpPr>
        <p:spPr>
          <a:xfrm flipH="1">
            <a:off x="5784850" y="3813175"/>
            <a:ext cx="88900" cy="128588"/>
          </a:xfrm>
          <a:prstGeom prst="line">
            <a:avLst/>
          </a:prstGeom>
          <a:ln w="12700" cap="flat" cmpd="sng">
            <a:solidFill>
              <a:schemeClr val="tx1"/>
            </a:solidFill>
            <a:prstDash val="solid"/>
            <a:round/>
            <a:headEnd type="none" w="med" len="med"/>
            <a:tailEnd type="none" w="med" len="med"/>
          </a:ln>
        </p:spPr>
      </p:sp>
      <p:sp>
        <p:nvSpPr>
          <p:cNvPr id="74766" name="矩形 217102"/>
          <p:cNvSpPr/>
          <p:nvPr/>
        </p:nvSpPr>
        <p:spPr>
          <a:xfrm>
            <a:off x="5472113" y="38750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74767" name="直接连接符 217103"/>
          <p:cNvSpPr/>
          <p:nvPr/>
        </p:nvSpPr>
        <p:spPr>
          <a:xfrm>
            <a:off x="5181600" y="3036888"/>
            <a:ext cx="0" cy="401637"/>
          </a:xfrm>
          <a:prstGeom prst="line">
            <a:avLst/>
          </a:prstGeom>
          <a:ln w="25400" cap="flat" cmpd="sng">
            <a:solidFill>
              <a:schemeClr val="tx1"/>
            </a:solidFill>
            <a:prstDash val="solid"/>
            <a:round/>
            <a:headEnd type="none" w="med" len="med"/>
            <a:tailEnd type="triangle" w="med" len="med"/>
          </a:ln>
        </p:spPr>
      </p:sp>
      <p:sp>
        <p:nvSpPr>
          <p:cNvPr id="74768" name="矩形 217104"/>
          <p:cNvSpPr/>
          <p:nvPr/>
        </p:nvSpPr>
        <p:spPr>
          <a:xfrm>
            <a:off x="4802188" y="2738438"/>
            <a:ext cx="1343025" cy="363537"/>
          </a:xfrm>
          <a:prstGeom prst="rect">
            <a:avLst/>
          </a:prstGeom>
          <a:noFill/>
          <a:ln w="12700">
            <a:noFill/>
          </a:ln>
        </p:spPr>
        <p:txBody>
          <a:bodyPr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74769" name="矩形 217105"/>
          <p:cNvSpPr/>
          <p:nvPr/>
        </p:nvSpPr>
        <p:spPr>
          <a:xfrm>
            <a:off x="985838" y="4025900"/>
            <a:ext cx="5365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74770" name="矩形 217106"/>
          <p:cNvSpPr/>
          <p:nvPr/>
        </p:nvSpPr>
        <p:spPr>
          <a:xfrm>
            <a:off x="595313" y="3448050"/>
            <a:ext cx="8032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74771" name="矩形 217107"/>
          <p:cNvSpPr/>
          <p:nvPr/>
        </p:nvSpPr>
        <p:spPr>
          <a:xfrm>
            <a:off x="1679575" y="3321050"/>
            <a:ext cx="1431925" cy="11303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4772" name="直接连接符 217108"/>
          <p:cNvSpPr/>
          <p:nvPr/>
        </p:nvSpPr>
        <p:spPr>
          <a:xfrm>
            <a:off x="1717675" y="4227513"/>
            <a:ext cx="250825" cy="63500"/>
          </a:xfrm>
          <a:prstGeom prst="line">
            <a:avLst/>
          </a:prstGeom>
          <a:ln w="25400" cap="flat" cmpd="sng">
            <a:solidFill>
              <a:schemeClr val="tx1"/>
            </a:solidFill>
            <a:prstDash val="solid"/>
            <a:round/>
            <a:headEnd type="none" w="med" len="med"/>
            <a:tailEnd type="none" w="med" len="med"/>
          </a:ln>
        </p:spPr>
      </p:sp>
      <p:sp>
        <p:nvSpPr>
          <p:cNvPr id="74773" name="直接连接符 217109"/>
          <p:cNvSpPr/>
          <p:nvPr/>
        </p:nvSpPr>
        <p:spPr>
          <a:xfrm flipH="1">
            <a:off x="1692275" y="4316413"/>
            <a:ext cx="301625" cy="98425"/>
          </a:xfrm>
          <a:prstGeom prst="line">
            <a:avLst/>
          </a:prstGeom>
          <a:ln w="25400" cap="flat" cmpd="sng">
            <a:solidFill>
              <a:schemeClr val="tx1"/>
            </a:solidFill>
            <a:prstDash val="solid"/>
            <a:round/>
            <a:headEnd type="none" w="med" len="med"/>
            <a:tailEnd type="none" w="med" len="med"/>
          </a:ln>
        </p:spPr>
      </p:sp>
      <p:sp>
        <p:nvSpPr>
          <p:cNvPr id="74774" name="椭圆 217110"/>
          <p:cNvSpPr/>
          <p:nvPr/>
        </p:nvSpPr>
        <p:spPr>
          <a:xfrm>
            <a:off x="1527175" y="4262438"/>
            <a:ext cx="127000" cy="117475"/>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74775" name="矩形 217111"/>
          <p:cNvSpPr/>
          <p:nvPr/>
        </p:nvSpPr>
        <p:spPr>
          <a:xfrm>
            <a:off x="1076325" y="2806700"/>
            <a:ext cx="9175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74776" name="直接连接符 217112"/>
          <p:cNvSpPr/>
          <p:nvPr/>
        </p:nvSpPr>
        <p:spPr>
          <a:xfrm flipH="1">
            <a:off x="673100" y="3806825"/>
            <a:ext cx="1016000" cy="0"/>
          </a:xfrm>
          <a:prstGeom prst="line">
            <a:avLst/>
          </a:prstGeom>
          <a:ln w="25400" cap="flat" cmpd="sng">
            <a:solidFill>
              <a:schemeClr val="tx1"/>
            </a:solidFill>
            <a:prstDash val="solid"/>
            <a:round/>
            <a:headEnd type="triangle" w="med" len="med"/>
            <a:tailEnd type="none" w="med" len="med"/>
          </a:ln>
        </p:spPr>
      </p:sp>
      <p:sp>
        <p:nvSpPr>
          <p:cNvPr id="74777" name="直接连接符 217113"/>
          <p:cNvSpPr/>
          <p:nvPr/>
        </p:nvSpPr>
        <p:spPr>
          <a:xfrm flipH="1">
            <a:off x="1212850" y="3741738"/>
            <a:ext cx="88900" cy="128587"/>
          </a:xfrm>
          <a:prstGeom prst="line">
            <a:avLst/>
          </a:prstGeom>
          <a:ln w="12700" cap="flat" cmpd="sng">
            <a:solidFill>
              <a:schemeClr val="tx1"/>
            </a:solidFill>
            <a:prstDash val="solid"/>
            <a:round/>
            <a:headEnd type="none" w="med" len="med"/>
            <a:tailEnd type="none" w="med" len="med"/>
          </a:ln>
        </p:spPr>
      </p:sp>
      <p:sp>
        <p:nvSpPr>
          <p:cNvPr id="74778" name="矩形 217114"/>
          <p:cNvSpPr/>
          <p:nvPr/>
        </p:nvSpPr>
        <p:spPr>
          <a:xfrm>
            <a:off x="900113" y="380365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74779" name="直接连接符 217115"/>
          <p:cNvSpPr/>
          <p:nvPr/>
        </p:nvSpPr>
        <p:spPr>
          <a:xfrm>
            <a:off x="3136900" y="3451225"/>
            <a:ext cx="1803400" cy="0"/>
          </a:xfrm>
          <a:prstGeom prst="line">
            <a:avLst/>
          </a:prstGeom>
          <a:ln w="25400" cap="flat" cmpd="sng">
            <a:solidFill>
              <a:schemeClr val="tx1"/>
            </a:solidFill>
            <a:prstDash val="solid"/>
            <a:round/>
            <a:headEnd type="none" w="med" len="med"/>
            <a:tailEnd type="triangle" w="med" len="med"/>
          </a:ln>
        </p:spPr>
      </p:sp>
      <p:sp>
        <p:nvSpPr>
          <p:cNvPr id="74780" name="直接连接符 217116"/>
          <p:cNvSpPr/>
          <p:nvPr/>
        </p:nvSpPr>
        <p:spPr>
          <a:xfrm flipH="1">
            <a:off x="4108450" y="3386138"/>
            <a:ext cx="88900" cy="130175"/>
          </a:xfrm>
          <a:prstGeom prst="line">
            <a:avLst/>
          </a:prstGeom>
          <a:ln w="12700" cap="flat" cmpd="sng">
            <a:solidFill>
              <a:schemeClr val="tx1"/>
            </a:solidFill>
            <a:prstDash val="solid"/>
            <a:round/>
            <a:headEnd type="none" w="med" len="med"/>
            <a:tailEnd type="none" w="med" len="med"/>
          </a:ln>
        </p:spPr>
      </p:sp>
      <p:sp>
        <p:nvSpPr>
          <p:cNvPr id="74781" name="矩形 217117"/>
          <p:cNvSpPr/>
          <p:nvPr/>
        </p:nvSpPr>
        <p:spPr>
          <a:xfrm>
            <a:off x="3795713" y="35194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74782" name="矩形 217118"/>
          <p:cNvSpPr/>
          <p:nvPr/>
        </p:nvSpPr>
        <p:spPr>
          <a:xfrm>
            <a:off x="3490913" y="3163888"/>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74783" name="直接连接符 217119"/>
          <p:cNvSpPr/>
          <p:nvPr/>
        </p:nvSpPr>
        <p:spPr>
          <a:xfrm flipV="1">
            <a:off x="1828800" y="3082925"/>
            <a:ext cx="0" cy="238125"/>
          </a:xfrm>
          <a:prstGeom prst="line">
            <a:avLst/>
          </a:prstGeom>
          <a:ln w="25400" cap="flat" cmpd="sng">
            <a:solidFill>
              <a:schemeClr val="tx1"/>
            </a:solidFill>
            <a:prstDash val="solid"/>
            <a:round/>
            <a:headEnd type="none" w="med" len="med"/>
            <a:tailEnd type="none" w="med" len="med"/>
          </a:ln>
        </p:spPr>
      </p:sp>
      <p:sp>
        <p:nvSpPr>
          <p:cNvPr id="74784" name="直接连接符 217120"/>
          <p:cNvSpPr/>
          <p:nvPr/>
        </p:nvSpPr>
        <p:spPr>
          <a:xfrm>
            <a:off x="3136900" y="4303713"/>
            <a:ext cx="965200" cy="0"/>
          </a:xfrm>
          <a:prstGeom prst="line">
            <a:avLst/>
          </a:prstGeom>
          <a:ln w="25400" cap="flat" cmpd="sng">
            <a:solidFill>
              <a:schemeClr val="tx1"/>
            </a:solidFill>
            <a:prstDash val="solid"/>
            <a:round/>
            <a:headEnd type="none" w="med" len="med"/>
            <a:tailEnd type="triangle" w="med" len="med"/>
          </a:ln>
        </p:spPr>
      </p:sp>
      <p:sp>
        <p:nvSpPr>
          <p:cNvPr id="74785" name="直接连接符 217121"/>
          <p:cNvSpPr/>
          <p:nvPr/>
        </p:nvSpPr>
        <p:spPr>
          <a:xfrm flipH="1">
            <a:off x="3651250" y="4238625"/>
            <a:ext cx="88900" cy="130175"/>
          </a:xfrm>
          <a:prstGeom prst="line">
            <a:avLst/>
          </a:prstGeom>
          <a:ln w="12700" cap="flat" cmpd="sng">
            <a:solidFill>
              <a:schemeClr val="tx1"/>
            </a:solidFill>
            <a:prstDash val="solid"/>
            <a:round/>
            <a:headEnd type="none" w="med" len="med"/>
            <a:tailEnd type="none" w="med" len="med"/>
          </a:ln>
        </p:spPr>
      </p:sp>
      <p:sp>
        <p:nvSpPr>
          <p:cNvPr id="74786" name="矩形 217122"/>
          <p:cNvSpPr/>
          <p:nvPr/>
        </p:nvSpPr>
        <p:spPr>
          <a:xfrm>
            <a:off x="3338513" y="430053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74787" name="矩形 217123"/>
          <p:cNvSpPr/>
          <p:nvPr/>
        </p:nvSpPr>
        <p:spPr>
          <a:xfrm>
            <a:off x="3109913" y="4016375"/>
            <a:ext cx="7524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74788" name="直接连接符 217124"/>
          <p:cNvSpPr/>
          <p:nvPr/>
        </p:nvSpPr>
        <p:spPr>
          <a:xfrm flipH="1">
            <a:off x="1054100" y="4303713"/>
            <a:ext cx="482600" cy="0"/>
          </a:xfrm>
          <a:prstGeom prst="line">
            <a:avLst/>
          </a:prstGeom>
          <a:ln w="25400" cap="flat" cmpd="sng">
            <a:solidFill>
              <a:schemeClr val="tx1"/>
            </a:solidFill>
            <a:prstDash val="solid"/>
            <a:round/>
            <a:headEnd type="none" w="med" len="med"/>
            <a:tailEnd type="none" w="med" len="med"/>
          </a:ln>
        </p:spPr>
      </p:sp>
      <p:sp>
        <p:nvSpPr>
          <p:cNvPr id="74789" name="直接连接符 217125"/>
          <p:cNvSpPr/>
          <p:nvPr/>
        </p:nvSpPr>
        <p:spPr>
          <a:xfrm>
            <a:off x="2971800" y="2895600"/>
            <a:ext cx="0" cy="400050"/>
          </a:xfrm>
          <a:prstGeom prst="line">
            <a:avLst/>
          </a:prstGeom>
          <a:ln w="25400" cap="flat" cmpd="sng">
            <a:solidFill>
              <a:schemeClr val="tx1"/>
            </a:solidFill>
            <a:prstDash val="solid"/>
            <a:round/>
            <a:headEnd type="none" w="med" len="med"/>
            <a:tailEnd type="none" w="med" len="med"/>
          </a:ln>
        </p:spPr>
      </p:sp>
      <p:sp>
        <p:nvSpPr>
          <p:cNvPr id="74790" name="直接连接符 217126"/>
          <p:cNvSpPr/>
          <p:nvPr/>
        </p:nvSpPr>
        <p:spPr>
          <a:xfrm flipV="1">
            <a:off x="2901950" y="3017838"/>
            <a:ext cx="139700" cy="155575"/>
          </a:xfrm>
          <a:prstGeom prst="line">
            <a:avLst/>
          </a:prstGeom>
          <a:ln w="12700" cap="flat" cmpd="sng">
            <a:solidFill>
              <a:schemeClr val="tx1"/>
            </a:solidFill>
            <a:prstDash val="solid"/>
            <a:round/>
            <a:headEnd type="none" w="med" len="med"/>
            <a:tailEnd type="none" w="med" len="med"/>
          </a:ln>
        </p:spPr>
      </p:sp>
      <p:sp>
        <p:nvSpPr>
          <p:cNvPr id="74791" name="矩形 217127"/>
          <p:cNvSpPr/>
          <p:nvPr/>
        </p:nvSpPr>
        <p:spPr>
          <a:xfrm>
            <a:off x="2728913" y="2879725"/>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74792" name="直接连接符 217128"/>
          <p:cNvSpPr/>
          <p:nvPr/>
        </p:nvSpPr>
        <p:spPr>
          <a:xfrm>
            <a:off x="2133600" y="2682875"/>
            <a:ext cx="0" cy="612775"/>
          </a:xfrm>
          <a:prstGeom prst="line">
            <a:avLst/>
          </a:prstGeom>
          <a:ln w="25400" cap="flat" cmpd="sng">
            <a:solidFill>
              <a:schemeClr val="tx1"/>
            </a:solidFill>
            <a:prstDash val="solid"/>
            <a:round/>
            <a:headEnd type="none" w="med" len="med"/>
            <a:tailEnd type="none" w="med" len="med"/>
          </a:ln>
        </p:spPr>
      </p:sp>
      <p:sp>
        <p:nvSpPr>
          <p:cNvPr id="74793" name="直接连接符 217129"/>
          <p:cNvSpPr/>
          <p:nvPr/>
        </p:nvSpPr>
        <p:spPr>
          <a:xfrm flipV="1">
            <a:off x="2063750" y="3017838"/>
            <a:ext cx="139700" cy="155575"/>
          </a:xfrm>
          <a:prstGeom prst="line">
            <a:avLst/>
          </a:prstGeom>
          <a:ln w="12700" cap="flat" cmpd="sng">
            <a:solidFill>
              <a:schemeClr val="tx1"/>
            </a:solidFill>
            <a:prstDash val="solid"/>
            <a:round/>
            <a:headEnd type="none" w="med" len="med"/>
            <a:tailEnd type="none" w="med" len="med"/>
          </a:ln>
        </p:spPr>
      </p:sp>
      <p:sp>
        <p:nvSpPr>
          <p:cNvPr id="74794" name="矩形 217130"/>
          <p:cNvSpPr/>
          <p:nvPr/>
        </p:nvSpPr>
        <p:spPr>
          <a:xfrm>
            <a:off x="1890713" y="2879725"/>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74795" name="直接连接符 217131"/>
          <p:cNvSpPr/>
          <p:nvPr/>
        </p:nvSpPr>
        <p:spPr>
          <a:xfrm>
            <a:off x="2514600" y="2895600"/>
            <a:ext cx="0" cy="400050"/>
          </a:xfrm>
          <a:prstGeom prst="line">
            <a:avLst/>
          </a:prstGeom>
          <a:ln w="25400" cap="flat" cmpd="sng">
            <a:solidFill>
              <a:schemeClr val="tx1"/>
            </a:solidFill>
            <a:prstDash val="solid"/>
            <a:round/>
            <a:headEnd type="none" w="med" len="med"/>
            <a:tailEnd type="none" w="med" len="med"/>
          </a:ln>
        </p:spPr>
      </p:sp>
      <p:sp>
        <p:nvSpPr>
          <p:cNvPr id="74796" name="直接连接符 217132"/>
          <p:cNvSpPr/>
          <p:nvPr/>
        </p:nvSpPr>
        <p:spPr>
          <a:xfrm flipV="1">
            <a:off x="2444750" y="3017838"/>
            <a:ext cx="139700" cy="155575"/>
          </a:xfrm>
          <a:prstGeom prst="line">
            <a:avLst/>
          </a:prstGeom>
          <a:ln w="12700" cap="flat" cmpd="sng">
            <a:solidFill>
              <a:schemeClr val="tx1"/>
            </a:solidFill>
            <a:prstDash val="solid"/>
            <a:round/>
            <a:headEnd type="none" w="med" len="med"/>
            <a:tailEnd type="none" w="med" len="med"/>
          </a:ln>
        </p:spPr>
      </p:sp>
      <p:sp>
        <p:nvSpPr>
          <p:cNvPr id="74797" name="矩形 217133"/>
          <p:cNvSpPr/>
          <p:nvPr/>
        </p:nvSpPr>
        <p:spPr>
          <a:xfrm>
            <a:off x="2271713" y="2879725"/>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74798" name="矩形 217134"/>
          <p:cNvSpPr/>
          <p:nvPr/>
        </p:nvSpPr>
        <p:spPr>
          <a:xfrm>
            <a:off x="1890713" y="3306763"/>
            <a:ext cx="5238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74799" name="矩形 217135"/>
          <p:cNvSpPr/>
          <p:nvPr/>
        </p:nvSpPr>
        <p:spPr>
          <a:xfrm>
            <a:off x="2347913" y="3306763"/>
            <a:ext cx="4730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74800" name="矩形 217136"/>
          <p:cNvSpPr/>
          <p:nvPr/>
        </p:nvSpPr>
        <p:spPr>
          <a:xfrm>
            <a:off x="2728913" y="3306763"/>
            <a:ext cx="4857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74801" name="矩形 217137"/>
          <p:cNvSpPr/>
          <p:nvPr/>
        </p:nvSpPr>
        <p:spPr>
          <a:xfrm>
            <a:off x="1890713" y="3590925"/>
            <a:ext cx="1222375" cy="63817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74802" name="直接连接符 217138"/>
          <p:cNvSpPr/>
          <p:nvPr/>
        </p:nvSpPr>
        <p:spPr>
          <a:xfrm flipH="1">
            <a:off x="673100" y="5803900"/>
            <a:ext cx="7797800" cy="0"/>
          </a:xfrm>
          <a:prstGeom prst="line">
            <a:avLst/>
          </a:prstGeom>
          <a:ln w="25400" cap="flat" cmpd="sng">
            <a:solidFill>
              <a:schemeClr val="tx1"/>
            </a:solidFill>
            <a:prstDash val="solid"/>
            <a:round/>
            <a:headEnd type="none" w="med" len="med"/>
            <a:tailEnd type="none" w="med" len="med"/>
          </a:ln>
        </p:spPr>
      </p:sp>
      <p:sp>
        <p:nvSpPr>
          <p:cNvPr id="74803" name="直接连接符 217139"/>
          <p:cNvSpPr/>
          <p:nvPr/>
        </p:nvSpPr>
        <p:spPr>
          <a:xfrm flipV="1">
            <a:off x="685800" y="3794125"/>
            <a:ext cx="0" cy="2014538"/>
          </a:xfrm>
          <a:prstGeom prst="line">
            <a:avLst/>
          </a:prstGeom>
          <a:ln w="25400" cap="flat" cmpd="sng">
            <a:solidFill>
              <a:schemeClr val="tx1"/>
            </a:solidFill>
            <a:prstDash val="solid"/>
            <a:round/>
            <a:headEnd type="none" w="med" len="med"/>
            <a:tailEnd type="none" w="med" len="med"/>
          </a:ln>
        </p:spPr>
      </p:sp>
      <p:sp>
        <p:nvSpPr>
          <p:cNvPr id="74804" name="矩形 217140"/>
          <p:cNvSpPr/>
          <p:nvPr/>
        </p:nvSpPr>
        <p:spPr>
          <a:xfrm>
            <a:off x="2576513" y="2527300"/>
            <a:ext cx="4730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74805" name="矩形 217141"/>
          <p:cNvSpPr/>
          <p:nvPr/>
        </p:nvSpPr>
        <p:spPr>
          <a:xfrm>
            <a:off x="2271713" y="1998663"/>
            <a:ext cx="422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74806" name="组合 217142"/>
          <p:cNvGrpSpPr/>
          <p:nvPr/>
        </p:nvGrpSpPr>
        <p:grpSpPr>
          <a:xfrm>
            <a:off x="4114800" y="4032250"/>
            <a:ext cx="304800" cy="1065213"/>
            <a:chOff x="2592" y="2846"/>
            <a:chExt cx="192" cy="671"/>
          </a:xfrm>
        </p:grpSpPr>
        <p:sp>
          <p:nvSpPr>
            <p:cNvPr id="74807" name="直接连接符 217143"/>
            <p:cNvSpPr/>
            <p:nvPr/>
          </p:nvSpPr>
          <p:spPr>
            <a:xfrm>
              <a:off x="2592" y="2846"/>
              <a:ext cx="0" cy="655"/>
            </a:xfrm>
            <a:prstGeom prst="line">
              <a:avLst/>
            </a:prstGeom>
            <a:ln w="25400" cap="flat" cmpd="sng">
              <a:solidFill>
                <a:schemeClr val="tx1"/>
              </a:solidFill>
              <a:prstDash val="solid"/>
              <a:round/>
              <a:headEnd type="none" w="med" len="med"/>
              <a:tailEnd type="none" w="med" len="med"/>
            </a:ln>
          </p:spPr>
        </p:sp>
        <p:sp>
          <p:nvSpPr>
            <p:cNvPr id="74808" name="直接连接符 217144"/>
            <p:cNvSpPr/>
            <p:nvPr/>
          </p:nvSpPr>
          <p:spPr>
            <a:xfrm>
              <a:off x="2600" y="2846"/>
              <a:ext cx="176" cy="73"/>
            </a:xfrm>
            <a:prstGeom prst="line">
              <a:avLst/>
            </a:prstGeom>
            <a:ln w="25400" cap="flat" cmpd="sng">
              <a:solidFill>
                <a:schemeClr val="tx1"/>
              </a:solidFill>
              <a:prstDash val="solid"/>
              <a:round/>
              <a:headEnd type="none" w="med" len="med"/>
              <a:tailEnd type="none" w="med" len="med"/>
            </a:ln>
          </p:spPr>
        </p:sp>
        <p:sp>
          <p:nvSpPr>
            <p:cNvPr id="74809" name="直接连接符 217145"/>
            <p:cNvSpPr/>
            <p:nvPr/>
          </p:nvSpPr>
          <p:spPr>
            <a:xfrm flipV="1">
              <a:off x="2600" y="3412"/>
              <a:ext cx="176" cy="105"/>
            </a:xfrm>
            <a:prstGeom prst="line">
              <a:avLst/>
            </a:prstGeom>
            <a:ln w="25400" cap="flat" cmpd="sng">
              <a:solidFill>
                <a:schemeClr val="tx1"/>
              </a:solidFill>
              <a:prstDash val="solid"/>
              <a:round/>
              <a:headEnd type="none" w="med" len="med"/>
              <a:tailEnd type="none" w="med" len="med"/>
            </a:ln>
          </p:spPr>
        </p:sp>
        <p:sp>
          <p:nvSpPr>
            <p:cNvPr id="74810" name="直接连接符 217146"/>
            <p:cNvSpPr/>
            <p:nvPr/>
          </p:nvSpPr>
          <p:spPr>
            <a:xfrm>
              <a:off x="2784" y="2935"/>
              <a:ext cx="0" cy="477"/>
            </a:xfrm>
            <a:prstGeom prst="line">
              <a:avLst/>
            </a:prstGeom>
            <a:ln w="25400" cap="flat" cmpd="sng">
              <a:solidFill>
                <a:schemeClr val="tx1"/>
              </a:solidFill>
              <a:prstDash val="solid"/>
              <a:round/>
              <a:headEnd type="none" w="med" len="med"/>
              <a:tailEnd type="none" w="med" len="med"/>
            </a:ln>
          </p:spPr>
        </p:sp>
      </p:grpSp>
      <p:grpSp>
        <p:nvGrpSpPr>
          <p:cNvPr id="74811" name="组合 217147"/>
          <p:cNvGrpSpPr/>
          <p:nvPr/>
        </p:nvGrpSpPr>
        <p:grpSpPr>
          <a:xfrm>
            <a:off x="1397000" y="2420938"/>
            <a:ext cx="1168400" cy="284162"/>
            <a:chOff x="880" y="1831"/>
            <a:chExt cx="736" cy="179"/>
          </a:xfrm>
        </p:grpSpPr>
        <p:sp>
          <p:nvSpPr>
            <p:cNvPr id="74812" name="直接连接符 217148"/>
            <p:cNvSpPr/>
            <p:nvPr/>
          </p:nvSpPr>
          <p:spPr>
            <a:xfrm flipH="1">
              <a:off x="880" y="1831"/>
              <a:ext cx="736" cy="0"/>
            </a:xfrm>
            <a:prstGeom prst="line">
              <a:avLst/>
            </a:prstGeom>
            <a:ln w="25400" cap="flat" cmpd="sng">
              <a:solidFill>
                <a:schemeClr val="tx1"/>
              </a:solidFill>
              <a:prstDash val="solid"/>
              <a:round/>
              <a:headEnd type="none" w="med" len="med"/>
              <a:tailEnd type="none" w="med" len="med"/>
            </a:ln>
          </p:spPr>
        </p:sp>
        <p:sp>
          <p:nvSpPr>
            <p:cNvPr id="74813" name="直接连接符 217149"/>
            <p:cNvSpPr/>
            <p:nvPr/>
          </p:nvSpPr>
          <p:spPr>
            <a:xfrm flipH="1">
              <a:off x="1504" y="1839"/>
              <a:ext cx="112" cy="163"/>
            </a:xfrm>
            <a:prstGeom prst="line">
              <a:avLst/>
            </a:prstGeom>
            <a:ln w="25400" cap="flat" cmpd="sng">
              <a:solidFill>
                <a:schemeClr val="tx1"/>
              </a:solidFill>
              <a:prstDash val="solid"/>
              <a:round/>
              <a:headEnd type="none" w="med" len="med"/>
              <a:tailEnd type="none" w="med" len="med"/>
            </a:ln>
          </p:spPr>
        </p:sp>
        <p:sp>
          <p:nvSpPr>
            <p:cNvPr id="74814" name="直接连接符 217150"/>
            <p:cNvSpPr/>
            <p:nvPr/>
          </p:nvSpPr>
          <p:spPr>
            <a:xfrm>
              <a:off x="896" y="1839"/>
              <a:ext cx="80" cy="163"/>
            </a:xfrm>
            <a:prstGeom prst="line">
              <a:avLst/>
            </a:prstGeom>
            <a:ln w="25400" cap="flat" cmpd="sng">
              <a:solidFill>
                <a:schemeClr val="tx1"/>
              </a:solidFill>
              <a:prstDash val="solid"/>
              <a:round/>
              <a:headEnd type="none" w="med" len="med"/>
              <a:tailEnd type="none" w="med" len="med"/>
            </a:ln>
          </p:spPr>
        </p:sp>
        <p:sp>
          <p:nvSpPr>
            <p:cNvPr id="74815" name="直接连接符 217151"/>
            <p:cNvSpPr/>
            <p:nvPr/>
          </p:nvSpPr>
          <p:spPr>
            <a:xfrm flipH="1">
              <a:off x="976" y="2010"/>
              <a:ext cx="544" cy="0"/>
            </a:xfrm>
            <a:prstGeom prst="line">
              <a:avLst/>
            </a:prstGeom>
            <a:ln w="25400" cap="flat" cmpd="sng">
              <a:solidFill>
                <a:schemeClr val="tx1"/>
              </a:solidFill>
              <a:prstDash val="solid"/>
              <a:round/>
              <a:headEnd type="none" w="med" len="med"/>
              <a:tailEnd type="none" w="med" len="med"/>
            </a:ln>
          </p:spPr>
        </p:sp>
      </p:grpSp>
      <p:sp>
        <p:nvSpPr>
          <p:cNvPr id="74816" name="矩形 217152"/>
          <p:cNvSpPr/>
          <p:nvPr/>
        </p:nvSpPr>
        <p:spPr>
          <a:xfrm>
            <a:off x="2909888" y="2667000"/>
            <a:ext cx="422275" cy="363538"/>
          </a:xfrm>
          <a:prstGeom prst="rect">
            <a:avLst/>
          </a:prstGeom>
          <a:noFill/>
          <a:ln w="12700">
            <a:noFill/>
          </a:ln>
        </p:spPr>
        <p:txBody>
          <a:bodyPr wrap="none" lIns="90488" tIns="44450" rIns="90488" bIns="44450" anchor="t" anchorCtr="0">
            <a:spAutoFit/>
          </a:bodyPr>
          <a:p>
            <a:pPr algn="ctr"/>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74817" name="直接连接符 217153"/>
          <p:cNvSpPr/>
          <p:nvPr/>
        </p:nvSpPr>
        <p:spPr>
          <a:xfrm flipH="1">
            <a:off x="2271713" y="2184400"/>
            <a:ext cx="14287" cy="217488"/>
          </a:xfrm>
          <a:prstGeom prst="line">
            <a:avLst/>
          </a:prstGeom>
          <a:ln w="25400" cap="flat" cmpd="sng">
            <a:solidFill>
              <a:schemeClr val="tx1"/>
            </a:solidFill>
            <a:prstDash val="solid"/>
            <a:round/>
            <a:headEnd type="none" w="med" len="med"/>
            <a:tailEnd type="none" w="med" len="med"/>
          </a:ln>
        </p:spPr>
      </p:sp>
      <p:sp>
        <p:nvSpPr>
          <p:cNvPr id="74818" name="直接连接符 217154"/>
          <p:cNvSpPr/>
          <p:nvPr/>
        </p:nvSpPr>
        <p:spPr>
          <a:xfrm>
            <a:off x="1676400" y="2184400"/>
            <a:ext cx="0" cy="217488"/>
          </a:xfrm>
          <a:prstGeom prst="line">
            <a:avLst/>
          </a:prstGeom>
          <a:ln w="25400" cap="flat" cmpd="sng">
            <a:solidFill>
              <a:schemeClr val="tx1"/>
            </a:solidFill>
            <a:prstDash val="solid"/>
            <a:round/>
            <a:headEnd type="none" w="med" len="med"/>
            <a:tailEnd type="none" w="med" len="med"/>
          </a:ln>
        </p:spPr>
      </p:sp>
      <p:sp>
        <p:nvSpPr>
          <p:cNvPr id="74819" name="矩形 217155"/>
          <p:cNvSpPr/>
          <p:nvPr/>
        </p:nvSpPr>
        <p:spPr>
          <a:xfrm>
            <a:off x="1662113" y="1998663"/>
            <a:ext cx="4857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74820" name="直接连接符 217156"/>
          <p:cNvSpPr/>
          <p:nvPr/>
        </p:nvSpPr>
        <p:spPr>
          <a:xfrm flipH="1">
            <a:off x="596900" y="2598738"/>
            <a:ext cx="939800" cy="0"/>
          </a:xfrm>
          <a:prstGeom prst="line">
            <a:avLst/>
          </a:prstGeom>
          <a:ln w="25400" cap="flat" cmpd="sng">
            <a:solidFill>
              <a:schemeClr val="tx1"/>
            </a:solidFill>
            <a:prstDash val="solid"/>
            <a:round/>
            <a:headEnd type="triangle" w="med" len="med"/>
            <a:tailEnd type="none" w="med" len="med"/>
          </a:ln>
        </p:spPr>
      </p:sp>
      <p:sp>
        <p:nvSpPr>
          <p:cNvPr id="74821" name="矩形 217157"/>
          <p:cNvSpPr/>
          <p:nvPr/>
        </p:nvSpPr>
        <p:spPr>
          <a:xfrm>
            <a:off x="455613" y="2235200"/>
            <a:ext cx="9810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74822" name="矩形 217158"/>
          <p:cNvSpPr/>
          <p:nvPr/>
        </p:nvSpPr>
        <p:spPr>
          <a:xfrm>
            <a:off x="3060700" y="4600575"/>
            <a:ext cx="355600" cy="827088"/>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4823" name="矩形 217159"/>
          <p:cNvSpPr/>
          <p:nvPr/>
        </p:nvSpPr>
        <p:spPr>
          <a:xfrm rot="5400000">
            <a:off x="2840038" y="4741863"/>
            <a:ext cx="727075" cy="365125"/>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   Ext</a:t>
            </a:r>
            <a:endParaRPr lang="en-US" altLang="zh-CN" sz="1800">
              <a:latin typeface="Arial" panose="020B0604020202020204" pitchFamily="34" charset="0"/>
              <a:ea typeface="宋体" panose="02010600030101010101" pitchFamily="2" charset="-122"/>
            </a:endParaRPr>
          </a:p>
        </p:txBody>
      </p:sp>
      <p:sp>
        <p:nvSpPr>
          <p:cNvPr id="74824" name="矩形 217160"/>
          <p:cNvSpPr/>
          <p:nvPr/>
        </p:nvSpPr>
        <p:spPr>
          <a:xfrm rot="5400000">
            <a:off x="3941763" y="4370388"/>
            <a:ext cx="6381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74825" name="矩形 217161"/>
          <p:cNvSpPr/>
          <p:nvPr/>
        </p:nvSpPr>
        <p:spPr>
          <a:xfrm>
            <a:off x="1700213" y="2374900"/>
            <a:ext cx="6381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74826" name="直接连接符 217162"/>
          <p:cNvSpPr/>
          <p:nvPr/>
        </p:nvSpPr>
        <p:spPr>
          <a:xfrm>
            <a:off x="3441700" y="4943475"/>
            <a:ext cx="660400" cy="0"/>
          </a:xfrm>
          <a:prstGeom prst="line">
            <a:avLst/>
          </a:prstGeom>
          <a:ln w="25400" cap="flat" cmpd="sng">
            <a:solidFill>
              <a:schemeClr val="tx1"/>
            </a:solidFill>
            <a:prstDash val="solid"/>
            <a:round/>
            <a:headEnd type="none" w="med" len="med"/>
            <a:tailEnd type="triangle" w="med" len="med"/>
          </a:ln>
        </p:spPr>
      </p:sp>
      <p:sp>
        <p:nvSpPr>
          <p:cNvPr id="74827" name="矩形 217163"/>
          <p:cNvSpPr/>
          <p:nvPr/>
        </p:nvSpPr>
        <p:spPr>
          <a:xfrm>
            <a:off x="3433763" y="497522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74828" name="直接连接符 217164"/>
          <p:cNvSpPr/>
          <p:nvPr/>
        </p:nvSpPr>
        <p:spPr>
          <a:xfrm flipH="1">
            <a:off x="3727450" y="4878388"/>
            <a:ext cx="88900" cy="130175"/>
          </a:xfrm>
          <a:prstGeom prst="line">
            <a:avLst/>
          </a:prstGeom>
          <a:ln w="12700" cap="flat" cmpd="sng">
            <a:solidFill>
              <a:schemeClr val="tx1"/>
            </a:solidFill>
            <a:prstDash val="solid"/>
            <a:round/>
            <a:headEnd type="none" w="med" len="med"/>
            <a:tailEnd type="none" w="med" len="med"/>
          </a:ln>
        </p:spPr>
      </p:sp>
      <p:sp>
        <p:nvSpPr>
          <p:cNvPr id="74829" name="直接连接符 217165"/>
          <p:cNvSpPr/>
          <p:nvPr/>
        </p:nvSpPr>
        <p:spPr>
          <a:xfrm>
            <a:off x="2070100" y="5084763"/>
            <a:ext cx="965200" cy="0"/>
          </a:xfrm>
          <a:prstGeom prst="line">
            <a:avLst/>
          </a:prstGeom>
          <a:ln w="25400" cap="flat" cmpd="sng">
            <a:solidFill>
              <a:schemeClr val="tx1"/>
            </a:solidFill>
            <a:prstDash val="solid"/>
            <a:round/>
            <a:headEnd type="none" w="med" len="med"/>
            <a:tailEnd type="triangle" w="med" len="med"/>
          </a:ln>
        </p:spPr>
      </p:sp>
      <p:sp>
        <p:nvSpPr>
          <p:cNvPr id="74830" name="直接连接符 217166"/>
          <p:cNvSpPr/>
          <p:nvPr/>
        </p:nvSpPr>
        <p:spPr>
          <a:xfrm flipH="1">
            <a:off x="2508250" y="5021263"/>
            <a:ext cx="88900" cy="128587"/>
          </a:xfrm>
          <a:prstGeom prst="line">
            <a:avLst/>
          </a:prstGeom>
          <a:ln w="12700" cap="flat" cmpd="sng">
            <a:solidFill>
              <a:schemeClr val="tx1"/>
            </a:solidFill>
            <a:prstDash val="solid"/>
            <a:round/>
            <a:headEnd type="none" w="med" len="med"/>
            <a:tailEnd type="none" w="med" len="med"/>
          </a:ln>
        </p:spPr>
      </p:sp>
      <p:sp>
        <p:nvSpPr>
          <p:cNvPr id="74831" name="矩形 217167"/>
          <p:cNvSpPr/>
          <p:nvPr/>
        </p:nvSpPr>
        <p:spPr>
          <a:xfrm>
            <a:off x="2195513" y="50815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74832" name="矩形 217168"/>
          <p:cNvSpPr/>
          <p:nvPr/>
        </p:nvSpPr>
        <p:spPr>
          <a:xfrm>
            <a:off x="1357313" y="4940300"/>
            <a:ext cx="9048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74833" name="直接连接符 217169"/>
          <p:cNvSpPr/>
          <p:nvPr/>
        </p:nvSpPr>
        <p:spPr>
          <a:xfrm>
            <a:off x="4267200" y="5027613"/>
            <a:ext cx="0" cy="400050"/>
          </a:xfrm>
          <a:prstGeom prst="line">
            <a:avLst/>
          </a:prstGeom>
          <a:ln w="25400" cap="flat" cmpd="sng">
            <a:solidFill>
              <a:schemeClr val="tx1"/>
            </a:solidFill>
            <a:prstDash val="solid"/>
            <a:round/>
            <a:headEnd type="triangle" w="med" len="med"/>
            <a:tailEnd type="none" w="med" len="med"/>
          </a:ln>
        </p:spPr>
      </p:sp>
      <p:sp>
        <p:nvSpPr>
          <p:cNvPr id="74834" name="矩形 217170"/>
          <p:cNvSpPr/>
          <p:nvPr/>
        </p:nvSpPr>
        <p:spPr>
          <a:xfrm>
            <a:off x="4252913" y="5295900"/>
            <a:ext cx="10191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sp>
        <p:nvSpPr>
          <p:cNvPr id="74835" name="直接连接符 217171"/>
          <p:cNvSpPr/>
          <p:nvPr/>
        </p:nvSpPr>
        <p:spPr>
          <a:xfrm>
            <a:off x="4432300" y="4303713"/>
            <a:ext cx="508000" cy="0"/>
          </a:xfrm>
          <a:prstGeom prst="line">
            <a:avLst/>
          </a:prstGeom>
          <a:ln w="25400" cap="flat" cmpd="sng">
            <a:solidFill>
              <a:schemeClr val="tx1"/>
            </a:solidFill>
            <a:prstDash val="solid"/>
            <a:round/>
            <a:headEnd type="none" w="med" len="med"/>
            <a:tailEnd type="triangle" w="med" len="med"/>
          </a:ln>
        </p:spPr>
      </p:sp>
      <p:sp>
        <p:nvSpPr>
          <p:cNvPr id="74836" name="直接连接符 217172"/>
          <p:cNvSpPr/>
          <p:nvPr/>
        </p:nvSpPr>
        <p:spPr>
          <a:xfrm>
            <a:off x="8458200" y="4173538"/>
            <a:ext cx="0" cy="1609725"/>
          </a:xfrm>
          <a:prstGeom prst="line">
            <a:avLst/>
          </a:prstGeom>
          <a:ln w="25400" cap="flat" cmpd="sng">
            <a:solidFill>
              <a:schemeClr val="tx1"/>
            </a:solidFill>
            <a:prstDash val="solid"/>
            <a:round/>
            <a:headEnd type="none" w="med" len="med"/>
            <a:tailEnd type="none" w="med" len="med"/>
          </a:ln>
        </p:spPr>
      </p:sp>
      <p:sp>
        <p:nvSpPr>
          <p:cNvPr id="74837" name="直接连接符 217173"/>
          <p:cNvSpPr/>
          <p:nvPr/>
        </p:nvSpPr>
        <p:spPr>
          <a:xfrm>
            <a:off x="3276600" y="5453063"/>
            <a:ext cx="0" cy="471487"/>
          </a:xfrm>
          <a:prstGeom prst="line">
            <a:avLst/>
          </a:prstGeom>
          <a:ln w="25400" cap="flat" cmpd="sng">
            <a:solidFill>
              <a:schemeClr val="tx1"/>
            </a:solidFill>
            <a:prstDash val="solid"/>
            <a:round/>
            <a:headEnd type="triangle" w="med" len="med"/>
            <a:tailEnd type="none" w="med" len="med"/>
          </a:ln>
        </p:spPr>
      </p:sp>
      <p:sp>
        <p:nvSpPr>
          <p:cNvPr id="74838" name="矩形 217174"/>
          <p:cNvSpPr/>
          <p:nvPr/>
        </p:nvSpPr>
        <p:spPr>
          <a:xfrm>
            <a:off x="2887663" y="5867400"/>
            <a:ext cx="8540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ExtOp</a:t>
            </a:r>
            <a:endParaRPr lang="en-US" altLang="zh-CN" sz="1800">
              <a:solidFill>
                <a:schemeClr val="accent1"/>
              </a:solidFill>
              <a:latin typeface="Arial" panose="020B0604020202020204" pitchFamily="34" charset="0"/>
              <a:ea typeface="宋体" panose="02010600030101010101" pitchFamily="2" charset="-122"/>
            </a:endParaRPr>
          </a:p>
        </p:txBody>
      </p:sp>
      <p:grpSp>
        <p:nvGrpSpPr>
          <p:cNvPr id="74839" name="组合 217175"/>
          <p:cNvGrpSpPr/>
          <p:nvPr/>
        </p:nvGrpSpPr>
        <p:grpSpPr>
          <a:xfrm>
            <a:off x="7696200" y="3605213"/>
            <a:ext cx="304800" cy="1066800"/>
            <a:chOff x="4848" y="2577"/>
            <a:chExt cx="192" cy="672"/>
          </a:xfrm>
        </p:grpSpPr>
        <p:sp>
          <p:nvSpPr>
            <p:cNvPr id="74840" name="直接连接符 217176"/>
            <p:cNvSpPr/>
            <p:nvPr/>
          </p:nvSpPr>
          <p:spPr>
            <a:xfrm>
              <a:off x="4848" y="2577"/>
              <a:ext cx="0" cy="656"/>
            </a:xfrm>
            <a:prstGeom prst="line">
              <a:avLst/>
            </a:prstGeom>
            <a:ln w="25400" cap="flat" cmpd="sng">
              <a:solidFill>
                <a:schemeClr val="tx1"/>
              </a:solidFill>
              <a:prstDash val="solid"/>
              <a:round/>
              <a:headEnd type="none" w="med" len="med"/>
              <a:tailEnd type="none" w="med" len="med"/>
            </a:ln>
          </p:spPr>
        </p:sp>
        <p:sp>
          <p:nvSpPr>
            <p:cNvPr id="74841" name="直接连接符 217177"/>
            <p:cNvSpPr/>
            <p:nvPr/>
          </p:nvSpPr>
          <p:spPr>
            <a:xfrm>
              <a:off x="4856" y="2577"/>
              <a:ext cx="176" cy="74"/>
            </a:xfrm>
            <a:prstGeom prst="line">
              <a:avLst/>
            </a:prstGeom>
            <a:ln w="25400" cap="flat" cmpd="sng">
              <a:solidFill>
                <a:schemeClr val="tx1"/>
              </a:solidFill>
              <a:prstDash val="solid"/>
              <a:round/>
              <a:headEnd type="none" w="med" len="med"/>
              <a:tailEnd type="none" w="med" len="med"/>
            </a:ln>
          </p:spPr>
        </p:sp>
        <p:sp>
          <p:nvSpPr>
            <p:cNvPr id="74842" name="直接连接符 217178"/>
            <p:cNvSpPr/>
            <p:nvPr/>
          </p:nvSpPr>
          <p:spPr>
            <a:xfrm flipV="1">
              <a:off x="4856" y="3143"/>
              <a:ext cx="176" cy="106"/>
            </a:xfrm>
            <a:prstGeom prst="line">
              <a:avLst/>
            </a:prstGeom>
            <a:ln w="25400" cap="flat" cmpd="sng">
              <a:solidFill>
                <a:schemeClr val="tx1"/>
              </a:solidFill>
              <a:prstDash val="solid"/>
              <a:round/>
              <a:headEnd type="none" w="med" len="med"/>
              <a:tailEnd type="none" w="med" len="med"/>
            </a:ln>
          </p:spPr>
        </p:sp>
        <p:sp>
          <p:nvSpPr>
            <p:cNvPr id="74843" name="直接连接符 217179"/>
            <p:cNvSpPr/>
            <p:nvPr/>
          </p:nvSpPr>
          <p:spPr>
            <a:xfrm>
              <a:off x="5040" y="2667"/>
              <a:ext cx="0" cy="476"/>
            </a:xfrm>
            <a:prstGeom prst="line">
              <a:avLst/>
            </a:prstGeom>
            <a:ln w="25400" cap="flat" cmpd="sng">
              <a:solidFill>
                <a:schemeClr val="tx1"/>
              </a:solidFill>
              <a:prstDash val="solid"/>
              <a:round/>
              <a:headEnd type="none" w="med" len="med"/>
              <a:tailEnd type="none" w="med" len="med"/>
            </a:ln>
          </p:spPr>
        </p:sp>
      </p:grpSp>
      <p:sp>
        <p:nvSpPr>
          <p:cNvPr id="74844" name="矩形 217180"/>
          <p:cNvSpPr/>
          <p:nvPr/>
        </p:nvSpPr>
        <p:spPr>
          <a:xfrm rot="5400000">
            <a:off x="7466013" y="3986213"/>
            <a:ext cx="638175" cy="365125"/>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74845" name="直接连接符 217181"/>
          <p:cNvSpPr/>
          <p:nvPr/>
        </p:nvSpPr>
        <p:spPr>
          <a:xfrm flipV="1">
            <a:off x="7848600" y="3225800"/>
            <a:ext cx="0" cy="450850"/>
          </a:xfrm>
          <a:prstGeom prst="line">
            <a:avLst/>
          </a:prstGeom>
          <a:ln w="25400" cap="flat" cmpd="sng">
            <a:solidFill>
              <a:schemeClr val="tx1"/>
            </a:solidFill>
            <a:prstDash val="solid"/>
            <a:round/>
            <a:headEnd type="triangle" w="med" len="med"/>
            <a:tailEnd type="none" w="med" len="med"/>
          </a:ln>
        </p:spPr>
      </p:sp>
      <p:sp>
        <p:nvSpPr>
          <p:cNvPr id="74846" name="矩形 217182"/>
          <p:cNvSpPr/>
          <p:nvPr/>
        </p:nvSpPr>
        <p:spPr>
          <a:xfrm>
            <a:off x="7377113" y="2951163"/>
            <a:ext cx="13493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MemtoReg</a:t>
            </a:r>
            <a:endParaRPr lang="en-US" altLang="zh-CN" sz="1800">
              <a:solidFill>
                <a:schemeClr val="accent1"/>
              </a:solidFill>
              <a:latin typeface="Arial" panose="020B0604020202020204" pitchFamily="34" charset="0"/>
              <a:ea typeface="宋体" panose="02010600030101010101" pitchFamily="2" charset="-122"/>
            </a:endParaRPr>
          </a:p>
        </p:txBody>
      </p:sp>
      <p:sp>
        <p:nvSpPr>
          <p:cNvPr id="74847" name="直接连接符 217183"/>
          <p:cNvSpPr/>
          <p:nvPr/>
        </p:nvSpPr>
        <p:spPr>
          <a:xfrm>
            <a:off x="8013700" y="4160838"/>
            <a:ext cx="431800" cy="0"/>
          </a:xfrm>
          <a:prstGeom prst="line">
            <a:avLst/>
          </a:prstGeom>
          <a:ln w="25400" cap="flat" cmpd="sng">
            <a:solidFill>
              <a:schemeClr val="tx1"/>
            </a:solidFill>
            <a:prstDash val="solid"/>
            <a:round/>
            <a:headEnd type="none" w="med" len="med"/>
            <a:tailEnd type="none" w="med" len="med"/>
          </a:ln>
        </p:spPr>
      </p:sp>
      <p:sp>
        <p:nvSpPr>
          <p:cNvPr id="74848" name="矩形 217184"/>
          <p:cNvSpPr/>
          <p:nvPr/>
        </p:nvSpPr>
        <p:spPr>
          <a:xfrm>
            <a:off x="5946775" y="4529138"/>
            <a:ext cx="1127125" cy="1128712"/>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4849" name="直接连接符 217185"/>
          <p:cNvSpPr/>
          <p:nvPr/>
        </p:nvSpPr>
        <p:spPr>
          <a:xfrm flipH="1">
            <a:off x="5321300" y="5511800"/>
            <a:ext cx="482600" cy="0"/>
          </a:xfrm>
          <a:prstGeom prst="line">
            <a:avLst/>
          </a:prstGeom>
          <a:ln w="25400" cap="flat" cmpd="sng">
            <a:solidFill>
              <a:schemeClr val="tx1"/>
            </a:solidFill>
            <a:prstDash val="solid"/>
            <a:round/>
            <a:headEnd type="none" w="med" len="med"/>
            <a:tailEnd type="none" w="med" len="med"/>
          </a:ln>
        </p:spPr>
      </p:sp>
      <p:sp>
        <p:nvSpPr>
          <p:cNvPr id="74850" name="矩形 217186"/>
          <p:cNvSpPr/>
          <p:nvPr/>
        </p:nvSpPr>
        <p:spPr>
          <a:xfrm>
            <a:off x="5253038" y="5232400"/>
            <a:ext cx="5365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74851" name="矩形 217187"/>
          <p:cNvSpPr/>
          <p:nvPr/>
        </p:nvSpPr>
        <p:spPr>
          <a:xfrm>
            <a:off x="5026025" y="4387850"/>
            <a:ext cx="9429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Data In</a:t>
            </a:r>
            <a:endParaRPr lang="en-US" altLang="zh-CN" sz="1800">
              <a:latin typeface="Arial" panose="020B0604020202020204" pitchFamily="34" charset="0"/>
              <a:ea typeface="宋体" panose="02010600030101010101" pitchFamily="2" charset="-122"/>
            </a:endParaRPr>
          </a:p>
        </p:txBody>
      </p:sp>
      <p:sp>
        <p:nvSpPr>
          <p:cNvPr id="74852" name="直接连接符 217188"/>
          <p:cNvSpPr/>
          <p:nvPr/>
        </p:nvSpPr>
        <p:spPr>
          <a:xfrm>
            <a:off x="5984875" y="5435600"/>
            <a:ext cx="250825" cy="63500"/>
          </a:xfrm>
          <a:prstGeom prst="line">
            <a:avLst/>
          </a:prstGeom>
          <a:ln w="25400" cap="flat" cmpd="sng">
            <a:solidFill>
              <a:schemeClr val="tx1"/>
            </a:solidFill>
            <a:prstDash val="solid"/>
            <a:round/>
            <a:headEnd type="none" w="med" len="med"/>
            <a:tailEnd type="none" w="med" len="med"/>
          </a:ln>
        </p:spPr>
      </p:sp>
      <p:sp>
        <p:nvSpPr>
          <p:cNvPr id="74853" name="直接连接符 217189"/>
          <p:cNvSpPr/>
          <p:nvPr/>
        </p:nvSpPr>
        <p:spPr>
          <a:xfrm flipH="1">
            <a:off x="5959475" y="5524500"/>
            <a:ext cx="301625" cy="98425"/>
          </a:xfrm>
          <a:prstGeom prst="line">
            <a:avLst/>
          </a:prstGeom>
          <a:ln w="25400" cap="flat" cmpd="sng">
            <a:solidFill>
              <a:schemeClr val="tx1"/>
            </a:solidFill>
            <a:prstDash val="solid"/>
            <a:round/>
            <a:headEnd type="none" w="med" len="med"/>
            <a:tailEnd type="none" w="med" len="med"/>
          </a:ln>
        </p:spPr>
      </p:sp>
      <p:sp>
        <p:nvSpPr>
          <p:cNvPr id="74854" name="椭圆 217190"/>
          <p:cNvSpPr/>
          <p:nvPr/>
        </p:nvSpPr>
        <p:spPr>
          <a:xfrm>
            <a:off x="5794375" y="5470525"/>
            <a:ext cx="127000" cy="117475"/>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74855" name="矩形 217191"/>
          <p:cNvSpPr/>
          <p:nvPr/>
        </p:nvSpPr>
        <p:spPr>
          <a:xfrm>
            <a:off x="5927725" y="4511675"/>
            <a:ext cx="7778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74856" name="直接连接符 217192"/>
          <p:cNvSpPr/>
          <p:nvPr/>
        </p:nvSpPr>
        <p:spPr>
          <a:xfrm flipH="1">
            <a:off x="5480050" y="4665663"/>
            <a:ext cx="88900" cy="128587"/>
          </a:xfrm>
          <a:prstGeom prst="line">
            <a:avLst/>
          </a:prstGeom>
          <a:ln w="12700" cap="flat" cmpd="sng">
            <a:solidFill>
              <a:schemeClr val="tx1"/>
            </a:solidFill>
            <a:prstDash val="solid"/>
            <a:round/>
            <a:headEnd type="none" w="med" len="med"/>
            <a:tailEnd type="none" w="med" len="med"/>
          </a:ln>
        </p:spPr>
      </p:sp>
      <p:sp>
        <p:nvSpPr>
          <p:cNvPr id="74857" name="矩形 217193"/>
          <p:cNvSpPr/>
          <p:nvPr/>
        </p:nvSpPr>
        <p:spPr>
          <a:xfrm>
            <a:off x="5386388" y="47259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74858" name="直接连接符 217194"/>
          <p:cNvSpPr/>
          <p:nvPr/>
        </p:nvSpPr>
        <p:spPr>
          <a:xfrm flipV="1">
            <a:off x="6248400" y="3225800"/>
            <a:ext cx="0" cy="1303338"/>
          </a:xfrm>
          <a:prstGeom prst="line">
            <a:avLst/>
          </a:prstGeom>
          <a:ln w="25400" cap="flat" cmpd="sng">
            <a:solidFill>
              <a:schemeClr val="tx1"/>
            </a:solidFill>
            <a:prstDash val="solid"/>
            <a:round/>
            <a:headEnd type="triangle" w="med" len="med"/>
            <a:tailEnd type="none" w="med" len="med"/>
          </a:ln>
        </p:spPr>
      </p:sp>
      <p:sp>
        <p:nvSpPr>
          <p:cNvPr id="74859" name="直接连接符 217195"/>
          <p:cNvSpPr/>
          <p:nvPr/>
        </p:nvSpPr>
        <p:spPr>
          <a:xfrm>
            <a:off x="6781800" y="3889375"/>
            <a:ext cx="0" cy="614363"/>
          </a:xfrm>
          <a:prstGeom prst="line">
            <a:avLst/>
          </a:prstGeom>
          <a:ln w="25400" cap="flat" cmpd="sng">
            <a:solidFill>
              <a:schemeClr val="tx1"/>
            </a:solidFill>
            <a:prstDash val="solid"/>
            <a:round/>
            <a:headEnd type="none" w="med" len="med"/>
            <a:tailEnd type="triangle" w="med" len="med"/>
          </a:ln>
        </p:spPr>
      </p:sp>
      <p:sp>
        <p:nvSpPr>
          <p:cNvPr id="74860" name="矩形 217196"/>
          <p:cNvSpPr/>
          <p:nvPr/>
        </p:nvSpPr>
        <p:spPr>
          <a:xfrm>
            <a:off x="6538913" y="4513263"/>
            <a:ext cx="5746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74861" name="矩形 217197"/>
          <p:cNvSpPr/>
          <p:nvPr/>
        </p:nvSpPr>
        <p:spPr>
          <a:xfrm>
            <a:off x="5938838" y="4868863"/>
            <a:ext cx="10572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74862" name="直接连接符 217198"/>
          <p:cNvSpPr/>
          <p:nvPr/>
        </p:nvSpPr>
        <p:spPr>
          <a:xfrm>
            <a:off x="7251700" y="4375150"/>
            <a:ext cx="431800" cy="0"/>
          </a:xfrm>
          <a:prstGeom prst="line">
            <a:avLst/>
          </a:prstGeom>
          <a:ln w="25400" cap="flat" cmpd="sng">
            <a:solidFill>
              <a:schemeClr val="tx1"/>
            </a:solidFill>
            <a:prstDash val="solid"/>
            <a:round/>
            <a:headEnd type="none" w="med" len="med"/>
            <a:tailEnd type="triangle" w="med" len="med"/>
          </a:ln>
        </p:spPr>
      </p:sp>
      <p:sp>
        <p:nvSpPr>
          <p:cNvPr id="74863" name="直接连接符 217199"/>
          <p:cNvSpPr/>
          <p:nvPr/>
        </p:nvSpPr>
        <p:spPr>
          <a:xfrm>
            <a:off x="7239000" y="4387850"/>
            <a:ext cx="0" cy="755650"/>
          </a:xfrm>
          <a:prstGeom prst="line">
            <a:avLst/>
          </a:prstGeom>
          <a:ln w="25400" cap="flat" cmpd="sng">
            <a:solidFill>
              <a:schemeClr val="tx1"/>
            </a:solidFill>
            <a:prstDash val="solid"/>
            <a:round/>
            <a:headEnd type="none" w="med" len="med"/>
            <a:tailEnd type="none" w="med" len="med"/>
          </a:ln>
        </p:spPr>
      </p:sp>
      <p:sp>
        <p:nvSpPr>
          <p:cNvPr id="74864" name="直接连接符 217200"/>
          <p:cNvSpPr/>
          <p:nvPr/>
        </p:nvSpPr>
        <p:spPr>
          <a:xfrm flipH="1">
            <a:off x="7073900" y="5156200"/>
            <a:ext cx="177800" cy="0"/>
          </a:xfrm>
          <a:prstGeom prst="line">
            <a:avLst/>
          </a:prstGeom>
          <a:ln w="25400" cap="flat" cmpd="sng">
            <a:solidFill>
              <a:schemeClr val="tx1"/>
            </a:solidFill>
            <a:prstDash val="solid"/>
            <a:round/>
            <a:headEnd type="none" w="med" len="med"/>
            <a:tailEnd type="none" w="med" len="med"/>
          </a:ln>
        </p:spPr>
      </p:sp>
      <p:sp>
        <p:nvSpPr>
          <p:cNvPr id="74865" name="直接连接符 217201"/>
          <p:cNvSpPr/>
          <p:nvPr/>
        </p:nvSpPr>
        <p:spPr>
          <a:xfrm flipH="1">
            <a:off x="7308850" y="4310063"/>
            <a:ext cx="88900" cy="128587"/>
          </a:xfrm>
          <a:prstGeom prst="line">
            <a:avLst/>
          </a:prstGeom>
          <a:ln w="12700" cap="flat" cmpd="sng">
            <a:solidFill>
              <a:schemeClr val="tx1"/>
            </a:solidFill>
            <a:prstDash val="solid"/>
            <a:round/>
            <a:headEnd type="none" w="med" len="med"/>
            <a:tailEnd type="none" w="med" len="med"/>
          </a:ln>
        </p:spPr>
      </p:sp>
      <p:sp>
        <p:nvSpPr>
          <p:cNvPr id="74866" name="矩形 217202"/>
          <p:cNvSpPr/>
          <p:nvPr/>
        </p:nvSpPr>
        <p:spPr>
          <a:xfrm>
            <a:off x="7072313" y="402431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74867" name="矩形 217203"/>
          <p:cNvSpPr/>
          <p:nvPr/>
        </p:nvSpPr>
        <p:spPr>
          <a:xfrm>
            <a:off x="5929313" y="2951163"/>
            <a:ext cx="10064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MemWr</a:t>
            </a:r>
            <a:endParaRPr lang="en-US" altLang="zh-CN" sz="1800">
              <a:solidFill>
                <a:schemeClr val="accent1"/>
              </a:solidFill>
              <a:latin typeface="Arial" panose="020B0604020202020204" pitchFamily="34" charset="0"/>
              <a:ea typeface="宋体" panose="02010600030101010101" pitchFamily="2" charset="-122"/>
            </a:endParaRPr>
          </a:p>
        </p:txBody>
      </p:sp>
      <p:grpSp>
        <p:nvGrpSpPr>
          <p:cNvPr id="217205" name="组合 217204"/>
          <p:cNvGrpSpPr/>
          <p:nvPr/>
        </p:nvGrpSpPr>
        <p:grpSpPr>
          <a:xfrm>
            <a:off x="3810000" y="4330700"/>
            <a:ext cx="2146300" cy="412750"/>
            <a:chOff x="2400" y="3025"/>
            <a:chExt cx="1352" cy="260"/>
          </a:xfrm>
        </p:grpSpPr>
        <p:grpSp>
          <p:nvGrpSpPr>
            <p:cNvPr id="74869" name="组合 217205"/>
            <p:cNvGrpSpPr/>
            <p:nvPr/>
          </p:nvGrpSpPr>
          <p:grpSpPr>
            <a:xfrm>
              <a:off x="2400" y="3025"/>
              <a:ext cx="1352" cy="260"/>
              <a:chOff x="2400" y="3025"/>
              <a:chExt cx="1352" cy="260"/>
            </a:xfrm>
          </p:grpSpPr>
          <p:sp>
            <p:nvSpPr>
              <p:cNvPr id="74870" name="直接连接符 217206"/>
              <p:cNvSpPr/>
              <p:nvPr/>
            </p:nvSpPr>
            <p:spPr>
              <a:xfrm flipH="1">
                <a:off x="3112" y="3285"/>
                <a:ext cx="640" cy="0"/>
              </a:xfrm>
              <a:prstGeom prst="line">
                <a:avLst/>
              </a:prstGeom>
              <a:ln w="25400" cap="flat" cmpd="sng">
                <a:solidFill>
                  <a:srgbClr val="0000FF"/>
                </a:solidFill>
                <a:prstDash val="solid"/>
                <a:round/>
                <a:headEnd type="triangle" w="med" len="med"/>
                <a:tailEnd type="none" w="med" len="med"/>
              </a:ln>
            </p:spPr>
          </p:sp>
          <p:sp>
            <p:nvSpPr>
              <p:cNvPr id="74871" name="直接连接符 217207"/>
              <p:cNvSpPr/>
              <p:nvPr/>
            </p:nvSpPr>
            <p:spPr>
              <a:xfrm>
                <a:off x="2400" y="3025"/>
                <a:ext cx="0" cy="252"/>
              </a:xfrm>
              <a:prstGeom prst="line">
                <a:avLst/>
              </a:prstGeom>
              <a:ln w="25400" cap="flat" cmpd="sng">
                <a:solidFill>
                  <a:srgbClr val="0000FF"/>
                </a:solidFill>
                <a:prstDash val="solid"/>
                <a:round/>
                <a:headEnd type="none" w="med" len="med"/>
                <a:tailEnd type="none" w="med" len="med"/>
              </a:ln>
            </p:spPr>
          </p:sp>
        </p:grpSp>
        <p:sp>
          <p:nvSpPr>
            <p:cNvPr id="74872" name="直接连接符 217208"/>
            <p:cNvSpPr/>
            <p:nvPr/>
          </p:nvSpPr>
          <p:spPr>
            <a:xfrm>
              <a:off x="2408" y="3285"/>
              <a:ext cx="704" cy="0"/>
            </a:xfrm>
            <a:prstGeom prst="line">
              <a:avLst/>
            </a:prstGeom>
            <a:ln w="25400" cap="flat" cmpd="sng">
              <a:solidFill>
                <a:srgbClr val="0000FF"/>
              </a:solidFill>
              <a:prstDash val="solid"/>
              <a:round/>
              <a:headEnd type="none" w="med" len="med"/>
              <a:tailEnd type="none" w="med" len="med"/>
            </a:ln>
          </p:spPr>
        </p:sp>
      </p:grpSp>
      <p:sp>
        <p:nvSpPr>
          <p:cNvPr id="74873" name="矩形 217209"/>
          <p:cNvSpPr/>
          <p:nvPr/>
        </p:nvSpPr>
        <p:spPr>
          <a:xfrm rot="5400000">
            <a:off x="4945063" y="3735388"/>
            <a:ext cx="650875" cy="365125"/>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grpSp>
        <p:nvGrpSpPr>
          <p:cNvPr id="74874" name="组合 217232"/>
          <p:cNvGrpSpPr/>
          <p:nvPr/>
        </p:nvGrpSpPr>
        <p:grpSpPr>
          <a:xfrm>
            <a:off x="1536700" y="2352675"/>
            <a:ext cx="804863" cy="352425"/>
            <a:chOff x="1625" y="1752"/>
            <a:chExt cx="507" cy="222"/>
          </a:xfrm>
        </p:grpSpPr>
        <p:sp>
          <p:nvSpPr>
            <p:cNvPr id="74875" name="文本框 217233"/>
            <p:cNvSpPr txBox="1"/>
            <p:nvPr/>
          </p:nvSpPr>
          <p:spPr>
            <a:xfrm>
              <a:off x="1625" y="1752"/>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74876" name="文本框 217234"/>
            <p:cNvSpPr txBox="1"/>
            <p:nvPr/>
          </p:nvSpPr>
          <p:spPr>
            <a:xfrm>
              <a:off x="2004" y="1762"/>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74877" name="组合 217235"/>
          <p:cNvGrpSpPr/>
          <p:nvPr/>
        </p:nvGrpSpPr>
        <p:grpSpPr>
          <a:xfrm>
            <a:off x="4024313" y="4078288"/>
            <a:ext cx="225425" cy="992187"/>
            <a:chOff x="3075" y="2821"/>
            <a:chExt cx="142" cy="625"/>
          </a:xfrm>
        </p:grpSpPr>
        <p:sp>
          <p:nvSpPr>
            <p:cNvPr id="74878" name="文本框 217236"/>
            <p:cNvSpPr txBox="1"/>
            <p:nvPr/>
          </p:nvSpPr>
          <p:spPr>
            <a:xfrm>
              <a:off x="3089" y="2821"/>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74879" name="文本框 217237"/>
            <p:cNvSpPr txBox="1"/>
            <p:nvPr/>
          </p:nvSpPr>
          <p:spPr>
            <a:xfrm>
              <a:off x="3075" y="3234"/>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217242" name="组合 217241"/>
          <p:cNvGrpSpPr/>
          <p:nvPr/>
        </p:nvGrpSpPr>
        <p:grpSpPr>
          <a:xfrm>
            <a:off x="5326063" y="2368550"/>
            <a:ext cx="2627312" cy="2132013"/>
            <a:chOff x="3355" y="1492"/>
            <a:chExt cx="1655" cy="1343"/>
          </a:xfrm>
        </p:grpSpPr>
        <p:sp>
          <p:nvSpPr>
            <p:cNvPr id="74881" name="文本框 217239"/>
            <p:cNvSpPr txBox="1"/>
            <p:nvPr/>
          </p:nvSpPr>
          <p:spPr>
            <a:xfrm>
              <a:off x="3355" y="1492"/>
              <a:ext cx="1655" cy="232"/>
            </a:xfrm>
            <a:prstGeom prst="rect">
              <a:avLst/>
            </a:prstGeom>
            <a:noFill/>
            <a:ln w="12700" cap="flat" cmpd="sng">
              <a:solidFill>
                <a:schemeClr val="accent2"/>
              </a:solidFill>
              <a:prstDash val="solid"/>
              <a:miter/>
              <a:headEnd type="none" w="med" len="med"/>
              <a:tailEnd type="none" w="med" len="med"/>
            </a:ln>
          </p:spPr>
          <p:txBody>
            <a:bodyPr anchor="t" anchorCtr="0">
              <a:spAutoFit/>
            </a:bodyPr>
            <a:p>
              <a:pPr>
                <a:spcBef>
                  <a:spcPct val="50000"/>
                </a:spcBef>
              </a:pPr>
              <a:r>
                <a:rPr lang="zh-CN" altLang="en-US" sz="1800" dirty="0">
                  <a:solidFill>
                    <a:schemeClr val="accent2"/>
                  </a:solidFill>
                  <a:latin typeface="Times New Roman" panose="02020603050405020304" pitchFamily="18" charset="0"/>
                  <a:ea typeface="黑体" panose="02010609060101010101" pitchFamily="49" charset="-122"/>
                </a:rPr>
                <a:t>蓝色部分为什么？</a:t>
              </a:r>
              <a:endParaRPr lang="zh-CN" altLang="en-US" sz="1800" dirty="0">
                <a:solidFill>
                  <a:schemeClr val="accent2"/>
                </a:solidFill>
                <a:latin typeface="Times New Roman" panose="02020603050405020304" pitchFamily="18" charset="0"/>
                <a:ea typeface="黑体" panose="02010609060101010101" pitchFamily="49" charset="-122"/>
              </a:endParaRPr>
            </a:p>
          </p:txBody>
        </p:sp>
        <p:sp>
          <p:nvSpPr>
            <p:cNvPr id="74882" name="直接连接符 217240"/>
            <p:cNvSpPr/>
            <p:nvPr/>
          </p:nvSpPr>
          <p:spPr>
            <a:xfrm flipH="1">
              <a:off x="3639" y="1747"/>
              <a:ext cx="164" cy="1088"/>
            </a:xfrm>
            <a:prstGeom prst="line">
              <a:avLst/>
            </a:prstGeom>
            <a:ln w="19050" cap="flat" cmpd="sng">
              <a:solidFill>
                <a:schemeClr val="accent2"/>
              </a:solidFill>
              <a:prstDash val="solid"/>
              <a:round/>
              <a:headEnd type="none" w="med" len="med"/>
              <a:tailEnd type="triangle" w="med" len="med"/>
            </a:ln>
          </p:spPr>
        </p:sp>
      </p:grpSp>
      <p:sp>
        <p:nvSpPr>
          <p:cNvPr id="217243" name="文本框 217242"/>
          <p:cNvSpPr txBox="1"/>
          <p:nvPr/>
        </p:nvSpPr>
        <p:spPr>
          <a:xfrm>
            <a:off x="0" y="6140450"/>
            <a:ext cx="8990013" cy="366713"/>
          </a:xfrm>
          <a:prstGeom prst="rect">
            <a:avLst/>
          </a:prstGeom>
          <a:noFill/>
          <a:ln w="50800">
            <a:noFill/>
          </a:ln>
        </p:spPr>
        <p:txBody>
          <a:bodyPr anchor="t" anchorCtr="0">
            <a:spAutoFit/>
          </a:bodyPr>
          <a:p>
            <a:pPr>
              <a:spcBef>
                <a:spcPct val="50000"/>
              </a:spcBef>
            </a:pPr>
            <a:r>
              <a:rPr lang="zh-CN" altLang="en-US" sz="1800" dirty="0">
                <a:solidFill>
                  <a:srgbClr val="006600"/>
                </a:solidFill>
                <a:latin typeface="Arial" panose="020B0604020202020204" pitchFamily="34" charset="0"/>
                <a:ea typeface="黑体" panose="02010609060101010101" pitchFamily="49" charset="-122"/>
              </a:rPr>
              <a:t>控制信号</a:t>
            </a:r>
            <a:r>
              <a:rPr lang="en-US" altLang="zh-CN" sz="1800" dirty="0" err="1">
                <a:solidFill>
                  <a:srgbClr val="006600"/>
                </a:solidFill>
                <a:latin typeface="Arial" panose="020B0604020202020204" pitchFamily="34" charset="0"/>
                <a:ea typeface="黑体" panose="02010609060101010101" pitchFamily="49" charset="-122"/>
              </a:rPr>
              <a:t>RegDst</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RegWr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ALUctr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ExtOp</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ALUSrc</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MemtoReg</a:t>
            </a:r>
            <a:r>
              <a:rPr lang="en-US" altLang="zh-CN" sz="1800">
                <a:solidFill>
                  <a:srgbClr val="006600"/>
                </a:solidFill>
                <a:latin typeface="Arial" panose="020B0604020202020204" pitchFamily="34" charset="0"/>
                <a:ea typeface="黑体" panose="02010609060101010101" pitchFamily="49" charset="-122"/>
              </a:rPr>
              <a:t> </a:t>
            </a:r>
            <a:r>
              <a:rPr lang="zh-CN" altLang="en-US" sz="1800" dirty="0">
                <a:solidFill>
                  <a:srgbClr val="006600"/>
                </a:solidFill>
                <a:latin typeface="Arial" panose="020B0604020202020204" pitchFamily="34" charset="0"/>
                <a:ea typeface="黑体" panose="02010609060101010101" pitchFamily="49" charset="-122"/>
              </a:rPr>
              <a:t>各取何值？</a:t>
            </a:r>
            <a:endParaRPr lang="zh-CN" altLang="en-US" sz="1800" dirty="0">
              <a:solidFill>
                <a:srgbClr val="006600"/>
              </a:solidFill>
              <a:latin typeface="Arial" panose="020B0604020202020204" pitchFamily="34" charset="0"/>
              <a:ea typeface="黑体" panose="02010609060101010101" pitchFamily="49" charset="-122"/>
            </a:endParaRPr>
          </a:p>
        </p:txBody>
      </p:sp>
      <p:sp>
        <p:nvSpPr>
          <p:cNvPr id="217244" name="文本框 217243"/>
          <p:cNvSpPr txBox="1"/>
          <p:nvPr/>
        </p:nvSpPr>
        <p:spPr>
          <a:xfrm>
            <a:off x="0" y="6216650"/>
            <a:ext cx="8885238" cy="366713"/>
          </a:xfrm>
          <a:prstGeom prst="rect">
            <a:avLst/>
          </a:prstGeom>
          <a:solidFill>
            <a:schemeClr val="bg1"/>
          </a:solidFill>
          <a:ln w="50800">
            <a:noFill/>
          </a:ln>
        </p:spPr>
        <p:txBody>
          <a:bodyPr anchor="t" anchorCtr="0">
            <a:spAutoFit/>
          </a:bodyPr>
          <a:p>
            <a:pPr>
              <a:spcBef>
                <a:spcPct val="50000"/>
              </a:spcBef>
            </a:pPr>
            <a:r>
              <a:rPr lang="en-US" altLang="zh-CN" sz="1800" dirty="0" err="1">
                <a:solidFill>
                  <a:schemeClr val="accent2"/>
                </a:solidFill>
                <a:latin typeface="Arial" panose="020B0604020202020204" pitchFamily="34" charset="0"/>
                <a:ea typeface="宋体" panose="02010600030101010101" pitchFamily="2" charset="-122"/>
              </a:rPr>
              <a:t>RegDst</a:t>
            </a:r>
            <a:r>
              <a:rPr lang="en-US" altLang="zh-CN" sz="1800">
                <a:solidFill>
                  <a:schemeClr val="accent2"/>
                </a:solidFill>
                <a:latin typeface="Arial" panose="020B0604020202020204" pitchFamily="34" charset="0"/>
                <a:ea typeface="宋体" panose="02010600030101010101" pitchFamily="2" charset="-122"/>
              </a:rPr>
              <a:t>=x, </a:t>
            </a:r>
            <a:r>
              <a:rPr lang="en-US" altLang="zh-CN" sz="1800" dirty="0" err="1">
                <a:solidFill>
                  <a:schemeClr val="accent2"/>
                </a:solidFill>
                <a:latin typeface="Arial" panose="020B0604020202020204" pitchFamily="34" charset="0"/>
                <a:ea typeface="宋体" panose="02010600030101010101" pitchFamily="2" charset="-122"/>
              </a:rPr>
              <a:t>RegWr</a:t>
            </a:r>
            <a:r>
              <a:rPr lang="en-US" altLang="zh-CN" sz="1800">
                <a:solidFill>
                  <a:schemeClr val="accent2"/>
                </a:solidFill>
                <a:latin typeface="Arial" panose="020B0604020202020204" pitchFamily="34" charset="0"/>
                <a:ea typeface="宋体" panose="02010600030101010101" pitchFamily="2" charset="-122"/>
              </a:rPr>
              <a:t>=0, </a:t>
            </a:r>
            <a:r>
              <a:rPr lang="en-US" altLang="zh-CN" sz="1800" dirty="0" err="1">
                <a:solidFill>
                  <a:schemeClr val="accent2"/>
                </a:solidFill>
                <a:latin typeface="Arial" panose="020B0604020202020204" pitchFamily="34" charset="0"/>
                <a:ea typeface="宋体" panose="02010600030101010101" pitchFamily="2" charset="-122"/>
              </a:rPr>
              <a:t>ALUctr</a:t>
            </a:r>
            <a:r>
              <a:rPr lang="en-US" altLang="zh-CN" sz="1800">
                <a:solidFill>
                  <a:schemeClr val="accent2"/>
                </a:solidFill>
                <a:latin typeface="Arial" panose="020B0604020202020204" pitchFamily="34" charset="0"/>
                <a:ea typeface="宋体" panose="02010600030101010101" pitchFamily="2" charset="-122"/>
              </a:rPr>
              <a:t>=add, </a:t>
            </a:r>
            <a:r>
              <a:rPr lang="en-US" altLang="zh-CN" sz="1800" dirty="0" err="1">
                <a:solidFill>
                  <a:schemeClr val="accent2"/>
                </a:solidFill>
                <a:latin typeface="Arial" panose="020B0604020202020204" pitchFamily="34" charset="0"/>
                <a:ea typeface="宋体" panose="02010600030101010101" pitchFamily="2" charset="-122"/>
              </a:rPr>
              <a:t>ExtOp</a:t>
            </a:r>
            <a:r>
              <a:rPr lang="en-US" altLang="zh-CN" sz="1800">
                <a:solidFill>
                  <a:schemeClr val="accent2"/>
                </a:solidFill>
                <a:latin typeface="Arial" panose="020B0604020202020204" pitchFamily="34" charset="0"/>
                <a:ea typeface="宋体" panose="02010600030101010101" pitchFamily="2" charset="-122"/>
              </a:rPr>
              <a:t>=1, </a:t>
            </a:r>
            <a:r>
              <a:rPr lang="en-US" altLang="zh-CN" sz="1800" dirty="0" err="1">
                <a:solidFill>
                  <a:schemeClr val="accent2"/>
                </a:solidFill>
                <a:latin typeface="Arial" panose="020B0604020202020204" pitchFamily="34" charset="0"/>
                <a:ea typeface="宋体" panose="02010600030101010101" pitchFamily="2" charset="-122"/>
              </a:rPr>
              <a:t>ALUSrc</a:t>
            </a:r>
            <a:r>
              <a:rPr lang="en-US" altLang="zh-CN" sz="1800">
                <a:solidFill>
                  <a:schemeClr val="accent2"/>
                </a:solidFill>
                <a:latin typeface="Arial" panose="020B0604020202020204" pitchFamily="34" charset="0"/>
                <a:ea typeface="宋体" panose="02010600030101010101" pitchFamily="2" charset="-122"/>
              </a:rPr>
              <a:t>=1, </a:t>
            </a:r>
            <a:r>
              <a:rPr lang="en-US" altLang="zh-CN" sz="1800" dirty="0" err="1">
                <a:solidFill>
                  <a:schemeClr val="accent2"/>
                </a:solidFill>
                <a:latin typeface="Arial" panose="020B0604020202020204" pitchFamily="34" charset="0"/>
                <a:ea typeface="宋体" panose="02010600030101010101" pitchFamily="2" charset="-122"/>
              </a:rPr>
              <a:t>MemWr</a:t>
            </a:r>
            <a:r>
              <a:rPr lang="en-US" altLang="zh-CN" sz="1800">
                <a:solidFill>
                  <a:schemeClr val="accent2"/>
                </a:solidFill>
                <a:latin typeface="Arial" panose="020B0604020202020204" pitchFamily="34" charset="0"/>
                <a:ea typeface="宋体" panose="02010600030101010101" pitchFamily="2" charset="-122"/>
              </a:rPr>
              <a:t>=1, </a:t>
            </a:r>
            <a:r>
              <a:rPr lang="en-US" altLang="zh-CN" sz="1800" dirty="0" err="1">
                <a:solidFill>
                  <a:schemeClr val="accent2"/>
                </a:solidFill>
                <a:latin typeface="Arial" panose="020B0604020202020204" pitchFamily="34" charset="0"/>
                <a:ea typeface="宋体" panose="02010600030101010101" pitchFamily="2" charset="-122"/>
              </a:rPr>
              <a:t>MemtoReg</a:t>
            </a:r>
            <a:r>
              <a:rPr lang="en-US" altLang="zh-CN" sz="1800">
                <a:solidFill>
                  <a:schemeClr val="accent2"/>
                </a:solidFill>
                <a:latin typeface="Arial" panose="020B0604020202020204" pitchFamily="34" charset="0"/>
                <a:ea typeface="宋体" panose="02010600030101010101" pitchFamily="2" charset="-122"/>
              </a:rPr>
              <a:t>=x</a:t>
            </a:r>
            <a:endParaRPr lang="zh-CN" altLang="en-US" sz="1800" dirty="0">
              <a:solidFill>
                <a:schemeClr val="accent2"/>
              </a:solidFill>
              <a:latin typeface="Arial" panose="020B0604020202020204" pitchFamily="34" charset="0"/>
              <a:ea typeface="宋体" panose="02010600030101010101" pitchFamily="2" charset="-122"/>
            </a:endParaRPr>
          </a:p>
        </p:txBody>
      </p:sp>
      <p:grpSp>
        <p:nvGrpSpPr>
          <p:cNvPr id="74885" name="组合 217244"/>
          <p:cNvGrpSpPr/>
          <p:nvPr/>
        </p:nvGrpSpPr>
        <p:grpSpPr>
          <a:xfrm>
            <a:off x="7626350" y="3622675"/>
            <a:ext cx="225425" cy="992188"/>
            <a:chOff x="3075" y="2821"/>
            <a:chExt cx="142" cy="625"/>
          </a:xfrm>
        </p:grpSpPr>
        <p:sp>
          <p:nvSpPr>
            <p:cNvPr id="74886" name="文本框 217245"/>
            <p:cNvSpPr txBox="1"/>
            <p:nvPr/>
          </p:nvSpPr>
          <p:spPr>
            <a:xfrm>
              <a:off x="3089" y="2821"/>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74887" name="文本框 217246"/>
            <p:cNvSpPr txBox="1"/>
            <p:nvPr/>
          </p:nvSpPr>
          <p:spPr>
            <a:xfrm>
              <a:off x="3075" y="3234"/>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74888" name="组合 217250"/>
          <p:cNvGrpSpPr/>
          <p:nvPr/>
        </p:nvGrpSpPr>
        <p:grpSpPr>
          <a:xfrm>
            <a:off x="2293938" y="1200150"/>
            <a:ext cx="5999162" cy="989013"/>
            <a:chOff x="1918" y="1392"/>
            <a:chExt cx="3763" cy="607"/>
          </a:xfrm>
        </p:grpSpPr>
        <p:sp>
          <p:nvSpPr>
            <p:cNvPr id="74889" name="矩形 217251"/>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4890" name="组合 217252"/>
            <p:cNvGrpSpPr/>
            <p:nvPr/>
          </p:nvGrpSpPr>
          <p:grpSpPr>
            <a:xfrm>
              <a:off x="1979" y="1584"/>
              <a:ext cx="624" cy="223"/>
              <a:chOff x="1979" y="1584"/>
              <a:chExt cx="624" cy="223"/>
            </a:xfrm>
          </p:grpSpPr>
          <p:sp>
            <p:nvSpPr>
              <p:cNvPr id="74891" name="矩形 217253"/>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4892" name="矩形 217254"/>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74893" name="组合 217255"/>
            <p:cNvGrpSpPr/>
            <p:nvPr/>
          </p:nvGrpSpPr>
          <p:grpSpPr>
            <a:xfrm>
              <a:off x="2611" y="1584"/>
              <a:ext cx="580" cy="223"/>
              <a:chOff x="2611" y="1584"/>
              <a:chExt cx="580" cy="223"/>
            </a:xfrm>
          </p:grpSpPr>
          <p:sp>
            <p:nvSpPr>
              <p:cNvPr id="74894" name="矩形 217256"/>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4895" name="矩形 217257"/>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74896" name="组合 217258"/>
            <p:cNvGrpSpPr/>
            <p:nvPr/>
          </p:nvGrpSpPr>
          <p:grpSpPr>
            <a:xfrm>
              <a:off x="3199" y="1584"/>
              <a:ext cx="579" cy="223"/>
              <a:chOff x="3199" y="1584"/>
              <a:chExt cx="579" cy="223"/>
            </a:xfrm>
          </p:grpSpPr>
          <p:sp>
            <p:nvSpPr>
              <p:cNvPr id="74897" name="矩形 217259"/>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4898" name="矩形 217260"/>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74899" name="矩形 217261"/>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4900" name="矩形 217262"/>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74901" name="矩形 217263"/>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4902" name="矩形 217264"/>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74903" name="矩形 217265"/>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74904" name="矩形 217266"/>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4905" name="矩形 217267"/>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74906" name="矩形 217268"/>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4907" name="矩形 217269"/>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4908" name="矩形 217270"/>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4909" name="矩形 217271"/>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17205"/>
                                        </p:tgtEl>
                                        <p:attrNameLst>
                                          <p:attrName>style.visibility</p:attrName>
                                        </p:attrNameLst>
                                      </p:cBhvr>
                                      <p:to>
                                        <p:strVal val="visible"/>
                                      </p:to>
                                    </p:set>
                                    <p:animEffect transition="in" filter="checkerboard(across)">
                                      <p:cBhvr>
                                        <p:cTn id="7" dur="500"/>
                                        <p:tgtEl>
                                          <p:spTgt spid="21720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7242"/>
                                        </p:tgtEl>
                                        <p:attrNameLst>
                                          <p:attrName>style.visibility</p:attrName>
                                        </p:attrNameLst>
                                      </p:cBhvr>
                                      <p:to>
                                        <p:strVal val="visible"/>
                                      </p:to>
                                    </p:set>
                                    <p:animEffect transition="in" filter="blinds(horizontal)">
                                      <p:cBhvr>
                                        <p:cTn id="12" dur="500"/>
                                        <p:tgtEl>
                                          <p:spTgt spid="2172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7243"/>
                                        </p:tgtEl>
                                        <p:attrNameLst>
                                          <p:attrName>style.visibility</p:attrName>
                                        </p:attrNameLst>
                                      </p:cBhvr>
                                      <p:to>
                                        <p:strVal val="visible"/>
                                      </p:to>
                                    </p:set>
                                    <p:animEffect transition="in" filter="blinds(horizontal)">
                                      <p:cBhvr>
                                        <p:cTn id="17" dur="500"/>
                                        <p:tgtEl>
                                          <p:spTgt spid="217243"/>
                                        </p:tgtEl>
                                      </p:cBhvr>
                                    </p:animEffect>
                                  </p:childTnLst>
                                  <p:subTnLst>
                                    <p:set>
                                      <p:cBhvr override="childStyle">
                                        <p:cTn dur="1" fill="hold" display="0" masterRel="nextClick" afterEffect="1"/>
                                        <p:tgtEl>
                                          <p:spTgt spid="217243"/>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7244"/>
                                        </p:tgtEl>
                                        <p:attrNameLst>
                                          <p:attrName>style.visibility</p:attrName>
                                        </p:attrNameLst>
                                      </p:cBhvr>
                                      <p:to>
                                        <p:strVal val="visible"/>
                                      </p:to>
                                    </p:set>
                                    <p:animEffect transition="in" filter="blinds(horizontal)">
                                      <p:cBhvr>
                                        <p:cTn id="22" dur="500"/>
                                        <p:tgtEl>
                                          <p:spTgt spid="217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243" grpId="0"/>
      <p:bldP spid="217244"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219137"/>
          <p:cNvSpPr>
            <a:spLocks noGrp="1"/>
          </p:cNvSpPr>
          <p:nvPr>
            <p:ph type="title"/>
          </p:nvPr>
        </p:nvSpPr>
        <p:spPr>
          <a:xfrm>
            <a:off x="374650" y="228600"/>
            <a:ext cx="8966200" cy="531813"/>
          </a:xfrm>
          <a:ln/>
        </p:spPr>
        <p:txBody>
          <a:bodyPr vert="horz" wrap="square" lIns="63500" tIns="25400" rIns="63500" bIns="25400" anchor="t" anchorCtr="0">
            <a:spAutoFit/>
          </a:bodyPr>
          <a:p>
            <a:r>
              <a:rPr lang="zh-CN" altLang="en-US" dirty="0">
                <a:ea typeface="宋体" panose="02010600030101010101" pitchFamily="2" charset="-122"/>
              </a:rPr>
              <a:t>分支（条件转移）指令（相等转移：</a:t>
            </a:r>
            <a:r>
              <a:rPr lang="en-US" altLang="zh-CN" dirty="0" err="1">
                <a:ea typeface="宋体" panose="02010600030101010101" pitchFamily="2" charset="-122"/>
              </a:rPr>
              <a:t>beq</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76802" name="文本占位符 219210"/>
          <p:cNvSpPr>
            <a:spLocks noGrp="1"/>
          </p:cNvSpPr>
          <p:nvPr>
            <p:ph idx="1"/>
          </p:nvPr>
        </p:nvSpPr>
        <p:spPr>
          <a:xfrm>
            <a:off x="209550" y="901700"/>
            <a:ext cx="3170238" cy="4783138"/>
          </a:xfrm>
          <a:ln/>
        </p:spPr>
        <p:txBody>
          <a:bodyPr vert="horz" wrap="square" lIns="63500" tIns="25400" rIns="63500" bIns="25400" anchor="t" anchorCtr="0">
            <a:spAutoFit/>
          </a:bodyPr>
          <a:p>
            <a:pPr marL="342900" indent="-342900">
              <a:buNone/>
            </a:pPr>
            <a:r>
              <a:rPr lang="zh-CN" altLang="en-US" dirty="0">
                <a:solidFill>
                  <a:srgbClr val="339933"/>
                </a:solidFill>
                <a:ea typeface="宋体" panose="02010600030101010101" pitchFamily="2" charset="-122"/>
              </a:rPr>
              <a:t>实现目标（</a:t>
            </a:r>
            <a:r>
              <a:rPr lang="en-US" altLang="zh-CN">
                <a:solidFill>
                  <a:srgbClr val="339933"/>
                </a:solidFill>
                <a:ea typeface="宋体" panose="02010600030101010101" pitchFamily="2" charset="-122"/>
              </a:rPr>
              <a:t>7</a:t>
            </a:r>
            <a:r>
              <a:rPr lang="zh-CN" altLang="en-US" dirty="0">
                <a:solidFill>
                  <a:srgbClr val="339933"/>
                </a:solidFill>
                <a:ea typeface="宋体" panose="02010600030101010101" pitchFamily="2" charset="-122"/>
              </a:rPr>
              <a:t>条指令）：</a:t>
            </a:r>
            <a:endParaRPr lang="zh-CN" altLang="en-US" dirty="0">
              <a:solidFill>
                <a:srgbClr val="339933"/>
              </a:solidFill>
              <a:ea typeface="宋体" panose="02010600030101010101" pitchFamily="2" charset="-122"/>
            </a:endParaRPr>
          </a:p>
          <a:p>
            <a:pPr marL="342900" indent="-342900"/>
            <a:r>
              <a:rPr lang="en-US" altLang="zh-CN">
                <a:solidFill>
                  <a:srgbClr val="6D6D6D"/>
                </a:solidFill>
                <a:ea typeface="宋体" panose="02010600030101010101" pitchFamily="2" charset="-122"/>
              </a:rPr>
              <a:t>ADD and subtract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add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sub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342900" indent="-342900"/>
            <a:r>
              <a:rPr lang="en-US" altLang="zh-CN">
                <a:solidFill>
                  <a:srgbClr val="6D6D6D"/>
                </a:solidFill>
                <a:ea typeface="宋体" panose="02010600030101010101" pitchFamily="2" charset="-122"/>
              </a:rPr>
              <a:t>OR Immediate:</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ori</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342900" indent="-342900"/>
            <a:r>
              <a:rPr lang="en-US" altLang="zh-CN">
                <a:solidFill>
                  <a:srgbClr val="6D6D6D"/>
                </a:solidFill>
                <a:ea typeface="宋体" panose="02010600030101010101" pitchFamily="2" charset="-122"/>
              </a:rPr>
              <a:t>LOAD and STORE</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lw</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sw</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342900" indent="-342900"/>
            <a:r>
              <a:rPr lang="en-US" altLang="zh-CN">
                <a:ea typeface="宋体" panose="02010600030101010101" pitchFamily="2" charset="-122"/>
              </a:rPr>
              <a:t>BRANCH:</a:t>
            </a:r>
            <a:endParaRPr lang="en-US" altLang="zh-CN">
              <a:ea typeface="宋体" panose="02010600030101010101" pitchFamily="2" charset="-122"/>
            </a:endParaRPr>
          </a:p>
          <a:p>
            <a:pPr marL="742950" lvl="1" indent="-285750"/>
            <a:r>
              <a:rPr lang="en-US" altLang="zh-CN" dirty="0" err="1">
                <a:ea typeface="宋体" panose="02010600030101010101" pitchFamily="2" charset="-122"/>
              </a:rPr>
              <a:t>beq</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imm16</a:t>
            </a:r>
            <a:endParaRPr lang="en-US" altLang="zh-CN">
              <a:ea typeface="宋体" panose="02010600030101010101" pitchFamily="2" charset="-122"/>
            </a:endParaRPr>
          </a:p>
          <a:p>
            <a:pPr marL="342900" indent="-342900"/>
            <a:r>
              <a:rPr lang="en-US" altLang="zh-CN">
                <a:ea typeface="宋体" panose="02010600030101010101" pitchFamily="2" charset="-122"/>
              </a:rPr>
              <a:t>JUMP:</a:t>
            </a:r>
            <a:endParaRPr lang="en-US" altLang="zh-CN">
              <a:ea typeface="宋体" panose="02010600030101010101" pitchFamily="2" charset="-122"/>
            </a:endParaRPr>
          </a:p>
          <a:p>
            <a:pPr marL="742950" lvl="1" indent="-285750"/>
            <a:r>
              <a:rPr lang="en-US" altLang="zh-CN">
                <a:ea typeface="宋体" panose="02010600030101010101" pitchFamily="2" charset="-122"/>
              </a:rPr>
              <a:t>j  target</a:t>
            </a:r>
            <a:endParaRPr lang="en-US" altLang="zh-CN">
              <a:ea typeface="宋体" panose="02010600030101010101" pitchFamily="2" charset="-122"/>
            </a:endParaRPr>
          </a:p>
        </p:txBody>
      </p:sp>
      <p:sp>
        <p:nvSpPr>
          <p:cNvPr id="219212" name="文本框 219211"/>
          <p:cNvSpPr txBox="1"/>
          <p:nvPr/>
        </p:nvSpPr>
        <p:spPr>
          <a:xfrm>
            <a:off x="3244850" y="3832225"/>
            <a:ext cx="5899150" cy="427038"/>
          </a:xfrm>
          <a:prstGeom prst="rect">
            <a:avLst/>
          </a:prstGeom>
          <a:noFill/>
          <a:ln w="50800">
            <a:noFill/>
          </a:ln>
        </p:spPr>
        <p:txBody>
          <a:bodyPr anchor="t" anchorCtr="0">
            <a:spAutoFit/>
          </a:bodyPr>
          <a:p>
            <a:pPr>
              <a:spcBef>
                <a:spcPct val="50000"/>
              </a:spcBef>
            </a:pPr>
            <a:r>
              <a:rPr lang="en-US" altLang="zh-CN" sz="2200">
                <a:solidFill>
                  <a:schemeClr val="accent1"/>
                </a:solidFill>
                <a:latin typeface="Arial" panose="020B0604020202020204" pitchFamily="34" charset="0"/>
                <a:ea typeface="黑体" panose="02010609060101010101" pitchFamily="49" charset="-122"/>
              </a:rPr>
              <a:t>5.  </a:t>
            </a:r>
            <a:r>
              <a:rPr lang="zh-CN" altLang="en-US" sz="2200" dirty="0">
                <a:solidFill>
                  <a:schemeClr val="accent1"/>
                </a:solidFill>
                <a:latin typeface="Arial" panose="020B0604020202020204" pitchFamily="34" charset="0"/>
                <a:ea typeface="黑体" panose="02010609060101010101" pitchFamily="49" charset="-122"/>
              </a:rPr>
              <a:t>考虑</a:t>
            </a:r>
            <a:r>
              <a:rPr lang="en-US" altLang="zh-CN" sz="2200" dirty="0" err="1">
                <a:solidFill>
                  <a:schemeClr val="accent1"/>
                </a:solidFill>
                <a:latin typeface="Arial" panose="020B0604020202020204" pitchFamily="34" charset="0"/>
                <a:ea typeface="黑体" panose="02010609060101010101" pitchFamily="49" charset="-122"/>
              </a:rPr>
              <a:t>beq</a:t>
            </a:r>
            <a:r>
              <a:rPr lang="zh-CN" altLang="en-US" sz="2200" dirty="0">
                <a:solidFill>
                  <a:schemeClr val="accent1"/>
                </a:solidFill>
                <a:latin typeface="Arial" panose="020B0604020202020204" pitchFamily="34" charset="0"/>
                <a:ea typeface="黑体" panose="02010609060101010101" pitchFamily="49" charset="-122"/>
              </a:rPr>
              <a:t>指令（条件转移指令的代表）</a:t>
            </a:r>
            <a:endParaRPr lang="zh-CN" altLang="en-US" sz="2200" dirty="0">
              <a:solidFill>
                <a:schemeClr val="accent1"/>
              </a:solidFill>
              <a:latin typeface="Arial" panose="020B0604020202020204" pitchFamily="34" charset="0"/>
              <a:ea typeface="黑体" panose="02010609060101010101" pitchFamily="49" charset="-122"/>
            </a:endParaRPr>
          </a:p>
        </p:txBody>
      </p:sp>
      <p:grpSp>
        <p:nvGrpSpPr>
          <p:cNvPr id="219216" name="组合 219215"/>
          <p:cNvGrpSpPr/>
          <p:nvPr/>
        </p:nvGrpSpPr>
        <p:grpSpPr>
          <a:xfrm>
            <a:off x="596900" y="2241550"/>
            <a:ext cx="8504238" cy="2697163"/>
            <a:chOff x="376" y="1412"/>
            <a:chExt cx="5357" cy="1699"/>
          </a:xfrm>
        </p:grpSpPr>
        <p:sp>
          <p:nvSpPr>
            <p:cNvPr id="76805" name="文本框 219213"/>
            <p:cNvSpPr txBox="1"/>
            <p:nvPr/>
          </p:nvSpPr>
          <p:spPr>
            <a:xfrm>
              <a:off x="376" y="2899"/>
              <a:ext cx="1682" cy="212"/>
            </a:xfrm>
            <a:prstGeom prst="rect">
              <a:avLst/>
            </a:prstGeom>
            <a:solidFill>
              <a:srgbClr val="FF99CC">
                <a:alpha val="42000"/>
              </a:srgbClr>
            </a:solidFill>
            <a:ln w="50800">
              <a:noFill/>
            </a:ln>
          </p:spPr>
          <p:txBody>
            <a:bodyPr anchor="t" anchorCtr="0">
              <a:spAutoFit/>
            </a:bodyPr>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76806" name="矩形 219214"/>
            <p:cNvSpPr/>
            <p:nvPr/>
          </p:nvSpPr>
          <p:spPr>
            <a:xfrm>
              <a:off x="1893" y="1412"/>
              <a:ext cx="3840" cy="667"/>
            </a:xfrm>
            <a:prstGeom prst="rect">
              <a:avLst/>
            </a:prstGeom>
            <a:solidFill>
              <a:srgbClr val="FF99CC">
                <a:alpha val="35001"/>
              </a:srgbClr>
            </a:solidFill>
            <a:ln w="50800">
              <a:noFill/>
            </a:ln>
          </p:spPr>
          <p:txBody>
            <a:bodyPr anchor="t" anchorCtr="0"/>
            <a:p>
              <a:endParaRPr lang="zh-CN" altLang="en-US">
                <a:latin typeface="Arial" panose="020B0604020202020204" pitchFamily="34" charset="0"/>
              </a:endParaRPr>
            </a:p>
          </p:txBody>
        </p:sp>
      </p:grpSp>
      <p:grpSp>
        <p:nvGrpSpPr>
          <p:cNvPr id="76807" name="组合 219217"/>
          <p:cNvGrpSpPr/>
          <p:nvPr/>
        </p:nvGrpSpPr>
        <p:grpSpPr>
          <a:xfrm>
            <a:off x="3068638" y="2266950"/>
            <a:ext cx="5999162" cy="989013"/>
            <a:chOff x="1918" y="1392"/>
            <a:chExt cx="3763" cy="607"/>
          </a:xfrm>
        </p:grpSpPr>
        <p:sp>
          <p:nvSpPr>
            <p:cNvPr id="76808" name="矩形 219218"/>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6809" name="组合 219219"/>
            <p:cNvGrpSpPr/>
            <p:nvPr/>
          </p:nvGrpSpPr>
          <p:grpSpPr>
            <a:xfrm>
              <a:off x="1979" y="1584"/>
              <a:ext cx="624" cy="223"/>
              <a:chOff x="1979" y="1584"/>
              <a:chExt cx="624" cy="223"/>
            </a:xfrm>
          </p:grpSpPr>
          <p:sp>
            <p:nvSpPr>
              <p:cNvPr id="76810" name="矩形 219220"/>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11" name="矩形 219221"/>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76812" name="组合 219222"/>
            <p:cNvGrpSpPr/>
            <p:nvPr/>
          </p:nvGrpSpPr>
          <p:grpSpPr>
            <a:xfrm>
              <a:off x="2611" y="1584"/>
              <a:ext cx="580" cy="223"/>
              <a:chOff x="2611" y="1584"/>
              <a:chExt cx="580" cy="223"/>
            </a:xfrm>
          </p:grpSpPr>
          <p:sp>
            <p:nvSpPr>
              <p:cNvPr id="76813" name="矩形 219223"/>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14" name="矩形 219224"/>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76815" name="组合 219225"/>
            <p:cNvGrpSpPr/>
            <p:nvPr/>
          </p:nvGrpSpPr>
          <p:grpSpPr>
            <a:xfrm>
              <a:off x="3199" y="1584"/>
              <a:ext cx="579" cy="223"/>
              <a:chOff x="3199" y="1584"/>
              <a:chExt cx="579" cy="223"/>
            </a:xfrm>
          </p:grpSpPr>
          <p:sp>
            <p:nvSpPr>
              <p:cNvPr id="76816" name="矩形 219226"/>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17" name="矩形 219227"/>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76818" name="矩形 219228"/>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19" name="矩形 219229"/>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76820" name="矩形 219230"/>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6821" name="矩形 219231"/>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76822" name="矩形 219232"/>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76823" name="矩形 219233"/>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6824" name="矩形 219234"/>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76825" name="矩形 219235"/>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26" name="矩形 219236"/>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27" name="矩形 219237"/>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28" name="矩形 219238"/>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76829" name="组合 219239"/>
          <p:cNvGrpSpPr/>
          <p:nvPr/>
        </p:nvGrpSpPr>
        <p:grpSpPr>
          <a:xfrm>
            <a:off x="3238500" y="990600"/>
            <a:ext cx="5905500" cy="973138"/>
            <a:chOff x="1918" y="672"/>
            <a:chExt cx="3767" cy="613"/>
          </a:xfrm>
        </p:grpSpPr>
        <p:grpSp>
          <p:nvGrpSpPr>
            <p:cNvPr id="76830" name="组合 219240"/>
            <p:cNvGrpSpPr/>
            <p:nvPr/>
          </p:nvGrpSpPr>
          <p:grpSpPr>
            <a:xfrm>
              <a:off x="1918" y="672"/>
              <a:ext cx="3767" cy="421"/>
              <a:chOff x="1918" y="672"/>
              <a:chExt cx="3767" cy="421"/>
            </a:xfrm>
          </p:grpSpPr>
          <p:grpSp>
            <p:nvGrpSpPr>
              <p:cNvPr id="76831" name="组合 219241"/>
              <p:cNvGrpSpPr/>
              <p:nvPr/>
            </p:nvGrpSpPr>
            <p:grpSpPr>
              <a:xfrm>
                <a:off x="1979" y="864"/>
                <a:ext cx="3607" cy="229"/>
                <a:chOff x="1979" y="864"/>
                <a:chExt cx="3607" cy="229"/>
              </a:xfrm>
            </p:grpSpPr>
            <p:sp>
              <p:nvSpPr>
                <p:cNvPr id="76832" name="矩形 219242"/>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6833" name="组合 219243"/>
                <p:cNvGrpSpPr/>
                <p:nvPr/>
              </p:nvGrpSpPr>
              <p:grpSpPr>
                <a:xfrm>
                  <a:off x="1979" y="864"/>
                  <a:ext cx="3607" cy="229"/>
                  <a:chOff x="1979" y="864"/>
                  <a:chExt cx="3607" cy="229"/>
                </a:xfrm>
              </p:grpSpPr>
              <p:grpSp>
                <p:nvGrpSpPr>
                  <p:cNvPr id="76834" name="组合 219244"/>
                  <p:cNvGrpSpPr/>
                  <p:nvPr/>
                </p:nvGrpSpPr>
                <p:grpSpPr>
                  <a:xfrm>
                    <a:off x="1979" y="864"/>
                    <a:ext cx="624" cy="229"/>
                    <a:chOff x="1979" y="864"/>
                    <a:chExt cx="624" cy="229"/>
                  </a:xfrm>
                </p:grpSpPr>
                <p:sp>
                  <p:nvSpPr>
                    <p:cNvPr id="76835" name="矩形 219245"/>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36" name="矩形 219246"/>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76837" name="组合 219247"/>
                  <p:cNvGrpSpPr/>
                  <p:nvPr/>
                </p:nvGrpSpPr>
                <p:grpSpPr>
                  <a:xfrm>
                    <a:off x="2611" y="864"/>
                    <a:ext cx="580" cy="229"/>
                    <a:chOff x="2611" y="864"/>
                    <a:chExt cx="580" cy="229"/>
                  </a:xfrm>
                </p:grpSpPr>
                <p:sp>
                  <p:nvSpPr>
                    <p:cNvPr id="76838" name="矩形 219248"/>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39" name="矩形 219249"/>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76840" name="组合 219250"/>
                  <p:cNvGrpSpPr/>
                  <p:nvPr/>
                </p:nvGrpSpPr>
                <p:grpSpPr>
                  <a:xfrm>
                    <a:off x="3199" y="864"/>
                    <a:ext cx="579" cy="229"/>
                    <a:chOff x="3199" y="864"/>
                    <a:chExt cx="579" cy="229"/>
                  </a:xfrm>
                </p:grpSpPr>
                <p:sp>
                  <p:nvSpPr>
                    <p:cNvPr id="76841" name="矩形 219251"/>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42" name="矩形 219252"/>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76843" name="组合 219253"/>
                  <p:cNvGrpSpPr/>
                  <p:nvPr/>
                </p:nvGrpSpPr>
                <p:grpSpPr>
                  <a:xfrm>
                    <a:off x="3786" y="864"/>
                    <a:ext cx="579" cy="229"/>
                    <a:chOff x="3786" y="864"/>
                    <a:chExt cx="579" cy="229"/>
                  </a:xfrm>
                </p:grpSpPr>
                <p:sp>
                  <p:nvSpPr>
                    <p:cNvPr id="76844" name="矩形 219254"/>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45" name="矩形 219255"/>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76846" name="组合 219256"/>
                  <p:cNvGrpSpPr/>
                  <p:nvPr/>
                </p:nvGrpSpPr>
                <p:grpSpPr>
                  <a:xfrm>
                    <a:off x="4373" y="864"/>
                    <a:ext cx="620" cy="229"/>
                    <a:chOff x="4373" y="864"/>
                    <a:chExt cx="620" cy="229"/>
                  </a:xfrm>
                </p:grpSpPr>
                <p:sp>
                  <p:nvSpPr>
                    <p:cNvPr id="76847" name="矩形 219257"/>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48" name="矩形 219258"/>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76849" name="组合 219259"/>
                  <p:cNvGrpSpPr/>
                  <p:nvPr/>
                </p:nvGrpSpPr>
                <p:grpSpPr>
                  <a:xfrm>
                    <a:off x="4961" y="864"/>
                    <a:ext cx="625" cy="229"/>
                    <a:chOff x="4961" y="864"/>
                    <a:chExt cx="625" cy="229"/>
                  </a:xfrm>
                </p:grpSpPr>
                <p:sp>
                  <p:nvSpPr>
                    <p:cNvPr id="76850" name="矩形 219260"/>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51" name="矩形 219261"/>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76852" name="矩形 219262"/>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6853" name="矩形 219263"/>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76854" name="矩形 219264"/>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76855" name="矩形 219265"/>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76856" name="矩形 219266"/>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76857" name="矩形 219267"/>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6858" name="矩形 219268"/>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76859" name="矩形 219269"/>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60" name="矩形 219270"/>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61" name="矩形 219271"/>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62" name="矩形 219272"/>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63" name="矩形 219273"/>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64" name="矩形 219274"/>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76865" name="组合 219275"/>
          <p:cNvGrpSpPr/>
          <p:nvPr/>
        </p:nvGrpSpPr>
        <p:grpSpPr>
          <a:xfrm>
            <a:off x="3130550" y="5059363"/>
            <a:ext cx="5975350" cy="1012825"/>
            <a:chOff x="1918" y="3360"/>
            <a:chExt cx="3764" cy="599"/>
          </a:xfrm>
        </p:grpSpPr>
        <p:sp>
          <p:nvSpPr>
            <p:cNvPr id="76866" name="矩形 219276"/>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6867" name="组合 219277"/>
            <p:cNvGrpSpPr/>
            <p:nvPr/>
          </p:nvGrpSpPr>
          <p:grpSpPr>
            <a:xfrm>
              <a:off x="1979" y="3552"/>
              <a:ext cx="624" cy="216"/>
              <a:chOff x="1979" y="3552"/>
              <a:chExt cx="624" cy="216"/>
            </a:xfrm>
          </p:grpSpPr>
          <p:sp>
            <p:nvSpPr>
              <p:cNvPr id="76868" name="矩形 219278"/>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69" name="矩形 219279"/>
              <p:cNvSpPr/>
              <p:nvPr/>
            </p:nvSpPr>
            <p:spPr>
              <a:xfrm>
                <a:off x="2161" y="3552"/>
                <a:ext cx="290" cy="216"/>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76870" name="矩形 219280"/>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6871" name="矩形 219281"/>
            <p:cNvSpPr/>
            <p:nvPr/>
          </p:nvSpPr>
          <p:spPr>
            <a:xfrm>
              <a:off x="3554" y="3552"/>
              <a:ext cx="1098" cy="215"/>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76872" name="矩形 219282"/>
            <p:cNvSpPr/>
            <p:nvPr/>
          </p:nvSpPr>
          <p:spPr>
            <a:xfrm>
              <a:off x="5488" y="3360"/>
              <a:ext cx="19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6873" name="矩形 219283"/>
            <p:cNvSpPr/>
            <p:nvPr/>
          </p:nvSpPr>
          <p:spPr>
            <a:xfrm>
              <a:off x="2414"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6874" name="矩形 219284"/>
            <p:cNvSpPr/>
            <p:nvPr/>
          </p:nvSpPr>
          <p:spPr>
            <a:xfrm>
              <a:off x="1918"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76875" name="矩形 219285"/>
            <p:cNvSpPr/>
            <p:nvPr/>
          </p:nvSpPr>
          <p:spPr>
            <a:xfrm>
              <a:off x="2143" y="3744"/>
              <a:ext cx="482"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6876" name="矩形 219286"/>
            <p:cNvSpPr/>
            <p:nvPr/>
          </p:nvSpPr>
          <p:spPr>
            <a:xfrm>
              <a:off x="3816" y="3744"/>
              <a:ext cx="570"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9212"/>
                                        </p:tgtEl>
                                        <p:attrNameLst>
                                          <p:attrName>style.visibility</p:attrName>
                                        </p:attrNameLst>
                                      </p:cBhvr>
                                      <p:to>
                                        <p:strVal val="visible"/>
                                      </p:to>
                                    </p:set>
                                    <p:animEffect transition="in" filter="blinds(horizontal)">
                                      <p:cBhvr>
                                        <p:cTn id="7" dur="500"/>
                                        <p:tgtEl>
                                          <p:spTgt spid="2192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9216"/>
                                        </p:tgtEl>
                                        <p:attrNameLst>
                                          <p:attrName>style.visibility</p:attrName>
                                        </p:attrNameLst>
                                      </p:cBhvr>
                                      <p:to>
                                        <p:strVal val="visible"/>
                                      </p:to>
                                    </p:set>
                                    <p:animEffect transition="in" filter="blinds(horizontal)">
                                      <p:cBhvr>
                                        <p:cTn id="12" dur="500"/>
                                        <p:tgtEl>
                                          <p:spTgt spid="219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21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221185"/>
          <p:cNvSpPr>
            <a:spLocks noGrp="1"/>
          </p:cNvSpPr>
          <p:nvPr>
            <p:ph type="title"/>
          </p:nvPr>
        </p:nvSpPr>
        <p:spPr>
          <a:xfrm>
            <a:off x="741363" y="207963"/>
            <a:ext cx="4933950" cy="422275"/>
          </a:xfrm>
          <a:ln/>
        </p:spPr>
        <p:txBody>
          <a:bodyPr vert="horz" wrap="none" lIns="63500" tIns="25400" rIns="63500" bIns="25400" anchor="t" anchorCtr="0">
            <a:spAutoFit/>
          </a:bodyPr>
          <a:p>
            <a:r>
              <a:rPr lang="en-US" altLang="zh-CN">
                <a:ea typeface="宋体" panose="02010600030101010101" pitchFamily="2" charset="-122"/>
              </a:rPr>
              <a:t>RTL: The Branch Instruction</a:t>
            </a:r>
            <a:endParaRPr lang="en-US" altLang="zh-CN">
              <a:ea typeface="宋体" panose="02010600030101010101" pitchFamily="2" charset="-122"/>
            </a:endParaRPr>
          </a:p>
        </p:txBody>
      </p:sp>
      <p:sp>
        <p:nvSpPr>
          <p:cNvPr id="221187" name="内容占位符 221186"/>
          <p:cNvSpPr>
            <a:spLocks noGrp="1"/>
          </p:cNvSpPr>
          <p:nvPr>
            <p:ph idx="1"/>
          </p:nvPr>
        </p:nvSpPr>
        <p:spPr>
          <a:xfrm>
            <a:off x="482600" y="2259013"/>
            <a:ext cx="8369300" cy="3101975"/>
          </a:xfrm>
          <a:ln/>
        </p:spPr>
        <p:txBody>
          <a:bodyPr vert="horz" wrap="square" lIns="63500" tIns="25400" rIns="63500" bIns="25400" anchor="t" anchorCtr="0">
            <a:spAutoFit/>
          </a:bodyPr>
          <a:p>
            <a:pPr>
              <a:lnSpc>
                <a:spcPct val="110000"/>
              </a:lnSpc>
              <a:spcBef>
                <a:spcPct val="0"/>
              </a:spcBef>
            </a:pPr>
            <a:r>
              <a:rPr lang="en-US" altLang="zh-CN" sz="2000" dirty="0" err="1">
                <a:ea typeface="黑体" panose="02010609060101010101" pitchFamily="49" charset="-122"/>
              </a:rPr>
              <a:t>beq</a:t>
            </a:r>
            <a:r>
              <a:rPr lang="en-US" altLang="zh-CN" sz="2000">
                <a:ea typeface="黑体" panose="02010609060101010101" pitchFamily="49" charset="-122"/>
              </a:rPr>
              <a:t>	</a:t>
            </a:r>
            <a:r>
              <a:rPr lang="en-US" altLang="zh-CN" sz="2000" dirty="0" err="1">
                <a:ea typeface="黑体" panose="02010609060101010101" pitchFamily="49" charset="-122"/>
              </a:rPr>
              <a:t>rs</a:t>
            </a:r>
            <a:r>
              <a:rPr lang="en-US" altLang="zh-CN" sz="2000">
                <a:ea typeface="黑体" panose="02010609060101010101" pitchFamily="49" charset="-122"/>
              </a:rPr>
              <a:t>, </a:t>
            </a:r>
            <a:r>
              <a:rPr lang="en-US" altLang="zh-CN" sz="2000" dirty="0" err="1">
                <a:ea typeface="黑体" panose="02010609060101010101" pitchFamily="49" charset="-122"/>
              </a:rPr>
              <a:t>rt</a:t>
            </a:r>
            <a:r>
              <a:rPr lang="en-US" altLang="zh-CN" sz="2000">
                <a:ea typeface="黑体" panose="02010609060101010101" pitchFamily="49" charset="-122"/>
              </a:rPr>
              <a:t>, imm16</a:t>
            </a:r>
            <a:endParaRPr lang="en-US" altLang="zh-CN" sz="2000">
              <a:ea typeface="黑体" panose="02010609060101010101" pitchFamily="49" charset="-122"/>
            </a:endParaRPr>
          </a:p>
          <a:p>
            <a:pPr lvl="1">
              <a:lnSpc>
                <a:spcPct val="110000"/>
              </a:lnSpc>
              <a:spcBef>
                <a:spcPct val="0"/>
              </a:spcBef>
              <a:buNone/>
            </a:pPr>
            <a:endParaRPr lang="en-US" altLang="zh-CN" sz="2000">
              <a:ea typeface="黑体" panose="02010609060101010101" pitchFamily="49" charset="-122"/>
            </a:endParaRPr>
          </a:p>
          <a:p>
            <a:pPr lvl="1">
              <a:lnSpc>
                <a:spcPct val="130000"/>
              </a:lnSpc>
              <a:spcBef>
                <a:spcPct val="0"/>
              </a:spcBef>
            </a:pPr>
            <a:r>
              <a:rPr lang="en-US" altLang="zh-CN" sz="2000">
                <a:ea typeface="黑体" panose="02010609060101010101" pitchFamily="49" charset="-122"/>
              </a:rPr>
              <a:t>M[PC]			</a:t>
            </a:r>
            <a:r>
              <a:rPr lang="zh-CN" altLang="en-US" sz="2000" dirty="0">
                <a:solidFill>
                  <a:srgbClr val="0000FF"/>
                </a:solidFill>
                <a:ea typeface="黑体" panose="02010609060101010101" pitchFamily="49" charset="-122"/>
              </a:rPr>
              <a:t>取指令（公共操作，取指部件完成）</a:t>
            </a:r>
            <a:endParaRPr lang="en-US" altLang="zh-CN" sz="2000">
              <a:ea typeface="黑体" panose="02010609060101010101" pitchFamily="49" charset="-122"/>
            </a:endParaRPr>
          </a:p>
          <a:p>
            <a:pPr lvl="1">
              <a:lnSpc>
                <a:spcPct val="130000"/>
              </a:lnSpc>
              <a:spcBef>
                <a:spcPct val="0"/>
              </a:spcBef>
            </a:pPr>
            <a:r>
              <a:rPr lang="en-US" altLang="zh-CN" sz="2000" dirty="0" err="1">
                <a:ea typeface="黑体" panose="02010609060101010101" pitchFamily="49" charset="-122"/>
              </a:rPr>
              <a:t>Cond</a:t>
            </a:r>
            <a:r>
              <a:rPr lang="en-US" altLang="zh-CN" sz="2000">
                <a:ea typeface="黑体" panose="02010609060101010101" pitchFamily="49" charset="-122"/>
              </a:rPr>
              <a:t> </a:t>
            </a:r>
            <a:r>
              <a:rPr lang="en-US" altLang="zh-CN" sz="2000">
                <a:solidFill>
                  <a:srgbClr val="CC0000"/>
                </a:solidFill>
                <a:ea typeface="黑体" panose="02010609060101010101" pitchFamily="49" charset="-122"/>
                <a:sym typeface="Wingdings" panose="05000000000000000000" pitchFamily="2" charset="2"/>
              </a:rPr>
              <a:t>←</a:t>
            </a:r>
            <a:r>
              <a:rPr lang="en-US" altLang="zh-CN" sz="2000">
                <a:ea typeface="黑体" panose="02010609060101010101" pitchFamily="49" charset="-122"/>
              </a:rPr>
              <a:t> </a:t>
            </a:r>
            <a:r>
              <a:rPr lang="en-US" altLang="zh-CN" sz="2000" dirty="0" err="1">
                <a:ea typeface="黑体" panose="02010609060101010101" pitchFamily="49" charset="-122"/>
              </a:rPr>
              <a:t>R[rs</a:t>
            </a:r>
            <a:r>
              <a:rPr lang="en-US" altLang="zh-CN" sz="2000">
                <a:ea typeface="黑体" panose="02010609060101010101" pitchFamily="49" charset="-122"/>
              </a:rPr>
              <a:t>] - </a:t>
            </a:r>
            <a:r>
              <a:rPr lang="en-US" altLang="zh-CN" sz="2000" dirty="0" err="1">
                <a:ea typeface="黑体" panose="02010609060101010101" pitchFamily="49" charset="-122"/>
              </a:rPr>
              <a:t>R[rt</a:t>
            </a:r>
            <a:r>
              <a:rPr lang="en-US" altLang="zh-CN" sz="2000">
                <a:ea typeface="黑体" panose="02010609060101010101" pitchFamily="49" charset="-122"/>
              </a:rPr>
              <a:t>]	</a:t>
            </a:r>
            <a:r>
              <a:rPr lang="zh-CN" altLang="en-US" sz="2000" dirty="0">
                <a:solidFill>
                  <a:srgbClr val="0000FF"/>
                </a:solidFill>
                <a:ea typeface="黑体" panose="02010609060101010101" pitchFamily="49" charset="-122"/>
              </a:rPr>
              <a:t>做减法比较</a:t>
            </a:r>
            <a:r>
              <a:rPr lang="en-US" altLang="zh-CN" sz="2000" dirty="0" err="1">
                <a:solidFill>
                  <a:srgbClr val="0000FF"/>
                </a:solidFill>
                <a:ea typeface="黑体" panose="02010609060101010101" pitchFamily="49" charset="-122"/>
              </a:rPr>
              <a:t>rs</a:t>
            </a:r>
            <a:r>
              <a:rPr lang="zh-CN" altLang="en-US" sz="2000" dirty="0">
                <a:solidFill>
                  <a:srgbClr val="0000FF"/>
                </a:solidFill>
                <a:ea typeface="黑体" panose="02010609060101010101" pitchFamily="49" charset="-122"/>
              </a:rPr>
              <a:t>和</a:t>
            </a:r>
            <a:r>
              <a:rPr lang="en-US" altLang="zh-CN" sz="2000" dirty="0" err="1">
                <a:solidFill>
                  <a:srgbClr val="0000FF"/>
                </a:solidFill>
                <a:ea typeface="黑体" panose="02010609060101010101" pitchFamily="49" charset="-122"/>
              </a:rPr>
              <a:t>rt</a:t>
            </a:r>
            <a:r>
              <a:rPr lang="zh-CN" altLang="en-US" sz="2000" dirty="0">
                <a:solidFill>
                  <a:srgbClr val="0000FF"/>
                </a:solidFill>
                <a:ea typeface="黑体" panose="02010609060101010101" pitchFamily="49" charset="-122"/>
              </a:rPr>
              <a:t>中的内容</a:t>
            </a:r>
            <a:endParaRPr lang="en-US" altLang="zh-CN" sz="2000">
              <a:ea typeface="黑体" panose="02010609060101010101" pitchFamily="49" charset="-122"/>
            </a:endParaRPr>
          </a:p>
          <a:p>
            <a:pPr lvl="1">
              <a:lnSpc>
                <a:spcPct val="130000"/>
              </a:lnSpc>
              <a:spcBef>
                <a:spcPct val="0"/>
              </a:spcBef>
            </a:pPr>
            <a:r>
              <a:rPr lang="en-US" altLang="zh-CN" sz="2000">
                <a:ea typeface="黑体" panose="02010609060101010101" pitchFamily="49" charset="-122"/>
              </a:rPr>
              <a:t>if (COND </a:t>
            </a:r>
            <a:r>
              <a:rPr lang="en-US" altLang="zh-CN" sz="2000" dirty="0" err="1">
                <a:ea typeface="黑体" panose="02010609060101010101" pitchFamily="49" charset="-122"/>
              </a:rPr>
              <a:t>eq</a:t>
            </a:r>
            <a:r>
              <a:rPr lang="en-US" altLang="zh-CN" sz="2000">
                <a:ea typeface="黑体" panose="02010609060101010101" pitchFamily="49" charset="-122"/>
              </a:rPr>
              <a:t> 0)		</a:t>
            </a:r>
            <a:r>
              <a:rPr lang="zh-CN" altLang="en-US" sz="2000" dirty="0">
                <a:solidFill>
                  <a:srgbClr val="0000FF"/>
                </a:solidFill>
                <a:ea typeface="黑体" panose="02010609060101010101" pitchFamily="49" charset="-122"/>
              </a:rPr>
              <a:t>计算下地址（根据比较结果，修改</a:t>
            </a:r>
            <a:r>
              <a:rPr lang="en-US" altLang="zh-CN" sz="2000">
                <a:solidFill>
                  <a:srgbClr val="0000FF"/>
                </a:solidFill>
                <a:ea typeface="黑体" panose="02010609060101010101" pitchFamily="49" charset="-122"/>
              </a:rPr>
              <a:t>PC</a:t>
            </a:r>
            <a:r>
              <a:rPr lang="zh-CN" altLang="en-US" sz="2000" dirty="0">
                <a:solidFill>
                  <a:srgbClr val="0000FF"/>
                </a:solidFill>
                <a:ea typeface="黑体" panose="02010609060101010101" pitchFamily="49" charset="-122"/>
              </a:rPr>
              <a:t>）</a:t>
            </a:r>
            <a:endParaRPr lang="zh-CN" altLang="en-US" sz="2000" dirty="0">
              <a:solidFill>
                <a:srgbClr val="0000FF"/>
              </a:solidFill>
              <a:ea typeface="黑体" panose="02010609060101010101" pitchFamily="49" charset="-122"/>
            </a:endParaRPr>
          </a:p>
          <a:p>
            <a:pPr lvl="2">
              <a:lnSpc>
                <a:spcPct val="130000"/>
              </a:lnSpc>
              <a:spcBef>
                <a:spcPct val="0"/>
              </a:spcBef>
            </a:pPr>
            <a:r>
              <a:rPr lang="en-US" altLang="zh-CN" sz="2000">
                <a:ea typeface="黑体" panose="02010609060101010101" pitchFamily="49" charset="-122"/>
              </a:rPr>
              <a:t>PC </a:t>
            </a:r>
            <a:r>
              <a:rPr lang="en-US" altLang="zh-CN" sz="2000">
                <a:solidFill>
                  <a:srgbClr val="CC0000"/>
                </a:solidFill>
                <a:ea typeface="黑体" panose="02010609060101010101" pitchFamily="49" charset="-122"/>
                <a:sym typeface="Wingdings" panose="05000000000000000000" pitchFamily="2" charset="2"/>
              </a:rPr>
              <a:t>←</a:t>
            </a:r>
            <a:r>
              <a:rPr lang="en-US" altLang="zh-CN" sz="2000">
                <a:ea typeface="黑体" panose="02010609060101010101" pitchFamily="49" charset="-122"/>
              </a:rPr>
              <a:t> PC + 4 + ( SignExt(imm16) x 4 ) </a:t>
            </a:r>
            <a:endParaRPr lang="en-US" altLang="zh-CN" sz="2000">
              <a:ea typeface="黑体" panose="02010609060101010101" pitchFamily="49" charset="-122"/>
            </a:endParaRPr>
          </a:p>
          <a:p>
            <a:pPr lvl="1">
              <a:lnSpc>
                <a:spcPct val="130000"/>
              </a:lnSpc>
              <a:spcBef>
                <a:spcPct val="0"/>
              </a:spcBef>
            </a:pPr>
            <a:r>
              <a:rPr lang="en-US" altLang="zh-CN" sz="2000">
                <a:ea typeface="黑体" panose="02010609060101010101" pitchFamily="49" charset="-122"/>
              </a:rPr>
              <a:t>	else</a:t>
            </a:r>
            <a:endParaRPr lang="en-US" altLang="zh-CN" sz="2000">
              <a:ea typeface="黑体" panose="02010609060101010101" pitchFamily="49" charset="-122"/>
            </a:endParaRPr>
          </a:p>
          <a:p>
            <a:pPr lvl="2">
              <a:lnSpc>
                <a:spcPct val="130000"/>
              </a:lnSpc>
              <a:spcBef>
                <a:spcPct val="0"/>
              </a:spcBef>
            </a:pPr>
            <a:r>
              <a:rPr lang="en-US" altLang="zh-CN" sz="2000">
                <a:ea typeface="黑体" panose="02010609060101010101" pitchFamily="49" charset="-122"/>
              </a:rPr>
              <a:t>PC </a:t>
            </a:r>
            <a:r>
              <a:rPr lang="en-US" altLang="zh-CN" sz="2000">
                <a:solidFill>
                  <a:srgbClr val="CC0000"/>
                </a:solidFill>
                <a:ea typeface="黑体" panose="02010609060101010101" pitchFamily="49" charset="-122"/>
                <a:sym typeface="Wingdings" panose="05000000000000000000" pitchFamily="2" charset="2"/>
              </a:rPr>
              <a:t>←</a:t>
            </a:r>
            <a:r>
              <a:rPr lang="en-US" altLang="zh-CN" sz="2000">
                <a:ea typeface="黑体" panose="02010609060101010101" pitchFamily="49" charset="-122"/>
              </a:rPr>
              <a:t> PC + 4</a:t>
            </a:r>
            <a:endParaRPr lang="zh-CN" altLang="en-US" sz="2000" dirty="0">
              <a:ea typeface="黑体" panose="02010609060101010101" pitchFamily="49" charset="-122"/>
            </a:endParaRPr>
          </a:p>
        </p:txBody>
      </p:sp>
      <p:sp>
        <p:nvSpPr>
          <p:cNvPr id="221210" name="文本框 221209"/>
          <p:cNvSpPr txBox="1"/>
          <p:nvPr/>
        </p:nvSpPr>
        <p:spPr>
          <a:xfrm>
            <a:off x="612775" y="5510213"/>
            <a:ext cx="8318500" cy="930275"/>
          </a:xfrm>
          <a:prstGeom prst="rect">
            <a:avLst/>
          </a:prstGeom>
          <a:noFill/>
          <a:ln w="25400">
            <a:noFill/>
          </a:ln>
        </p:spPr>
        <p:txBody>
          <a:bodyPr anchor="t" anchorCtr="0">
            <a:spAutoFit/>
          </a:bodyPr>
          <a:p>
            <a:pPr>
              <a:spcBef>
                <a:spcPct val="50000"/>
              </a:spcBef>
            </a:pPr>
            <a:r>
              <a:rPr lang="zh-CN" altLang="en-US" sz="2200" dirty="0">
                <a:solidFill>
                  <a:srgbClr val="A50021"/>
                </a:solidFill>
                <a:latin typeface="Arial" panose="020B0604020202020204" pitchFamily="34" charset="0"/>
                <a:ea typeface="黑体" panose="02010609060101010101" pitchFamily="49" charset="-122"/>
              </a:rPr>
              <a:t>思考：立即数的含义是什么？是相对指令数还是相对单元数？</a:t>
            </a:r>
            <a:endParaRPr lang="zh-CN" altLang="en-US" sz="2200" dirty="0">
              <a:solidFill>
                <a:srgbClr val="A50021"/>
              </a:solidFill>
              <a:latin typeface="Arial" panose="020B0604020202020204" pitchFamily="34" charset="0"/>
              <a:ea typeface="黑体" panose="02010609060101010101" pitchFamily="49" charset="-122"/>
            </a:endParaRPr>
          </a:p>
          <a:p>
            <a:pPr>
              <a:spcBef>
                <a:spcPct val="50000"/>
              </a:spcBef>
            </a:pPr>
            <a:r>
              <a:rPr lang="zh-CN" altLang="en-US" sz="2200" dirty="0">
                <a:solidFill>
                  <a:srgbClr val="A50021"/>
                </a:solidFill>
                <a:latin typeface="Arial" panose="020B0604020202020204" pitchFamily="34" charset="0"/>
                <a:ea typeface="黑体" panose="02010609060101010101" pitchFamily="49" charset="-122"/>
              </a:rPr>
              <a:t> 应在原数据通路上加哪些元件和连线？用什么控制信号来控制？</a:t>
            </a:r>
            <a:endParaRPr lang="zh-CN" altLang="en-US" sz="2200" dirty="0">
              <a:solidFill>
                <a:srgbClr val="A50021"/>
              </a:solidFill>
              <a:latin typeface="Arial" panose="020B0604020202020204" pitchFamily="34" charset="0"/>
              <a:ea typeface="黑体" panose="02010609060101010101" pitchFamily="49" charset="-122"/>
            </a:endParaRPr>
          </a:p>
        </p:txBody>
      </p:sp>
      <p:sp>
        <p:nvSpPr>
          <p:cNvPr id="78852" name="文本框 221210"/>
          <p:cNvSpPr txBox="1"/>
          <p:nvPr/>
        </p:nvSpPr>
        <p:spPr>
          <a:xfrm>
            <a:off x="4916488" y="708025"/>
            <a:ext cx="2447925" cy="427038"/>
          </a:xfrm>
          <a:prstGeom prst="rect">
            <a:avLst/>
          </a:prstGeom>
          <a:noFill/>
          <a:ln w="25400">
            <a:noFill/>
          </a:ln>
        </p:spPr>
        <p:txBody>
          <a:bodyPr anchor="t" anchorCtr="0">
            <a:spAutoFit/>
          </a:bodyPr>
          <a:p>
            <a:pPr algn="ctr">
              <a:spcBef>
                <a:spcPct val="50000"/>
              </a:spcBef>
            </a:pPr>
            <a:r>
              <a:rPr lang="zh-CN" altLang="en-US" sz="2200" dirty="0">
                <a:solidFill>
                  <a:srgbClr val="0000FF"/>
                </a:solidFill>
                <a:latin typeface="Times New Roman" panose="02020603050405020304" pitchFamily="18" charset="0"/>
                <a:ea typeface="黑体" panose="02010609060101010101" pitchFamily="49" charset="-122"/>
              </a:rPr>
              <a:t>立即数用补码表示</a:t>
            </a:r>
            <a:endParaRPr lang="zh-CN" altLang="en-US" sz="2200" dirty="0">
              <a:solidFill>
                <a:srgbClr val="0000FF"/>
              </a:solidFill>
              <a:latin typeface="Times New Roman" panose="02020603050405020304" pitchFamily="18" charset="0"/>
              <a:ea typeface="黑体" panose="02010609060101010101" pitchFamily="49" charset="-122"/>
            </a:endParaRPr>
          </a:p>
        </p:txBody>
      </p:sp>
      <p:grpSp>
        <p:nvGrpSpPr>
          <p:cNvPr id="78853" name="组合 221212"/>
          <p:cNvGrpSpPr/>
          <p:nvPr/>
        </p:nvGrpSpPr>
        <p:grpSpPr>
          <a:xfrm>
            <a:off x="2090738" y="1047750"/>
            <a:ext cx="5999162" cy="989013"/>
            <a:chOff x="1918" y="1392"/>
            <a:chExt cx="3763" cy="607"/>
          </a:xfrm>
        </p:grpSpPr>
        <p:sp>
          <p:nvSpPr>
            <p:cNvPr id="78854" name="矩形 221213"/>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78855" name="组合 221214"/>
            <p:cNvGrpSpPr/>
            <p:nvPr/>
          </p:nvGrpSpPr>
          <p:grpSpPr>
            <a:xfrm>
              <a:off x="1979" y="1584"/>
              <a:ext cx="624" cy="223"/>
              <a:chOff x="1979" y="1584"/>
              <a:chExt cx="624" cy="223"/>
            </a:xfrm>
          </p:grpSpPr>
          <p:sp>
            <p:nvSpPr>
              <p:cNvPr id="78856" name="矩形 221215"/>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8857" name="矩形 221216"/>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78858" name="组合 221217"/>
            <p:cNvGrpSpPr/>
            <p:nvPr/>
          </p:nvGrpSpPr>
          <p:grpSpPr>
            <a:xfrm>
              <a:off x="2611" y="1584"/>
              <a:ext cx="580" cy="223"/>
              <a:chOff x="2611" y="1584"/>
              <a:chExt cx="580" cy="223"/>
            </a:xfrm>
          </p:grpSpPr>
          <p:sp>
            <p:nvSpPr>
              <p:cNvPr id="78859" name="矩形 221218"/>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8860" name="矩形 221219"/>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78861" name="组合 221220"/>
            <p:cNvGrpSpPr/>
            <p:nvPr/>
          </p:nvGrpSpPr>
          <p:grpSpPr>
            <a:xfrm>
              <a:off x="3199" y="1584"/>
              <a:ext cx="579" cy="223"/>
              <a:chOff x="3199" y="1584"/>
              <a:chExt cx="579" cy="223"/>
            </a:xfrm>
          </p:grpSpPr>
          <p:sp>
            <p:nvSpPr>
              <p:cNvPr id="78862" name="矩形 221221"/>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8863" name="矩形 221222"/>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78864" name="矩形 221223"/>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78865" name="矩形 221224"/>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78866" name="矩形 221225"/>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78867" name="矩形 221226"/>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78868" name="矩形 221227"/>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78869" name="矩形 221228"/>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78870" name="矩形 221229"/>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78871" name="矩形 221230"/>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8872" name="矩形 221231"/>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8873" name="矩形 221232"/>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78874" name="矩形 221233"/>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1187">
                                            <p:txEl>
                                              <p:charRg st="19" end="44"/>
                                            </p:txEl>
                                          </p:spTgt>
                                        </p:tgtEl>
                                        <p:attrNameLst>
                                          <p:attrName>style.visibility</p:attrName>
                                        </p:attrNameLst>
                                      </p:cBhvr>
                                      <p:to>
                                        <p:strVal val="visible"/>
                                      </p:to>
                                    </p:set>
                                    <p:animEffect transition="in" filter="blinds(horizontal)">
                                      <p:cBhvr>
                                        <p:cTn id="7" dur="500"/>
                                        <p:tgtEl>
                                          <p:spTgt spid="221187">
                                            <p:txEl>
                                              <p:charRg st="19" end="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1187">
                                            <p:txEl>
                                              <p:charRg st="44" end="80"/>
                                            </p:txEl>
                                          </p:spTgt>
                                        </p:tgtEl>
                                        <p:attrNameLst>
                                          <p:attrName>style.visibility</p:attrName>
                                        </p:attrNameLst>
                                      </p:cBhvr>
                                      <p:to>
                                        <p:strVal val="visible"/>
                                      </p:to>
                                    </p:set>
                                    <p:animEffect transition="in" filter="blinds(horizontal)">
                                      <p:cBhvr>
                                        <p:cTn id="12" dur="500"/>
                                        <p:tgtEl>
                                          <p:spTgt spid="221187">
                                            <p:txEl>
                                              <p:charRg st="44" end="8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1187">
                                            <p:txEl>
                                              <p:charRg st="80" end="115"/>
                                            </p:txEl>
                                          </p:spTgt>
                                        </p:tgtEl>
                                        <p:attrNameLst>
                                          <p:attrName>style.visibility</p:attrName>
                                        </p:attrNameLst>
                                      </p:cBhvr>
                                      <p:to>
                                        <p:strVal val="visible"/>
                                      </p:to>
                                    </p:set>
                                    <p:animEffect transition="in" filter="blinds(horizontal)">
                                      <p:cBhvr>
                                        <p:cTn id="17" dur="500"/>
                                        <p:tgtEl>
                                          <p:spTgt spid="221187">
                                            <p:txEl>
                                              <p:charRg st="80" end="115"/>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21187">
                                            <p:txEl>
                                              <p:charRg st="115" end="153"/>
                                            </p:txEl>
                                          </p:spTgt>
                                        </p:tgtEl>
                                        <p:attrNameLst>
                                          <p:attrName>style.visibility</p:attrName>
                                        </p:attrNameLst>
                                      </p:cBhvr>
                                      <p:to>
                                        <p:strVal val="visible"/>
                                      </p:to>
                                    </p:set>
                                    <p:animEffect transition="in" filter="blinds(horizontal)">
                                      <p:cBhvr>
                                        <p:cTn id="20" dur="500"/>
                                        <p:tgtEl>
                                          <p:spTgt spid="221187">
                                            <p:txEl>
                                              <p:charRg st="115" end="15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21187">
                                            <p:txEl>
                                              <p:charRg st="153" end="159"/>
                                            </p:txEl>
                                          </p:spTgt>
                                        </p:tgtEl>
                                        <p:attrNameLst>
                                          <p:attrName>style.visibility</p:attrName>
                                        </p:attrNameLst>
                                      </p:cBhvr>
                                      <p:to>
                                        <p:strVal val="visible"/>
                                      </p:to>
                                    </p:set>
                                    <p:animEffect transition="in" filter="blinds(horizontal)">
                                      <p:cBhvr>
                                        <p:cTn id="25" dur="500"/>
                                        <p:tgtEl>
                                          <p:spTgt spid="221187">
                                            <p:txEl>
                                              <p:charRg st="153" end="159"/>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21187">
                                            <p:txEl>
                                              <p:charRg st="159" end="171"/>
                                            </p:txEl>
                                          </p:spTgt>
                                        </p:tgtEl>
                                        <p:attrNameLst>
                                          <p:attrName>style.visibility</p:attrName>
                                        </p:attrNameLst>
                                      </p:cBhvr>
                                      <p:to>
                                        <p:strVal val="visible"/>
                                      </p:to>
                                    </p:set>
                                    <p:animEffect transition="in" filter="blinds(horizontal)">
                                      <p:cBhvr>
                                        <p:cTn id="28" dur="500"/>
                                        <p:tgtEl>
                                          <p:spTgt spid="221187">
                                            <p:txEl>
                                              <p:charRg st="159" end="17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221210"/>
                                        </p:tgtEl>
                                        <p:attrNameLst>
                                          <p:attrName>style.visibility</p:attrName>
                                        </p:attrNameLst>
                                      </p:cBhvr>
                                      <p:to>
                                        <p:strVal val="visible"/>
                                      </p:to>
                                    </p:set>
                                    <p:animEffect transition="in" filter="checkerboard(across)">
                                      <p:cBhvr>
                                        <p:cTn id="33" dur="500"/>
                                        <p:tgtEl>
                                          <p:spTgt spid="221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2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223233"/>
          <p:cNvSpPr>
            <a:spLocks noGrp="1"/>
          </p:cNvSpPr>
          <p:nvPr>
            <p:ph type="title"/>
          </p:nvPr>
        </p:nvSpPr>
        <p:spPr>
          <a:xfrm>
            <a:off x="444500" y="203200"/>
            <a:ext cx="6305550" cy="422275"/>
          </a:xfrm>
          <a:ln/>
        </p:spPr>
        <p:txBody>
          <a:bodyPr vert="horz" wrap="square" lIns="63500" tIns="25400" rIns="63500" bIns="25400" anchor="t" anchorCtr="0">
            <a:spAutoFit/>
          </a:bodyPr>
          <a:p>
            <a:r>
              <a:rPr lang="zh-CN" altLang="en-US" dirty="0">
                <a:ea typeface="宋体" panose="02010600030101010101" pitchFamily="2" charset="-122"/>
              </a:rPr>
              <a:t>条件转移指令的数据通路</a:t>
            </a:r>
            <a:endParaRPr lang="zh-CN" altLang="en-US" dirty="0">
              <a:ea typeface="宋体" panose="02010600030101010101" pitchFamily="2" charset="-122"/>
            </a:endParaRPr>
          </a:p>
        </p:txBody>
      </p:sp>
      <p:sp>
        <p:nvSpPr>
          <p:cNvPr id="80898" name="文本占位符 223234"/>
          <p:cNvSpPr>
            <a:spLocks noGrp="1"/>
          </p:cNvSpPr>
          <p:nvPr>
            <p:ph idx="1"/>
          </p:nvPr>
        </p:nvSpPr>
        <p:spPr>
          <a:xfrm>
            <a:off x="433388" y="677863"/>
            <a:ext cx="8191500" cy="325437"/>
          </a:xfrm>
          <a:ln/>
        </p:spPr>
        <p:txBody>
          <a:bodyPr vert="horz" wrap="square" lIns="63500" tIns="25400" rIns="63500" bIns="25400" anchor="t" anchorCtr="0">
            <a:spAutoFit/>
          </a:bodyPr>
          <a:p>
            <a:r>
              <a:rPr lang="en-US" altLang="zh-CN" dirty="0" err="1">
                <a:ea typeface="宋体" panose="02010600030101010101" pitchFamily="2" charset="-122"/>
              </a:rPr>
              <a:t>beq</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imm16		We need to compare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t>
            </a:r>
            <a:endParaRPr lang="en-US" altLang="zh-CN">
              <a:ea typeface="宋体" panose="02010600030101010101" pitchFamily="2" charset="-122"/>
            </a:endParaRPr>
          </a:p>
        </p:txBody>
      </p:sp>
      <p:sp>
        <p:nvSpPr>
          <p:cNvPr id="80899" name="直接连接符 223257"/>
          <p:cNvSpPr/>
          <p:nvPr/>
        </p:nvSpPr>
        <p:spPr>
          <a:xfrm>
            <a:off x="4972050" y="3268663"/>
            <a:ext cx="0" cy="292100"/>
          </a:xfrm>
          <a:prstGeom prst="line">
            <a:avLst/>
          </a:prstGeom>
          <a:ln w="25400" cap="flat" cmpd="sng">
            <a:solidFill>
              <a:schemeClr val="tx1"/>
            </a:solidFill>
            <a:prstDash val="solid"/>
            <a:round/>
            <a:headEnd type="none" w="med" len="med"/>
            <a:tailEnd type="none" w="med" len="med"/>
          </a:ln>
        </p:spPr>
      </p:sp>
      <p:sp>
        <p:nvSpPr>
          <p:cNvPr id="80900" name="直接连接符 223258"/>
          <p:cNvSpPr/>
          <p:nvPr/>
        </p:nvSpPr>
        <p:spPr>
          <a:xfrm>
            <a:off x="4984750" y="3268663"/>
            <a:ext cx="446088" cy="293687"/>
          </a:xfrm>
          <a:prstGeom prst="line">
            <a:avLst/>
          </a:prstGeom>
          <a:ln w="25400" cap="flat" cmpd="sng">
            <a:solidFill>
              <a:schemeClr val="tx1"/>
            </a:solidFill>
            <a:prstDash val="solid"/>
            <a:round/>
            <a:headEnd type="none" w="med" len="med"/>
            <a:tailEnd type="none" w="med" len="med"/>
          </a:ln>
        </p:spPr>
      </p:sp>
      <p:sp>
        <p:nvSpPr>
          <p:cNvPr id="80901" name="直接连接符 223259"/>
          <p:cNvSpPr/>
          <p:nvPr/>
        </p:nvSpPr>
        <p:spPr>
          <a:xfrm>
            <a:off x="4984750" y="3557588"/>
            <a:ext cx="203200" cy="120650"/>
          </a:xfrm>
          <a:prstGeom prst="line">
            <a:avLst/>
          </a:prstGeom>
          <a:ln w="25400" cap="flat" cmpd="sng">
            <a:solidFill>
              <a:schemeClr val="tx1"/>
            </a:solidFill>
            <a:prstDash val="solid"/>
            <a:round/>
            <a:headEnd type="none" w="med" len="med"/>
            <a:tailEnd type="none" w="med" len="med"/>
          </a:ln>
        </p:spPr>
      </p:sp>
      <p:sp>
        <p:nvSpPr>
          <p:cNvPr id="80902" name="直接连接符 223260"/>
          <p:cNvSpPr/>
          <p:nvPr/>
        </p:nvSpPr>
        <p:spPr>
          <a:xfrm>
            <a:off x="5200650" y="3703638"/>
            <a:ext cx="0" cy="263525"/>
          </a:xfrm>
          <a:prstGeom prst="line">
            <a:avLst/>
          </a:prstGeom>
          <a:ln w="25400" cap="flat" cmpd="sng">
            <a:solidFill>
              <a:schemeClr val="tx1"/>
            </a:solidFill>
            <a:prstDash val="solid"/>
            <a:round/>
            <a:headEnd type="none" w="med" len="med"/>
            <a:tailEnd type="none" w="med" len="med"/>
          </a:ln>
        </p:spPr>
      </p:sp>
      <p:sp>
        <p:nvSpPr>
          <p:cNvPr id="80903" name="直接连接符 223261"/>
          <p:cNvSpPr/>
          <p:nvPr/>
        </p:nvSpPr>
        <p:spPr>
          <a:xfrm>
            <a:off x="5429250" y="3557588"/>
            <a:ext cx="0" cy="554037"/>
          </a:xfrm>
          <a:prstGeom prst="line">
            <a:avLst/>
          </a:prstGeom>
          <a:ln w="25400" cap="flat" cmpd="sng">
            <a:solidFill>
              <a:schemeClr val="tx1"/>
            </a:solidFill>
            <a:prstDash val="solid"/>
            <a:round/>
            <a:headEnd type="none" w="med" len="med"/>
            <a:tailEnd type="none" w="med" len="med"/>
          </a:ln>
        </p:spPr>
      </p:sp>
      <p:sp>
        <p:nvSpPr>
          <p:cNvPr id="80904" name="直接连接符 223262"/>
          <p:cNvSpPr/>
          <p:nvPr/>
        </p:nvSpPr>
        <p:spPr>
          <a:xfrm flipV="1">
            <a:off x="4984750" y="3967163"/>
            <a:ext cx="203200" cy="169862"/>
          </a:xfrm>
          <a:prstGeom prst="line">
            <a:avLst/>
          </a:prstGeom>
          <a:ln w="25400" cap="flat" cmpd="sng">
            <a:solidFill>
              <a:schemeClr val="tx1"/>
            </a:solidFill>
            <a:prstDash val="solid"/>
            <a:round/>
            <a:headEnd type="none" w="med" len="med"/>
            <a:tailEnd type="none" w="med" len="med"/>
          </a:ln>
        </p:spPr>
      </p:sp>
      <p:sp>
        <p:nvSpPr>
          <p:cNvPr id="80905" name="直接连接符 223263"/>
          <p:cNvSpPr/>
          <p:nvPr/>
        </p:nvSpPr>
        <p:spPr>
          <a:xfrm>
            <a:off x="4972050" y="4137025"/>
            <a:ext cx="0" cy="263525"/>
          </a:xfrm>
          <a:prstGeom prst="line">
            <a:avLst/>
          </a:prstGeom>
          <a:ln w="25400" cap="flat" cmpd="sng">
            <a:solidFill>
              <a:schemeClr val="tx1"/>
            </a:solidFill>
            <a:prstDash val="solid"/>
            <a:round/>
            <a:headEnd type="none" w="med" len="med"/>
            <a:tailEnd type="none" w="med" len="med"/>
          </a:ln>
        </p:spPr>
      </p:sp>
      <p:sp>
        <p:nvSpPr>
          <p:cNvPr id="80906" name="直接连接符 223264"/>
          <p:cNvSpPr/>
          <p:nvPr/>
        </p:nvSpPr>
        <p:spPr>
          <a:xfrm flipV="1">
            <a:off x="4984750" y="4111625"/>
            <a:ext cx="446088" cy="314325"/>
          </a:xfrm>
          <a:prstGeom prst="line">
            <a:avLst/>
          </a:prstGeom>
          <a:ln w="25400" cap="flat" cmpd="sng">
            <a:solidFill>
              <a:schemeClr val="tx1"/>
            </a:solidFill>
            <a:prstDash val="solid"/>
            <a:round/>
            <a:headEnd type="none" w="med" len="med"/>
            <a:tailEnd type="none" w="med" len="med"/>
          </a:ln>
        </p:spPr>
      </p:sp>
      <p:sp>
        <p:nvSpPr>
          <p:cNvPr id="80907" name="直接连接符 223265"/>
          <p:cNvSpPr/>
          <p:nvPr/>
        </p:nvSpPr>
        <p:spPr>
          <a:xfrm>
            <a:off x="5200650" y="2979738"/>
            <a:ext cx="0" cy="407987"/>
          </a:xfrm>
          <a:prstGeom prst="line">
            <a:avLst/>
          </a:prstGeom>
          <a:ln w="25400" cap="flat" cmpd="sng">
            <a:solidFill>
              <a:schemeClr val="tx1"/>
            </a:solidFill>
            <a:prstDash val="solid"/>
            <a:round/>
            <a:headEnd type="none" w="med" len="med"/>
            <a:tailEnd type="triangle" w="med" len="med"/>
          </a:ln>
        </p:spPr>
      </p:sp>
      <p:sp>
        <p:nvSpPr>
          <p:cNvPr id="80908" name="矩形 223266"/>
          <p:cNvSpPr/>
          <p:nvPr/>
        </p:nvSpPr>
        <p:spPr>
          <a:xfrm>
            <a:off x="4364038" y="2674938"/>
            <a:ext cx="1058862" cy="363537"/>
          </a:xfrm>
          <a:prstGeom prst="rect">
            <a:avLst/>
          </a:prstGeom>
          <a:noFill/>
          <a:ln w="12700">
            <a:noFill/>
          </a:ln>
        </p:spPr>
        <p:txBody>
          <a:bodyPr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09" name="矩形 223267"/>
          <p:cNvSpPr/>
          <p:nvPr/>
        </p:nvSpPr>
        <p:spPr>
          <a:xfrm>
            <a:off x="522288" y="3986213"/>
            <a:ext cx="5365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80910" name="矩形 223268"/>
          <p:cNvSpPr/>
          <p:nvPr/>
        </p:nvSpPr>
        <p:spPr>
          <a:xfrm>
            <a:off x="614363" y="3398838"/>
            <a:ext cx="803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80911" name="矩形 223269"/>
          <p:cNvSpPr/>
          <p:nvPr/>
        </p:nvSpPr>
        <p:spPr>
          <a:xfrm>
            <a:off x="1698625" y="3268663"/>
            <a:ext cx="1431925" cy="1150937"/>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0912" name="直接连接符 223270"/>
          <p:cNvSpPr/>
          <p:nvPr/>
        </p:nvSpPr>
        <p:spPr>
          <a:xfrm>
            <a:off x="1677988" y="4191000"/>
            <a:ext cx="309562" cy="65088"/>
          </a:xfrm>
          <a:prstGeom prst="line">
            <a:avLst/>
          </a:prstGeom>
          <a:ln w="25400" cap="flat" cmpd="sng">
            <a:solidFill>
              <a:schemeClr val="tx1"/>
            </a:solidFill>
            <a:prstDash val="solid"/>
            <a:round/>
            <a:headEnd type="none" w="med" len="med"/>
            <a:tailEnd type="none" w="med" len="med"/>
          </a:ln>
        </p:spPr>
      </p:sp>
      <p:sp>
        <p:nvSpPr>
          <p:cNvPr id="80913" name="直接连接符 223271"/>
          <p:cNvSpPr/>
          <p:nvPr/>
        </p:nvSpPr>
        <p:spPr>
          <a:xfrm flipH="1">
            <a:off x="1697038" y="4267200"/>
            <a:ext cx="301625" cy="101600"/>
          </a:xfrm>
          <a:prstGeom prst="line">
            <a:avLst/>
          </a:prstGeom>
          <a:ln w="25400" cap="flat" cmpd="sng">
            <a:solidFill>
              <a:schemeClr val="tx1"/>
            </a:solidFill>
            <a:prstDash val="solid"/>
            <a:round/>
            <a:headEnd type="none" w="med" len="med"/>
            <a:tailEnd type="none" w="med" len="med"/>
          </a:ln>
        </p:spPr>
      </p:sp>
      <p:sp>
        <p:nvSpPr>
          <p:cNvPr id="80914" name="椭圆 223272"/>
          <p:cNvSpPr/>
          <p:nvPr/>
        </p:nvSpPr>
        <p:spPr>
          <a:xfrm>
            <a:off x="1546225" y="4227513"/>
            <a:ext cx="127000" cy="119062"/>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80915" name="矩形 223273"/>
          <p:cNvSpPr/>
          <p:nvPr/>
        </p:nvSpPr>
        <p:spPr>
          <a:xfrm>
            <a:off x="1146175" y="2746375"/>
            <a:ext cx="9175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16" name="直接连接符 223274"/>
          <p:cNvSpPr/>
          <p:nvPr/>
        </p:nvSpPr>
        <p:spPr>
          <a:xfrm flipH="1">
            <a:off x="692150" y="3762375"/>
            <a:ext cx="1016000" cy="0"/>
          </a:xfrm>
          <a:prstGeom prst="line">
            <a:avLst/>
          </a:prstGeom>
          <a:ln w="25400" cap="flat" cmpd="sng">
            <a:solidFill>
              <a:schemeClr val="tx1"/>
            </a:solidFill>
            <a:prstDash val="solid"/>
            <a:round/>
            <a:headEnd type="triangle" w="med" len="med"/>
            <a:tailEnd type="none" w="med" len="med"/>
          </a:ln>
        </p:spPr>
      </p:sp>
      <p:sp>
        <p:nvSpPr>
          <p:cNvPr id="80917" name="直接连接符 223275"/>
          <p:cNvSpPr/>
          <p:nvPr/>
        </p:nvSpPr>
        <p:spPr>
          <a:xfrm flipH="1">
            <a:off x="1231900" y="3697288"/>
            <a:ext cx="88900" cy="131762"/>
          </a:xfrm>
          <a:prstGeom prst="line">
            <a:avLst/>
          </a:prstGeom>
          <a:ln w="12700" cap="flat" cmpd="sng">
            <a:solidFill>
              <a:schemeClr val="tx1"/>
            </a:solidFill>
            <a:prstDash val="solid"/>
            <a:round/>
            <a:headEnd type="none" w="med" len="med"/>
            <a:tailEnd type="none" w="med" len="med"/>
          </a:ln>
        </p:spPr>
      </p:sp>
      <p:sp>
        <p:nvSpPr>
          <p:cNvPr id="80918" name="矩形 223276"/>
          <p:cNvSpPr/>
          <p:nvPr/>
        </p:nvSpPr>
        <p:spPr>
          <a:xfrm>
            <a:off x="995363" y="3786188"/>
            <a:ext cx="498475" cy="363537"/>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0919" name="直接连接符 223277"/>
          <p:cNvSpPr/>
          <p:nvPr/>
        </p:nvSpPr>
        <p:spPr>
          <a:xfrm>
            <a:off x="3155950" y="3400425"/>
            <a:ext cx="1803400" cy="0"/>
          </a:xfrm>
          <a:prstGeom prst="line">
            <a:avLst/>
          </a:prstGeom>
          <a:ln w="25400" cap="flat" cmpd="sng">
            <a:solidFill>
              <a:schemeClr val="tx1"/>
            </a:solidFill>
            <a:prstDash val="solid"/>
            <a:round/>
            <a:headEnd type="none" w="med" len="med"/>
            <a:tailEnd type="triangle" w="med" len="med"/>
          </a:ln>
        </p:spPr>
      </p:sp>
      <p:sp>
        <p:nvSpPr>
          <p:cNvPr id="80920" name="直接连接符 223278"/>
          <p:cNvSpPr/>
          <p:nvPr/>
        </p:nvSpPr>
        <p:spPr>
          <a:xfrm flipH="1">
            <a:off x="4127500" y="3335338"/>
            <a:ext cx="88900" cy="131762"/>
          </a:xfrm>
          <a:prstGeom prst="line">
            <a:avLst/>
          </a:prstGeom>
          <a:ln w="12700" cap="flat" cmpd="sng">
            <a:solidFill>
              <a:schemeClr val="tx1"/>
            </a:solidFill>
            <a:prstDash val="solid"/>
            <a:round/>
            <a:headEnd type="none" w="med" len="med"/>
            <a:tailEnd type="none" w="med" len="med"/>
          </a:ln>
        </p:spPr>
      </p:sp>
      <p:sp>
        <p:nvSpPr>
          <p:cNvPr id="80921" name="矩形 223279"/>
          <p:cNvSpPr/>
          <p:nvPr/>
        </p:nvSpPr>
        <p:spPr>
          <a:xfrm>
            <a:off x="3814763" y="34702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0922" name="矩形 223280"/>
          <p:cNvSpPr/>
          <p:nvPr/>
        </p:nvSpPr>
        <p:spPr>
          <a:xfrm>
            <a:off x="3509963" y="3109913"/>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80923" name="直接连接符 223281"/>
          <p:cNvSpPr/>
          <p:nvPr/>
        </p:nvSpPr>
        <p:spPr>
          <a:xfrm flipV="1">
            <a:off x="1847850" y="3025775"/>
            <a:ext cx="0" cy="242888"/>
          </a:xfrm>
          <a:prstGeom prst="line">
            <a:avLst/>
          </a:prstGeom>
          <a:ln w="25400" cap="flat" cmpd="sng">
            <a:solidFill>
              <a:schemeClr val="tx1"/>
            </a:solidFill>
            <a:prstDash val="solid"/>
            <a:round/>
            <a:headEnd type="none" w="med" len="med"/>
            <a:tailEnd type="none" w="med" len="med"/>
          </a:ln>
        </p:spPr>
      </p:sp>
      <p:sp>
        <p:nvSpPr>
          <p:cNvPr id="80924" name="直接连接符 223282"/>
          <p:cNvSpPr/>
          <p:nvPr/>
        </p:nvSpPr>
        <p:spPr>
          <a:xfrm>
            <a:off x="3155950" y="4268788"/>
            <a:ext cx="965200" cy="0"/>
          </a:xfrm>
          <a:prstGeom prst="line">
            <a:avLst/>
          </a:prstGeom>
          <a:ln w="25400" cap="flat" cmpd="sng">
            <a:solidFill>
              <a:schemeClr val="tx1"/>
            </a:solidFill>
            <a:prstDash val="solid"/>
            <a:round/>
            <a:headEnd type="none" w="med" len="med"/>
            <a:tailEnd type="triangle" w="med" len="med"/>
          </a:ln>
        </p:spPr>
      </p:sp>
      <p:sp>
        <p:nvSpPr>
          <p:cNvPr id="80925" name="直接连接符 223283"/>
          <p:cNvSpPr/>
          <p:nvPr/>
        </p:nvSpPr>
        <p:spPr>
          <a:xfrm flipH="1">
            <a:off x="3670300" y="4203700"/>
            <a:ext cx="88900" cy="131763"/>
          </a:xfrm>
          <a:prstGeom prst="line">
            <a:avLst/>
          </a:prstGeom>
          <a:ln w="12700" cap="flat" cmpd="sng">
            <a:solidFill>
              <a:schemeClr val="tx1"/>
            </a:solidFill>
            <a:prstDash val="solid"/>
            <a:round/>
            <a:headEnd type="none" w="med" len="med"/>
            <a:tailEnd type="none" w="med" len="med"/>
          </a:ln>
        </p:spPr>
      </p:sp>
      <p:sp>
        <p:nvSpPr>
          <p:cNvPr id="80926" name="矩形 223284"/>
          <p:cNvSpPr/>
          <p:nvPr/>
        </p:nvSpPr>
        <p:spPr>
          <a:xfrm>
            <a:off x="3357563" y="426720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0927" name="矩形 223285"/>
          <p:cNvSpPr/>
          <p:nvPr/>
        </p:nvSpPr>
        <p:spPr>
          <a:xfrm>
            <a:off x="3128963" y="3976688"/>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80928" name="直接连接符 223286"/>
          <p:cNvSpPr/>
          <p:nvPr/>
        </p:nvSpPr>
        <p:spPr>
          <a:xfrm flipH="1">
            <a:off x="1060450" y="4268788"/>
            <a:ext cx="482600" cy="0"/>
          </a:xfrm>
          <a:prstGeom prst="line">
            <a:avLst/>
          </a:prstGeom>
          <a:ln w="25400" cap="flat" cmpd="sng">
            <a:solidFill>
              <a:schemeClr val="tx1"/>
            </a:solidFill>
            <a:prstDash val="solid"/>
            <a:round/>
            <a:headEnd type="none" w="med" len="med"/>
            <a:tailEnd type="none" w="med" len="med"/>
          </a:ln>
        </p:spPr>
      </p:sp>
      <p:sp>
        <p:nvSpPr>
          <p:cNvPr id="80929" name="直接连接符 223287"/>
          <p:cNvSpPr/>
          <p:nvPr/>
        </p:nvSpPr>
        <p:spPr>
          <a:xfrm>
            <a:off x="2152650" y="2617788"/>
            <a:ext cx="0" cy="625475"/>
          </a:xfrm>
          <a:prstGeom prst="line">
            <a:avLst/>
          </a:prstGeom>
          <a:ln w="25400" cap="flat" cmpd="sng">
            <a:solidFill>
              <a:schemeClr val="tx1"/>
            </a:solidFill>
            <a:prstDash val="solid"/>
            <a:round/>
            <a:headEnd type="none" w="med" len="med"/>
            <a:tailEnd type="none" w="med" len="med"/>
          </a:ln>
        </p:spPr>
      </p:sp>
      <p:sp>
        <p:nvSpPr>
          <p:cNvPr id="80930" name="直接连接符 223288"/>
          <p:cNvSpPr/>
          <p:nvPr/>
        </p:nvSpPr>
        <p:spPr>
          <a:xfrm flipV="1">
            <a:off x="2082800" y="2960688"/>
            <a:ext cx="139700" cy="157162"/>
          </a:xfrm>
          <a:prstGeom prst="line">
            <a:avLst/>
          </a:prstGeom>
          <a:ln w="12700" cap="flat" cmpd="sng">
            <a:solidFill>
              <a:schemeClr val="tx1"/>
            </a:solidFill>
            <a:prstDash val="solid"/>
            <a:round/>
            <a:headEnd type="none" w="med" len="med"/>
            <a:tailEnd type="none" w="med" len="med"/>
          </a:ln>
        </p:spPr>
      </p:sp>
      <p:sp>
        <p:nvSpPr>
          <p:cNvPr id="80931" name="矩形 223289"/>
          <p:cNvSpPr/>
          <p:nvPr/>
        </p:nvSpPr>
        <p:spPr>
          <a:xfrm>
            <a:off x="1909763" y="281940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80932" name="直接连接符 223290"/>
          <p:cNvSpPr/>
          <p:nvPr/>
        </p:nvSpPr>
        <p:spPr>
          <a:xfrm>
            <a:off x="2533650" y="2835275"/>
            <a:ext cx="0" cy="407988"/>
          </a:xfrm>
          <a:prstGeom prst="line">
            <a:avLst/>
          </a:prstGeom>
          <a:ln w="25400" cap="flat" cmpd="sng">
            <a:solidFill>
              <a:schemeClr val="tx1"/>
            </a:solidFill>
            <a:prstDash val="solid"/>
            <a:round/>
            <a:headEnd type="none" w="med" len="med"/>
            <a:tailEnd type="none" w="med" len="med"/>
          </a:ln>
        </p:spPr>
      </p:sp>
      <p:sp>
        <p:nvSpPr>
          <p:cNvPr id="80933" name="直接连接符 223291"/>
          <p:cNvSpPr/>
          <p:nvPr/>
        </p:nvSpPr>
        <p:spPr>
          <a:xfrm flipV="1">
            <a:off x="2463800" y="2960688"/>
            <a:ext cx="139700" cy="157162"/>
          </a:xfrm>
          <a:prstGeom prst="line">
            <a:avLst/>
          </a:prstGeom>
          <a:ln w="12700" cap="flat" cmpd="sng">
            <a:solidFill>
              <a:schemeClr val="tx1"/>
            </a:solidFill>
            <a:prstDash val="solid"/>
            <a:round/>
            <a:headEnd type="none" w="med" len="med"/>
            <a:tailEnd type="none" w="med" len="med"/>
          </a:ln>
        </p:spPr>
      </p:sp>
      <p:sp>
        <p:nvSpPr>
          <p:cNvPr id="80934" name="矩形 223292"/>
          <p:cNvSpPr/>
          <p:nvPr/>
        </p:nvSpPr>
        <p:spPr>
          <a:xfrm>
            <a:off x="2290763" y="281940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80935" name="直接连接符 223293"/>
          <p:cNvSpPr/>
          <p:nvPr/>
        </p:nvSpPr>
        <p:spPr>
          <a:xfrm>
            <a:off x="2990850" y="2835275"/>
            <a:ext cx="0" cy="407988"/>
          </a:xfrm>
          <a:prstGeom prst="line">
            <a:avLst/>
          </a:prstGeom>
          <a:ln w="25400" cap="flat" cmpd="sng">
            <a:solidFill>
              <a:schemeClr val="tx1"/>
            </a:solidFill>
            <a:prstDash val="solid"/>
            <a:round/>
            <a:headEnd type="none" w="med" len="med"/>
            <a:tailEnd type="none" w="med" len="med"/>
          </a:ln>
        </p:spPr>
      </p:sp>
      <p:sp>
        <p:nvSpPr>
          <p:cNvPr id="80936" name="直接连接符 223294"/>
          <p:cNvSpPr/>
          <p:nvPr/>
        </p:nvSpPr>
        <p:spPr>
          <a:xfrm flipV="1">
            <a:off x="2921000" y="2960688"/>
            <a:ext cx="139700" cy="157162"/>
          </a:xfrm>
          <a:prstGeom prst="line">
            <a:avLst/>
          </a:prstGeom>
          <a:ln w="12700" cap="flat" cmpd="sng">
            <a:solidFill>
              <a:schemeClr val="tx1"/>
            </a:solidFill>
            <a:prstDash val="solid"/>
            <a:round/>
            <a:headEnd type="none" w="med" len="med"/>
            <a:tailEnd type="none" w="med" len="med"/>
          </a:ln>
        </p:spPr>
      </p:sp>
      <p:sp>
        <p:nvSpPr>
          <p:cNvPr id="80937" name="矩形 223295"/>
          <p:cNvSpPr/>
          <p:nvPr/>
        </p:nvSpPr>
        <p:spPr>
          <a:xfrm>
            <a:off x="2747963" y="281940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80938" name="矩形 223296"/>
          <p:cNvSpPr/>
          <p:nvPr/>
        </p:nvSpPr>
        <p:spPr>
          <a:xfrm>
            <a:off x="1909763" y="3254375"/>
            <a:ext cx="5238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80939" name="矩形 223297"/>
          <p:cNvSpPr/>
          <p:nvPr/>
        </p:nvSpPr>
        <p:spPr>
          <a:xfrm>
            <a:off x="2366963" y="3254375"/>
            <a:ext cx="4730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80940" name="矩形 223298"/>
          <p:cNvSpPr/>
          <p:nvPr/>
        </p:nvSpPr>
        <p:spPr>
          <a:xfrm>
            <a:off x="2747963" y="3254375"/>
            <a:ext cx="4857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80941" name="矩形 223299"/>
          <p:cNvSpPr/>
          <p:nvPr/>
        </p:nvSpPr>
        <p:spPr>
          <a:xfrm>
            <a:off x="1897063" y="3594100"/>
            <a:ext cx="1222375" cy="63817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80942" name="矩形 223300"/>
          <p:cNvSpPr/>
          <p:nvPr/>
        </p:nvSpPr>
        <p:spPr>
          <a:xfrm>
            <a:off x="2519363" y="2603500"/>
            <a:ext cx="4730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80943" name="矩形 223301"/>
          <p:cNvSpPr/>
          <p:nvPr/>
        </p:nvSpPr>
        <p:spPr>
          <a:xfrm>
            <a:off x="2290763" y="1952625"/>
            <a:ext cx="4222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80944" name="直接连接符 223302"/>
          <p:cNvSpPr/>
          <p:nvPr/>
        </p:nvSpPr>
        <p:spPr>
          <a:xfrm>
            <a:off x="4133850" y="3992563"/>
            <a:ext cx="0" cy="1101725"/>
          </a:xfrm>
          <a:prstGeom prst="line">
            <a:avLst/>
          </a:prstGeom>
          <a:ln w="25400" cap="flat" cmpd="sng">
            <a:solidFill>
              <a:schemeClr val="tx1"/>
            </a:solidFill>
            <a:prstDash val="solid"/>
            <a:round/>
            <a:headEnd type="none" w="med" len="med"/>
            <a:tailEnd type="none" w="med" len="med"/>
          </a:ln>
        </p:spPr>
      </p:sp>
      <p:sp>
        <p:nvSpPr>
          <p:cNvPr id="80945" name="直接连接符 223303"/>
          <p:cNvSpPr/>
          <p:nvPr/>
        </p:nvSpPr>
        <p:spPr>
          <a:xfrm>
            <a:off x="4146550" y="3992563"/>
            <a:ext cx="279400" cy="119062"/>
          </a:xfrm>
          <a:prstGeom prst="line">
            <a:avLst/>
          </a:prstGeom>
          <a:ln w="25400" cap="flat" cmpd="sng">
            <a:solidFill>
              <a:schemeClr val="tx1"/>
            </a:solidFill>
            <a:prstDash val="solid"/>
            <a:round/>
            <a:headEnd type="none" w="med" len="med"/>
            <a:tailEnd type="none" w="med" len="med"/>
          </a:ln>
        </p:spPr>
      </p:sp>
      <p:sp>
        <p:nvSpPr>
          <p:cNvPr id="80946" name="直接连接符 223304"/>
          <p:cNvSpPr/>
          <p:nvPr/>
        </p:nvSpPr>
        <p:spPr>
          <a:xfrm flipV="1">
            <a:off x="4146550" y="4906963"/>
            <a:ext cx="279400" cy="169862"/>
          </a:xfrm>
          <a:prstGeom prst="line">
            <a:avLst/>
          </a:prstGeom>
          <a:ln w="25400" cap="flat" cmpd="sng">
            <a:solidFill>
              <a:schemeClr val="tx1"/>
            </a:solidFill>
            <a:prstDash val="solid"/>
            <a:round/>
            <a:headEnd type="none" w="med" len="med"/>
            <a:tailEnd type="none" w="med" len="med"/>
          </a:ln>
        </p:spPr>
      </p:sp>
      <p:sp>
        <p:nvSpPr>
          <p:cNvPr id="80947" name="直接连接符 223305"/>
          <p:cNvSpPr/>
          <p:nvPr/>
        </p:nvSpPr>
        <p:spPr>
          <a:xfrm>
            <a:off x="4438650" y="4121150"/>
            <a:ext cx="0" cy="814388"/>
          </a:xfrm>
          <a:prstGeom prst="line">
            <a:avLst/>
          </a:prstGeom>
          <a:ln w="25400" cap="flat" cmpd="sng">
            <a:solidFill>
              <a:schemeClr val="tx1"/>
            </a:solidFill>
            <a:prstDash val="solid"/>
            <a:round/>
            <a:headEnd type="none" w="med" len="med"/>
            <a:tailEnd type="none" w="med" len="med"/>
          </a:ln>
        </p:spPr>
      </p:sp>
      <p:grpSp>
        <p:nvGrpSpPr>
          <p:cNvPr id="80948" name="组合 223306"/>
          <p:cNvGrpSpPr/>
          <p:nvPr/>
        </p:nvGrpSpPr>
        <p:grpSpPr>
          <a:xfrm>
            <a:off x="1416050" y="2352675"/>
            <a:ext cx="1168400" cy="288925"/>
            <a:chOff x="928" y="1788"/>
            <a:chExt cx="736" cy="182"/>
          </a:xfrm>
        </p:grpSpPr>
        <p:sp>
          <p:nvSpPr>
            <p:cNvPr id="80949" name="直接连接符 223307"/>
            <p:cNvSpPr/>
            <p:nvPr/>
          </p:nvSpPr>
          <p:spPr>
            <a:xfrm flipH="1">
              <a:off x="928" y="1788"/>
              <a:ext cx="736" cy="0"/>
            </a:xfrm>
            <a:prstGeom prst="line">
              <a:avLst/>
            </a:prstGeom>
            <a:ln w="25400" cap="flat" cmpd="sng">
              <a:solidFill>
                <a:schemeClr val="tx1"/>
              </a:solidFill>
              <a:prstDash val="solid"/>
              <a:round/>
              <a:headEnd type="none" w="med" len="med"/>
              <a:tailEnd type="none" w="med" len="med"/>
            </a:ln>
          </p:spPr>
        </p:sp>
        <p:sp>
          <p:nvSpPr>
            <p:cNvPr id="80950" name="直接连接符 223308"/>
            <p:cNvSpPr/>
            <p:nvPr/>
          </p:nvSpPr>
          <p:spPr>
            <a:xfrm flipH="1">
              <a:off x="1552" y="1796"/>
              <a:ext cx="112" cy="166"/>
            </a:xfrm>
            <a:prstGeom prst="line">
              <a:avLst/>
            </a:prstGeom>
            <a:ln w="25400" cap="flat" cmpd="sng">
              <a:solidFill>
                <a:schemeClr val="tx1"/>
              </a:solidFill>
              <a:prstDash val="solid"/>
              <a:round/>
              <a:headEnd type="none" w="med" len="med"/>
              <a:tailEnd type="none" w="med" len="med"/>
            </a:ln>
          </p:spPr>
        </p:sp>
        <p:sp>
          <p:nvSpPr>
            <p:cNvPr id="80951" name="直接连接符 223309"/>
            <p:cNvSpPr/>
            <p:nvPr/>
          </p:nvSpPr>
          <p:spPr>
            <a:xfrm>
              <a:off x="944" y="1796"/>
              <a:ext cx="80" cy="166"/>
            </a:xfrm>
            <a:prstGeom prst="line">
              <a:avLst/>
            </a:prstGeom>
            <a:ln w="25400" cap="flat" cmpd="sng">
              <a:solidFill>
                <a:schemeClr val="tx1"/>
              </a:solidFill>
              <a:prstDash val="solid"/>
              <a:round/>
              <a:headEnd type="none" w="med" len="med"/>
              <a:tailEnd type="none" w="med" len="med"/>
            </a:ln>
          </p:spPr>
        </p:sp>
        <p:sp>
          <p:nvSpPr>
            <p:cNvPr id="80952" name="直接连接符 223310"/>
            <p:cNvSpPr/>
            <p:nvPr/>
          </p:nvSpPr>
          <p:spPr>
            <a:xfrm flipH="1">
              <a:off x="1024" y="1970"/>
              <a:ext cx="544" cy="0"/>
            </a:xfrm>
            <a:prstGeom prst="line">
              <a:avLst/>
            </a:prstGeom>
            <a:ln w="25400" cap="flat" cmpd="sng">
              <a:solidFill>
                <a:schemeClr val="tx1"/>
              </a:solidFill>
              <a:prstDash val="solid"/>
              <a:round/>
              <a:headEnd type="none" w="med" len="med"/>
              <a:tailEnd type="none" w="med" len="med"/>
            </a:ln>
          </p:spPr>
        </p:sp>
      </p:grpSp>
      <p:sp>
        <p:nvSpPr>
          <p:cNvPr id="80953" name="矩形 223311"/>
          <p:cNvSpPr/>
          <p:nvPr/>
        </p:nvSpPr>
        <p:spPr>
          <a:xfrm>
            <a:off x="2928938" y="2611438"/>
            <a:ext cx="422275" cy="363537"/>
          </a:xfrm>
          <a:prstGeom prst="rect">
            <a:avLst/>
          </a:prstGeom>
          <a:noFill/>
          <a:ln w="12700">
            <a:noFill/>
          </a:ln>
        </p:spPr>
        <p:txBody>
          <a:bodyPr wrap="none" lIns="90488" tIns="44450" rIns="90488" bIns="44450" anchor="t" anchorCtr="0">
            <a:spAutoFit/>
          </a:bodyPr>
          <a:p>
            <a:pPr algn="ctr"/>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80954" name="直接连接符 223312"/>
          <p:cNvSpPr/>
          <p:nvPr/>
        </p:nvSpPr>
        <p:spPr>
          <a:xfrm flipH="1">
            <a:off x="2305050" y="2111375"/>
            <a:ext cx="0" cy="250825"/>
          </a:xfrm>
          <a:prstGeom prst="line">
            <a:avLst/>
          </a:prstGeom>
          <a:ln w="25400" cap="flat" cmpd="sng">
            <a:solidFill>
              <a:schemeClr val="tx1"/>
            </a:solidFill>
            <a:prstDash val="solid"/>
            <a:round/>
            <a:headEnd type="none" w="med" len="med"/>
            <a:tailEnd type="none" w="med" len="med"/>
          </a:ln>
        </p:spPr>
      </p:sp>
      <p:sp>
        <p:nvSpPr>
          <p:cNvPr id="80955" name="直接连接符 223313"/>
          <p:cNvSpPr/>
          <p:nvPr/>
        </p:nvSpPr>
        <p:spPr>
          <a:xfrm>
            <a:off x="1695450" y="2111375"/>
            <a:ext cx="0" cy="234950"/>
          </a:xfrm>
          <a:prstGeom prst="line">
            <a:avLst/>
          </a:prstGeom>
          <a:ln w="25400" cap="flat" cmpd="sng">
            <a:solidFill>
              <a:schemeClr val="tx1"/>
            </a:solidFill>
            <a:prstDash val="solid"/>
            <a:round/>
            <a:headEnd type="none" w="med" len="med"/>
            <a:tailEnd type="none" w="med" len="med"/>
          </a:ln>
        </p:spPr>
      </p:sp>
      <p:sp>
        <p:nvSpPr>
          <p:cNvPr id="80956" name="矩形 223314"/>
          <p:cNvSpPr/>
          <p:nvPr/>
        </p:nvSpPr>
        <p:spPr>
          <a:xfrm>
            <a:off x="1681163" y="1952625"/>
            <a:ext cx="4857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80957" name="直接连接符 223315"/>
          <p:cNvSpPr/>
          <p:nvPr/>
        </p:nvSpPr>
        <p:spPr>
          <a:xfrm flipH="1">
            <a:off x="615950" y="2533650"/>
            <a:ext cx="939800" cy="0"/>
          </a:xfrm>
          <a:prstGeom prst="line">
            <a:avLst/>
          </a:prstGeom>
          <a:ln w="25400" cap="flat" cmpd="sng">
            <a:solidFill>
              <a:schemeClr val="tx1"/>
            </a:solidFill>
            <a:prstDash val="solid"/>
            <a:round/>
            <a:headEnd type="triangle" w="med" len="med"/>
            <a:tailEnd type="none" w="med" len="med"/>
          </a:ln>
        </p:spPr>
      </p:sp>
      <p:sp>
        <p:nvSpPr>
          <p:cNvPr id="80958" name="矩形 223316"/>
          <p:cNvSpPr/>
          <p:nvPr/>
        </p:nvSpPr>
        <p:spPr>
          <a:xfrm>
            <a:off x="449263" y="2152650"/>
            <a:ext cx="9810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59" name="矩形 223317"/>
          <p:cNvSpPr/>
          <p:nvPr/>
        </p:nvSpPr>
        <p:spPr>
          <a:xfrm>
            <a:off x="3079750" y="4643438"/>
            <a:ext cx="355600" cy="9144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0960" name="矩形 223318"/>
          <p:cNvSpPr/>
          <p:nvPr/>
        </p:nvSpPr>
        <p:spPr>
          <a:xfrm rot="5400000">
            <a:off x="3024188" y="4945063"/>
            <a:ext cx="5365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Ext</a:t>
            </a:r>
            <a:endParaRPr lang="en-US" altLang="zh-CN" sz="1800">
              <a:latin typeface="Arial" panose="020B0604020202020204" pitchFamily="34" charset="0"/>
              <a:ea typeface="宋体" panose="02010600030101010101" pitchFamily="2" charset="-122"/>
            </a:endParaRPr>
          </a:p>
        </p:txBody>
      </p:sp>
      <p:sp>
        <p:nvSpPr>
          <p:cNvPr id="80961" name="矩形 223319"/>
          <p:cNvSpPr/>
          <p:nvPr/>
        </p:nvSpPr>
        <p:spPr>
          <a:xfrm rot="5400000">
            <a:off x="3917950" y="4368800"/>
            <a:ext cx="638175" cy="363538"/>
          </a:xfrm>
          <a:prstGeom prst="rect">
            <a:avLst/>
          </a:prstGeom>
          <a:noFill/>
          <a:ln w="12700">
            <a:noFill/>
          </a:ln>
        </p:spPr>
        <p:txBody>
          <a:bodyPr wrap="none" lIns="90488" tIns="44450" rIns="90488" bIns="44450" anchor="t" anchorCtr="0">
            <a:spAutoFit/>
          </a:bodyPr>
          <a:p>
            <a:pPr algn="ctr"/>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80962" name="矩形 223320"/>
          <p:cNvSpPr/>
          <p:nvPr/>
        </p:nvSpPr>
        <p:spPr>
          <a:xfrm>
            <a:off x="1719263" y="2349500"/>
            <a:ext cx="6381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80963" name="直接连接符 223321"/>
          <p:cNvSpPr/>
          <p:nvPr/>
        </p:nvSpPr>
        <p:spPr>
          <a:xfrm>
            <a:off x="3460750" y="4919663"/>
            <a:ext cx="660400" cy="0"/>
          </a:xfrm>
          <a:prstGeom prst="line">
            <a:avLst/>
          </a:prstGeom>
          <a:ln w="25400" cap="flat" cmpd="sng">
            <a:solidFill>
              <a:schemeClr val="tx1"/>
            </a:solidFill>
            <a:prstDash val="solid"/>
            <a:round/>
            <a:headEnd type="none" w="med" len="med"/>
            <a:tailEnd type="triangle" w="med" len="med"/>
          </a:ln>
        </p:spPr>
      </p:sp>
      <p:sp>
        <p:nvSpPr>
          <p:cNvPr id="80964" name="矩形 223322"/>
          <p:cNvSpPr/>
          <p:nvPr/>
        </p:nvSpPr>
        <p:spPr>
          <a:xfrm>
            <a:off x="3427413" y="4954588"/>
            <a:ext cx="434975" cy="363537"/>
          </a:xfrm>
          <a:prstGeom prst="rect">
            <a:avLst/>
          </a:prstGeom>
          <a:noFill/>
          <a:ln w="12700">
            <a:noFill/>
          </a:ln>
        </p:spPr>
        <p:txBody>
          <a:bodyPr wrap="none" lIns="90488" tIns="44450" rIns="90488" bIns="44450" anchor="t" anchorCtr="0">
            <a:spAutoFit/>
          </a:bodyPr>
          <a:p>
            <a:pPr algn="ctr"/>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0965" name="直接连接符 223323"/>
          <p:cNvSpPr/>
          <p:nvPr/>
        </p:nvSpPr>
        <p:spPr>
          <a:xfrm flipH="1">
            <a:off x="3746500" y="4854575"/>
            <a:ext cx="88900" cy="131763"/>
          </a:xfrm>
          <a:prstGeom prst="line">
            <a:avLst/>
          </a:prstGeom>
          <a:ln w="12700" cap="flat" cmpd="sng">
            <a:solidFill>
              <a:schemeClr val="tx1"/>
            </a:solidFill>
            <a:prstDash val="solid"/>
            <a:round/>
            <a:headEnd type="none" w="med" len="med"/>
            <a:tailEnd type="none" w="med" len="med"/>
          </a:ln>
        </p:spPr>
      </p:sp>
      <p:sp>
        <p:nvSpPr>
          <p:cNvPr id="80966" name="直接连接符 223324"/>
          <p:cNvSpPr/>
          <p:nvPr/>
        </p:nvSpPr>
        <p:spPr>
          <a:xfrm>
            <a:off x="2089150" y="5137150"/>
            <a:ext cx="965200" cy="0"/>
          </a:xfrm>
          <a:prstGeom prst="line">
            <a:avLst/>
          </a:prstGeom>
          <a:ln w="25400" cap="flat" cmpd="sng">
            <a:solidFill>
              <a:schemeClr val="tx1"/>
            </a:solidFill>
            <a:prstDash val="solid"/>
            <a:round/>
            <a:headEnd type="none" w="med" len="med"/>
            <a:tailEnd type="triangle" w="med" len="med"/>
          </a:ln>
        </p:spPr>
      </p:sp>
      <p:sp>
        <p:nvSpPr>
          <p:cNvPr id="80967" name="直接连接符 223325"/>
          <p:cNvSpPr/>
          <p:nvPr/>
        </p:nvSpPr>
        <p:spPr>
          <a:xfrm flipH="1">
            <a:off x="2527300" y="5070475"/>
            <a:ext cx="88900" cy="133350"/>
          </a:xfrm>
          <a:prstGeom prst="line">
            <a:avLst/>
          </a:prstGeom>
          <a:ln w="12700" cap="flat" cmpd="sng">
            <a:solidFill>
              <a:schemeClr val="tx1"/>
            </a:solidFill>
            <a:prstDash val="solid"/>
            <a:round/>
            <a:headEnd type="none" w="med" len="med"/>
            <a:tailEnd type="none" w="med" len="med"/>
          </a:ln>
        </p:spPr>
      </p:sp>
      <p:sp>
        <p:nvSpPr>
          <p:cNvPr id="80968" name="矩形 223326"/>
          <p:cNvSpPr/>
          <p:nvPr/>
        </p:nvSpPr>
        <p:spPr>
          <a:xfrm>
            <a:off x="2214563" y="51355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0969" name="矩形 223327"/>
          <p:cNvSpPr/>
          <p:nvPr/>
        </p:nvSpPr>
        <p:spPr>
          <a:xfrm>
            <a:off x="1223963" y="4875213"/>
            <a:ext cx="9048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80970" name="直接连接符 223328"/>
          <p:cNvSpPr/>
          <p:nvPr/>
        </p:nvSpPr>
        <p:spPr>
          <a:xfrm>
            <a:off x="4298950" y="4999038"/>
            <a:ext cx="0" cy="420687"/>
          </a:xfrm>
          <a:prstGeom prst="line">
            <a:avLst/>
          </a:prstGeom>
          <a:ln w="28575" cap="flat" cmpd="sng">
            <a:solidFill>
              <a:schemeClr val="tx1"/>
            </a:solidFill>
            <a:prstDash val="solid"/>
            <a:round/>
            <a:headEnd type="triangle" w="med" len="med"/>
            <a:tailEnd type="none" w="med" len="med"/>
          </a:ln>
        </p:spPr>
      </p:sp>
      <p:sp>
        <p:nvSpPr>
          <p:cNvPr id="80971" name="矩形 223329"/>
          <p:cNvSpPr/>
          <p:nvPr/>
        </p:nvSpPr>
        <p:spPr>
          <a:xfrm>
            <a:off x="3967163" y="5424488"/>
            <a:ext cx="10191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72" name="直接连接符 223330"/>
          <p:cNvSpPr/>
          <p:nvPr/>
        </p:nvSpPr>
        <p:spPr>
          <a:xfrm>
            <a:off x="4451350" y="4268788"/>
            <a:ext cx="508000" cy="0"/>
          </a:xfrm>
          <a:prstGeom prst="line">
            <a:avLst/>
          </a:prstGeom>
          <a:ln w="25400" cap="flat" cmpd="sng">
            <a:solidFill>
              <a:schemeClr val="tx1"/>
            </a:solidFill>
            <a:prstDash val="solid"/>
            <a:round/>
            <a:headEnd type="none" w="med" len="med"/>
            <a:tailEnd type="triangle" w="med" len="med"/>
          </a:ln>
        </p:spPr>
      </p:sp>
      <p:sp>
        <p:nvSpPr>
          <p:cNvPr id="80973" name="直接连接符 223331"/>
          <p:cNvSpPr/>
          <p:nvPr/>
        </p:nvSpPr>
        <p:spPr>
          <a:xfrm>
            <a:off x="3257550" y="5595938"/>
            <a:ext cx="0" cy="258762"/>
          </a:xfrm>
          <a:prstGeom prst="line">
            <a:avLst/>
          </a:prstGeom>
          <a:ln w="28575" cap="flat" cmpd="sng">
            <a:solidFill>
              <a:schemeClr val="tx1"/>
            </a:solidFill>
            <a:prstDash val="solid"/>
            <a:round/>
            <a:headEnd type="triangle" w="med" len="med"/>
            <a:tailEnd type="none" w="med" len="med"/>
          </a:ln>
        </p:spPr>
      </p:sp>
      <p:sp>
        <p:nvSpPr>
          <p:cNvPr id="80974" name="矩形 223332"/>
          <p:cNvSpPr/>
          <p:nvPr/>
        </p:nvSpPr>
        <p:spPr>
          <a:xfrm>
            <a:off x="2343150" y="5527675"/>
            <a:ext cx="8540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ExtOp</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75" name="矩形 223333"/>
          <p:cNvSpPr/>
          <p:nvPr/>
        </p:nvSpPr>
        <p:spPr>
          <a:xfrm rot="5400000">
            <a:off x="4964113" y="3671888"/>
            <a:ext cx="650875" cy="36512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grpSp>
        <p:nvGrpSpPr>
          <p:cNvPr id="223335" name="组合 223334"/>
          <p:cNvGrpSpPr/>
          <p:nvPr/>
        </p:nvGrpSpPr>
        <p:grpSpPr>
          <a:xfrm>
            <a:off x="5213350" y="1708150"/>
            <a:ext cx="3846513" cy="2863850"/>
            <a:chOff x="3320" y="1382"/>
            <a:chExt cx="2348" cy="1804"/>
          </a:xfrm>
        </p:grpSpPr>
        <p:sp>
          <p:nvSpPr>
            <p:cNvPr id="80977" name="矩形 223335"/>
            <p:cNvSpPr/>
            <p:nvPr/>
          </p:nvSpPr>
          <p:spPr>
            <a:xfrm>
              <a:off x="4328" y="1640"/>
              <a:ext cx="543" cy="171"/>
            </a:xfrm>
            <a:prstGeom prst="rect">
              <a:avLst/>
            </a:prstGeom>
            <a:noFill/>
            <a:ln w="25400" cap="flat" cmpd="sng">
              <a:solidFill>
                <a:srgbClr val="0000FF"/>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0978" name="直接连接符 223336"/>
            <p:cNvSpPr/>
            <p:nvPr/>
          </p:nvSpPr>
          <p:spPr>
            <a:xfrm flipV="1">
              <a:off x="4791" y="1667"/>
              <a:ext cx="80" cy="64"/>
            </a:xfrm>
            <a:prstGeom prst="line">
              <a:avLst/>
            </a:prstGeom>
            <a:ln w="25400" cap="flat" cmpd="sng">
              <a:solidFill>
                <a:srgbClr val="0000FF"/>
              </a:solidFill>
              <a:prstDash val="solid"/>
              <a:round/>
              <a:headEnd type="none" w="med" len="med"/>
              <a:tailEnd type="none" w="med" len="med"/>
            </a:ln>
          </p:spPr>
        </p:sp>
        <p:sp>
          <p:nvSpPr>
            <p:cNvPr id="80979" name="直接连接符 223337"/>
            <p:cNvSpPr/>
            <p:nvPr/>
          </p:nvSpPr>
          <p:spPr>
            <a:xfrm>
              <a:off x="4791" y="1731"/>
              <a:ext cx="80" cy="32"/>
            </a:xfrm>
            <a:prstGeom prst="line">
              <a:avLst/>
            </a:prstGeom>
            <a:ln w="25400" cap="flat" cmpd="sng">
              <a:solidFill>
                <a:srgbClr val="0000FF"/>
              </a:solidFill>
              <a:prstDash val="solid"/>
              <a:round/>
              <a:headEnd type="none" w="med" len="med"/>
              <a:tailEnd type="none" w="med" len="med"/>
            </a:ln>
          </p:spPr>
        </p:sp>
        <p:sp>
          <p:nvSpPr>
            <p:cNvPr id="80980" name="椭圆 223338"/>
            <p:cNvSpPr/>
            <p:nvPr/>
          </p:nvSpPr>
          <p:spPr>
            <a:xfrm>
              <a:off x="4887" y="1683"/>
              <a:ext cx="80" cy="80"/>
            </a:xfrm>
            <a:prstGeom prst="ellipse">
              <a:avLst/>
            </a:prstGeom>
            <a:noFill/>
            <a:ln w="25400" cap="flat" cmpd="sng">
              <a:solidFill>
                <a:srgbClr val="0000FF"/>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80981" name="直接连接符 223339"/>
            <p:cNvSpPr/>
            <p:nvPr/>
          </p:nvSpPr>
          <p:spPr>
            <a:xfrm>
              <a:off x="4983" y="1723"/>
              <a:ext cx="176" cy="0"/>
            </a:xfrm>
            <a:prstGeom prst="line">
              <a:avLst/>
            </a:prstGeom>
            <a:ln w="25400" cap="flat" cmpd="sng">
              <a:solidFill>
                <a:srgbClr val="0000FF"/>
              </a:solidFill>
              <a:prstDash val="solid"/>
              <a:round/>
              <a:headEnd type="none" w="med" len="med"/>
              <a:tailEnd type="none" w="med" len="med"/>
            </a:ln>
          </p:spPr>
        </p:sp>
        <p:sp>
          <p:nvSpPr>
            <p:cNvPr id="80982" name="矩形 223340"/>
            <p:cNvSpPr/>
            <p:nvPr/>
          </p:nvSpPr>
          <p:spPr>
            <a:xfrm flipH="1">
              <a:off x="4460" y="1622"/>
              <a:ext cx="304" cy="229"/>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80983" name="矩形 223341"/>
            <p:cNvSpPr/>
            <p:nvPr/>
          </p:nvSpPr>
          <p:spPr>
            <a:xfrm flipH="1">
              <a:off x="4946" y="1520"/>
              <a:ext cx="328" cy="229"/>
            </a:xfrm>
            <a:prstGeom prst="rect">
              <a:avLst/>
            </a:prstGeom>
            <a:noFill/>
            <a:ln w="12700">
              <a:noFill/>
            </a:ln>
          </p:spPr>
          <p:txBody>
            <a:bodyPr wrap="none" lIns="90488" tIns="44450" rIns="90488" bIns="44450" anchor="t" anchorCtr="0">
              <a:spAutoFit/>
            </a:bodyPr>
            <a:p>
              <a:pPr algn="ctr"/>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80984" name="矩形 223342"/>
            <p:cNvSpPr/>
            <p:nvPr/>
          </p:nvSpPr>
          <p:spPr>
            <a:xfrm>
              <a:off x="4062" y="2072"/>
              <a:ext cx="826" cy="368"/>
            </a:xfrm>
            <a:prstGeom prst="rect">
              <a:avLst/>
            </a:prstGeom>
            <a:noFill/>
            <a:ln w="25400" cap="flat" cmpd="sng">
              <a:solidFill>
                <a:srgbClr val="0000FF"/>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0985" name="矩形 223343"/>
            <p:cNvSpPr/>
            <p:nvPr/>
          </p:nvSpPr>
          <p:spPr>
            <a:xfrm flipH="1">
              <a:off x="3961" y="2068"/>
              <a:ext cx="1034" cy="402"/>
            </a:xfrm>
            <a:prstGeom prst="rect">
              <a:avLst/>
            </a:prstGeom>
            <a:noFill/>
            <a:ln w="12700">
              <a:noFill/>
            </a:ln>
          </p:spPr>
          <p:txBody>
            <a:bodyPr lIns="90488" tIns="44450" rIns="90488" bIns="44450" anchor="t" anchorCtr="0">
              <a:spAutoFit/>
            </a:bodyPr>
            <a:p>
              <a:pPr algn="ctr"/>
              <a:r>
                <a:rPr lang="en-US" altLang="zh-CN" sz="1800">
                  <a:latin typeface="Arial" panose="020B0604020202020204" pitchFamily="34" charset="0"/>
                  <a:ea typeface="宋体" panose="02010600030101010101" pitchFamily="2" charset="-122"/>
                </a:rPr>
                <a:t>Next</a:t>
              </a:r>
              <a:r>
                <a:rPr lang="en-US" altLang="zh-CN">
                  <a:latin typeface="Times New Roman" panose="02020603050405020304" pitchFamily="18" charset="0"/>
                  <a:ea typeface="宋体" panose="02010600030101010101" pitchFamily="2" charset="-122"/>
                </a:rPr>
                <a:t> </a:t>
              </a:r>
              <a:r>
                <a:rPr lang="en-US" altLang="zh-CN" sz="1800" dirty="0" err="1">
                  <a:latin typeface="Arial" panose="020B0604020202020204" pitchFamily="34" charset="0"/>
                  <a:ea typeface="宋体" panose="02010600030101010101" pitchFamily="2" charset="-122"/>
                </a:rPr>
                <a:t>Addr</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Logic</a:t>
              </a:r>
              <a:endParaRPr lang="en-US" altLang="zh-CN" sz="1800">
                <a:latin typeface="Arial" panose="020B0604020202020204" pitchFamily="34" charset="0"/>
                <a:ea typeface="宋体" panose="02010600030101010101" pitchFamily="2" charset="-122"/>
              </a:endParaRPr>
            </a:p>
          </p:txBody>
        </p:sp>
        <p:sp>
          <p:nvSpPr>
            <p:cNvPr id="80986" name="直接连接符 223344"/>
            <p:cNvSpPr/>
            <p:nvPr/>
          </p:nvSpPr>
          <p:spPr>
            <a:xfrm>
              <a:off x="4608" y="1400"/>
              <a:ext cx="0" cy="224"/>
            </a:xfrm>
            <a:prstGeom prst="line">
              <a:avLst/>
            </a:prstGeom>
            <a:ln w="25400" cap="flat" cmpd="sng">
              <a:solidFill>
                <a:srgbClr val="0000FF"/>
              </a:solidFill>
              <a:prstDash val="solid"/>
              <a:round/>
              <a:headEnd type="none" w="med" len="med"/>
              <a:tailEnd type="triangle" w="med" len="med"/>
            </a:ln>
          </p:spPr>
        </p:sp>
        <p:sp>
          <p:nvSpPr>
            <p:cNvPr id="80987" name="直接连接符 223345"/>
            <p:cNvSpPr/>
            <p:nvPr/>
          </p:nvSpPr>
          <p:spPr>
            <a:xfrm flipH="1">
              <a:off x="4600" y="1392"/>
              <a:ext cx="688" cy="0"/>
            </a:xfrm>
            <a:prstGeom prst="line">
              <a:avLst/>
            </a:prstGeom>
            <a:ln w="25400" cap="flat" cmpd="sng">
              <a:solidFill>
                <a:srgbClr val="0000FF"/>
              </a:solidFill>
              <a:prstDash val="solid"/>
              <a:round/>
              <a:headEnd type="none" w="med" len="med"/>
              <a:tailEnd type="none" w="med" len="med"/>
            </a:ln>
          </p:spPr>
        </p:sp>
        <p:sp>
          <p:nvSpPr>
            <p:cNvPr id="80988" name="直接连接符 223346"/>
            <p:cNvSpPr/>
            <p:nvPr/>
          </p:nvSpPr>
          <p:spPr>
            <a:xfrm>
              <a:off x="5280" y="1382"/>
              <a:ext cx="0" cy="1154"/>
            </a:xfrm>
            <a:prstGeom prst="line">
              <a:avLst/>
            </a:prstGeom>
            <a:ln w="25400" cap="flat" cmpd="sng">
              <a:solidFill>
                <a:srgbClr val="0000FF"/>
              </a:solidFill>
              <a:prstDash val="solid"/>
              <a:round/>
              <a:headEnd type="none" w="med" len="med"/>
              <a:tailEnd type="none" w="med" len="med"/>
            </a:ln>
          </p:spPr>
        </p:sp>
        <p:grpSp>
          <p:nvGrpSpPr>
            <p:cNvPr id="80989" name="组合 223347"/>
            <p:cNvGrpSpPr/>
            <p:nvPr/>
          </p:nvGrpSpPr>
          <p:grpSpPr>
            <a:xfrm>
              <a:off x="3560" y="2204"/>
              <a:ext cx="464" cy="84"/>
              <a:chOff x="3560" y="2204"/>
              <a:chExt cx="464" cy="84"/>
            </a:xfrm>
          </p:grpSpPr>
          <p:sp>
            <p:nvSpPr>
              <p:cNvPr id="80990" name="直接连接符 223348"/>
              <p:cNvSpPr/>
              <p:nvPr/>
            </p:nvSpPr>
            <p:spPr>
              <a:xfrm>
                <a:off x="3560" y="2256"/>
                <a:ext cx="464" cy="0"/>
              </a:xfrm>
              <a:prstGeom prst="line">
                <a:avLst/>
              </a:prstGeom>
              <a:ln w="25400" cap="flat" cmpd="sng">
                <a:solidFill>
                  <a:srgbClr val="0000FF"/>
                </a:solidFill>
                <a:prstDash val="solid"/>
                <a:round/>
                <a:headEnd type="none" w="med" len="med"/>
                <a:tailEnd type="triangle" w="med" len="med"/>
              </a:ln>
            </p:spPr>
          </p:sp>
          <p:sp>
            <p:nvSpPr>
              <p:cNvPr id="80991" name="直接连接符 223349"/>
              <p:cNvSpPr/>
              <p:nvPr/>
            </p:nvSpPr>
            <p:spPr>
              <a:xfrm flipH="1">
                <a:off x="3740" y="2204"/>
                <a:ext cx="56" cy="84"/>
              </a:xfrm>
              <a:prstGeom prst="line">
                <a:avLst/>
              </a:prstGeom>
              <a:ln w="12700" cap="flat" cmpd="sng">
                <a:solidFill>
                  <a:srgbClr val="0000FF"/>
                </a:solidFill>
                <a:prstDash val="solid"/>
                <a:round/>
                <a:headEnd type="none" w="med" len="med"/>
                <a:tailEnd type="none" w="med" len="med"/>
              </a:ln>
            </p:spPr>
          </p:sp>
        </p:grpSp>
        <p:sp>
          <p:nvSpPr>
            <p:cNvPr id="80992" name="矩形 223350"/>
            <p:cNvSpPr/>
            <p:nvPr/>
          </p:nvSpPr>
          <p:spPr>
            <a:xfrm>
              <a:off x="3623" y="2293"/>
              <a:ext cx="266" cy="229"/>
            </a:xfrm>
            <a:prstGeom prst="rect">
              <a:avLst/>
            </a:prstGeom>
            <a:noFill/>
            <a:ln w="12700">
              <a:noFill/>
            </a:ln>
          </p:spPr>
          <p:txBody>
            <a:bodyPr wrap="none" lIns="90488" tIns="44450" rIns="90488" bIns="44450" anchor="t" anchorCtr="0">
              <a:spAutoFit/>
            </a:bodyPr>
            <a:p>
              <a:pPr algn="ctr"/>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0993" name="矩形 223351"/>
            <p:cNvSpPr/>
            <p:nvPr/>
          </p:nvSpPr>
          <p:spPr>
            <a:xfrm>
              <a:off x="3495" y="2009"/>
              <a:ext cx="553"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80994" name="直接连接符 223352"/>
            <p:cNvSpPr/>
            <p:nvPr/>
          </p:nvSpPr>
          <p:spPr>
            <a:xfrm>
              <a:off x="4176" y="1736"/>
              <a:ext cx="0" cy="320"/>
            </a:xfrm>
            <a:prstGeom prst="line">
              <a:avLst/>
            </a:prstGeom>
            <a:ln w="25400" cap="flat" cmpd="sng">
              <a:solidFill>
                <a:srgbClr val="0000FF"/>
              </a:solidFill>
              <a:prstDash val="solid"/>
              <a:round/>
              <a:headEnd type="none" w="med" len="med"/>
              <a:tailEnd type="triangle" w="med" len="med"/>
            </a:ln>
          </p:spPr>
        </p:sp>
        <p:sp>
          <p:nvSpPr>
            <p:cNvPr id="80995" name="矩形 223353"/>
            <p:cNvSpPr/>
            <p:nvPr/>
          </p:nvSpPr>
          <p:spPr>
            <a:xfrm>
              <a:off x="3735" y="1536"/>
              <a:ext cx="591" cy="229"/>
            </a:xfrm>
            <a:prstGeom prst="rect">
              <a:avLst/>
            </a:prstGeom>
            <a:noFill/>
            <a:ln w="12700">
              <a:noFill/>
            </a:ln>
          </p:spPr>
          <p:txBody>
            <a:bodyPr wrap="none" lIns="90488" tIns="44450" rIns="90488" bIns="44450" anchor="t" anchorCtr="0">
              <a:spAutoFit/>
            </a:bodyPr>
            <a:p>
              <a:r>
                <a:rPr lang="en-US" altLang="zh-CN" sz="1800">
                  <a:solidFill>
                    <a:schemeClr val="accent1"/>
                  </a:solidFill>
                  <a:latin typeface="Arial" panose="020B0604020202020204" pitchFamily="34" charset="0"/>
                  <a:ea typeface="宋体" panose="02010600030101010101" pitchFamily="2" charset="-122"/>
                </a:rPr>
                <a:t>Branch</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96" name="直接连接符 223354"/>
            <p:cNvSpPr/>
            <p:nvPr/>
          </p:nvSpPr>
          <p:spPr>
            <a:xfrm>
              <a:off x="4608" y="1832"/>
              <a:ext cx="0" cy="224"/>
            </a:xfrm>
            <a:prstGeom prst="line">
              <a:avLst/>
            </a:prstGeom>
            <a:ln w="25400" cap="flat" cmpd="sng">
              <a:solidFill>
                <a:srgbClr val="0000FF"/>
              </a:solidFill>
              <a:prstDash val="solid"/>
              <a:round/>
              <a:headEnd type="none" w="med" len="med"/>
              <a:tailEnd type="triangle" w="med" len="med"/>
            </a:ln>
          </p:spPr>
        </p:sp>
        <p:sp>
          <p:nvSpPr>
            <p:cNvPr id="80997" name="直接连接符 223355"/>
            <p:cNvSpPr/>
            <p:nvPr/>
          </p:nvSpPr>
          <p:spPr>
            <a:xfrm>
              <a:off x="4656" y="2456"/>
              <a:ext cx="0" cy="464"/>
            </a:xfrm>
            <a:prstGeom prst="line">
              <a:avLst/>
            </a:prstGeom>
            <a:ln w="25400" cap="flat" cmpd="sng">
              <a:solidFill>
                <a:srgbClr val="0000FF"/>
              </a:solidFill>
              <a:prstDash val="solid"/>
              <a:round/>
              <a:headEnd type="none" w="med" len="med"/>
              <a:tailEnd type="triangle" w="med" len="med"/>
            </a:ln>
          </p:spPr>
        </p:sp>
        <p:sp>
          <p:nvSpPr>
            <p:cNvPr id="80998" name="直接连接符 223356"/>
            <p:cNvSpPr/>
            <p:nvPr/>
          </p:nvSpPr>
          <p:spPr>
            <a:xfrm>
              <a:off x="4655" y="2544"/>
              <a:ext cx="636" cy="0"/>
            </a:xfrm>
            <a:prstGeom prst="line">
              <a:avLst/>
            </a:prstGeom>
            <a:ln w="25400" cap="flat" cmpd="sng">
              <a:solidFill>
                <a:srgbClr val="0000FF"/>
              </a:solidFill>
              <a:prstDash val="solid"/>
              <a:round/>
              <a:headEnd type="none" w="med" len="med"/>
              <a:tailEnd type="none" w="med" len="med"/>
            </a:ln>
          </p:spPr>
        </p:sp>
        <p:sp>
          <p:nvSpPr>
            <p:cNvPr id="80999" name="矩形 223357"/>
            <p:cNvSpPr/>
            <p:nvPr/>
          </p:nvSpPr>
          <p:spPr>
            <a:xfrm>
              <a:off x="4627" y="2784"/>
              <a:ext cx="1041" cy="402"/>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To Instruction</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81000" name="直接连接符 223358"/>
            <p:cNvSpPr/>
            <p:nvPr/>
          </p:nvSpPr>
          <p:spPr>
            <a:xfrm>
              <a:off x="3320" y="2976"/>
              <a:ext cx="848" cy="0"/>
            </a:xfrm>
            <a:prstGeom prst="line">
              <a:avLst/>
            </a:prstGeom>
            <a:ln w="25400" cap="flat" cmpd="sng">
              <a:solidFill>
                <a:srgbClr val="0000FF"/>
              </a:solidFill>
              <a:prstDash val="solid"/>
              <a:round/>
              <a:headEnd type="none" w="med" len="med"/>
              <a:tailEnd type="none" w="med" len="med"/>
            </a:ln>
          </p:spPr>
        </p:sp>
        <p:sp>
          <p:nvSpPr>
            <p:cNvPr id="81001" name="直接连接符 223359"/>
            <p:cNvSpPr/>
            <p:nvPr/>
          </p:nvSpPr>
          <p:spPr>
            <a:xfrm flipV="1">
              <a:off x="4176" y="2440"/>
              <a:ext cx="0" cy="544"/>
            </a:xfrm>
            <a:prstGeom prst="line">
              <a:avLst/>
            </a:prstGeom>
            <a:ln w="25400" cap="flat" cmpd="sng">
              <a:solidFill>
                <a:srgbClr val="0000FF"/>
              </a:solidFill>
              <a:prstDash val="solid"/>
              <a:round/>
              <a:headEnd type="none" w="med" len="med"/>
              <a:tailEnd type="triangle" w="med" len="med"/>
            </a:ln>
          </p:spPr>
        </p:sp>
        <p:sp>
          <p:nvSpPr>
            <p:cNvPr id="81002" name="矩形 223360"/>
            <p:cNvSpPr/>
            <p:nvPr/>
          </p:nvSpPr>
          <p:spPr>
            <a:xfrm>
              <a:off x="3626" y="2784"/>
              <a:ext cx="413" cy="229"/>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Zero</a:t>
              </a:r>
              <a:endParaRPr lang="en-US" altLang="zh-CN" sz="1800">
                <a:latin typeface="Arial" panose="020B0604020202020204" pitchFamily="34" charset="0"/>
                <a:ea typeface="宋体" panose="02010600030101010101" pitchFamily="2" charset="-122"/>
              </a:endParaRPr>
            </a:p>
          </p:txBody>
        </p:sp>
      </p:grpSp>
      <p:grpSp>
        <p:nvGrpSpPr>
          <p:cNvPr id="223362" name="组合 223361"/>
          <p:cNvGrpSpPr/>
          <p:nvPr/>
        </p:nvGrpSpPr>
        <p:grpSpPr>
          <a:xfrm>
            <a:off x="5224463" y="3535363"/>
            <a:ext cx="3656012" cy="1817687"/>
            <a:chOff x="3327" y="2533"/>
            <a:chExt cx="2223" cy="1145"/>
          </a:xfrm>
        </p:grpSpPr>
        <p:sp>
          <p:nvSpPr>
            <p:cNvPr id="81004" name="文本框 223362"/>
            <p:cNvSpPr txBox="1"/>
            <p:nvPr/>
          </p:nvSpPr>
          <p:spPr>
            <a:xfrm>
              <a:off x="3327" y="3409"/>
              <a:ext cx="2223" cy="269"/>
            </a:xfrm>
            <a:prstGeom prst="rect">
              <a:avLst/>
            </a:prstGeom>
            <a:noFill/>
            <a:ln w="25400">
              <a:noFill/>
            </a:ln>
          </p:spPr>
          <p:txBody>
            <a:bodyPr anchor="t" anchorCtr="0">
              <a:spAutoFit/>
            </a:bodyPr>
            <a:p>
              <a:pPr>
                <a:spcBef>
                  <a:spcPct val="50000"/>
                </a:spcBef>
              </a:pPr>
              <a:r>
                <a:rPr lang="zh-CN" altLang="en-US" sz="2200" dirty="0">
                  <a:solidFill>
                    <a:srgbClr val="CC0000"/>
                  </a:solidFill>
                  <a:latin typeface="Times New Roman" panose="02020603050405020304" pitchFamily="18" charset="0"/>
                  <a:ea typeface="黑体" panose="02010609060101010101" pitchFamily="49" charset="-122"/>
                </a:rPr>
                <a:t>思考：下址逻辑如何设计？</a:t>
              </a:r>
              <a:endParaRPr lang="zh-CN" altLang="en-US" sz="2200" dirty="0">
                <a:solidFill>
                  <a:srgbClr val="CC0000"/>
                </a:solidFill>
                <a:latin typeface="Times New Roman" panose="02020603050405020304" pitchFamily="18" charset="0"/>
                <a:ea typeface="黑体" panose="02010609060101010101" pitchFamily="49" charset="-122"/>
              </a:endParaRPr>
            </a:p>
          </p:txBody>
        </p:sp>
        <p:sp>
          <p:nvSpPr>
            <p:cNvPr id="81005" name="直接连接符 223363"/>
            <p:cNvSpPr/>
            <p:nvPr/>
          </p:nvSpPr>
          <p:spPr>
            <a:xfrm flipV="1">
              <a:off x="4170" y="2533"/>
              <a:ext cx="283" cy="859"/>
            </a:xfrm>
            <a:prstGeom prst="line">
              <a:avLst/>
            </a:prstGeom>
            <a:ln w="25400" cap="flat" cmpd="sng">
              <a:solidFill>
                <a:srgbClr val="CC0000"/>
              </a:solidFill>
              <a:prstDash val="dash"/>
              <a:round/>
              <a:headEnd type="none" w="med" len="med"/>
              <a:tailEnd type="arrow" w="med" len="med"/>
            </a:ln>
          </p:spPr>
        </p:sp>
      </p:grpSp>
      <p:sp>
        <p:nvSpPr>
          <p:cNvPr id="223365" name="文本框 223364"/>
          <p:cNvSpPr txBox="1"/>
          <p:nvPr/>
        </p:nvSpPr>
        <p:spPr>
          <a:xfrm>
            <a:off x="206375" y="5849938"/>
            <a:ext cx="8937625" cy="366712"/>
          </a:xfrm>
          <a:prstGeom prst="rect">
            <a:avLst/>
          </a:prstGeom>
          <a:noFill/>
          <a:ln w="50800">
            <a:noFill/>
          </a:ln>
        </p:spPr>
        <p:txBody>
          <a:bodyPr anchor="t" anchorCtr="0">
            <a:spAutoFit/>
          </a:bodyPr>
          <a:p>
            <a:pPr>
              <a:spcBef>
                <a:spcPct val="50000"/>
              </a:spcBef>
            </a:pPr>
            <a:r>
              <a:rPr lang="en-US" altLang="zh-CN" sz="1800" dirty="0" err="1">
                <a:solidFill>
                  <a:srgbClr val="006600"/>
                </a:solidFill>
                <a:latin typeface="Arial" panose="020B0604020202020204" pitchFamily="34" charset="0"/>
                <a:ea typeface="黑体" panose="02010609060101010101" pitchFamily="49" charset="-122"/>
              </a:rPr>
              <a:t>RegDst</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RegWr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ALUctr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ExtOp</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ALUSrc</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MemtoReg</a:t>
            </a:r>
            <a:r>
              <a:rPr lang="en-US" altLang="zh-CN" sz="1800">
                <a:solidFill>
                  <a:srgbClr val="006600"/>
                </a:solidFill>
                <a:latin typeface="Arial" panose="020B0604020202020204" pitchFamily="34" charset="0"/>
                <a:ea typeface="黑体" panose="02010609060101010101" pitchFamily="49" charset="-122"/>
              </a:rPr>
              <a:t>, Branch</a:t>
            </a:r>
            <a:r>
              <a:rPr lang="zh-CN" altLang="en-US" sz="1800" dirty="0">
                <a:solidFill>
                  <a:srgbClr val="006600"/>
                </a:solidFill>
                <a:latin typeface="Arial" panose="020B0604020202020204" pitchFamily="34" charset="0"/>
                <a:ea typeface="黑体" panose="02010609060101010101" pitchFamily="49" charset="-122"/>
              </a:rPr>
              <a:t> 各取何值？</a:t>
            </a:r>
            <a:endParaRPr lang="zh-CN" altLang="en-US" sz="1800" dirty="0">
              <a:solidFill>
                <a:srgbClr val="006600"/>
              </a:solidFill>
              <a:latin typeface="Arial" panose="020B0604020202020204" pitchFamily="34" charset="0"/>
              <a:ea typeface="黑体" panose="02010609060101010101" pitchFamily="49" charset="-122"/>
            </a:endParaRPr>
          </a:p>
        </p:txBody>
      </p:sp>
      <p:grpSp>
        <p:nvGrpSpPr>
          <p:cNvPr id="81008" name="组合 223366"/>
          <p:cNvGrpSpPr/>
          <p:nvPr/>
        </p:nvGrpSpPr>
        <p:grpSpPr>
          <a:xfrm>
            <a:off x="1565275" y="2281238"/>
            <a:ext cx="804863" cy="352425"/>
            <a:chOff x="1625" y="1752"/>
            <a:chExt cx="507" cy="222"/>
          </a:xfrm>
        </p:grpSpPr>
        <p:sp>
          <p:nvSpPr>
            <p:cNvPr id="81009" name="文本框 223367"/>
            <p:cNvSpPr txBox="1"/>
            <p:nvPr/>
          </p:nvSpPr>
          <p:spPr>
            <a:xfrm>
              <a:off x="1625" y="1752"/>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81010" name="文本框 223368"/>
            <p:cNvSpPr txBox="1"/>
            <p:nvPr/>
          </p:nvSpPr>
          <p:spPr>
            <a:xfrm>
              <a:off x="2004" y="1762"/>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81011" name="组合 223369"/>
          <p:cNvGrpSpPr/>
          <p:nvPr/>
        </p:nvGrpSpPr>
        <p:grpSpPr>
          <a:xfrm>
            <a:off x="4068763" y="4065588"/>
            <a:ext cx="225425" cy="992187"/>
            <a:chOff x="3075" y="2821"/>
            <a:chExt cx="142" cy="625"/>
          </a:xfrm>
        </p:grpSpPr>
        <p:sp>
          <p:nvSpPr>
            <p:cNvPr id="81012" name="文本框 223370"/>
            <p:cNvSpPr txBox="1"/>
            <p:nvPr/>
          </p:nvSpPr>
          <p:spPr>
            <a:xfrm>
              <a:off x="3089" y="2821"/>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81013" name="文本框 223371"/>
            <p:cNvSpPr txBox="1"/>
            <p:nvPr/>
          </p:nvSpPr>
          <p:spPr>
            <a:xfrm>
              <a:off x="3075" y="3234"/>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81014" name="组合 223373"/>
          <p:cNvGrpSpPr/>
          <p:nvPr/>
        </p:nvGrpSpPr>
        <p:grpSpPr>
          <a:xfrm>
            <a:off x="1506538" y="984250"/>
            <a:ext cx="5999162" cy="989013"/>
            <a:chOff x="1918" y="1392"/>
            <a:chExt cx="3763" cy="607"/>
          </a:xfrm>
        </p:grpSpPr>
        <p:sp>
          <p:nvSpPr>
            <p:cNvPr id="81015" name="矩形 223374"/>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81016" name="组合 223375"/>
            <p:cNvGrpSpPr/>
            <p:nvPr/>
          </p:nvGrpSpPr>
          <p:grpSpPr>
            <a:xfrm>
              <a:off x="1979" y="1584"/>
              <a:ext cx="624" cy="223"/>
              <a:chOff x="1979" y="1584"/>
              <a:chExt cx="624" cy="223"/>
            </a:xfrm>
          </p:grpSpPr>
          <p:sp>
            <p:nvSpPr>
              <p:cNvPr id="81017" name="矩形 223376"/>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1018" name="矩形 223377"/>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81019" name="组合 223378"/>
            <p:cNvGrpSpPr/>
            <p:nvPr/>
          </p:nvGrpSpPr>
          <p:grpSpPr>
            <a:xfrm>
              <a:off x="2611" y="1584"/>
              <a:ext cx="580" cy="223"/>
              <a:chOff x="2611" y="1584"/>
              <a:chExt cx="580" cy="223"/>
            </a:xfrm>
          </p:grpSpPr>
          <p:sp>
            <p:nvSpPr>
              <p:cNvPr id="81020" name="矩形 223379"/>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1021" name="矩形 223380"/>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81022" name="组合 223381"/>
            <p:cNvGrpSpPr/>
            <p:nvPr/>
          </p:nvGrpSpPr>
          <p:grpSpPr>
            <a:xfrm>
              <a:off x="3199" y="1584"/>
              <a:ext cx="579" cy="223"/>
              <a:chOff x="3199" y="1584"/>
              <a:chExt cx="579" cy="223"/>
            </a:xfrm>
          </p:grpSpPr>
          <p:sp>
            <p:nvSpPr>
              <p:cNvPr id="81023" name="矩形 223382"/>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1024" name="矩形 223383"/>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81025" name="矩形 223384"/>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1026" name="矩形 223385"/>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81027" name="矩形 223386"/>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81028" name="矩形 223387"/>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1029" name="矩形 223388"/>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81030" name="矩形 223389"/>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81031" name="矩形 223390"/>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81032" name="矩形 223391"/>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1033" name="矩形 223392"/>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1034" name="矩形 223393"/>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1035" name="矩形 223394"/>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23335"/>
                                        </p:tgtEl>
                                        <p:attrNameLst>
                                          <p:attrName>style.visibility</p:attrName>
                                        </p:attrNameLst>
                                      </p:cBhvr>
                                      <p:to>
                                        <p:strVal val="visible"/>
                                      </p:to>
                                    </p:set>
                                    <p:animEffect transition="in" filter="checkerboard(across)">
                                      <p:cBhvr>
                                        <p:cTn id="7" dur="500"/>
                                        <p:tgtEl>
                                          <p:spTgt spid="22333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3362"/>
                                        </p:tgtEl>
                                        <p:attrNameLst>
                                          <p:attrName>style.visibility</p:attrName>
                                        </p:attrNameLst>
                                      </p:cBhvr>
                                      <p:to>
                                        <p:strVal val="visible"/>
                                      </p:to>
                                    </p:set>
                                    <p:animEffect transition="in" filter="checkerboard(across)">
                                      <p:cBhvr>
                                        <p:cTn id="12" dur="500"/>
                                        <p:tgtEl>
                                          <p:spTgt spid="22336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3365"/>
                                        </p:tgtEl>
                                        <p:attrNameLst>
                                          <p:attrName>style.visibility</p:attrName>
                                        </p:attrNameLst>
                                      </p:cBhvr>
                                      <p:to>
                                        <p:strVal val="visible"/>
                                      </p:to>
                                    </p:set>
                                    <p:animEffect transition="in" filter="blinds(horizontal)">
                                      <p:cBhvr>
                                        <p:cTn id="17" dur="500"/>
                                        <p:tgtEl>
                                          <p:spTgt spid="223365"/>
                                        </p:tgtEl>
                                      </p:cBhvr>
                                    </p:animEffect>
                                  </p:childTnLst>
                                  <p:subTnLst>
                                    <p:set>
                                      <p:cBhvr override="childStyle">
                                        <p:cTn dur="1" fill="hold" display="0" masterRel="nextClick" afterEffect="1"/>
                                        <p:tgtEl>
                                          <p:spTgt spid="22336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36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223233"/>
          <p:cNvSpPr>
            <a:spLocks noGrp="1"/>
          </p:cNvSpPr>
          <p:nvPr>
            <p:ph type="title"/>
          </p:nvPr>
        </p:nvSpPr>
        <p:spPr>
          <a:xfrm>
            <a:off x="444500" y="203200"/>
            <a:ext cx="6305550" cy="422275"/>
          </a:xfrm>
        </p:spPr>
        <p:txBody>
          <a:bodyPr vert="horz" wrap="square" lIns="63500" tIns="25400" rIns="63500" bIns="25400" anchor="t" anchorCtr="0">
            <a:spAutoFit/>
          </a:bodyPr>
          <a:p>
            <a:r>
              <a:rPr lang="zh-CN" altLang="en-US" dirty="0">
                <a:ea typeface="宋体" panose="02010600030101010101" pitchFamily="2" charset="-122"/>
              </a:rPr>
              <a:t>条件转移指令的数据通路</a:t>
            </a:r>
            <a:endParaRPr lang="zh-CN" altLang="en-US" dirty="0">
              <a:ea typeface="宋体" panose="02010600030101010101" pitchFamily="2" charset="-122"/>
            </a:endParaRPr>
          </a:p>
        </p:txBody>
      </p:sp>
      <p:sp>
        <p:nvSpPr>
          <p:cNvPr id="80898" name="文本占位符 223234"/>
          <p:cNvSpPr>
            <a:spLocks noGrp="1"/>
          </p:cNvSpPr>
          <p:nvPr>
            <p:ph idx="1"/>
          </p:nvPr>
        </p:nvSpPr>
        <p:spPr>
          <a:xfrm>
            <a:off x="433388" y="677863"/>
            <a:ext cx="8191500" cy="325437"/>
          </a:xfrm>
        </p:spPr>
        <p:txBody>
          <a:bodyPr vert="horz" wrap="square" lIns="63500" tIns="25400" rIns="63500" bIns="25400" anchor="t" anchorCtr="0">
            <a:spAutoFit/>
          </a:bodyPr>
          <a:p>
            <a:r>
              <a:rPr lang="en-US" altLang="zh-CN" dirty="0" err="1">
                <a:ea typeface="宋体" panose="02010600030101010101" pitchFamily="2" charset="-122"/>
              </a:rPr>
              <a:t>beq</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imm16		We need to compare </a:t>
            </a:r>
            <a:r>
              <a:rPr lang="en-US" altLang="zh-CN" dirty="0" err="1">
                <a:ea typeface="宋体" panose="02010600030101010101" pitchFamily="2" charset="-122"/>
              </a:rPr>
              <a:t>Rs</a:t>
            </a:r>
            <a:r>
              <a:rPr lang="en-US" altLang="zh-CN">
                <a:ea typeface="宋体" panose="02010600030101010101" pitchFamily="2" charset="-122"/>
              </a:rPr>
              <a:t> and </a:t>
            </a:r>
            <a:r>
              <a:rPr lang="en-US" altLang="zh-CN" dirty="0" err="1">
                <a:ea typeface="宋体" panose="02010600030101010101" pitchFamily="2" charset="-122"/>
              </a:rPr>
              <a:t>Rt</a:t>
            </a:r>
            <a:r>
              <a:rPr lang="en-US" altLang="zh-CN">
                <a:ea typeface="宋体" panose="02010600030101010101" pitchFamily="2" charset="-122"/>
              </a:rPr>
              <a:t> !</a:t>
            </a:r>
            <a:endParaRPr lang="en-US" altLang="zh-CN">
              <a:ea typeface="宋体" panose="02010600030101010101" pitchFamily="2" charset="-122"/>
            </a:endParaRPr>
          </a:p>
        </p:txBody>
      </p:sp>
      <p:sp>
        <p:nvSpPr>
          <p:cNvPr id="80899" name="直接连接符 223257"/>
          <p:cNvSpPr/>
          <p:nvPr/>
        </p:nvSpPr>
        <p:spPr>
          <a:xfrm>
            <a:off x="4972050" y="3268663"/>
            <a:ext cx="0" cy="292100"/>
          </a:xfrm>
          <a:prstGeom prst="line">
            <a:avLst/>
          </a:prstGeom>
          <a:ln w="25400" cap="flat" cmpd="sng">
            <a:solidFill>
              <a:schemeClr val="tx1"/>
            </a:solidFill>
            <a:prstDash val="solid"/>
            <a:round/>
            <a:headEnd type="none" w="med" len="med"/>
            <a:tailEnd type="none" w="med" len="med"/>
          </a:ln>
        </p:spPr>
      </p:sp>
      <p:sp>
        <p:nvSpPr>
          <p:cNvPr id="80900" name="直接连接符 223258"/>
          <p:cNvSpPr/>
          <p:nvPr/>
        </p:nvSpPr>
        <p:spPr>
          <a:xfrm>
            <a:off x="4984750" y="3268663"/>
            <a:ext cx="446088" cy="293687"/>
          </a:xfrm>
          <a:prstGeom prst="line">
            <a:avLst/>
          </a:prstGeom>
          <a:ln w="25400" cap="flat" cmpd="sng">
            <a:solidFill>
              <a:schemeClr val="tx1"/>
            </a:solidFill>
            <a:prstDash val="solid"/>
            <a:round/>
            <a:headEnd type="none" w="med" len="med"/>
            <a:tailEnd type="none" w="med" len="med"/>
          </a:ln>
        </p:spPr>
      </p:sp>
      <p:sp>
        <p:nvSpPr>
          <p:cNvPr id="80901" name="直接连接符 223259"/>
          <p:cNvSpPr/>
          <p:nvPr/>
        </p:nvSpPr>
        <p:spPr>
          <a:xfrm>
            <a:off x="4984750" y="3557588"/>
            <a:ext cx="203200" cy="120650"/>
          </a:xfrm>
          <a:prstGeom prst="line">
            <a:avLst/>
          </a:prstGeom>
          <a:ln w="25400" cap="flat" cmpd="sng">
            <a:solidFill>
              <a:schemeClr val="tx1"/>
            </a:solidFill>
            <a:prstDash val="solid"/>
            <a:round/>
            <a:headEnd type="none" w="med" len="med"/>
            <a:tailEnd type="none" w="med" len="med"/>
          </a:ln>
        </p:spPr>
      </p:sp>
      <p:sp>
        <p:nvSpPr>
          <p:cNvPr id="80902" name="直接连接符 223260"/>
          <p:cNvSpPr/>
          <p:nvPr/>
        </p:nvSpPr>
        <p:spPr>
          <a:xfrm>
            <a:off x="5200650" y="3703638"/>
            <a:ext cx="0" cy="263525"/>
          </a:xfrm>
          <a:prstGeom prst="line">
            <a:avLst/>
          </a:prstGeom>
          <a:ln w="25400" cap="flat" cmpd="sng">
            <a:solidFill>
              <a:schemeClr val="tx1"/>
            </a:solidFill>
            <a:prstDash val="solid"/>
            <a:round/>
            <a:headEnd type="none" w="med" len="med"/>
            <a:tailEnd type="none" w="med" len="med"/>
          </a:ln>
        </p:spPr>
      </p:sp>
      <p:sp>
        <p:nvSpPr>
          <p:cNvPr id="80903" name="直接连接符 223261"/>
          <p:cNvSpPr/>
          <p:nvPr/>
        </p:nvSpPr>
        <p:spPr>
          <a:xfrm>
            <a:off x="5429250" y="3557588"/>
            <a:ext cx="0" cy="554037"/>
          </a:xfrm>
          <a:prstGeom prst="line">
            <a:avLst/>
          </a:prstGeom>
          <a:ln w="25400" cap="flat" cmpd="sng">
            <a:solidFill>
              <a:schemeClr val="tx1"/>
            </a:solidFill>
            <a:prstDash val="solid"/>
            <a:round/>
            <a:headEnd type="none" w="med" len="med"/>
            <a:tailEnd type="none" w="med" len="med"/>
          </a:ln>
        </p:spPr>
      </p:sp>
      <p:sp>
        <p:nvSpPr>
          <p:cNvPr id="80904" name="直接连接符 223262"/>
          <p:cNvSpPr/>
          <p:nvPr/>
        </p:nvSpPr>
        <p:spPr>
          <a:xfrm flipV="1">
            <a:off x="4984750" y="3967163"/>
            <a:ext cx="203200" cy="169862"/>
          </a:xfrm>
          <a:prstGeom prst="line">
            <a:avLst/>
          </a:prstGeom>
          <a:ln w="25400" cap="flat" cmpd="sng">
            <a:solidFill>
              <a:schemeClr val="tx1"/>
            </a:solidFill>
            <a:prstDash val="solid"/>
            <a:round/>
            <a:headEnd type="none" w="med" len="med"/>
            <a:tailEnd type="none" w="med" len="med"/>
          </a:ln>
        </p:spPr>
      </p:sp>
      <p:sp>
        <p:nvSpPr>
          <p:cNvPr id="80905" name="直接连接符 223263"/>
          <p:cNvSpPr/>
          <p:nvPr/>
        </p:nvSpPr>
        <p:spPr>
          <a:xfrm>
            <a:off x="4972050" y="4137025"/>
            <a:ext cx="0" cy="263525"/>
          </a:xfrm>
          <a:prstGeom prst="line">
            <a:avLst/>
          </a:prstGeom>
          <a:ln w="25400" cap="flat" cmpd="sng">
            <a:solidFill>
              <a:schemeClr val="tx1"/>
            </a:solidFill>
            <a:prstDash val="solid"/>
            <a:round/>
            <a:headEnd type="none" w="med" len="med"/>
            <a:tailEnd type="none" w="med" len="med"/>
          </a:ln>
        </p:spPr>
      </p:sp>
      <p:sp>
        <p:nvSpPr>
          <p:cNvPr id="80906" name="直接连接符 223264"/>
          <p:cNvSpPr/>
          <p:nvPr/>
        </p:nvSpPr>
        <p:spPr>
          <a:xfrm flipV="1">
            <a:off x="4984750" y="4111625"/>
            <a:ext cx="446088" cy="314325"/>
          </a:xfrm>
          <a:prstGeom prst="line">
            <a:avLst/>
          </a:prstGeom>
          <a:ln w="25400" cap="flat" cmpd="sng">
            <a:solidFill>
              <a:schemeClr val="tx1"/>
            </a:solidFill>
            <a:prstDash val="solid"/>
            <a:round/>
            <a:headEnd type="none" w="med" len="med"/>
            <a:tailEnd type="none" w="med" len="med"/>
          </a:ln>
        </p:spPr>
      </p:sp>
      <p:sp>
        <p:nvSpPr>
          <p:cNvPr id="80907" name="直接连接符 223265"/>
          <p:cNvSpPr/>
          <p:nvPr/>
        </p:nvSpPr>
        <p:spPr>
          <a:xfrm>
            <a:off x="5200650" y="2979738"/>
            <a:ext cx="0" cy="407987"/>
          </a:xfrm>
          <a:prstGeom prst="line">
            <a:avLst/>
          </a:prstGeom>
          <a:ln w="25400" cap="flat" cmpd="sng">
            <a:solidFill>
              <a:schemeClr val="tx1"/>
            </a:solidFill>
            <a:prstDash val="solid"/>
            <a:round/>
            <a:headEnd type="none" w="med" len="med"/>
            <a:tailEnd type="triangle" w="med" len="med"/>
          </a:ln>
        </p:spPr>
      </p:sp>
      <p:sp>
        <p:nvSpPr>
          <p:cNvPr id="80908" name="矩形 223266"/>
          <p:cNvSpPr/>
          <p:nvPr/>
        </p:nvSpPr>
        <p:spPr>
          <a:xfrm>
            <a:off x="4364038" y="2674938"/>
            <a:ext cx="1058862" cy="363537"/>
          </a:xfrm>
          <a:prstGeom prst="rect">
            <a:avLst/>
          </a:prstGeom>
          <a:noFill/>
          <a:ln w="12700">
            <a:noFill/>
          </a:ln>
        </p:spPr>
        <p:txBody>
          <a:bodyPr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09" name="矩形 223267"/>
          <p:cNvSpPr/>
          <p:nvPr/>
        </p:nvSpPr>
        <p:spPr>
          <a:xfrm>
            <a:off x="522288" y="3986213"/>
            <a:ext cx="5365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80910" name="矩形 223268"/>
          <p:cNvSpPr/>
          <p:nvPr/>
        </p:nvSpPr>
        <p:spPr>
          <a:xfrm>
            <a:off x="614363" y="3398838"/>
            <a:ext cx="803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80911" name="矩形 223269"/>
          <p:cNvSpPr/>
          <p:nvPr/>
        </p:nvSpPr>
        <p:spPr>
          <a:xfrm>
            <a:off x="1698625" y="3268663"/>
            <a:ext cx="1431925" cy="1150937"/>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0912" name="直接连接符 223270"/>
          <p:cNvSpPr/>
          <p:nvPr/>
        </p:nvSpPr>
        <p:spPr>
          <a:xfrm>
            <a:off x="1677988" y="4191000"/>
            <a:ext cx="309562" cy="65088"/>
          </a:xfrm>
          <a:prstGeom prst="line">
            <a:avLst/>
          </a:prstGeom>
          <a:ln w="25400" cap="flat" cmpd="sng">
            <a:solidFill>
              <a:schemeClr val="tx1"/>
            </a:solidFill>
            <a:prstDash val="solid"/>
            <a:round/>
            <a:headEnd type="none" w="med" len="med"/>
            <a:tailEnd type="none" w="med" len="med"/>
          </a:ln>
        </p:spPr>
      </p:sp>
      <p:sp>
        <p:nvSpPr>
          <p:cNvPr id="80913" name="直接连接符 223271"/>
          <p:cNvSpPr/>
          <p:nvPr/>
        </p:nvSpPr>
        <p:spPr>
          <a:xfrm flipH="1">
            <a:off x="1697038" y="4267200"/>
            <a:ext cx="301625" cy="101600"/>
          </a:xfrm>
          <a:prstGeom prst="line">
            <a:avLst/>
          </a:prstGeom>
          <a:ln w="25400" cap="flat" cmpd="sng">
            <a:solidFill>
              <a:schemeClr val="tx1"/>
            </a:solidFill>
            <a:prstDash val="solid"/>
            <a:round/>
            <a:headEnd type="none" w="med" len="med"/>
            <a:tailEnd type="none" w="med" len="med"/>
          </a:ln>
        </p:spPr>
      </p:sp>
      <p:sp>
        <p:nvSpPr>
          <p:cNvPr id="80914" name="椭圆 223272"/>
          <p:cNvSpPr/>
          <p:nvPr/>
        </p:nvSpPr>
        <p:spPr>
          <a:xfrm>
            <a:off x="1546225" y="4227513"/>
            <a:ext cx="127000" cy="119062"/>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80915" name="矩形 223273"/>
          <p:cNvSpPr/>
          <p:nvPr/>
        </p:nvSpPr>
        <p:spPr>
          <a:xfrm>
            <a:off x="1146175" y="2746375"/>
            <a:ext cx="9175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16" name="直接连接符 223274"/>
          <p:cNvSpPr/>
          <p:nvPr/>
        </p:nvSpPr>
        <p:spPr>
          <a:xfrm flipH="1">
            <a:off x="692150" y="3762375"/>
            <a:ext cx="1016000" cy="0"/>
          </a:xfrm>
          <a:prstGeom prst="line">
            <a:avLst/>
          </a:prstGeom>
          <a:ln w="25400" cap="flat" cmpd="sng">
            <a:solidFill>
              <a:schemeClr val="tx1"/>
            </a:solidFill>
            <a:prstDash val="solid"/>
            <a:round/>
            <a:headEnd type="triangle" w="med" len="med"/>
            <a:tailEnd type="none" w="med" len="med"/>
          </a:ln>
        </p:spPr>
      </p:sp>
      <p:sp>
        <p:nvSpPr>
          <p:cNvPr id="80917" name="直接连接符 223275"/>
          <p:cNvSpPr/>
          <p:nvPr/>
        </p:nvSpPr>
        <p:spPr>
          <a:xfrm flipH="1">
            <a:off x="1231900" y="3697288"/>
            <a:ext cx="88900" cy="131762"/>
          </a:xfrm>
          <a:prstGeom prst="line">
            <a:avLst/>
          </a:prstGeom>
          <a:ln w="12700" cap="flat" cmpd="sng">
            <a:solidFill>
              <a:schemeClr val="tx1"/>
            </a:solidFill>
            <a:prstDash val="solid"/>
            <a:round/>
            <a:headEnd type="none" w="med" len="med"/>
            <a:tailEnd type="none" w="med" len="med"/>
          </a:ln>
        </p:spPr>
      </p:sp>
      <p:sp>
        <p:nvSpPr>
          <p:cNvPr id="80918" name="矩形 223276"/>
          <p:cNvSpPr/>
          <p:nvPr/>
        </p:nvSpPr>
        <p:spPr>
          <a:xfrm>
            <a:off x="995363" y="3786188"/>
            <a:ext cx="498475" cy="363537"/>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0919" name="直接连接符 223277"/>
          <p:cNvSpPr/>
          <p:nvPr/>
        </p:nvSpPr>
        <p:spPr>
          <a:xfrm>
            <a:off x="3155950" y="3400425"/>
            <a:ext cx="1803400" cy="0"/>
          </a:xfrm>
          <a:prstGeom prst="line">
            <a:avLst/>
          </a:prstGeom>
          <a:ln w="25400" cap="flat" cmpd="sng">
            <a:solidFill>
              <a:schemeClr val="tx1"/>
            </a:solidFill>
            <a:prstDash val="solid"/>
            <a:round/>
            <a:headEnd type="none" w="med" len="med"/>
            <a:tailEnd type="triangle" w="med" len="med"/>
          </a:ln>
        </p:spPr>
      </p:sp>
      <p:sp>
        <p:nvSpPr>
          <p:cNvPr id="80920" name="直接连接符 223278"/>
          <p:cNvSpPr/>
          <p:nvPr/>
        </p:nvSpPr>
        <p:spPr>
          <a:xfrm flipH="1">
            <a:off x="4127500" y="3335338"/>
            <a:ext cx="88900" cy="131762"/>
          </a:xfrm>
          <a:prstGeom prst="line">
            <a:avLst/>
          </a:prstGeom>
          <a:ln w="12700" cap="flat" cmpd="sng">
            <a:solidFill>
              <a:schemeClr val="tx1"/>
            </a:solidFill>
            <a:prstDash val="solid"/>
            <a:round/>
            <a:headEnd type="none" w="med" len="med"/>
            <a:tailEnd type="none" w="med" len="med"/>
          </a:ln>
        </p:spPr>
      </p:sp>
      <p:sp>
        <p:nvSpPr>
          <p:cNvPr id="80921" name="矩形 223279"/>
          <p:cNvSpPr/>
          <p:nvPr/>
        </p:nvSpPr>
        <p:spPr>
          <a:xfrm>
            <a:off x="3814763" y="34702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0922" name="矩形 223280"/>
          <p:cNvSpPr/>
          <p:nvPr/>
        </p:nvSpPr>
        <p:spPr>
          <a:xfrm>
            <a:off x="3509963" y="3109913"/>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80923" name="直接连接符 223281"/>
          <p:cNvSpPr/>
          <p:nvPr/>
        </p:nvSpPr>
        <p:spPr>
          <a:xfrm flipV="1">
            <a:off x="1847850" y="3025775"/>
            <a:ext cx="0" cy="242888"/>
          </a:xfrm>
          <a:prstGeom prst="line">
            <a:avLst/>
          </a:prstGeom>
          <a:ln w="25400" cap="flat" cmpd="sng">
            <a:solidFill>
              <a:schemeClr val="tx1"/>
            </a:solidFill>
            <a:prstDash val="solid"/>
            <a:round/>
            <a:headEnd type="none" w="med" len="med"/>
            <a:tailEnd type="none" w="med" len="med"/>
          </a:ln>
        </p:spPr>
      </p:sp>
      <p:sp>
        <p:nvSpPr>
          <p:cNvPr id="80924" name="直接连接符 223282"/>
          <p:cNvSpPr/>
          <p:nvPr/>
        </p:nvSpPr>
        <p:spPr>
          <a:xfrm>
            <a:off x="3155950" y="4268788"/>
            <a:ext cx="965200" cy="0"/>
          </a:xfrm>
          <a:prstGeom prst="line">
            <a:avLst/>
          </a:prstGeom>
          <a:ln w="25400" cap="flat" cmpd="sng">
            <a:solidFill>
              <a:schemeClr val="tx1"/>
            </a:solidFill>
            <a:prstDash val="solid"/>
            <a:round/>
            <a:headEnd type="none" w="med" len="med"/>
            <a:tailEnd type="triangle" w="med" len="med"/>
          </a:ln>
        </p:spPr>
      </p:sp>
      <p:sp>
        <p:nvSpPr>
          <p:cNvPr id="80925" name="直接连接符 223283"/>
          <p:cNvSpPr/>
          <p:nvPr/>
        </p:nvSpPr>
        <p:spPr>
          <a:xfrm flipH="1">
            <a:off x="3670300" y="4203700"/>
            <a:ext cx="88900" cy="131763"/>
          </a:xfrm>
          <a:prstGeom prst="line">
            <a:avLst/>
          </a:prstGeom>
          <a:ln w="12700" cap="flat" cmpd="sng">
            <a:solidFill>
              <a:schemeClr val="tx1"/>
            </a:solidFill>
            <a:prstDash val="solid"/>
            <a:round/>
            <a:headEnd type="none" w="med" len="med"/>
            <a:tailEnd type="none" w="med" len="med"/>
          </a:ln>
        </p:spPr>
      </p:sp>
      <p:sp>
        <p:nvSpPr>
          <p:cNvPr id="80926" name="矩形 223284"/>
          <p:cNvSpPr/>
          <p:nvPr/>
        </p:nvSpPr>
        <p:spPr>
          <a:xfrm>
            <a:off x="3357563" y="426720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0927" name="矩形 223285"/>
          <p:cNvSpPr/>
          <p:nvPr/>
        </p:nvSpPr>
        <p:spPr>
          <a:xfrm>
            <a:off x="3128963" y="3976688"/>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80928" name="直接连接符 223286"/>
          <p:cNvSpPr/>
          <p:nvPr/>
        </p:nvSpPr>
        <p:spPr>
          <a:xfrm flipH="1">
            <a:off x="1060450" y="4268788"/>
            <a:ext cx="482600" cy="0"/>
          </a:xfrm>
          <a:prstGeom prst="line">
            <a:avLst/>
          </a:prstGeom>
          <a:ln w="25400" cap="flat" cmpd="sng">
            <a:solidFill>
              <a:schemeClr val="tx1"/>
            </a:solidFill>
            <a:prstDash val="solid"/>
            <a:round/>
            <a:headEnd type="none" w="med" len="med"/>
            <a:tailEnd type="none" w="med" len="med"/>
          </a:ln>
        </p:spPr>
      </p:sp>
      <p:sp>
        <p:nvSpPr>
          <p:cNvPr id="80929" name="直接连接符 223287"/>
          <p:cNvSpPr/>
          <p:nvPr/>
        </p:nvSpPr>
        <p:spPr>
          <a:xfrm>
            <a:off x="2152650" y="2617788"/>
            <a:ext cx="0" cy="625475"/>
          </a:xfrm>
          <a:prstGeom prst="line">
            <a:avLst/>
          </a:prstGeom>
          <a:ln w="25400" cap="flat" cmpd="sng">
            <a:solidFill>
              <a:schemeClr val="tx1"/>
            </a:solidFill>
            <a:prstDash val="solid"/>
            <a:round/>
            <a:headEnd type="none" w="med" len="med"/>
            <a:tailEnd type="none" w="med" len="med"/>
          </a:ln>
        </p:spPr>
      </p:sp>
      <p:sp>
        <p:nvSpPr>
          <p:cNvPr id="80930" name="直接连接符 223288"/>
          <p:cNvSpPr/>
          <p:nvPr/>
        </p:nvSpPr>
        <p:spPr>
          <a:xfrm flipV="1">
            <a:off x="2082800" y="2960688"/>
            <a:ext cx="139700" cy="157162"/>
          </a:xfrm>
          <a:prstGeom prst="line">
            <a:avLst/>
          </a:prstGeom>
          <a:ln w="12700" cap="flat" cmpd="sng">
            <a:solidFill>
              <a:schemeClr val="tx1"/>
            </a:solidFill>
            <a:prstDash val="solid"/>
            <a:round/>
            <a:headEnd type="none" w="med" len="med"/>
            <a:tailEnd type="none" w="med" len="med"/>
          </a:ln>
        </p:spPr>
      </p:sp>
      <p:sp>
        <p:nvSpPr>
          <p:cNvPr id="80931" name="矩形 223289"/>
          <p:cNvSpPr/>
          <p:nvPr/>
        </p:nvSpPr>
        <p:spPr>
          <a:xfrm>
            <a:off x="1909763" y="281940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80932" name="直接连接符 223290"/>
          <p:cNvSpPr/>
          <p:nvPr/>
        </p:nvSpPr>
        <p:spPr>
          <a:xfrm>
            <a:off x="2533650" y="2835275"/>
            <a:ext cx="0" cy="407988"/>
          </a:xfrm>
          <a:prstGeom prst="line">
            <a:avLst/>
          </a:prstGeom>
          <a:ln w="25400" cap="flat" cmpd="sng">
            <a:solidFill>
              <a:schemeClr val="tx1"/>
            </a:solidFill>
            <a:prstDash val="solid"/>
            <a:round/>
            <a:headEnd type="none" w="med" len="med"/>
            <a:tailEnd type="none" w="med" len="med"/>
          </a:ln>
        </p:spPr>
      </p:sp>
      <p:sp>
        <p:nvSpPr>
          <p:cNvPr id="80933" name="直接连接符 223291"/>
          <p:cNvSpPr/>
          <p:nvPr/>
        </p:nvSpPr>
        <p:spPr>
          <a:xfrm flipV="1">
            <a:off x="2463800" y="2960688"/>
            <a:ext cx="139700" cy="157162"/>
          </a:xfrm>
          <a:prstGeom prst="line">
            <a:avLst/>
          </a:prstGeom>
          <a:ln w="12700" cap="flat" cmpd="sng">
            <a:solidFill>
              <a:schemeClr val="tx1"/>
            </a:solidFill>
            <a:prstDash val="solid"/>
            <a:round/>
            <a:headEnd type="none" w="med" len="med"/>
            <a:tailEnd type="none" w="med" len="med"/>
          </a:ln>
        </p:spPr>
      </p:sp>
      <p:sp>
        <p:nvSpPr>
          <p:cNvPr id="80934" name="矩形 223292"/>
          <p:cNvSpPr/>
          <p:nvPr/>
        </p:nvSpPr>
        <p:spPr>
          <a:xfrm>
            <a:off x="2290763" y="281940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80935" name="直接连接符 223293"/>
          <p:cNvSpPr/>
          <p:nvPr/>
        </p:nvSpPr>
        <p:spPr>
          <a:xfrm>
            <a:off x="2990850" y="2835275"/>
            <a:ext cx="0" cy="407988"/>
          </a:xfrm>
          <a:prstGeom prst="line">
            <a:avLst/>
          </a:prstGeom>
          <a:ln w="25400" cap="flat" cmpd="sng">
            <a:solidFill>
              <a:schemeClr val="tx1"/>
            </a:solidFill>
            <a:prstDash val="solid"/>
            <a:round/>
            <a:headEnd type="none" w="med" len="med"/>
            <a:tailEnd type="none" w="med" len="med"/>
          </a:ln>
        </p:spPr>
      </p:sp>
      <p:sp>
        <p:nvSpPr>
          <p:cNvPr id="80936" name="直接连接符 223294"/>
          <p:cNvSpPr/>
          <p:nvPr/>
        </p:nvSpPr>
        <p:spPr>
          <a:xfrm flipV="1">
            <a:off x="2921000" y="2960688"/>
            <a:ext cx="139700" cy="157162"/>
          </a:xfrm>
          <a:prstGeom prst="line">
            <a:avLst/>
          </a:prstGeom>
          <a:ln w="12700" cap="flat" cmpd="sng">
            <a:solidFill>
              <a:schemeClr val="tx1"/>
            </a:solidFill>
            <a:prstDash val="solid"/>
            <a:round/>
            <a:headEnd type="none" w="med" len="med"/>
            <a:tailEnd type="none" w="med" len="med"/>
          </a:ln>
        </p:spPr>
      </p:sp>
      <p:sp>
        <p:nvSpPr>
          <p:cNvPr id="80937" name="矩形 223295"/>
          <p:cNvSpPr/>
          <p:nvPr/>
        </p:nvSpPr>
        <p:spPr>
          <a:xfrm>
            <a:off x="2747963" y="281940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80938" name="矩形 223296"/>
          <p:cNvSpPr/>
          <p:nvPr/>
        </p:nvSpPr>
        <p:spPr>
          <a:xfrm>
            <a:off x="1909763" y="3254375"/>
            <a:ext cx="5238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80939" name="矩形 223297"/>
          <p:cNvSpPr/>
          <p:nvPr/>
        </p:nvSpPr>
        <p:spPr>
          <a:xfrm>
            <a:off x="2366963" y="3254375"/>
            <a:ext cx="4730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80940" name="矩形 223298"/>
          <p:cNvSpPr/>
          <p:nvPr/>
        </p:nvSpPr>
        <p:spPr>
          <a:xfrm>
            <a:off x="2747963" y="3254375"/>
            <a:ext cx="4857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80941" name="矩形 223299"/>
          <p:cNvSpPr/>
          <p:nvPr/>
        </p:nvSpPr>
        <p:spPr>
          <a:xfrm>
            <a:off x="1897063" y="3594100"/>
            <a:ext cx="1222375" cy="63817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80942" name="矩形 223300"/>
          <p:cNvSpPr/>
          <p:nvPr/>
        </p:nvSpPr>
        <p:spPr>
          <a:xfrm>
            <a:off x="2519363" y="2603500"/>
            <a:ext cx="4730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80943" name="矩形 223301"/>
          <p:cNvSpPr/>
          <p:nvPr/>
        </p:nvSpPr>
        <p:spPr>
          <a:xfrm>
            <a:off x="2290763" y="1952625"/>
            <a:ext cx="4222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80944" name="直接连接符 223302"/>
          <p:cNvSpPr/>
          <p:nvPr/>
        </p:nvSpPr>
        <p:spPr>
          <a:xfrm>
            <a:off x="4133850" y="3992563"/>
            <a:ext cx="0" cy="1101725"/>
          </a:xfrm>
          <a:prstGeom prst="line">
            <a:avLst/>
          </a:prstGeom>
          <a:ln w="25400" cap="flat" cmpd="sng">
            <a:solidFill>
              <a:schemeClr val="tx1"/>
            </a:solidFill>
            <a:prstDash val="solid"/>
            <a:round/>
            <a:headEnd type="none" w="med" len="med"/>
            <a:tailEnd type="none" w="med" len="med"/>
          </a:ln>
        </p:spPr>
      </p:sp>
      <p:sp>
        <p:nvSpPr>
          <p:cNvPr id="80945" name="直接连接符 223303"/>
          <p:cNvSpPr/>
          <p:nvPr/>
        </p:nvSpPr>
        <p:spPr>
          <a:xfrm>
            <a:off x="4146550" y="3992563"/>
            <a:ext cx="279400" cy="119062"/>
          </a:xfrm>
          <a:prstGeom prst="line">
            <a:avLst/>
          </a:prstGeom>
          <a:ln w="25400" cap="flat" cmpd="sng">
            <a:solidFill>
              <a:schemeClr val="tx1"/>
            </a:solidFill>
            <a:prstDash val="solid"/>
            <a:round/>
            <a:headEnd type="none" w="med" len="med"/>
            <a:tailEnd type="none" w="med" len="med"/>
          </a:ln>
        </p:spPr>
      </p:sp>
      <p:sp>
        <p:nvSpPr>
          <p:cNvPr id="80946" name="直接连接符 223304"/>
          <p:cNvSpPr/>
          <p:nvPr/>
        </p:nvSpPr>
        <p:spPr>
          <a:xfrm flipV="1">
            <a:off x="4146550" y="4906963"/>
            <a:ext cx="279400" cy="169862"/>
          </a:xfrm>
          <a:prstGeom prst="line">
            <a:avLst/>
          </a:prstGeom>
          <a:ln w="25400" cap="flat" cmpd="sng">
            <a:solidFill>
              <a:schemeClr val="tx1"/>
            </a:solidFill>
            <a:prstDash val="solid"/>
            <a:round/>
            <a:headEnd type="none" w="med" len="med"/>
            <a:tailEnd type="none" w="med" len="med"/>
          </a:ln>
        </p:spPr>
      </p:sp>
      <p:sp>
        <p:nvSpPr>
          <p:cNvPr id="80947" name="直接连接符 223305"/>
          <p:cNvSpPr/>
          <p:nvPr/>
        </p:nvSpPr>
        <p:spPr>
          <a:xfrm>
            <a:off x="4438650" y="4121150"/>
            <a:ext cx="0" cy="814388"/>
          </a:xfrm>
          <a:prstGeom prst="line">
            <a:avLst/>
          </a:prstGeom>
          <a:ln w="25400" cap="flat" cmpd="sng">
            <a:solidFill>
              <a:schemeClr val="tx1"/>
            </a:solidFill>
            <a:prstDash val="solid"/>
            <a:round/>
            <a:headEnd type="none" w="med" len="med"/>
            <a:tailEnd type="none" w="med" len="med"/>
          </a:ln>
        </p:spPr>
      </p:sp>
      <p:grpSp>
        <p:nvGrpSpPr>
          <p:cNvPr id="80948" name="组合 223306"/>
          <p:cNvGrpSpPr/>
          <p:nvPr/>
        </p:nvGrpSpPr>
        <p:grpSpPr>
          <a:xfrm>
            <a:off x="1416050" y="2352675"/>
            <a:ext cx="1168400" cy="288925"/>
            <a:chOff x="928" y="1788"/>
            <a:chExt cx="736" cy="182"/>
          </a:xfrm>
        </p:grpSpPr>
        <p:sp>
          <p:nvSpPr>
            <p:cNvPr id="80949" name="直接连接符 223307"/>
            <p:cNvSpPr/>
            <p:nvPr/>
          </p:nvSpPr>
          <p:spPr>
            <a:xfrm flipH="1">
              <a:off x="928" y="1788"/>
              <a:ext cx="736" cy="0"/>
            </a:xfrm>
            <a:prstGeom prst="line">
              <a:avLst/>
            </a:prstGeom>
            <a:ln w="25400" cap="flat" cmpd="sng">
              <a:solidFill>
                <a:schemeClr val="tx1"/>
              </a:solidFill>
              <a:prstDash val="solid"/>
              <a:round/>
              <a:headEnd type="none" w="med" len="med"/>
              <a:tailEnd type="none" w="med" len="med"/>
            </a:ln>
          </p:spPr>
        </p:sp>
        <p:sp>
          <p:nvSpPr>
            <p:cNvPr id="80950" name="直接连接符 223308"/>
            <p:cNvSpPr/>
            <p:nvPr/>
          </p:nvSpPr>
          <p:spPr>
            <a:xfrm flipH="1">
              <a:off x="1552" y="1796"/>
              <a:ext cx="112" cy="166"/>
            </a:xfrm>
            <a:prstGeom prst="line">
              <a:avLst/>
            </a:prstGeom>
            <a:ln w="25400" cap="flat" cmpd="sng">
              <a:solidFill>
                <a:schemeClr val="tx1"/>
              </a:solidFill>
              <a:prstDash val="solid"/>
              <a:round/>
              <a:headEnd type="none" w="med" len="med"/>
              <a:tailEnd type="none" w="med" len="med"/>
            </a:ln>
          </p:spPr>
        </p:sp>
        <p:sp>
          <p:nvSpPr>
            <p:cNvPr id="80951" name="直接连接符 223309"/>
            <p:cNvSpPr/>
            <p:nvPr/>
          </p:nvSpPr>
          <p:spPr>
            <a:xfrm>
              <a:off x="944" y="1796"/>
              <a:ext cx="80" cy="166"/>
            </a:xfrm>
            <a:prstGeom prst="line">
              <a:avLst/>
            </a:prstGeom>
            <a:ln w="25400" cap="flat" cmpd="sng">
              <a:solidFill>
                <a:schemeClr val="tx1"/>
              </a:solidFill>
              <a:prstDash val="solid"/>
              <a:round/>
              <a:headEnd type="none" w="med" len="med"/>
              <a:tailEnd type="none" w="med" len="med"/>
            </a:ln>
          </p:spPr>
        </p:sp>
        <p:sp>
          <p:nvSpPr>
            <p:cNvPr id="80952" name="直接连接符 223310"/>
            <p:cNvSpPr/>
            <p:nvPr/>
          </p:nvSpPr>
          <p:spPr>
            <a:xfrm flipH="1">
              <a:off x="1024" y="1970"/>
              <a:ext cx="544" cy="0"/>
            </a:xfrm>
            <a:prstGeom prst="line">
              <a:avLst/>
            </a:prstGeom>
            <a:ln w="25400" cap="flat" cmpd="sng">
              <a:solidFill>
                <a:schemeClr val="tx1"/>
              </a:solidFill>
              <a:prstDash val="solid"/>
              <a:round/>
              <a:headEnd type="none" w="med" len="med"/>
              <a:tailEnd type="none" w="med" len="med"/>
            </a:ln>
          </p:spPr>
        </p:sp>
      </p:grpSp>
      <p:sp>
        <p:nvSpPr>
          <p:cNvPr id="80953" name="矩形 223311"/>
          <p:cNvSpPr/>
          <p:nvPr/>
        </p:nvSpPr>
        <p:spPr>
          <a:xfrm>
            <a:off x="2928938" y="2611438"/>
            <a:ext cx="422275" cy="363537"/>
          </a:xfrm>
          <a:prstGeom prst="rect">
            <a:avLst/>
          </a:prstGeom>
          <a:noFill/>
          <a:ln w="12700">
            <a:noFill/>
          </a:ln>
        </p:spPr>
        <p:txBody>
          <a:bodyPr wrap="none" lIns="90488" tIns="44450" rIns="90488" bIns="44450" anchor="t" anchorCtr="0">
            <a:spAutoFit/>
          </a:bodyPr>
          <a:p>
            <a:pPr algn="ctr"/>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80954" name="直接连接符 223312"/>
          <p:cNvSpPr/>
          <p:nvPr/>
        </p:nvSpPr>
        <p:spPr>
          <a:xfrm flipH="1">
            <a:off x="2305050" y="2111375"/>
            <a:ext cx="0" cy="250825"/>
          </a:xfrm>
          <a:prstGeom prst="line">
            <a:avLst/>
          </a:prstGeom>
          <a:ln w="25400" cap="flat" cmpd="sng">
            <a:solidFill>
              <a:schemeClr val="tx1"/>
            </a:solidFill>
            <a:prstDash val="solid"/>
            <a:round/>
            <a:headEnd type="none" w="med" len="med"/>
            <a:tailEnd type="none" w="med" len="med"/>
          </a:ln>
        </p:spPr>
      </p:sp>
      <p:sp>
        <p:nvSpPr>
          <p:cNvPr id="80955" name="直接连接符 223313"/>
          <p:cNvSpPr/>
          <p:nvPr/>
        </p:nvSpPr>
        <p:spPr>
          <a:xfrm>
            <a:off x="1695450" y="2111375"/>
            <a:ext cx="0" cy="234950"/>
          </a:xfrm>
          <a:prstGeom prst="line">
            <a:avLst/>
          </a:prstGeom>
          <a:ln w="25400" cap="flat" cmpd="sng">
            <a:solidFill>
              <a:schemeClr val="tx1"/>
            </a:solidFill>
            <a:prstDash val="solid"/>
            <a:round/>
            <a:headEnd type="none" w="med" len="med"/>
            <a:tailEnd type="none" w="med" len="med"/>
          </a:ln>
        </p:spPr>
      </p:sp>
      <p:sp>
        <p:nvSpPr>
          <p:cNvPr id="80956" name="矩形 223314"/>
          <p:cNvSpPr/>
          <p:nvPr/>
        </p:nvSpPr>
        <p:spPr>
          <a:xfrm>
            <a:off x="1681163" y="1952625"/>
            <a:ext cx="4857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80957" name="直接连接符 223315"/>
          <p:cNvSpPr/>
          <p:nvPr/>
        </p:nvSpPr>
        <p:spPr>
          <a:xfrm flipH="1">
            <a:off x="615950" y="2533650"/>
            <a:ext cx="939800" cy="0"/>
          </a:xfrm>
          <a:prstGeom prst="line">
            <a:avLst/>
          </a:prstGeom>
          <a:ln w="25400" cap="flat" cmpd="sng">
            <a:solidFill>
              <a:schemeClr val="tx1"/>
            </a:solidFill>
            <a:prstDash val="solid"/>
            <a:round/>
            <a:headEnd type="triangle" w="med" len="med"/>
            <a:tailEnd type="none" w="med" len="med"/>
          </a:ln>
        </p:spPr>
      </p:sp>
      <p:sp>
        <p:nvSpPr>
          <p:cNvPr id="80958" name="矩形 223316"/>
          <p:cNvSpPr/>
          <p:nvPr/>
        </p:nvSpPr>
        <p:spPr>
          <a:xfrm>
            <a:off x="449263" y="2152650"/>
            <a:ext cx="9810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59" name="矩形 223317"/>
          <p:cNvSpPr/>
          <p:nvPr/>
        </p:nvSpPr>
        <p:spPr>
          <a:xfrm>
            <a:off x="3079750" y="4643438"/>
            <a:ext cx="355600" cy="9144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0960" name="矩形 223318"/>
          <p:cNvSpPr/>
          <p:nvPr/>
        </p:nvSpPr>
        <p:spPr>
          <a:xfrm rot="5400000">
            <a:off x="3024188" y="4945063"/>
            <a:ext cx="5365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Ext</a:t>
            </a:r>
            <a:endParaRPr lang="en-US" altLang="zh-CN" sz="1800">
              <a:latin typeface="Arial" panose="020B0604020202020204" pitchFamily="34" charset="0"/>
              <a:ea typeface="宋体" panose="02010600030101010101" pitchFamily="2" charset="-122"/>
            </a:endParaRPr>
          </a:p>
        </p:txBody>
      </p:sp>
      <p:sp>
        <p:nvSpPr>
          <p:cNvPr id="80961" name="矩形 223319"/>
          <p:cNvSpPr/>
          <p:nvPr/>
        </p:nvSpPr>
        <p:spPr>
          <a:xfrm rot="5400000">
            <a:off x="3917950" y="4368800"/>
            <a:ext cx="638175" cy="363538"/>
          </a:xfrm>
          <a:prstGeom prst="rect">
            <a:avLst/>
          </a:prstGeom>
          <a:noFill/>
          <a:ln w="12700">
            <a:noFill/>
          </a:ln>
        </p:spPr>
        <p:txBody>
          <a:bodyPr wrap="none" lIns="90488" tIns="44450" rIns="90488" bIns="44450" anchor="t" anchorCtr="0">
            <a:spAutoFit/>
          </a:bodyPr>
          <a:p>
            <a:pPr algn="ctr"/>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80962" name="矩形 223320"/>
          <p:cNvSpPr/>
          <p:nvPr/>
        </p:nvSpPr>
        <p:spPr>
          <a:xfrm>
            <a:off x="1719263" y="2349500"/>
            <a:ext cx="6381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80963" name="直接连接符 223321"/>
          <p:cNvSpPr/>
          <p:nvPr/>
        </p:nvSpPr>
        <p:spPr>
          <a:xfrm>
            <a:off x="3460750" y="4919663"/>
            <a:ext cx="660400" cy="0"/>
          </a:xfrm>
          <a:prstGeom prst="line">
            <a:avLst/>
          </a:prstGeom>
          <a:ln w="25400" cap="flat" cmpd="sng">
            <a:solidFill>
              <a:schemeClr val="tx1"/>
            </a:solidFill>
            <a:prstDash val="solid"/>
            <a:round/>
            <a:headEnd type="none" w="med" len="med"/>
            <a:tailEnd type="triangle" w="med" len="med"/>
          </a:ln>
        </p:spPr>
      </p:sp>
      <p:sp>
        <p:nvSpPr>
          <p:cNvPr id="80964" name="矩形 223322"/>
          <p:cNvSpPr/>
          <p:nvPr/>
        </p:nvSpPr>
        <p:spPr>
          <a:xfrm>
            <a:off x="3427413" y="4954588"/>
            <a:ext cx="434975" cy="363537"/>
          </a:xfrm>
          <a:prstGeom prst="rect">
            <a:avLst/>
          </a:prstGeom>
          <a:noFill/>
          <a:ln w="12700">
            <a:noFill/>
          </a:ln>
        </p:spPr>
        <p:txBody>
          <a:bodyPr wrap="none" lIns="90488" tIns="44450" rIns="90488" bIns="44450" anchor="t" anchorCtr="0">
            <a:spAutoFit/>
          </a:bodyPr>
          <a:p>
            <a:pPr algn="ctr"/>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0965" name="直接连接符 223323"/>
          <p:cNvSpPr/>
          <p:nvPr/>
        </p:nvSpPr>
        <p:spPr>
          <a:xfrm flipH="1">
            <a:off x="3746500" y="4854575"/>
            <a:ext cx="88900" cy="131763"/>
          </a:xfrm>
          <a:prstGeom prst="line">
            <a:avLst/>
          </a:prstGeom>
          <a:ln w="12700" cap="flat" cmpd="sng">
            <a:solidFill>
              <a:schemeClr val="tx1"/>
            </a:solidFill>
            <a:prstDash val="solid"/>
            <a:round/>
            <a:headEnd type="none" w="med" len="med"/>
            <a:tailEnd type="none" w="med" len="med"/>
          </a:ln>
        </p:spPr>
      </p:sp>
      <p:sp>
        <p:nvSpPr>
          <p:cNvPr id="80966" name="直接连接符 223324"/>
          <p:cNvSpPr/>
          <p:nvPr/>
        </p:nvSpPr>
        <p:spPr>
          <a:xfrm>
            <a:off x="2089150" y="5137150"/>
            <a:ext cx="965200" cy="0"/>
          </a:xfrm>
          <a:prstGeom prst="line">
            <a:avLst/>
          </a:prstGeom>
          <a:ln w="25400" cap="flat" cmpd="sng">
            <a:solidFill>
              <a:schemeClr val="tx1"/>
            </a:solidFill>
            <a:prstDash val="solid"/>
            <a:round/>
            <a:headEnd type="none" w="med" len="med"/>
            <a:tailEnd type="triangle" w="med" len="med"/>
          </a:ln>
        </p:spPr>
      </p:sp>
      <p:sp>
        <p:nvSpPr>
          <p:cNvPr id="80967" name="直接连接符 223325"/>
          <p:cNvSpPr/>
          <p:nvPr/>
        </p:nvSpPr>
        <p:spPr>
          <a:xfrm flipH="1">
            <a:off x="2527300" y="5070475"/>
            <a:ext cx="88900" cy="133350"/>
          </a:xfrm>
          <a:prstGeom prst="line">
            <a:avLst/>
          </a:prstGeom>
          <a:ln w="12700" cap="flat" cmpd="sng">
            <a:solidFill>
              <a:schemeClr val="tx1"/>
            </a:solidFill>
            <a:prstDash val="solid"/>
            <a:round/>
            <a:headEnd type="none" w="med" len="med"/>
            <a:tailEnd type="none" w="med" len="med"/>
          </a:ln>
        </p:spPr>
      </p:sp>
      <p:sp>
        <p:nvSpPr>
          <p:cNvPr id="80968" name="矩形 223326"/>
          <p:cNvSpPr/>
          <p:nvPr/>
        </p:nvSpPr>
        <p:spPr>
          <a:xfrm>
            <a:off x="2214563" y="51355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0969" name="矩形 223327"/>
          <p:cNvSpPr/>
          <p:nvPr/>
        </p:nvSpPr>
        <p:spPr>
          <a:xfrm>
            <a:off x="1223963" y="4875213"/>
            <a:ext cx="9048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80970" name="直接连接符 223328"/>
          <p:cNvSpPr/>
          <p:nvPr/>
        </p:nvSpPr>
        <p:spPr>
          <a:xfrm>
            <a:off x="4298950" y="4999038"/>
            <a:ext cx="0" cy="420687"/>
          </a:xfrm>
          <a:prstGeom prst="line">
            <a:avLst/>
          </a:prstGeom>
          <a:ln w="28575" cap="flat" cmpd="sng">
            <a:solidFill>
              <a:schemeClr val="tx1"/>
            </a:solidFill>
            <a:prstDash val="solid"/>
            <a:round/>
            <a:headEnd type="triangle" w="med" len="med"/>
            <a:tailEnd type="none" w="med" len="med"/>
          </a:ln>
        </p:spPr>
      </p:sp>
      <p:sp>
        <p:nvSpPr>
          <p:cNvPr id="80971" name="矩形 223329"/>
          <p:cNvSpPr/>
          <p:nvPr/>
        </p:nvSpPr>
        <p:spPr>
          <a:xfrm>
            <a:off x="3967163" y="5424488"/>
            <a:ext cx="10191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72" name="直接连接符 223330"/>
          <p:cNvSpPr/>
          <p:nvPr/>
        </p:nvSpPr>
        <p:spPr>
          <a:xfrm>
            <a:off x="4451350" y="4268788"/>
            <a:ext cx="508000" cy="0"/>
          </a:xfrm>
          <a:prstGeom prst="line">
            <a:avLst/>
          </a:prstGeom>
          <a:ln w="25400" cap="flat" cmpd="sng">
            <a:solidFill>
              <a:schemeClr val="tx1"/>
            </a:solidFill>
            <a:prstDash val="solid"/>
            <a:round/>
            <a:headEnd type="none" w="med" len="med"/>
            <a:tailEnd type="triangle" w="med" len="med"/>
          </a:ln>
        </p:spPr>
      </p:sp>
      <p:sp>
        <p:nvSpPr>
          <p:cNvPr id="80973" name="直接连接符 223331"/>
          <p:cNvSpPr/>
          <p:nvPr/>
        </p:nvSpPr>
        <p:spPr>
          <a:xfrm>
            <a:off x="3257550" y="5595938"/>
            <a:ext cx="0" cy="258762"/>
          </a:xfrm>
          <a:prstGeom prst="line">
            <a:avLst/>
          </a:prstGeom>
          <a:ln w="28575" cap="flat" cmpd="sng">
            <a:solidFill>
              <a:schemeClr val="tx1"/>
            </a:solidFill>
            <a:prstDash val="solid"/>
            <a:round/>
            <a:headEnd type="triangle" w="med" len="med"/>
            <a:tailEnd type="none" w="med" len="med"/>
          </a:ln>
        </p:spPr>
      </p:sp>
      <p:sp>
        <p:nvSpPr>
          <p:cNvPr id="80974" name="矩形 223332"/>
          <p:cNvSpPr/>
          <p:nvPr/>
        </p:nvSpPr>
        <p:spPr>
          <a:xfrm>
            <a:off x="2343150" y="5527675"/>
            <a:ext cx="8540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ExtOp</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75" name="矩形 223333"/>
          <p:cNvSpPr/>
          <p:nvPr/>
        </p:nvSpPr>
        <p:spPr>
          <a:xfrm rot="5400000">
            <a:off x="4964113" y="3671888"/>
            <a:ext cx="650875" cy="36512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grpSp>
        <p:nvGrpSpPr>
          <p:cNvPr id="223335" name="组合 223334"/>
          <p:cNvGrpSpPr/>
          <p:nvPr/>
        </p:nvGrpSpPr>
        <p:grpSpPr>
          <a:xfrm>
            <a:off x="5213350" y="1708150"/>
            <a:ext cx="3846513" cy="2863850"/>
            <a:chOff x="3320" y="1382"/>
            <a:chExt cx="2348" cy="1804"/>
          </a:xfrm>
        </p:grpSpPr>
        <p:sp>
          <p:nvSpPr>
            <p:cNvPr id="80977" name="矩形 223335"/>
            <p:cNvSpPr/>
            <p:nvPr/>
          </p:nvSpPr>
          <p:spPr>
            <a:xfrm>
              <a:off x="4328" y="1640"/>
              <a:ext cx="543" cy="171"/>
            </a:xfrm>
            <a:prstGeom prst="rect">
              <a:avLst/>
            </a:prstGeom>
            <a:noFill/>
            <a:ln w="25400" cap="flat" cmpd="sng">
              <a:solidFill>
                <a:srgbClr val="0000FF"/>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0978" name="直接连接符 223336"/>
            <p:cNvSpPr/>
            <p:nvPr/>
          </p:nvSpPr>
          <p:spPr>
            <a:xfrm flipV="1">
              <a:off x="4791" y="1667"/>
              <a:ext cx="80" cy="64"/>
            </a:xfrm>
            <a:prstGeom prst="line">
              <a:avLst/>
            </a:prstGeom>
            <a:ln w="25400" cap="flat" cmpd="sng">
              <a:solidFill>
                <a:srgbClr val="0000FF"/>
              </a:solidFill>
              <a:prstDash val="solid"/>
              <a:round/>
              <a:headEnd type="none" w="med" len="med"/>
              <a:tailEnd type="none" w="med" len="med"/>
            </a:ln>
          </p:spPr>
        </p:sp>
        <p:sp>
          <p:nvSpPr>
            <p:cNvPr id="80979" name="直接连接符 223337"/>
            <p:cNvSpPr/>
            <p:nvPr/>
          </p:nvSpPr>
          <p:spPr>
            <a:xfrm>
              <a:off x="4791" y="1731"/>
              <a:ext cx="80" cy="32"/>
            </a:xfrm>
            <a:prstGeom prst="line">
              <a:avLst/>
            </a:prstGeom>
            <a:ln w="25400" cap="flat" cmpd="sng">
              <a:solidFill>
                <a:srgbClr val="0000FF"/>
              </a:solidFill>
              <a:prstDash val="solid"/>
              <a:round/>
              <a:headEnd type="none" w="med" len="med"/>
              <a:tailEnd type="none" w="med" len="med"/>
            </a:ln>
          </p:spPr>
        </p:sp>
        <p:sp>
          <p:nvSpPr>
            <p:cNvPr id="80980" name="椭圆 223338"/>
            <p:cNvSpPr/>
            <p:nvPr/>
          </p:nvSpPr>
          <p:spPr>
            <a:xfrm>
              <a:off x="4887" y="1683"/>
              <a:ext cx="80" cy="80"/>
            </a:xfrm>
            <a:prstGeom prst="ellipse">
              <a:avLst/>
            </a:prstGeom>
            <a:noFill/>
            <a:ln w="25400" cap="flat" cmpd="sng">
              <a:solidFill>
                <a:srgbClr val="0000FF"/>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80981" name="直接连接符 223339"/>
            <p:cNvSpPr/>
            <p:nvPr/>
          </p:nvSpPr>
          <p:spPr>
            <a:xfrm>
              <a:off x="4983" y="1723"/>
              <a:ext cx="176" cy="0"/>
            </a:xfrm>
            <a:prstGeom prst="line">
              <a:avLst/>
            </a:prstGeom>
            <a:ln w="25400" cap="flat" cmpd="sng">
              <a:solidFill>
                <a:srgbClr val="0000FF"/>
              </a:solidFill>
              <a:prstDash val="solid"/>
              <a:round/>
              <a:headEnd type="none" w="med" len="med"/>
              <a:tailEnd type="none" w="med" len="med"/>
            </a:ln>
          </p:spPr>
        </p:sp>
        <p:sp>
          <p:nvSpPr>
            <p:cNvPr id="80982" name="矩形 223340"/>
            <p:cNvSpPr/>
            <p:nvPr/>
          </p:nvSpPr>
          <p:spPr>
            <a:xfrm flipH="1">
              <a:off x="4460" y="1622"/>
              <a:ext cx="304" cy="229"/>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80983" name="矩形 223341"/>
            <p:cNvSpPr/>
            <p:nvPr/>
          </p:nvSpPr>
          <p:spPr>
            <a:xfrm flipH="1">
              <a:off x="4946" y="1520"/>
              <a:ext cx="328" cy="229"/>
            </a:xfrm>
            <a:prstGeom prst="rect">
              <a:avLst/>
            </a:prstGeom>
            <a:noFill/>
            <a:ln w="12700">
              <a:noFill/>
            </a:ln>
          </p:spPr>
          <p:txBody>
            <a:bodyPr wrap="none" lIns="90488" tIns="44450" rIns="90488" bIns="44450" anchor="t" anchorCtr="0">
              <a:spAutoFit/>
            </a:bodyPr>
            <a:p>
              <a:pPr algn="ctr"/>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80984" name="矩形 223342"/>
            <p:cNvSpPr/>
            <p:nvPr/>
          </p:nvSpPr>
          <p:spPr>
            <a:xfrm>
              <a:off x="4062" y="2072"/>
              <a:ext cx="826" cy="368"/>
            </a:xfrm>
            <a:prstGeom prst="rect">
              <a:avLst/>
            </a:prstGeom>
            <a:noFill/>
            <a:ln w="25400" cap="flat" cmpd="sng">
              <a:solidFill>
                <a:srgbClr val="0000FF"/>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0985" name="矩形 223343"/>
            <p:cNvSpPr/>
            <p:nvPr/>
          </p:nvSpPr>
          <p:spPr>
            <a:xfrm flipH="1">
              <a:off x="3961" y="2068"/>
              <a:ext cx="1034" cy="402"/>
            </a:xfrm>
            <a:prstGeom prst="rect">
              <a:avLst/>
            </a:prstGeom>
            <a:noFill/>
            <a:ln w="12700">
              <a:noFill/>
            </a:ln>
          </p:spPr>
          <p:txBody>
            <a:bodyPr lIns="90488" tIns="44450" rIns="90488" bIns="44450" anchor="t" anchorCtr="0">
              <a:spAutoFit/>
            </a:bodyPr>
            <a:p>
              <a:pPr algn="ctr"/>
              <a:r>
                <a:rPr lang="en-US" altLang="zh-CN" sz="1800">
                  <a:latin typeface="Arial" panose="020B0604020202020204" pitchFamily="34" charset="0"/>
                  <a:ea typeface="宋体" panose="02010600030101010101" pitchFamily="2" charset="-122"/>
                </a:rPr>
                <a:t>Next</a:t>
              </a:r>
              <a:r>
                <a:rPr lang="en-US" altLang="zh-CN">
                  <a:latin typeface="Times New Roman" panose="02020603050405020304" pitchFamily="18" charset="0"/>
                  <a:ea typeface="宋体" panose="02010600030101010101" pitchFamily="2" charset="-122"/>
                </a:rPr>
                <a:t> </a:t>
              </a:r>
              <a:r>
                <a:rPr lang="en-US" altLang="zh-CN" sz="1800" dirty="0" err="1">
                  <a:latin typeface="Arial" panose="020B0604020202020204" pitchFamily="34" charset="0"/>
                  <a:ea typeface="宋体" panose="02010600030101010101" pitchFamily="2" charset="-122"/>
                </a:rPr>
                <a:t>Addr</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Logic</a:t>
              </a:r>
              <a:endParaRPr lang="en-US" altLang="zh-CN" sz="1800">
                <a:latin typeface="Arial" panose="020B0604020202020204" pitchFamily="34" charset="0"/>
                <a:ea typeface="宋体" panose="02010600030101010101" pitchFamily="2" charset="-122"/>
              </a:endParaRPr>
            </a:p>
          </p:txBody>
        </p:sp>
        <p:sp>
          <p:nvSpPr>
            <p:cNvPr id="80986" name="直接连接符 223344"/>
            <p:cNvSpPr/>
            <p:nvPr/>
          </p:nvSpPr>
          <p:spPr>
            <a:xfrm>
              <a:off x="4608" y="1400"/>
              <a:ext cx="0" cy="224"/>
            </a:xfrm>
            <a:prstGeom prst="line">
              <a:avLst/>
            </a:prstGeom>
            <a:ln w="25400" cap="flat" cmpd="sng">
              <a:solidFill>
                <a:srgbClr val="0000FF"/>
              </a:solidFill>
              <a:prstDash val="solid"/>
              <a:round/>
              <a:headEnd type="none" w="med" len="med"/>
              <a:tailEnd type="triangle" w="med" len="med"/>
            </a:ln>
          </p:spPr>
        </p:sp>
        <p:sp>
          <p:nvSpPr>
            <p:cNvPr id="80987" name="直接连接符 223345"/>
            <p:cNvSpPr/>
            <p:nvPr/>
          </p:nvSpPr>
          <p:spPr>
            <a:xfrm flipH="1">
              <a:off x="4600" y="1392"/>
              <a:ext cx="688" cy="0"/>
            </a:xfrm>
            <a:prstGeom prst="line">
              <a:avLst/>
            </a:prstGeom>
            <a:ln w="25400" cap="flat" cmpd="sng">
              <a:solidFill>
                <a:srgbClr val="0000FF"/>
              </a:solidFill>
              <a:prstDash val="solid"/>
              <a:round/>
              <a:headEnd type="none" w="med" len="med"/>
              <a:tailEnd type="none" w="med" len="med"/>
            </a:ln>
          </p:spPr>
        </p:sp>
        <p:sp>
          <p:nvSpPr>
            <p:cNvPr id="80988" name="直接连接符 223346"/>
            <p:cNvSpPr/>
            <p:nvPr/>
          </p:nvSpPr>
          <p:spPr>
            <a:xfrm>
              <a:off x="5280" y="1382"/>
              <a:ext cx="0" cy="1154"/>
            </a:xfrm>
            <a:prstGeom prst="line">
              <a:avLst/>
            </a:prstGeom>
            <a:ln w="25400" cap="flat" cmpd="sng">
              <a:solidFill>
                <a:srgbClr val="0000FF"/>
              </a:solidFill>
              <a:prstDash val="solid"/>
              <a:round/>
              <a:headEnd type="none" w="med" len="med"/>
              <a:tailEnd type="none" w="med" len="med"/>
            </a:ln>
          </p:spPr>
        </p:sp>
        <p:grpSp>
          <p:nvGrpSpPr>
            <p:cNvPr id="80989" name="组合 223347"/>
            <p:cNvGrpSpPr/>
            <p:nvPr/>
          </p:nvGrpSpPr>
          <p:grpSpPr>
            <a:xfrm>
              <a:off x="3560" y="2204"/>
              <a:ext cx="464" cy="84"/>
              <a:chOff x="3560" y="2204"/>
              <a:chExt cx="464" cy="84"/>
            </a:xfrm>
          </p:grpSpPr>
          <p:sp>
            <p:nvSpPr>
              <p:cNvPr id="80990" name="直接连接符 223348"/>
              <p:cNvSpPr/>
              <p:nvPr/>
            </p:nvSpPr>
            <p:spPr>
              <a:xfrm>
                <a:off x="3560" y="2256"/>
                <a:ext cx="464" cy="0"/>
              </a:xfrm>
              <a:prstGeom prst="line">
                <a:avLst/>
              </a:prstGeom>
              <a:ln w="25400" cap="flat" cmpd="sng">
                <a:solidFill>
                  <a:srgbClr val="0000FF"/>
                </a:solidFill>
                <a:prstDash val="solid"/>
                <a:round/>
                <a:headEnd type="none" w="med" len="med"/>
                <a:tailEnd type="triangle" w="med" len="med"/>
              </a:ln>
            </p:spPr>
          </p:sp>
          <p:sp>
            <p:nvSpPr>
              <p:cNvPr id="80991" name="直接连接符 223349"/>
              <p:cNvSpPr/>
              <p:nvPr/>
            </p:nvSpPr>
            <p:spPr>
              <a:xfrm flipH="1">
                <a:off x="3740" y="2204"/>
                <a:ext cx="56" cy="84"/>
              </a:xfrm>
              <a:prstGeom prst="line">
                <a:avLst/>
              </a:prstGeom>
              <a:ln w="12700" cap="flat" cmpd="sng">
                <a:solidFill>
                  <a:srgbClr val="0000FF"/>
                </a:solidFill>
                <a:prstDash val="solid"/>
                <a:round/>
                <a:headEnd type="none" w="med" len="med"/>
                <a:tailEnd type="none" w="med" len="med"/>
              </a:ln>
            </p:spPr>
          </p:sp>
        </p:grpSp>
        <p:sp>
          <p:nvSpPr>
            <p:cNvPr id="80992" name="矩形 223350"/>
            <p:cNvSpPr/>
            <p:nvPr/>
          </p:nvSpPr>
          <p:spPr>
            <a:xfrm>
              <a:off x="3623" y="2293"/>
              <a:ext cx="266" cy="229"/>
            </a:xfrm>
            <a:prstGeom prst="rect">
              <a:avLst/>
            </a:prstGeom>
            <a:noFill/>
            <a:ln w="12700">
              <a:noFill/>
            </a:ln>
          </p:spPr>
          <p:txBody>
            <a:bodyPr wrap="none" lIns="90488" tIns="44450" rIns="90488" bIns="44450" anchor="t" anchorCtr="0">
              <a:spAutoFit/>
            </a:bodyPr>
            <a:p>
              <a:pPr algn="ctr"/>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0993" name="矩形 223351"/>
            <p:cNvSpPr/>
            <p:nvPr/>
          </p:nvSpPr>
          <p:spPr>
            <a:xfrm>
              <a:off x="3495" y="2009"/>
              <a:ext cx="553"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80994" name="直接连接符 223352"/>
            <p:cNvSpPr/>
            <p:nvPr/>
          </p:nvSpPr>
          <p:spPr>
            <a:xfrm>
              <a:off x="4176" y="1736"/>
              <a:ext cx="0" cy="320"/>
            </a:xfrm>
            <a:prstGeom prst="line">
              <a:avLst/>
            </a:prstGeom>
            <a:ln w="25400" cap="flat" cmpd="sng">
              <a:solidFill>
                <a:srgbClr val="0000FF"/>
              </a:solidFill>
              <a:prstDash val="solid"/>
              <a:round/>
              <a:headEnd type="none" w="med" len="med"/>
              <a:tailEnd type="triangle" w="med" len="med"/>
            </a:ln>
          </p:spPr>
        </p:sp>
        <p:sp>
          <p:nvSpPr>
            <p:cNvPr id="80995" name="矩形 223353"/>
            <p:cNvSpPr/>
            <p:nvPr/>
          </p:nvSpPr>
          <p:spPr>
            <a:xfrm>
              <a:off x="3735" y="1536"/>
              <a:ext cx="591" cy="229"/>
            </a:xfrm>
            <a:prstGeom prst="rect">
              <a:avLst/>
            </a:prstGeom>
            <a:noFill/>
            <a:ln w="12700">
              <a:noFill/>
            </a:ln>
          </p:spPr>
          <p:txBody>
            <a:bodyPr wrap="none" lIns="90488" tIns="44450" rIns="90488" bIns="44450" anchor="t" anchorCtr="0">
              <a:spAutoFit/>
            </a:bodyPr>
            <a:p>
              <a:r>
                <a:rPr lang="en-US" altLang="zh-CN" sz="1800">
                  <a:solidFill>
                    <a:schemeClr val="accent1"/>
                  </a:solidFill>
                  <a:latin typeface="Arial" panose="020B0604020202020204" pitchFamily="34" charset="0"/>
                  <a:ea typeface="宋体" panose="02010600030101010101" pitchFamily="2" charset="-122"/>
                </a:rPr>
                <a:t>Branch</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0996" name="直接连接符 223354"/>
            <p:cNvSpPr/>
            <p:nvPr/>
          </p:nvSpPr>
          <p:spPr>
            <a:xfrm>
              <a:off x="4608" y="1832"/>
              <a:ext cx="0" cy="224"/>
            </a:xfrm>
            <a:prstGeom prst="line">
              <a:avLst/>
            </a:prstGeom>
            <a:ln w="25400" cap="flat" cmpd="sng">
              <a:solidFill>
                <a:srgbClr val="0000FF"/>
              </a:solidFill>
              <a:prstDash val="solid"/>
              <a:round/>
              <a:headEnd type="none" w="med" len="med"/>
              <a:tailEnd type="triangle" w="med" len="med"/>
            </a:ln>
          </p:spPr>
        </p:sp>
        <p:sp>
          <p:nvSpPr>
            <p:cNvPr id="80997" name="直接连接符 223355"/>
            <p:cNvSpPr/>
            <p:nvPr/>
          </p:nvSpPr>
          <p:spPr>
            <a:xfrm>
              <a:off x="4656" y="2456"/>
              <a:ext cx="0" cy="464"/>
            </a:xfrm>
            <a:prstGeom prst="line">
              <a:avLst/>
            </a:prstGeom>
            <a:ln w="25400" cap="flat" cmpd="sng">
              <a:solidFill>
                <a:srgbClr val="0000FF"/>
              </a:solidFill>
              <a:prstDash val="solid"/>
              <a:round/>
              <a:headEnd type="none" w="med" len="med"/>
              <a:tailEnd type="triangle" w="med" len="med"/>
            </a:ln>
          </p:spPr>
        </p:sp>
        <p:sp>
          <p:nvSpPr>
            <p:cNvPr id="80998" name="直接连接符 223356"/>
            <p:cNvSpPr/>
            <p:nvPr/>
          </p:nvSpPr>
          <p:spPr>
            <a:xfrm>
              <a:off x="4655" y="2544"/>
              <a:ext cx="636" cy="0"/>
            </a:xfrm>
            <a:prstGeom prst="line">
              <a:avLst/>
            </a:prstGeom>
            <a:ln w="25400" cap="flat" cmpd="sng">
              <a:solidFill>
                <a:srgbClr val="0000FF"/>
              </a:solidFill>
              <a:prstDash val="solid"/>
              <a:round/>
              <a:headEnd type="none" w="med" len="med"/>
              <a:tailEnd type="none" w="med" len="med"/>
            </a:ln>
          </p:spPr>
        </p:sp>
        <p:sp>
          <p:nvSpPr>
            <p:cNvPr id="80999" name="矩形 223357"/>
            <p:cNvSpPr/>
            <p:nvPr/>
          </p:nvSpPr>
          <p:spPr>
            <a:xfrm>
              <a:off x="4627" y="2784"/>
              <a:ext cx="1041" cy="402"/>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To Instruction</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81000" name="直接连接符 223358"/>
            <p:cNvSpPr/>
            <p:nvPr/>
          </p:nvSpPr>
          <p:spPr>
            <a:xfrm>
              <a:off x="3320" y="2976"/>
              <a:ext cx="848" cy="0"/>
            </a:xfrm>
            <a:prstGeom prst="line">
              <a:avLst/>
            </a:prstGeom>
            <a:ln w="25400" cap="flat" cmpd="sng">
              <a:solidFill>
                <a:srgbClr val="0000FF"/>
              </a:solidFill>
              <a:prstDash val="solid"/>
              <a:round/>
              <a:headEnd type="none" w="med" len="med"/>
              <a:tailEnd type="none" w="med" len="med"/>
            </a:ln>
          </p:spPr>
        </p:sp>
        <p:sp>
          <p:nvSpPr>
            <p:cNvPr id="81001" name="直接连接符 223359"/>
            <p:cNvSpPr/>
            <p:nvPr/>
          </p:nvSpPr>
          <p:spPr>
            <a:xfrm flipV="1">
              <a:off x="4176" y="2440"/>
              <a:ext cx="0" cy="544"/>
            </a:xfrm>
            <a:prstGeom prst="line">
              <a:avLst/>
            </a:prstGeom>
            <a:ln w="25400" cap="flat" cmpd="sng">
              <a:solidFill>
                <a:srgbClr val="0000FF"/>
              </a:solidFill>
              <a:prstDash val="solid"/>
              <a:round/>
              <a:headEnd type="none" w="med" len="med"/>
              <a:tailEnd type="triangle" w="med" len="med"/>
            </a:ln>
          </p:spPr>
        </p:sp>
        <p:sp>
          <p:nvSpPr>
            <p:cNvPr id="81002" name="矩形 223360"/>
            <p:cNvSpPr/>
            <p:nvPr/>
          </p:nvSpPr>
          <p:spPr>
            <a:xfrm>
              <a:off x="3626" y="2784"/>
              <a:ext cx="413" cy="229"/>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Zero</a:t>
              </a:r>
              <a:endParaRPr lang="en-US" altLang="zh-CN" sz="1800">
                <a:latin typeface="Arial" panose="020B0604020202020204" pitchFamily="34" charset="0"/>
                <a:ea typeface="宋体" panose="02010600030101010101" pitchFamily="2" charset="-122"/>
              </a:endParaRPr>
            </a:p>
          </p:txBody>
        </p:sp>
      </p:grpSp>
      <p:grpSp>
        <p:nvGrpSpPr>
          <p:cNvPr id="223362" name="组合 223361"/>
          <p:cNvGrpSpPr/>
          <p:nvPr/>
        </p:nvGrpSpPr>
        <p:grpSpPr>
          <a:xfrm>
            <a:off x="5224463" y="3535363"/>
            <a:ext cx="3656012" cy="1817687"/>
            <a:chOff x="3327" y="2533"/>
            <a:chExt cx="2223" cy="1145"/>
          </a:xfrm>
        </p:grpSpPr>
        <p:sp>
          <p:nvSpPr>
            <p:cNvPr id="81004" name="文本框 223362"/>
            <p:cNvSpPr txBox="1"/>
            <p:nvPr/>
          </p:nvSpPr>
          <p:spPr>
            <a:xfrm>
              <a:off x="3327" y="3409"/>
              <a:ext cx="2223" cy="269"/>
            </a:xfrm>
            <a:prstGeom prst="rect">
              <a:avLst/>
            </a:prstGeom>
            <a:noFill/>
            <a:ln w="25400">
              <a:noFill/>
            </a:ln>
          </p:spPr>
          <p:txBody>
            <a:bodyPr anchor="t" anchorCtr="0">
              <a:spAutoFit/>
            </a:bodyPr>
            <a:p>
              <a:pPr>
                <a:spcBef>
                  <a:spcPct val="50000"/>
                </a:spcBef>
              </a:pPr>
              <a:r>
                <a:rPr lang="zh-CN" altLang="en-US" sz="2200" dirty="0">
                  <a:solidFill>
                    <a:srgbClr val="CC0000"/>
                  </a:solidFill>
                  <a:latin typeface="Times New Roman" panose="02020603050405020304" pitchFamily="18" charset="0"/>
                  <a:ea typeface="黑体" panose="02010609060101010101" pitchFamily="49" charset="-122"/>
                </a:rPr>
                <a:t>思考：下址逻辑如何设计？</a:t>
              </a:r>
              <a:endParaRPr lang="zh-CN" altLang="en-US" sz="2200" dirty="0">
                <a:solidFill>
                  <a:srgbClr val="CC0000"/>
                </a:solidFill>
                <a:latin typeface="Times New Roman" panose="02020603050405020304" pitchFamily="18" charset="0"/>
                <a:ea typeface="黑体" panose="02010609060101010101" pitchFamily="49" charset="-122"/>
              </a:endParaRPr>
            </a:p>
          </p:txBody>
        </p:sp>
        <p:sp>
          <p:nvSpPr>
            <p:cNvPr id="81005" name="直接连接符 223363"/>
            <p:cNvSpPr/>
            <p:nvPr/>
          </p:nvSpPr>
          <p:spPr>
            <a:xfrm flipV="1">
              <a:off x="4170" y="2533"/>
              <a:ext cx="283" cy="859"/>
            </a:xfrm>
            <a:prstGeom prst="line">
              <a:avLst/>
            </a:prstGeom>
            <a:ln w="25400" cap="flat" cmpd="sng">
              <a:solidFill>
                <a:srgbClr val="CC0000"/>
              </a:solidFill>
              <a:prstDash val="dash"/>
              <a:round/>
              <a:headEnd type="none" w="med" len="med"/>
              <a:tailEnd type="arrow" w="med" len="med"/>
            </a:ln>
          </p:spPr>
        </p:sp>
      </p:grpSp>
      <p:sp>
        <p:nvSpPr>
          <p:cNvPr id="223365" name="文本框 223364"/>
          <p:cNvSpPr txBox="1"/>
          <p:nvPr/>
        </p:nvSpPr>
        <p:spPr>
          <a:xfrm>
            <a:off x="206375" y="5849938"/>
            <a:ext cx="8937625" cy="366712"/>
          </a:xfrm>
          <a:prstGeom prst="rect">
            <a:avLst/>
          </a:prstGeom>
          <a:noFill/>
          <a:ln w="50800">
            <a:noFill/>
          </a:ln>
        </p:spPr>
        <p:txBody>
          <a:bodyPr anchor="t" anchorCtr="0">
            <a:spAutoFit/>
          </a:bodyPr>
          <a:p>
            <a:pPr>
              <a:spcBef>
                <a:spcPct val="50000"/>
              </a:spcBef>
            </a:pPr>
            <a:r>
              <a:rPr lang="en-US" altLang="zh-CN" sz="1800" dirty="0" err="1">
                <a:solidFill>
                  <a:srgbClr val="006600"/>
                </a:solidFill>
                <a:latin typeface="Arial" panose="020B0604020202020204" pitchFamily="34" charset="0"/>
                <a:ea typeface="黑体" panose="02010609060101010101" pitchFamily="49" charset="-122"/>
              </a:rPr>
              <a:t>RegDst</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RegWr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ALUctr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ExtOp</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ALUSrc</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MemtoReg</a:t>
            </a:r>
            <a:r>
              <a:rPr lang="en-US" altLang="zh-CN" sz="1800">
                <a:solidFill>
                  <a:srgbClr val="006600"/>
                </a:solidFill>
                <a:latin typeface="Arial" panose="020B0604020202020204" pitchFamily="34" charset="0"/>
                <a:ea typeface="黑体" panose="02010609060101010101" pitchFamily="49" charset="-122"/>
              </a:rPr>
              <a:t>, Branch</a:t>
            </a:r>
            <a:r>
              <a:rPr lang="zh-CN" altLang="en-US" sz="1800" dirty="0">
                <a:solidFill>
                  <a:srgbClr val="006600"/>
                </a:solidFill>
                <a:latin typeface="Arial" panose="020B0604020202020204" pitchFamily="34" charset="0"/>
                <a:ea typeface="黑体" panose="02010609060101010101" pitchFamily="49" charset="-122"/>
              </a:rPr>
              <a:t> 各取何值？</a:t>
            </a:r>
            <a:endParaRPr lang="zh-CN" altLang="en-US" sz="1800" dirty="0">
              <a:solidFill>
                <a:srgbClr val="006600"/>
              </a:solidFill>
              <a:latin typeface="Arial" panose="020B0604020202020204" pitchFamily="34" charset="0"/>
              <a:ea typeface="黑体" panose="02010609060101010101" pitchFamily="49" charset="-122"/>
            </a:endParaRPr>
          </a:p>
        </p:txBody>
      </p:sp>
      <p:sp>
        <p:nvSpPr>
          <p:cNvPr id="223366" name="文本框 223365"/>
          <p:cNvSpPr txBox="1"/>
          <p:nvPr/>
        </p:nvSpPr>
        <p:spPr>
          <a:xfrm>
            <a:off x="192088" y="5853113"/>
            <a:ext cx="8951912" cy="641350"/>
          </a:xfrm>
          <a:prstGeom prst="rect">
            <a:avLst/>
          </a:prstGeom>
          <a:solidFill>
            <a:schemeClr val="bg1"/>
          </a:solidFill>
          <a:ln w="50800">
            <a:noFill/>
          </a:ln>
        </p:spPr>
        <p:txBody>
          <a:bodyPr anchor="t" anchorCtr="0">
            <a:spAutoFit/>
          </a:bodyPr>
          <a:p>
            <a:pPr>
              <a:spcBef>
                <a:spcPct val="50000"/>
              </a:spcBef>
            </a:pPr>
            <a:r>
              <a:rPr lang="en-US" altLang="zh-CN" sz="1800" dirty="0" err="1">
                <a:solidFill>
                  <a:schemeClr val="accent2"/>
                </a:solidFill>
                <a:latin typeface="Arial" panose="020B0604020202020204" pitchFamily="34" charset="0"/>
                <a:ea typeface="宋体" panose="02010600030101010101" pitchFamily="2" charset="-122"/>
              </a:rPr>
              <a:t>RegDst</a:t>
            </a:r>
            <a:r>
              <a:rPr lang="en-US" altLang="zh-CN" sz="1800">
                <a:solidFill>
                  <a:schemeClr val="accent2"/>
                </a:solidFill>
                <a:latin typeface="Arial" panose="020B0604020202020204" pitchFamily="34" charset="0"/>
                <a:ea typeface="宋体" panose="02010600030101010101" pitchFamily="2" charset="-122"/>
              </a:rPr>
              <a:t>=x, </a:t>
            </a:r>
            <a:r>
              <a:rPr lang="en-US" altLang="zh-CN" sz="1800" dirty="0" err="1">
                <a:solidFill>
                  <a:schemeClr val="accent2"/>
                </a:solidFill>
                <a:latin typeface="Arial" panose="020B0604020202020204" pitchFamily="34" charset="0"/>
                <a:ea typeface="宋体" panose="02010600030101010101" pitchFamily="2" charset="-122"/>
              </a:rPr>
              <a:t>RegWr</a:t>
            </a:r>
            <a:r>
              <a:rPr lang="en-US" altLang="zh-CN" sz="1800">
                <a:solidFill>
                  <a:schemeClr val="accent2"/>
                </a:solidFill>
                <a:latin typeface="Arial" panose="020B0604020202020204" pitchFamily="34" charset="0"/>
                <a:ea typeface="宋体" panose="02010600030101010101" pitchFamily="2" charset="-122"/>
              </a:rPr>
              <a:t>=0, </a:t>
            </a:r>
            <a:r>
              <a:rPr lang="en-US" altLang="zh-CN" sz="1800" dirty="0" err="1">
                <a:solidFill>
                  <a:schemeClr val="accent2"/>
                </a:solidFill>
                <a:latin typeface="Arial" panose="020B0604020202020204" pitchFamily="34" charset="0"/>
                <a:ea typeface="宋体" panose="02010600030101010101" pitchFamily="2" charset="-122"/>
              </a:rPr>
              <a:t>ALUctr</a:t>
            </a:r>
            <a:r>
              <a:rPr lang="en-US" altLang="zh-CN" sz="1800">
                <a:solidFill>
                  <a:schemeClr val="accent2"/>
                </a:solidFill>
                <a:latin typeface="Arial" panose="020B0604020202020204" pitchFamily="34" charset="0"/>
                <a:ea typeface="宋体" panose="02010600030101010101" pitchFamily="2" charset="-122"/>
              </a:rPr>
              <a:t>=sub, </a:t>
            </a:r>
            <a:r>
              <a:rPr lang="en-US" altLang="zh-CN" sz="1800" dirty="0" err="1">
                <a:solidFill>
                  <a:schemeClr val="accent2"/>
                </a:solidFill>
                <a:latin typeface="Arial" panose="020B0604020202020204" pitchFamily="34" charset="0"/>
                <a:ea typeface="宋体" panose="02010600030101010101" pitchFamily="2" charset="-122"/>
              </a:rPr>
              <a:t>ExtOp</a:t>
            </a:r>
            <a:r>
              <a:rPr lang="en-US" altLang="zh-CN" sz="1800">
                <a:solidFill>
                  <a:schemeClr val="accent2"/>
                </a:solidFill>
                <a:latin typeface="Arial" panose="020B0604020202020204" pitchFamily="34" charset="0"/>
                <a:ea typeface="宋体" panose="02010600030101010101" pitchFamily="2" charset="-122"/>
              </a:rPr>
              <a:t>=x, </a:t>
            </a:r>
            <a:r>
              <a:rPr lang="en-US" altLang="zh-CN" sz="1800" dirty="0" err="1">
                <a:solidFill>
                  <a:schemeClr val="accent2"/>
                </a:solidFill>
                <a:latin typeface="Arial" panose="020B0604020202020204" pitchFamily="34" charset="0"/>
                <a:ea typeface="宋体" panose="02010600030101010101" pitchFamily="2" charset="-122"/>
              </a:rPr>
              <a:t>ALUSrc</a:t>
            </a:r>
            <a:r>
              <a:rPr lang="en-US" altLang="zh-CN" sz="1800">
                <a:solidFill>
                  <a:schemeClr val="accent2"/>
                </a:solidFill>
                <a:latin typeface="Arial" panose="020B0604020202020204" pitchFamily="34" charset="0"/>
                <a:ea typeface="宋体" panose="02010600030101010101" pitchFamily="2" charset="-122"/>
              </a:rPr>
              <a:t>=0, </a:t>
            </a:r>
            <a:r>
              <a:rPr lang="en-US" altLang="zh-CN" sz="1800" dirty="0" err="1">
                <a:solidFill>
                  <a:schemeClr val="accent2"/>
                </a:solidFill>
                <a:latin typeface="Arial" panose="020B0604020202020204" pitchFamily="34" charset="0"/>
                <a:ea typeface="宋体" panose="02010600030101010101" pitchFamily="2" charset="-122"/>
              </a:rPr>
              <a:t>MemWr</a:t>
            </a:r>
            <a:r>
              <a:rPr lang="en-US" altLang="zh-CN" sz="1800">
                <a:solidFill>
                  <a:schemeClr val="accent2"/>
                </a:solidFill>
                <a:latin typeface="Arial" panose="020B0604020202020204" pitchFamily="34" charset="0"/>
                <a:ea typeface="宋体" panose="02010600030101010101" pitchFamily="2" charset="-122"/>
              </a:rPr>
              <a:t>=0, </a:t>
            </a:r>
            <a:r>
              <a:rPr lang="en-US" altLang="zh-CN" sz="1800" dirty="0" err="1">
                <a:solidFill>
                  <a:schemeClr val="accent2"/>
                </a:solidFill>
                <a:latin typeface="Arial" panose="020B0604020202020204" pitchFamily="34" charset="0"/>
                <a:ea typeface="宋体" panose="02010600030101010101" pitchFamily="2" charset="-122"/>
              </a:rPr>
              <a:t>MemtoReg</a:t>
            </a:r>
            <a:r>
              <a:rPr lang="en-US" altLang="zh-CN" sz="1800">
                <a:solidFill>
                  <a:schemeClr val="accent2"/>
                </a:solidFill>
                <a:latin typeface="Arial" panose="020B0604020202020204" pitchFamily="34" charset="0"/>
                <a:ea typeface="宋体" panose="02010600030101010101" pitchFamily="2" charset="-122"/>
              </a:rPr>
              <a:t>=x, Branch=1</a:t>
            </a:r>
            <a:endParaRPr lang="zh-CN" altLang="en-US" sz="1800" dirty="0">
              <a:solidFill>
                <a:schemeClr val="accent2"/>
              </a:solidFill>
              <a:latin typeface="Arial" panose="020B0604020202020204" pitchFamily="34" charset="0"/>
              <a:ea typeface="宋体" panose="02010600030101010101" pitchFamily="2" charset="-122"/>
            </a:endParaRPr>
          </a:p>
        </p:txBody>
      </p:sp>
      <p:grpSp>
        <p:nvGrpSpPr>
          <p:cNvPr id="81008" name="组合 223366"/>
          <p:cNvGrpSpPr/>
          <p:nvPr/>
        </p:nvGrpSpPr>
        <p:grpSpPr>
          <a:xfrm>
            <a:off x="1565275" y="2281238"/>
            <a:ext cx="804863" cy="352425"/>
            <a:chOff x="1625" y="1752"/>
            <a:chExt cx="507" cy="222"/>
          </a:xfrm>
        </p:grpSpPr>
        <p:sp>
          <p:nvSpPr>
            <p:cNvPr id="81009" name="文本框 223367"/>
            <p:cNvSpPr txBox="1"/>
            <p:nvPr/>
          </p:nvSpPr>
          <p:spPr>
            <a:xfrm>
              <a:off x="1625" y="1752"/>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81010" name="文本框 223368"/>
            <p:cNvSpPr txBox="1"/>
            <p:nvPr/>
          </p:nvSpPr>
          <p:spPr>
            <a:xfrm>
              <a:off x="2004" y="1762"/>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81011" name="组合 223369"/>
          <p:cNvGrpSpPr/>
          <p:nvPr/>
        </p:nvGrpSpPr>
        <p:grpSpPr>
          <a:xfrm>
            <a:off x="4068763" y="4065588"/>
            <a:ext cx="225425" cy="992187"/>
            <a:chOff x="3075" y="2821"/>
            <a:chExt cx="142" cy="625"/>
          </a:xfrm>
        </p:grpSpPr>
        <p:sp>
          <p:nvSpPr>
            <p:cNvPr id="81012" name="文本框 223370"/>
            <p:cNvSpPr txBox="1"/>
            <p:nvPr/>
          </p:nvSpPr>
          <p:spPr>
            <a:xfrm>
              <a:off x="3089" y="2821"/>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0</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81013" name="文本框 223371"/>
            <p:cNvSpPr txBox="1"/>
            <p:nvPr/>
          </p:nvSpPr>
          <p:spPr>
            <a:xfrm>
              <a:off x="3075" y="3234"/>
              <a:ext cx="128" cy="212"/>
            </a:xfrm>
            <a:prstGeom prst="rect">
              <a:avLst/>
            </a:prstGeom>
            <a:noFill/>
            <a:ln w="50800">
              <a:noFill/>
            </a:ln>
          </p:spPr>
          <p:txBody>
            <a:bodyPr anchor="t" anchorCtr="0">
              <a:spAutoFit/>
            </a:bodyPr>
            <a:p>
              <a:pPr>
                <a:spcBef>
                  <a:spcPct val="50000"/>
                </a:spcBef>
              </a:pPr>
              <a:r>
                <a:rPr lang="en-US" altLang="zh-CN">
                  <a:solidFill>
                    <a:schemeClr val="accent2"/>
                  </a:solidFill>
                  <a:latin typeface="Times New Roman" panose="02020603050405020304" pitchFamily="18" charset="0"/>
                  <a:ea typeface="宋体" panose="02010600030101010101" pitchFamily="2" charset="-122"/>
                </a:rPr>
                <a:t>1</a:t>
              </a:r>
              <a:endParaRPr lang="en-US" altLang="zh-CN">
                <a:solidFill>
                  <a:schemeClr val="accent2"/>
                </a:solidFill>
                <a:latin typeface="Times New Roman" panose="02020603050405020304" pitchFamily="18" charset="0"/>
                <a:ea typeface="宋体" panose="02010600030101010101" pitchFamily="2" charset="-122"/>
              </a:endParaRPr>
            </a:p>
          </p:txBody>
        </p:sp>
      </p:grpSp>
      <p:grpSp>
        <p:nvGrpSpPr>
          <p:cNvPr id="81014" name="组合 223373"/>
          <p:cNvGrpSpPr/>
          <p:nvPr/>
        </p:nvGrpSpPr>
        <p:grpSpPr>
          <a:xfrm>
            <a:off x="1506538" y="984250"/>
            <a:ext cx="5999162" cy="989013"/>
            <a:chOff x="1918" y="1392"/>
            <a:chExt cx="3763" cy="607"/>
          </a:xfrm>
        </p:grpSpPr>
        <p:sp>
          <p:nvSpPr>
            <p:cNvPr id="81015" name="矩形 223374"/>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81016" name="组合 223375"/>
            <p:cNvGrpSpPr/>
            <p:nvPr/>
          </p:nvGrpSpPr>
          <p:grpSpPr>
            <a:xfrm>
              <a:off x="1979" y="1584"/>
              <a:ext cx="624" cy="223"/>
              <a:chOff x="1979" y="1584"/>
              <a:chExt cx="624" cy="223"/>
            </a:xfrm>
          </p:grpSpPr>
          <p:sp>
            <p:nvSpPr>
              <p:cNvPr id="81017" name="矩形 223376"/>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1018" name="矩形 223377"/>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81019" name="组合 223378"/>
            <p:cNvGrpSpPr/>
            <p:nvPr/>
          </p:nvGrpSpPr>
          <p:grpSpPr>
            <a:xfrm>
              <a:off x="2611" y="1584"/>
              <a:ext cx="580" cy="223"/>
              <a:chOff x="2611" y="1584"/>
              <a:chExt cx="580" cy="223"/>
            </a:xfrm>
          </p:grpSpPr>
          <p:sp>
            <p:nvSpPr>
              <p:cNvPr id="81020" name="矩形 223379"/>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1021" name="矩形 223380"/>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81022" name="组合 223381"/>
            <p:cNvGrpSpPr/>
            <p:nvPr/>
          </p:nvGrpSpPr>
          <p:grpSpPr>
            <a:xfrm>
              <a:off x="3199" y="1584"/>
              <a:ext cx="579" cy="223"/>
              <a:chOff x="3199" y="1584"/>
              <a:chExt cx="579" cy="223"/>
            </a:xfrm>
          </p:grpSpPr>
          <p:sp>
            <p:nvSpPr>
              <p:cNvPr id="81023" name="矩形 223382"/>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1024" name="矩形 223383"/>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81025" name="矩形 223384"/>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1026" name="矩形 223385"/>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81027" name="矩形 223386"/>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81028" name="矩形 223387"/>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1029" name="矩形 223388"/>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81030" name="矩形 223389"/>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81031" name="矩形 223390"/>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81032" name="矩形 223391"/>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1033" name="矩形 223392"/>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1034" name="矩形 223393"/>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1035" name="矩形 223394"/>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par>
    </p:tnLst>
    <p:bldLst>
      <p:bldP spid="223365" grpId="0"/>
      <p:bldP spid="223366"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225281"/>
          <p:cNvSpPr>
            <a:spLocks noGrp="1"/>
          </p:cNvSpPr>
          <p:nvPr>
            <p:ph type="title"/>
          </p:nvPr>
        </p:nvSpPr>
        <p:spPr>
          <a:xfrm>
            <a:off x="444500" y="203200"/>
            <a:ext cx="5375275" cy="422275"/>
          </a:xfrm>
          <a:ln/>
        </p:spPr>
        <p:txBody>
          <a:bodyPr vert="horz" wrap="square" lIns="63500" tIns="25400" rIns="63500" bIns="25400" anchor="t" anchorCtr="0">
            <a:spAutoFit/>
          </a:bodyPr>
          <a:p>
            <a:r>
              <a:rPr lang="zh-CN" altLang="en-US" dirty="0">
                <a:ea typeface="宋体" panose="02010600030101010101" pitchFamily="2" charset="-122"/>
              </a:rPr>
              <a:t>下地址计算逻辑的设计</a:t>
            </a:r>
            <a:endParaRPr lang="zh-CN" altLang="en-US" dirty="0">
              <a:ea typeface="宋体" panose="02010600030101010101" pitchFamily="2" charset="-122"/>
            </a:endParaRPr>
          </a:p>
        </p:txBody>
      </p:sp>
      <p:sp>
        <p:nvSpPr>
          <p:cNvPr id="225283" name="内容占位符 225282"/>
          <p:cNvSpPr>
            <a:spLocks noGrp="1"/>
          </p:cNvSpPr>
          <p:nvPr>
            <p:ph idx="1"/>
          </p:nvPr>
        </p:nvSpPr>
        <p:spPr>
          <a:xfrm>
            <a:off x="495300" y="835025"/>
            <a:ext cx="8191500" cy="1649413"/>
          </a:xfrm>
          <a:ln/>
        </p:spPr>
        <p:txBody>
          <a:bodyPr vert="horz" wrap="square" lIns="63500" tIns="25400" rIns="63500" bIns="25400" anchor="t" anchorCtr="0">
            <a:spAutoFit/>
          </a:bodyPr>
          <a:p>
            <a:pPr>
              <a:buNone/>
            </a:pPr>
            <a:r>
              <a:rPr lang="en-US" altLang="zh-CN" sz="2000">
                <a:ea typeface="黑体" panose="02010609060101010101" pitchFamily="49" charset="-122"/>
              </a:rPr>
              <a:t>PC</a:t>
            </a:r>
            <a:r>
              <a:rPr lang="zh-CN" altLang="en-US" sz="2000" dirty="0">
                <a:ea typeface="黑体" panose="02010609060101010101" pitchFamily="49" charset="-122"/>
              </a:rPr>
              <a:t>是一个</a:t>
            </a:r>
            <a:r>
              <a:rPr lang="en-US" altLang="zh-CN" sz="2000">
                <a:ea typeface="黑体" panose="02010609060101010101" pitchFamily="49" charset="-122"/>
              </a:rPr>
              <a:t>32</a:t>
            </a:r>
            <a:r>
              <a:rPr lang="zh-CN" altLang="en-US" sz="2000" dirty="0">
                <a:ea typeface="黑体" panose="02010609060101010101" pitchFamily="49" charset="-122"/>
              </a:rPr>
              <a:t>位地址</a:t>
            </a:r>
            <a:r>
              <a:rPr lang="en-US" altLang="zh-CN" sz="2000">
                <a:ea typeface="黑体" panose="02010609060101010101" pitchFamily="49" charset="-122"/>
              </a:rPr>
              <a:t>:</a:t>
            </a:r>
            <a:endParaRPr lang="en-US" altLang="zh-CN" sz="2000">
              <a:ea typeface="黑体" panose="02010609060101010101" pitchFamily="49" charset="-122"/>
            </a:endParaRPr>
          </a:p>
          <a:p>
            <a:pPr lvl="1">
              <a:buNone/>
            </a:pPr>
            <a:r>
              <a:rPr lang="zh-CN" altLang="en-US" sz="2000" dirty="0">
                <a:solidFill>
                  <a:srgbClr val="0000FF"/>
                </a:solidFill>
                <a:ea typeface="黑体" panose="02010609060101010101" pitchFamily="49" charset="-122"/>
              </a:rPr>
              <a:t>顺序执行时</a:t>
            </a:r>
            <a:r>
              <a:rPr lang="en-US" altLang="zh-CN" sz="2000">
                <a:solidFill>
                  <a:srgbClr val="0000FF"/>
                </a:solidFill>
                <a:ea typeface="黑体" panose="02010609060101010101" pitchFamily="49" charset="-122"/>
              </a:rPr>
              <a:t>:</a:t>
            </a:r>
            <a:r>
              <a:rPr lang="en-US" altLang="zh-CN" sz="2000">
                <a:ea typeface="黑体" panose="02010609060101010101" pitchFamily="49" charset="-122"/>
              </a:rPr>
              <a:t> PC&lt;31:0&gt; = PC&lt;31:0&gt; + 4</a:t>
            </a:r>
            <a:endParaRPr lang="en-US" altLang="zh-CN" sz="2000">
              <a:ea typeface="黑体" panose="02010609060101010101" pitchFamily="49" charset="-122"/>
            </a:endParaRPr>
          </a:p>
          <a:p>
            <a:pPr lvl="1">
              <a:buNone/>
            </a:pPr>
            <a:r>
              <a:rPr lang="zh-CN" altLang="en-US" sz="2000" dirty="0">
                <a:solidFill>
                  <a:srgbClr val="0000FF"/>
                </a:solidFill>
                <a:ea typeface="黑体" panose="02010609060101010101" pitchFamily="49" charset="-122"/>
              </a:rPr>
              <a:t>转移执行时</a:t>
            </a:r>
            <a:r>
              <a:rPr lang="en-US" altLang="zh-CN" sz="2000">
                <a:solidFill>
                  <a:srgbClr val="0000FF"/>
                </a:solidFill>
                <a:ea typeface="黑体" panose="02010609060101010101" pitchFamily="49" charset="-122"/>
              </a:rPr>
              <a:t>:</a:t>
            </a:r>
            <a:r>
              <a:rPr lang="en-US" altLang="zh-CN" sz="2000">
                <a:ea typeface="黑体" panose="02010609060101010101" pitchFamily="49" charset="-122"/>
              </a:rPr>
              <a:t> PC&lt;31:0&gt; = PC&lt;31:0&gt; + 4 + SignExt[Imm16] X 4</a:t>
            </a:r>
            <a:endParaRPr lang="en-US" altLang="zh-CN" sz="2000">
              <a:ea typeface="黑体" panose="02010609060101010101" pitchFamily="49" charset="-122"/>
            </a:endParaRPr>
          </a:p>
          <a:p>
            <a:pPr>
              <a:lnSpc>
                <a:spcPct val="120000"/>
              </a:lnSpc>
            </a:pPr>
            <a:endParaRPr lang="zh-CN" altLang="en-US" sz="2000" dirty="0">
              <a:ea typeface="黑体" panose="02010609060101010101" pitchFamily="49" charset="-122"/>
            </a:endParaRPr>
          </a:p>
        </p:txBody>
      </p:sp>
      <p:sp>
        <p:nvSpPr>
          <p:cNvPr id="225284" name="矩形 225283"/>
          <p:cNvSpPr/>
          <p:nvPr/>
        </p:nvSpPr>
        <p:spPr>
          <a:xfrm>
            <a:off x="333375" y="2876550"/>
            <a:ext cx="7791450" cy="885825"/>
          </a:xfrm>
          <a:prstGeom prst="rect">
            <a:avLst/>
          </a:prstGeom>
          <a:noFill/>
          <a:ln w="25400">
            <a:noFill/>
          </a:ln>
        </p:spPr>
        <p:txBody>
          <a:bodyPr anchor="t" anchorCtr="0">
            <a:spAutoFit/>
          </a:bodyPr>
          <a:p>
            <a:pPr>
              <a:lnSpc>
                <a:spcPct val="130000"/>
              </a:lnSpc>
            </a:pPr>
            <a:r>
              <a:rPr lang="en-US" altLang="zh-CN" sz="2000">
                <a:latin typeface="Arial" panose="020B0604020202020204" pitchFamily="34" charset="0"/>
                <a:ea typeface="黑体" panose="02010609060101010101" pitchFamily="49" charset="-122"/>
              </a:rPr>
              <a:t>MIPS</a:t>
            </a:r>
            <a:r>
              <a:rPr lang="zh-CN" altLang="en-US" sz="2000" dirty="0">
                <a:latin typeface="Arial" panose="020B0604020202020204" pitchFamily="34" charset="0"/>
                <a:ea typeface="黑体" panose="02010609060101010101" pitchFamily="49" charset="-122"/>
              </a:rPr>
              <a:t>按字节编址，每条指令为</a:t>
            </a:r>
            <a:r>
              <a:rPr lang="en-US" altLang="zh-CN" sz="200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位，占</a:t>
            </a:r>
            <a:r>
              <a:rPr lang="en-US" altLang="zh-CN" sz="2000">
                <a:latin typeface="Arial" panose="020B0604020202020204" pitchFamily="34" charset="0"/>
                <a:ea typeface="黑体" panose="02010609060101010101" pitchFamily="49" charset="-122"/>
              </a:rPr>
              <a:t>4</a:t>
            </a:r>
            <a:r>
              <a:rPr lang="zh-CN" altLang="en-US" sz="2000" dirty="0">
                <a:latin typeface="Arial" panose="020B0604020202020204" pitchFamily="34" charset="0"/>
                <a:ea typeface="黑体" panose="02010609060101010101" pitchFamily="49" charset="-122"/>
              </a:rPr>
              <a:t>个字节，故</a:t>
            </a:r>
            <a:r>
              <a:rPr lang="en-US" altLang="zh-CN" sz="2000">
                <a:latin typeface="Arial" panose="020B0604020202020204" pitchFamily="34" charset="0"/>
                <a:ea typeface="黑体" panose="02010609060101010101" pitchFamily="49" charset="-122"/>
              </a:rPr>
              <a:t>PC</a:t>
            </a:r>
            <a:r>
              <a:rPr lang="zh-CN" altLang="en-US" sz="2000" dirty="0">
                <a:latin typeface="Arial" panose="020B0604020202020204" pitchFamily="34" charset="0"/>
                <a:ea typeface="黑体" panose="02010609060101010101" pitchFamily="49" charset="-122"/>
              </a:rPr>
              <a:t>的值总是</a:t>
            </a:r>
            <a:r>
              <a:rPr lang="en-US" altLang="zh-CN" sz="2000">
                <a:latin typeface="Arial" panose="020B0604020202020204" pitchFamily="34" charset="0"/>
                <a:ea typeface="黑体" panose="02010609060101010101" pitchFamily="49" charset="-122"/>
              </a:rPr>
              <a:t>4</a:t>
            </a:r>
            <a:r>
              <a:rPr lang="zh-CN" altLang="en-US" sz="2000" dirty="0">
                <a:latin typeface="Arial" panose="020B0604020202020204" pitchFamily="34" charset="0"/>
                <a:ea typeface="黑体" panose="02010609060101010101" pitchFamily="49" charset="-122"/>
              </a:rPr>
              <a:t>的倍数，即后两位为</a:t>
            </a:r>
            <a:r>
              <a:rPr lang="en-US" altLang="zh-CN" sz="2000">
                <a:latin typeface="Arial" panose="020B0604020202020204" pitchFamily="34" charset="0"/>
                <a:ea typeface="黑体" panose="02010609060101010101" pitchFamily="49" charset="-122"/>
              </a:rPr>
              <a:t>00</a:t>
            </a:r>
            <a:r>
              <a:rPr lang="zh-CN" altLang="en-US" sz="2000" dirty="0">
                <a:latin typeface="Arial" panose="020B0604020202020204" pitchFamily="34" charset="0"/>
                <a:ea typeface="黑体" panose="02010609060101010101" pitchFamily="49" charset="-122"/>
              </a:rPr>
              <a:t>，因此，</a:t>
            </a:r>
            <a:r>
              <a:rPr lang="en-US" altLang="zh-CN" sz="2000">
                <a:latin typeface="Arial" panose="020B0604020202020204" pitchFamily="34" charset="0"/>
                <a:ea typeface="黑体" panose="02010609060101010101" pitchFamily="49" charset="-122"/>
              </a:rPr>
              <a:t>PC</a:t>
            </a:r>
            <a:r>
              <a:rPr lang="zh-CN" altLang="en-US" sz="2000" dirty="0">
                <a:latin typeface="Arial" panose="020B0604020202020204" pitchFamily="34" charset="0"/>
                <a:ea typeface="黑体" panose="02010609060101010101" pitchFamily="49" charset="-122"/>
              </a:rPr>
              <a:t>只需要</a:t>
            </a:r>
            <a:r>
              <a:rPr lang="en-US" altLang="zh-CN" sz="2000">
                <a:latin typeface="Arial" panose="020B0604020202020204" pitchFamily="34" charset="0"/>
                <a:ea typeface="黑体" panose="02010609060101010101" pitchFamily="49" charset="-122"/>
              </a:rPr>
              <a:t>30</a:t>
            </a:r>
            <a:r>
              <a:rPr lang="zh-CN" altLang="en-US" sz="2000" dirty="0">
                <a:latin typeface="Arial" panose="020B0604020202020204" pitchFamily="34" charset="0"/>
                <a:ea typeface="黑体" panose="02010609060101010101" pitchFamily="49" charset="-122"/>
              </a:rPr>
              <a:t>位即可。</a:t>
            </a:r>
            <a:endParaRPr lang="zh-CN" altLang="en-US" sz="2000" dirty="0">
              <a:latin typeface="Arial" panose="020B0604020202020204" pitchFamily="34" charset="0"/>
              <a:ea typeface="黑体" panose="02010609060101010101" pitchFamily="49" charset="-122"/>
            </a:endParaRPr>
          </a:p>
        </p:txBody>
      </p:sp>
      <p:sp>
        <p:nvSpPr>
          <p:cNvPr id="225285" name="矩形 225284"/>
          <p:cNvSpPr/>
          <p:nvPr/>
        </p:nvSpPr>
        <p:spPr>
          <a:xfrm>
            <a:off x="460375" y="4418013"/>
            <a:ext cx="8288338" cy="2117725"/>
          </a:xfrm>
          <a:prstGeom prst="rect">
            <a:avLst/>
          </a:prstGeom>
          <a:noFill/>
          <a:ln w="25400">
            <a:noFill/>
          </a:ln>
        </p:spPr>
        <p:txBody>
          <a:bodyPr anchor="t" anchorCtr="0">
            <a:spAutoFit/>
          </a:bodyPr>
          <a:p>
            <a:pPr>
              <a:lnSpc>
                <a:spcPct val="140000"/>
              </a:lnSpc>
              <a:spcBef>
                <a:spcPct val="15000"/>
              </a:spcBef>
            </a:pPr>
            <a:r>
              <a:rPr lang="zh-CN" altLang="en-US" sz="2200" dirty="0">
                <a:latin typeface="Arial" panose="020B0604020202020204" pitchFamily="34" charset="0"/>
                <a:ea typeface="黑体" panose="02010609060101010101" pitchFamily="49" charset="-122"/>
              </a:rPr>
              <a:t>下地址计算逻辑简化为：</a:t>
            </a:r>
            <a:endParaRPr lang="zh-CN" altLang="en-US" sz="2200" dirty="0">
              <a:latin typeface="Arial" panose="020B0604020202020204" pitchFamily="34" charset="0"/>
              <a:ea typeface="黑体" panose="02010609060101010101" pitchFamily="49" charset="-122"/>
            </a:endParaRPr>
          </a:p>
          <a:p>
            <a:pPr>
              <a:lnSpc>
                <a:spcPct val="140000"/>
              </a:lnSpc>
              <a:spcBef>
                <a:spcPct val="15000"/>
              </a:spcBef>
            </a:pPr>
            <a:r>
              <a:rPr lang="zh-CN" altLang="en-US" sz="2200" dirty="0">
                <a:latin typeface="Arial" panose="020B0604020202020204" pitchFamily="34" charset="0"/>
                <a:ea typeface="黑体" panose="02010609060101010101" pitchFamily="49" charset="-122"/>
              </a:rPr>
              <a:t>        </a:t>
            </a:r>
            <a:r>
              <a:rPr lang="zh-CN" altLang="en-US" sz="2200" dirty="0">
                <a:solidFill>
                  <a:srgbClr val="0000FF"/>
                </a:solidFill>
                <a:latin typeface="Arial" panose="020B0604020202020204" pitchFamily="34" charset="0"/>
                <a:ea typeface="黑体" panose="02010609060101010101" pitchFamily="49" charset="-122"/>
              </a:rPr>
              <a:t>顺序执行时</a:t>
            </a:r>
            <a:r>
              <a:rPr lang="en-US" altLang="zh-CN" sz="2200">
                <a:solidFill>
                  <a:srgbClr val="0000FF"/>
                </a:solidFill>
                <a:latin typeface="Arial" panose="020B0604020202020204" pitchFamily="34" charset="0"/>
                <a:ea typeface="黑体" panose="02010609060101010101" pitchFamily="49" charset="-122"/>
              </a:rPr>
              <a:t>:</a:t>
            </a:r>
            <a:r>
              <a:rPr lang="en-US" altLang="zh-CN" sz="2200">
                <a:latin typeface="Arial" panose="020B0604020202020204" pitchFamily="34" charset="0"/>
                <a:ea typeface="黑体" panose="02010609060101010101" pitchFamily="49" charset="-122"/>
              </a:rPr>
              <a:t>  PC&lt;31:2&gt; = PC&lt;31:2&gt; + 1</a:t>
            </a:r>
            <a:endParaRPr lang="en-US" altLang="zh-CN" sz="2200">
              <a:latin typeface="Arial" panose="020B0604020202020204" pitchFamily="34" charset="0"/>
              <a:ea typeface="黑体" panose="02010609060101010101" pitchFamily="49" charset="-122"/>
            </a:endParaRPr>
          </a:p>
          <a:p>
            <a:pPr lvl="1" indent="0">
              <a:lnSpc>
                <a:spcPct val="140000"/>
              </a:lnSpc>
              <a:spcBef>
                <a:spcPct val="15000"/>
              </a:spcBef>
            </a:pPr>
            <a:r>
              <a:rPr lang="zh-CN" altLang="en-US" sz="2200" dirty="0">
                <a:solidFill>
                  <a:srgbClr val="0000FF"/>
                </a:solidFill>
                <a:latin typeface="Arial" panose="020B0604020202020204" pitchFamily="34" charset="0"/>
                <a:ea typeface="黑体" panose="02010609060101010101" pitchFamily="49" charset="-122"/>
              </a:rPr>
              <a:t>转移执行时</a:t>
            </a:r>
            <a:r>
              <a:rPr lang="en-US" altLang="zh-CN" sz="2200">
                <a:solidFill>
                  <a:srgbClr val="0000FF"/>
                </a:solidFill>
                <a:latin typeface="Arial" panose="020B0604020202020204" pitchFamily="34" charset="0"/>
                <a:ea typeface="黑体" panose="02010609060101010101" pitchFamily="49" charset="-122"/>
              </a:rPr>
              <a:t>:</a:t>
            </a:r>
            <a:r>
              <a:rPr lang="en-US" altLang="zh-CN" sz="2200">
                <a:latin typeface="Arial" panose="020B0604020202020204" pitchFamily="34" charset="0"/>
                <a:ea typeface="黑体" panose="02010609060101010101" pitchFamily="49" charset="-122"/>
              </a:rPr>
              <a:t> PC&lt;31:2&gt; = PC&lt;31:2&gt; + 1 + SignExt[Imm16]</a:t>
            </a:r>
            <a:endParaRPr lang="zh-CN" altLang="en-US" sz="2200" dirty="0">
              <a:latin typeface="Arial" panose="020B0604020202020204" pitchFamily="34" charset="0"/>
              <a:ea typeface="黑体" panose="02010609060101010101" pitchFamily="49" charset="-122"/>
            </a:endParaRPr>
          </a:p>
          <a:p>
            <a:pPr lvl="1" indent="0">
              <a:lnSpc>
                <a:spcPct val="140000"/>
              </a:lnSpc>
              <a:spcBef>
                <a:spcPct val="15000"/>
              </a:spcBef>
            </a:pPr>
            <a:r>
              <a:rPr lang="zh-CN" altLang="en-US" sz="2200" dirty="0">
                <a:solidFill>
                  <a:srgbClr val="0000FF"/>
                </a:solidFill>
                <a:latin typeface="Arial" panose="020B0604020202020204" pitchFamily="34" charset="0"/>
                <a:ea typeface="黑体" panose="02010609060101010101" pitchFamily="49" charset="-122"/>
              </a:rPr>
              <a:t>取指令时</a:t>
            </a:r>
            <a:r>
              <a:rPr lang="en-US" altLang="zh-CN" sz="2200">
                <a:solidFill>
                  <a:srgbClr val="0000FF"/>
                </a:solidFill>
                <a:latin typeface="Arial" panose="020B0604020202020204" pitchFamily="34" charset="0"/>
                <a:ea typeface="黑体" panose="02010609060101010101" pitchFamily="49" charset="-122"/>
              </a:rPr>
              <a:t>:</a:t>
            </a:r>
            <a:r>
              <a:rPr lang="en-US" altLang="zh-CN" sz="2200">
                <a:latin typeface="Arial" panose="020B0604020202020204" pitchFamily="34" charset="0"/>
                <a:ea typeface="黑体" panose="02010609060101010101" pitchFamily="49" charset="-122"/>
              </a:rPr>
              <a:t> </a:t>
            </a:r>
            <a:r>
              <a:rPr lang="zh-CN" altLang="en-US" sz="2200" dirty="0">
                <a:latin typeface="Arial" panose="020B0604020202020204" pitchFamily="34" charset="0"/>
                <a:ea typeface="黑体" panose="02010609060101010101" pitchFamily="49" charset="-122"/>
              </a:rPr>
              <a:t>指令地址 </a:t>
            </a:r>
            <a:r>
              <a:rPr lang="en-US" altLang="zh-CN" sz="2200">
                <a:latin typeface="Arial" panose="020B0604020202020204" pitchFamily="34" charset="0"/>
                <a:ea typeface="黑体" panose="02010609060101010101" pitchFamily="49" charset="-122"/>
              </a:rPr>
              <a:t>= PC&lt;31:2&gt; </a:t>
            </a:r>
            <a:r>
              <a:rPr lang="zh-CN" altLang="en-US" sz="2200" dirty="0">
                <a:latin typeface="Arial" panose="020B0604020202020204" pitchFamily="34" charset="0"/>
                <a:ea typeface="黑体" panose="02010609060101010101" pitchFamily="49" charset="-122"/>
              </a:rPr>
              <a:t>串接 “</a:t>
            </a:r>
            <a:r>
              <a:rPr lang="en-US" altLang="zh-CN" sz="2200">
                <a:latin typeface="Arial" panose="020B0604020202020204" pitchFamily="34" charset="0"/>
                <a:ea typeface="黑体" panose="02010609060101010101" pitchFamily="49" charset="-122"/>
              </a:rPr>
              <a:t>00”</a:t>
            </a:r>
            <a:endParaRPr lang="en-US" altLang="zh-CN" sz="2200">
              <a:latin typeface="Arial" panose="020B0604020202020204" pitchFamily="34" charset="0"/>
              <a:ea typeface="黑体" panose="02010609060101010101" pitchFamily="49" charset="-122"/>
            </a:endParaRPr>
          </a:p>
        </p:txBody>
      </p:sp>
      <p:sp>
        <p:nvSpPr>
          <p:cNvPr id="225286" name="文本框 225285"/>
          <p:cNvSpPr txBox="1"/>
          <p:nvPr/>
        </p:nvSpPr>
        <p:spPr>
          <a:xfrm>
            <a:off x="696913" y="3973513"/>
            <a:ext cx="7377112" cy="396875"/>
          </a:xfrm>
          <a:prstGeom prst="rect">
            <a:avLst/>
          </a:prstGeom>
          <a:noFill/>
          <a:ln w="50800">
            <a:noFill/>
          </a:ln>
        </p:spPr>
        <p:txBody>
          <a:bodyPr anchor="t" anchorCtr="0">
            <a:spAutoFit/>
          </a:bodyPr>
          <a:p>
            <a:pPr>
              <a:spcBef>
                <a:spcPct val="50000"/>
              </a:spcBef>
            </a:pPr>
            <a:r>
              <a:rPr lang="en-US" altLang="zh-CN" sz="2000">
                <a:solidFill>
                  <a:srgbClr val="006600"/>
                </a:solidFill>
                <a:latin typeface="Arial" panose="020B0604020202020204" pitchFamily="34" charset="0"/>
                <a:ea typeface="黑体" panose="02010609060101010101" pitchFamily="49" charset="-122"/>
              </a:rPr>
              <a:t>PC</a:t>
            </a:r>
            <a:r>
              <a:rPr lang="zh-CN" altLang="en-US" sz="2000" dirty="0">
                <a:solidFill>
                  <a:srgbClr val="006600"/>
                </a:solidFill>
                <a:latin typeface="Arial" panose="020B0604020202020204" pitchFamily="34" charset="0"/>
                <a:ea typeface="黑体" panose="02010609060101010101" pitchFamily="49" charset="-122"/>
              </a:rPr>
              <a:t>采用</a:t>
            </a:r>
            <a:r>
              <a:rPr lang="en-US" altLang="zh-CN" sz="2000">
                <a:solidFill>
                  <a:srgbClr val="006600"/>
                </a:solidFill>
                <a:latin typeface="Arial" panose="020B0604020202020204" pitchFamily="34" charset="0"/>
                <a:ea typeface="黑体" panose="02010609060101010101" pitchFamily="49" charset="-122"/>
              </a:rPr>
              <a:t>30</a:t>
            </a:r>
            <a:r>
              <a:rPr lang="zh-CN" altLang="en-US" sz="2000" dirty="0">
                <a:solidFill>
                  <a:srgbClr val="006600"/>
                </a:solidFill>
                <a:latin typeface="Arial" panose="020B0604020202020204" pitchFamily="34" charset="0"/>
                <a:ea typeface="黑体" panose="02010609060101010101" pitchFamily="49" charset="-122"/>
              </a:rPr>
              <a:t>位后，其转移地址计算逻辑变得更加简单。</a:t>
            </a:r>
            <a:endParaRPr lang="zh-CN" altLang="en-US" sz="2000" dirty="0">
              <a:solidFill>
                <a:srgbClr val="006600"/>
              </a:solidFill>
              <a:latin typeface="Arial" panose="020B0604020202020204" pitchFamily="34" charset="0"/>
              <a:ea typeface="黑体" panose="02010609060101010101" pitchFamily="49" charset="-122"/>
            </a:endParaRPr>
          </a:p>
        </p:txBody>
      </p:sp>
      <p:sp>
        <p:nvSpPr>
          <p:cNvPr id="225288" name="文本框 225287"/>
          <p:cNvSpPr txBox="1"/>
          <p:nvPr/>
        </p:nvSpPr>
        <p:spPr>
          <a:xfrm>
            <a:off x="276225" y="2149475"/>
            <a:ext cx="8618538" cy="701675"/>
          </a:xfrm>
          <a:prstGeom prst="rect">
            <a:avLst/>
          </a:prstGeom>
          <a:noFill/>
          <a:ln w="50800">
            <a:noFill/>
          </a:ln>
        </p:spPr>
        <p:txBody>
          <a:bodyPr anchor="t" anchorCtr="0">
            <a:spAutoFit/>
          </a:bodyPr>
          <a:p>
            <a:pPr>
              <a:spcBef>
                <a:spcPct val="50000"/>
              </a:spcBef>
            </a:pPr>
            <a:r>
              <a:rPr lang="zh-CN" altLang="en-US" sz="2000" dirty="0">
                <a:solidFill>
                  <a:srgbClr val="A50021"/>
                </a:solidFill>
                <a:latin typeface="Arial" panose="020B0604020202020204" pitchFamily="34" charset="0"/>
                <a:ea typeface="黑体" panose="02010609060101010101" pitchFamily="49" charset="-122"/>
              </a:rPr>
              <a:t>采用</a:t>
            </a:r>
            <a:r>
              <a:rPr lang="en-US" altLang="zh-CN" sz="2000">
                <a:solidFill>
                  <a:srgbClr val="A50021"/>
                </a:solidFill>
                <a:latin typeface="Arial" panose="020B0604020202020204" pitchFamily="34" charset="0"/>
                <a:ea typeface="黑体" panose="02010609060101010101" pitchFamily="49" charset="-122"/>
              </a:rPr>
              <a:t>32</a:t>
            </a:r>
            <a:r>
              <a:rPr lang="zh-CN" altLang="en-US" sz="2000" dirty="0">
                <a:solidFill>
                  <a:srgbClr val="A50021"/>
                </a:solidFill>
                <a:latin typeface="Arial" panose="020B0604020202020204" pitchFamily="34" charset="0"/>
                <a:ea typeface="黑体" panose="02010609060101010101" pitchFamily="49" charset="-122"/>
              </a:rPr>
              <a:t>位</a:t>
            </a:r>
            <a:r>
              <a:rPr lang="en-US" altLang="zh-CN" sz="2000">
                <a:solidFill>
                  <a:srgbClr val="A50021"/>
                </a:solidFill>
                <a:latin typeface="Arial" panose="020B0604020202020204" pitchFamily="34" charset="0"/>
                <a:ea typeface="黑体" panose="02010609060101010101" pitchFamily="49" charset="-122"/>
              </a:rPr>
              <a:t>PC</a:t>
            </a:r>
            <a:r>
              <a:rPr lang="zh-CN" altLang="en-US" sz="2000" dirty="0">
                <a:solidFill>
                  <a:srgbClr val="A50021"/>
                </a:solidFill>
                <a:latin typeface="Arial" panose="020B0604020202020204" pitchFamily="34" charset="0"/>
                <a:ea typeface="黑体" panose="02010609060101010101" pitchFamily="49" charset="-122"/>
              </a:rPr>
              <a:t>时，可用左移</a:t>
            </a:r>
            <a:r>
              <a:rPr lang="en-US" altLang="zh-CN" sz="2000">
                <a:solidFill>
                  <a:srgbClr val="A50021"/>
                </a:solidFill>
                <a:latin typeface="Arial" panose="020B0604020202020204" pitchFamily="34" charset="0"/>
                <a:ea typeface="黑体" panose="02010609060101010101" pitchFamily="49" charset="-122"/>
              </a:rPr>
              <a:t>2</a:t>
            </a:r>
            <a:r>
              <a:rPr lang="zh-CN" altLang="en-US" sz="2000" dirty="0">
                <a:solidFill>
                  <a:srgbClr val="A50021"/>
                </a:solidFill>
                <a:latin typeface="Arial" panose="020B0604020202020204" pitchFamily="34" charset="0"/>
                <a:ea typeface="黑体" panose="02010609060101010101" pitchFamily="49" charset="-122"/>
              </a:rPr>
              <a:t>位实现“</a:t>
            </a:r>
            <a:r>
              <a:rPr lang="en-US" altLang="zh-CN" sz="2000">
                <a:solidFill>
                  <a:srgbClr val="A50021"/>
                </a:solidFill>
                <a:latin typeface="Arial" panose="020B0604020202020204" pitchFamily="34" charset="0"/>
                <a:ea typeface="黑体" panose="02010609060101010101" pitchFamily="49" charset="-122"/>
              </a:rPr>
              <a:t>X4”</a:t>
            </a:r>
            <a:r>
              <a:rPr lang="zh-CN" altLang="en-US" sz="2000" dirty="0">
                <a:solidFill>
                  <a:srgbClr val="A50021"/>
                </a:solidFill>
                <a:latin typeface="Arial" panose="020B0604020202020204" pitchFamily="34" charset="0"/>
                <a:ea typeface="黑体" panose="02010609060101010101" pitchFamily="49" charset="-122"/>
              </a:rPr>
              <a:t>操作，计算转移地址用</a:t>
            </a:r>
            <a:r>
              <a:rPr lang="en-US" altLang="zh-CN" sz="2000">
                <a:solidFill>
                  <a:srgbClr val="A50021"/>
                </a:solidFill>
                <a:latin typeface="Arial" panose="020B0604020202020204" pitchFamily="34" charset="0"/>
                <a:ea typeface="黑体" panose="02010609060101010101" pitchFamily="49" charset="-122"/>
              </a:rPr>
              <a:t>2</a:t>
            </a:r>
            <a:r>
              <a:rPr lang="zh-CN" altLang="en-US" sz="2000" dirty="0">
                <a:solidFill>
                  <a:srgbClr val="A50021"/>
                </a:solidFill>
                <a:latin typeface="Arial" panose="020B0604020202020204" pitchFamily="34" charset="0"/>
                <a:ea typeface="黑体" panose="02010609060101010101" pitchFamily="49" charset="-122"/>
              </a:rPr>
              <a:t>个加法器！ 用更简便的方式实现如下：</a:t>
            </a:r>
            <a:endParaRPr lang="zh-CN" altLang="en-US" sz="2000" dirty="0">
              <a:solidFill>
                <a:srgbClr val="A50021"/>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283">
                                            <p:txEl>
                                              <p:charRg st="12" end="43"/>
                                            </p:txEl>
                                          </p:spTgt>
                                        </p:tgtEl>
                                        <p:attrNameLst>
                                          <p:attrName>style.visibility</p:attrName>
                                        </p:attrNameLst>
                                      </p:cBhvr>
                                      <p:to>
                                        <p:strVal val="visible"/>
                                      </p:to>
                                    </p:set>
                                    <p:animEffect transition="in" filter="blinds(horizontal)">
                                      <p:cBhvr>
                                        <p:cTn id="7" dur="500"/>
                                        <p:tgtEl>
                                          <p:spTgt spid="225283">
                                            <p:txEl>
                                              <p:charRg st="12" end="4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283">
                                            <p:txEl>
                                              <p:charRg st="43" end="95"/>
                                            </p:txEl>
                                          </p:spTgt>
                                        </p:tgtEl>
                                        <p:attrNameLst>
                                          <p:attrName>style.visibility</p:attrName>
                                        </p:attrNameLst>
                                      </p:cBhvr>
                                      <p:to>
                                        <p:strVal val="visible"/>
                                      </p:to>
                                    </p:set>
                                    <p:animEffect transition="in" filter="blinds(horizontal)">
                                      <p:cBhvr>
                                        <p:cTn id="12" dur="500"/>
                                        <p:tgtEl>
                                          <p:spTgt spid="225283">
                                            <p:txEl>
                                              <p:charRg st="43" end="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288"/>
                                        </p:tgtEl>
                                        <p:attrNameLst>
                                          <p:attrName>style.visibility</p:attrName>
                                        </p:attrNameLst>
                                      </p:cBhvr>
                                      <p:to>
                                        <p:strVal val="visible"/>
                                      </p:to>
                                    </p:set>
                                    <p:animEffect transition="in" filter="blinds(horizontal)">
                                      <p:cBhvr>
                                        <p:cTn id="17" dur="500"/>
                                        <p:tgtEl>
                                          <p:spTgt spid="22528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25284"/>
                                        </p:tgtEl>
                                        <p:attrNameLst>
                                          <p:attrName>style.visibility</p:attrName>
                                        </p:attrNameLst>
                                      </p:cBhvr>
                                      <p:to>
                                        <p:strVal val="visible"/>
                                      </p:to>
                                    </p:set>
                                    <p:animEffect transition="in" filter="checkerboard(across)">
                                      <p:cBhvr>
                                        <p:cTn id="22" dur="500"/>
                                        <p:tgtEl>
                                          <p:spTgt spid="22528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5286"/>
                                        </p:tgtEl>
                                        <p:attrNameLst>
                                          <p:attrName>style.visibility</p:attrName>
                                        </p:attrNameLst>
                                      </p:cBhvr>
                                      <p:to>
                                        <p:strVal val="visible"/>
                                      </p:to>
                                    </p:set>
                                    <p:animEffect transition="in" filter="blinds(horizontal)">
                                      <p:cBhvr>
                                        <p:cTn id="27" dur="500"/>
                                        <p:tgtEl>
                                          <p:spTgt spid="22528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5285"/>
                                        </p:tgtEl>
                                        <p:attrNameLst>
                                          <p:attrName>style.visibility</p:attrName>
                                        </p:attrNameLst>
                                      </p:cBhvr>
                                      <p:to>
                                        <p:strVal val="visible"/>
                                      </p:to>
                                    </p:set>
                                    <p:animEffect transition="in" filter="blinds(horizontal)">
                                      <p:cBhvr>
                                        <p:cTn id="32" dur="500"/>
                                        <p:tgtEl>
                                          <p:spTgt spid="225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4" grpId="0"/>
      <p:bldP spid="225285" grpId="0"/>
      <p:bldP spid="225286" grpId="0"/>
      <p:bldP spid="22528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227329"/>
          <p:cNvSpPr>
            <a:spLocks noGrp="1"/>
          </p:cNvSpPr>
          <p:nvPr>
            <p:ph type="title"/>
          </p:nvPr>
        </p:nvSpPr>
        <p:spPr>
          <a:xfrm>
            <a:off x="444500" y="203200"/>
            <a:ext cx="8026400" cy="531813"/>
          </a:xfrm>
          <a:ln/>
        </p:spPr>
        <p:txBody>
          <a:bodyPr vert="horz" wrap="square" lIns="63500" tIns="25400" rIns="63500" bIns="25400" anchor="t" anchorCtr="0">
            <a:spAutoFit/>
          </a:bodyPr>
          <a:p>
            <a:r>
              <a:rPr lang="zh-CN" altLang="en-US" dirty="0">
                <a:ea typeface="宋体" panose="02010600030101010101" pitchFamily="2" charset="-122"/>
              </a:rPr>
              <a:t>下址逻辑设计方案</a:t>
            </a:r>
            <a:r>
              <a:rPr lang="en-US" altLang="zh-CN">
                <a:ea typeface="宋体" panose="02010600030101010101" pitchFamily="2" charset="-122"/>
              </a:rPr>
              <a:t>1:  </a:t>
            </a:r>
            <a:r>
              <a:rPr lang="zh-CN" altLang="en-US" dirty="0">
                <a:ea typeface="宋体" panose="02010600030101010101" pitchFamily="2" charset="-122"/>
              </a:rPr>
              <a:t>快速但昂贵</a:t>
            </a:r>
            <a:endParaRPr lang="zh-CN" altLang="en-US" dirty="0">
              <a:ea typeface="宋体" panose="02010600030101010101" pitchFamily="2" charset="-122"/>
            </a:endParaRPr>
          </a:p>
        </p:txBody>
      </p:sp>
      <p:sp>
        <p:nvSpPr>
          <p:cNvPr id="84994" name="文本占位符 227330"/>
          <p:cNvSpPr>
            <a:spLocks noGrp="1"/>
          </p:cNvSpPr>
          <p:nvPr>
            <p:ph idx="1"/>
          </p:nvPr>
        </p:nvSpPr>
        <p:spPr>
          <a:xfrm>
            <a:off x="419100" y="685800"/>
            <a:ext cx="8356600" cy="1847850"/>
          </a:xfrm>
          <a:ln/>
        </p:spPr>
        <p:txBody>
          <a:bodyPr vert="horz" wrap="square" lIns="63500" tIns="25400" rIns="63500" bIns="25400" anchor="t" anchorCtr="0">
            <a:spAutoFit/>
          </a:bodyPr>
          <a:p>
            <a:pPr>
              <a:spcBef>
                <a:spcPct val="20000"/>
              </a:spcBef>
            </a:pPr>
            <a:r>
              <a:rPr lang="en-US" altLang="zh-CN" sz="2000">
                <a:ea typeface="黑体" panose="02010609060101010101" pitchFamily="49" charset="-122"/>
              </a:rPr>
              <a:t>Using a 30-bit PC:</a:t>
            </a:r>
            <a:endParaRPr lang="en-US" altLang="zh-CN" sz="2000">
              <a:ea typeface="黑体" panose="02010609060101010101" pitchFamily="49" charset="-122"/>
            </a:endParaRPr>
          </a:p>
          <a:p>
            <a:pPr lvl="1">
              <a:spcBef>
                <a:spcPct val="20000"/>
              </a:spcBef>
            </a:pPr>
            <a:r>
              <a:rPr lang="zh-CN" altLang="en-US" sz="2000" dirty="0">
                <a:solidFill>
                  <a:srgbClr val="0000FF"/>
                </a:solidFill>
                <a:ea typeface="黑体" panose="02010609060101010101" pitchFamily="49" charset="-122"/>
              </a:rPr>
              <a:t>顺序执行时</a:t>
            </a:r>
            <a:r>
              <a:rPr lang="en-US" altLang="zh-CN" sz="2000">
                <a:solidFill>
                  <a:srgbClr val="0000FF"/>
                </a:solidFill>
                <a:ea typeface="黑体" panose="02010609060101010101" pitchFamily="49" charset="-122"/>
              </a:rPr>
              <a:t>:</a:t>
            </a:r>
            <a:r>
              <a:rPr lang="en-US" altLang="zh-CN" sz="2000">
                <a:ea typeface="黑体" panose="02010609060101010101" pitchFamily="49" charset="-122"/>
              </a:rPr>
              <a:t>  PC&lt;31:2&gt; = PC&lt;31:2&gt; + 1</a:t>
            </a:r>
            <a:endParaRPr lang="en-US" altLang="zh-CN" sz="2000">
              <a:ea typeface="黑体" panose="02010609060101010101" pitchFamily="49" charset="-122"/>
            </a:endParaRPr>
          </a:p>
          <a:p>
            <a:pPr lvl="1">
              <a:spcBef>
                <a:spcPct val="20000"/>
              </a:spcBef>
            </a:pPr>
            <a:r>
              <a:rPr lang="zh-CN" altLang="en-US" sz="2000" dirty="0">
                <a:solidFill>
                  <a:srgbClr val="0000FF"/>
                </a:solidFill>
                <a:ea typeface="黑体" panose="02010609060101010101" pitchFamily="49" charset="-122"/>
              </a:rPr>
              <a:t>转移执行时</a:t>
            </a:r>
            <a:r>
              <a:rPr lang="en-US" altLang="zh-CN" sz="2000">
                <a:solidFill>
                  <a:srgbClr val="0000FF"/>
                </a:solidFill>
                <a:ea typeface="黑体" panose="02010609060101010101" pitchFamily="49" charset="-122"/>
              </a:rPr>
              <a:t>:</a:t>
            </a:r>
            <a:r>
              <a:rPr lang="en-US" altLang="zh-CN" sz="2000">
                <a:ea typeface="黑体" panose="02010609060101010101" pitchFamily="49" charset="-122"/>
              </a:rPr>
              <a:t> PC&lt;31:2&gt; = PC&lt;31:2&gt; + 1 + SignExt[Imm16]</a:t>
            </a:r>
            <a:endParaRPr lang="zh-CN" altLang="en-US" sz="2000" dirty="0">
              <a:ea typeface="黑体" panose="02010609060101010101" pitchFamily="49" charset="-122"/>
            </a:endParaRPr>
          </a:p>
          <a:p>
            <a:pPr lvl="1">
              <a:spcBef>
                <a:spcPct val="20000"/>
              </a:spcBef>
            </a:pPr>
            <a:r>
              <a:rPr lang="zh-CN" altLang="en-US" sz="2000" dirty="0">
                <a:solidFill>
                  <a:srgbClr val="0000FF"/>
                </a:solidFill>
                <a:ea typeface="黑体" panose="02010609060101010101" pitchFamily="49" charset="-122"/>
              </a:rPr>
              <a:t>取指令时</a:t>
            </a:r>
            <a:r>
              <a:rPr lang="en-US" altLang="zh-CN" sz="2000">
                <a:solidFill>
                  <a:srgbClr val="0000FF"/>
                </a:solidFill>
                <a:ea typeface="黑体" panose="02010609060101010101" pitchFamily="49" charset="-122"/>
              </a:rPr>
              <a:t>:</a:t>
            </a:r>
            <a:r>
              <a:rPr lang="en-US" altLang="zh-CN" sz="2000">
                <a:ea typeface="黑体" panose="02010609060101010101" pitchFamily="49" charset="-122"/>
              </a:rPr>
              <a:t> </a:t>
            </a:r>
            <a:r>
              <a:rPr lang="zh-CN" altLang="en-US" sz="2000" dirty="0">
                <a:ea typeface="黑体" panose="02010609060101010101" pitchFamily="49" charset="-122"/>
              </a:rPr>
              <a:t>指令地址 </a:t>
            </a:r>
            <a:r>
              <a:rPr lang="en-US" altLang="zh-CN" sz="2000">
                <a:ea typeface="黑体" panose="02010609060101010101" pitchFamily="49" charset="-122"/>
              </a:rPr>
              <a:t>= PC&lt;31:2&gt; </a:t>
            </a:r>
            <a:r>
              <a:rPr lang="en-US" altLang="zh-CN" sz="2000" dirty="0" err="1">
                <a:ea typeface="黑体" panose="02010609060101010101" pitchFamily="49" charset="-122"/>
              </a:rPr>
              <a:t>concat</a:t>
            </a:r>
            <a:r>
              <a:rPr lang="en-US" altLang="zh-CN" sz="2000">
                <a:ea typeface="黑体" panose="02010609060101010101" pitchFamily="49" charset="-122"/>
              </a:rPr>
              <a:t> “00”</a:t>
            </a:r>
            <a:endParaRPr lang="en-US" altLang="zh-CN" sz="2000">
              <a:ea typeface="黑体" panose="02010609060101010101" pitchFamily="49" charset="-122"/>
            </a:endParaRPr>
          </a:p>
          <a:p>
            <a:pPr lvl="1">
              <a:lnSpc>
                <a:spcPct val="130000"/>
              </a:lnSpc>
              <a:spcBef>
                <a:spcPct val="0"/>
              </a:spcBef>
              <a:buSzTx/>
              <a:buNone/>
            </a:pPr>
            <a:endParaRPr lang="en-US" altLang="zh-CN" sz="2000">
              <a:ea typeface="黑体" panose="02010609060101010101" pitchFamily="49" charset="-122"/>
            </a:endParaRPr>
          </a:p>
        </p:txBody>
      </p:sp>
      <p:sp>
        <p:nvSpPr>
          <p:cNvPr id="84995" name="直接连接符 227331"/>
          <p:cNvSpPr/>
          <p:nvPr/>
        </p:nvSpPr>
        <p:spPr>
          <a:xfrm>
            <a:off x="1689100" y="3109913"/>
            <a:ext cx="1193800" cy="0"/>
          </a:xfrm>
          <a:prstGeom prst="line">
            <a:avLst/>
          </a:prstGeom>
          <a:ln w="25400" cap="flat" cmpd="sng">
            <a:solidFill>
              <a:schemeClr val="tx1"/>
            </a:solidFill>
            <a:prstDash val="solid"/>
            <a:round/>
            <a:headEnd type="none" w="med" len="med"/>
            <a:tailEnd type="triangle" w="med" len="med"/>
          </a:ln>
        </p:spPr>
      </p:sp>
      <p:sp>
        <p:nvSpPr>
          <p:cNvPr id="84996" name="直接连接符 227332"/>
          <p:cNvSpPr/>
          <p:nvPr/>
        </p:nvSpPr>
        <p:spPr>
          <a:xfrm flipH="1">
            <a:off x="2203450" y="3044825"/>
            <a:ext cx="88900" cy="131763"/>
          </a:xfrm>
          <a:prstGeom prst="line">
            <a:avLst/>
          </a:prstGeom>
          <a:ln w="12700" cap="flat" cmpd="sng">
            <a:solidFill>
              <a:schemeClr val="tx1"/>
            </a:solidFill>
            <a:prstDash val="solid"/>
            <a:round/>
            <a:headEnd type="none" w="med" len="med"/>
            <a:tailEnd type="none" w="med" len="med"/>
          </a:ln>
        </p:spPr>
      </p:sp>
      <p:sp>
        <p:nvSpPr>
          <p:cNvPr id="84997" name="矩形 227333"/>
          <p:cNvSpPr/>
          <p:nvPr/>
        </p:nvSpPr>
        <p:spPr>
          <a:xfrm>
            <a:off x="1890713" y="31797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4998" name="直接连接符 227334"/>
          <p:cNvSpPr/>
          <p:nvPr/>
        </p:nvSpPr>
        <p:spPr>
          <a:xfrm>
            <a:off x="3365500" y="3338513"/>
            <a:ext cx="1955800" cy="0"/>
          </a:xfrm>
          <a:prstGeom prst="line">
            <a:avLst/>
          </a:prstGeom>
          <a:ln w="25400" cap="flat" cmpd="sng">
            <a:solidFill>
              <a:schemeClr val="tx1"/>
            </a:solidFill>
            <a:prstDash val="solid"/>
            <a:round/>
            <a:headEnd type="none" w="med" len="med"/>
            <a:tailEnd type="triangle" w="med" len="med"/>
          </a:ln>
        </p:spPr>
      </p:sp>
      <p:sp>
        <p:nvSpPr>
          <p:cNvPr id="84999" name="直接连接符 227335"/>
          <p:cNvSpPr/>
          <p:nvPr/>
        </p:nvSpPr>
        <p:spPr>
          <a:xfrm flipH="1">
            <a:off x="4718050" y="3268663"/>
            <a:ext cx="88900" cy="166687"/>
          </a:xfrm>
          <a:prstGeom prst="line">
            <a:avLst/>
          </a:prstGeom>
          <a:ln w="12700" cap="flat" cmpd="sng">
            <a:solidFill>
              <a:schemeClr val="tx1"/>
            </a:solidFill>
            <a:prstDash val="solid"/>
            <a:round/>
            <a:headEnd type="none" w="med" len="med"/>
            <a:tailEnd type="none" w="med" len="med"/>
          </a:ln>
        </p:spPr>
      </p:sp>
      <p:sp>
        <p:nvSpPr>
          <p:cNvPr id="85000" name="矩形 227336"/>
          <p:cNvSpPr/>
          <p:nvPr/>
        </p:nvSpPr>
        <p:spPr>
          <a:xfrm>
            <a:off x="4557713" y="34432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5001" name="矩形 227337"/>
          <p:cNvSpPr/>
          <p:nvPr/>
        </p:nvSpPr>
        <p:spPr>
          <a:xfrm rot="5400000">
            <a:off x="2732088" y="4757738"/>
            <a:ext cx="1133475" cy="365125"/>
          </a:xfrm>
          <a:prstGeom prst="rect">
            <a:avLst/>
          </a:prstGeom>
          <a:noFill/>
          <a:ln w="12700">
            <a:noFill/>
          </a:ln>
        </p:spPr>
        <p:txBody>
          <a:bodyPr lIns="90488" tIns="44450" rIns="90488" bIns="44450" anchor="t" anchorCtr="0">
            <a:spAutoFit/>
          </a:bodyPr>
          <a:p>
            <a:r>
              <a:rPr lang="en-US" altLang="zh-CN" sz="1800" dirty="0" err="1">
                <a:latin typeface="Arial" panose="020B0604020202020204" pitchFamily="34" charset="0"/>
                <a:ea typeface="宋体" panose="02010600030101010101" pitchFamily="2" charset="-122"/>
              </a:rPr>
              <a:t>SignExt</a:t>
            </a:r>
            <a:endParaRPr lang="en-US" altLang="zh-CN" sz="1800">
              <a:latin typeface="Arial" panose="020B0604020202020204" pitchFamily="34" charset="0"/>
              <a:ea typeface="宋体" panose="02010600030101010101" pitchFamily="2" charset="-122"/>
            </a:endParaRPr>
          </a:p>
        </p:txBody>
      </p:sp>
      <p:sp>
        <p:nvSpPr>
          <p:cNvPr id="85002" name="直接连接符 227338"/>
          <p:cNvSpPr/>
          <p:nvPr/>
        </p:nvSpPr>
        <p:spPr>
          <a:xfrm>
            <a:off x="4660900" y="4171950"/>
            <a:ext cx="660400" cy="0"/>
          </a:xfrm>
          <a:prstGeom prst="line">
            <a:avLst/>
          </a:prstGeom>
          <a:ln w="25400" cap="flat" cmpd="sng">
            <a:solidFill>
              <a:schemeClr val="tx1"/>
            </a:solidFill>
            <a:prstDash val="solid"/>
            <a:round/>
            <a:headEnd type="none" w="med" len="med"/>
            <a:tailEnd type="triangle" w="med" len="med"/>
          </a:ln>
        </p:spPr>
      </p:sp>
      <p:sp>
        <p:nvSpPr>
          <p:cNvPr id="85003" name="矩形 227339"/>
          <p:cNvSpPr/>
          <p:nvPr/>
        </p:nvSpPr>
        <p:spPr>
          <a:xfrm>
            <a:off x="4729163" y="42830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5004" name="直接连接符 227340"/>
          <p:cNvSpPr/>
          <p:nvPr/>
        </p:nvSpPr>
        <p:spPr>
          <a:xfrm flipH="1">
            <a:off x="4870450" y="4106863"/>
            <a:ext cx="88900" cy="139700"/>
          </a:xfrm>
          <a:prstGeom prst="line">
            <a:avLst/>
          </a:prstGeom>
          <a:ln w="12700" cap="flat" cmpd="sng">
            <a:solidFill>
              <a:schemeClr val="tx1"/>
            </a:solidFill>
            <a:prstDash val="solid"/>
            <a:round/>
            <a:headEnd type="none" w="med" len="med"/>
            <a:tailEnd type="none" w="med" len="med"/>
          </a:ln>
        </p:spPr>
      </p:sp>
      <p:sp>
        <p:nvSpPr>
          <p:cNvPr id="85005" name="直接连接符 227341"/>
          <p:cNvSpPr/>
          <p:nvPr/>
        </p:nvSpPr>
        <p:spPr>
          <a:xfrm>
            <a:off x="2451100" y="4862513"/>
            <a:ext cx="660400" cy="0"/>
          </a:xfrm>
          <a:prstGeom prst="line">
            <a:avLst/>
          </a:prstGeom>
          <a:ln w="25400" cap="flat" cmpd="sng">
            <a:solidFill>
              <a:schemeClr val="tx1"/>
            </a:solidFill>
            <a:prstDash val="solid"/>
            <a:round/>
            <a:headEnd type="none" w="med" len="med"/>
            <a:tailEnd type="triangle" w="med" len="med"/>
          </a:ln>
        </p:spPr>
      </p:sp>
      <p:sp>
        <p:nvSpPr>
          <p:cNvPr id="85006" name="直接连接符 227342"/>
          <p:cNvSpPr/>
          <p:nvPr/>
        </p:nvSpPr>
        <p:spPr>
          <a:xfrm flipH="1">
            <a:off x="2660650" y="4779963"/>
            <a:ext cx="88900" cy="133350"/>
          </a:xfrm>
          <a:prstGeom prst="line">
            <a:avLst/>
          </a:prstGeom>
          <a:ln w="12700" cap="flat" cmpd="sng">
            <a:solidFill>
              <a:schemeClr val="tx1"/>
            </a:solidFill>
            <a:prstDash val="solid"/>
            <a:round/>
            <a:headEnd type="none" w="med" len="med"/>
            <a:tailEnd type="none" w="med" len="med"/>
          </a:ln>
        </p:spPr>
      </p:sp>
      <p:sp>
        <p:nvSpPr>
          <p:cNvPr id="85007" name="矩形 227343"/>
          <p:cNvSpPr/>
          <p:nvPr/>
        </p:nvSpPr>
        <p:spPr>
          <a:xfrm>
            <a:off x="2347913" y="4845050"/>
            <a:ext cx="3841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16</a:t>
            </a:r>
            <a:endParaRPr lang="zh-CN" altLang="en-US" b="0" dirty="0">
              <a:latin typeface="Times New Roman" panose="02020603050405020304" pitchFamily="18" charset="0"/>
              <a:ea typeface="宋体" panose="02010600030101010101" pitchFamily="2" charset="-122"/>
            </a:endParaRPr>
          </a:p>
        </p:txBody>
      </p:sp>
      <p:sp>
        <p:nvSpPr>
          <p:cNvPr id="85008" name="矩形 227344"/>
          <p:cNvSpPr/>
          <p:nvPr/>
        </p:nvSpPr>
        <p:spPr>
          <a:xfrm>
            <a:off x="1738313" y="4699000"/>
            <a:ext cx="9048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85009" name="直接连接符 227345"/>
          <p:cNvSpPr/>
          <p:nvPr/>
        </p:nvSpPr>
        <p:spPr>
          <a:xfrm>
            <a:off x="2374900" y="3978275"/>
            <a:ext cx="508000" cy="0"/>
          </a:xfrm>
          <a:prstGeom prst="line">
            <a:avLst/>
          </a:prstGeom>
          <a:ln w="25400" cap="flat" cmpd="sng">
            <a:solidFill>
              <a:srgbClr val="0000FF"/>
            </a:solidFill>
            <a:prstDash val="solid"/>
            <a:round/>
            <a:headEnd type="none" w="med" len="med"/>
            <a:tailEnd type="triangle" w="med" len="med"/>
          </a:ln>
        </p:spPr>
      </p:sp>
      <p:sp>
        <p:nvSpPr>
          <p:cNvPr id="85010" name="矩形 227346"/>
          <p:cNvSpPr/>
          <p:nvPr/>
        </p:nvSpPr>
        <p:spPr>
          <a:xfrm>
            <a:off x="3136900" y="4341813"/>
            <a:ext cx="355600" cy="10922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85011" name="组合 227347"/>
          <p:cNvGrpSpPr/>
          <p:nvPr/>
        </p:nvGrpSpPr>
        <p:grpSpPr>
          <a:xfrm>
            <a:off x="5262563" y="3092450"/>
            <a:ext cx="376237" cy="1325563"/>
            <a:chOff x="3315" y="2101"/>
            <a:chExt cx="237" cy="835"/>
          </a:xfrm>
        </p:grpSpPr>
        <p:grpSp>
          <p:nvGrpSpPr>
            <p:cNvPr id="85012" name="组合 227348"/>
            <p:cNvGrpSpPr/>
            <p:nvPr/>
          </p:nvGrpSpPr>
          <p:grpSpPr>
            <a:xfrm>
              <a:off x="3360" y="2101"/>
              <a:ext cx="192" cy="835"/>
              <a:chOff x="3360" y="2101"/>
              <a:chExt cx="192" cy="835"/>
            </a:xfrm>
          </p:grpSpPr>
          <p:sp>
            <p:nvSpPr>
              <p:cNvPr id="85013" name="直接连接符 227349"/>
              <p:cNvSpPr/>
              <p:nvPr/>
            </p:nvSpPr>
            <p:spPr>
              <a:xfrm>
                <a:off x="3360" y="2101"/>
                <a:ext cx="0" cy="819"/>
              </a:xfrm>
              <a:prstGeom prst="line">
                <a:avLst/>
              </a:prstGeom>
              <a:ln w="25400" cap="flat" cmpd="sng">
                <a:solidFill>
                  <a:schemeClr val="tx1"/>
                </a:solidFill>
                <a:prstDash val="solid"/>
                <a:round/>
                <a:headEnd type="none" w="med" len="med"/>
                <a:tailEnd type="none" w="med" len="med"/>
              </a:ln>
            </p:spPr>
          </p:sp>
          <p:sp>
            <p:nvSpPr>
              <p:cNvPr id="85014" name="直接连接符 227350"/>
              <p:cNvSpPr/>
              <p:nvPr/>
            </p:nvSpPr>
            <p:spPr>
              <a:xfrm>
                <a:off x="3368" y="2101"/>
                <a:ext cx="176" cy="95"/>
              </a:xfrm>
              <a:prstGeom prst="line">
                <a:avLst/>
              </a:prstGeom>
              <a:ln w="25400" cap="flat" cmpd="sng">
                <a:solidFill>
                  <a:schemeClr val="tx1"/>
                </a:solidFill>
                <a:prstDash val="solid"/>
                <a:round/>
                <a:headEnd type="none" w="med" len="med"/>
                <a:tailEnd type="none" w="med" len="med"/>
              </a:ln>
            </p:spPr>
          </p:sp>
          <p:sp>
            <p:nvSpPr>
              <p:cNvPr id="85015" name="直接连接符 227351"/>
              <p:cNvSpPr/>
              <p:nvPr/>
            </p:nvSpPr>
            <p:spPr>
              <a:xfrm flipV="1">
                <a:off x="3368" y="2809"/>
                <a:ext cx="176" cy="127"/>
              </a:xfrm>
              <a:prstGeom prst="line">
                <a:avLst/>
              </a:prstGeom>
              <a:ln w="25400" cap="flat" cmpd="sng">
                <a:solidFill>
                  <a:schemeClr val="tx1"/>
                </a:solidFill>
                <a:prstDash val="solid"/>
                <a:round/>
                <a:headEnd type="none" w="med" len="med"/>
                <a:tailEnd type="none" w="med" len="med"/>
              </a:ln>
            </p:spPr>
          </p:sp>
          <p:sp>
            <p:nvSpPr>
              <p:cNvPr id="85016" name="直接连接符 227352"/>
              <p:cNvSpPr/>
              <p:nvPr/>
            </p:nvSpPr>
            <p:spPr>
              <a:xfrm>
                <a:off x="3552" y="2212"/>
                <a:ext cx="0" cy="597"/>
              </a:xfrm>
              <a:prstGeom prst="line">
                <a:avLst/>
              </a:prstGeom>
              <a:ln w="25400" cap="flat" cmpd="sng">
                <a:solidFill>
                  <a:schemeClr val="tx1"/>
                </a:solidFill>
                <a:prstDash val="solid"/>
                <a:round/>
                <a:headEnd type="none" w="med" len="med"/>
                <a:tailEnd type="none" w="med" len="med"/>
              </a:ln>
            </p:spPr>
          </p:sp>
        </p:grpSp>
        <p:sp>
          <p:nvSpPr>
            <p:cNvPr id="85017" name="矩形 227353"/>
            <p:cNvSpPr/>
            <p:nvPr/>
          </p:nvSpPr>
          <p:spPr>
            <a:xfrm rot="5400000">
              <a:off x="3224" y="2418"/>
              <a:ext cx="402"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85018" name="矩形 227354"/>
            <p:cNvSpPr/>
            <p:nvPr/>
          </p:nvSpPr>
          <p:spPr>
            <a:xfrm>
              <a:off x="3351" y="2181"/>
              <a:ext cx="178" cy="210"/>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85019" name="矩形 227355"/>
            <p:cNvSpPr/>
            <p:nvPr/>
          </p:nvSpPr>
          <p:spPr>
            <a:xfrm>
              <a:off x="3351" y="2651"/>
              <a:ext cx="178" cy="210"/>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grpSp>
      <p:grpSp>
        <p:nvGrpSpPr>
          <p:cNvPr id="85020" name="组合 227356"/>
          <p:cNvGrpSpPr/>
          <p:nvPr/>
        </p:nvGrpSpPr>
        <p:grpSpPr>
          <a:xfrm>
            <a:off x="2895600" y="2978150"/>
            <a:ext cx="457200" cy="1157288"/>
            <a:chOff x="1824" y="2029"/>
            <a:chExt cx="288" cy="729"/>
          </a:xfrm>
        </p:grpSpPr>
        <p:sp>
          <p:nvSpPr>
            <p:cNvPr id="85021" name="直接连接符 227357"/>
            <p:cNvSpPr/>
            <p:nvPr/>
          </p:nvSpPr>
          <p:spPr>
            <a:xfrm>
              <a:off x="1824" y="2029"/>
              <a:ext cx="0" cy="166"/>
            </a:xfrm>
            <a:prstGeom prst="line">
              <a:avLst/>
            </a:prstGeom>
            <a:ln w="25400" cap="flat" cmpd="sng">
              <a:solidFill>
                <a:srgbClr val="0000FF"/>
              </a:solidFill>
              <a:prstDash val="solid"/>
              <a:round/>
              <a:headEnd type="none" w="med" len="med"/>
              <a:tailEnd type="none" w="med" len="med"/>
            </a:ln>
          </p:spPr>
        </p:sp>
        <p:sp>
          <p:nvSpPr>
            <p:cNvPr id="85022" name="直接连接符 227358"/>
            <p:cNvSpPr/>
            <p:nvPr/>
          </p:nvSpPr>
          <p:spPr>
            <a:xfrm>
              <a:off x="1832" y="2029"/>
              <a:ext cx="272" cy="166"/>
            </a:xfrm>
            <a:prstGeom prst="line">
              <a:avLst/>
            </a:prstGeom>
            <a:ln w="25400" cap="flat" cmpd="sng">
              <a:solidFill>
                <a:srgbClr val="0000FF"/>
              </a:solidFill>
              <a:prstDash val="solid"/>
              <a:round/>
              <a:headEnd type="none" w="med" len="med"/>
              <a:tailEnd type="none" w="med" len="med"/>
            </a:ln>
          </p:spPr>
        </p:sp>
        <p:sp>
          <p:nvSpPr>
            <p:cNvPr id="85023" name="直接连接符 227359"/>
            <p:cNvSpPr/>
            <p:nvPr/>
          </p:nvSpPr>
          <p:spPr>
            <a:xfrm>
              <a:off x="1832" y="2211"/>
              <a:ext cx="128" cy="76"/>
            </a:xfrm>
            <a:prstGeom prst="line">
              <a:avLst/>
            </a:prstGeom>
            <a:ln w="25400" cap="flat" cmpd="sng">
              <a:solidFill>
                <a:srgbClr val="0000FF"/>
              </a:solidFill>
              <a:prstDash val="solid"/>
              <a:round/>
              <a:headEnd type="none" w="med" len="med"/>
              <a:tailEnd type="none" w="med" len="med"/>
            </a:ln>
          </p:spPr>
        </p:sp>
        <p:sp>
          <p:nvSpPr>
            <p:cNvPr id="85024" name="直接连接符 227360"/>
            <p:cNvSpPr/>
            <p:nvPr/>
          </p:nvSpPr>
          <p:spPr>
            <a:xfrm>
              <a:off x="1968" y="2303"/>
              <a:ext cx="0" cy="166"/>
            </a:xfrm>
            <a:prstGeom prst="line">
              <a:avLst/>
            </a:prstGeom>
            <a:ln w="25400" cap="flat" cmpd="sng">
              <a:solidFill>
                <a:srgbClr val="0000FF"/>
              </a:solidFill>
              <a:prstDash val="solid"/>
              <a:round/>
              <a:headEnd type="none" w="med" len="med"/>
              <a:tailEnd type="none" w="med" len="med"/>
            </a:ln>
          </p:spPr>
        </p:sp>
        <p:sp>
          <p:nvSpPr>
            <p:cNvPr id="85025" name="直接连接符 227361"/>
            <p:cNvSpPr/>
            <p:nvPr/>
          </p:nvSpPr>
          <p:spPr>
            <a:xfrm>
              <a:off x="2112" y="2211"/>
              <a:ext cx="0" cy="349"/>
            </a:xfrm>
            <a:prstGeom prst="line">
              <a:avLst/>
            </a:prstGeom>
            <a:ln w="25400" cap="flat" cmpd="sng">
              <a:solidFill>
                <a:srgbClr val="0000FF"/>
              </a:solidFill>
              <a:prstDash val="solid"/>
              <a:round/>
              <a:headEnd type="none" w="med" len="med"/>
              <a:tailEnd type="none" w="med" len="med"/>
            </a:ln>
          </p:spPr>
        </p:sp>
        <p:sp>
          <p:nvSpPr>
            <p:cNvPr id="85026" name="直接连接符 227362"/>
            <p:cNvSpPr/>
            <p:nvPr/>
          </p:nvSpPr>
          <p:spPr>
            <a:xfrm flipV="1">
              <a:off x="1832" y="2469"/>
              <a:ext cx="128" cy="107"/>
            </a:xfrm>
            <a:prstGeom prst="line">
              <a:avLst/>
            </a:prstGeom>
            <a:ln w="25400" cap="flat" cmpd="sng">
              <a:solidFill>
                <a:srgbClr val="0000FF"/>
              </a:solidFill>
              <a:prstDash val="solid"/>
              <a:round/>
              <a:headEnd type="none" w="med" len="med"/>
              <a:tailEnd type="none" w="med" len="med"/>
            </a:ln>
          </p:spPr>
        </p:sp>
        <p:sp>
          <p:nvSpPr>
            <p:cNvPr id="85027" name="直接连接符 227363"/>
            <p:cNvSpPr/>
            <p:nvPr/>
          </p:nvSpPr>
          <p:spPr>
            <a:xfrm>
              <a:off x="1824" y="2576"/>
              <a:ext cx="0" cy="166"/>
            </a:xfrm>
            <a:prstGeom prst="line">
              <a:avLst/>
            </a:prstGeom>
            <a:ln w="25400" cap="flat" cmpd="sng">
              <a:solidFill>
                <a:srgbClr val="0000FF"/>
              </a:solidFill>
              <a:prstDash val="solid"/>
              <a:round/>
              <a:headEnd type="none" w="med" len="med"/>
              <a:tailEnd type="none" w="med" len="med"/>
            </a:ln>
          </p:spPr>
        </p:sp>
        <p:sp>
          <p:nvSpPr>
            <p:cNvPr id="85028" name="直接连接符 227364"/>
            <p:cNvSpPr/>
            <p:nvPr/>
          </p:nvSpPr>
          <p:spPr>
            <a:xfrm flipV="1">
              <a:off x="1832" y="2560"/>
              <a:ext cx="272" cy="198"/>
            </a:xfrm>
            <a:prstGeom prst="line">
              <a:avLst/>
            </a:prstGeom>
            <a:ln w="25400" cap="flat" cmpd="sng">
              <a:solidFill>
                <a:srgbClr val="0000FF"/>
              </a:solidFill>
              <a:prstDash val="solid"/>
              <a:round/>
              <a:headEnd type="none" w="med" len="med"/>
              <a:tailEnd type="none" w="med" len="med"/>
            </a:ln>
          </p:spPr>
        </p:sp>
      </p:grpSp>
      <p:sp>
        <p:nvSpPr>
          <p:cNvPr id="85029" name="矩形 227365"/>
          <p:cNvSpPr/>
          <p:nvPr/>
        </p:nvSpPr>
        <p:spPr>
          <a:xfrm rot="5400000">
            <a:off x="2805113" y="3309938"/>
            <a:ext cx="841375" cy="363537"/>
          </a:xfrm>
          <a:prstGeom prst="rect">
            <a:avLst/>
          </a:prstGeom>
          <a:noFill/>
          <a:ln w="12700">
            <a:noFill/>
          </a:ln>
        </p:spPr>
        <p:txBody>
          <a:bodyPr wrap="none" lIns="90488" tIns="44450" rIns="90488" bIns="44450" anchor="t" anchorCtr="0">
            <a:spAutoFit/>
          </a:bodyPr>
          <a:p>
            <a:r>
              <a:rPr lang="en-US" altLang="zh-CN" sz="1800">
                <a:solidFill>
                  <a:srgbClr val="0000FF"/>
                </a:solidFill>
                <a:latin typeface="Arial" panose="020B0604020202020204" pitchFamily="34" charset="0"/>
                <a:ea typeface="宋体" panose="02010600030101010101" pitchFamily="2" charset="-122"/>
              </a:rPr>
              <a:t>Adder</a:t>
            </a:r>
            <a:endParaRPr lang="en-US" altLang="zh-CN" sz="1800">
              <a:solidFill>
                <a:srgbClr val="0000FF"/>
              </a:solidFill>
              <a:latin typeface="Arial" panose="020B0604020202020204" pitchFamily="34" charset="0"/>
              <a:ea typeface="宋体" panose="02010600030101010101" pitchFamily="2" charset="-122"/>
            </a:endParaRPr>
          </a:p>
        </p:txBody>
      </p:sp>
      <p:sp>
        <p:nvSpPr>
          <p:cNvPr id="85030" name="矩形 227366"/>
          <p:cNvSpPr/>
          <p:nvPr/>
        </p:nvSpPr>
        <p:spPr>
          <a:xfrm>
            <a:off x="1890713" y="3795713"/>
            <a:ext cx="536575" cy="363537"/>
          </a:xfrm>
          <a:prstGeom prst="rect">
            <a:avLst/>
          </a:prstGeom>
          <a:noFill/>
          <a:ln w="12700">
            <a:noFill/>
          </a:ln>
        </p:spPr>
        <p:txBody>
          <a:bodyPr wrap="none" lIns="90488" tIns="44450" rIns="90488" bIns="44450" anchor="t" anchorCtr="0">
            <a:spAutoFit/>
          </a:bodyPr>
          <a:p>
            <a:r>
              <a:rPr lang="zh-CN" altLang="en-US" sz="1800" dirty="0">
                <a:solidFill>
                  <a:srgbClr val="0000FF"/>
                </a:solidFill>
                <a:latin typeface="Arial" panose="020B0604020202020204" pitchFamily="34" charset="0"/>
                <a:ea typeface="宋体" panose="02010600030101010101" pitchFamily="2" charset="-122"/>
              </a:rPr>
              <a:t>“1”</a:t>
            </a:r>
            <a:endParaRPr lang="zh-CN" altLang="en-US" sz="1800" dirty="0">
              <a:solidFill>
                <a:srgbClr val="0000FF"/>
              </a:solidFill>
              <a:latin typeface="Arial" panose="020B0604020202020204" pitchFamily="34" charset="0"/>
              <a:ea typeface="宋体" panose="02010600030101010101" pitchFamily="2" charset="-122"/>
            </a:endParaRPr>
          </a:p>
        </p:txBody>
      </p:sp>
      <p:grpSp>
        <p:nvGrpSpPr>
          <p:cNvPr id="85031" name="组合 227367"/>
          <p:cNvGrpSpPr/>
          <p:nvPr/>
        </p:nvGrpSpPr>
        <p:grpSpPr>
          <a:xfrm>
            <a:off x="1308100" y="2513013"/>
            <a:ext cx="585788" cy="2103437"/>
            <a:chOff x="824" y="1736"/>
            <a:chExt cx="369" cy="1325"/>
          </a:xfrm>
        </p:grpSpPr>
        <p:sp>
          <p:nvSpPr>
            <p:cNvPr id="85032" name="矩形 227368"/>
            <p:cNvSpPr/>
            <p:nvPr/>
          </p:nvSpPr>
          <p:spPr>
            <a:xfrm>
              <a:off x="872" y="1736"/>
              <a:ext cx="176" cy="752"/>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5033" name="椭圆 227369"/>
            <p:cNvSpPr/>
            <p:nvPr/>
          </p:nvSpPr>
          <p:spPr>
            <a:xfrm>
              <a:off x="920" y="2504"/>
              <a:ext cx="80" cy="8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85034" name="直接连接符 227370"/>
            <p:cNvSpPr/>
            <p:nvPr/>
          </p:nvSpPr>
          <p:spPr>
            <a:xfrm>
              <a:off x="960" y="2600"/>
              <a:ext cx="0" cy="224"/>
            </a:xfrm>
            <a:prstGeom prst="line">
              <a:avLst/>
            </a:prstGeom>
            <a:ln w="25400" cap="flat" cmpd="sng">
              <a:solidFill>
                <a:schemeClr val="tx1"/>
              </a:solidFill>
              <a:prstDash val="solid"/>
              <a:round/>
              <a:headEnd type="none" w="med" len="med"/>
              <a:tailEnd type="none" w="med" len="med"/>
            </a:ln>
          </p:spPr>
        </p:sp>
        <p:sp>
          <p:nvSpPr>
            <p:cNvPr id="85035" name="矩形 227371"/>
            <p:cNvSpPr/>
            <p:nvPr/>
          </p:nvSpPr>
          <p:spPr>
            <a:xfrm rot="5400000">
              <a:off x="777" y="2064"/>
              <a:ext cx="31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85036" name="矩形 227372"/>
            <p:cNvSpPr/>
            <p:nvPr/>
          </p:nvSpPr>
          <p:spPr>
            <a:xfrm>
              <a:off x="855" y="2832"/>
              <a:ext cx="338" cy="229"/>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Clk</a:t>
              </a:r>
              <a:endParaRPr lang="en-US" altLang="zh-CN" sz="1800">
                <a:solidFill>
                  <a:schemeClr val="accent1"/>
                </a:solidFill>
                <a:latin typeface="Arial" panose="020B0604020202020204" pitchFamily="34" charset="0"/>
                <a:ea typeface="宋体" panose="02010600030101010101" pitchFamily="2" charset="-122"/>
              </a:endParaRPr>
            </a:p>
          </p:txBody>
        </p:sp>
      </p:grpSp>
      <p:grpSp>
        <p:nvGrpSpPr>
          <p:cNvPr id="85037" name="组合 227374"/>
          <p:cNvGrpSpPr/>
          <p:nvPr/>
        </p:nvGrpSpPr>
        <p:grpSpPr>
          <a:xfrm>
            <a:off x="4176713" y="3587750"/>
            <a:ext cx="457200" cy="1157288"/>
            <a:chOff x="2640" y="2413"/>
            <a:chExt cx="288" cy="729"/>
          </a:xfrm>
        </p:grpSpPr>
        <p:sp>
          <p:nvSpPr>
            <p:cNvPr id="85038" name="直接连接符 227375"/>
            <p:cNvSpPr/>
            <p:nvPr/>
          </p:nvSpPr>
          <p:spPr>
            <a:xfrm>
              <a:off x="2640" y="2413"/>
              <a:ext cx="0" cy="166"/>
            </a:xfrm>
            <a:prstGeom prst="line">
              <a:avLst/>
            </a:prstGeom>
            <a:ln w="25400" cap="flat" cmpd="sng">
              <a:solidFill>
                <a:schemeClr val="tx1"/>
              </a:solidFill>
              <a:prstDash val="solid"/>
              <a:round/>
              <a:headEnd type="none" w="med" len="med"/>
              <a:tailEnd type="none" w="med" len="med"/>
            </a:ln>
          </p:spPr>
        </p:sp>
        <p:sp>
          <p:nvSpPr>
            <p:cNvPr id="85039" name="直接连接符 227376"/>
            <p:cNvSpPr/>
            <p:nvPr/>
          </p:nvSpPr>
          <p:spPr>
            <a:xfrm>
              <a:off x="2648" y="2413"/>
              <a:ext cx="272" cy="166"/>
            </a:xfrm>
            <a:prstGeom prst="line">
              <a:avLst/>
            </a:prstGeom>
            <a:ln w="25400" cap="flat" cmpd="sng">
              <a:solidFill>
                <a:schemeClr val="tx1"/>
              </a:solidFill>
              <a:prstDash val="solid"/>
              <a:round/>
              <a:headEnd type="none" w="med" len="med"/>
              <a:tailEnd type="none" w="med" len="med"/>
            </a:ln>
          </p:spPr>
        </p:sp>
        <p:sp>
          <p:nvSpPr>
            <p:cNvPr id="85040" name="直接连接符 227377"/>
            <p:cNvSpPr/>
            <p:nvPr/>
          </p:nvSpPr>
          <p:spPr>
            <a:xfrm>
              <a:off x="2648" y="2595"/>
              <a:ext cx="128" cy="76"/>
            </a:xfrm>
            <a:prstGeom prst="line">
              <a:avLst/>
            </a:prstGeom>
            <a:ln w="25400" cap="flat" cmpd="sng">
              <a:solidFill>
                <a:schemeClr val="tx1"/>
              </a:solidFill>
              <a:prstDash val="solid"/>
              <a:round/>
              <a:headEnd type="none" w="med" len="med"/>
              <a:tailEnd type="none" w="med" len="med"/>
            </a:ln>
          </p:spPr>
        </p:sp>
        <p:sp>
          <p:nvSpPr>
            <p:cNvPr id="85041" name="直接连接符 227378"/>
            <p:cNvSpPr/>
            <p:nvPr/>
          </p:nvSpPr>
          <p:spPr>
            <a:xfrm>
              <a:off x="2784" y="2687"/>
              <a:ext cx="0" cy="166"/>
            </a:xfrm>
            <a:prstGeom prst="line">
              <a:avLst/>
            </a:prstGeom>
            <a:ln w="25400" cap="flat" cmpd="sng">
              <a:solidFill>
                <a:schemeClr val="tx1"/>
              </a:solidFill>
              <a:prstDash val="solid"/>
              <a:round/>
              <a:headEnd type="none" w="med" len="med"/>
              <a:tailEnd type="none" w="med" len="med"/>
            </a:ln>
          </p:spPr>
        </p:sp>
        <p:sp>
          <p:nvSpPr>
            <p:cNvPr id="85042" name="直接连接符 227379"/>
            <p:cNvSpPr/>
            <p:nvPr/>
          </p:nvSpPr>
          <p:spPr>
            <a:xfrm>
              <a:off x="2928" y="2595"/>
              <a:ext cx="0" cy="349"/>
            </a:xfrm>
            <a:prstGeom prst="line">
              <a:avLst/>
            </a:prstGeom>
            <a:ln w="25400" cap="flat" cmpd="sng">
              <a:solidFill>
                <a:schemeClr val="tx1"/>
              </a:solidFill>
              <a:prstDash val="solid"/>
              <a:round/>
              <a:headEnd type="none" w="med" len="med"/>
              <a:tailEnd type="none" w="med" len="med"/>
            </a:ln>
          </p:spPr>
        </p:sp>
        <p:sp>
          <p:nvSpPr>
            <p:cNvPr id="85043" name="直接连接符 227380"/>
            <p:cNvSpPr/>
            <p:nvPr/>
          </p:nvSpPr>
          <p:spPr>
            <a:xfrm flipV="1">
              <a:off x="2648" y="2853"/>
              <a:ext cx="128" cy="107"/>
            </a:xfrm>
            <a:prstGeom prst="line">
              <a:avLst/>
            </a:prstGeom>
            <a:ln w="25400" cap="flat" cmpd="sng">
              <a:solidFill>
                <a:schemeClr val="tx1"/>
              </a:solidFill>
              <a:prstDash val="solid"/>
              <a:round/>
              <a:headEnd type="none" w="med" len="med"/>
              <a:tailEnd type="none" w="med" len="med"/>
            </a:ln>
          </p:spPr>
        </p:sp>
        <p:sp>
          <p:nvSpPr>
            <p:cNvPr id="85044" name="直接连接符 227381"/>
            <p:cNvSpPr/>
            <p:nvPr/>
          </p:nvSpPr>
          <p:spPr>
            <a:xfrm>
              <a:off x="2640" y="2960"/>
              <a:ext cx="0" cy="166"/>
            </a:xfrm>
            <a:prstGeom prst="line">
              <a:avLst/>
            </a:prstGeom>
            <a:ln w="25400" cap="flat" cmpd="sng">
              <a:solidFill>
                <a:schemeClr val="tx1"/>
              </a:solidFill>
              <a:prstDash val="solid"/>
              <a:round/>
              <a:headEnd type="none" w="med" len="med"/>
              <a:tailEnd type="none" w="med" len="med"/>
            </a:ln>
          </p:spPr>
        </p:sp>
        <p:sp>
          <p:nvSpPr>
            <p:cNvPr id="85045" name="直接连接符 227382"/>
            <p:cNvSpPr/>
            <p:nvPr/>
          </p:nvSpPr>
          <p:spPr>
            <a:xfrm flipV="1">
              <a:off x="2648" y="2944"/>
              <a:ext cx="272" cy="198"/>
            </a:xfrm>
            <a:prstGeom prst="line">
              <a:avLst/>
            </a:prstGeom>
            <a:ln w="25400" cap="flat" cmpd="sng">
              <a:solidFill>
                <a:schemeClr val="tx1"/>
              </a:solidFill>
              <a:prstDash val="solid"/>
              <a:round/>
              <a:headEnd type="none" w="med" len="med"/>
              <a:tailEnd type="none" w="med" len="med"/>
            </a:ln>
          </p:spPr>
        </p:sp>
      </p:grpSp>
      <p:sp>
        <p:nvSpPr>
          <p:cNvPr id="85046" name="矩形 227383"/>
          <p:cNvSpPr/>
          <p:nvPr/>
        </p:nvSpPr>
        <p:spPr>
          <a:xfrm rot="5400000">
            <a:off x="4086225" y="3946525"/>
            <a:ext cx="8413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sp>
        <p:nvSpPr>
          <p:cNvPr id="85047" name="直接连接符 227384"/>
          <p:cNvSpPr/>
          <p:nvPr/>
        </p:nvSpPr>
        <p:spPr>
          <a:xfrm>
            <a:off x="3517900" y="4629150"/>
            <a:ext cx="660400" cy="0"/>
          </a:xfrm>
          <a:prstGeom prst="line">
            <a:avLst/>
          </a:prstGeom>
          <a:ln w="25400" cap="flat" cmpd="sng">
            <a:solidFill>
              <a:schemeClr val="tx1"/>
            </a:solidFill>
            <a:prstDash val="solid"/>
            <a:round/>
            <a:headEnd type="none" w="med" len="med"/>
            <a:tailEnd type="triangle" w="med" len="med"/>
          </a:ln>
        </p:spPr>
      </p:sp>
      <p:sp>
        <p:nvSpPr>
          <p:cNvPr id="85048" name="矩形 227385"/>
          <p:cNvSpPr/>
          <p:nvPr/>
        </p:nvSpPr>
        <p:spPr>
          <a:xfrm>
            <a:off x="3509963" y="46640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5049" name="直接连接符 227386"/>
          <p:cNvSpPr/>
          <p:nvPr/>
        </p:nvSpPr>
        <p:spPr>
          <a:xfrm flipH="1">
            <a:off x="3727450" y="4564063"/>
            <a:ext cx="88900" cy="139700"/>
          </a:xfrm>
          <a:prstGeom prst="line">
            <a:avLst/>
          </a:prstGeom>
          <a:ln w="12700" cap="flat" cmpd="sng">
            <a:solidFill>
              <a:schemeClr val="tx1"/>
            </a:solidFill>
            <a:prstDash val="solid"/>
            <a:round/>
            <a:headEnd type="none" w="med" len="med"/>
            <a:tailEnd type="none" w="med" len="med"/>
          </a:ln>
        </p:spPr>
      </p:sp>
      <p:grpSp>
        <p:nvGrpSpPr>
          <p:cNvPr id="85050" name="组合 227387"/>
          <p:cNvGrpSpPr/>
          <p:nvPr/>
        </p:nvGrpSpPr>
        <p:grpSpPr>
          <a:xfrm>
            <a:off x="5332413" y="4616450"/>
            <a:ext cx="385762" cy="385763"/>
            <a:chOff x="3359" y="3061"/>
            <a:chExt cx="243" cy="243"/>
          </a:xfrm>
        </p:grpSpPr>
        <p:sp>
          <p:nvSpPr>
            <p:cNvPr id="85051" name="任意多边形 227388"/>
            <p:cNvSpPr/>
            <p:nvPr/>
          </p:nvSpPr>
          <p:spPr>
            <a:xfrm rot="-5400000">
              <a:off x="3367" y="3045"/>
              <a:ext cx="91" cy="115"/>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85052" name="任意多边形 227389"/>
            <p:cNvSpPr/>
            <p:nvPr/>
          </p:nvSpPr>
          <p:spPr>
            <a:xfrm rot="5400000">
              <a:off x="3495" y="3045"/>
              <a:ext cx="91" cy="115"/>
            </a:xfrm>
            <a:custGeom>
              <a:avLst/>
              <a:gdLst/>
              <a:ahLst/>
              <a:cxnLst>
                <a:cxn ang="180">
                  <a:pos x="0" y="21411"/>
                </a:cxn>
                <a:cxn ang="270">
                  <a:pos x="21362" y="0"/>
                </a:cxn>
                <a:cxn ang="90">
                  <a:pos x="21599" y="21599"/>
                </a:cxn>
              </a:cxnLst>
              <a:pathLst>
                <a:path w="21599" h="21599" fill="none">
                  <a:moveTo>
                    <a:pt x="0" y="21411"/>
                  </a:moveTo>
                  <a:cubicBezTo>
                    <a:pt x="101" y="9647"/>
                    <a:pt x="9605" y="127"/>
                    <a:pt x="21361" y="0"/>
                  </a:cubicBezTo>
                </a:path>
                <a:path w="21599" h="21599" stroke="0">
                  <a:moveTo>
                    <a:pt x="0" y="21411"/>
                  </a:moveTo>
                  <a:cubicBezTo>
                    <a:pt x="101" y="9647"/>
                    <a:pt x="9605" y="127"/>
                    <a:pt x="21361" y="0"/>
                  </a:cubicBezTo>
                  <a:lnTo>
                    <a:pt x="21599"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85053" name="直接连接符 227390"/>
            <p:cNvSpPr/>
            <p:nvPr/>
          </p:nvSpPr>
          <p:spPr>
            <a:xfrm>
              <a:off x="3360" y="3159"/>
              <a:ext cx="0" cy="137"/>
            </a:xfrm>
            <a:prstGeom prst="line">
              <a:avLst/>
            </a:prstGeom>
            <a:ln w="25400" cap="flat" cmpd="sng">
              <a:solidFill>
                <a:schemeClr val="tx1"/>
              </a:solidFill>
              <a:prstDash val="solid"/>
              <a:round/>
              <a:headEnd type="none" w="med" len="med"/>
              <a:tailEnd type="none" w="med" len="med"/>
            </a:ln>
          </p:spPr>
        </p:sp>
        <p:sp>
          <p:nvSpPr>
            <p:cNvPr id="85054" name="直接连接符 227391"/>
            <p:cNvSpPr/>
            <p:nvPr/>
          </p:nvSpPr>
          <p:spPr>
            <a:xfrm>
              <a:off x="3368" y="3304"/>
              <a:ext cx="224" cy="0"/>
            </a:xfrm>
            <a:prstGeom prst="line">
              <a:avLst/>
            </a:prstGeom>
            <a:ln w="25400" cap="flat" cmpd="sng">
              <a:solidFill>
                <a:schemeClr val="tx1"/>
              </a:solidFill>
              <a:prstDash val="solid"/>
              <a:round/>
              <a:headEnd type="none" w="med" len="med"/>
              <a:tailEnd type="none" w="med" len="med"/>
            </a:ln>
          </p:spPr>
        </p:sp>
        <p:sp>
          <p:nvSpPr>
            <p:cNvPr id="85055" name="直接连接符 227392"/>
            <p:cNvSpPr/>
            <p:nvPr/>
          </p:nvSpPr>
          <p:spPr>
            <a:xfrm>
              <a:off x="3600" y="3159"/>
              <a:ext cx="0" cy="137"/>
            </a:xfrm>
            <a:prstGeom prst="line">
              <a:avLst/>
            </a:prstGeom>
            <a:ln w="25400" cap="flat" cmpd="sng">
              <a:solidFill>
                <a:schemeClr val="tx1"/>
              </a:solidFill>
              <a:prstDash val="solid"/>
              <a:round/>
              <a:headEnd type="none" w="med" len="med"/>
              <a:tailEnd type="none" w="med" len="med"/>
            </a:ln>
          </p:spPr>
        </p:sp>
      </p:grpSp>
      <p:sp>
        <p:nvSpPr>
          <p:cNvPr id="85056" name="直接连接符 227393"/>
          <p:cNvSpPr/>
          <p:nvPr/>
        </p:nvSpPr>
        <p:spPr>
          <a:xfrm flipV="1">
            <a:off x="5524500" y="4318000"/>
            <a:ext cx="0" cy="293688"/>
          </a:xfrm>
          <a:prstGeom prst="line">
            <a:avLst/>
          </a:prstGeom>
          <a:ln w="25400" cap="flat" cmpd="sng">
            <a:solidFill>
              <a:schemeClr val="tx1"/>
            </a:solidFill>
            <a:prstDash val="solid"/>
            <a:round/>
            <a:headEnd type="none" w="med" len="med"/>
            <a:tailEnd type="none" w="med" len="med"/>
          </a:ln>
        </p:spPr>
      </p:sp>
      <p:sp>
        <p:nvSpPr>
          <p:cNvPr id="85057" name="直接连接符 227394"/>
          <p:cNvSpPr/>
          <p:nvPr/>
        </p:nvSpPr>
        <p:spPr>
          <a:xfrm>
            <a:off x="5410200" y="5027613"/>
            <a:ext cx="0" cy="355600"/>
          </a:xfrm>
          <a:prstGeom prst="line">
            <a:avLst/>
          </a:prstGeom>
          <a:ln w="25400" cap="flat" cmpd="sng">
            <a:solidFill>
              <a:schemeClr val="tx1"/>
            </a:solidFill>
            <a:prstDash val="solid"/>
            <a:round/>
            <a:headEnd type="none" w="med" len="med"/>
            <a:tailEnd type="none" w="med" len="med"/>
          </a:ln>
        </p:spPr>
      </p:sp>
      <p:sp>
        <p:nvSpPr>
          <p:cNvPr id="85058" name="直接连接符 227395"/>
          <p:cNvSpPr/>
          <p:nvPr/>
        </p:nvSpPr>
        <p:spPr>
          <a:xfrm>
            <a:off x="5638800" y="5027613"/>
            <a:ext cx="0" cy="660400"/>
          </a:xfrm>
          <a:prstGeom prst="line">
            <a:avLst/>
          </a:prstGeom>
          <a:ln w="25400" cap="flat" cmpd="sng">
            <a:solidFill>
              <a:schemeClr val="tx1"/>
            </a:solidFill>
            <a:prstDash val="solid"/>
            <a:round/>
            <a:headEnd type="none" w="med" len="med"/>
            <a:tailEnd type="none" w="med" len="med"/>
          </a:ln>
        </p:spPr>
      </p:sp>
      <p:sp>
        <p:nvSpPr>
          <p:cNvPr id="85059" name="直接连接符 227396"/>
          <p:cNvSpPr/>
          <p:nvPr/>
        </p:nvSpPr>
        <p:spPr>
          <a:xfrm>
            <a:off x="5651500" y="3719513"/>
            <a:ext cx="203200" cy="0"/>
          </a:xfrm>
          <a:prstGeom prst="line">
            <a:avLst/>
          </a:prstGeom>
          <a:ln w="25400" cap="flat" cmpd="sng">
            <a:solidFill>
              <a:schemeClr val="tx1"/>
            </a:solidFill>
            <a:prstDash val="solid"/>
            <a:round/>
            <a:headEnd type="none" w="med" len="med"/>
            <a:tailEnd type="none" w="med" len="med"/>
          </a:ln>
        </p:spPr>
      </p:sp>
      <p:sp>
        <p:nvSpPr>
          <p:cNvPr id="85060" name="直接连接符 227397"/>
          <p:cNvSpPr/>
          <p:nvPr/>
        </p:nvSpPr>
        <p:spPr>
          <a:xfrm flipV="1">
            <a:off x="5867400" y="2335213"/>
            <a:ext cx="0" cy="1397000"/>
          </a:xfrm>
          <a:prstGeom prst="line">
            <a:avLst/>
          </a:prstGeom>
          <a:ln w="25400" cap="flat" cmpd="sng">
            <a:solidFill>
              <a:schemeClr val="tx1"/>
            </a:solidFill>
            <a:prstDash val="solid"/>
            <a:round/>
            <a:headEnd type="none" w="med" len="med"/>
            <a:tailEnd type="none" w="med" len="med"/>
          </a:ln>
        </p:spPr>
      </p:sp>
      <p:sp>
        <p:nvSpPr>
          <p:cNvPr id="85061" name="直接连接符 227398"/>
          <p:cNvSpPr/>
          <p:nvPr/>
        </p:nvSpPr>
        <p:spPr>
          <a:xfrm flipH="1">
            <a:off x="749300" y="2347913"/>
            <a:ext cx="5130800" cy="0"/>
          </a:xfrm>
          <a:prstGeom prst="line">
            <a:avLst/>
          </a:prstGeom>
          <a:ln w="25400" cap="flat" cmpd="sng">
            <a:solidFill>
              <a:schemeClr val="tx1"/>
            </a:solidFill>
            <a:prstDash val="solid"/>
            <a:round/>
            <a:headEnd type="none" w="med" len="med"/>
            <a:tailEnd type="none" w="med" len="med"/>
          </a:ln>
        </p:spPr>
      </p:sp>
      <p:sp>
        <p:nvSpPr>
          <p:cNvPr id="85062" name="直接连接符 227399"/>
          <p:cNvSpPr/>
          <p:nvPr/>
        </p:nvSpPr>
        <p:spPr>
          <a:xfrm>
            <a:off x="762000" y="2360613"/>
            <a:ext cx="0" cy="736600"/>
          </a:xfrm>
          <a:prstGeom prst="line">
            <a:avLst/>
          </a:prstGeom>
          <a:ln w="25400" cap="flat" cmpd="sng">
            <a:solidFill>
              <a:schemeClr val="tx1"/>
            </a:solidFill>
            <a:prstDash val="solid"/>
            <a:round/>
            <a:headEnd type="none" w="med" len="med"/>
            <a:tailEnd type="none" w="med" len="med"/>
          </a:ln>
        </p:spPr>
      </p:sp>
      <p:sp>
        <p:nvSpPr>
          <p:cNvPr id="85063" name="直接连接符 227400"/>
          <p:cNvSpPr/>
          <p:nvPr/>
        </p:nvSpPr>
        <p:spPr>
          <a:xfrm>
            <a:off x="774700" y="3109913"/>
            <a:ext cx="584200" cy="0"/>
          </a:xfrm>
          <a:prstGeom prst="line">
            <a:avLst/>
          </a:prstGeom>
          <a:ln w="25400" cap="flat" cmpd="sng">
            <a:solidFill>
              <a:schemeClr val="tx1"/>
            </a:solidFill>
            <a:prstDash val="solid"/>
            <a:round/>
            <a:headEnd type="none" w="med" len="med"/>
            <a:tailEnd type="triangle" w="med" len="med"/>
          </a:ln>
        </p:spPr>
      </p:sp>
      <p:sp>
        <p:nvSpPr>
          <p:cNvPr id="85064" name="直接连接符 227401"/>
          <p:cNvSpPr/>
          <p:nvPr/>
        </p:nvSpPr>
        <p:spPr>
          <a:xfrm flipH="1">
            <a:off x="4032250" y="2278063"/>
            <a:ext cx="88900" cy="166687"/>
          </a:xfrm>
          <a:prstGeom prst="line">
            <a:avLst/>
          </a:prstGeom>
          <a:ln w="12700" cap="flat" cmpd="sng">
            <a:solidFill>
              <a:schemeClr val="tx1"/>
            </a:solidFill>
            <a:prstDash val="solid"/>
            <a:round/>
            <a:headEnd type="none" w="med" len="med"/>
            <a:tailEnd type="none" w="med" len="med"/>
          </a:ln>
        </p:spPr>
      </p:sp>
      <p:sp>
        <p:nvSpPr>
          <p:cNvPr id="85065" name="矩形 227402"/>
          <p:cNvSpPr/>
          <p:nvPr/>
        </p:nvSpPr>
        <p:spPr>
          <a:xfrm>
            <a:off x="3719513" y="23764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5066" name="矩形 227403"/>
          <p:cNvSpPr/>
          <p:nvPr/>
        </p:nvSpPr>
        <p:spPr>
          <a:xfrm>
            <a:off x="4697413" y="5395913"/>
            <a:ext cx="968375" cy="363537"/>
          </a:xfrm>
          <a:prstGeom prst="rect">
            <a:avLst/>
          </a:prstGeom>
          <a:noFill/>
          <a:ln w="12700">
            <a:noFill/>
          </a:ln>
        </p:spPr>
        <p:txBody>
          <a:bodyPr wrap="none" lIns="90488" tIns="44450" rIns="90488" bIns="44450" anchor="t" anchorCtr="0">
            <a:spAutoFit/>
          </a:bodyPr>
          <a:p>
            <a:r>
              <a:rPr lang="en-US" altLang="zh-CN" sz="1800">
                <a:solidFill>
                  <a:schemeClr val="accent1"/>
                </a:solidFill>
                <a:latin typeface="Arial" panose="020B0604020202020204" pitchFamily="34" charset="0"/>
                <a:ea typeface="宋体" panose="02010600030101010101" pitchFamily="2" charset="-122"/>
              </a:rPr>
              <a:t>Branch</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5067" name="矩形 227404"/>
          <p:cNvSpPr/>
          <p:nvPr/>
        </p:nvSpPr>
        <p:spPr>
          <a:xfrm>
            <a:off x="5654675" y="5384800"/>
            <a:ext cx="676275" cy="363538"/>
          </a:xfrm>
          <a:prstGeom prst="rect">
            <a:avLst/>
          </a:prstGeom>
          <a:noFill/>
          <a:ln w="12700">
            <a:noFill/>
          </a:ln>
        </p:spPr>
        <p:txBody>
          <a:bodyPr wrap="none" lIns="90488" tIns="44450" rIns="90488" bIns="44450" anchor="t" anchorCtr="0">
            <a:spAutoFit/>
          </a:bodyPr>
          <a:p>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85068" name="矩形 227405"/>
          <p:cNvSpPr/>
          <p:nvPr/>
        </p:nvSpPr>
        <p:spPr>
          <a:xfrm>
            <a:off x="7089775" y="2589213"/>
            <a:ext cx="1355725" cy="12700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5069" name="矩形 227406"/>
          <p:cNvSpPr/>
          <p:nvPr/>
        </p:nvSpPr>
        <p:spPr>
          <a:xfrm>
            <a:off x="7051675" y="2576513"/>
            <a:ext cx="141922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&lt;31:2</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85070" name="矩形 227407"/>
          <p:cNvSpPr/>
          <p:nvPr/>
        </p:nvSpPr>
        <p:spPr>
          <a:xfrm>
            <a:off x="7135813" y="3262313"/>
            <a:ext cx="13620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85071" name="矩形 227408"/>
          <p:cNvSpPr/>
          <p:nvPr/>
        </p:nvSpPr>
        <p:spPr>
          <a:xfrm>
            <a:off x="7051675" y="2881313"/>
            <a:ext cx="129222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85072" name="直接连接符 227409"/>
          <p:cNvSpPr/>
          <p:nvPr/>
        </p:nvSpPr>
        <p:spPr>
          <a:xfrm>
            <a:off x="6413500" y="3033713"/>
            <a:ext cx="660400" cy="0"/>
          </a:xfrm>
          <a:prstGeom prst="line">
            <a:avLst/>
          </a:prstGeom>
          <a:ln w="25400" cap="flat" cmpd="sng">
            <a:solidFill>
              <a:schemeClr val="tx1"/>
            </a:solidFill>
            <a:prstDash val="solid"/>
            <a:round/>
            <a:headEnd type="none" w="med" len="med"/>
            <a:tailEnd type="triangle" w="med" len="med"/>
          </a:ln>
        </p:spPr>
      </p:sp>
      <p:sp>
        <p:nvSpPr>
          <p:cNvPr id="85073" name="矩形 227410"/>
          <p:cNvSpPr/>
          <p:nvPr/>
        </p:nvSpPr>
        <p:spPr>
          <a:xfrm>
            <a:off x="6310313" y="3033713"/>
            <a:ext cx="6635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“00”</a:t>
            </a:r>
            <a:endParaRPr lang="zh-CN" altLang="en-US" sz="1800" dirty="0">
              <a:latin typeface="Arial" panose="020B0604020202020204" pitchFamily="34" charset="0"/>
              <a:ea typeface="宋体" panose="02010600030101010101" pitchFamily="2" charset="-122"/>
            </a:endParaRPr>
          </a:p>
        </p:txBody>
      </p:sp>
      <p:sp>
        <p:nvSpPr>
          <p:cNvPr id="85074" name="直接连接符 227411"/>
          <p:cNvSpPr/>
          <p:nvPr/>
        </p:nvSpPr>
        <p:spPr>
          <a:xfrm>
            <a:off x="7772400" y="3884613"/>
            <a:ext cx="0" cy="1041400"/>
          </a:xfrm>
          <a:prstGeom prst="line">
            <a:avLst/>
          </a:prstGeom>
          <a:ln w="25400" cap="flat" cmpd="sng">
            <a:solidFill>
              <a:schemeClr val="tx1"/>
            </a:solidFill>
            <a:prstDash val="solid"/>
            <a:round/>
            <a:headEnd type="none" w="med" len="med"/>
            <a:tailEnd type="triangle" w="med" len="med"/>
          </a:ln>
        </p:spPr>
      </p:sp>
      <p:sp>
        <p:nvSpPr>
          <p:cNvPr id="85075" name="直接连接符 227412"/>
          <p:cNvSpPr/>
          <p:nvPr/>
        </p:nvSpPr>
        <p:spPr>
          <a:xfrm flipV="1">
            <a:off x="7702550" y="4246563"/>
            <a:ext cx="139700" cy="165100"/>
          </a:xfrm>
          <a:prstGeom prst="line">
            <a:avLst/>
          </a:prstGeom>
          <a:ln w="12700" cap="flat" cmpd="sng">
            <a:solidFill>
              <a:schemeClr val="tx1"/>
            </a:solidFill>
            <a:prstDash val="solid"/>
            <a:round/>
            <a:headEnd type="none" w="med" len="med"/>
            <a:tailEnd type="none" w="med" len="med"/>
          </a:ln>
        </p:spPr>
      </p:sp>
      <p:sp>
        <p:nvSpPr>
          <p:cNvPr id="85076" name="矩形 227413"/>
          <p:cNvSpPr/>
          <p:nvPr/>
        </p:nvSpPr>
        <p:spPr>
          <a:xfrm>
            <a:off x="7834313" y="410051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5077" name="矩形 227414"/>
          <p:cNvSpPr/>
          <p:nvPr/>
        </p:nvSpPr>
        <p:spPr>
          <a:xfrm>
            <a:off x="7072313" y="4938713"/>
            <a:ext cx="206692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85078" name="直接连接符 227415"/>
          <p:cNvSpPr/>
          <p:nvPr/>
        </p:nvSpPr>
        <p:spPr>
          <a:xfrm flipH="1">
            <a:off x="3721100" y="3719513"/>
            <a:ext cx="482600" cy="0"/>
          </a:xfrm>
          <a:prstGeom prst="line">
            <a:avLst/>
          </a:prstGeom>
          <a:ln w="25400" cap="flat" cmpd="sng">
            <a:solidFill>
              <a:schemeClr val="tx1"/>
            </a:solidFill>
            <a:prstDash val="solid"/>
            <a:round/>
            <a:headEnd type="triangle" w="med" len="med"/>
            <a:tailEnd type="none" w="med" len="med"/>
          </a:ln>
        </p:spPr>
      </p:sp>
      <p:sp>
        <p:nvSpPr>
          <p:cNvPr id="85079" name="直接连接符 227416"/>
          <p:cNvSpPr/>
          <p:nvPr/>
        </p:nvSpPr>
        <p:spPr>
          <a:xfrm>
            <a:off x="3733800" y="3351213"/>
            <a:ext cx="0" cy="355600"/>
          </a:xfrm>
          <a:prstGeom prst="line">
            <a:avLst/>
          </a:prstGeom>
          <a:ln w="25400" cap="flat" cmpd="sng">
            <a:solidFill>
              <a:schemeClr val="tx1"/>
            </a:solidFill>
            <a:prstDash val="solid"/>
            <a:round/>
            <a:headEnd type="none" w="med" len="med"/>
            <a:tailEnd type="none" w="med" len="med"/>
          </a:ln>
        </p:spPr>
      </p:sp>
      <p:sp>
        <p:nvSpPr>
          <p:cNvPr id="85080" name="直接连接符 227417"/>
          <p:cNvSpPr/>
          <p:nvPr/>
        </p:nvSpPr>
        <p:spPr>
          <a:xfrm flipH="1">
            <a:off x="2425700" y="2728913"/>
            <a:ext cx="4673600" cy="0"/>
          </a:xfrm>
          <a:prstGeom prst="line">
            <a:avLst/>
          </a:prstGeom>
          <a:ln w="25400" cap="flat" cmpd="sng">
            <a:solidFill>
              <a:schemeClr val="tx1"/>
            </a:solidFill>
            <a:prstDash val="solid"/>
            <a:round/>
            <a:headEnd type="triangle" w="med" len="med"/>
            <a:tailEnd type="none" w="med" len="med"/>
          </a:ln>
        </p:spPr>
      </p:sp>
      <p:sp>
        <p:nvSpPr>
          <p:cNvPr id="85081" name="直接连接符 227418"/>
          <p:cNvSpPr/>
          <p:nvPr/>
        </p:nvSpPr>
        <p:spPr>
          <a:xfrm flipV="1">
            <a:off x="2438400" y="2716213"/>
            <a:ext cx="0" cy="406400"/>
          </a:xfrm>
          <a:prstGeom prst="line">
            <a:avLst/>
          </a:prstGeom>
          <a:ln w="25400" cap="flat" cmpd="sng">
            <a:solidFill>
              <a:schemeClr val="tx1"/>
            </a:solidFill>
            <a:prstDash val="solid"/>
            <a:round/>
            <a:headEnd type="none" w="med" len="med"/>
            <a:tailEnd type="none" w="med" len="med"/>
          </a:ln>
        </p:spPr>
      </p:sp>
      <p:sp>
        <p:nvSpPr>
          <p:cNvPr id="85082" name="矩形 227419"/>
          <p:cNvSpPr/>
          <p:nvPr/>
        </p:nvSpPr>
        <p:spPr>
          <a:xfrm>
            <a:off x="811213" y="5054600"/>
            <a:ext cx="206692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Instruction&lt;15:0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85083" name="直接连接符 227420"/>
          <p:cNvSpPr/>
          <p:nvPr/>
        </p:nvSpPr>
        <p:spPr>
          <a:xfrm flipH="1">
            <a:off x="4718050" y="2663825"/>
            <a:ext cx="88900" cy="131763"/>
          </a:xfrm>
          <a:prstGeom prst="line">
            <a:avLst/>
          </a:prstGeom>
          <a:ln w="12700" cap="flat" cmpd="sng">
            <a:solidFill>
              <a:schemeClr val="tx1"/>
            </a:solidFill>
            <a:prstDash val="solid"/>
            <a:round/>
            <a:headEnd type="none" w="med" len="med"/>
            <a:tailEnd type="none" w="med" len="med"/>
          </a:ln>
        </p:spPr>
      </p:sp>
      <p:sp>
        <p:nvSpPr>
          <p:cNvPr id="85084" name="矩形 227421"/>
          <p:cNvSpPr/>
          <p:nvPr/>
        </p:nvSpPr>
        <p:spPr>
          <a:xfrm>
            <a:off x="4405313" y="27987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227423" name="文本框 227422"/>
          <p:cNvSpPr txBox="1"/>
          <p:nvPr/>
        </p:nvSpPr>
        <p:spPr>
          <a:xfrm>
            <a:off x="477838" y="5880100"/>
            <a:ext cx="8085137" cy="641350"/>
          </a:xfrm>
          <a:prstGeom prst="rect">
            <a:avLst/>
          </a:prstGeom>
          <a:noFill/>
          <a:ln w="25400">
            <a:noFill/>
          </a:ln>
        </p:spPr>
        <p:txBody>
          <a:bodyPr anchor="t" anchorCtr="0">
            <a:spAutoFit/>
          </a:bodyPr>
          <a:p>
            <a:pPr algn="ctr">
              <a:spcBef>
                <a:spcPct val="50000"/>
              </a:spcBef>
            </a:pPr>
            <a:r>
              <a:rPr lang="zh-CN" altLang="en-US" sz="1800" dirty="0">
                <a:solidFill>
                  <a:srgbClr val="CC0000"/>
                </a:solidFill>
                <a:latin typeface="Arial" panose="020B0604020202020204" pitchFamily="34" charset="0"/>
                <a:ea typeface="黑体" panose="02010609060101010101" pitchFamily="49" charset="-122"/>
              </a:rPr>
              <a:t>先根据当前</a:t>
            </a:r>
            <a:r>
              <a:rPr lang="en-US" altLang="zh-CN" sz="1800">
                <a:solidFill>
                  <a:srgbClr val="CC0000"/>
                </a:solidFill>
                <a:latin typeface="Arial" panose="020B0604020202020204" pitchFamily="34" charset="0"/>
                <a:ea typeface="黑体" panose="02010609060101010101" pitchFamily="49" charset="-122"/>
              </a:rPr>
              <a:t>PC</a:t>
            </a:r>
            <a:r>
              <a:rPr lang="zh-CN" altLang="en-US" sz="1800" dirty="0">
                <a:solidFill>
                  <a:srgbClr val="CC0000"/>
                </a:solidFill>
                <a:latin typeface="Arial" panose="020B0604020202020204" pitchFamily="34" charset="0"/>
                <a:ea typeface="黑体" panose="02010609060101010101" pitchFamily="49" charset="-122"/>
              </a:rPr>
              <a:t>取指令，  计算的下条指令地址在下一个时钟到来后才能写入</a:t>
            </a:r>
            <a:r>
              <a:rPr lang="en-US" altLang="zh-CN" sz="1800">
                <a:solidFill>
                  <a:srgbClr val="CC0000"/>
                </a:solidFill>
                <a:latin typeface="Arial" panose="020B0604020202020204" pitchFamily="34" charset="0"/>
                <a:ea typeface="黑体" panose="02010609060101010101" pitchFamily="49" charset="-122"/>
              </a:rPr>
              <a:t>PC</a:t>
            </a:r>
            <a:r>
              <a:rPr lang="zh-CN" altLang="en-US" sz="1800" dirty="0">
                <a:solidFill>
                  <a:srgbClr val="CC0000"/>
                </a:solidFill>
                <a:latin typeface="Arial" panose="020B0604020202020204" pitchFamily="34" charset="0"/>
                <a:ea typeface="黑体" panose="02010609060101010101" pitchFamily="49" charset="-122"/>
              </a:rPr>
              <a:t>！</a:t>
            </a:r>
            <a:endParaRPr lang="zh-CN" altLang="en-US" sz="1800" dirty="0">
              <a:solidFill>
                <a:srgbClr val="CC0000"/>
              </a:solidFill>
              <a:latin typeface="Arial" panose="020B0604020202020204" pitchFamily="34" charset="0"/>
              <a:ea typeface="黑体" panose="02010609060101010101" pitchFamily="49" charset="-122"/>
            </a:endParaRPr>
          </a:p>
        </p:txBody>
      </p:sp>
      <p:sp>
        <p:nvSpPr>
          <p:cNvPr id="227424" name="文本框 227423"/>
          <p:cNvSpPr txBox="1"/>
          <p:nvPr/>
        </p:nvSpPr>
        <p:spPr>
          <a:xfrm>
            <a:off x="6264275" y="5400675"/>
            <a:ext cx="2879725" cy="366713"/>
          </a:xfrm>
          <a:prstGeom prst="rect">
            <a:avLst/>
          </a:prstGeom>
          <a:noFill/>
          <a:ln w="50800">
            <a:noFill/>
          </a:ln>
        </p:spPr>
        <p:txBody>
          <a:bodyPr anchor="t" anchorCtr="0">
            <a:spAutoFit/>
          </a:bodyPr>
          <a:p>
            <a:pPr>
              <a:spcBef>
                <a:spcPct val="50000"/>
              </a:spcBef>
            </a:pPr>
            <a:r>
              <a:rPr lang="zh-CN" altLang="en-US" sz="1800" dirty="0">
                <a:latin typeface="Arial" panose="020B0604020202020204" pitchFamily="34" charset="0"/>
                <a:ea typeface="黑体" panose="02010609060101010101" pitchFamily="49" charset="-122"/>
              </a:rPr>
              <a:t> 标志位</a:t>
            </a:r>
            <a:r>
              <a:rPr lang="en-US" altLang="zh-CN" sz="1800">
                <a:latin typeface="Arial" panose="020B0604020202020204" pitchFamily="34" charset="0"/>
                <a:ea typeface="黑体" panose="02010609060101010101" pitchFamily="49" charset="-122"/>
              </a:rPr>
              <a:t>ZF</a:t>
            </a:r>
            <a:r>
              <a:rPr lang="zh-CN" altLang="en-US" sz="1800" dirty="0">
                <a:latin typeface="Arial" panose="020B0604020202020204" pitchFamily="34" charset="0"/>
                <a:ea typeface="黑体" panose="02010609060101010101" pitchFamily="49" charset="-122"/>
              </a:rPr>
              <a:t>，由</a:t>
            </a:r>
            <a:r>
              <a:rPr lang="en-US" altLang="zh-CN" sz="1800">
                <a:latin typeface="Arial" panose="020B0604020202020204" pitchFamily="34" charset="0"/>
                <a:ea typeface="黑体" panose="02010609060101010101" pitchFamily="49" charset="-122"/>
              </a:rPr>
              <a:t>ALU</a:t>
            </a:r>
            <a:r>
              <a:rPr lang="zh-CN" altLang="en-US" sz="1800" dirty="0">
                <a:latin typeface="Arial" panose="020B0604020202020204" pitchFamily="34" charset="0"/>
                <a:ea typeface="黑体" panose="02010609060101010101" pitchFamily="49" charset="-122"/>
              </a:rPr>
              <a:t>产生！</a:t>
            </a:r>
            <a:endParaRPr lang="zh-CN" altLang="en-US" sz="1800" dirty="0">
              <a:latin typeface="Arial" panose="020B0604020202020204" pitchFamily="34" charset="0"/>
              <a:ea typeface="黑体" panose="02010609060101010101" pitchFamily="49" charset="-122"/>
            </a:endParaRPr>
          </a:p>
        </p:txBody>
      </p:sp>
      <p:sp>
        <p:nvSpPr>
          <p:cNvPr id="227426" name="文本框 227425"/>
          <p:cNvSpPr txBox="1"/>
          <p:nvPr/>
        </p:nvSpPr>
        <p:spPr>
          <a:xfrm>
            <a:off x="493713" y="6253163"/>
            <a:ext cx="8305800" cy="366712"/>
          </a:xfrm>
          <a:prstGeom prst="rect">
            <a:avLst/>
          </a:prstGeom>
          <a:noFill/>
          <a:ln w="50800">
            <a:noFill/>
          </a:ln>
        </p:spPr>
        <p:txBody>
          <a:bodyPr anchor="t" anchorCtr="0">
            <a:spAutoFit/>
          </a:bodyPr>
          <a:p>
            <a:pPr>
              <a:spcBef>
                <a:spcPct val="50000"/>
              </a:spcBef>
            </a:pPr>
            <a:r>
              <a:rPr lang="zh-CN" altLang="en-US" sz="1800" dirty="0">
                <a:latin typeface="Arial" panose="020B0604020202020204" pitchFamily="34" charset="0"/>
                <a:ea typeface="黑体" panose="02010609060101010101" pitchFamily="49" charset="-122"/>
              </a:rPr>
              <a:t>为什么这里没有用“</a:t>
            </a:r>
            <a:r>
              <a:rPr lang="en-US" altLang="zh-CN" sz="1800">
                <a:latin typeface="Arial" panose="020B0604020202020204" pitchFamily="34" charset="0"/>
                <a:ea typeface="黑体" panose="02010609060101010101" pitchFamily="49" charset="-122"/>
              </a:rPr>
              <a:t>ALU”</a:t>
            </a:r>
            <a:r>
              <a:rPr lang="zh-CN" altLang="en-US" sz="1800" dirty="0">
                <a:latin typeface="Arial" panose="020B0604020202020204" pitchFamily="34" charset="0"/>
                <a:ea typeface="黑体" panose="02010609060101010101" pitchFamily="49" charset="-122"/>
              </a:rPr>
              <a:t>而是用“</a:t>
            </a:r>
            <a:r>
              <a:rPr lang="en-US" altLang="zh-CN" sz="1800">
                <a:latin typeface="Arial" panose="020B0604020202020204" pitchFamily="34" charset="0"/>
                <a:ea typeface="黑体" panose="02010609060101010101" pitchFamily="49" charset="-122"/>
              </a:rPr>
              <a:t>Adder”?   “ALU”</a:t>
            </a:r>
            <a:r>
              <a:rPr lang="zh-CN" altLang="en-US" sz="1800" dirty="0">
                <a:latin typeface="Arial" panose="020B0604020202020204" pitchFamily="34" charset="0"/>
                <a:ea typeface="黑体" panose="02010609060101010101" pitchFamily="49" charset="-122"/>
              </a:rPr>
              <a:t>和“</a:t>
            </a:r>
            <a:r>
              <a:rPr lang="en-US" altLang="zh-CN" sz="1800">
                <a:latin typeface="Arial" panose="020B0604020202020204" pitchFamily="34" charset="0"/>
                <a:ea typeface="黑体" panose="02010609060101010101" pitchFamily="49" charset="-122"/>
              </a:rPr>
              <a:t>Adder”</a:t>
            </a:r>
            <a:r>
              <a:rPr lang="zh-CN" altLang="en-US" sz="1800" dirty="0">
                <a:latin typeface="Arial" panose="020B0604020202020204" pitchFamily="34" charset="0"/>
                <a:ea typeface="黑体" panose="02010609060101010101" pitchFamily="49" charset="-122"/>
              </a:rPr>
              <a:t>有什么差别？</a:t>
            </a:r>
            <a:endParaRPr lang="zh-CN" altLang="en-US" sz="1800" dirty="0">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7424"/>
                                        </p:tgtEl>
                                        <p:attrNameLst>
                                          <p:attrName>style.visibility</p:attrName>
                                        </p:attrNameLst>
                                      </p:cBhvr>
                                      <p:to>
                                        <p:strVal val="visible"/>
                                      </p:to>
                                    </p:set>
                                    <p:animEffect transition="in" filter="blinds(horizontal)">
                                      <p:cBhvr>
                                        <p:cTn id="7" dur="500"/>
                                        <p:tgtEl>
                                          <p:spTgt spid="2274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7423"/>
                                        </p:tgtEl>
                                        <p:attrNameLst>
                                          <p:attrName>style.visibility</p:attrName>
                                        </p:attrNameLst>
                                      </p:cBhvr>
                                      <p:to>
                                        <p:strVal val="visible"/>
                                      </p:to>
                                    </p:set>
                                    <p:animEffect transition="in" filter="blinds(horizontal)">
                                      <p:cBhvr>
                                        <p:cTn id="12" dur="500"/>
                                        <p:tgtEl>
                                          <p:spTgt spid="2274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7426"/>
                                        </p:tgtEl>
                                        <p:attrNameLst>
                                          <p:attrName>style.visibility</p:attrName>
                                        </p:attrNameLst>
                                      </p:cBhvr>
                                      <p:to>
                                        <p:strVal val="visible"/>
                                      </p:to>
                                    </p:set>
                                    <p:animEffect transition="in" filter="blinds(horizontal)">
                                      <p:cBhvr>
                                        <p:cTn id="17" dur="500"/>
                                        <p:tgtEl>
                                          <p:spTgt spid="227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23" grpId="0"/>
      <p:bldP spid="227424" grpId="0"/>
      <p:bldP spid="22742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内容占位符 229377"/>
          <p:cNvSpPr>
            <a:spLocks noGrp="1"/>
          </p:cNvSpPr>
          <p:nvPr>
            <p:ph idx="1"/>
          </p:nvPr>
        </p:nvSpPr>
        <p:spPr>
          <a:xfrm>
            <a:off x="419100" y="695325"/>
            <a:ext cx="8191500" cy="2441575"/>
          </a:xfrm>
          <a:ln/>
        </p:spPr>
        <p:txBody>
          <a:bodyPr vert="horz" wrap="square" lIns="63500" tIns="25400" rIns="63500" bIns="25400" anchor="t" anchorCtr="0">
            <a:spAutoFit/>
          </a:bodyPr>
          <a:p>
            <a:pPr>
              <a:spcBef>
                <a:spcPct val="10000"/>
              </a:spcBef>
            </a:pPr>
            <a:r>
              <a:rPr lang="zh-CN" altLang="en-US" sz="2000" dirty="0">
                <a:ea typeface="黑体" panose="02010609060101010101" pitchFamily="49" charset="-122"/>
              </a:rPr>
              <a:t>为什么慢</a:t>
            </a:r>
            <a:r>
              <a:rPr lang="en-US" altLang="zh-CN" sz="2000">
                <a:ea typeface="黑体" panose="02010609060101010101" pitchFamily="49" charset="-122"/>
              </a:rPr>
              <a:t>?</a:t>
            </a:r>
            <a:endParaRPr lang="en-US" altLang="zh-CN" sz="2000">
              <a:ea typeface="黑体" panose="02010609060101010101" pitchFamily="49" charset="-122"/>
            </a:endParaRPr>
          </a:p>
          <a:p>
            <a:pPr lvl="1">
              <a:spcBef>
                <a:spcPct val="10000"/>
              </a:spcBef>
            </a:pPr>
            <a:r>
              <a:rPr lang="zh-CN" altLang="en-US" sz="2000" dirty="0">
                <a:ea typeface="黑体" panose="02010609060101010101" pitchFamily="49" charset="-122"/>
              </a:rPr>
              <a:t>只能等到“</a:t>
            </a:r>
            <a:r>
              <a:rPr lang="en-US" altLang="zh-CN" sz="2000">
                <a:ea typeface="黑体" panose="02010609060101010101" pitchFamily="49" charset="-122"/>
              </a:rPr>
              <a:t>Zero”</a:t>
            </a:r>
            <a:r>
              <a:rPr lang="zh-CN" altLang="en-US" sz="2000" dirty="0">
                <a:ea typeface="黑体" panose="02010609060101010101" pitchFamily="49" charset="-122"/>
              </a:rPr>
              <a:t>有值后才能进行地址计算</a:t>
            </a:r>
            <a:endParaRPr lang="zh-CN" altLang="en-US" sz="2000" dirty="0">
              <a:ea typeface="黑体" panose="02010609060101010101" pitchFamily="49" charset="-122"/>
            </a:endParaRPr>
          </a:p>
          <a:p>
            <a:pPr>
              <a:spcBef>
                <a:spcPct val="10000"/>
              </a:spcBef>
            </a:pPr>
            <a:r>
              <a:rPr lang="zh-CN" altLang="en-US" sz="2000" dirty="0">
                <a:ea typeface="黑体" panose="02010609060101010101" pitchFamily="49" charset="-122"/>
              </a:rPr>
              <a:t>对性能有没有影响</a:t>
            </a:r>
            <a:r>
              <a:rPr lang="en-US" altLang="zh-CN" sz="2000">
                <a:ea typeface="黑体" panose="02010609060101010101" pitchFamily="49" charset="-122"/>
              </a:rPr>
              <a:t>?</a:t>
            </a:r>
            <a:endParaRPr lang="en-US" altLang="zh-CN" sz="2000">
              <a:ea typeface="黑体" panose="02010609060101010101" pitchFamily="49" charset="-122"/>
            </a:endParaRPr>
          </a:p>
          <a:p>
            <a:pPr lvl="1">
              <a:spcBef>
                <a:spcPct val="10000"/>
              </a:spcBef>
            </a:pPr>
            <a:r>
              <a:rPr lang="zh-CN" altLang="en-US" sz="2000" dirty="0">
                <a:ea typeface="黑体" panose="02010609060101010101" pitchFamily="49" charset="-122"/>
              </a:rPr>
              <a:t>没有，因为</a:t>
            </a:r>
            <a:r>
              <a:rPr lang="en-US" altLang="zh-CN" sz="2000">
                <a:ea typeface="黑体" panose="02010609060101010101" pitchFamily="49" charset="-122"/>
              </a:rPr>
              <a:t>Load</a:t>
            </a:r>
            <a:r>
              <a:rPr lang="zh-CN" altLang="en-US" sz="2000" dirty="0">
                <a:ea typeface="黑体" panose="02010609060101010101" pitchFamily="49" charset="-122"/>
              </a:rPr>
              <a:t>指令更慢。</a:t>
            </a:r>
            <a:endParaRPr lang="zh-CN" altLang="en-US" sz="2000" dirty="0">
              <a:ea typeface="黑体" panose="02010609060101010101" pitchFamily="49" charset="-122"/>
            </a:endParaRPr>
          </a:p>
          <a:p>
            <a:pPr>
              <a:spcBef>
                <a:spcPct val="10000"/>
              </a:spcBef>
            </a:pPr>
            <a:r>
              <a:rPr lang="zh-CN" altLang="en-US" sz="2000" dirty="0">
                <a:ea typeface="黑体" panose="02010609060101010101" pitchFamily="49" charset="-122"/>
              </a:rPr>
              <a:t>为什么便宜</a:t>
            </a:r>
            <a:r>
              <a:rPr lang="en-US" altLang="zh-CN" sz="2000">
                <a:ea typeface="黑体" panose="02010609060101010101" pitchFamily="49" charset="-122"/>
              </a:rPr>
              <a:t>? </a:t>
            </a:r>
            <a:endParaRPr lang="en-US" altLang="zh-CN" sz="2000">
              <a:ea typeface="黑体" panose="02010609060101010101" pitchFamily="49" charset="-122"/>
            </a:endParaRPr>
          </a:p>
          <a:p>
            <a:pPr lvl="1">
              <a:spcBef>
                <a:spcPct val="10000"/>
              </a:spcBef>
            </a:pPr>
            <a:r>
              <a:rPr lang="zh-CN" altLang="en-US" sz="2000" dirty="0">
                <a:ea typeface="黑体" panose="02010609060101010101" pitchFamily="49" charset="-122"/>
              </a:rPr>
              <a:t>“</a:t>
            </a:r>
            <a:r>
              <a:rPr lang="en-US" altLang="zh-CN" sz="2000">
                <a:ea typeface="黑体" panose="02010609060101010101" pitchFamily="49" charset="-122"/>
              </a:rPr>
              <a:t>+1”</a:t>
            </a:r>
            <a:r>
              <a:rPr lang="zh-CN" altLang="en-US" sz="2000" dirty="0">
                <a:ea typeface="黑体" panose="02010609060101010101" pitchFamily="49" charset="-122"/>
              </a:rPr>
              <a:t>操作用“进位”来实现，节省一个“</a:t>
            </a:r>
            <a:r>
              <a:rPr lang="en-US" altLang="zh-CN" sz="2000">
                <a:ea typeface="黑体" panose="02010609060101010101" pitchFamily="49" charset="-122"/>
              </a:rPr>
              <a:t>Adder”</a:t>
            </a:r>
            <a:endParaRPr lang="zh-CN" altLang="en-US" sz="2000" dirty="0">
              <a:ea typeface="黑体" panose="02010609060101010101" pitchFamily="49" charset="-122"/>
            </a:endParaRPr>
          </a:p>
          <a:p>
            <a:pPr lvl="1"/>
            <a:endParaRPr lang="zh-CN" altLang="en-US" sz="2000" dirty="0">
              <a:ea typeface="黑体" panose="02010609060101010101" pitchFamily="49" charset="-122"/>
            </a:endParaRPr>
          </a:p>
        </p:txBody>
      </p:sp>
      <p:sp>
        <p:nvSpPr>
          <p:cNvPr id="87042" name="直接连接符 229378"/>
          <p:cNvSpPr/>
          <p:nvPr/>
        </p:nvSpPr>
        <p:spPr>
          <a:xfrm>
            <a:off x="1689100" y="3376613"/>
            <a:ext cx="5232400" cy="0"/>
          </a:xfrm>
          <a:prstGeom prst="line">
            <a:avLst/>
          </a:prstGeom>
          <a:ln w="25400" cap="flat" cmpd="sng">
            <a:solidFill>
              <a:schemeClr val="tx1"/>
            </a:solidFill>
            <a:prstDash val="solid"/>
            <a:round/>
            <a:headEnd type="none" w="med" len="med"/>
            <a:tailEnd type="triangle" w="med" len="med"/>
          </a:ln>
        </p:spPr>
      </p:sp>
      <p:sp>
        <p:nvSpPr>
          <p:cNvPr id="87043" name="直接连接符 229379"/>
          <p:cNvSpPr/>
          <p:nvPr/>
        </p:nvSpPr>
        <p:spPr>
          <a:xfrm flipH="1">
            <a:off x="2127250" y="3230563"/>
            <a:ext cx="88900" cy="212725"/>
          </a:xfrm>
          <a:prstGeom prst="line">
            <a:avLst/>
          </a:prstGeom>
          <a:ln w="12700" cap="flat" cmpd="sng">
            <a:solidFill>
              <a:schemeClr val="tx1"/>
            </a:solidFill>
            <a:prstDash val="solid"/>
            <a:round/>
            <a:headEnd type="none" w="med" len="med"/>
            <a:tailEnd type="none" w="med" len="med"/>
          </a:ln>
        </p:spPr>
      </p:sp>
      <p:sp>
        <p:nvSpPr>
          <p:cNvPr id="87044" name="矩形 229380"/>
          <p:cNvSpPr/>
          <p:nvPr/>
        </p:nvSpPr>
        <p:spPr>
          <a:xfrm>
            <a:off x="1966913" y="34464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7045" name="直接连接符 229381"/>
          <p:cNvSpPr/>
          <p:nvPr/>
        </p:nvSpPr>
        <p:spPr>
          <a:xfrm>
            <a:off x="4965700" y="4519613"/>
            <a:ext cx="889000" cy="0"/>
          </a:xfrm>
          <a:prstGeom prst="line">
            <a:avLst/>
          </a:prstGeom>
          <a:ln w="25400" cap="flat" cmpd="sng">
            <a:solidFill>
              <a:schemeClr val="tx1"/>
            </a:solidFill>
            <a:prstDash val="solid"/>
            <a:round/>
            <a:headEnd type="none" w="med" len="med"/>
            <a:tailEnd type="none" w="med" len="med"/>
          </a:ln>
        </p:spPr>
      </p:sp>
      <p:sp>
        <p:nvSpPr>
          <p:cNvPr id="87046" name="直接连接符 229382"/>
          <p:cNvSpPr/>
          <p:nvPr/>
        </p:nvSpPr>
        <p:spPr>
          <a:xfrm flipH="1">
            <a:off x="5480050" y="4449763"/>
            <a:ext cx="88900" cy="166687"/>
          </a:xfrm>
          <a:prstGeom prst="line">
            <a:avLst/>
          </a:prstGeom>
          <a:ln w="12700" cap="flat" cmpd="sng">
            <a:solidFill>
              <a:schemeClr val="tx1"/>
            </a:solidFill>
            <a:prstDash val="solid"/>
            <a:round/>
            <a:headEnd type="none" w="med" len="med"/>
            <a:tailEnd type="none" w="med" len="med"/>
          </a:ln>
        </p:spPr>
      </p:sp>
      <p:sp>
        <p:nvSpPr>
          <p:cNvPr id="87047" name="矩形 229383"/>
          <p:cNvSpPr/>
          <p:nvPr/>
        </p:nvSpPr>
        <p:spPr>
          <a:xfrm>
            <a:off x="5243513" y="46243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7048" name="矩形 229384"/>
          <p:cNvSpPr/>
          <p:nvPr/>
        </p:nvSpPr>
        <p:spPr>
          <a:xfrm rot="5400000">
            <a:off x="2097088" y="5049838"/>
            <a:ext cx="1031875" cy="365125"/>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SignExt</a:t>
            </a:r>
            <a:endParaRPr lang="en-US" altLang="zh-CN" sz="1800">
              <a:latin typeface="Arial" panose="020B0604020202020204" pitchFamily="34" charset="0"/>
              <a:ea typeface="宋体" panose="02010600030101010101" pitchFamily="2" charset="-122"/>
            </a:endParaRPr>
          </a:p>
        </p:txBody>
      </p:sp>
      <p:sp>
        <p:nvSpPr>
          <p:cNvPr id="87049" name="直接连接符 229385"/>
          <p:cNvSpPr/>
          <p:nvPr/>
        </p:nvSpPr>
        <p:spPr>
          <a:xfrm>
            <a:off x="3822700" y="4972050"/>
            <a:ext cx="660400" cy="0"/>
          </a:xfrm>
          <a:prstGeom prst="line">
            <a:avLst/>
          </a:prstGeom>
          <a:ln w="25400" cap="flat" cmpd="sng">
            <a:solidFill>
              <a:schemeClr val="tx1"/>
            </a:solidFill>
            <a:prstDash val="solid"/>
            <a:round/>
            <a:headEnd type="none" w="med" len="med"/>
            <a:tailEnd type="triangle" w="med" len="med"/>
          </a:ln>
        </p:spPr>
      </p:sp>
      <p:sp>
        <p:nvSpPr>
          <p:cNvPr id="87050" name="矩形 229386"/>
          <p:cNvSpPr/>
          <p:nvPr/>
        </p:nvSpPr>
        <p:spPr>
          <a:xfrm>
            <a:off x="3890963" y="50831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7051" name="直接连接符 229387"/>
          <p:cNvSpPr/>
          <p:nvPr/>
        </p:nvSpPr>
        <p:spPr>
          <a:xfrm flipH="1">
            <a:off x="4032250" y="4906963"/>
            <a:ext cx="88900" cy="139700"/>
          </a:xfrm>
          <a:prstGeom prst="line">
            <a:avLst/>
          </a:prstGeom>
          <a:ln w="12700" cap="flat" cmpd="sng">
            <a:solidFill>
              <a:schemeClr val="tx1"/>
            </a:solidFill>
            <a:prstDash val="solid"/>
            <a:round/>
            <a:headEnd type="none" w="med" len="med"/>
            <a:tailEnd type="none" w="med" len="med"/>
          </a:ln>
        </p:spPr>
      </p:sp>
      <p:sp>
        <p:nvSpPr>
          <p:cNvPr id="87052" name="直接连接符 229388"/>
          <p:cNvSpPr/>
          <p:nvPr/>
        </p:nvSpPr>
        <p:spPr>
          <a:xfrm>
            <a:off x="1765300" y="5205413"/>
            <a:ext cx="660400" cy="0"/>
          </a:xfrm>
          <a:prstGeom prst="line">
            <a:avLst/>
          </a:prstGeom>
          <a:ln w="25400" cap="flat" cmpd="sng">
            <a:solidFill>
              <a:schemeClr val="tx1"/>
            </a:solidFill>
            <a:prstDash val="solid"/>
            <a:round/>
            <a:headEnd type="none" w="med" len="med"/>
            <a:tailEnd type="triangle" w="med" len="med"/>
          </a:ln>
        </p:spPr>
      </p:sp>
      <p:sp>
        <p:nvSpPr>
          <p:cNvPr id="87053" name="直接连接符 229389"/>
          <p:cNvSpPr/>
          <p:nvPr/>
        </p:nvSpPr>
        <p:spPr>
          <a:xfrm flipH="1">
            <a:off x="1974850" y="5122863"/>
            <a:ext cx="88900" cy="133350"/>
          </a:xfrm>
          <a:prstGeom prst="line">
            <a:avLst/>
          </a:prstGeom>
          <a:ln w="12700" cap="flat" cmpd="sng">
            <a:solidFill>
              <a:schemeClr val="tx1"/>
            </a:solidFill>
            <a:prstDash val="solid"/>
            <a:round/>
            <a:headEnd type="none" w="med" len="med"/>
            <a:tailEnd type="none" w="med" len="med"/>
          </a:ln>
        </p:spPr>
      </p:sp>
      <p:sp>
        <p:nvSpPr>
          <p:cNvPr id="87054" name="矩形 229390"/>
          <p:cNvSpPr/>
          <p:nvPr/>
        </p:nvSpPr>
        <p:spPr>
          <a:xfrm>
            <a:off x="1662113" y="518795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7055" name="矩形 229391"/>
          <p:cNvSpPr/>
          <p:nvPr/>
        </p:nvSpPr>
        <p:spPr>
          <a:xfrm>
            <a:off x="862013" y="5003800"/>
            <a:ext cx="9048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87056" name="直接连接符 229392"/>
          <p:cNvSpPr/>
          <p:nvPr/>
        </p:nvSpPr>
        <p:spPr>
          <a:xfrm>
            <a:off x="2984500" y="4168775"/>
            <a:ext cx="508000" cy="0"/>
          </a:xfrm>
          <a:prstGeom prst="line">
            <a:avLst/>
          </a:prstGeom>
          <a:ln w="25400" cap="flat" cmpd="sng">
            <a:solidFill>
              <a:schemeClr val="tx1"/>
            </a:solidFill>
            <a:prstDash val="solid"/>
            <a:round/>
            <a:headEnd type="none" w="med" len="med"/>
            <a:tailEnd type="triangle" w="med" len="med"/>
          </a:ln>
        </p:spPr>
      </p:sp>
      <p:sp>
        <p:nvSpPr>
          <p:cNvPr id="87057" name="矩形 229393"/>
          <p:cNvSpPr/>
          <p:nvPr/>
        </p:nvSpPr>
        <p:spPr>
          <a:xfrm>
            <a:off x="2451100" y="4684713"/>
            <a:ext cx="355600" cy="10922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7058" name="直接连接符 229394"/>
          <p:cNvSpPr/>
          <p:nvPr/>
        </p:nvSpPr>
        <p:spPr>
          <a:xfrm>
            <a:off x="3505200" y="3892550"/>
            <a:ext cx="0" cy="1300163"/>
          </a:xfrm>
          <a:prstGeom prst="line">
            <a:avLst/>
          </a:prstGeom>
          <a:ln w="25400" cap="flat" cmpd="sng">
            <a:solidFill>
              <a:schemeClr val="tx1"/>
            </a:solidFill>
            <a:prstDash val="solid"/>
            <a:round/>
            <a:headEnd type="none" w="med" len="med"/>
            <a:tailEnd type="none" w="med" len="med"/>
          </a:ln>
        </p:spPr>
      </p:sp>
      <p:sp>
        <p:nvSpPr>
          <p:cNvPr id="87059" name="直接连接符 229395"/>
          <p:cNvSpPr/>
          <p:nvPr/>
        </p:nvSpPr>
        <p:spPr>
          <a:xfrm>
            <a:off x="3517900" y="3892550"/>
            <a:ext cx="295275" cy="179388"/>
          </a:xfrm>
          <a:prstGeom prst="line">
            <a:avLst/>
          </a:prstGeom>
          <a:ln w="25400" cap="flat" cmpd="sng">
            <a:solidFill>
              <a:schemeClr val="tx1"/>
            </a:solidFill>
            <a:prstDash val="solid"/>
            <a:round/>
            <a:headEnd type="none" w="med" len="med"/>
            <a:tailEnd type="none" w="med" len="med"/>
          </a:ln>
        </p:spPr>
      </p:sp>
      <p:sp>
        <p:nvSpPr>
          <p:cNvPr id="87060" name="直接连接符 229396"/>
          <p:cNvSpPr/>
          <p:nvPr/>
        </p:nvSpPr>
        <p:spPr>
          <a:xfrm flipV="1">
            <a:off x="3517900" y="5016500"/>
            <a:ext cx="279400" cy="201613"/>
          </a:xfrm>
          <a:prstGeom prst="line">
            <a:avLst/>
          </a:prstGeom>
          <a:ln w="25400" cap="flat" cmpd="sng">
            <a:solidFill>
              <a:schemeClr val="tx1"/>
            </a:solidFill>
            <a:prstDash val="solid"/>
            <a:round/>
            <a:headEnd type="none" w="med" len="med"/>
            <a:tailEnd type="none" w="med" len="med"/>
          </a:ln>
        </p:spPr>
      </p:sp>
      <p:sp>
        <p:nvSpPr>
          <p:cNvPr id="87061" name="直接连接符 229397"/>
          <p:cNvSpPr/>
          <p:nvPr/>
        </p:nvSpPr>
        <p:spPr>
          <a:xfrm>
            <a:off x="3810000" y="4068763"/>
            <a:ext cx="0" cy="947737"/>
          </a:xfrm>
          <a:prstGeom prst="line">
            <a:avLst/>
          </a:prstGeom>
          <a:ln w="25400" cap="flat" cmpd="sng">
            <a:solidFill>
              <a:schemeClr val="tx1"/>
            </a:solidFill>
            <a:prstDash val="solid"/>
            <a:round/>
            <a:headEnd type="none" w="med" len="med"/>
            <a:tailEnd type="none" w="med" len="med"/>
          </a:ln>
        </p:spPr>
      </p:sp>
      <p:sp>
        <p:nvSpPr>
          <p:cNvPr id="87062" name="矩形 229398"/>
          <p:cNvSpPr/>
          <p:nvPr/>
        </p:nvSpPr>
        <p:spPr>
          <a:xfrm rot="5400000">
            <a:off x="3294063" y="4398963"/>
            <a:ext cx="638175" cy="365125"/>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87063" name="矩形 229399"/>
          <p:cNvSpPr/>
          <p:nvPr/>
        </p:nvSpPr>
        <p:spPr>
          <a:xfrm>
            <a:off x="3490913" y="4019550"/>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87064" name="矩形 229400"/>
          <p:cNvSpPr/>
          <p:nvPr/>
        </p:nvSpPr>
        <p:spPr>
          <a:xfrm>
            <a:off x="3490913" y="4765675"/>
            <a:ext cx="307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87065" name="直接连接符 229401"/>
          <p:cNvSpPr/>
          <p:nvPr/>
        </p:nvSpPr>
        <p:spPr>
          <a:xfrm>
            <a:off x="4481513" y="3930650"/>
            <a:ext cx="14287" cy="277813"/>
          </a:xfrm>
          <a:prstGeom prst="line">
            <a:avLst/>
          </a:prstGeom>
          <a:ln w="25400" cap="flat" cmpd="sng">
            <a:solidFill>
              <a:schemeClr val="tx1"/>
            </a:solidFill>
            <a:prstDash val="solid"/>
            <a:round/>
            <a:headEnd type="none" w="med" len="med"/>
            <a:tailEnd type="none" w="med" len="med"/>
          </a:ln>
        </p:spPr>
      </p:sp>
      <p:sp>
        <p:nvSpPr>
          <p:cNvPr id="87066" name="直接连接符 229402"/>
          <p:cNvSpPr/>
          <p:nvPr/>
        </p:nvSpPr>
        <p:spPr>
          <a:xfrm>
            <a:off x="4478338" y="3916363"/>
            <a:ext cx="476250" cy="277812"/>
          </a:xfrm>
          <a:prstGeom prst="line">
            <a:avLst/>
          </a:prstGeom>
          <a:ln w="25400" cap="flat" cmpd="sng">
            <a:solidFill>
              <a:schemeClr val="tx1"/>
            </a:solidFill>
            <a:prstDash val="solid"/>
            <a:round/>
            <a:headEnd type="none" w="med" len="med"/>
            <a:tailEnd type="none" w="med" len="med"/>
          </a:ln>
        </p:spPr>
      </p:sp>
      <p:sp>
        <p:nvSpPr>
          <p:cNvPr id="87067" name="直接连接符 229403"/>
          <p:cNvSpPr/>
          <p:nvPr/>
        </p:nvSpPr>
        <p:spPr>
          <a:xfrm>
            <a:off x="4478338" y="4205288"/>
            <a:ext cx="277812" cy="149225"/>
          </a:xfrm>
          <a:prstGeom prst="line">
            <a:avLst/>
          </a:prstGeom>
          <a:ln w="25400" cap="flat" cmpd="sng">
            <a:solidFill>
              <a:schemeClr val="tx1"/>
            </a:solidFill>
            <a:prstDash val="solid"/>
            <a:round/>
            <a:headEnd type="none" w="med" len="med"/>
            <a:tailEnd type="none" w="med" len="med"/>
          </a:ln>
        </p:spPr>
      </p:sp>
      <p:sp>
        <p:nvSpPr>
          <p:cNvPr id="87068" name="直接连接符 229404"/>
          <p:cNvSpPr/>
          <p:nvPr/>
        </p:nvSpPr>
        <p:spPr>
          <a:xfrm>
            <a:off x="4724400" y="4365625"/>
            <a:ext cx="0" cy="263525"/>
          </a:xfrm>
          <a:prstGeom prst="line">
            <a:avLst/>
          </a:prstGeom>
          <a:ln w="25400" cap="flat" cmpd="sng">
            <a:solidFill>
              <a:schemeClr val="tx1"/>
            </a:solidFill>
            <a:prstDash val="solid"/>
            <a:round/>
            <a:headEnd type="none" w="med" len="med"/>
            <a:tailEnd type="none" w="med" len="med"/>
          </a:ln>
        </p:spPr>
      </p:sp>
      <p:sp>
        <p:nvSpPr>
          <p:cNvPr id="87069" name="直接连接符 229405"/>
          <p:cNvSpPr/>
          <p:nvPr/>
        </p:nvSpPr>
        <p:spPr>
          <a:xfrm>
            <a:off x="4953000" y="4219575"/>
            <a:ext cx="0" cy="554038"/>
          </a:xfrm>
          <a:prstGeom prst="line">
            <a:avLst/>
          </a:prstGeom>
          <a:ln w="25400" cap="flat" cmpd="sng">
            <a:solidFill>
              <a:schemeClr val="tx1"/>
            </a:solidFill>
            <a:prstDash val="solid"/>
            <a:round/>
            <a:headEnd type="none" w="med" len="med"/>
            <a:tailEnd type="none" w="med" len="med"/>
          </a:ln>
        </p:spPr>
      </p:sp>
      <p:sp>
        <p:nvSpPr>
          <p:cNvPr id="87070" name="直接连接符 229406"/>
          <p:cNvSpPr/>
          <p:nvPr/>
        </p:nvSpPr>
        <p:spPr>
          <a:xfrm flipV="1">
            <a:off x="4508500" y="4600575"/>
            <a:ext cx="217488" cy="198438"/>
          </a:xfrm>
          <a:prstGeom prst="line">
            <a:avLst/>
          </a:prstGeom>
          <a:ln w="25400" cap="flat" cmpd="sng">
            <a:solidFill>
              <a:schemeClr val="tx1"/>
            </a:solidFill>
            <a:prstDash val="solid"/>
            <a:round/>
            <a:headEnd type="none" w="med" len="med"/>
            <a:tailEnd type="none" w="med" len="med"/>
          </a:ln>
        </p:spPr>
      </p:sp>
      <p:sp>
        <p:nvSpPr>
          <p:cNvPr id="87071" name="直接连接符 229407"/>
          <p:cNvSpPr/>
          <p:nvPr/>
        </p:nvSpPr>
        <p:spPr>
          <a:xfrm>
            <a:off x="4495800" y="4797425"/>
            <a:ext cx="0" cy="293688"/>
          </a:xfrm>
          <a:prstGeom prst="line">
            <a:avLst/>
          </a:prstGeom>
          <a:ln w="25400" cap="flat" cmpd="sng">
            <a:solidFill>
              <a:schemeClr val="tx1"/>
            </a:solidFill>
            <a:prstDash val="solid"/>
            <a:round/>
            <a:headEnd type="none" w="med" len="med"/>
            <a:tailEnd type="none" w="med" len="med"/>
          </a:ln>
        </p:spPr>
      </p:sp>
      <p:sp>
        <p:nvSpPr>
          <p:cNvPr id="87072" name="直接连接符 229408"/>
          <p:cNvSpPr/>
          <p:nvPr/>
        </p:nvSpPr>
        <p:spPr>
          <a:xfrm flipV="1">
            <a:off x="4508500" y="4773613"/>
            <a:ext cx="431800" cy="314325"/>
          </a:xfrm>
          <a:prstGeom prst="line">
            <a:avLst/>
          </a:prstGeom>
          <a:ln w="25400" cap="flat" cmpd="sng">
            <a:solidFill>
              <a:schemeClr val="tx1"/>
            </a:solidFill>
            <a:prstDash val="solid"/>
            <a:round/>
            <a:headEnd type="none" w="med" len="med"/>
            <a:tailEnd type="none" w="med" len="med"/>
          </a:ln>
        </p:spPr>
      </p:sp>
      <p:sp>
        <p:nvSpPr>
          <p:cNvPr id="87073" name="矩形 229409"/>
          <p:cNvSpPr/>
          <p:nvPr/>
        </p:nvSpPr>
        <p:spPr>
          <a:xfrm rot="5400000">
            <a:off x="4405313" y="4351338"/>
            <a:ext cx="8413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sp>
        <p:nvSpPr>
          <p:cNvPr id="87074" name="矩形 229410"/>
          <p:cNvSpPr/>
          <p:nvPr/>
        </p:nvSpPr>
        <p:spPr>
          <a:xfrm>
            <a:off x="2500313" y="3986213"/>
            <a:ext cx="5365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grpSp>
        <p:nvGrpSpPr>
          <p:cNvPr id="87075" name="组合 229411"/>
          <p:cNvGrpSpPr/>
          <p:nvPr/>
        </p:nvGrpSpPr>
        <p:grpSpPr>
          <a:xfrm>
            <a:off x="1308100" y="2932113"/>
            <a:ext cx="585788" cy="2103437"/>
            <a:chOff x="824" y="1736"/>
            <a:chExt cx="369" cy="1325"/>
          </a:xfrm>
        </p:grpSpPr>
        <p:sp>
          <p:nvSpPr>
            <p:cNvPr id="87076" name="矩形 229412"/>
            <p:cNvSpPr/>
            <p:nvPr/>
          </p:nvSpPr>
          <p:spPr>
            <a:xfrm>
              <a:off x="872" y="1736"/>
              <a:ext cx="176" cy="752"/>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7077" name="椭圆 229413"/>
            <p:cNvSpPr/>
            <p:nvPr/>
          </p:nvSpPr>
          <p:spPr>
            <a:xfrm>
              <a:off x="920" y="2504"/>
              <a:ext cx="80" cy="8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87078" name="直接连接符 229414"/>
            <p:cNvSpPr/>
            <p:nvPr/>
          </p:nvSpPr>
          <p:spPr>
            <a:xfrm>
              <a:off x="960" y="2600"/>
              <a:ext cx="0" cy="224"/>
            </a:xfrm>
            <a:prstGeom prst="line">
              <a:avLst/>
            </a:prstGeom>
            <a:ln w="25400" cap="flat" cmpd="sng">
              <a:solidFill>
                <a:schemeClr val="tx1"/>
              </a:solidFill>
              <a:prstDash val="solid"/>
              <a:round/>
              <a:headEnd type="none" w="med" len="med"/>
              <a:tailEnd type="none" w="med" len="med"/>
            </a:ln>
          </p:spPr>
        </p:sp>
        <p:sp>
          <p:nvSpPr>
            <p:cNvPr id="87079" name="矩形 229415"/>
            <p:cNvSpPr/>
            <p:nvPr/>
          </p:nvSpPr>
          <p:spPr>
            <a:xfrm rot="5400000">
              <a:off x="777" y="2064"/>
              <a:ext cx="31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87080" name="矩形 229416"/>
            <p:cNvSpPr/>
            <p:nvPr/>
          </p:nvSpPr>
          <p:spPr>
            <a:xfrm>
              <a:off x="855" y="2832"/>
              <a:ext cx="338"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grpSp>
      <p:grpSp>
        <p:nvGrpSpPr>
          <p:cNvPr id="87081" name="组合 229417"/>
          <p:cNvGrpSpPr/>
          <p:nvPr/>
        </p:nvGrpSpPr>
        <p:grpSpPr>
          <a:xfrm>
            <a:off x="3503613" y="5416550"/>
            <a:ext cx="385762" cy="385763"/>
            <a:chOff x="2207" y="3301"/>
            <a:chExt cx="243" cy="243"/>
          </a:xfrm>
        </p:grpSpPr>
        <p:sp>
          <p:nvSpPr>
            <p:cNvPr id="87082" name="任意多边形 229418"/>
            <p:cNvSpPr/>
            <p:nvPr/>
          </p:nvSpPr>
          <p:spPr>
            <a:xfrm rot="-5400000">
              <a:off x="2215" y="3285"/>
              <a:ext cx="91" cy="115"/>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87083" name="任意多边形 229419"/>
            <p:cNvSpPr/>
            <p:nvPr/>
          </p:nvSpPr>
          <p:spPr>
            <a:xfrm rot="5400000">
              <a:off x="2343" y="3285"/>
              <a:ext cx="91" cy="115"/>
            </a:xfrm>
            <a:custGeom>
              <a:avLst/>
              <a:gdLst/>
              <a:ahLst/>
              <a:cxnLst>
                <a:cxn ang="180">
                  <a:pos x="0" y="21411"/>
                </a:cxn>
                <a:cxn ang="270">
                  <a:pos x="21362" y="0"/>
                </a:cxn>
                <a:cxn ang="90">
                  <a:pos x="21599" y="21599"/>
                </a:cxn>
              </a:cxnLst>
              <a:pathLst>
                <a:path w="21599" h="21599" fill="none">
                  <a:moveTo>
                    <a:pt x="0" y="21411"/>
                  </a:moveTo>
                  <a:cubicBezTo>
                    <a:pt x="101" y="9647"/>
                    <a:pt x="9605" y="127"/>
                    <a:pt x="21361" y="0"/>
                  </a:cubicBezTo>
                </a:path>
                <a:path w="21599" h="21599" stroke="0">
                  <a:moveTo>
                    <a:pt x="0" y="21411"/>
                  </a:moveTo>
                  <a:cubicBezTo>
                    <a:pt x="101" y="9647"/>
                    <a:pt x="9605" y="127"/>
                    <a:pt x="21361" y="0"/>
                  </a:cubicBezTo>
                  <a:lnTo>
                    <a:pt x="21599"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87084" name="直接连接符 229420"/>
            <p:cNvSpPr/>
            <p:nvPr/>
          </p:nvSpPr>
          <p:spPr>
            <a:xfrm>
              <a:off x="2208" y="3399"/>
              <a:ext cx="0" cy="137"/>
            </a:xfrm>
            <a:prstGeom prst="line">
              <a:avLst/>
            </a:prstGeom>
            <a:ln w="25400" cap="flat" cmpd="sng">
              <a:solidFill>
                <a:schemeClr val="tx1"/>
              </a:solidFill>
              <a:prstDash val="solid"/>
              <a:round/>
              <a:headEnd type="none" w="med" len="med"/>
              <a:tailEnd type="none" w="med" len="med"/>
            </a:ln>
          </p:spPr>
        </p:sp>
        <p:sp>
          <p:nvSpPr>
            <p:cNvPr id="87085" name="直接连接符 229421"/>
            <p:cNvSpPr/>
            <p:nvPr/>
          </p:nvSpPr>
          <p:spPr>
            <a:xfrm>
              <a:off x="2216" y="3544"/>
              <a:ext cx="224" cy="0"/>
            </a:xfrm>
            <a:prstGeom prst="line">
              <a:avLst/>
            </a:prstGeom>
            <a:ln w="25400" cap="flat" cmpd="sng">
              <a:solidFill>
                <a:schemeClr val="tx1"/>
              </a:solidFill>
              <a:prstDash val="solid"/>
              <a:round/>
              <a:headEnd type="none" w="med" len="med"/>
              <a:tailEnd type="none" w="med" len="med"/>
            </a:ln>
          </p:spPr>
        </p:sp>
        <p:sp>
          <p:nvSpPr>
            <p:cNvPr id="87086" name="直接连接符 229422"/>
            <p:cNvSpPr/>
            <p:nvPr/>
          </p:nvSpPr>
          <p:spPr>
            <a:xfrm>
              <a:off x="2448" y="3399"/>
              <a:ext cx="0" cy="137"/>
            </a:xfrm>
            <a:prstGeom prst="line">
              <a:avLst/>
            </a:prstGeom>
            <a:ln w="25400" cap="flat" cmpd="sng">
              <a:solidFill>
                <a:schemeClr val="tx1"/>
              </a:solidFill>
              <a:prstDash val="solid"/>
              <a:round/>
              <a:headEnd type="none" w="med" len="med"/>
              <a:tailEnd type="none" w="med" len="med"/>
            </a:ln>
          </p:spPr>
        </p:sp>
      </p:grpSp>
      <p:sp>
        <p:nvSpPr>
          <p:cNvPr id="87087" name="直接连接符 229423"/>
          <p:cNvSpPr/>
          <p:nvPr/>
        </p:nvSpPr>
        <p:spPr>
          <a:xfrm flipV="1">
            <a:off x="3695700" y="5118100"/>
            <a:ext cx="0" cy="293688"/>
          </a:xfrm>
          <a:prstGeom prst="line">
            <a:avLst/>
          </a:prstGeom>
          <a:ln w="25400" cap="flat" cmpd="sng">
            <a:solidFill>
              <a:schemeClr val="tx1"/>
            </a:solidFill>
            <a:prstDash val="solid"/>
            <a:round/>
            <a:headEnd type="none" w="med" len="med"/>
            <a:tailEnd type="none" w="med" len="med"/>
          </a:ln>
        </p:spPr>
      </p:sp>
      <p:sp>
        <p:nvSpPr>
          <p:cNvPr id="87088" name="直接连接符 229424"/>
          <p:cNvSpPr/>
          <p:nvPr/>
        </p:nvSpPr>
        <p:spPr>
          <a:xfrm>
            <a:off x="3581400" y="5827713"/>
            <a:ext cx="0" cy="279400"/>
          </a:xfrm>
          <a:prstGeom prst="line">
            <a:avLst/>
          </a:prstGeom>
          <a:ln w="25400" cap="flat" cmpd="sng">
            <a:solidFill>
              <a:schemeClr val="tx1"/>
            </a:solidFill>
            <a:prstDash val="solid"/>
            <a:round/>
            <a:headEnd type="none" w="med" len="med"/>
            <a:tailEnd type="none" w="med" len="med"/>
          </a:ln>
        </p:spPr>
      </p:sp>
      <p:sp>
        <p:nvSpPr>
          <p:cNvPr id="87089" name="直接连接符 229425"/>
          <p:cNvSpPr/>
          <p:nvPr/>
        </p:nvSpPr>
        <p:spPr>
          <a:xfrm>
            <a:off x="3810000" y="5827713"/>
            <a:ext cx="0" cy="279400"/>
          </a:xfrm>
          <a:prstGeom prst="line">
            <a:avLst/>
          </a:prstGeom>
          <a:ln w="25400" cap="flat" cmpd="sng">
            <a:solidFill>
              <a:schemeClr val="tx1"/>
            </a:solidFill>
            <a:prstDash val="solid"/>
            <a:round/>
            <a:headEnd type="none" w="med" len="med"/>
            <a:tailEnd type="none" w="med" len="med"/>
          </a:ln>
        </p:spPr>
      </p:sp>
      <p:sp>
        <p:nvSpPr>
          <p:cNvPr id="87090" name="直接连接符 229426"/>
          <p:cNvSpPr/>
          <p:nvPr/>
        </p:nvSpPr>
        <p:spPr>
          <a:xfrm flipV="1">
            <a:off x="5867400" y="2754313"/>
            <a:ext cx="0" cy="1778000"/>
          </a:xfrm>
          <a:prstGeom prst="line">
            <a:avLst/>
          </a:prstGeom>
          <a:ln w="25400" cap="flat" cmpd="sng">
            <a:solidFill>
              <a:schemeClr val="tx1"/>
            </a:solidFill>
            <a:prstDash val="solid"/>
            <a:round/>
            <a:headEnd type="none" w="med" len="med"/>
            <a:tailEnd type="none" w="med" len="med"/>
          </a:ln>
        </p:spPr>
      </p:sp>
      <p:sp>
        <p:nvSpPr>
          <p:cNvPr id="87091" name="直接连接符 229427"/>
          <p:cNvSpPr/>
          <p:nvPr/>
        </p:nvSpPr>
        <p:spPr>
          <a:xfrm flipH="1">
            <a:off x="749300" y="2767013"/>
            <a:ext cx="5130800" cy="0"/>
          </a:xfrm>
          <a:prstGeom prst="line">
            <a:avLst/>
          </a:prstGeom>
          <a:ln w="25400" cap="flat" cmpd="sng">
            <a:solidFill>
              <a:schemeClr val="tx1"/>
            </a:solidFill>
            <a:prstDash val="solid"/>
            <a:round/>
            <a:headEnd type="none" w="med" len="med"/>
            <a:tailEnd type="none" w="med" len="med"/>
          </a:ln>
        </p:spPr>
      </p:sp>
      <p:sp>
        <p:nvSpPr>
          <p:cNvPr id="87092" name="直接连接符 229428"/>
          <p:cNvSpPr/>
          <p:nvPr/>
        </p:nvSpPr>
        <p:spPr>
          <a:xfrm>
            <a:off x="762000" y="2779713"/>
            <a:ext cx="0" cy="765175"/>
          </a:xfrm>
          <a:prstGeom prst="line">
            <a:avLst/>
          </a:prstGeom>
          <a:ln w="25400" cap="flat" cmpd="sng">
            <a:solidFill>
              <a:schemeClr val="tx1"/>
            </a:solidFill>
            <a:prstDash val="solid"/>
            <a:round/>
            <a:headEnd type="none" w="med" len="med"/>
            <a:tailEnd type="none" w="med" len="med"/>
          </a:ln>
        </p:spPr>
      </p:sp>
      <p:sp>
        <p:nvSpPr>
          <p:cNvPr id="87093" name="直接连接符 229429"/>
          <p:cNvSpPr/>
          <p:nvPr/>
        </p:nvSpPr>
        <p:spPr>
          <a:xfrm>
            <a:off x="774700" y="3529013"/>
            <a:ext cx="584200" cy="0"/>
          </a:xfrm>
          <a:prstGeom prst="line">
            <a:avLst/>
          </a:prstGeom>
          <a:ln w="25400" cap="flat" cmpd="sng">
            <a:solidFill>
              <a:schemeClr val="tx1"/>
            </a:solidFill>
            <a:prstDash val="solid"/>
            <a:round/>
            <a:headEnd type="none" w="med" len="med"/>
            <a:tailEnd type="triangle" w="med" len="med"/>
          </a:ln>
        </p:spPr>
      </p:sp>
      <p:sp>
        <p:nvSpPr>
          <p:cNvPr id="87094" name="直接连接符 229430"/>
          <p:cNvSpPr/>
          <p:nvPr/>
        </p:nvSpPr>
        <p:spPr>
          <a:xfrm flipH="1">
            <a:off x="4032250" y="2697163"/>
            <a:ext cx="88900" cy="166687"/>
          </a:xfrm>
          <a:prstGeom prst="line">
            <a:avLst/>
          </a:prstGeom>
          <a:ln w="12700" cap="flat" cmpd="sng">
            <a:solidFill>
              <a:schemeClr val="tx1"/>
            </a:solidFill>
            <a:prstDash val="solid"/>
            <a:round/>
            <a:headEnd type="none" w="med" len="med"/>
            <a:tailEnd type="none" w="med" len="med"/>
          </a:ln>
        </p:spPr>
      </p:sp>
      <p:sp>
        <p:nvSpPr>
          <p:cNvPr id="87095" name="矩形 229431"/>
          <p:cNvSpPr/>
          <p:nvPr/>
        </p:nvSpPr>
        <p:spPr>
          <a:xfrm>
            <a:off x="3719513" y="27955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7096" name="矩形 229432"/>
          <p:cNvSpPr/>
          <p:nvPr/>
        </p:nvSpPr>
        <p:spPr>
          <a:xfrm>
            <a:off x="2805113" y="6107113"/>
            <a:ext cx="968375" cy="363537"/>
          </a:xfrm>
          <a:prstGeom prst="rect">
            <a:avLst/>
          </a:prstGeom>
          <a:noFill/>
          <a:ln w="12700">
            <a:noFill/>
          </a:ln>
        </p:spPr>
        <p:txBody>
          <a:bodyPr wrap="none" lIns="90488" tIns="44450" rIns="90488" bIns="44450" anchor="t" anchorCtr="0">
            <a:spAutoFit/>
          </a:bodyPr>
          <a:p>
            <a:r>
              <a:rPr lang="en-US" altLang="zh-CN" sz="1800">
                <a:solidFill>
                  <a:schemeClr val="accent1"/>
                </a:solidFill>
                <a:latin typeface="Arial" panose="020B0604020202020204" pitchFamily="34" charset="0"/>
                <a:ea typeface="宋体" panose="02010600030101010101" pitchFamily="2" charset="-122"/>
              </a:rPr>
              <a:t>Branch</a:t>
            </a:r>
            <a:endParaRPr lang="en-US" altLang="zh-CN" sz="1800">
              <a:solidFill>
                <a:schemeClr val="accent1"/>
              </a:solidFill>
              <a:latin typeface="Arial" panose="020B0604020202020204" pitchFamily="34" charset="0"/>
              <a:ea typeface="宋体" panose="02010600030101010101" pitchFamily="2" charset="-122"/>
            </a:endParaRPr>
          </a:p>
        </p:txBody>
      </p:sp>
      <p:sp>
        <p:nvSpPr>
          <p:cNvPr id="87097" name="矩形 229433"/>
          <p:cNvSpPr/>
          <p:nvPr/>
        </p:nvSpPr>
        <p:spPr>
          <a:xfrm>
            <a:off x="3686175" y="6119813"/>
            <a:ext cx="676275" cy="363537"/>
          </a:xfrm>
          <a:prstGeom prst="rect">
            <a:avLst/>
          </a:prstGeom>
          <a:noFill/>
          <a:ln w="12700">
            <a:noFill/>
          </a:ln>
        </p:spPr>
        <p:txBody>
          <a:bodyPr wrap="none" lIns="90488" tIns="44450" rIns="90488" bIns="44450" anchor="t" anchorCtr="0">
            <a:spAutoFit/>
          </a:bodyPr>
          <a:p>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87098" name="矩形 229434"/>
          <p:cNvSpPr/>
          <p:nvPr/>
        </p:nvSpPr>
        <p:spPr>
          <a:xfrm>
            <a:off x="6937375" y="3236913"/>
            <a:ext cx="1355725" cy="12700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7099" name="矩形 229435"/>
          <p:cNvSpPr/>
          <p:nvPr/>
        </p:nvSpPr>
        <p:spPr>
          <a:xfrm>
            <a:off x="6899275" y="3224213"/>
            <a:ext cx="141922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&lt;31:2</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87100" name="矩形 229436"/>
          <p:cNvSpPr/>
          <p:nvPr/>
        </p:nvSpPr>
        <p:spPr>
          <a:xfrm>
            <a:off x="6983413" y="3910013"/>
            <a:ext cx="13620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87101" name="矩形 229437"/>
          <p:cNvSpPr/>
          <p:nvPr/>
        </p:nvSpPr>
        <p:spPr>
          <a:xfrm>
            <a:off x="6899275" y="3529013"/>
            <a:ext cx="129222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87102" name="直接连接符 229438"/>
          <p:cNvSpPr/>
          <p:nvPr/>
        </p:nvSpPr>
        <p:spPr>
          <a:xfrm>
            <a:off x="6261100" y="3681413"/>
            <a:ext cx="660400" cy="0"/>
          </a:xfrm>
          <a:prstGeom prst="line">
            <a:avLst/>
          </a:prstGeom>
          <a:ln w="25400" cap="flat" cmpd="sng">
            <a:solidFill>
              <a:schemeClr val="tx1"/>
            </a:solidFill>
            <a:prstDash val="solid"/>
            <a:round/>
            <a:headEnd type="none" w="med" len="med"/>
            <a:tailEnd type="triangle" w="med" len="med"/>
          </a:ln>
        </p:spPr>
      </p:sp>
      <p:sp>
        <p:nvSpPr>
          <p:cNvPr id="87103" name="矩形 229439"/>
          <p:cNvSpPr/>
          <p:nvPr/>
        </p:nvSpPr>
        <p:spPr>
          <a:xfrm>
            <a:off x="6157913" y="3681413"/>
            <a:ext cx="6635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“00”</a:t>
            </a:r>
            <a:endParaRPr lang="zh-CN" altLang="en-US" sz="1800" dirty="0">
              <a:latin typeface="Arial" panose="020B0604020202020204" pitchFamily="34" charset="0"/>
              <a:ea typeface="宋体" panose="02010600030101010101" pitchFamily="2" charset="-122"/>
            </a:endParaRPr>
          </a:p>
        </p:txBody>
      </p:sp>
      <p:sp>
        <p:nvSpPr>
          <p:cNvPr id="87104" name="直接连接符 229440"/>
          <p:cNvSpPr/>
          <p:nvPr/>
        </p:nvSpPr>
        <p:spPr>
          <a:xfrm>
            <a:off x="7620000" y="4532313"/>
            <a:ext cx="0" cy="1041400"/>
          </a:xfrm>
          <a:prstGeom prst="line">
            <a:avLst/>
          </a:prstGeom>
          <a:ln w="25400" cap="flat" cmpd="sng">
            <a:solidFill>
              <a:schemeClr val="tx1"/>
            </a:solidFill>
            <a:prstDash val="solid"/>
            <a:round/>
            <a:headEnd type="none" w="med" len="med"/>
            <a:tailEnd type="triangle" w="med" len="med"/>
          </a:ln>
        </p:spPr>
      </p:sp>
      <p:sp>
        <p:nvSpPr>
          <p:cNvPr id="87105" name="直接连接符 229441"/>
          <p:cNvSpPr/>
          <p:nvPr/>
        </p:nvSpPr>
        <p:spPr>
          <a:xfrm flipV="1">
            <a:off x="7550150" y="4894263"/>
            <a:ext cx="139700" cy="165100"/>
          </a:xfrm>
          <a:prstGeom prst="line">
            <a:avLst/>
          </a:prstGeom>
          <a:ln w="12700" cap="flat" cmpd="sng">
            <a:solidFill>
              <a:schemeClr val="tx1"/>
            </a:solidFill>
            <a:prstDash val="solid"/>
            <a:round/>
            <a:headEnd type="none" w="med" len="med"/>
            <a:tailEnd type="none" w="med" len="med"/>
          </a:ln>
        </p:spPr>
      </p:sp>
      <p:sp>
        <p:nvSpPr>
          <p:cNvPr id="87106" name="矩形 229442"/>
          <p:cNvSpPr/>
          <p:nvPr/>
        </p:nvSpPr>
        <p:spPr>
          <a:xfrm>
            <a:off x="7681913" y="474821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87107" name="矩形 229443"/>
          <p:cNvSpPr/>
          <p:nvPr/>
        </p:nvSpPr>
        <p:spPr>
          <a:xfrm>
            <a:off x="6843713" y="5510213"/>
            <a:ext cx="206692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87108" name="直接连接符 229444"/>
          <p:cNvSpPr/>
          <p:nvPr/>
        </p:nvSpPr>
        <p:spPr>
          <a:xfrm>
            <a:off x="2832100" y="4972050"/>
            <a:ext cx="660400" cy="0"/>
          </a:xfrm>
          <a:prstGeom prst="line">
            <a:avLst/>
          </a:prstGeom>
          <a:ln w="25400" cap="flat" cmpd="sng">
            <a:solidFill>
              <a:schemeClr val="tx1"/>
            </a:solidFill>
            <a:prstDash val="solid"/>
            <a:round/>
            <a:headEnd type="none" w="med" len="med"/>
            <a:tailEnd type="triangle" w="med" len="med"/>
          </a:ln>
        </p:spPr>
      </p:sp>
      <p:sp>
        <p:nvSpPr>
          <p:cNvPr id="87109" name="矩形 229445"/>
          <p:cNvSpPr/>
          <p:nvPr/>
        </p:nvSpPr>
        <p:spPr>
          <a:xfrm>
            <a:off x="3052763" y="50831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87110" name="直接连接符 229446"/>
          <p:cNvSpPr/>
          <p:nvPr/>
        </p:nvSpPr>
        <p:spPr>
          <a:xfrm flipH="1">
            <a:off x="3041650" y="4906963"/>
            <a:ext cx="88900" cy="139700"/>
          </a:xfrm>
          <a:prstGeom prst="line">
            <a:avLst/>
          </a:prstGeom>
          <a:ln w="12700" cap="flat" cmpd="sng">
            <a:solidFill>
              <a:schemeClr val="tx1"/>
            </a:solidFill>
            <a:prstDash val="solid"/>
            <a:round/>
            <a:headEnd type="none" w="med" len="med"/>
            <a:tailEnd type="none" w="med" len="med"/>
          </a:ln>
        </p:spPr>
      </p:sp>
      <p:sp>
        <p:nvSpPr>
          <p:cNvPr id="87111" name="直接连接符 229447"/>
          <p:cNvSpPr/>
          <p:nvPr/>
        </p:nvSpPr>
        <p:spPr>
          <a:xfrm>
            <a:off x="4800600" y="3694113"/>
            <a:ext cx="0" cy="431800"/>
          </a:xfrm>
          <a:prstGeom prst="line">
            <a:avLst/>
          </a:prstGeom>
          <a:ln w="25400" cap="flat" cmpd="sng">
            <a:solidFill>
              <a:srgbClr val="0000FF"/>
            </a:solidFill>
            <a:prstDash val="solid"/>
            <a:round/>
            <a:headEnd type="none" w="med" len="med"/>
            <a:tailEnd type="triangle" w="med" len="med"/>
          </a:ln>
        </p:spPr>
      </p:sp>
      <p:sp>
        <p:nvSpPr>
          <p:cNvPr id="87112" name="矩形 229448"/>
          <p:cNvSpPr/>
          <p:nvPr/>
        </p:nvSpPr>
        <p:spPr>
          <a:xfrm>
            <a:off x="4405313" y="3529013"/>
            <a:ext cx="5365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87113" name="矩形 229449"/>
          <p:cNvSpPr/>
          <p:nvPr/>
        </p:nvSpPr>
        <p:spPr>
          <a:xfrm>
            <a:off x="4811713" y="3795713"/>
            <a:ext cx="1031875" cy="363537"/>
          </a:xfrm>
          <a:prstGeom prst="rect">
            <a:avLst/>
          </a:prstGeom>
          <a:noFill/>
          <a:ln w="12700">
            <a:noFill/>
          </a:ln>
        </p:spPr>
        <p:txBody>
          <a:bodyPr wrap="none" lIns="90488" tIns="44450" rIns="90488" bIns="44450" anchor="t" anchorCtr="0">
            <a:spAutoFit/>
          </a:bodyPr>
          <a:p>
            <a:r>
              <a:rPr lang="en-US" altLang="zh-CN" sz="1800">
                <a:solidFill>
                  <a:schemeClr val="accent2"/>
                </a:solidFill>
                <a:latin typeface="Arial" panose="020B0604020202020204" pitchFamily="34" charset="0"/>
                <a:ea typeface="宋体" panose="02010600030101010101" pitchFamily="2" charset="-122"/>
              </a:rPr>
              <a:t>Carry</a:t>
            </a:r>
            <a:r>
              <a:rPr lang="en-US" altLang="zh-CN">
                <a:solidFill>
                  <a:schemeClr val="accent2"/>
                </a:solidFill>
                <a:latin typeface="Times New Roman" panose="02020603050405020304" pitchFamily="18" charset="0"/>
                <a:ea typeface="宋体" panose="02010600030101010101" pitchFamily="2" charset="-122"/>
              </a:rPr>
              <a:t> </a:t>
            </a:r>
            <a:r>
              <a:rPr lang="en-US" altLang="zh-CN" sz="1800">
                <a:solidFill>
                  <a:schemeClr val="accent2"/>
                </a:solidFill>
                <a:latin typeface="Arial" panose="020B0604020202020204" pitchFamily="34" charset="0"/>
                <a:ea typeface="宋体" panose="02010600030101010101" pitchFamily="2" charset="-122"/>
              </a:rPr>
              <a:t>In</a:t>
            </a:r>
            <a:endParaRPr lang="en-US" altLang="zh-CN" sz="1800">
              <a:solidFill>
                <a:schemeClr val="accent2"/>
              </a:solidFill>
              <a:latin typeface="Arial" panose="020B0604020202020204" pitchFamily="34" charset="0"/>
              <a:ea typeface="宋体" panose="02010600030101010101" pitchFamily="2" charset="-122"/>
            </a:endParaRPr>
          </a:p>
        </p:txBody>
      </p:sp>
      <p:sp>
        <p:nvSpPr>
          <p:cNvPr id="87114" name="直接连接符 229450"/>
          <p:cNvSpPr/>
          <p:nvPr/>
        </p:nvSpPr>
        <p:spPr>
          <a:xfrm>
            <a:off x="4051300" y="4062413"/>
            <a:ext cx="431800" cy="0"/>
          </a:xfrm>
          <a:prstGeom prst="line">
            <a:avLst/>
          </a:prstGeom>
          <a:ln w="25400" cap="flat" cmpd="sng">
            <a:solidFill>
              <a:schemeClr val="tx1"/>
            </a:solidFill>
            <a:prstDash val="solid"/>
            <a:round/>
            <a:headEnd type="none" w="med" len="med"/>
            <a:tailEnd type="triangle" w="med" len="med"/>
          </a:ln>
        </p:spPr>
      </p:sp>
      <p:sp>
        <p:nvSpPr>
          <p:cNvPr id="87115" name="直接连接符 229451"/>
          <p:cNvSpPr/>
          <p:nvPr/>
        </p:nvSpPr>
        <p:spPr>
          <a:xfrm flipV="1">
            <a:off x="4038600" y="3363913"/>
            <a:ext cx="0" cy="711200"/>
          </a:xfrm>
          <a:prstGeom prst="line">
            <a:avLst/>
          </a:prstGeom>
          <a:ln w="25400" cap="flat" cmpd="sng">
            <a:solidFill>
              <a:schemeClr val="tx1"/>
            </a:solidFill>
            <a:prstDash val="solid"/>
            <a:round/>
            <a:headEnd type="none" w="med" len="med"/>
            <a:tailEnd type="none" w="med" len="med"/>
          </a:ln>
        </p:spPr>
      </p:sp>
      <p:sp>
        <p:nvSpPr>
          <p:cNvPr id="87116" name="矩形 229452"/>
          <p:cNvSpPr/>
          <p:nvPr/>
        </p:nvSpPr>
        <p:spPr>
          <a:xfrm>
            <a:off x="163513" y="5459413"/>
            <a:ext cx="206692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Instruction&lt;15:0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229454" name="文本框 229453"/>
          <p:cNvSpPr txBox="1"/>
          <p:nvPr/>
        </p:nvSpPr>
        <p:spPr>
          <a:xfrm>
            <a:off x="4473575" y="5943600"/>
            <a:ext cx="2905125" cy="701675"/>
          </a:xfrm>
          <a:prstGeom prst="rect">
            <a:avLst/>
          </a:prstGeom>
          <a:noFill/>
          <a:ln w="25400">
            <a:noFill/>
          </a:ln>
        </p:spPr>
        <p:txBody>
          <a:bodyPr anchor="t" anchorCtr="0">
            <a:spAutoFit/>
          </a:bodyPr>
          <a:p>
            <a:pPr>
              <a:spcBef>
                <a:spcPct val="50000"/>
              </a:spcBef>
            </a:pPr>
            <a:r>
              <a:rPr lang="zh-CN" altLang="en-US" sz="2000" dirty="0">
                <a:solidFill>
                  <a:srgbClr val="CC0000"/>
                </a:solidFill>
                <a:latin typeface="Arial" panose="020B0604020202020204" pitchFamily="34" charset="0"/>
                <a:ea typeface="黑体" panose="02010609060101010101" pitchFamily="49" charset="-122"/>
              </a:rPr>
              <a:t>非</a:t>
            </a:r>
            <a:r>
              <a:rPr lang="en-US" altLang="zh-CN" sz="2000">
                <a:solidFill>
                  <a:srgbClr val="CC0000"/>
                </a:solidFill>
                <a:latin typeface="Arial" panose="020B0604020202020204" pitchFamily="34" charset="0"/>
                <a:ea typeface="黑体" panose="02010609060101010101" pitchFamily="49" charset="-122"/>
              </a:rPr>
              <a:t>Branch</a:t>
            </a:r>
            <a:r>
              <a:rPr lang="zh-CN" altLang="en-US" sz="2000" dirty="0">
                <a:solidFill>
                  <a:srgbClr val="CC0000"/>
                </a:solidFill>
                <a:latin typeface="Arial" panose="020B0604020202020204" pitchFamily="34" charset="0"/>
                <a:ea typeface="黑体" panose="02010609060101010101" pitchFamily="49" charset="-122"/>
              </a:rPr>
              <a:t>时也不能很快得到下条指令地址</a:t>
            </a:r>
            <a:endParaRPr lang="zh-CN" altLang="en-US" sz="2000" dirty="0">
              <a:solidFill>
                <a:srgbClr val="CC0000"/>
              </a:solidFill>
              <a:latin typeface="Arial" panose="020B0604020202020204" pitchFamily="34" charset="0"/>
              <a:ea typeface="黑体" panose="02010609060101010101" pitchFamily="49" charset="-122"/>
            </a:endParaRPr>
          </a:p>
        </p:txBody>
      </p:sp>
      <p:sp>
        <p:nvSpPr>
          <p:cNvPr id="87118" name="标题 229454"/>
          <p:cNvSpPr>
            <a:spLocks noGrp="1"/>
          </p:cNvSpPr>
          <p:nvPr>
            <p:ph type="title"/>
          </p:nvPr>
        </p:nvSpPr>
        <p:spPr>
          <a:xfrm>
            <a:off x="444500" y="203200"/>
            <a:ext cx="7453313" cy="531813"/>
          </a:xfrm>
          <a:ln/>
        </p:spPr>
        <p:txBody>
          <a:bodyPr vert="horz" wrap="square" lIns="63500" tIns="25400" rIns="63500" bIns="25400" anchor="t" anchorCtr="0">
            <a:spAutoFit/>
          </a:bodyPr>
          <a:p>
            <a:r>
              <a:rPr lang="zh-CN" altLang="en-US" dirty="0">
                <a:ea typeface="宋体" panose="02010600030101010101" pitchFamily="2" charset="-122"/>
              </a:rPr>
              <a:t>下址逻辑设计方案</a:t>
            </a:r>
            <a:r>
              <a:rPr lang="en-US" altLang="zh-CN">
                <a:ea typeface="宋体" panose="02010600030101010101" pitchFamily="2" charset="-122"/>
              </a:rPr>
              <a:t>2: : </a:t>
            </a:r>
            <a:r>
              <a:rPr lang="zh-CN" altLang="en-US" dirty="0">
                <a:ea typeface="宋体" panose="02010600030101010101" pitchFamily="2" charset="-122"/>
              </a:rPr>
              <a:t>慢但便宜</a:t>
            </a:r>
            <a:endParaRPr lang="zh-CN" altLang="en-US" dirty="0">
              <a:ea typeface="宋体" panose="02010600030101010101" pitchFamily="2" charset="-122"/>
            </a:endParaRPr>
          </a:p>
        </p:txBody>
      </p:sp>
      <p:sp>
        <p:nvSpPr>
          <p:cNvPr id="229457" name="文本框 229456"/>
          <p:cNvSpPr txBox="1"/>
          <p:nvPr/>
        </p:nvSpPr>
        <p:spPr>
          <a:xfrm>
            <a:off x="5689600" y="1358900"/>
            <a:ext cx="2794000" cy="396875"/>
          </a:xfrm>
          <a:prstGeom prst="rect">
            <a:avLst/>
          </a:prstGeom>
          <a:noFill/>
          <a:ln w="50800">
            <a:noFill/>
          </a:ln>
        </p:spPr>
        <p:txBody>
          <a:bodyPr anchor="t" anchorCtr="0">
            <a:spAutoFit/>
          </a:bodyPr>
          <a:p>
            <a:pPr>
              <a:spcBef>
                <a:spcPct val="50000"/>
              </a:spcBef>
            </a:pPr>
            <a:r>
              <a:rPr lang="zh-CN" altLang="en-US" sz="2000" dirty="0">
                <a:latin typeface="Times New Roman" panose="02020603050405020304" pitchFamily="18" charset="0"/>
                <a:ea typeface="宋体" panose="02010600030101010101" pitchFamily="2" charset="-122"/>
              </a:rPr>
              <a:t>如果是 </a:t>
            </a:r>
            <a:r>
              <a:rPr lang="en-US" altLang="zh-CN" sz="2000" dirty="0" err="1">
                <a:latin typeface="Times New Roman" panose="02020603050405020304" pitchFamily="18" charset="0"/>
                <a:ea typeface="宋体" panose="02010600030101010101" pitchFamily="2" charset="-122"/>
              </a:rPr>
              <a:t>bgt</a:t>
            </a:r>
            <a:r>
              <a:rPr lang="zh-CN" altLang="en-US" sz="2000" dirty="0">
                <a:latin typeface="Times New Roman" panose="02020603050405020304" pitchFamily="18" charset="0"/>
                <a:ea typeface="宋体" panose="02010600030101010101" pitchFamily="2" charset="-122"/>
              </a:rPr>
              <a:t>，则如何？</a:t>
            </a:r>
            <a:endParaRPr lang="zh-CN" altLang="en-US" sz="20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9378">
                                            <p:txEl>
                                              <p:charRg st="6" end="28"/>
                                            </p:txEl>
                                          </p:spTgt>
                                        </p:tgtEl>
                                        <p:attrNameLst>
                                          <p:attrName>style.visibility</p:attrName>
                                        </p:attrNameLst>
                                      </p:cBhvr>
                                      <p:to>
                                        <p:strVal val="visible"/>
                                      </p:to>
                                    </p:set>
                                    <p:animEffect transition="in" filter="blinds(horizontal)">
                                      <p:cBhvr>
                                        <p:cTn id="7" dur="500"/>
                                        <p:tgtEl>
                                          <p:spTgt spid="229378">
                                            <p:txEl>
                                              <p:charRg st="6"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9378">
                                            <p:txEl>
                                              <p:charRg st="38" end="53"/>
                                            </p:txEl>
                                          </p:spTgt>
                                        </p:tgtEl>
                                        <p:attrNameLst>
                                          <p:attrName>style.visibility</p:attrName>
                                        </p:attrNameLst>
                                      </p:cBhvr>
                                      <p:to>
                                        <p:strVal val="visible"/>
                                      </p:to>
                                    </p:set>
                                    <p:animEffect transition="in" filter="blinds(horizontal)">
                                      <p:cBhvr>
                                        <p:cTn id="12" dur="500"/>
                                        <p:tgtEl>
                                          <p:spTgt spid="229378">
                                            <p:txEl>
                                              <p:charRg st="38" end="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9378">
                                            <p:txEl>
                                              <p:charRg st="61" end="88"/>
                                            </p:txEl>
                                          </p:spTgt>
                                        </p:tgtEl>
                                        <p:attrNameLst>
                                          <p:attrName>style.visibility</p:attrName>
                                        </p:attrNameLst>
                                      </p:cBhvr>
                                      <p:to>
                                        <p:strVal val="visible"/>
                                      </p:to>
                                    </p:set>
                                    <p:animEffect transition="in" filter="blinds(horizontal)">
                                      <p:cBhvr>
                                        <p:cTn id="17" dur="500"/>
                                        <p:tgtEl>
                                          <p:spTgt spid="229378">
                                            <p:txEl>
                                              <p:charRg st="61" end="8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9454"/>
                                        </p:tgtEl>
                                        <p:attrNameLst>
                                          <p:attrName>style.visibility</p:attrName>
                                        </p:attrNameLst>
                                      </p:cBhvr>
                                      <p:to>
                                        <p:strVal val="visible"/>
                                      </p:to>
                                    </p:set>
                                    <p:animEffect transition="in" filter="blinds(horizontal)">
                                      <p:cBhvr>
                                        <p:cTn id="22" dur="500"/>
                                        <p:tgtEl>
                                          <p:spTgt spid="22945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9457"/>
                                        </p:tgtEl>
                                        <p:attrNameLst>
                                          <p:attrName>style.visibility</p:attrName>
                                        </p:attrNameLst>
                                      </p:cBhvr>
                                      <p:to>
                                        <p:strVal val="visible"/>
                                      </p:to>
                                    </p:set>
                                    <p:animEffect transition="in" filter="blinds(horizontal)">
                                      <p:cBhvr>
                                        <p:cTn id="27" dur="500"/>
                                        <p:tgtEl>
                                          <p:spTgt spid="229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454" grpId="0"/>
      <p:bldP spid="22945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标题 231425"/>
          <p:cNvSpPr>
            <a:spLocks noGrp="1"/>
          </p:cNvSpPr>
          <p:nvPr>
            <p:ph type="title"/>
          </p:nvPr>
        </p:nvSpPr>
        <p:spPr>
          <a:xfrm>
            <a:off x="444500" y="203200"/>
            <a:ext cx="7235825" cy="422275"/>
          </a:xfrm>
          <a:ln/>
        </p:spPr>
        <p:txBody>
          <a:bodyPr vert="horz" wrap="square" lIns="63500" tIns="25400" rIns="63500" bIns="25400" anchor="t" anchorCtr="0">
            <a:spAutoFit/>
          </a:bodyPr>
          <a:p>
            <a:r>
              <a:rPr lang="zh-CN" altLang="en-US" dirty="0">
                <a:ea typeface="宋体" panose="02010600030101010101" pitchFamily="2" charset="-122"/>
              </a:rPr>
              <a:t>无条件转移指令</a:t>
            </a:r>
            <a:endParaRPr lang="zh-CN" altLang="en-US" dirty="0">
              <a:ea typeface="宋体" panose="02010600030101010101" pitchFamily="2" charset="-122"/>
            </a:endParaRPr>
          </a:p>
        </p:txBody>
      </p:sp>
      <p:sp>
        <p:nvSpPr>
          <p:cNvPr id="89090" name="文本占位符 231498"/>
          <p:cNvSpPr>
            <a:spLocks noGrp="1"/>
          </p:cNvSpPr>
          <p:nvPr>
            <p:ph idx="1"/>
          </p:nvPr>
        </p:nvSpPr>
        <p:spPr>
          <a:xfrm>
            <a:off x="209550" y="901700"/>
            <a:ext cx="3170238" cy="4783138"/>
          </a:xfrm>
          <a:ln/>
        </p:spPr>
        <p:txBody>
          <a:bodyPr vert="horz" wrap="square" lIns="63500" tIns="25400" rIns="63500" bIns="25400" anchor="t" anchorCtr="0">
            <a:spAutoFit/>
          </a:bodyPr>
          <a:p>
            <a:pPr marL="342900" indent="-342900">
              <a:buNone/>
            </a:pPr>
            <a:r>
              <a:rPr lang="zh-CN" altLang="en-US" dirty="0">
                <a:solidFill>
                  <a:srgbClr val="339933"/>
                </a:solidFill>
                <a:latin typeface="宋体" panose="02010600030101010101" pitchFamily="2" charset="-122"/>
                <a:ea typeface="宋体" panose="02010600030101010101" pitchFamily="2" charset="-122"/>
              </a:rPr>
              <a:t>实现目标（</a:t>
            </a:r>
            <a:r>
              <a:rPr lang="en-US" altLang="zh-CN">
                <a:solidFill>
                  <a:srgbClr val="339933"/>
                </a:solidFill>
                <a:latin typeface="宋体" panose="02010600030101010101" pitchFamily="2" charset="-122"/>
                <a:ea typeface="宋体" panose="02010600030101010101" pitchFamily="2" charset="-122"/>
              </a:rPr>
              <a:t>7</a:t>
            </a:r>
            <a:r>
              <a:rPr lang="zh-CN" altLang="en-US" dirty="0">
                <a:solidFill>
                  <a:srgbClr val="339933"/>
                </a:solidFill>
                <a:latin typeface="宋体" panose="02010600030101010101" pitchFamily="2" charset="-122"/>
                <a:ea typeface="宋体" panose="02010600030101010101" pitchFamily="2" charset="-122"/>
              </a:rPr>
              <a:t>条指令）：</a:t>
            </a:r>
            <a:endParaRPr lang="zh-CN" altLang="en-US" dirty="0">
              <a:solidFill>
                <a:srgbClr val="339933"/>
              </a:solidFill>
              <a:latin typeface="宋体" panose="02010600030101010101" pitchFamily="2" charset="-122"/>
              <a:ea typeface="宋体" panose="02010600030101010101" pitchFamily="2" charset="-122"/>
            </a:endParaRPr>
          </a:p>
          <a:p>
            <a:pPr marL="342900" indent="-342900"/>
            <a:r>
              <a:rPr lang="en-US" altLang="zh-CN">
                <a:solidFill>
                  <a:srgbClr val="6D6D6D"/>
                </a:solidFill>
                <a:ea typeface="宋体" panose="02010600030101010101" pitchFamily="2" charset="-122"/>
              </a:rPr>
              <a:t>ADD and subtract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add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742950" lvl="1" indent="-285750"/>
            <a:r>
              <a:rPr lang="en-US" altLang="zh-CN">
                <a:solidFill>
                  <a:srgbClr val="6D6D6D"/>
                </a:solidFill>
                <a:ea typeface="宋体" panose="02010600030101010101" pitchFamily="2" charset="-122"/>
              </a:rPr>
              <a:t>sub rd,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endParaRPr lang="en-US" altLang="zh-CN">
              <a:solidFill>
                <a:srgbClr val="6D6D6D"/>
              </a:solidFill>
              <a:ea typeface="宋体" panose="02010600030101010101" pitchFamily="2" charset="-122"/>
            </a:endParaRPr>
          </a:p>
          <a:p>
            <a:pPr marL="342900" indent="-342900"/>
            <a:r>
              <a:rPr lang="en-US" altLang="zh-CN">
                <a:solidFill>
                  <a:srgbClr val="6D6D6D"/>
                </a:solidFill>
                <a:ea typeface="宋体" panose="02010600030101010101" pitchFamily="2" charset="-122"/>
              </a:rPr>
              <a:t>OR Immediate:</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ori</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342900" indent="-342900"/>
            <a:r>
              <a:rPr lang="en-US" altLang="zh-CN">
                <a:solidFill>
                  <a:srgbClr val="6D6D6D"/>
                </a:solidFill>
                <a:ea typeface="宋体" panose="02010600030101010101" pitchFamily="2" charset="-122"/>
              </a:rPr>
              <a:t>LOAD and STORE</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lw</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sw</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342900" indent="-342900"/>
            <a:r>
              <a:rPr lang="en-US" altLang="zh-CN">
                <a:solidFill>
                  <a:srgbClr val="6D6D6D"/>
                </a:solidFill>
                <a:ea typeface="宋体" panose="02010600030101010101" pitchFamily="2" charset="-122"/>
              </a:rPr>
              <a:t>BRANCH:</a:t>
            </a:r>
            <a:endParaRPr lang="en-US" altLang="zh-CN">
              <a:solidFill>
                <a:srgbClr val="6D6D6D"/>
              </a:solidFill>
              <a:ea typeface="宋体" panose="02010600030101010101" pitchFamily="2" charset="-122"/>
            </a:endParaRPr>
          </a:p>
          <a:p>
            <a:pPr marL="742950" lvl="1" indent="-285750"/>
            <a:r>
              <a:rPr lang="en-US" altLang="zh-CN" dirty="0" err="1">
                <a:solidFill>
                  <a:srgbClr val="6D6D6D"/>
                </a:solidFill>
                <a:ea typeface="宋体" panose="02010600030101010101" pitchFamily="2" charset="-122"/>
              </a:rPr>
              <a:t>beq</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rs</a:t>
            </a:r>
            <a:r>
              <a:rPr lang="en-US" altLang="zh-CN">
                <a:solidFill>
                  <a:srgbClr val="6D6D6D"/>
                </a:solidFill>
                <a:ea typeface="宋体" panose="02010600030101010101" pitchFamily="2" charset="-122"/>
              </a:rPr>
              <a:t>, </a:t>
            </a:r>
            <a:r>
              <a:rPr lang="en-US" altLang="zh-CN" dirty="0" err="1">
                <a:solidFill>
                  <a:srgbClr val="6D6D6D"/>
                </a:solidFill>
                <a:ea typeface="宋体" panose="02010600030101010101" pitchFamily="2" charset="-122"/>
              </a:rPr>
              <a:t>rt</a:t>
            </a:r>
            <a:r>
              <a:rPr lang="en-US" altLang="zh-CN">
                <a:solidFill>
                  <a:srgbClr val="6D6D6D"/>
                </a:solidFill>
                <a:ea typeface="宋体" panose="02010600030101010101" pitchFamily="2" charset="-122"/>
              </a:rPr>
              <a:t>, imm16</a:t>
            </a:r>
            <a:endParaRPr lang="en-US" altLang="zh-CN">
              <a:solidFill>
                <a:srgbClr val="6D6D6D"/>
              </a:solidFill>
              <a:ea typeface="宋体" panose="02010600030101010101" pitchFamily="2" charset="-122"/>
            </a:endParaRPr>
          </a:p>
          <a:p>
            <a:pPr marL="342900" indent="-342900"/>
            <a:r>
              <a:rPr lang="en-US" altLang="zh-CN">
                <a:ea typeface="宋体" panose="02010600030101010101" pitchFamily="2" charset="-122"/>
              </a:rPr>
              <a:t>JUMP:</a:t>
            </a:r>
            <a:endParaRPr lang="en-US" altLang="zh-CN">
              <a:ea typeface="宋体" panose="02010600030101010101" pitchFamily="2" charset="-122"/>
            </a:endParaRPr>
          </a:p>
          <a:p>
            <a:pPr marL="742950" lvl="1" indent="-285750"/>
            <a:r>
              <a:rPr lang="en-US" altLang="zh-CN">
                <a:ea typeface="宋体" panose="02010600030101010101" pitchFamily="2" charset="-122"/>
              </a:rPr>
              <a:t>j  target</a:t>
            </a:r>
            <a:endParaRPr lang="en-US" altLang="zh-CN">
              <a:ea typeface="宋体" panose="02010600030101010101" pitchFamily="2" charset="-122"/>
            </a:endParaRPr>
          </a:p>
        </p:txBody>
      </p:sp>
      <p:sp>
        <p:nvSpPr>
          <p:cNvPr id="231500" name="文本框 231499"/>
          <p:cNvSpPr txBox="1"/>
          <p:nvPr/>
        </p:nvSpPr>
        <p:spPr>
          <a:xfrm>
            <a:off x="3192463" y="4071938"/>
            <a:ext cx="5849937" cy="427037"/>
          </a:xfrm>
          <a:prstGeom prst="rect">
            <a:avLst/>
          </a:prstGeom>
          <a:noFill/>
          <a:ln w="50800">
            <a:noFill/>
          </a:ln>
        </p:spPr>
        <p:txBody>
          <a:bodyPr anchor="t" anchorCtr="0">
            <a:spAutoFit/>
          </a:bodyPr>
          <a:p>
            <a:pPr>
              <a:spcBef>
                <a:spcPct val="50000"/>
              </a:spcBef>
            </a:pPr>
            <a:r>
              <a:rPr lang="en-US" altLang="zh-CN" sz="2200">
                <a:solidFill>
                  <a:schemeClr val="accent1"/>
                </a:solidFill>
                <a:latin typeface="Arial" panose="020B0604020202020204" pitchFamily="34" charset="0"/>
                <a:ea typeface="黑体" panose="02010609060101010101" pitchFamily="49" charset="-122"/>
              </a:rPr>
              <a:t>6.  </a:t>
            </a:r>
            <a:r>
              <a:rPr lang="zh-CN" altLang="en-US" sz="2200" dirty="0">
                <a:solidFill>
                  <a:schemeClr val="accent1"/>
                </a:solidFill>
                <a:latin typeface="Arial" panose="020B0604020202020204" pitchFamily="34" charset="0"/>
                <a:ea typeface="黑体" panose="02010609060101010101" pitchFamily="49" charset="-122"/>
              </a:rPr>
              <a:t>考虑</a:t>
            </a:r>
            <a:r>
              <a:rPr lang="en-US" altLang="zh-CN" sz="2200">
                <a:solidFill>
                  <a:schemeClr val="accent1"/>
                </a:solidFill>
                <a:latin typeface="Arial" panose="020B0604020202020204" pitchFamily="34" charset="0"/>
                <a:ea typeface="黑体" panose="02010609060101010101" pitchFamily="49" charset="-122"/>
              </a:rPr>
              <a:t>Jump</a:t>
            </a:r>
            <a:r>
              <a:rPr lang="zh-CN" altLang="en-US" sz="2200" dirty="0">
                <a:solidFill>
                  <a:schemeClr val="accent1"/>
                </a:solidFill>
                <a:latin typeface="Arial" panose="020B0604020202020204" pitchFamily="34" charset="0"/>
                <a:ea typeface="黑体" panose="02010609060101010101" pitchFamily="49" charset="-122"/>
              </a:rPr>
              <a:t>指令（无条件转移指令的代表）</a:t>
            </a:r>
            <a:endParaRPr lang="zh-CN" altLang="en-US" sz="2200" dirty="0">
              <a:solidFill>
                <a:schemeClr val="accent1"/>
              </a:solidFill>
              <a:latin typeface="Arial" panose="020B0604020202020204" pitchFamily="34" charset="0"/>
              <a:ea typeface="黑体" panose="02010609060101010101" pitchFamily="49" charset="-122"/>
            </a:endParaRPr>
          </a:p>
        </p:txBody>
      </p:sp>
      <p:grpSp>
        <p:nvGrpSpPr>
          <p:cNvPr id="231504" name="组合 231503"/>
          <p:cNvGrpSpPr/>
          <p:nvPr/>
        </p:nvGrpSpPr>
        <p:grpSpPr>
          <a:xfrm>
            <a:off x="436563" y="5097463"/>
            <a:ext cx="8707437" cy="1058862"/>
            <a:chOff x="239" y="3259"/>
            <a:chExt cx="5485" cy="667"/>
          </a:xfrm>
        </p:grpSpPr>
        <p:sp>
          <p:nvSpPr>
            <p:cNvPr id="89093" name="文本框 231501"/>
            <p:cNvSpPr txBox="1"/>
            <p:nvPr/>
          </p:nvSpPr>
          <p:spPr>
            <a:xfrm>
              <a:off x="239" y="3394"/>
              <a:ext cx="1572" cy="212"/>
            </a:xfrm>
            <a:prstGeom prst="rect">
              <a:avLst/>
            </a:prstGeom>
            <a:solidFill>
              <a:srgbClr val="FF99CC">
                <a:alpha val="42000"/>
              </a:srgbClr>
            </a:solidFill>
            <a:ln w="50800">
              <a:noFill/>
            </a:ln>
          </p:spPr>
          <p:txBody>
            <a:bodyPr anchor="t" anchorCtr="0">
              <a:spAutoFit/>
            </a:bodyPr>
            <a:p>
              <a:pPr>
                <a:spcBef>
                  <a:spcPct val="50000"/>
                </a:spcBef>
              </a:pPr>
              <a:endParaRPr lang="zh-CN" altLang="en-US" dirty="0">
                <a:latin typeface="Times New Roman" panose="02020603050405020304" pitchFamily="18" charset="0"/>
                <a:ea typeface="宋体" panose="02010600030101010101" pitchFamily="2" charset="-122"/>
              </a:endParaRPr>
            </a:p>
          </p:txBody>
        </p:sp>
        <p:sp>
          <p:nvSpPr>
            <p:cNvPr id="89094" name="矩形 231502"/>
            <p:cNvSpPr/>
            <p:nvPr/>
          </p:nvSpPr>
          <p:spPr>
            <a:xfrm>
              <a:off x="1884" y="3259"/>
              <a:ext cx="3840" cy="667"/>
            </a:xfrm>
            <a:prstGeom prst="rect">
              <a:avLst/>
            </a:prstGeom>
            <a:solidFill>
              <a:srgbClr val="FF99CC">
                <a:alpha val="35001"/>
              </a:srgbClr>
            </a:solidFill>
            <a:ln w="50800">
              <a:noFill/>
            </a:ln>
          </p:spPr>
          <p:txBody>
            <a:bodyPr anchor="t" anchorCtr="0"/>
            <a:p>
              <a:endParaRPr lang="zh-CN" altLang="en-US">
                <a:latin typeface="Arial" panose="020B0604020202020204" pitchFamily="34" charset="0"/>
              </a:endParaRPr>
            </a:p>
          </p:txBody>
        </p:sp>
      </p:grpSp>
      <p:grpSp>
        <p:nvGrpSpPr>
          <p:cNvPr id="89095" name="组合 231505"/>
          <p:cNvGrpSpPr/>
          <p:nvPr/>
        </p:nvGrpSpPr>
        <p:grpSpPr>
          <a:xfrm>
            <a:off x="3068638" y="2266950"/>
            <a:ext cx="5999162" cy="989013"/>
            <a:chOff x="1918" y="1392"/>
            <a:chExt cx="3763" cy="607"/>
          </a:xfrm>
        </p:grpSpPr>
        <p:sp>
          <p:nvSpPr>
            <p:cNvPr id="89096" name="矩形 231506"/>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89097" name="组合 231507"/>
            <p:cNvGrpSpPr/>
            <p:nvPr/>
          </p:nvGrpSpPr>
          <p:grpSpPr>
            <a:xfrm>
              <a:off x="1979" y="1584"/>
              <a:ext cx="624" cy="223"/>
              <a:chOff x="1979" y="1584"/>
              <a:chExt cx="624" cy="223"/>
            </a:xfrm>
          </p:grpSpPr>
          <p:sp>
            <p:nvSpPr>
              <p:cNvPr id="89098" name="矩形 231508"/>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099" name="矩形 231509"/>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89100" name="组合 231510"/>
            <p:cNvGrpSpPr/>
            <p:nvPr/>
          </p:nvGrpSpPr>
          <p:grpSpPr>
            <a:xfrm>
              <a:off x="2611" y="1584"/>
              <a:ext cx="580" cy="223"/>
              <a:chOff x="2611" y="1584"/>
              <a:chExt cx="580" cy="223"/>
            </a:xfrm>
          </p:grpSpPr>
          <p:sp>
            <p:nvSpPr>
              <p:cNvPr id="89101" name="矩形 231511"/>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02" name="矩形 231512"/>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89103" name="组合 231513"/>
            <p:cNvGrpSpPr/>
            <p:nvPr/>
          </p:nvGrpSpPr>
          <p:grpSpPr>
            <a:xfrm>
              <a:off x="3199" y="1584"/>
              <a:ext cx="579" cy="223"/>
              <a:chOff x="3199" y="1584"/>
              <a:chExt cx="579" cy="223"/>
            </a:xfrm>
          </p:grpSpPr>
          <p:sp>
            <p:nvSpPr>
              <p:cNvPr id="89104" name="矩形 231514"/>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05" name="矩形 231515"/>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89106" name="矩形 231516"/>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07" name="矩形 231517"/>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89108" name="矩形 231518"/>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89109" name="矩形 231519"/>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9110" name="矩形 231520"/>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89111" name="矩形 231521"/>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89112" name="矩形 231522"/>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89113" name="矩形 231523"/>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14" name="矩形 231524"/>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15" name="矩形 231525"/>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16" name="矩形 231526"/>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89117" name="组合 231527"/>
          <p:cNvGrpSpPr/>
          <p:nvPr/>
        </p:nvGrpSpPr>
        <p:grpSpPr>
          <a:xfrm>
            <a:off x="3238500" y="990600"/>
            <a:ext cx="5905500" cy="973138"/>
            <a:chOff x="1918" y="672"/>
            <a:chExt cx="3767" cy="613"/>
          </a:xfrm>
        </p:grpSpPr>
        <p:grpSp>
          <p:nvGrpSpPr>
            <p:cNvPr id="89118" name="组合 231528"/>
            <p:cNvGrpSpPr/>
            <p:nvPr/>
          </p:nvGrpSpPr>
          <p:grpSpPr>
            <a:xfrm>
              <a:off x="1918" y="672"/>
              <a:ext cx="3767" cy="421"/>
              <a:chOff x="1918" y="672"/>
              <a:chExt cx="3767" cy="421"/>
            </a:xfrm>
          </p:grpSpPr>
          <p:grpSp>
            <p:nvGrpSpPr>
              <p:cNvPr id="89119" name="组合 231529"/>
              <p:cNvGrpSpPr/>
              <p:nvPr/>
            </p:nvGrpSpPr>
            <p:grpSpPr>
              <a:xfrm>
                <a:off x="1979" y="864"/>
                <a:ext cx="3607" cy="229"/>
                <a:chOff x="1979" y="864"/>
                <a:chExt cx="3607" cy="229"/>
              </a:xfrm>
            </p:grpSpPr>
            <p:sp>
              <p:nvSpPr>
                <p:cNvPr id="89120" name="矩形 231530"/>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89121" name="组合 231531"/>
                <p:cNvGrpSpPr/>
                <p:nvPr/>
              </p:nvGrpSpPr>
              <p:grpSpPr>
                <a:xfrm>
                  <a:off x="1979" y="864"/>
                  <a:ext cx="3607" cy="229"/>
                  <a:chOff x="1979" y="864"/>
                  <a:chExt cx="3607" cy="229"/>
                </a:xfrm>
              </p:grpSpPr>
              <p:grpSp>
                <p:nvGrpSpPr>
                  <p:cNvPr id="89122" name="组合 231532"/>
                  <p:cNvGrpSpPr/>
                  <p:nvPr/>
                </p:nvGrpSpPr>
                <p:grpSpPr>
                  <a:xfrm>
                    <a:off x="1979" y="864"/>
                    <a:ext cx="624" cy="229"/>
                    <a:chOff x="1979" y="864"/>
                    <a:chExt cx="624" cy="229"/>
                  </a:xfrm>
                </p:grpSpPr>
                <p:sp>
                  <p:nvSpPr>
                    <p:cNvPr id="89123" name="矩形 231533"/>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24" name="矩形 231534"/>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89125" name="组合 231535"/>
                  <p:cNvGrpSpPr/>
                  <p:nvPr/>
                </p:nvGrpSpPr>
                <p:grpSpPr>
                  <a:xfrm>
                    <a:off x="2611" y="864"/>
                    <a:ext cx="580" cy="229"/>
                    <a:chOff x="2611" y="864"/>
                    <a:chExt cx="580" cy="229"/>
                  </a:xfrm>
                </p:grpSpPr>
                <p:sp>
                  <p:nvSpPr>
                    <p:cNvPr id="89126" name="矩形 231536"/>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27" name="矩形 231537"/>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89128" name="组合 231538"/>
                  <p:cNvGrpSpPr/>
                  <p:nvPr/>
                </p:nvGrpSpPr>
                <p:grpSpPr>
                  <a:xfrm>
                    <a:off x="3199" y="864"/>
                    <a:ext cx="579" cy="229"/>
                    <a:chOff x="3199" y="864"/>
                    <a:chExt cx="579" cy="229"/>
                  </a:xfrm>
                </p:grpSpPr>
                <p:sp>
                  <p:nvSpPr>
                    <p:cNvPr id="89129" name="矩形 231539"/>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30" name="矩形 231540"/>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89131" name="组合 231541"/>
                  <p:cNvGrpSpPr/>
                  <p:nvPr/>
                </p:nvGrpSpPr>
                <p:grpSpPr>
                  <a:xfrm>
                    <a:off x="3786" y="864"/>
                    <a:ext cx="579" cy="229"/>
                    <a:chOff x="3786" y="864"/>
                    <a:chExt cx="579" cy="229"/>
                  </a:xfrm>
                </p:grpSpPr>
                <p:sp>
                  <p:nvSpPr>
                    <p:cNvPr id="89132" name="矩形 231542"/>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33" name="矩形 231543"/>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89134" name="组合 231544"/>
                  <p:cNvGrpSpPr/>
                  <p:nvPr/>
                </p:nvGrpSpPr>
                <p:grpSpPr>
                  <a:xfrm>
                    <a:off x="4373" y="864"/>
                    <a:ext cx="620" cy="229"/>
                    <a:chOff x="4373" y="864"/>
                    <a:chExt cx="620" cy="229"/>
                  </a:xfrm>
                </p:grpSpPr>
                <p:sp>
                  <p:nvSpPr>
                    <p:cNvPr id="89135" name="矩形 231545"/>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36" name="矩形 231546"/>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89137" name="组合 231547"/>
                  <p:cNvGrpSpPr/>
                  <p:nvPr/>
                </p:nvGrpSpPr>
                <p:grpSpPr>
                  <a:xfrm>
                    <a:off x="4961" y="864"/>
                    <a:ext cx="625" cy="229"/>
                    <a:chOff x="4961" y="864"/>
                    <a:chExt cx="625" cy="229"/>
                  </a:xfrm>
                </p:grpSpPr>
                <p:sp>
                  <p:nvSpPr>
                    <p:cNvPr id="89138" name="矩形 231548"/>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39" name="矩形 231549"/>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89140" name="矩形 231550"/>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89141" name="矩形 231551"/>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89142" name="矩形 231552"/>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89143" name="矩形 231553"/>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89144" name="矩形 231554"/>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89145" name="矩形 231555"/>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89146" name="矩形 231556"/>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89147" name="矩形 231557"/>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48" name="矩形 231558"/>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49" name="矩形 231559"/>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50" name="矩形 231560"/>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51" name="矩形 231561"/>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52" name="矩形 231562"/>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89153" name="组合 231563"/>
          <p:cNvGrpSpPr/>
          <p:nvPr/>
        </p:nvGrpSpPr>
        <p:grpSpPr>
          <a:xfrm>
            <a:off x="3130550" y="5059363"/>
            <a:ext cx="5975350" cy="1012825"/>
            <a:chOff x="1918" y="3360"/>
            <a:chExt cx="3764" cy="599"/>
          </a:xfrm>
        </p:grpSpPr>
        <p:sp>
          <p:nvSpPr>
            <p:cNvPr id="89154" name="矩形 231564"/>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89155" name="组合 231565"/>
            <p:cNvGrpSpPr/>
            <p:nvPr/>
          </p:nvGrpSpPr>
          <p:grpSpPr>
            <a:xfrm>
              <a:off x="1979" y="3552"/>
              <a:ext cx="624" cy="216"/>
              <a:chOff x="1979" y="3552"/>
              <a:chExt cx="624" cy="216"/>
            </a:xfrm>
          </p:grpSpPr>
          <p:sp>
            <p:nvSpPr>
              <p:cNvPr id="89156" name="矩形 231566"/>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57" name="矩形 231567"/>
              <p:cNvSpPr/>
              <p:nvPr/>
            </p:nvSpPr>
            <p:spPr>
              <a:xfrm>
                <a:off x="2161" y="3552"/>
                <a:ext cx="290" cy="216"/>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89158" name="矩形 231568"/>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89159" name="矩形 231569"/>
            <p:cNvSpPr/>
            <p:nvPr/>
          </p:nvSpPr>
          <p:spPr>
            <a:xfrm>
              <a:off x="3554" y="3552"/>
              <a:ext cx="1098" cy="215"/>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89160" name="矩形 231570"/>
            <p:cNvSpPr/>
            <p:nvPr/>
          </p:nvSpPr>
          <p:spPr>
            <a:xfrm>
              <a:off x="5488" y="3360"/>
              <a:ext cx="19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89161" name="矩形 231571"/>
            <p:cNvSpPr/>
            <p:nvPr/>
          </p:nvSpPr>
          <p:spPr>
            <a:xfrm>
              <a:off x="2414"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89162" name="矩形 231572"/>
            <p:cNvSpPr/>
            <p:nvPr/>
          </p:nvSpPr>
          <p:spPr>
            <a:xfrm>
              <a:off x="1918"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89163" name="矩形 231573"/>
            <p:cNvSpPr/>
            <p:nvPr/>
          </p:nvSpPr>
          <p:spPr>
            <a:xfrm>
              <a:off x="2143" y="3744"/>
              <a:ext cx="482"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89164" name="矩形 231574"/>
            <p:cNvSpPr/>
            <p:nvPr/>
          </p:nvSpPr>
          <p:spPr>
            <a:xfrm>
              <a:off x="3816" y="3744"/>
              <a:ext cx="570"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1500"/>
                                        </p:tgtEl>
                                        <p:attrNameLst>
                                          <p:attrName>style.visibility</p:attrName>
                                        </p:attrNameLst>
                                      </p:cBhvr>
                                      <p:to>
                                        <p:strVal val="visible"/>
                                      </p:to>
                                    </p:set>
                                    <p:animEffect transition="in" filter="blinds(horizontal)">
                                      <p:cBhvr>
                                        <p:cTn id="7" dur="500"/>
                                        <p:tgtEl>
                                          <p:spTgt spid="2315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1504"/>
                                        </p:tgtEl>
                                        <p:attrNameLst>
                                          <p:attrName>style.visibility</p:attrName>
                                        </p:attrNameLst>
                                      </p:cBhvr>
                                      <p:to>
                                        <p:strVal val="visible"/>
                                      </p:to>
                                    </p:set>
                                    <p:animEffect transition="in" filter="blinds(horizontal)">
                                      <p:cBhvr>
                                        <p:cTn id="12" dur="500"/>
                                        <p:tgtEl>
                                          <p:spTgt spid="231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50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标题 233473"/>
          <p:cNvSpPr>
            <a:spLocks noGrp="1"/>
          </p:cNvSpPr>
          <p:nvPr>
            <p:ph type="title"/>
          </p:nvPr>
        </p:nvSpPr>
        <p:spPr>
          <a:xfrm>
            <a:off x="723900" y="207963"/>
            <a:ext cx="4656138" cy="422275"/>
          </a:xfrm>
          <a:ln/>
        </p:spPr>
        <p:txBody>
          <a:bodyPr vert="horz" wrap="none" lIns="63500" tIns="25400" rIns="63500" bIns="25400" anchor="t" anchorCtr="0">
            <a:spAutoFit/>
          </a:bodyPr>
          <a:p>
            <a:r>
              <a:rPr lang="en-US" altLang="zh-CN">
                <a:ea typeface="宋体" panose="02010600030101010101" pitchFamily="2" charset="-122"/>
              </a:rPr>
              <a:t>RTL: The Jump Instruction</a:t>
            </a:r>
            <a:endParaRPr lang="en-US" altLang="zh-CN">
              <a:ea typeface="宋体" panose="02010600030101010101" pitchFamily="2" charset="-122"/>
            </a:endParaRPr>
          </a:p>
        </p:txBody>
      </p:sp>
      <p:sp>
        <p:nvSpPr>
          <p:cNvPr id="233475" name="内容占位符 233474"/>
          <p:cNvSpPr>
            <a:spLocks noGrp="1"/>
          </p:cNvSpPr>
          <p:nvPr>
            <p:ph idx="1"/>
          </p:nvPr>
        </p:nvSpPr>
        <p:spPr>
          <a:xfrm>
            <a:off x="238125" y="1658938"/>
            <a:ext cx="8905875" cy="1290637"/>
          </a:xfrm>
          <a:ln/>
        </p:spPr>
        <p:txBody>
          <a:bodyPr vert="horz" wrap="square" lIns="63500" tIns="25400" rIns="63500" bIns="25400" anchor="t" anchorCtr="0">
            <a:spAutoFit/>
          </a:bodyPr>
          <a:p>
            <a:r>
              <a:rPr lang="en-US" altLang="zh-CN" sz="2200">
                <a:ea typeface="黑体" panose="02010609060101010101" pitchFamily="49" charset="-122"/>
              </a:rPr>
              <a:t>j	target</a:t>
            </a:r>
            <a:endParaRPr lang="en-US" altLang="zh-CN" sz="2200">
              <a:ea typeface="黑体" panose="02010609060101010101" pitchFamily="49" charset="-122"/>
            </a:endParaRPr>
          </a:p>
          <a:p>
            <a:pPr lvl="1"/>
            <a:r>
              <a:rPr lang="en-US" altLang="zh-CN" sz="2200">
                <a:ea typeface="黑体" panose="02010609060101010101" pitchFamily="49" charset="-122"/>
              </a:rPr>
              <a:t>M[PC]	        </a:t>
            </a:r>
            <a:r>
              <a:rPr lang="zh-CN" altLang="en-US" sz="2200" dirty="0">
                <a:solidFill>
                  <a:srgbClr val="0000FF"/>
                </a:solidFill>
                <a:ea typeface="黑体" panose="02010609060101010101" pitchFamily="49" charset="-122"/>
              </a:rPr>
              <a:t>取指令（公共操作，取指部件完成）</a:t>
            </a:r>
            <a:endParaRPr lang="en-US" altLang="zh-CN" sz="2200">
              <a:ea typeface="黑体" panose="02010609060101010101" pitchFamily="49" charset="-122"/>
            </a:endParaRPr>
          </a:p>
          <a:p>
            <a:pPr lvl="1"/>
            <a:r>
              <a:rPr lang="en-US" altLang="zh-CN" sz="2200">
                <a:ea typeface="黑体" panose="02010609060101010101" pitchFamily="49" charset="-122"/>
              </a:rPr>
              <a:t>PC&lt;31:2&gt; </a:t>
            </a:r>
            <a:r>
              <a:rPr lang="en-US" altLang="zh-CN" sz="2200">
                <a:ea typeface="黑体" panose="02010609060101010101" pitchFamily="49" charset="-122"/>
                <a:sym typeface="Wingdings" panose="05000000000000000000" pitchFamily="2" charset="2"/>
              </a:rPr>
              <a:t>←</a:t>
            </a:r>
            <a:r>
              <a:rPr lang="en-US" altLang="zh-CN" sz="2200">
                <a:ea typeface="黑体" panose="02010609060101010101" pitchFamily="49" charset="-122"/>
              </a:rPr>
              <a:t> PC&lt;31:28&gt; </a:t>
            </a:r>
            <a:r>
              <a:rPr lang="zh-CN" altLang="en-US" sz="2200" dirty="0">
                <a:ea typeface="黑体" panose="02010609060101010101" pitchFamily="49" charset="-122"/>
              </a:rPr>
              <a:t>串接  </a:t>
            </a:r>
            <a:r>
              <a:rPr lang="en-US" altLang="zh-CN" sz="2200">
                <a:ea typeface="黑体" panose="02010609060101010101" pitchFamily="49" charset="-122"/>
              </a:rPr>
              <a:t>target&lt;25:0&gt;     </a:t>
            </a:r>
            <a:r>
              <a:rPr lang="zh-CN" altLang="en-US" sz="2200" dirty="0">
                <a:solidFill>
                  <a:srgbClr val="0000FF"/>
                </a:solidFill>
                <a:ea typeface="黑体" panose="02010609060101010101" pitchFamily="49" charset="-122"/>
              </a:rPr>
              <a:t>计算目标地址</a:t>
            </a:r>
            <a:endParaRPr lang="zh-CN" altLang="en-US" sz="2200" dirty="0">
              <a:solidFill>
                <a:srgbClr val="0000FF"/>
              </a:solidFill>
              <a:ea typeface="黑体" panose="02010609060101010101" pitchFamily="49" charset="-122"/>
            </a:endParaRPr>
          </a:p>
        </p:txBody>
      </p:sp>
      <p:sp>
        <p:nvSpPr>
          <p:cNvPr id="233488" name="文本框 233487"/>
          <p:cNvSpPr txBox="1"/>
          <p:nvPr/>
        </p:nvSpPr>
        <p:spPr>
          <a:xfrm>
            <a:off x="311150" y="5630863"/>
            <a:ext cx="4789488" cy="762000"/>
          </a:xfrm>
          <a:prstGeom prst="rect">
            <a:avLst/>
          </a:prstGeom>
          <a:noFill/>
          <a:ln w="25400">
            <a:noFill/>
          </a:ln>
        </p:spPr>
        <p:txBody>
          <a:bodyPr anchor="t" anchorCtr="0">
            <a:spAutoFit/>
          </a:bodyPr>
          <a:p>
            <a:pPr>
              <a:spcBef>
                <a:spcPct val="50000"/>
              </a:spcBef>
            </a:pPr>
            <a:r>
              <a:rPr lang="zh-CN" altLang="en-US" sz="2200" dirty="0">
                <a:solidFill>
                  <a:srgbClr val="CC0000"/>
                </a:solidFill>
                <a:latin typeface="Times New Roman" panose="02020603050405020304" pitchFamily="18" charset="0"/>
                <a:ea typeface="黑体" panose="02010609060101010101" pitchFamily="49" charset="-122"/>
              </a:rPr>
              <a:t>思考：应在原数据通路上加哪些元件和连线？用什么控制信号来控制？</a:t>
            </a:r>
            <a:endParaRPr lang="zh-CN" altLang="en-US" sz="2200" dirty="0">
              <a:solidFill>
                <a:srgbClr val="CC0000"/>
              </a:solidFill>
              <a:latin typeface="Times New Roman" panose="02020603050405020304" pitchFamily="18" charset="0"/>
              <a:ea typeface="黑体" panose="02010609060101010101" pitchFamily="49" charset="-122"/>
            </a:endParaRPr>
          </a:p>
        </p:txBody>
      </p:sp>
      <p:sp>
        <p:nvSpPr>
          <p:cNvPr id="233489" name="文本框 233488"/>
          <p:cNvSpPr txBox="1"/>
          <p:nvPr/>
        </p:nvSpPr>
        <p:spPr>
          <a:xfrm>
            <a:off x="322263" y="3873500"/>
            <a:ext cx="5789612" cy="854075"/>
          </a:xfrm>
          <a:prstGeom prst="rect">
            <a:avLst/>
          </a:prstGeom>
          <a:noFill/>
          <a:ln w="50800">
            <a:noFill/>
          </a:ln>
        </p:spPr>
        <p:txBody>
          <a:bodyPr anchor="t" anchorCtr="0">
            <a:spAutoFit/>
          </a:bodyPr>
          <a:p>
            <a:pPr>
              <a:spcBef>
                <a:spcPct val="50000"/>
              </a:spcBef>
            </a:pPr>
            <a:r>
              <a:rPr lang="zh-CN" altLang="en-US" sz="2000" dirty="0">
                <a:latin typeface="Arial" panose="020B0604020202020204" pitchFamily="34" charset="0"/>
                <a:ea typeface="黑体" panose="02010609060101010101" pitchFamily="49" charset="-122"/>
              </a:rPr>
              <a:t>想一想：跳转指令的转移范围有多大？</a:t>
            </a:r>
            <a:endParaRPr lang="zh-CN" altLang="en-US" sz="2000" dirty="0">
              <a:latin typeface="Arial" panose="020B0604020202020204" pitchFamily="34" charset="0"/>
              <a:ea typeface="黑体" panose="02010609060101010101" pitchFamily="49" charset="-122"/>
            </a:endParaRPr>
          </a:p>
          <a:p>
            <a:pPr>
              <a:spcBef>
                <a:spcPct val="50000"/>
              </a:spcBef>
            </a:pPr>
            <a:r>
              <a:rPr lang="zh-CN" altLang="en-US" sz="2000" dirty="0">
                <a:latin typeface="Arial" panose="020B0604020202020204" pitchFamily="34" charset="0"/>
                <a:ea typeface="黑体" panose="02010609060101010101" pitchFamily="49" charset="-122"/>
              </a:rPr>
              <a:t>是当前指令后面的</a:t>
            </a:r>
            <a:r>
              <a:rPr lang="en-US" altLang="zh-CN" sz="2000">
                <a:latin typeface="Arial" panose="020B0604020202020204" pitchFamily="34" charset="0"/>
                <a:ea typeface="黑体" panose="02010609060101010101" pitchFamily="49" charset="-122"/>
              </a:rPr>
              <a:t>0x000 0000~0xFFF FFFC </a:t>
            </a:r>
            <a:r>
              <a:rPr lang="zh-CN" altLang="en-US" sz="2000" dirty="0">
                <a:latin typeface="Arial" panose="020B0604020202020204" pitchFamily="34" charset="0"/>
                <a:ea typeface="黑体" panose="02010609060101010101" pitchFamily="49" charset="-122"/>
              </a:rPr>
              <a:t>处？</a:t>
            </a:r>
            <a:endParaRPr lang="zh-CN" altLang="en-US" sz="2000" dirty="0">
              <a:latin typeface="Arial" panose="020B0604020202020204" pitchFamily="34" charset="0"/>
              <a:ea typeface="黑体" panose="02010609060101010101" pitchFamily="49" charset="-122"/>
            </a:endParaRPr>
          </a:p>
        </p:txBody>
      </p:sp>
      <p:sp>
        <p:nvSpPr>
          <p:cNvPr id="233490" name="文本框 233489"/>
          <p:cNvSpPr txBox="1"/>
          <p:nvPr/>
        </p:nvSpPr>
        <p:spPr>
          <a:xfrm>
            <a:off x="266700" y="4695825"/>
            <a:ext cx="5029200" cy="427038"/>
          </a:xfrm>
          <a:prstGeom prst="rect">
            <a:avLst/>
          </a:prstGeom>
          <a:noFill/>
          <a:ln w="50800">
            <a:noFill/>
          </a:ln>
        </p:spPr>
        <p:txBody>
          <a:bodyPr anchor="t" anchorCtr="0">
            <a:spAutoFit/>
          </a:bodyPr>
          <a:p>
            <a:pPr>
              <a:spcBef>
                <a:spcPct val="50000"/>
              </a:spcBef>
            </a:pPr>
            <a:r>
              <a:rPr lang="zh-CN" altLang="en-US" sz="2200" dirty="0">
                <a:solidFill>
                  <a:schemeClr val="accent1"/>
                </a:solidFill>
                <a:latin typeface="Times New Roman" panose="02020603050405020304" pitchFamily="18" charset="0"/>
                <a:ea typeface="黑体" panose="02010609060101010101" pitchFamily="49" charset="-122"/>
              </a:rPr>
              <a:t>不对！它不是相对寻址，而是绝对寻址</a:t>
            </a:r>
            <a:endParaRPr lang="zh-CN" altLang="en-US" sz="2200" dirty="0">
              <a:solidFill>
                <a:schemeClr val="accent1"/>
              </a:solidFill>
              <a:latin typeface="Times New Roman" panose="02020603050405020304" pitchFamily="18" charset="0"/>
              <a:ea typeface="黑体" panose="02010609060101010101" pitchFamily="49" charset="-122"/>
            </a:endParaRPr>
          </a:p>
        </p:txBody>
      </p:sp>
      <p:grpSp>
        <p:nvGrpSpPr>
          <p:cNvPr id="233512" name="组合 233511"/>
          <p:cNvGrpSpPr/>
          <p:nvPr/>
        </p:nvGrpSpPr>
        <p:grpSpPr>
          <a:xfrm>
            <a:off x="5568950" y="3028950"/>
            <a:ext cx="3375025" cy="3692525"/>
            <a:chOff x="3756" y="1908"/>
            <a:chExt cx="1878" cy="2326"/>
          </a:xfrm>
        </p:grpSpPr>
        <p:grpSp>
          <p:nvGrpSpPr>
            <p:cNvPr id="91143" name="组合 233510"/>
            <p:cNvGrpSpPr/>
            <p:nvPr/>
          </p:nvGrpSpPr>
          <p:grpSpPr>
            <a:xfrm>
              <a:off x="3762" y="1908"/>
              <a:ext cx="1872" cy="2326"/>
              <a:chOff x="3762" y="1908"/>
              <a:chExt cx="1872" cy="2326"/>
            </a:xfrm>
          </p:grpSpPr>
          <p:sp>
            <p:nvSpPr>
              <p:cNvPr id="91144" name="矩形 233490"/>
              <p:cNvSpPr/>
              <p:nvPr/>
            </p:nvSpPr>
            <p:spPr>
              <a:xfrm>
                <a:off x="3942" y="1968"/>
                <a:ext cx="924" cy="2244"/>
              </a:xfrm>
              <a:prstGeom prst="rect">
                <a:avLst/>
              </a:prstGeom>
              <a:noFill/>
              <a:ln w="50800" cap="flat" cmpd="sng">
                <a:solidFill>
                  <a:srgbClr val="FE9AAB"/>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1145" name="文本框 233491"/>
              <p:cNvSpPr txBox="1"/>
              <p:nvPr/>
            </p:nvSpPr>
            <p:spPr>
              <a:xfrm>
                <a:off x="4866" y="1908"/>
                <a:ext cx="768" cy="2326"/>
              </a:xfrm>
              <a:prstGeom prst="rect">
                <a:avLst/>
              </a:prstGeom>
              <a:noFill/>
              <a:ln w="50800">
                <a:noFill/>
              </a:ln>
            </p:spPr>
            <p:txBody>
              <a:bodyPr anchor="t" anchorCtr="0">
                <a:spAutoFit/>
              </a:bodyPr>
              <a:p>
                <a:pPr>
                  <a:lnSpc>
                    <a:spcPct val="85000"/>
                  </a:lnSpc>
                </a:pPr>
                <a:r>
                  <a:rPr lang="en-US" altLang="zh-CN" sz="1800">
                    <a:latin typeface="Arial" panose="020B0604020202020204" pitchFamily="34" charset="0"/>
                    <a:ea typeface="宋体" panose="02010600030101010101" pitchFamily="2" charset="-122"/>
                  </a:rPr>
                  <a:t>FFFF</a:t>
                </a:r>
                <a:r>
                  <a:rPr lang="en-US" altLang="zh-CN" sz="1400">
                    <a:latin typeface="Tahoma" panose="020B0604030504040204" pitchFamily="34" charset="0"/>
                    <a:ea typeface="宋体" panose="02010600030101010101" pitchFamily="2" charset="-122"/>
                  </a:rPr>
                  <a:t> </a:t>
                </a:r>
                <a:r>
                  <a:rPr lang="en-US" altLang="zh-CN" sz="1800" dirty="0" err="1">
                    <a:latin typeface="Arial" panose="020B0604020202020204" pitchFamily="34" charset="0"/>
                    <a:ea typeface="宋体" panose="02010600030101010101" pitchFamily="2" charset="-122"/>
                  </a:rPr>
                  <a:t>FFFF</a:t>
                </a:r>
                <a:endParaRPr lang="en-US" altLang="zh-CN" sz="1800">
                  <a:latin typeface="Arial" panose="020B0604020202020204" pitchFamily="34" charset="0"/>
                  <a:ea typeface="宋体" panose="02010600030101010101" pitchFamily="2" charset="-122"/>
                </a:endParaRPr>
              </a:p>
              <a:p>
                <a:pPr>
                  <a:lnSpc>
                    <a:spcPct val="85000"/>
                  </a:lnSpc>
                </a:pPr>
                <a:endParaRPr lang="en-US" altLang="zh-CN" sz="1400">
                  <a:latin typeface="Tahoma" panose="020B0604030504040204" pitchFamily="34" charset="0"/>
                  <a:ea typeface="宋体" panose="02010600030101010101" pitchFamily="2" charset="-122"/>
                </a:endParaRPr>
              </a:p>
              <a:p>
                <a:pPr>
                  <a:lnSpc>
                    <a:spcPct val="85000"/>
                  </a:lnSpc>
                </a:pPr>
                <a:r>
                  <a:rPr lang="en-US" altLang="zh-CN" sz="1800">
                    <a:latin typeface="Arial" panose="020B0604020202020204" pitchFamily="34" charset="0"/>
                    <a:ea typeface="宋体" panose="02010600030101010101" pitchFamily="2" charset="-122"/>
                  </a:rPr>
                  <a:t>F000</a:t>
                </a:r>
                <a:r>
                  <a:rPr lang="en-US" altLang="zh-CN" sz="1400">
                    <a:latin typeface="Tahoma" panose="020B060403050404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0000</a:t>
                </a:r>
                <a:endParaRPr lang="en-US" altLang="zh-CN" sz="1800">
                  <a:latin typeface="Arial" panose="020B0604020202020204" pitchFamily="34" charset="0"/>
                  <a:ea typeface="宋体" panose="02010600030101010101" pitchFamily="2" charset="-122"/>
                </a:endParaRPr>
              </a:p>
              <a:p>
                <a:pPr>
                  <a:lnSpc>
                    <a:spcPct val="85000"/>
                  </a:lnSpc>
                </a:pPr>
                <a:r>
                  <a:rPr lang="en-US" altLang="zh-CN" sz="1800">
                    <a:latin typeface="Arial" panose="020B0604020202020204" pitchFamily="34" charset="0"/>
                    <a:ea typeface="宋体" panose="02010600030101010101" pitchFamily="2" charset="-122"/>
                  </a:rPr>
                  <a:t>EFFF</a:t>
                </a:r>
                <a:r>
                  <a:rPr lang="en-US" altLang="zh-CN" sz="1400">
                    <a:latin typeface="Tahoma" panose="020B060403050404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FFFF</a:t>
                </a:r>
                <a:endParaRPr lang="en-US" altLang="zh-CN" sz="1800">
                  <a:latin typeface="Arial" panose="020B0604020202020204" pitchFamily="34" charset="0"/>
                  <a:ea typeface="宋体" panose="02010600030101010101" pitchFamily="2" charset="-122"/>
                </a:endParaRPr>
              </a:p>
              <a:p>
                <a:pPr>
                  <a:lnSpc>
                    <a:spcPct val="85000"/>
                  </a:lnSpc>
                </a:pPr>
                <a:endParaRPr lang="en-US" altLang="zh-CN" sz="1800">
                  <a:latin typeface="Arial" panose="020B0604020202020204" pitchFamily="34" charset="0"/>
                  <a:ea typeface="宋体" panose="02010600030101010101" pitchFamily="2" charset="-122"/>
                </a:endParaRPr>
              </a:p>
              <a:p>
                <a:pPr>
                  <a:lnSpc>
                    <a:spcPct val="85000"/>
                  </a:lnSpc>
                </a:pPr>
                <a:r>
                  <a:rPr lang="en-US" altLang="zh-CN" sz="1800">
                    <a:latin typeface="Arial" panose="020B0604020202020204" pitchFamily="34" charset="0"/>
                    <a:ea typeface="宋体" panose="02010600030101010101" pitchFamily="2" charset="-122"/>
                  </a:rPr>
                  <a:t>E000</a:t>
                </a:r>
                <a:r>
                  <a:rPr lang="en-US" altLang="zh-CN" sz="1400">
                    <a:latin typeface="Tahoma" panose="020B060403050404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0000</a:t>
                </a:r>
                <a:endParaRPr lang="en-US" altLang="zh-CN" sz="1800">
                  <a:latin typeface="Arial" panose="020B0604020202020204" pitchFamily="34" charset="0"/>
                  <a:ea typeface="宋体" panose="02010600030101010101" pitchFamily="2" charset="-122"/>
                </a:endParaRPr>
              </a:p>
              <a:p>
                <a:pPr>
                  <a:lnSpc>
                    <a:spcPct val="85000"/>
                  </a:lnSpc>
                </a:pPr>
                <a:endParaRPr lang="en-US" altLang="zh-CN" sz="1400">
                  <a:latin typeface="Tahoma" panose="020B0604030504040204" pitchFamily="34" charset="0"/>
                  <a:ea typeface="宋体" panose="02010600030101010101" pitchFamily="2" charset="-122"/>
                </a:endParaRPr>
              </a:p>
              <a:p>
                <a:pPr>
                  <a:lnSpc>
                    <a:spcPct val="85000"/>
                  </a:lnSpc>
                </a:pPr>
                <a:endParaRPr lang="en-US" altLang="zh-CN" sz="1400">
                  <a:latin typeface="Tahoma" panose="020B0604030504040204" pitchFamily="34" charset="0"/>
                  <a:ea typeface="宋体" panose="02010600030101010101" pitchFamily="2" charset="-122"/>
                </a:endParaRPr>
              </a:p>
              <a:p>
                <a:pPr>
                  <a:lnSpc>
                    <a:spcPct val="85000"/>
                  </a:lnSpc>
                </a:pPr>
                <a:endParaRPr lang="en-US" altLang="zh-CN" sz="1400">
                  <a:latin typeface="Tahoma" panose="020B0604030504040204" pitchFamily="34" charset="0"/>
                  <a:ea typeface="宋体" panose="02010600030101010101" pitchFamily="2" charset="-122"/>
                </a:endParaRPr>
              </a:p>
              <a:p>
                <a:pPr>
                  <a:lnSpc>
                    <a:spcPct val="85000"/>
                  </a:lnSpc>
                </a:pPr>
                <a:r>
                  <a:rPr lang="en-US" altLang="zh-CN" sz="1800">
                    <a:latin typeface="Arial" panose="020B0604020202020204" pitchFamily="34" charset="0"/>
                    <a:ea typeface="宋体" panose="02010600030101010101" pitchFamily="2" charset="-122"/>
                  </a:rPr>
                  <a:t>AFFF</a:t>
                </a:r>
                <a:r>
                  <a:rPr lang="en-US" altLang="zh-CN" sz="1400">
                    <a:latin typeface="Tahoma" panose="020B060403050404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FFFF</a:t>
                </a:r>
                <a:endParaRPr lang="en-US" altLang="zh-CN" sz="1800">
                  <a:latin typeface="Arial" panose="020B0604020202020204" pitchFamily="34" charset="0"/>
                  <a:ea typeface="宋体" panose="02010600030101010101" pitchFamily="2" charset="-122"/>
                </a:endParaRPr>
              </a:p>
              <a:p>
                <a:pPr>
                  <a:lnSpc>
                    <a:spcPct val="85000"/>
                  </a:lnSpc>
                </a:pPr>
                <a:endParaRPr lang="en-US" altLang="zh-CN" sz="1400">
                  <a:latin typeface="Tahoma" panose="020B0604030504040204" pitchFamily="34" charset="0"/>
                  <a:ea typeface="宋体" panose="02010600030101010101" pitchFamily="2" charset="-122"/>
                </a:endParaRPr>
              </a:p>
              <a:p>
                <a:pPr>
                  <a:lnSpc>
                    <a:spcPct val="85000"/>
                  </a:lnSpc>
                </a:pPr>
                <a:r>
                  <a:rPr lang="en-US" altLang="zh-CN" sz="1800">
                    <a:latin typeface="Arial" panose="020B0604020202020204" pitchFamily="34" charset="0"/>
                    <a:ea typeface="宋体" panose="02010600030101010101" pitchFamily="2" charset="-122"/>
                  </a:rPr>
                  <a:t>A000</a:t>
                </a:r>
                <a:r>
                  <a:rPr lang="en-US" altLang="zh-CN" sz="1400">
                    <a:latin typeface="Tahoma" panose="020B060403050404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0000</a:t>
                </a:r>
                <a:endParaRPr lang="en-US" altLang="zh-CN" sz="1800">
                  <a:latin typeface="Arial" panose="020B0604020202020204" pitchFamily="34" charset="0"/>
                  <a:ea typeface="宋体" panose="02010600030101010101" pitchFamily="2" charset="-122"/>
                </a:endParaRPr>
              </a:p>
              <a:p>
                <a:pPr>
                  <a:lnSpc>
                    <a:spcPct val="85000"/>
                  </a:lnSpc>
                </a:pPr>
                <a:endParaRPr lang="en-US" altLang="zh-CN" sz="1400">
                  <a:latin typeface="Tahoma" panose="020B0604030504040204" pitchFamily="34" charset="0"/>
                  <a:ea typeface="宋体" panose="02010600030101010101" pitchFamily="2" charset="-122"/>
                </a:endParaRPr>
              </a:p>
              <a:p>
                <a:pPr>
                  <a:lnSpc>
                    <a:spcPct val="85000"/>
                  </a:lnSpc>
                </a:pPr>
                <a:endParaRPr lang="en-US" altLang="zh-CN" sz="1800">
                  <a:latin typeface="Arial" panose="020B0604020202020204" pitchFamily="34" charset="0"/>
                  <a:ea typeface="宋体" panose="02010600030101010101" pitchFamily="2" charset="-122"/>
                </a:endParaRPr>
              </a:p>
              <a:p>
                <a:pPr>
                  <a:lnSpc>
                    <a:spcPct val="85000"/>
                  </a:lnSpc>
                </a:pPr>
                <a:r>
                  <a:rPr lang="en-US" altLang="zh-CN" sz="1800">
                    <a:latin typeface="Arial" panose="020B0604020202020204" pitchFamily="34" charset="0"/>
                    <a:ea typeface="宋体" panose="02010600030101010101" pitchFamily="2" charset="-122"/>
                  </a:rPr>
                  <a:t>0FFF</a:t>
                </a:r>
                <a:r>
                  <a:rPr lang="en-US" altLang="zh-CN" sz="1400">
                    <a:latin typeface="Tahoma" panose="020B060403050404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FFFF</a:t>
                </a:r>
                <a:endParaRPr lang="en-US" altLang="zh-CN" sz="1800">
                  <a:latin typeface="Arial" panose="020B0604020202020204" pitchFamily="34" charset="0"/>
                  <a:ea typeface="宋体" panose="02010600030101010101" pitchFamily="2" charset="-122"/>
                </a:endParaRPr>
              </a:p>
              <a:p>
                <a:pPr>
                  <a:lnSpc>
                    <a:spcPct val="85000"/>
                  </a:lnSpc>
                </a:pPr>
                <a:endParaRPr lang="en-US" altLang="zh-CN" sz="1400">
                  <a:latin typeface="Tahoma" panose="020B0604030504040204" pitchFamily="34" charset="0"/>
                  <a:ea typeface="宋体" panose="02010600030101010101" pitchFamily="2" charset="-122"/>
                </a:endParaRPr>
              </a:p>
              <a:p>
                <a:pPr>
                  <a:lnSpc>
                    <a:spcPct val="85000"/>
                  </a:lnSpc>
                </a:pPr>
                <a:r>
                  <a:rPr lang="en-US" altLang="zh-CN" sz="1800">
                    <a:latin typeface="Arial" panose="020B0604020202020204" pitchFamily="34" charset="0"/>
                    <a:ea typeface="宋体" panose="02010600030101010101" pitchFamily="2" charset="-122"/>
                  </a:rPr>
                  <a:t>0000</a:t>
                </a:r>
                <a:r>
                  <a:rPr lang="en-US" altLang="zh-CN" sz="1400">
                    <a:latin typeface="Tahoma" panose="020B0604030504040204" pitchFamily="34" charset="0"/>
                    <a:ea typeface="宋体" panose="02010600030101010101" pitchFamily="2" charset="-122"/>
                  </a:rPr>
                  <a:t> </a:t>
                </a:r>
                <a:r>
                  <a:rPr lang="en-US" altLang="zh-CN" sz="1800" dirty="0" err="1">
                    <a:latin typeface="Arial" panose="020B0604020202020204" pitchFamily="34" charset="0"/>
                    <a:ea typeface="宋体" panose="02010600030101010101" pitchFamily="2" charset="-122"/>
                  </a:rPr>
                  <a:t>0000</a:t>
                </a:r>
                <a:endParaRPr lang="en-US" altLang="zh-CN" sz="1800">
                  <a:latin typeface="Arial" panose="020B0604020202020204" pitchFamily="34" charset="0"/>
                  <a:ea typeface="宋体" panose="02010600030101010101" pitchFamily="2" charset="-122"/>
                </a:endParaRPr>
              </a:p>
            </p:txBody>
          </p:sp>
          <p:sp>
            <p:nvSpPr>
              <p:cNvPr id="91146" name="直接连接符 233492"/>
              <p:cNvSpPr/>
              <p:nvPr/>
            </p:nvSpPr>
            <p:spPr>
              <a:xfrm>
                <a:off x="3930" y="2370"/>
                <a:ext cx="924" cy="0"/>
              </a:xfrm>
              <a:prstGeom prst="line">
                <a:avLst/>
              </a:prstGeom>
              <a:ln w="50800" cap="flat" cmpd="sng">
                <a:solidFill>
                  <a:srgbClr val="FE9AAB"/>
                </a:solidFill>
                <a:prstDash val="solid"/>
                <a:round/>
                <a:headEnd type="none" w="med" len="med"/>
                <a:tailEnd type="none" w="med" len="med"/>
              </a:ln>
            </p:spPr>
          </p:sp>
          <p:sp>
            <p:nvSpPr>
              <p:cNvPr id="91147" name="直接连接符 233493"/>
              <p:cNvSpPr/>
              <p:nvPr/>
            </p:nvSpPr>
            <p:spPr>
              <a:xfrm>
                <a:off x="3923" y="2735"/>
                <a:ext cx="924" cy="0"/>
              </a:xfrm>
              <a:prstGeom prst="line">
                <a:avLst/>
              </a:prstGeom>
              <a:ln w="50800" cap="flat" cmpd="sng">
                <a:solidFill>
                  <a:srgbClr val="FE9AAB"/>
                </a:solidFill>
                <a:prstDash val="solid"/>
                <a:round/>
                <a:headEnd type="none" w="med" len="med"/>
                <a:tailEnd type="none" w="med" len="med"/>
              </a:ln>
            </p:spPr>
          </p:sp>
          <p:sp>
            <p:nvSpPr>
              <p:cNvPr id="91148" name="直接连接符 233494"/>
              <p:cNvSpPr/>
              <p:nvPr/>
            </p:nvSpPr>
            <p:spPr>
              <a:xfrm>
                <a:off x="3929" y="3167"/>
                <a:ext cx="924" cy="0"/>
              </a:xfrm>
              <a:prstGeom prst="line">
                <a:avLst/>
              </a:prstGeom>
              <a:ln w="50800" cap="flat" cmpd="sng">
                <a:solidFill>
                  <a:srgbClr val="FE9AAB"/>
                </a:solidFill>
                <a:prstDash val="solid"/>
                <a:round/>
                <a:headEnd type="none" w="med" len="med"/>
                <a:tailEnd type="none" w="med" len="med"/>
              </a:ln>
            </p:spPr>
          </p:sp>
          <p:sp>
            <p:nvSpPr>
              <p:cNvPr id="91149" name="直接连接符 233495"/>
              <p:cNvSpPr/>
              <p:nvPr/>
            </p:nvSpPr>
            <p:spPr>
              <a:xfrm>
                <a:off x="3929" y="3509"/>
                <a:ext cx="924" cy="0"/>
              </a:xfrm>
              <a:prstGeom prst="line">
                <a:avLst/>
              </a:prstGeom>
              <a:ln w="50800" cap="flat" cmpd="sng">
                <a:solidFill>
                  <a:srgbClr val="FE9AAB"/>
                </a:solidFill>
                <a:prstDash val="solid"/>
                <a:round/>
                <a:headEnd type="none" w="med" len="med"/>
                <a:tailEnd type="none" w="med" len="med"/>
              </a:ln>
            </p:spPr>
          </p:sp>
          <p:sp>
            <p:nvSpPr>
              <p:cNvPr id="91150" name="直接连接符 233496"/>
              <p:cNvSpPr/>
              <p:nvPr/>
            </p:nvSpPr>
            <p:spPr>
              <a:xfrm>
                <a:off x="3923" y="3851"/>
                <a:ext cx="924" cy="0"/>
              </a:xfrm>
              <a:prstGeom prst="line">
                <a:avLst/>
              </a:prstGeom>
              <a:ln w="50800" cap="flat" cmpd="sng">
                <a:solidFill>
                  <a:srgbClr val="FE9AAB"/>
                </a:solidFill>
                <a:prstDash val="solid"/>
                <a:round/>
                <a:headEnd type="none" w="med" len="med"/>
                <a:tailEnd type="none" w="med" len="med"/>
              </a:ln>
            </p:spPr>
          </p:sp>
          <p:sp>
            <p:nvSpPr>
              <p:cNvPr id="91151" name="直接连接符 233497"/>
              <p:cNvSpPr/>
              <p:nvPr/>
            </p:nvSpPr>
            <p:spPr>
              <a:xfrm flipH="1">
                <a:off x="4392" y="2832"/>
                <a:ext cx="6" cy="246"/>
              </a:xfrm>
              <a:prstGeom prst="line">
                <a:avLst/>
              </a:prstGeom>
              <a:ln w="50800" cap="flat" cmpd="sng">
                <a:solidFill>
                  <a:srgbClr val="FE9AAB"/>
                </a:solidFill>
                <a:prstDash val="sysDot"/>
                <a:round/>
                <a:headEnd type="none" w="med" len="med"/>
                <a:tailEnd type="none" w="med" len="med"/>
              </a:ln>
            </p:spPr>
          </p:sp>
          <p:sp>
            <p:nvSpPr>
              <p:cNvPr id="91152" name="直接连接符 233498"/>
              <p:cNvSpPr/>
              <p:nvPr/>
            </p:nvSpPr>
            <p:spPr>
              <a:xfrm flipH="1">
                <a:off x="4391" y="3551"/>
                <a:ext cx="6" cy="246"/>
              </a:xfrm>
              <a:prstGeom prst="line">
                <a:avLst/>
              </a:prstGeom>
              <a:ln w="50800" cap="flat" cmpd="sng">
                <a:solidFill>
                  <a:srgbClr val="FE9AAB"/>
                </a:solidFill>
                <a:prstDash val="sysDot"/>
                <a:round/>
                <a:headEnd type="none" w="med" len="med"/>
                <a:tailEnd type="none" w="med" len="med"/>
              </a:ln>
            </p:spPr>
          </p:sp>
          <p:sp>
            <p:nvSpPr>
              <p:cNvPr id="91153" name="文本框 233499"/>
              <p:cNvSpPr txBox="1"/>
              <p:nvPr/>
            </p:nvSpPr>
            <p:spPr>
              <a:xfrm>
                <a:off x="4068" y="3276"/>
                <a:ext cx="570" cy="231"/>
              </a:xfrm>
              <a:prstGeom prst="rect">
                <a:avLst/>
              </a:prstGeom>
              <a:noFill/>
              <a:ln w="50800">
                <a:noFill/>
              </a:ln>
            </p:spPr>
            <p:txBody>
              <a:bodyPr anchor="t" anchorCtr="0">
                <a:spAutoFit/>
              </a:bodyPr>
              <a:p>
                <a:pPr>
                  <a:spcBef>
                    <a:spcPct val="50000"/>
                  </a:spcBef>
                </a:pPr>
                <a:r>
                  <a:rPr lang="en-US" altLang="zh-CN" sz="1800">
                    <a:latin typeface="Arial" panose="020B0604020202020204" pitchFamily="34" charset="0"/>
                    <a:ea typeface="宋体" panose="02010600030101010101" pitchFamily="2" charset="-122"/>
                  </a:rPr>
                  <a:t>j</a:t>
                </a:r>
                <a:r>
                  <a:rPr lang="en-US" altLang="zh-CN" sz="140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target</a:t>
                </a:r>
                <a:endParaRPr lang="en-US" altLang="zh-CN" sz="1800">
                  <a:latin typeface="Arial" panose="020B0604020202020204" pitchFamily="34" charset="0"/>
                  <a:ea typeface="宋体" panose="02010600030101010101" pitchFamily="2" charset="-122"/>
                </a:endParaRPr>
              </a:p>
            </p:txBody>
          </p:sp>
          <p:sp>
            <p:nvSpPr>
              <p:cNvPr id="91154" name="直接连接符 233502"/>
              <p:cNvSpPr/>
              <p:nvPr/>
            </p:nvSpPr>
            <p:spPr>
              <a:xfrm flipH="1">
                <a:off x="3762" y="3390"/>
                <a:ext cx="168" cy="0"/>
              </a:xfrm>
              <a:prstGeom prst="line">
                <a:avLst/>
              </a:prstGeom>
              <a:ln w="50800" cap="flat" cmpd="sng">
                <a:solidFill>
                  <a:srgbClr val="FE9AAB"/>
                </a:solidFill>
                <a:prstDash val="solid"/>
                <a:round/>
                <a:headEnd type="none" w="med" len="med"/>
                <a:tailEnd type="none" w="med" len="med"/>
              </a:ln>
            </p:spPr>
          </p:sp>
          <p:sp>
            <p:nvSpPr>
              <p:cNvPr id="91155" name="直接连接符 233503"/>
              <p:cNvSpPr/>
              <p:nvPr/>
            </p:nvSpPr>
            <p:spPr>
              <a:xfrm flipV="1">
                <a:off x="3774" y="3264"/>
                <a:ext cx="0" cy="126"/>
              </a:xfrm>
              <a:prstGeom prst="line">
                <a:avLst/>
              </a:prstGeom>
              <a:ln w="50800" cap="flat" cmpd="sng">
                <a:solidFill>
                  <a:srgbClr val="FE9AAB"/>
                </a:solidFill>
                <a:prstDash val="solid"/>
                <a:round/>
                <a:headEnd type="none" w="med" len="med"/>
                <a:tailEnd type="none" w="med" len="med"/>
              </a:ln>
            </p:spPr>
          </p:sp>
          <p:sp>
            <p:nvSpPr>
              <p:cNvPr id="91156" name="直接连接符 233504"/>
              <p:cNvSpPr/>
              <p:nvPr/>
            </p:nvSpPr>
            <p:spPr>
              <a:xfrm>
                <a:off x="3762" y="3270"/>
                <a:ext cx="150" cy="0"/>
              </a:xfrm>
              <a:prstGeom prst="line">
                <a:avLst/>
              </a:prstGeom>
              <a:ln w="50800" cap="flat" cmpd="sng">
                <a:solidFill>
                  <a:srgbClr val="FE9AAB"/>
                </a:solidFill>
                <a:prstDash val="solid"/>
                <a:round/>
                <a:headEnd type="none" w="med" len="med"/>
                <a:tailEnd type="triangle" w="med" len="med"/>
              </a:ln>
            </p:spPr>
          </p:sp>
          <p:sp>
            <p:nvSpPr>
              <p:cNvPr id="91157" name="直接连接符 233505"/>
              <p:cNvSpPr/>
              <p:nvPr/>
            </p:nvSpPr>
            <p:spPr>
              <a:xfrm flipV="1">
                <a:off x="3774" y="3036"/>
                <a:ext cx="0" cy="234"/>
              </a:xfrm>
              <a:prstGeom prst="line">
                <a:avLst/>
              </a:prstGeom>
              <a:ln w="50800" cap="flat" cmpd="sng">
                <a:solidFill>
                  <a:srgbClr val="FE9AAB"/>
                </a:solidFill>
                <a:prstDash val="solid"/>
                <a:round/>
                <a:headEnd type="none" w="med" len="med"/>
                <a:tailEnd type="none" w="med" len="med"/>
              </a:ln>
            </p:spPr>
          </p:sp>
        </p:grpSp>
        <p:sp>
          <p:nvSpPr>
            <p:cNvPr id="91158" name="直接连接符 233506"/>
            <p:cNvSpPr/>
            <p:nvPr/>
          </p:nvSpPr>
          <p:spPr>
            <a:xfrm>
              <a:off x="3756" y="3036"/>
              <a:ext cx="186" cy="0"/>
            </a:xfrm>
            <a:prstGeom prst="line">
              <a:avLst/>
            </a:prstGeom>
            <a:ln w="50800" cap="flat" cmpd="sng">
              <a:solidFill>
                <a:srgbClr val="FE9AAB"/>
              </a:solidFill>
              <a:prstDash val="solid"/>
              <a:round/>
              <a:headEnd type="none" w="med" len="med"/>
              <a:tailEnd type="triangle" w="med" len="med"/>
            </a:ln>
          </p:spPr>
        </p:sp>
      </p:grpSp>
      <p:grpSp>
        <p:nvGrpSpPr>
          <p:cNvPr id="233510" name="组合 233509"/>
          <p:cNvGrpSpPr/>
          <p:nvPr/>
        </p:nvGrpSpPr>
        <p:grpSpPr>
          <a:xfrm>
            <a:off x="5962650" y="4737100"/>
            <a:ext cx="209550" cy="190500"/>
            <a:chOff x="3396" y="2898"/>
            <a:chExt cx="132" cy="120"/>
          </a:xfrm>
        </p:grpSpPr>
        <p:sp>
          <p:nvSpPr>
            <p:cNvPr id="91160" name="直接连接符 233507"/>
            <p:cNvSpPr/>
            <p:nvPr/>
          </p:nvSpPr>
          <p:spPr>
            <a:xfrm flipH="1">
              <a:off x="3396" y="2910"/>
              <a:ext cx="132" cy="108"/>
            </a:xfrm>
            <a:prstGeom prst="line">
              <a:avLst/>
            </a:prstGeom>
            <a:ln w="28575" cap="flat" cmpd="sng">
              <a:solidFill>
                <a:schemeClr val="accent1"/>
              </a:solidFill>
              <a:prstDash val="solid"/>
              <a:round/>
              <a:headEnd type="none" w="med" len="med"/>
              <a:tailEnd type="none" w="med" len="med"/>
            </a:ln>
          </p:spPr>
        </p:sp>
        <p:sp>
          <p:nvSpPr>
            <p:cNvPr id="91161" name="直接连接符 233508"/>
            <p:cNvSpPr/>
            <p:nvPr/>
          </p:nvSpPr>
          <p:spPr>
            <a:xfrm>
              <a:off x="3402" y="2898"/>
              <a:ext cx="120" cy="120"/>
            </a:xfrm>
            <a:prstGeom prst="line">
              <a:avLst/>
            </a:prstGeom>
            <a:ln w="28575" cap="flat" cmpd="sng">
              <a:solidFill>
                <a:schemeClr val="accent1"/>
              </a:solidFill>
              <a:prstDash val="solid"/>
              <a:round/>
              <a:headEnd type="none" w="med" len="med"/>
              <a:tailEnd type="none" w="med" len="med"/>
            </a:ln>
          </p:spPr>
        </p:sp>
      </p:grpSp>
      <p:grpSp>
        <p:nvGrpSpPr>
          <p:cNvPr id="91162" name="组合 233512"/>
          <p:cNvGrpSpPr/>
          <p:nvPr/>
        </p:nvGrpSpPr>
        <p:grpSpPr>
          <a:xfrm>
            <a:off x="1898650" y="677863"/>
            <a:ext cx="5975350" cy="1012825"/>
            <a:chOff x="1918" y="3360"/>
            <a:chExt cx="3764" cy="599"/>
          </a:xfrm>
        </p:grpSpPr>
        <p:sp>
          <p:nvSpPr>
            <p:cNvPr id="91163" name="矩形 233513"/>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91164" name="组合 233514"/>
            <p:cNvGrpSpPr/>
            <p:nvPr/>
          </p:nvGrpSpPr>
          <p:grpSpPr>
            <a:xfrm>
              <a:off x="1979" y="3552"/>
              <a:ext cx="624" cy="216"/>
              <a:chOff x="1979" y="3552"/>
              <a:chExt cx="624" cy="216"/>
            </a:xfrm>
          </p:grpSpPr>
          <p:sp>
            <p:nvSpPr>
              <p:cNvPr id="91165" name="矩形 233515"/>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1166" name="矩形 233516"/>
              <p:cNvSpPr/>
              <p:nvPr/>
            </p:nvSpPr>
            <p:spPr>
              <a:xfrm>
                <a:off x="2161" y="3552"/>
                <a:ext cx="290" cy="216"/>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91167" name="矩形 233517"/>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1168" name="矩形 233518"/>
            <p:cNvSpPr/>
            <p:nvPr/>
          </p:nvSpPr>
          <p:spPr>
            <a:xfrm>
              <a:off x="3554" y="3552"/>
              <a:ext cx="1098" cy="215"/>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91169" name="矩形 233519"/>
            <p:cNvSpPr/>
            <p:nvPr/>
          </p:nvSpPr>
          <p:spPr>
            <a:xfrm>
              <a:off x="5488" y="3360"/>
              <a:ext cx="19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91170" name="矩形 233520"/>
            <p:cNvSpPr/>
            <p:nvPr/>
          </p:nvSpPr>
          <p:spPr>
            <a:xfrm>
              <a:off x="2414"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91171" name="矩形 233521"/>
            <p:cNvSpPr/>
            <p:nvPr/>
          </p:nvSpPr>
          <p:spPr>
            <a:xfrm>
              <a:off x="1918"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91172" name="矩形 233522"/>
            <p:cNvSpPr/>
            <p:nvPr/>
          </p:nvSpPr>
          <p:spPr>
            <a:xfrm>
              <a:off x="2143" y="3744"/>
              <a:ext cx="482"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1173" name="矩形 233523"/>
            <p:cNvSpPr/>
            <p:nvPr/>
          </p:nvSpPr>
          <p:spPr>
            <a:xfrm>
              <a:off x="3816" y="3744"/>
              <a:ext cx="570"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3475">
                                            <p:txEl>
                                              <p:charRg st="9" end="40"/>
                                            </p:txEl>
                                          </p:spTgt>
                                        </p:tgtEl>
                                        <p:attrNameLst>
                                          <p:attrName>style.visibility</p:attrName>
                                        </p:attrNameLst>
                                      </p:cBhvr>
                                      <p:to>
                                        <p:strVal val="visible"/>
                                      </p:to>
                                    </p:set>
                                    <p:animEffect transition="in" filter="blinds(horizontal)">
                                      <p:cBhvr>
                                        <p:cTn id="7" dur="500"/>
                                        <p:tgtEl>
                                          <p:spTgt spid="233475">
                                            <p:txEl>
                                              <p:charRg st="9"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3475">
                                            <p:txEl>
                                              <p:charRg st="40" end="89"/>
                                            </p:txEl>
                                          </p:spTgt>
                                        </p:tgtEl>
                                        <p:attrNameLst>
                                          <p:attrName>style.visibility</p:attrName>
                                        </p:attrNameLst>
                                      </p:cBhvr>
                                      <p:to>
                                        <p:strVal val="visible"/>
                                      </p:to>
                                    </p:set>
                                    <p:animEffect transition="in" filter="blinds(horizontal)">
                                      <p:cBhvr>
                                        <p:cTn id="12" dur="500"/>
                                        <p:tgtEl>
                                          <p:spTgt spid="233475">
                                            <p:txEl>
                                              <p:charRg st="40" end="8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3489">
                                            <p:txEl>
                                              <p:charRg st="0" end="18"/>
                                            </p:txEl>
                                          </p:spTgt>
                                        </p:tgtEl>
                                        <p:attrNameLst>
                                          <p:attrName>style.visibility</p:attrName>
                                        </p:attrNameLst>
                                      </p:cBhvr>
                                      <p:to>
                                        <p:strVal val="visible"/>
                                      </p:to>
                                    </p:set>
                                    <p:animEffect transition="in" filter="blinds(horizontal)">
                                      <p:cBhvr>
                                        <p:cTn id="17" dur="500"/>
                                        <p:tgtEl>
                                          <p:spTgt spid="233489">
                                            <p:txEl>
                                              <p:charRg st="0" end="1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33489">
                                            <p:txEl>
                                              <p:charRg st="18" end="51"/>
                                            </p:txEl>
                                          </p:spTgt>
                                        </p:tgtEl>
                                        <p:attrNameLst>
                                          <p:attrName>style.visibility</p:attrName>
                                        </p:attrNameLst>
                                      </p:cBhvr>
                                      <p:to>
                                        <p:strVal val="visible"/>
                                      </p:to>
                                    </p:set>
                                    <p:animEffect transition="in" filter="blinds(horizontal)">
                                      <p:cBhvr>
                                        <p:cTn id="22" dur="500"/>
                                        <p:tgtEl>
                                          <p:spTgt spid="233489">
                                            <p:txEl>
                                              <p:charRg st="18" end="5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3490"/>
                                        </p:tgtEl>
                                        <p:attrNameLst>
                                          <p:attrName>style.visibility</p:attrName>
                                        </p:attrNameLst>
                                      </p:cBhvr>
                                      <p:to>
                                        <p:strVal val="visible"/>
                                      </p:to>
                                    </p:set>
                                    <p:animEffect transition="in" filter="blinds(horizontal)">
                                      <p:cBhvr>
                                        <p:cTn id="27" dur="500"/>
                                        <p:tgtEl>
                                          <p:spTgt spid="23349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33512"/>
                                        </p:tgtEl>
                                        <p:attrNameLst>
                                          <p:attrName>style.visibility</p:attrName>
                                        </p:attrNameLst>
                                      </p:cBhvr>
                                      <p:to>
                                        <p:strVal val="visible"/>
                                      </p:to>
                                    </p:set>
                                    <p:animEffect transition="in" filter="blinds(horizontal)">
                                      <p:cBhvr>
                                        <p:cTn id="32" dur="500"/>
                                        <p:tgtEl>
                                          <p:spTgt spid="23351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33510"/>
                                        </p:tgtEl>
                                        <p:attrNameLst>
                                          <p:attrName>style.visibility</p:attrName>
                                        </p:attrNameLst>
                                      </p:cBhvr>
                                      <p:to>
                                        <p:strVal val="visible"/>
                                      </p:to>
                                    </p:set>
                                    <p:animEffect transition="in" filter="blinds(horizontal)">
                                      <p:cBhvr>
                                        <p:cTn id="37" dur="500"/>
                                        <p:tgtEl>
                                          <p:spTgt spid="23351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33488"/>
                                        </p:tgtEl>
                                        <p:attrNameLst>
                                          <p:attrName>style.visibility</p:attrName>
                                        </p:attrNameLst>
                                      </p:cBhvr>
                                      <p:to>
                                        <p:strVal val="visible"/>
                                      </p:to>
                                    </p:set>
                                    <p:animEffect transition="in" filter="checkerboard(across)">
                                      <p:cBhvr>
                                        <p:cTn id="42" dur="500"/>
                                        <p:tgtEl>
                                          <p:spTgt spid="233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88" grpId="0"/>
      <p:bldP spid="23349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22" name="组合 235521"/>
          <p:cNvGrpSpPr/>
          <p:nvPr/>
        </p:nvGrpSpPr>
        <p:grpSpPr>
          <a:xfrm>
            <a:off x="1690688" y="4046538"/>
            <a:ext cx="2960687" cy="1450975"/>
            <a:chOff x="1065" y="2774"/>
            <a:chExt cx="1865" cy="914"/>
          </a:xfrm>
        </p:grpSpPr>
        <p:sp>
          <p:nvSpPr>
            <p:cNvPr id="93186" name="椭圆 235522"/>
            <p:cNvSpPr/>
            <p:nvPr/>
          </p:nvSpPr>
          <p:spPr>
            <a:xfrm rot="-2400000">
              <a:off x="1065" y="2774"/>
              <a:ext cx="1865" cy="876"/>
            </a:xfrm>
            <a:prstGeom prst="ellipse">
              <a:avLst/>
            </a:prstGeom>
            <a:solidFill>
              <a:srgbClr val="CCCCFF"/>
            </a:solidFill>
            <a:ln w="12700" cap="flat" cmpd="sng">
              <a:solidFill>
                <a:srgbClr val="0000FF"/>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93187" name="直接连接符 235523"/>
            <p:cNvSpPr/>
            <p:nvPr/>
          </p:nvSpPr>
          <p:spPr>
            <a:xfrm>
              <a:off x="2488" y="3352"/>
              <a:ext cx="224" cy="336"/>
            </a:xfrm>
            <a:prstGeom prst="line">
              <a:avLst/>
            </a:prstGeom>
            <a:ln w="12700" cap="flat" cmpd="sng">
              <a:solidFill>
                <a:srgbClr val="0000FF"/>
              </a:solidFill>
              <a:prstDash val="solid"/>
              <a:round/>
              <a:headEnd type="none" w="med" len="med"/>
              <a:tailEnd type="triangle" w="med" len="med"/>
            </a:ln>
          </p:spPr>
        </p:sp>
      </p:grpSp>
      <p:sp>
        <p:nvSpPr>
          <p:cNvPr id="93188" name="标题 235524"/>
          <p:cNvSpPr>
            <a:spLocks noGrp="1"/>
          </p:cNvSpPr>
          <p:nvPr>
            <p:ph type="title"/>
          </p:nvPr>
        </p:nvSpPr>
        <p:spPr>
          <a:xfrm>
            <a:off x="463550" y="228600"/>
            <a:ext cx="8891588" cy="531813"/>
          </a:xfrm>
          <a:ln/>
        </p:spPr>
        <p:txBody>
          <a:bodyPr vert="horz" wrap="square" lIns="63500" tIns="25400" rIns="63500" bIns="25400" anchor="t" anchorCtr="0">
            <a:spAutoFit/>
          </a:bodyPr>
          <a:p>
            <a:r>
              <a:rPr lang="en-US" altLang="zh-CN">
                <a:ea typeface="宋体" panose="02010600030101010101" pitchFamily="2" charset="-122"/>
              </a:rPr>
              <a:t>Instruction Fetch Unit: </a:t>
            </a:r>
            <a:r>
              <a:rPr lang="zh-CN" altLang="en-US" dirty="0">
                <a:ea typeface="宋体" panose="02010600030101010101" pitchFamily="2" charset="-122"/>
              </a:rPr>
              <a:t>取指令部件</a:t>
            </a:r>
            <a:endParaRPr lang="zh-CN" altLang="en-US" dirty="0">
              <a:ea typeface="宋体" panose="02010600030101010101" pitchFamily="2" charset="-122"/>
            </a:endParaRPr>
          </a:p>
        </p:txBody>
      </p:sp>
      <p:sp>
        <p:nvSpPr>
          <p:cNvPr id="93189" name="直接连接符 235525"/>
          <p:cNvSpPr/>
          <p:nvPr/>
        </p:nvSpPr>
        <p:spPr>
          <a:xfrm>
            <a:off x="1689100" y="3224213"/>
            <a:ext cx="889000" cy="0"/>
          </a:xfrm>
          <a:prstGeom prst="line">
            <a:avLst/>
          </a:prstGeom>
          <a:ln w="25400" cap="flat" cmpd="sng">
            <a:solidFill>
              <a:schemeClr val="tx1"/>
            </a:solidFill>
            <a:prstDash val="solid"/>
            <a:round/>
            <a:headEnd type="none" w="med" len="med"/>
            <a:tailEnd type="triangle" w="med" len="med"/>
          </a:ln>
        </p:spPr>
      </p:sp>
      <p:sp>
        <p:nvSpPr>
          <p:cNvPr id="93190" name="直接连接符 235526"/>
          <p:cNvSpPr/>
          <p:nvPr/>
        </p:nvSpPr>
        <p:spPr>
          <a:xfrm flipH="1">
            <a:off x="2051050" y="3159125"/>
            <a:ext cx="88900" cy="131763"/>
          </a:xfrm>
          <a:prstGeom prst="line">
            <a:avLst/>
          </a:prstGeom>
          <a:ln w="12700" cap="flat" cmpd="sng">
            <a:solidFill>
              <a:schemeClr val="tx1"/>
            </a:solidFill>
            <a:prstDash val="solid"/>
            <a:round/>
            <a:headEnd type="none" w="med" len="med"/>
            <a:tailEnd type="none" w="med" len="med"/>
          </a:ln>
        </p:spPr>
      </p:sp>
      <p:sp>
        <p:nvSpPr>
          <p:cNvPr id="93191" name="矩形 235527"/>
          <p:cNvSpPr/>
          <p:nvPr/>
        </p:nvSpPr>
        <p:spPr>
          <a:xfrm>
            <a:off x="1865313" y="32305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93192" name="直接连接符 235528"/>
          <p:cNvSpPr/>
          <p:nvPr/>
        </p:nvSpPr>
        <p:spPr>
          <a:xfrm>
            <a:off x="3060700" y="3452813"/>
            <a:ext cx="1727200" cy="0"/>
          </a:xfrm>
          <a:prstGeom prst="line">
            <a:avLst/>
          </a:prstGeom>
          <a:ln w="25400" cap="flat" cmpd="sng">
            <a:solidFill>
              <a:schemeClr val="tx1"/>
            </a:solidFill>
            <a:prstDash val="solid"/>
            <a:round/>
            <a:headEnd type="none" w="med" len="med"/>
            <a:tailEnd type="triangle" w="med" len="med"/>
          </a:ln>
        </p:spPr>
      </p:sp>
      <p:sp>
        <p:nvSpPr>
          <p:cNvPr id="93193" name="直接连接符 235529"/>
          <p:cNvSpPr/>
          <p:nvPr/>
        </p:nvSpPr>
        <p:spPr>
          <a:xfrm flipH="1">
            <a:off x="4337050" y="3382963"/>
            <a:ext cx="88900" cy="166687"/>
          </a:xfrm>
          <a:prstGeom prst="line">
            <a:avLst/>
          </a:prstGeom>
          <a:ln w="12700" cap="flat" cmpd="sng">
            <a:solidFill>
              <a:schemeClr val="tx1"/>
            </a:solidFill>
            <a:prstDash val="solid"/>
            <a:round/>
            <a:headEnd type="none" w="med" len="med"/>
            <a:tailEnd type="none" w="med" len="med"/>
          </a:ln>
        </p:spPr>
      </p:sp>
      <p:sp>
        <p:nvSpPr>
          <p:cNvPr id="93194" name="矩形 235530"/>
          <p:cNvSpPr/>
          <p:nvPr/>
        </p:nvSpPr>
        <p:spPr>
          <a:xfrm>
            <a:off x="4189413" y="34940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93195" name="矩形 235531"/>
          <p:cNvSpPr/>
          <p:nvPr/>
        </p:nvSpPr>
        <p:spPr>
          <a:xfrm rot="5400000">
            <a:off x="2249488" y="4821238"/>
            <a:ext cx="1031875" cy="365125"/>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SignExt</a:t>
            </a:r>
            <a:endParaRPr lang="en-US" altLang="zh-CN" sz="1800">
              <a:latin typeface="Arial" panose="020B0604020202020204" pitchFamily="34" charset="0"/>
              <a:ea typeface="宋体" panose="02010600030101010101" pitchFamily="2" charset="-122"/>
            </a:endParaRPr>
          </a:p>
        </p:txBody>
      </p:sp>
      <p:sp>
        <p:nvSpPr>
          <p:cNvPr id="93196" name="直接连接符 235532"/>
          <p:cNvSpPr/>
          <p:nvPr/>
        </p:nvSpPr>
        <p:spPr>
          <a:xfrm>
            <a:off x="4127500" y="4286250"/>
            <a:ext cx="660400" cy="0"/>
          </a:xfrm>
          <a:prstGeom prst="line">
            <a:avLst/>
          </a:prstGeom>
          <a:ln w="25400" cap="flat" cmpd="sng">
            <a:solidFill>
              <a:schemeClr val="tx1"/>
            </a:solidFill>
            <a:prstDash val="solid"/>
            <a:round/>
            <a:headEnd type="none" w="med" len="med"/>
            <a:tailEnd type="triangle" w="med" len="med"/>
          </a:ln>
        </p:spPr>
      </p:sp>
      <p:sp>
        <p:nvSpPr>
          <p:cNvPr id="93197" name="矩形 235533"/>
          <p:cNvSpPr/>
          <p:nvPr/>
        </p:nvSpPr>
        <p:spPr>
          <a:xfrm>
            <a:off x="4208463" y="42957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93198" name="直接连接符 235534"/>
          <p:cNvSpPr/>
          <p:nvPr/>
        </p:nvSpPr>
        <p:spPr>
          <a:xfrm flipH="1">
            <a:off x="4337050" y="4221163"/>
            <a:ext cx="88900" cy="139700"/>
          </a:xfrm>
          <a:prstGeom prst="line">
            <a:avLst/>
          </a:prstGeom>
          <a:ln w="12700" cap="flat" cmpd="sng">
            <a:solidFill>
              <a:schemeClr val="tx1"/>
            </a:solidFill>
            <a:prstDash val="solid"/>
            <a:round/>
            <a:headEnd type="none" w="med" len="med"/>
            <a:tailEnd type="none" w="med" len="med"/>
          </a:ln>
        </p:spPr>
      </p:sp>
      <p:sp>
        <p:nvSpPr>
          <p:cNvPr id="93199" name="直接连接符 235535"/>
          <p:cNvSpPr/>
          <p:nvPr/>
        </p:nvSpPr>
        <p:spPr>
          <a:xfrm>
            <a:off x="1917700" y="4976813"/>
            <a:ext cx="660400" cy="0"/>
          </a:xfrm>
          <a:prstGeom prst="line">
            <a:avLst/>
          </a:prstGeom>
          <a:ln w="25400" cap="flat" cmpd="sng">
            <a:solidFill>
              <a:schemeClr val="tx1"/>
            </a:solidFill>
            <a:prstDash val="solid"/>
            <a:round/>
            <a:headEnd type="none" w="med" len="med"/>
            <a:tailEnd type="triangle" w="med" len="med"/>
          </a:ln>
        </p:spPr>
      </p:sp>
      <p:sp>
        <p:nvSpPr>
          <p:cNvPr id="93200" name="直接连接符 235536"/>
          <p:cNvSpPr/>
          <p:nvPr/>
        </p:nvSpPr>
        <p:spPr>
          <a:xfrm flipH="1">
            <a:off x="2127250" y="4894263"/>
            <a:ext cx="88900" cy="133350"/>
          </a:xfrm>
          <a:prstGeom prst="line">
            <a:avLst/>
          </a:prstGeom>
          <a:ln w="12700" cap="flat" cmpd="sng">
            <a:solidFill>
              <a:schemeClr val="tx1"/>
            </a:solidFill>
            <a:prstDash val="solid"/>
            <a:round/>
            <a:headEnd type="none" w="med" len="med"/>
            <a:tailEnd type="none" w="med" len="med"/>
          </a:ln>
        </p:spPr>
      </p:sp>
      <p:sp>
        <p:nvSpPr>
          <p:cNvPr id="93201" name="矩形 235537"/>
          <p:cNvSpPr/>
          <p:nvPr/>
        </p:nvSpPr>
        <p:spPr>
          <a:xfrm>
            <a:off x="1878013" y="494665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93202" name="矩形 235538"/>
          <p:cNvSpPr/>
          <p:nvPr/>
        </p:nvSpPr>
        <p:spPr>
          <a:xfrm>
            <a:off x="1039813" y="4787900"/>
            <a:ext cx="9048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93203" name="直接连接符 235539"/>
          <p:cNvSpPr/>
          <p:nvPr/>
        </p:nvSpPr>
        <p:spPr>
          <a:xfrm>
            <a:off x="2070100" y="4092575"/>
            <a:ext cx="508000" cy="0"/>
          </a:xfrm>
          <a:prstGeom prst="line">
            <a:avLst/>
          </a:prstGeom>
          <a:ln w="25400" cap="flat" cmpd="sng">
            <a:solidFill>
              <a:schemeClr val="tx1"/>
            </a:solidFill>
            <a:prstDash val="solid"/>
            <a:round/>
            <a:headEnd type="none" w="med" len="med"/>
            <a:tailEnd type="triangle" w="med" len="med"/>
          </a:ln>
        </p:spPr>
      </p:sp>
      <p:sp>
        <p:nvSpPr>
          <p:cNvPr id="93204" name="矩形 235540"/>
          <p:cNvSpPr/>
          <p:nvPr/>
        </p:nvSpPr>
        <p:spPr>
          <a:xfrm>
            <a:off x="2603500" y="4456113"/>
            <a:ext cx="355600" cy="10668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3205" name="直接连接符 235541"/>
          <p:cNvSpPr/>
          <p:nvPr/>
        </p:nvSpPr>
        <p:spPr>
          <a:xfrm>
            <a:off x="4800600" y="3206750"/>
            <a:ext cx="0" cy="1300163"/>
          </a:xfrm>
          <a:prstGeom prst="line">
            <a:avLst/>
          </a:prstGeom>
          <a:ln w="25400" cap="flat" cmpd="sng">
            <a:solidFill>
              <a:schemeClr val="tx1"/>
            </a:solidFill>
            <a:prstDash val="solid"/>
            <a:round/>
            <a:headEnd type="none" w="med" len="med"/>
            <a:tailEnd type="none" w="med" len="med"/>
          </a:ln>
        </p:spPr>
      </p:sp>
      <p:sp>
        <p:nvSpPr>
          <p:cNvPr id="93206" name="直接连接符 235542"/>
          <p:cNvSpPr/>
          <p:nvPr/>
        </p:nvSpPr>
        <p:spPr>
          <a:xfrm>
            <a:off x="4813300" y="3206750"/>
            <a:ext cx="309563" cy="193675"/>
          </a:xfrm>
          <a:prstGeom prst="line">
            <a:avLst/>
          </a:prstGeom>
          <a:ln w="25400" cap="flat" cmpd="sng">
            <a:solidFill>
              <a:schemeClr val="tx1"/>
            </a:solidFill>
            <a:prstDash val="solid"/>
            <a:round/>
            <a:headEnd type="none" w="med" len="med"/>
            <a:tailEnd type="none" w="med" len="med"/>
          </a:ln>
        </p:spPr>
      </p:sp>
      <p:sp>
        <p:nvSpPr>
          <p:cNvPr id="93207" name="直接连接符 235543"/>
          <p:cNvSpPr/>
          <p:nvPr/>
        </p:nvSpPr>
        <p:spPr>
          <a:xfrm flipV="1">
            <a:off x="4797425" y="4302125"/>
            <a:ext cx="309563" cy="215900"/>
          </a:xfrm>
          <a:prstGeom prst="line">
            <a:avLst/>
          </a:prstGeom>
          <a:ln w="25400" cap="flat" cmpd="sng">
            <a:solidFill>
              <a:schemeClr val="tx1"/>
            </a:solidFill>
            <a:prstDash val="solid"/>
            <a:round/>
            <a:headEnd type="none" w="med" len="med"/>
            <a:tailEnd type="none" w="med" len="med"/>
          </a:ln>
        </p:spPr>
      </p:sp>
      <p:sp>
        <p:nvSpPr>
          <p:cNvPr id="93208" name="直接连接符 235544"/>
          <p:cNvSpPr/>
          <p:nvPr/>
        </p:nvSpPr>
        <p:spPr>
          <a:xfrm>
            <a:off x="5105400" y="3382963"/>
            <a:ext cx="0" cy="947737"/>
          </a:xfrm>
          <a:prstGeom prst="line">
            <a:avLst/>
          </a:prstGeom>
          <a:ln w="25400" cap="flat" cmpd="sng">
            <a:solidFill>
              <a:schemeClr val="tx1"/>
            </a:solidFill>
            <a:prstDash val="solid"/>
            <a:round/>
            <a:headEnd type="none" w="med" len="med"/>
            <a:tailEnd type="none" w="med" len="med"/>
          </a:ln>
        </p:spPr>
      </p:sp>
      <p:sp>
        <p:nvSpPr>
          <p:cNvPr id="93209" name="矩形 235545"/>
          <p:cNvSpPr/>
          <p:nvPr/>
        </p:nvSpPr>
        <p:spPr>
          <a:xfrm rot="5400000">
            <a:off x="4589463" y="3713163"/>
            <a:ext cx="638175" cy="365125"/>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93210" name="矩形 235546"/>
          <p:cNvSpPr/>
          <p:nvPr/>
        </p:nvSpPr>
        <p:spPr>
          <a:xfrm>
            <a:off x="4786313" y="3333750"/>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93211" name="矩形 235547"/>
          <p:cNvSpPr/>
          <p:nvPr/>
        </p:nvSpPr>
        <p:spPr>
          <a:xfrm>
            <a:off x="4786313" y="4079875"/>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93212" name="直接连接符 235548"/>
          <p:cNvSpPr/>
          <p:nvPr/>
        </p:nvSpPr>
        <p:spPr>
          <a:xfrm>
            <a:off x="2590800" y="3092450"/>
            <a:ext cx="0" cy="292100"/>
          </a:xfrm>
          <a:prstGeom prst="line">
            <a:avLst/>
          </a:prstGeom>
          <a:ln w="25400" cap="flat" cmpd="sng">
            <a:solidFill>
              <a:schemeClr val="tx1"/>
            </a:solidFill>
            <a:prstDash val="solid"/>
            <a:round/>
            <a:headEnd type="none" w="med" len="med"/>
            <a:tailEnd type="none" w="med" len="med"/>
          </a:ln>
        </p:spPr>
      </p:sp>
      <p:sp>
        <p:nvSpPr>
          <p:cNvPr id="93213" name="直接连接符 235549"/>
          <p:cNvSpPr/>
          <p:nvPr/>
        </p:nvSpPr>
        <p:spPr>
          <a:xfrm>
            <a:off x="2603500" y="3092450"/>
            <a:ext cx="446088" cy="292100"/>
          </a:xfrm>
          <a:prstGeom prst="line">
            <a:avLst/>
          </a:prstGeom>
          <a:ln w="25400" cap="flat" cmpd="sng">
            <a:solidFill>
              <a:schemeClr val="tx1"/>
            </a:solidFill>
            <a:prstDash val="solid"/>
            <a:round/>
            <a:headEnd type="none" w="med" len="med"/>
            <a:tailEnd type="none" w="med" len="med"/>
          </a:ln>
        </p:spPr>
      </p:sp>
      <p:sp>
        <p:nvSpPr>
          <p:cNvPr id="93214" name="直接连接符 235550"/>
          <p:cNvSpPr/>
          <p:nvPr/>
        </p:nvSpPr>
        <p:spPr>
          <a:xfrm>
            <a:off x="2603500" y="3381375"/>
            <a:ext cx="203200" cy="120650"/>
          </a:xfrm>
          <a:prstGeom prst="line">
            <a:avLst/>
          </a:prstGeom>
          <a:ln w="25400" cap="flat" cmpd="sng">
            <a:solidFill>
              <a:schemeClr val="tx1"/>
            </a:solidFill>
            <a:prstDash val="solid"/>
            <a:round/>
            <a:headEnd type="none" w="med" len="med"/>
            <a:tailEnd type="none" w="med" len="med"/>
          </a:ln>
        </p:spPr>
      </p:sp>
      <p:sp>
        <p:nvSpPr>
          <p:cNvPr id="93215" name="直接连接符 235551"/>
          <p:cNvSpPr/>
          <p:nvPr/>
        </p:nvSpPr>
        <p:spPr>
          <a:xfrm>
            <a:off x="2819400" y="3527425"/>
            <a:ext cx="0" cy="263525"/>
          </a:xfrm>
          <a:prstGeom prst="line">
            <a:avLst/>
          </a:prstGeom>
          <a:ln w="25400" cap="flat" cmpd="sng">
            <a:solidFill>
              <a:schemeClr val="tx1"/>
            </a:solidFill>
            <a:prstDash val="solid"/>
            <a:round/>
            <a:headEnd type="none" w="med" len="med"/>
            <a:tailEnd type="none" w="med" len="med"/>
          </a:ln>
        </p:spPr>
      </p:sp>
      <p:sp>
        <p:nvSpPr>
          <p:cNvPr id="93216" name="直接连接符 235552"/>
          <p:cNvSpPr/>
          <p:nvPr/>
        </p:nvSpPr>
        <p:spPr>
          <a:xfrm>
            <a:off x="3048000" y="3381375"/>
            <a:ext cx="0" cy="554038"/>
          </a:xfrm>
          <a:prstGeom prst="line">
            <a:avLst/>
          </a:prstGeom>
          <a:ln w="25400" cap="flat" cmpd="sng">
            <a:solidFill>
              <a:schemeClr val="tx1"/>
            </a:solidFill>
            <a:prstDash val="solid"/>
            <a:round/>
            <a:headEnd type="none" w="med" len="med"/>
            <a:tailEnd type="none" w="med" len="med"/>
          </a:ln>
        </p:spPr>
      </p:sp>
      <p:sp>
        <p:nvSpPr>
          <p:cNvPr id="93217" name="直接连接符 235553"/>
          <p:cNvSpPr/>
          <p:nvPr/>
        </p:nvSpPr>
        <p:spPr>
          <a:xfrm flipV="1">
            <a:off x="2603500" y="3790950"/>
            <a:ext cx="203200" cy="169863"/>
          </a:xfrm>
          <a:prstGeom prst="line">
            <a:avLst/>
          </a:prstGeom>
          <a:ln w="25400" cap="flat" cmpd="sng">
            <a:solidFill>
              <a:schemeClr val="tx1"/>
            </a:solidFill>
            <a:prstDash val="solid"/>
            <a:round/>
            <a:headEnd type="none" w="med" len="med"/>
            <a:tailEnd type="none" w="med" len="med"/>
          </a:ln>
        </p:spPr>
      </p:sp>
      <p:sp>
        <p:nvSpPr>
          <p:cNvPr id="93218" name="直接连接符 235554"/>
          <p:cNvSpPr/>
          <p:nvPr/>
        </p:nvSpPr>
        <p:spPr>
          <a:xfrm>
            <a:off x="2590800" y="3960813"/>
            <a:ext cx="0" cy="306387"/>
          </a:xfrm>
          <a:prstGeom prst="line">
            <a:avLst/>
          </a:prstGeom>
          <a:ln w="25400" cap="flat" cmpd="sng">
            <a:solidFill>
              <a:schemeClr val="tx1"/>
            </a:solidFill>
            <a:prstDash val="solid"/>
            <a:round/>
            <a:headEnd type="none" w="med" len="med"/>
            <a:tailEnd type="none" w="med" len="med"/>
          </a:ln>
        </p:spPr>
      </p:sp>
      <p:sp>
        <p:nvSpPr>
          <p:cNvPr id="93219" name="直接连接符 235555"/>
          <p:cNvSpPr/>
          <p:nvPr/>
        </p:nvSpPr>
        <p:spPr>
          <a:xfrm flipV="1">
            <a:off x="2603500" y="3906838"/>
            <a:ext cx="460375" cy="342900"/>
          </a:xfrm>
          <a:prstGeom prst="line">
            <a:avLst/>
          </a:prstGeom>
          <a:ln w="25400" cap="flat" cmpd="sng">
            <a:solidFill>
              <a:schemeClr val="tx1"/>
            </a:solidFill>
            <a:prstDash val="solid"/>
            <a:round/>
            <a:headEnd type="none" w="med" len="med"/>
            <a:tailEnd type="none" w="med" len="med"/>
          </a:ln>
        </p:spPr>
      </p:sp>
      <p:sp>
        <p:nvSpPr>
          <p:cNvPr id="93220" name="矩形 235556"/>
          <p:cNvSpPr/>
          <p:nvPr/>
        </p:nvSpPr>
        <p:spPr>
          <a:xfrm rot="5400000">
            <a:off x="2490788" y="3544888"/>
            <a:ext cx="841375" cy="365125"/>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sp>
        <p:nvSpPr>
          <p:cNvPr id="93221" name="矩形 235557"/>
          <p:cNvSpPr/>
          <p:nvPr/>
        </p:nvSpPr>
        <p:spPr>
          <a:xfrm>
            <a:off x="1814513" y="3757613"/>
            <a:ext cx="5365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grpSp>
        <p:nvGrpSpPr>
          <p:cNvPr id="93222" name="组合 235558"/>
          <p:cNvGrpSpPr/>
          <p:nvPr/>
        </p:nvGrpSpPr>
        <p:grpSpPr>
          <a:xfrm>
            <a:off x="1308100" y="2627313"/>
            <a:ext cx="585788" cy="2103437"/>
            <a:chOff x="824" y="1880"/>
            <a:chExt cx="369" cy="1325"/>
          </a:xfrm>
        </p:grpSpPr>
        <p:sp>
          <p:nvSpPr>
            <p:cNvPr id="93223" name="矩形 235559"/>
            <p:cNvSpPr/>
            <p:nvPr/>
          </p:nvSpPr>
          <p:spPr>
            <a:xfrm>
              <a:off x="872" y="1880"/>
              <a:ext cx="176" cy="752"/>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3224" name="椭圆 235560"/>
            <p:cNvSpPr/>
            <p:nvPr/>
          </p:nvSpPr>
          <p:spPr>
            <a:xfrm>
              <a:off x="920" y="2648"/>
              <a:ext cx="80" cy="80"/>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93225" name="直接连接符 235561"/>
            <p:cNvSpPr/>
            <p:nvPr/>
          </p:nvSpPr>
          <p:spPr>
            <a:xfrm>
              <a:off x="960" y="2744"/>
              <a:ext cx="0" cy="224"/>
            </a:xfrm>
            <a:prstGeom prst="line">
              <a:avLst/>
            </a:prstGeom>
            <a:ln w="25400" cap="flat" cmpd="sng">
              <a:solidFill>
                <a:schemeClr val="tx1"/>
              </a:solidFill>
              <a:prstDash val="solid"/>
              <a:round/>
              <a:headEnd type="none" w="med" len="med"/>
              <a:tailEnd type="none" w="med" len="med"/>
            </a:ln>
          </p:spPr>
        </p:sp>
        <p:sp>
          <p:nvSpPr>
            <p:cNvPr id="93226" name="矩形 235562"/>
            <p:cNvSpPr/>
            <p:nvPr/>
          </p:nvSpPr>
          <p:spPr>
            <a:xfrm rot="5400000">
              <a:off x="777" y="2208"/>
              <a:ext cx="31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93227" name="矩形 235563"/>
            <p:cNvSpPr/>
            <p:nvPr/>
          </p:nvSpPr>
          <p:spPr>
            <a:xfrm>
              <a:off x="855" y="2976"/>
              <a:ext cx="338" cy="229"/>
            </a:xfrm>
            <a:prstGeom prst="rect">
              <a:avLst/>
            </a:prstGeom>
            <a:noFill/>
            <a:ln w="12700">
              <a:noFill/>
            </a:ln>
          </p:spPr>
          <p:txBody>
            <a:bodyPr wrap="none" lIns="90488" tIns="44450" rIns="90488" bIns="44450" anchor="t" anchorCtr="0">
              <a:spAutoFit/>
            </a:bodyPr>
            <a:p>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grpSp>
      <p:grpSp>
        <p:nvGrpSpPr>
          <p:cNvPr id="93228" name="组合 235564"/>
          <p:cNvGrpSpPr/>
          <p:nvPr/>
        </p:nvGrpSpPr>
        <p:grpSpPr>
          <a:xfrm>
            <a:off x="3657600" y="3702050"/>
            <a:ext cx="476250" cy="1157288"/>
            <a:chOff x="2304" y="2557"/>
            <a:chExt cx="300" cy="729"/>
          </a:xfrm>
        </p:grpSpPr>
        <p:grpSp>
          <p:nvGrpSpPr>
            <p:cNvPr id="93229" name="组合 235565"/>
            <p:cNvGrpSpPr/>
            <p:nvPr/>
          </p:nvGrpSpPr>
          <p:grpSpPr>
            <a:xfrm>
              <a:off x="2304" y="2557"/>
              <a:ext cx="288" cy="729"/>
              <a:chOff x="2304" y="2557"/>
              <a:chExt cx="288" cy="729"/>
            </a:xfrm>
          </p:grpSpPr>
          <p:sp>
            <p:nvSpPr>
              <p:cNvPr id="93230" name="直接连接符 235566"/>
              <p:cNvSpPr/>
              <p:nvPr/>
            </p:nvSpPr>
            <p:spPr>
              <a:xfrm>
                <a:off x="2304" y="2557"/>
                <a:ext cx="0" cy="166"/>
              </a:xfrm>
              <a:prstGeom prst="line">
                <a:avLst/>
              </a:prstGeom>
              <a:ln w="25400" cap="flat" cmpd="sng">
                <a:solidFill>
                  <a:schemeClr val="tx1"/>
                </a:solidFill>
                <a:prstDash val="solid"/>
                <a:round/>
                <a:headEnd type="none" w="med" len="med"/>
                <a:tailEnd type="none" w="med" len="med"/>
              </a:ln>
            </p:spPr>
          </p:sp>
          <p:sp>
            <p:nvSpPr>
              <p:cNvPr id="93231" name="直接连接符 235567"/>
              <p:cNvSpPr/>
              <p:nvPr/>
            </p:nvSpPr>
            <p:spPr>
              <a:xfrm>
                <a:off x="2312" y="2557"/>
                <a:ext cx="272" cy="166"/>
              </a:xfrm>
              <a:prstGeom prst="line">
                <a:avLst/>
              </a:prstGeom>
              <a:ln w="25400" cap="flat" cmpd="sng">
                <a:solidFill>
                  <a:schemeClr val="tx1"/>
                </a:solidFill>
                <a:prstDash val="solid"/>
                <a:round/>
                <a:headEnd type="none" w="med" len="med"/>
                <a:tailEnd type="none" w="med" len="med"/>
              </a:ln>
            </p:spPr>
          </p:sp>
          <p:sp>
            <p:nvSpPr>
              <p:cNvPr id="93232" name="直接连接符 235568"/>
              <p:cNvSpPr/>
              <p:nvPr/>
            </p:nvSpPr>
            <p:spPr>
              <a:xfrm>
                <a:off x="2312" y="2739"/>
                <a:ext cx="128" cy="76"/>
              </a:xfrm>
              <a:prstGeom prst="line">
                <a:avLst/>
              </a:prstGeom>
              <a:ln w="25400" cap="flat" cmpd="sng">
                <a:solidFill>
                  <a:schemeClr val="tx1"/>
                </a:solidFill>
                <a:prstDash val="solid"/>
                <a:round/>
                <a:headEnd type="none" w="med" len="med"/>
                <a:tailEnd type="none" w="med" len="med"/>
              </a:ln>
            </p:spPr>
          </p:sp>
          <p:sp>
            <p:nvSpPr>
              <p:cNvPr id="93233" name="直接连接符 235569"/>
              <p:cNvSpPr/>
              <p:nvPr/>
            </p:nvSpPr>
            <p:spPr>
              <a:xfrm>
                <a:off x="2448" y="2831"/>
                <a:ext cx="0" cy="166"/>
              </a:xfrm>
              <a:prstGeom prst="line">
                <a:avLst/>
              </a:prstGeom>
              <a:ln w="25400" cap="flat" cmpd="sng">
                <a:solidFill>
                  <a:schemeClr val="tx1"/>
                </a:solidFill>
                <a:prstDash val="solid"/>
                <a:round/>
                <a:headEnd type="none" w="med" len="med"/>
                <a:tailEnd type="none" w="med" len="med"/>
              </a:ln>
            </p:spPr>
          </p:sp>
          <p:sp>
            <p:nvSpPr>
              <p:cNvPr id="93234" name="直接连接符 235570"/>
              <p:cNvSpPr/>
              <p:nvPr/>
            </p:nvSpPr>
            <p:spPr>
              <a:xfrm>
                <a:off x="2592" y="2739"/>
                <a:ext cx="0" cy="349"/>
              </a:xfrm>
              <a:prstGeom prst="line">
                <a:avLst/>
              </a:prstGeom>
              <a:ln w="25400" cap="flat" cmpd="sng">
                <a:solidFill>
                  <a:schemeClr val="tx1"/>
                </a:solidFill>
                <a:prstDash val="solid"/>
                <a:round/>
                <a:headEnd type="none" w="med" len="med"/>
                <a:tailEnd type="none" w="med" len="med"/>
              </a:ln>
            </p:spPr>
          </p:sp>
          <p:sp>
            <p:nvSpPr>
              <p:cNvPr id="93235" name="直接连接符 235571"/>
              <p:cNvSpPr/>
              <p:nvPr/>
            </p:nvSpPr>
            <p:spPr>
              <a:xfrm flipV="1">
                <a:off x="2312" y="2997"/>
                <a:ext cx="128" cy="107"/>
              </a:xfrm>
              <a:prstGeom prst="line">
                <a:avLst/>
              </a:prstGeom>
              <a:ln w="25400" cap="flat" cmpd="sng">
                <a:solidFill>
                  <a:schemeClr val="tx1"/>
                </a:solidFill>
                <a:prstDash val="solid"/>
                <a:round/>
                <a:headEnd type="none" w="med" len="med"/>
                <a:tailEnd type="none" w="med" len="med"/>
              </a:ln>
            </p:spPr>
          </p:sp>
          <p:sp>
            <p:nvSpPr>
              <p:cNvPr id="93236" name="直接连接符 235572"/>
              <p:cNvSpPr/>
              <p:nvPr/>
            </p:nvSpPr>
            <p:spPr>
              <a:xfrm>
                <a:off x="2304" y="3104"/>
                <a:ext cx="0" cy="166"/>
              </a:xfrm>
              <a:prstGeom prst="line">
                <a:avLst/>
              </a:prstGeom>
              <a:ln w="25400" cap="flat" cmpd="sng">
                <a:solidFill>
                  <a:schemeClr val="tx1"/>
                </a:solidFill>
                <a:prstDash val="solid"/>
                <a:round/>
                <a:headEnd type="none" w="med" len="med"/>
                <a:tailEnd type="none" w="med" len="med"/>
              </a:ln>
            </p:spPr>
          </p:sp>
          <p:sp>
            <p:nvSpPr>
              <p:cNvPr id="93237" name="直接连接符 235573"/>
              <p:cNvSpPr/>
              <p:nvPr/>
            </p:nvSpPr>
            <p:spPr>
              <a:xfrm flipV="1">
                <a:off x="2312" y="3088"/>
                <a:ext cx="272" cy="198"/>
              </a:xfrm>
              <a:prstGeom prst="line">
                <a:avLst/>
              </a:prstGeom>
              <a:ln w="25400" cap="flat" cmpd="sng">
                <a:solidFill>
                  <a:schemeClr val="tx1"/>
                </a:solidFill>
                <a:prstDash val="solid"/>
                <a:round/>
                <a:headEnd type="none" w="med" len="med"/>
                <a:tailEnd type="none" w="med" len="med"/>
              </a:ln>
            </p:spPr>
          </p:sp>
        </p:grpSp>
        <p:sp>
          <p:nvSpPr>
            <p:cNvPr id="93238" name="矩形 235574"/>
            <p:cNvSpPr/>
            <p:nvPr/>
          </p:nvSpPr>
          <p:spPr>
            <a:xfrm rot="5400000">
              <a:off x="2220" y="2840"/>
              <a:ext cx="530"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grpSp>
      <p:sp>
        <p:nvSpPr>
          <p:cNvPr id="93239" name="直接连接符 235575"/>
          <p:cNvSpPr/>
          <p:nvPr/>
        </p:nvSpPr>
        <p:spPr>
          <a:xfrm>
            <a:off x="2984500" y="4743450"/>
            <a:ext cx="660400" cy="0"/>
          </a:xfrm>
          <a:prstGeom prst="line">
            <a:avLst/>
          </a:prstGeom>
          <a:ln w="25400" cap="flat" cmpd="sng">
            <a:solidFill>
              <a:schemeClr val="tx1"/>
            </a:solidFill>
            <a:prstDash val="solid"/>
            <a:round/>
            <a:headEnd type="none" w="med" len="med"/>
            <a:tailEnd type="triangle" w="med" len="med"/>
          </a:ln>
        </p:spPr>
      </p:sp>
      <p:sp>
        <p:nvSpPr>
          <p:cNvPr id="93240" name="矩形 235576"/>
          <p:cNvSpPr/>
          <p:nvPr/>
        </p:nvSpPr>
        <p:spPr>
          <a:xfrm>
            <a:off x="2976563" y="47783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93241" name="直接连接符 235577"/>
          <p:cNvSpPr/>
          <p:nvPr/>
        </p:nvSpPr>
        <p:spPr>
          <a:xfrm flipH="1">
            <a:off x="3194050" y="4678363"/>
            <a:ext cx="88900" cy="139700"/>
          </a:xfrm>
          <a:prstGeom prst="line">
            <a:avLst/>
          </a:prstGeom>
          <a:ln w="12700" cap="flat" cmpd="sng">
            <a:solidFill>
              <a:schemeClr val="tx1"/>
            </a:solidFill>
            <a:prstDash val="solid"/>
            <a:round/>
            <a:headEnd type="none" w="med" len="med"/>
            <a:tailEnd type="none" w="med" len="med"/>
          </a:ln>
        </p:spPr>
      </p:sp>
      <p:grpSp>
        <p:nvGrpSpPr>
          <p:cNvPr id="93242" name="组合 235578"/>
          <p:cNvGrpSpPr/>
          <p:nvPr/>
        </p:nvGrpSpPr>
        <p:grpSpPr>
          <a:xfrm>
            <a:off x="4799013" y="4730750"/>
            <a:ext cx="385762" cy="385763"/>
            <a:chOff x="3023" y="3205"/>
            <a:chExt cx="243" cy="243"/>
          </a:xfrm>
        </p:grpSpPr>
        <p:sp>
          <p:nvSpPr>
            <p:cNvPr id="93243" name="任意多边形 235579"/>
            <p:cNvSpPr/>
            <p:nvPr/>
          </p:nvSpPr>
          <p:spPr>
            <a:xfrm rot="-5400000">
              <a:off x="3031" y="3189"/>
              <a:ext cx="91" cy="115"/>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93244" name="任意多边形 235580"/>
            <p:cNvSpPr/>
            <p:nvPr/>
          </p:nvSpPr>
          <p:spPr>
            <a:xfrm rot="5400000">
              <a:off x="3159" y="3189"/>
              <a:ext cx="91" cy="115"/>
            </a:xfrm>
            <a:custGeom>
              <a:avLst/>
              <a:gdLst/>
              <a:ahLst/>
              <a:cxnLst>
                <a:cxn ang="180">
                  <a:pos x="0" y="21411"/>
                </a:cxn>
                <a:cxn ang="270">
                  <a:pos x="21362" y="0"/>
                </a:cxn>
                <a:cxn ang="90">
                  <a:pos x="21599" y="21599"/>
                </a:cxn>
              </a:cxnLst>
              <a:pathLst>
                <a:path w="21599" h="21599" fill="none">
                  <a:moveTo>
                    <a:pt x="0" y="21411"/>
                  </a:moveTo>
                  <a:cubicBezTo>
                    <a:pt x="101" y="9647"/>
                    <a:pt x="9605" y="127"/>
                    <a:pt x="21361" y="0"/>
                  </a:cubicBezTo>
                </a:path>
                <a:path w="21599" h="21599" stroke="0">
                  <a:moveTo>
                    <a:pt x="0" y="21411"/>
                  </a:moveTo>
                  <a:cubicBezTo>
                    <a:pt x="101" y="9647"/>
                    <a:pt x="9605" y="127"/>
                    <a:pt x="21361" y="0"/>
                  </a:cubicBezTo>
                  <a:lnTo>
                    <a:pt x="21599"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93245" name="直接连接符 235581"/>
            <p:cNvSpPr/>
            <p:nvPr/>
          </p:nvSpPr>
          <p:spPr>
            <a:xfrm>
              <a:off x="3024" y="3303"/>
              <a:ext cx="0" cy="137"/>
            </a:xfrm>
            <a:prstGeom prst="line">
              <a:avLst/>
            </a:prstGeom>
            <a:ln w="25400" cap="flat" cmpd="sng">
              <a:solidFill>
                <a:schemeClr val="tx1"/>
              </a:solidFill>
              <a:prstDash val="solid"/>
              <a:round/>
              <a:headEnd type="none" w="med" len="med"/>
              <a:tailEnd type="none" w="med" len="med"/>
            </a:ln>
          </p:spPr>
        </p:sp>
        <p:sp>
          <p:nvSpPr>
            <p:cNvPr id="93246" name="直接连接符 235582"/>
            <p:cNvSpPr/>
            <p:nvPr/>
          </p:nvSpPr>
          <p:spPr>
            <a:xfrm>
              <a:off x="3032" y="3448"/>
              <a:ext cx="224" cy="0"/>
            </a:xfrm>
            <a:prstGeom prst="line">
              <a:avLst/>
            </a:prstGeom>
            <a:ln w="25400" cap="flat" cmpd="sng">
              <a:solidFill>
                <a:schemeClr val="tx1"/>
              </a:solidFill>
              <a:prstDash val="solid"/>
              <a:round/>
              <a:headEnd type="none" w="med" len="med"/>
              <a:tailEnd type="none" w="med" len="med"/>
            </a:ln>
          </p:spPr>
        </p:sp>
        <p:sp>
          <p:nvSpPr>
            <p:cNvPr id="93247" name="直接连接符 235583"/>
            <p:cNvSpPr/>
            <p:nvPr/>
          </p:nvSpPr>
          <p:spPr>
            <a:xfrm>
              <a:off x="3264" y="3303"/>
              <a:ext cx="0" cy="137"/>
            </a:xfrm>
            <a:prstGeom prst="line">
              <a:avLst/>
            </a:prstGeom>
            <a:ln w="25400" cap="flat" cmpd="sng">
              <a:solidFill>
                <a:schemeClr val="tx1"/>
              </a:solidFill>
              <a:prstDash val="solid"/>
              <a:round/>
              <a:headEnd type="none" w="med" len="med"/>
              <a:tailEnd type="none" w="med" len="med"/>
            </a:ln>
          </p:spPr>
        </p:sp>
      </p:grpSp>
      <p:sp>
        <p:nvSpPr>
          <p:cNvPr id="93248" name="直接连接符 235584"/>
          <p:cNvSpPr/>
          <p:nvPr/>
        </p:nvSpPr>
        <p:spPr>
          <a:xfrm flipV="1">
            <a:off x="4991100" y="4373563"/>
            <a:ext cx="0" cy="352425"/>
          </a:xfrm>
          <a:prstGeom prst="line">
            <a:avLst/>
          </a:prstGeom>
          <a:ln w="25400" cap="flat" cmpd="sng">
            <a:solidFill>
              <a:schemeClr val="tx1"/>
            </a:solidFill>
            <a:prstDash val="solid"/>
            <a:round/>
            <a:headEnd type="none" w="med" len="med"/>
            <a:tailEnd type="none" w="med" len="med"/>
          </a:ln>
        </p:spPr>
      </p:sp>
      <p:sp>
        <p:nvSpPr>
          <p:cNvPr id="93249" name="直接连接符 235585"/>
          <p:cNvSpPr/>
          <p:nvPr/>
        </p:nvSpPr>
        <p:spPr>
          <a:xfrm>
            <a:off x="4876800" y="5141913"/>
            <a:ext cx="0" cy="355600"/>
          </a:xfrm>
          <a:prstGeom prst="line">
            <a:avLst/>
          </a:prstGeom>
          <a:ln w="25400" cap="flat" cmpd="sng">
            <a:solidFill>
              <a:schemeClr val="tx1"/>
            </a:solidFill>
            <a:prstDash val="solid"/>
            <a:round/>
            <a:headEnd type="none" w="med" len="med"/>
            <a:tailEnd type="none" w="med" len="med"/>
          </a:ln>
        </p:spPr>
      </p:sp>
      <p:sp>
        <p:nvSpPr>
          <p:cNvPr id="93250" name="直接连接符 235586"/>
          <p:cNvSpPr/>
          <p:nvPr/>
        </p:nvSpPr>
        <p:spPr>
          <a:xfrm>
            <a:off x="5105400" y="5141913"/>
            <a:ext cx="0" cy="660400"/>
          </a:xfrm>
          <a:prstGeom prst="line">
            <a:avLst/>
          </a:prstGeom>
          <a:ln w="25400" cap="flat" cmpd="sng">
            <a:solidFill>
              <a:schemeClr val="tx1"/>
            </a:solidFill>
            <a:prstDash val="solid"/>
            <a:round/>
            <a:headEnd type="none" w="med" len="med"/>
            <a:tailEnd type="none" w="med" len="med"/>
          </a:ln>
        </p:spPr>
      </p:sp>
      <p:sp>
        <p:nvSpPr>
          <p:cNvPr id="93251" name="直接连接符 235587"/>
          <p:cNvSpPr/>
          <p:nvPr/>
        </p:nvSpPr>
        <p:spPr>
          <a:xfrm>
            <a:off x="6184900" y="3071813"/>
            <a:ext cx="217488" cy="0"/>
          </a:xfrm>
          <a:prstGeom prst="line">
            <a:avLst/>
          </a:prstGeom>
          <a:ln w="25400" cap="flat" cmpd="sng">
            <a:solidFill>
              <a:schemeClr val="tx1"/>
            </a:solidFill>
            <a:prstDash val="solid"/>
            <a:round/>
            <a:headEnd type="none" w="med" len="med"/>
            <a:tailEnd type="none" w="med" len="med"/>
          </a:ln>
        </p:spPr>
      </p:sp>
      <p:sp>
        <p:nvSpPr>
          <p:cNvPr id="93252" name="直接连接符 235588"/>
          <p:cNvSpPr/>
          <p:nvPr/>
        </p:nvSpPr>
        <p:spPr>
          <a:xfrm flipV="1">
            <a:off x="6400800" y="1535113"/>
            <a:ext cx="0" cy="1549400"/>
          </a:xfrm>
          <a:prstGeom prst="line">
            <a:avLst/>
          </a:prstGeom>
          <a:ln w="25400" cap="flat" cmpd="sng">
            <a:solidFill>
              <a:schemeClr val="tx1"/>
            </a:solidFill>
            <a:prstDash val="solid"/>
            <a:round/>
            <a:headEnd type="none" w="med" len="med"/>
            <a:tailEnd type="none" w="med" len="med"/>
          </a:ln>
        </p:spPr>
      </p:sp>
      <p:sp>
        <p:nvSpPr>
          <p:cNvPr id="93253" name="直接连接符 235589"/>
          <p:cNvSpPr/>
          <p:nvPr/>
        </p:nvSpPr>
        <p:spPr>
          <a:xfrm flipH="1">
            <a:off x="749300" y="1547813"/>
            <a:ext cx="5664200" cy="0"/>
          </a:xfrm>
          <a:prstGeom prst="line">
            <a:avLst/>
          </a:prstGeom>
          <a:ln w="25400" cap="flat" cmpd="sng">
            <a:solidFill>
              <a:schemeClr val="tx1"/>
            </a:solidFill>
            <a:prstDash val="solid"/>
            <a:round/>
            <a:headEnd type="none" w="med" len="med"/>
            <a:tailEnd type="none" w="med" len="med"/>
          </a:ln>
        </p:spPr>
      </p:sp>
      <p:sp>
        <p:nvSpPr>
          <p:cNvPr id="93254" name="直接连接符 235590"/>
          <p:cNvSpPr/>
          <p:nvPr/>
        </p:nvSpPr>
        <p:spPr>
          <a:xfrm>
            <a:off x="762000" y="1560513"/>
            <a:ext cx="0" cy="1651000"/>
          </a:xfrm>
          <a:prstGeom prst="line">
            <a:avLst/>
          </a:prstGeom>
          <a:ln w="25400" cap="flat" cmpd="sng">
            <a:solidFill>
              <a:schemeClr val="tx1"/>
            </a:solidFill>
            <a:prstDash val="solid"/>
            <a:round/>
            <a:headEnd type="none" w="med" len="med"/>
            <a:tailEnd type="none" w="med" len="med"/>
          </a:ln>
        </p:spPr>
      </p:sp>
      <p:sp>
        <p:nvSpPr>
          <p:cNvPr id="93255" name="直接连接符 235591"/>
          <p:cNvSpPr/>
          <p:nvPr/>
        </p:nvSpPr>
        <p:spPr>
          <a:xfrm>
            <a:off x="774700" y="3224213"/>
            <a:ext cx="584200" cy="0"/>
          </a:xfrm>
          <a:prstGeom prst="line">
            <a:avLst/>
          </a:prstGeom>
          <a:ln w="25400" cap="flat" cmpd="sng">
            <a:solidFill>
              <a:schemeClr val="tx1"/>
            </a:solidFill>
            <a:prstDash val="solid"/>
            <a:round/>
            <a:headEnd type="none" w="med" len="med"/>
            <a:tailEnd type="triangle" w="med" len="med"/>
          </a:ln>
        </p:spPr>
      </p:sp>
      <p:sp>
        <p:nvSpPr>
          <p:cNvPr id="93256" name="直接连接符 235592"/>
          <p:cNvSpPr/>
          <p:nvPr/>
        </p:nvSpPr>
        <p:spPr>
          <a:xfrm flipH="1">
            <a:off x="4032250" y="1477963"/>
            <a:ext cx="88900" cy="166687"/>
          </a:xfrm>
          <a:prstGeom prst="line">
            <a:avLst/>
          </a:prstGeom>
          <a:ln w="12700" cap="flat" cmpd="sng">
            <a:solidFill>
              <a:schemeClr val="tx1"/>
            </a:solidFill>
            <a:prstDash val="solid"/>
            <a:round/>
            <a:headEnd type="none" w="med" len="med"/>
            <a:tailEnd type="none" w="med" len="med"/>
          </a:ln>
        </p:spPr>
      </p:sp>
      <p:sp>
        <p:nvSpPr>
          <p:cNvPr id="93257" name="矩形 235593"/>
          <p:cNvSpPr/>
          <p:nvPr/>
        </p:nvSpPr>
        <p:spPr>
          <a:xfrm>
            <a:off x="3719513" y="15763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93258" name="矩形 235594"/>
          <p:cNvSpPr/>
          <p:nvPr/>
        </p:nvSpPr>
        <p:spPr>
          <a:xfrm>
            <a:off x="4176713" y="5510213"/>
            <a:ext cx="968375" cy="363537"/>
          </a:xfrm>
          <a:prstGeom prst="rect">
            <a:avLst/>
          </a:prstGeom>
          <a:noFill/>
          <a:ln w="12700">
            <a:noFill/>
          </a:ln>
        </p:spPr>
        <p:txBody>
          <a:bodyPr wrap="none" lIns="90488" tIns="44450" rIns="90488" bIns="44450" anchor="t" anchorCtr="0">
            <a:spAutoFit/>
          </a:bodyPr>
          <a:p>
            <a:r>
              <a:rPr lang="en-US" altLang="zh-CN" sz="1800">
                <a:solidFill>
                  <a:schemeClr val="accent1"/>
                </a:solidFill>
                <a:latin typeface="Arial" panose="020B0604020202020204" pitchFamily="34" charset="0"/>
                <a:ea typeface="宋体" panose="02010600030101010101" pitchFamily="2" charset="-122"/>
              </a:rPr>
              <a:t>Branch</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3259" name="矩形 235595"/>
          <p:cNvSpPr/>
          <p:nvPr/>
        </p:nvSpPr>
        <p:spPr>
          <a:xfrm>
            <a:off x="5103813" y="5535613"/>
            <a:ext cx="676275" cy="363537"/>
          </a:xfrm>
          <a:prstGeom prst="rect">
            <a:avLst/>
          </a:prstGeom>
          <a:noFill/>
          <a:ln w="12700">
            <a:noFill/>
          </a:ln>
        </p:spPr>
        <p:txBody>
          <a:bodyPr wrap="none" lIns="90488" tIns="44450" rIns="90488" bIns="44450" anchor="t" anchorCtr="0">
            <a:spAutoFit/>
          </a:bodyPr>
          <a:p>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93260" name="直接连接符 235596"/>
          <p:cNvSpPr/>
          <p:nvPr/>
        </p:nvSpPr>
        <p:spPr>
          <a:xfrm>
            <a:off x="6565900" y="2233613"/>
            <a:ext cx="584200" cy="0"/>
          </a:xfrm>
          <a:prstGeom prst="line">
            <a:avLst/>
          </a:prstGeom>
          <a:ln w="25400" cap="flat" cmpd="sng">
            <a:solidFill>
              <a:schemeClr val="tx1"/>
            </a:solidFill>
            <a:prstDash val="solid"/>
            <a:round/>
            <a:headEnd type="none" w="med" len="med"/>
            <a:tailEnd type="triangle" w="med" len="med"/>
          </a:ln>
        </p:spPr>
      </p:sp>
      <p:sp>
        <p:nvSpPr>
          <p:cNvPr id="93261" name="矩形 235597"/>
          <p:cNvSpPr/>
          <p:nvPr/>
        </p:nvSpPr>
        <p:spPr>
          <a:xfrm>
            <a:off x="6462713" y="2233613"/>
            <a:ext cx="6635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“00”</a:t>
            </a:r>
            <a:endParaRPr lang="zh-CN" altLang="en-US" sz="1800" dirty="0">
              <a:latin typeface="Arial" panose="020B0604020202020204" pitchFamily="34" charset="0"/>
              <a:ea typeface="宋体" panose="02010600030101010101" pitchFamily="2" charset="-122"/>
            </a:endParaRPr>
          </a:p>
        </p:txBody>
      </p:sp>
      <p:sp>
        <p:nvSpPr>
          <p:cNvPr id="93262" name="矩形 235598"/>
          <p:cNvSpPr/>
          <p:nvPr/>
        </p:nvSpPr>
        <p:spPr>
          <a:xfrm>
            <a:off x="7165975" y="1789113"/>
            <a:ext cx="1355725" cy="12700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3263" name="矩形 235599"/>
          <p:cNvSpPr/>
          <p:nvPr/>
        </p:nvSpPr>
        <p:spPr>
          <a:xfrm>
            <a:off x="7127875" y="1776413"/>
            <a:ext cx="1438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&lt;31:2&gt;</a:t>
            </a:r>
            <a:endParaRPr lang="en-US" altLang="zh-CN" sz="1800">
              <a:latin typeface="Arial" panose="020B0604020202020204" pitchFamily="34" charset="0"/>
              <a:ea typeface="宋体" panose="02010600030101010101" pitchFamily="2" charset="-122"/>
            </a:endParaRPr>
          </a:p>
        </p:txBody>
      </p:sp>
      <p:sp>
        <p:nvSpPr>
          <p:cNvPr id="93264" name="矩形 235600"/>
          <p:cNvSpPr/>
          <p:nvPr/>
        </p:nvSpPr>
        <p:spPr>
          <a:xfrm>
            <a:off x="7212013" y="2462213"/>
            <a:ext cx="13620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93265" name="矩形 235601"/>
          <p:cNvSpPr/>
          <p:nvPr/>
        </p:nvSpPr>
        <p:spPr>
          <a:xfrm>
            <a:off x="7127875" y="2081213"/>
            <a:ext cx="129222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93266" name="直接连接符 235602"/>
          <p:cNvSpPr/>
          <p:nvPr/>
        </p:nvSpPr>
        <p:spPr>
          <a:xfrm>
            <a:off x="7848600" y="3084513"/>
            <a:ext cx="0" cy="1041400"/>
          </a:xfrm>
          <a:prstGeom prst="line">
            <a:avLst/>
          </a:prstGeom>
          <a:ln w="25400" cap="flat" cmpd="sng">
            <a:solidFill>
              <a:schemeClr val="tx1"/>
            </a:solidFill>
            <a:prstDash val="solid"/>
            <a:round/>
            <a:headEnd type="none" w="med" len="med"/>
            <a:tailEnd type="triangle" w="med" len="med"/>
          </a:ln>
        </p:spPr>
      </p:sp>
      <p:sp>
        <p:nvSpPr>
          <p:cNvPr id="93267" name="直接连接符 235603"/>
          <p:cNvSpPr/>
          <p:nvPr/>
        </p:nvSpPr>
        <p:spPr>
          <a:xfrm flipV="1">
            <a:off x="7778750" y="3446463"/>
            <a:ext cx="139700" cy="165100"/>
          </a:xfrm>
          <a:prstGeom prst="line">
            <a:avLst/>
          </a:prstGeom>
          <a:ln w="12700" cap="flat" cmpd="sng">
            <a:solidFill>
              <a:schemeClr val="tx1"/>
            </a:solidFill>
            <a:prstDash val="solid"/>
            <a:round/>
            <a:headEnd type="none" w="med" len="med"/>
            <a:tailEnd type="none" w="med" len="med"/>
          </a:ln>
        </p:spPr>
      </p:sp>
      <p:sp>
        <p:nvSpPr>
          <p:cNvPr id="93268" name="矩形 235604"/>
          <p:cNvSpPr/>
          <p:nvPr/>
        </p:nvSpPr>
        <p:spPr>
          <a:xfrm>
            <a:off x="7910513" y="330041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93269" name="直接连接符 235605"/>
          <p:cNvSpPr/>
          <p:nvPr/>
        </p:nvSpPr>
        <p:spPr>
          <a:xfrm>
            <a:off x="3213100" y="3848100"/>
            <a:ext cx="431800" cy="0"/>
          </a:xfrm>
          <a:prstGeom prst="line">
            <a:avLst/>
          </a:prstGeom>
          <a:ln w="25400" cap="flat" cmpd="sng">
            <a:solidFill>
              <a:schemeClr val="tx1"/>
            </a:solidFill>
            <a:prstDash val="solid"/>
            <a:round/>
            <a:headEnd type="none" w="med" len="med"/>
            <a:tailEnd type="triangle" w="med" len="med"/>
          </a:ln>
        </p:spPr>
      </p:sp>
      <p:sp>
        <p:nvSpPr>
          <p:cNvPr id="93270" name="直接连接符 235606"/>
          <p:cNvSpPr/>
          <p:nvPr/>
        </p:nvSpPr>
        <p:spPr>
          <a:xfrm flipV="1">
            <a:off x="3200400" y="3454400"/>
            <a:ext cx="0" cy="406400"/>
          </a:xfrm>
          <a:prstGeom prst="line">
            <a:avLst/>
          </a:prstGeom>
          <a:ln w="25400" cap="flat" cmpd="sng">
            <a:solidFill>
              <a:schemeClr val="tx1"/>
            </a:solidFill>
            <a:prstDash val="solid"/>
            <a:round/>
            <a:headEnd type="none" w="med" len="med"/>
            <a:tailEnd type="none" w="med" len="med"/>
          </a:ln>
        </p:spPr>
      </p:sp>
      <p:sp>
        <p:nvSpPr>
          <p:cNvPr id="93271" name="直接连接符 235607"/>
          <p:cNvSpPr/>
          <p:nvPr/>
        </p:nvSpPr>
        <p:spPr>
          <a:xfrm flipV="1">
            <a:off x="1905000" y="1916113"/>
            <a:ext cx="0" cy="1320800"/>
          </a:xfrm>
          <a:prstGeom prst="line">
            <a:avLst/>
          </a:prstGeom>
          <a:ln w="25400" cap="flat" cmpd="sng">
            <a:solidFill>
              <a:schemeClr val="tx1"/>
            </a:solidFill>
            <a:prstDash val="solid"/>
            <a:round/>
            <a:headEnd type="none" w="med" len="med"/>
            <a:tailEnd type="none" w="med" len="med"/>
          </a:ln>
        </p:spPr>
      </p:sp>
      <p:sp>
        <p:nvSpPr>
          <p:cNvPr id="93272" name="直接连接符 235609"/>
          <p:cNvSpPr/>
          <p:nvPr/>
        </p:nvSpPr>
        <p:spPr>
          <a:xfrm>
            <a:off x="5422900" y="3376613"/>
            <a:ext cx="431800" cy="0"/>
          </a:xfrm>
          <a:prstGeom prst="line">
            <a:avLst/>
          </a:prstGeom>
          <a:ln w="25400" cap="flat" cmpd="sng">
            <a:solidFill>
              <a:schemeClr val="tx1"/>
            </a:solidFill>
            <a:prstDash val="solid"/>
            <a:round/>
            <a:headEnd type="none" w="med" len="med"/>
            <a:tailEnd type="triangle" w="med" len="med"/>
          </a:ln>
        </p:spPr>
      </p:sp>
      <p:sp>
        <p:nvSpPr>
          <p:cNvPr id="93273" name="直接连接符 235610"/>
          <p:cNvSpPr/>
          <p:nvPr/>
        </p:nvSpPr>
        <p:spPr>
          <a:xfrm flipV="1">
            <a:off x="5118100" y="3833813"/>
            <a:ext cx="293688" cy="0"/>
          </a:xfrm>
          <a:prstGeom prst="line">
            <a:avLst/>
          </a:prstGeom>
          <a:ln w="25400" cap="flat" cmpd="sng">
            <a:solidFill>
              <a:schemeClr val="tx1"/>
            </a:solidFill>
            <a:prstDash val="solid"/>
            <a:round/>
            <a:headEnd type="none" w="med" len="med"/>
            <a:tailEnd type="none" w="med" len="med"/>
          </a:ln>
        </p:spPr>
      </p:sp>
      <p:sp>
        <p:nvSpPr>
          <p:cNvPr id="93274" name="直接连接符 235611"/>
          <p:cNvSpPr/>
          <p:nvPr/>
        </p:nvSpPr>
        <p:spPr>
          <a:xfrm flipV="1">
            <a:off x="5410200" y="3363913"/>
            <a:ext cx="0" cy="482600"/>
          </a:xfrm>
          <a:prstGeom prst="line">
            <a:avLst/>
          </a:prstGeom>
          <a:ln w="25400" cap="flat" cmpd="sng">
            <a:solidFill>
              <a:schemeClr val="tx1"/>
            </a:solidFill>
            <a:prstDash val="solid"/>
            <a:round/>
            <a:headEnd type="none" w="med" len="med"/>
            <a:tailEnd type="none" w="med" len="med"/>
          </a:ln>
        </p:spPr>
      </p:sp>
      <p:sp>
        <p:nvSpPr>
          <p:cNvPr id="93275" name="文本占位符 235612"/>
          <p:cNvSpPr>
            <a:spLocks noGrp="1"/>
          </p:cNvSpPr>
          <p:nvPr>
            <p:ph idx="1"/>
          </p:nvPr>
        </p:nvSpPr>
        <p:spPr>
          <a:xfrm>
            <a:off x="495300" y="700088"/>
            <a:ext cx="8191500" cy="696912"/>
          </a:xfrm>
          <a:ln/>
        </p:spPr>
        <p:txBody>
          <a:bodyPr vert="horz" wrap="square" lIns="63500" tIns="25400" rIns="63500" bIns="25400" anchor="t" anchorCtr="0">
            <a:spAutoFit/>
          </a:bodyPr>
          <a:p>
            <a:r>
              <a:rPr lang="en-US" altLang="zh-CN">
                <a:ea typeface="宋体" panose="02010600030101010101" pitchFamily="2" charset="-122"/>
              </a:rPr>
              <a:t>j	target</a:t>
            </a:r>
            <a:endParaRPr lang="en-US" altLang="zh-CN">
              <a:ea typeface="宋体" panose="02010600030101010101" pitchFamily="2" charset="-122"/>
            </a:endParaRPr>
          </a:p>
          <a:p>
            <a:pPr lvl="1"/>
            <a:r>
              <a:rPr lang="en-US" altLang="zh-CN">
                <a:ea typeface="宋体" panose="02010600030101010101" pitchFamily="2" charset="-122"/>
              </a:rPr>
              <a:t>PC&lt;31:2&gt;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PC&lt;31:28&gt;  </a:t>
            </a:r>
            <a:r>
              <a:rPr lang="en-US" altLang="zh-CN" dirty="0" err="1">
                <a:ea typeface="宋体" panose="02010600030101010101" pitchFamily="2" charset="-122"/>
              </a:rPr>
              <a:t>concat</a:t>
            </a:r>
            <a:r>
              <a:rPr lang="en-US" altLang="zh-CN">
                <a:ea typeface="宋体" panose="02010600030101010101" pitchFamily="2" charset="-122"/>
              </a:rPr>
              <a:t>  target&lt;25:0&gt;</a:t>
            </a:r>
            <a:endParaRPr lang="en-US" altLang="zh-CN">
              <a:ea typeface="宋体" panose="02010600030101010101" pitchFamily="2" charset="-122"/>
            </a:endParaRPr>
          </a:p>
        </p:txBody>
      </p:sp>
      <p:sp>
        <p:nvSpPr>
          <p:cNvPr id="93276" name="矩形 235613"/>
          <p:cNvSpPr/>
          <p:nvPr/>
        </p:nvSpPr>
        <p:spPr>
          <a:xfrm>
            <a:off x="176213" y="5194300"/>
            <a:ext cx="206692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Instruction&lt;15:0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93277" name="矩形 235614"/>
          <p:cNvSpPr/>
          <p:nvPr/>
        </p:nvSpPr>
        <p:spPr>
          <a:xfrm>
            <a:off x="7072313" y="4062413"/>
            <a:ext cx="206692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93278" name="直接连接符 235615"/>
          <p:cNvSpPr/>
          <p:nvPr/>
        </p:nvSpPr>
        <p:spPr>
          <a:xfrm>
            <a:off x="1917700" y="1928813"/>
            <a:ext cx="5232400" cy="0"/>
          </a:xfrm>
          <a:prstGeom prst="line">
            <a:avLst/>
          </a:prstGeom>
          <a:ln w="25400" cap="flat" cmpd="sng">
            <a:solidFill>
              <a:schemeClr val="tx1"/>
            </a:solidFill>
            <a:prstDash val="solid"/>
            <a:round/>
            <a:headEnd type="none" w="med" len="med"/>
            <a:tailEnd type="triangle" w="med" len="med"/>
          </a:ln>
        </p:spPr>
      </p:sp>
      <p:sp>
        <p:nvSpPr>
          <p:cNvPr id="93279" name="直接连接符 235616"/>
          <p:cNvSpPr/>
          <p:nvPr/>
        </p:nvSpPr>
        <p:spPr>
          <a:xfrm flipH="1">
            <a:off x="5099050" y="1858963"/>
            <a:ext cx="88900" cy="166687"/>
          </a:xfrm>
          <a:prstGeom prst="line">
            <a:avLst/>
          </a:prstGeom>
          <a:ln w="12700" cap="flat" cmpd="sng">
            <a:solidFill>
              <a:schemeClr val="tx1"/>
            </a:solidFill>
            <a:prstDash val="solid"/>
            <a:round/>
            <a:headEnd type="none" w="med" len="med"/>
            <a:tailEnd type="none" w="med" len="med"/>
          </a:ln>
        </p:spPr>
      </p:sp>
      <p:sp>
        <p:nvSpPr>
          <p:cNvPr id="93280" name="矩形 235617"/>
          <p:cNvSpPr/>
          <p:nvPr/>
        </p:nvSpPr>
        <p:spPr>
          <a:xfrm>
            <a:off x="4875213" y="19573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grpSp>
        <p:nvGrpSpPr>
          <p:cNvPr id="235619" name="组合 235618"/>
          <p:cNvGrpSpPr/>
          <p:nvPr/>
        </p:nvGrpSpPr>
        <p:grpSpPr>
          <a:xfrm>
            <a:off x="1633538" y="2046288"/>
            <a:ext cx="4191000" cy="1981200"/>
            <a:chOff x="1000" y="1496"/>
            <a:chExt cx="2640" cy="1248"/>
          </a:xfrm>
        </p:grpSpPr>
        <p:sp>
          <p:nvSpPr>
            <p:cNvPr id="93282" name="椭圆 235619"/>
            <p:cNvSpPr/>
            <p:nvPr/>
          </p:nvSpPr>
          <p:spPr>
            <a:xfrm>
              <a:off x="1000" y="1496"/>
              <a:ext cx="2472" cy="648"/>
            </a:xfrm>
            <a:prstGeom prst="ellipse">
              <a:avLst/>
            </a:prstGeom>
            <a:solidFill>
              <a:srgbClr val="CCCCFF"/>
            </a:solidFill>
            <a:ln w="12700" cap="flat" cmpd="sng">
              <a:solidFill>
                <a:srgbClr val="0000FF"/>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93283" name="直接连接符 235620"/>
            <p:cNvSpPr/>
            <p:nvPr/>
          </p:nvSpPr>
          <p:spPr>
            <a:xfrm>
              <a:off x="3232" y="2016"/>
              <a:ext cx="408" cy="728"/>
            </a:xfrm>
            <a:prstGeom prst="line">
              <a:avLst/>
            </a:prstGeom>
            <a:ln w="12700" cap="flat" cmpd="sng">
              <a:solidFill>
                <a:srgbClr val="0000FF"/>
              </a:solidFill>
              <a:prstDash val="solid"/>
              <a:round/>
              <a:headEnd type="none" w="med" len="med"/>
              <a:tailEnd type="triangle" w="med" len="med"/>
            </a:ln>
          </p:spPr>
        </p:sp>
      </p:grpSp>
      <p:grpSp>
        <p:nvGrpSpPr>
          <p:cNvPr id="235622" name="组合 235621"/>
          <p:cNvGrpSpPr/>
          <p:nvPr/>
        </p:nvGrpSpPr>
        <p:grpSpPr>
          <a:xfrm>
            <a:off x="1917700" y="2244725"/>
            <a:ext cx="4497388" cy="2105025"/>
            <a:chOff x="1208" y="1414"/>
            <a:chExt cx="2833" cy="1326"/>
          </a:xfrm>
        </p:grpSpPr>
        <p:sp>
          <p:nvSpPr>
            <p:cNvPr id="93285" name="直接连接符 235622"/>
            <p:cNvSpPr/>
            <p:nvPr/>
          </p:nvSpPr>
          <p:spPr>
            <a:xfrm flipH="1">
              <a:off x="2444" y="1702"/>
              <a:ext cx="56" cy="83"/>
            </a:xfrm>
            <a:prstGeom prst="line">
              <a:avLst/>
            </a:prstGeom>
            <a:ln w="12700" cap="flat" cmpd="sng">
              <a:solidFill>
                <a:schemeClr val="tx1"/>
              </a:solidFill>
              <a:prstDash val="solid"/>
              <a:round/>
              <a:headEnd type="none" w="med" len="med"/>
              <a:tailEnd type="none" w="med" len="med"/>
            </a:ln>
          </p:spPr>
        </p:sp>
        <p:sp>
          <p:nvSpPr>
            <p:cNvPr id="93286" name="矩形 235623"/>
            <p:cNvSpPr/>
            <p:nvPr/>
          </p:nvSpPr>
          <p:spPr>
            <a:xfrm>
              <a:off x="2247" y="1739"/>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93287" name="直接连接符 235624"/>
            <p:cNvSpPr/>
            <p:nvPr/>
          </p:nvSpPr>
          <p:spPr>
            <a:xfrm flipH="1">
              <a:off x="2444" y="1414"/>
              <a:ext cx="56" cy="83"/>
            </a:xfrm>
            <a:prstGeom prst="line">
              <a:avLst/>
            </a:prstGeom>
            <a:ln w="12700" cap="flat" cmpd="sng">
              <a:solidFill>
                <a:schemeClr val="tx1"/>
              </a:solidFill>
              <a:prstDash val="solid"/>
              <a:round/>
              <a:headEnd type="none" w="med" len="med"/>
              <a:tailEnd type="none" w="med" len="med"/>
            </a:ln>
          </p:spPr>
        </p:sp>
        <p:sp>
          <p:nvSpPr>
            <p:cNvPr id="93288" name="矩形 235625"/>
            <p:cNvSpPr/>
            <p:nvPr/>
          </p:nvSpPr>
          <p:spPr>
            <a:xfrm>
              <a:off x="2295" y="1451"/>
              <a:ext cx="19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4</a:t>
              </a:r>
              <a:endParaRPr lang="zh-CN" altLang="en-US" sz="1800" dirty="0">
                <a:latin typeface="Arial" panose="020B0604020202020204" pitchFamily="34" charset="0"/>
                <a:ea typeface="宋体" panose="02010600030101010101" pitchFamily="2" charset="-122"/>
              </a:endParaRPr>
            </a:p>
          </p:txBody>
        </p:sp>
        <p:grpSp>
          <p:nvGrpSpPr>
            <p:cNvPr id="93289" name="组合 235626"/>
            <p:cNvGrpSpPr/>
            <p:nvPr/>
          </p:nvGrpSpPr>
          <p:grpSpPr>
            <a:xfrm>
              <a:off x="1208" y="1444"/>
              <a:ext cx="2833" cy="1296"/>
              <a:chOff x="1208" y="1444"/>
              <a:chExt cx="2833" cy="1296"/>
            </a:xfrm>
          </p:grpSpPr>
          <p:sp>
            <p:nvSpPr>
              <p:cNvPr id="93290" name="直接连接符 235627"/>
              <p:cNvSpPr/>
              <p:nvPr/>
            </p:nvSpPr>
            <p:spPr>
              <a:xfrm>
                <a:off x="3677" y="1444"/>
                <a:ext cx="212" cy="113"/>
              </a:xfrm>
              <a:prstGeom prst="line">
                <a:avLst/>
              </a:prstGeom>
              <a:ln w="25400" cap="flat" cmpd="sng">
                <a:solidFill>
                  <a:schemeClr val="accent2"/>
                </a:solidFill>
                <a:prstDash val="solid"/>
                <a:round/>
                <a:headEnd type="none" w="med" len="med"/>
                <a:tailEnd type="none" w="med" len="med"/>
              </a:ln>
            </p:spPr>
          </p:sp>
          <p:sp>
            <p:nvSpPr>
              <p:cNvPr id="93291" name="直接连接符 235628"/>
              <p:cNvSpPr/>
              <p:nvPr/>
            </p:nvSpPr>
            <p:spPr>
              <a:xfrm flipV="1">
                <a:off x="3686" y="2143"/>
                <a:ext cx="213" cy="118"/>
              </a:xfrm>
              <a:prstGeom prst="line">
                <a:avLst/>
              </a:prstGeom>
              <a:ln w="25400" cap="flat" cmpd="sng">
                <a:solidFill>
                  <a:schemeClr val="accent2"/>
                </a:solidFill>
                <a:prstDash val="solid"/>
                <a:round/>
                <a:headEnd type="none" w="med" len="med"/>
                <a:tailEnd type="none" w="med" len="med"/>
              </a:ln>
            </p:spPr>
          </p:sp>
          <p:sp>
            <p:nvSpPr>
              <p:cNvPr id="93292" name="直接连接符 235629"/>
              <p:cNvSpPr/>
              <p:nvPr/>
            </p:nvSpPr>
            <p:spPr>
              <a:xfrm>
                <a:off x="3888" y="1555"/>
                <a:ext cx="0" cy="597"/>
              </a:xfrm>
              <a:prstGeom prst="line">
                <a:avLst/>
              </a:prstGeom>
              <a:ln w="25400" cap="flat" cmpd="sng">
                <a:solidFill>
                  <a:schemeClr val="accent2"/>
                </a:solidFill>
                <a:prstDash val="solid"/>
                <a:round/>
                <a:headEnd type="none" w="med" len="med"/>
                <a:tailEnd type="none" w="med" len="med"/>
              </a:ln>
            </p:spPr>
          </p:sp>
          <p:grpSp>
            <p:nvGrpSpPr>
              <p:cNvPr id="93293" name="组合 235630"/>
              <p:cNvGrpSpPr/>
              <p:nvPr/>
            </p:nvGrpSpPr>
            <p:grpSpPr>
              <a:xfrm>
                <a:off x="1208" y="1444"/>
                <a:ext cx="2833" cy="1296"/>
                <a:chOff x="1208" y="1444"/>
                <a:chExt cx="2833" cy="1296"/>
              </a:xfrm>
            </p:grpSpPr>
            <p:sp>
              <p:nvSpPr>
                <p:cNvPr id="93294" name="直接连接符 235631"/>
                <p:cNvSpPr/>
                <p:nvPr/>
              </p:nvSpPr>
              <p:spPr>
                <a:xfrm>
                  <a:off x="3696" y="1444"/>
                  <a:ext cx="0" cy="819"/>
                </a:xfrm>
                <a:prstGeom prst="line">
                  <a:avLst/>
                </a:prstGeom>
                <a:ln w="25400" cap="flat" cmpd="sng">
                  <a:solidFill>
                    <a:schemeClr val="accent2"/>
                  </a:solidFill>
                  <a:prstDash val="solid"/>
                  <a:round/>
                  <a:headEnd type="none" w="med" len="med"/>
                  <a:tailEnd type="none" w="med" len="med"/>
                </a:ln>
              </p:spPr>
            </p:sp>
            <p:sp>
              <p:nvSpPr>
                <p:cNvPr id="93295" name="矩形 235632"/>
                <p:cNvSpPr/>
                <p:nvPr/>
              </p:nvSpPr>
              <p:spPr>
                <a:xfrm rot="5400000">
                  <a:off x="3560" y="1761"/>
                  <a:ext cx="402"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93296" name="矩形 235633"/>
                <p:cNvSpPr/>
                <p:nvPr/>
              </p:nvSpPr>
              <p:spPr>
                <a:xfrm>
                  <a:off x="3687" y="1524"/>
                  <a:ext cx="178" cy="210"/>
                </a:xfrm>
                <a:prstGeom prst="rect">
                  <a:avLst/>
                </a:prstGeom>
                <a:noFill/>
                <a:ln w="12700">
                  <a:noFill/>
                </a:ln>
              </p:spPr>
              <p:txBody>
                <a:bodyPr wrap="none" lIns="90488" tIns="44450" rIns="90488" bIns="44450" anchor="t" anchorCtr="0">
                  <a:spAutoFit/>
                </a:bodyPr>
                <a:p>
                  <a:r>
                    <a:rPr lang="zh-CN" altLang="en-US" b="0" dirty="0">
                      <a:solidFill>
                        <a:srgbClr val="0000FF"/>
                      </a:solidFill>
                      <a:latin typeface="Times New Roman" panose="02020603050405020304" pitchFamily="18" charset="0"/>
                      <a:ea typeface="宋体" panose="02010600030101010101" pitchFamily="2" charset="-122"/>
                    </a:rPr>
                    <a:t>1</a:t>
                  </a:r>
                  <a:endParaRPr lang="zh-CN" altLang="en-US" b="0" dirty="0">
                    <a:solidFill>
                      <a:srgbClr val="0000FF"/>
                    </a:solidFill>
                    <a:latin typeface="Times New Roman" panose="02020603050405020304" pitchFamily="18" charset="0"/>
                    <a:ea typeface="宋体" panose="02010600030101010101" pitchFamily="2" charset="-122"/>
                  </a:endParaRPr>
                </a:p>
              </p:txBody>
            </p:sp>
            <p:sp>
              <p:nvSpPr>
                <p:cNvPr id="93297" name="矩形 235634"/>
                <p:cNvSpPr/>
                <p:nvPr/>
              </p:nvSpPr>
              <p:spPr>
                <a:xfrm>
                  <a:off x="3687" y="1994"/>
                  <a:ext cx="178" cy="210"/>
                </a:xfrm>
                <a:prstGeom prst="rect">
                  <a:avLst/>
                </a:prstGeom>
                <a:noFill/>
                <a:ln w="12700">
                  <a:noFill/>
                </a:ln>
              </p:spPr>
              <p:txBody>
                <a:bodyPr wrap="none" lIns="90488" tIns="44450" rIns="90488" bIns="44450" anchor="t" anchorCtr="0">
                  <a:spAutoFit/>
                </a:bodyPr>
                <a:p>
                  <a:r>
                    <a:rPr lang="zh-CN" altLang="en-US" b="0" dirty="0">
                      <a:solidFill>
                        <a:srgbClr val="0000FF"/>
                      </a:solidFill>
                      <a:latin typeface="Times New Roman" panose="02020603050405020304" pitchFamily="18" charset="0"/>
                      <a:ea typeface="宋体" panose="02010600030101010101" pitchFamily="2" charset="-122"/>
                    </a:rPr>
                    <a:t>0</a:t>
                  </a:r>
                  <a:endParaRPr lang="zh-CN" altLang="en-US" b="0" dirty="0">
                    <a:solidFill>
                      <a:srgbClr val="0000FF"/>
                    </a:solidFill>
                    <a:latin typeface="Times New Roman" panose="02020603050405020304" pitchFamily="18" charset="0"/>
                    <a:ea typeface="宋体" panose="02010600030101010101" pitchFamily="2" charset="-122"/>
                  </a:endParaRPr>
                </a:p>
              </p:txBody>
            </p:sp>
            <p:sp>
              <p:nvSpPr>
                <p:cNvPr id="93298" name="直接连接符 235635"/>
                <p:cNvSpPr/>
                <p:nvPr/>
              </p:nvSpPr>
              <p:spPr>
                <a:xfrm>
                  <a:off x="2264" y="1743"/>
                  <a:ext cx="512" cy="0"/>
                </a:xfrm>
                <a:prstGeom prst="line">
                  <a:avLst/>
                </a:prstGeom>
                <a:ln w="25400" cap="flat" cmpd="sng">
                  <a:solidFill>
                    <a:schemeClr val="accent2"/>
                  </a:solidFill>
                  <a:prstDash val="solid"/>
                  <a:round/>
                  <a:headEnd type="none" w="med" len="med"/>
                  <a:tailEnd type="triangle" w="med" len="med"/>
                </a:ln>
              </p:spPr>
            </p:sp>
            <p:sp>
              <p:nvSpPr>
                <p:cNvPr id="93299" name="直接连接符 235636"/>
                <p:cNvSpPr/>
                <p:nvPr/>
              </p:nvSpPr>
              <p:spPr>
                <a:xfrm>
                  <a:off x="1208" y="1455"/>
                  <a:ext cx="1568" cy="0"/>
                </a:xfrm>
                <a:prstGeom prst="line">
                  <a:avLst/>
                </a:prstGeom>
                <a:ln w="25400" cap="flat" cmpd="sng">
                  <a:solidFill>
                    <a:schemeClr val="accent2"/>
                  </a:solidFill>
                  <a:prstDash val="solid"/>
                  <a:round/>
                  <a:headEnd type="none" w="med" len="med"/>
                  <a:tailEnd type="triangle" w="med" len="med"/>
                </a:ln>
              </p:spPr>
            </p:sp>
            <p:sp>
              <p:nvSpPr>
                <p:cNvPr id="93300" name="矩形 235637"/>
                <p:cNvSpPr/>
                <p:nvPr/>
              </p:nvSpPr>
              <p:spPr>
                <a:xfrm>
                  <a:off x="1815" y="1503"/>
                  <a:ext cx="55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Target</a:t>
                  </a:r>
                  <a:endParaRPr lang="en-US" altLang="zh-CN" sz="1800">
                    <a:latin typeface="Arial" panose="020B0604020202020204" pitchFamily="34" charset="0"/>
                    <a:ea typeface="宋体" panose="02010600030101010101" pitchFamily="2" charset="-122"/>
                  </a:endParaRPr>
                </a:p>
              </p:txBody>
            </p:sp>
            <p:sp>
              <p:nvSpPr>
                <p:cNvPr id="93301" name="直接连接符 235638"/>
                <p:cNvSpPr/>
                <p:nvPr/>
              </p:nvSpPr>
              <p:spPr>
                <a:xfrm>
                  <a:off x="2784" y="1463"/>
                  <a:ext cx="0" cy="272"/>
                </a:xfrm>
                <a:prstGeom prst="line">
                  <a:avLst/>
                </a:prstGeom>
                <a:ln w="25400" cap="flat" cmpd="sng">
                  <a:solidFill>
                    <a:schemeClr val="accent2"/>
                  </a:solidFill>
                  <a:prstDash val="solid"/>
                  <a:round/>
                  <a:headEnd type="none" w="med" len="med"/>
                  <a:tailEnd type="none" w="med" len="med"/>
                </a:ln>
              </p:spPr>
            </p:sp>
            <p:sp>
              <p:nvSpPr>
                <p:cNvPr id="93302" name="直接连接符 235639"/>
                <p:cNvSpPr/>
                <p:nvPr/>
              </p:nvSpPr>
              <p:spPr>
                <a:xfrm>
                  <a:off x="2792" y="1599"/>
                  <a:ext cx="896" cy="0"/>
                </a:xfrm>
                <a:prstGeom prst="line">
                  <a:avLst/>
                </a:prstGeom>
                <a:ln w="25400" cap="flat" cmpd="sng">
                  <a:solidFill>
                    <a:schemeClr val="accent2"/>
                  </a:solidFill>
                  <a:prstDash val="solid"/>
                  <a:round/>
                  <a:headEnd type="none" w="med" len="med"/>
                  <a:tailEnd type="triangle" w="med" len="med"/>
                </a:ln>
              </p:spPr>
            </p:sp>
            <p:sp>
              <p:nvSpPr>
                <p:cNvPr id="93303" name="直接连接符 235640"/>
                <p:cNvSpPr/>
                <p:nvPr/>
              </p:nvSpPr>
              <p:spPr>
                <a:xfrm flipH="1">
                  <a:off x="3164" y="1555"/>
                  <a:ext cx="56" cy="105"/>
                </a:xfrm>
                <a:prstGeom prst="line">
                  <a:avLst/>
                </a:prstGeom>
                <a:ln w="12700" cap="flat" cmpd="sng">
                  <a:solidFill>
                    <a:schemeClr val="tx1"/>
                  </a:solidFill>
                  <a:prstDash val="solid"/>
                  <a:round/>
                  <a:headEnd type="none" w="med" len="med"/>
                  <a:tailEnd type="none" w="med" len="med"/>
                </a:ln>
              </p:spPr>
            </p:sp>
            <p:sp>
              <p:nvSpPr>
                <p:cNvPr id="93304" name="矩形 235641"/>
                <p:cNvSpPr/>
                <p:nvPr/>
              </p:nvSpPr>
              <p:spPr>
                <a:xfrm>
                  <a:off x="3015" y="1617"/>
                  <a:ext cx="274"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93305" name="直接连接符 235642"/>
                <p:cNvSpPr/>
                <p:nvPr/>
              </p:nvSpPr>
              <p:spPr>
                <a:xfrm flipV="1">
                  <a:off x="3792" y="2215"/>
                  <a:ext cx="0" cy="304"/>
                </a:xfrm>
                <a:prstGeom prst="line">
                  <a:avLst/>
                </a:prstGeom>
                <a:ln w="25400" cap="flat" cmpd="sng">
                  <a:solidFill>
                    <a:schemeClr val="tx1"/>
                  </a:solidFill>
                  <a:prstDash val="solid"/>
                  <a:round/>
                  <a:headEnd type="none" w="med" len="med"/>
                  <a:tailEnd type="triangle" w="med" len="med"/>
                </a:ln>
              </p:spPr>
            </p:sp>
            <p:sp>
              <p:nvSpPr>
                <p:cNvPr id="93306" name="矩形 235643"/>
                <p:cNvSpPr/>
                <p:nvPr/>
              </p:nvSpPr>
              <p:spPr>
                <a:xfrm>
                  <a:off x="3543" y="2511"/>
                  <a:ext cx="498" cy="229"/>
                </a:xfrm>
                <a:prstGeom prst="rect">
                  <a:avLst/>
                </a:prstGeom>
                <a:noFill/>
                <a:ln w="12700">
                  <a:noFill/>
                </a:ln>
              </p:spPr>
              <p:txBody>
                <a:bodyPr wrap="none" lIns="90488" tIns="44450" rIns="90488" bIns="44450" anchor="t" anchorCtr="0">
                  <a:spAutoFit/>
                </a:bodyPr>
                <a:p>
                  <a:r>
                    <a:rPr lang="en-US" altLang="zh-CN" sz="1800">
                      <a:solidFill>
                        <a:schemeClr val="accent1"/>
                      </a:solidFill>
                      <a:latin typeface="Arial" panose="020B0604020202020204" pitchFamily="34" charset="0"/>
                      <a:ea typeface="宋体" panose="02010600030101010101" pitchFamily="2" charset="-122"/>
                    </a:rPr>
                    <a:t>Jump</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3307" name="矩形 235644"/>
                <p:cNvSpPr/>
                <p:nvPr/>
              </p:nvSpPr>
              <p:spPr>
                <a:xfrm>
                  <a:off x="1239" y="1647"/>
                  <a:ext cx="1050"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Instruc</a:t>
                  </a:r>
                  <a:r>
                    <a:rPr lang="en-US" altLang="zh-CN" sz="1800">
                      <a:latin typeface="Arial" panose="020B0604020202020204" pitchFamily="34" charset="0"/>
                      <a:ea typeface="宋体" panose="02010600030101010101" pitchFamily="2" charset="-122"/>
                    </a:rPr>
                    <a:t>&lt;25:0&gt;</a:t>
                  </a:r>
                  <a:endParaRPr lang="en-US" altLang="zh-CN" sz="1800">
                    <a:latin typeface="Arial" panose="020B0604020202020204" pitchFamily="34" charset="0"/>
                    <a:ea typeface="宋体" panose="02010600030101010101" pitchFamily="2" charset="-122"/>
                  </a:endParaRPr>
                </a:p>
              </p:txBody>
            </p:sp>
          </p:grpSp>
        </p:grpSp>
      </p:grpSp>
      <p:sp>
        <p:nvSpPr>
          <p:cNvPr id="235646" name="文本框 235645"/>
          <p:cNvSpPr txBox="1"/>
          <p:nvPr/>
        </p:nvSpPr>
        <p:spPr>
          <a:xfrm>
            <a:off x="5761038" y="4727575"/>
            <a:ext cx="3287712" cy="915988"/>
          </a:xfrm>
          <a:prstGeom prst="rect">
            <a:avLst/>
          </a:prstGeom>
          <a:noFill/>
          <a:ln w="25400">
            <a:noFill/>
          </a:ln>
        </p:spPr>
        <p:txBody>
          <a:bodyPr wrap="none" anchor="t" anchorCtr="0">
            <a:spAutoFit/>
          </a:bodyPr>
          <a:p>
            <a:r>
              <a:rPr lang="zh-CN" altLang="en-US" sz="1800" dirty="0">
                <a:solidFill>
                  <a:srgbClr val="CC0000"/>
                </a:solidFill>
                <a:latin typeface="Arial" panose="020B0604020202020204" pitchFamily="34" charset="0"/>
                <a:ea typeface="黑体" panose="02010609060101010101" pitchFamily="49" charset="-122"/>
              </a:rPr>
              <a:t>这是“取指部件”的完整设计</a:t>
            </a:r>
            <a:endParaRPr lang="en-US" altLang="zh-CN" sz="1800">
              <a:solidFill>
                <a:srgbClr val="CC0000"/>
              </a:solidFill>
              <a:latin typeface="Arial" panose="020B0604020202020204" pitchFamily="34" charset="0"/>
              <a:ea typeface="黑体" panose="02010609060101010101" pitchFamily="49" charset="-122"/>
            </a:endParaRPr>
          </a:p>
          <a:p>
            <a:r>
              <a:rPr lang="en-US" altLang="zh-CN" sz="1800">
                <a:solidFill>
                  <a:srgbClr val="CC0000"/>
                </a:solidFill>
                <a:latin typeface="Arial" panose="020B0604020202020204" pitchFamily="34" charset="0"/>
                <a:ea typeface="黑体" panose="02010609060101010101" pitchFamily="49" charset="-122"/>
              </a:rPr>
              <a:t>3 </a:t>
            </a:r>
            <a:r>
              <a:rPr lang="zh-CN" altLang="en-US" sz="1800" dirty="0">
                <a:solidFill>
                  <a:srgbClr val="CC0000"/>
                </a:solidFill>
                <a:latin typeface="Arial" panose="020B0604020202020204" pitchFamily="34" charset="0"/>
                <a:ea typeface="黑体" panose="02010609060101010101" pitchFamily="49" charset="-122"/>
              </a:rPr>
              <a:t>个输入</a:t>
            </a:r>
            <a:r>
              <a:rPr lang="en-US" altLang="zh-CN" sz="1800">
                <a:solidFill>
                  <a:srgbClr val="CC0000"/>
                </a:solidFill>
                <a:latin typeface="Arial" panose="020B0604020202020204" pitchFamily="34" charset="0"/>
                <a:ea typeface="黑体" panose="02010609060101010101" pitchFamily="49" charset="-122"/>
              </a:rPr>
              <a:t>: jump, Branch, Zero</a:t>
            </a:r>
            <a:endParaRPr lang="en-US" altLang="zh-CN" sz="1800">
              <a:solidFill>
                <a:srgbClr val="CC0000"/>
              </a:solidFill>
              <a:latin typeface="Arial" panose="020B0604020202020204" pitchFamily="34" charset="0"/>
              <a:ea typeface="黑体" panose="02010609060101010101" pitchFamily="49" charset="-122"/>
            </a:endParaRPr>
          </a:p>
          <a:p>
            <a:r>
              <a:rPr lang="en-US" altLang="zh-CN" sz="1800">
                <a:solidFill>
                  <a:srgbClr val="CC0000"/>
                </a:solidFill>
                <a:latin typeface="Arial" panose="020B0604020202020204" pitchFamily="34" charset="0"/>
                <a:ea typeface="黑体" panose="02010609060101010101" pitchFamily="49" charset="-122"/>
              </a:rPr>
              <a:t>1</a:t>
            </a:r>
            <a:r>
              <a:rPr lang="zh-CN" altLang="en-US" sz="1800" dirty="0">
                <a:solidFill>
                  <a:srgbClr val="CC0000"/>
                </a:solidFill>
                <a:latin typeface="Arial" panose="020B0604020202020204" pitchFamily="34" charset="0"/>
                <a:ea typeface="黑体" panose="02010609060101010101" pitchFamily="49" charset="-122"/>
              </a:rPr>
              <a:t>个输出</a:t>
            </a:r>
            <a:r>
              <a:rPr lang="en-US" altLang="zh-CN" sz="1800">
                <a:solidFill>
                  <a:srgbClr val="CC0000"/>
                </a:solidFill>
                <a:latin typeface="Arial" panose="020B0604020202020204" pitchFamily="34" charset="0"/>
                <a:ea typeface="黑体" panose="02010609060101010101" pitchFamily="49" charset="-122"/>
              </a:rPr>
              <a:t>: </a:t>
            </a:r>
            <a:r>
              <a:rPr lang="zh-CN" altLang="en-US" sz="1800" dirty="0">
                <a:solidFill>
                  <a:srgbClr val="CC0000"/>
                </a:solidFill>
                <a:latin typeface="Arial" panose="020B0604020202020204" pitchFamily="34" charset="0"/>
                <a:ea typeface="黑体" panose="02010609060101010101" pitchFamily="49" charset="-122"/>
              </a:rPr>
              <a:t>指令字</a:t>
            </a:r>
            <a:endParaRPr lang="en-US" altLang="zh-CN" sz="1800">
              <a:solidFill>
                <a:srgbClr val="CC0000"/>
              </a:solidFill>
              <a:latin typeface="Arial" panose="020B0604020202020204" pitchFamily="34" charset="0"/>
              <a:ea typeface="黑体" panose="02010609060101010101" pitchFamily="49" charset="-122"/>
            </a:endParaRPr>
          </a:p>
        </p:txBody>
      </p:sp>
      <p:sp>
        <p:nvSpPr>
          <p:cNvPr id="235647" name="文本框 235646"/>
          <p:cNvSpPr txBox="1"/>
          <p:nvPr/>
        </p:nvSpPr>
        <p:spPr>
          <a:xfrm>
            <a:off x="276225" y="3451225"/>
            <a:ext cx="957263" cy="1739900"/>
          </a:xfrm>
          <a:prstGeom prst="rect">
            <a:avLst/>
          </a:prstGeom>
          <a:noFill/>
          <a:ln w="25400">
            <a:noFill/>
          </a:ln>
        </p:spPr>
        <p:txBody>
          <a:bodyPr anchor="t" anchorCtr="0">
            <a:spAutoFit/>
          </a:bodyPr>
          <a:p>
            <a:pPr>
              <a:spcBef>
                <a:spcPct val="50000"/>
              </a:spcBef>
            </a:pPr>
            <a:r>
              <a:rPr lang="en-US" altLang="zh-CN" sz="1800">
                <a:solidFill>
                  <a:schemeClr val="accent1"/>
                </a:solidFill>
                <a:latin typeface="Arial" panose="020B0604020202020204" pitchFamily="34" charset="0"/>
                <a:ea typeface="黑体" panose="02010609060101010101" pitchFamily="49" charset="-122"/>
              </a:rPr>
              <a:t>PC</a:t>
            </a:r>
            <a:r>
              <a:rPr lang="zh-CN" altLang="en-US" sz="1800" dirty="0">
                <a:solidFill>
                  <a:schemeClr val="accent1"/>
                </a:solidFill>
                <a:latin typeface="Arial" panose="020B0604020202020204" pitchFamily="34" charset="0"/>
                <a:ea typeface="黑体" panose="02010609060101010101" pitchFamily="49" charset="-122"/>
              </a:rPr>
              <a:t>的改变在下个</a:t>
            </a:r>
            <a:r>
              <a:rPr lang="en-US" altLang="zh-CN" sz="1800" dirty="0" err="1">
                <a:solidFill>
                  <a:schemeClr val="accent1"/>
                </a:solidFill>
                <a:latin typeface="Arial" panose="020B0604020202020204" pitchFamily="34" charset="0"/>
                <a:ea typeface="黑体" panose="02010609060101010101" pitchFamily="49" charset="-122"/>
              </a:rPr>
              <a:t>Clk</a:t>
            </a:r>
            <a:r>
              <a:rPr lang="zh-CN" altLang="en-US" sz="1800" dirty="0">
                <a:solidFill>
                  <a:schemeClr val="accent1"/>
                </a:solidFill>
                <a:latin typeface="Arial" panose="020B0604020202020204" pitchFamily="34" charset="0"/>
                <a:ea typeface="黑体" panose="02010609060101010101" pitchFamily="49" charset="-122"/>
              </a:rPr>
              <a:t>到达后发生！</a:t>
            </a:r>
            <a:endParaRPr lang="zh-CN" altLang="en-US" sz="1800" dirty="0">
              <a:solidFill>
                <a:schemeClr val="accent1"/>
              </a:solidFill>
              <a:latin typeface="Arial" panose="020B0604020202020204" pitchFamily="34" charset="0"/>
              <a:ea typeface="黑体" panose="02010609060101010101" pitchFamily="49" charset="-122"/>
            </a:endParaRPr>
          </a:p>
        </p:txBody>
      </p:sp>
      <p:sp>
        <p:nvSpPr>
          <p:cNvPr id="235648" name="文本框 235647"/>
          <p:cNvSpPr txBox="1"/>
          <p:nvPr/>
        </p:nvSpPr>
        <p:spPr>
          <a:xfrm>
            <a:off x="0" y="5853113"/>
            <a:ext cx="9144000" cy="641350"/>
          </a:xfrm>
          <a:prstGeom prst="rect">
            <a:avLst/>
          </a:prstGeom>
          <a:noFill/>
          <a:ln w="50800">
            <a:noFill/>
          </a:ln>
        </p:spPr>
        <p:txBody>
          <a:bodyPr anchor="t" anchorCtr="0">
            <a:spAutoFit/>
          </a:bodyPr>
          <a:p>
            <a:pPr>
              <a:spcBef>
                <a:spcPct val="50000"/>
              </a:spcBef>
            </a:pPr>
            <a:r>
              <a:rPr lang="en-US" altLang="zh-CN" sz="1800" dirty="0" err="1">
                <a:solidFill>
                  <a:srgbClr val="006600"/>
                </a:solidFill>
                <a:latin typeface="Arial" panose="020B0604020202020204" pitchFamily="34" charset="0"/>
                <a:ea typeface="黑体" panose="02010609060101010101" pitchFamily="49" charset="-122"/>
              </a:rPr>
              <a:t>RegDst</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RegWr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ALUctr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ExtOp</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ALUSrc</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MemWr</a:t>
            </a:r>
            <a:r>
              <a:rPr lang="en-US" altLang="zh-CN" sz="1800">
                <a:solidFill>
                  <a:srgbClr val="006600"/>
                </a:solidFill>
                <a:latin typeface="Arial" panose="020B0604020202020204" pitchFamily="34" charset="0"/>
                <a:ea typeface="黑体" panose="02010609060101010101" pitchFamily="49" charset="-122"/>
              </a:rPr>
              <a:t>, </a:t>
            </a:r>
            <a:r>
              <a:rPr lang="en-US" altLang="zh-CN" sz="1800" dirty="0" err="1">
                <a:solidFill>
                  <a:srgbClr val="006600"/>
                </a:solidFill>
                <a:latin typeface="Arial" panose="020B0604020202020204" pitchFamily="34" charset="0"/>
                <a:ea typeface="黑体" panose="02010609060101010101" pitchFamily="49" charset="-122"/>
              </a:rPr>
              <a:t>MemtoReg</a:t>
            </a:r>
            <a:r>
              <a:rPr lang="en-US" altLang="zh-CN" sz="1800">
                <a:solidFill>
                  <a:srgbClr val="006600"/>
                </a:solidFill>
                <a:latin typeface="Arial" panose="020B0604020202020204" pitchFamily="34" charset="0"/>
                <a:ea typeface="黑体" panose="02010609060101010101" pitchFamily="49" charset="-122"/>
              </a:rPr>
              <a:t>, Branch, Jump</a:t>
            </a:r>
            <a:r>
              <a:rPr lang="zh-CN" altLang="en-US" sz="1800" dirty="0">
                <a:solidFill>
                  <a:srgbClr val="006600"/>
                </a:solidFill>
                <a:latin typeface="Arial" panose="020B0604020202020204" pitchFamily="34" charset="0"/>
                <a:ea typeface="黑体" panose="02010609060101010101" pitchFamily="49" charset="-122"/>
              </a:rPr>
              <a:t> 各取何值？</a:t>
            </a:r>
            <a:endParaRPr lang="zh-CN" altLang="en-US" sz="1800" dirty="0">
              <a:solidFill>
                <a:srgbClr val="006600"/>
              </a:solidFill>
              <a:latin typeface="Arial" panose="020B0604020202020204" pitchFamily="34" charset="0"/>
              <a:ea typeface="黑体" panose="02010609060101010101" pitchFamily="49" charset="-122"/>
            </a:endParaRPr>
          </a:p>
        </p:txBody>
      </p:sp>
      <p:sp>
        <p:nvSpPr>
          <p:cNvPr id="235649" name="文本框 235648"/>
          <p:cNvSpPr txBox="1"/>
          <p:nvPr/>
        </p:nvSpPr>
        <p:spPr>
          <a:xfrm>
            <a:off x="306388" y="5934075"/>
            <a:ext cx="8636000" cy="641350"/>
          </a:xfrm>
          <a:prstGeom prst="rect">
            <a:avLst/>
          </a:prstGeom>
          <a:noFill/>
          <a:ln w="50800">
            <a:noFill/>
          </a:ln>
        </p:spPr>
        <p:txBody>
          <a:bodyPr anchor="t" anchorCtr="0">
            <a:spAutoFit/>
          </a:bodyPr>
          <a:p>
            <a:pPr>
              <a:spcBef>
                <a:spcPct val="50000"/>
              </a:spcBef>
            </a:pPr>
            <a:r>
              <a:rPr lang="en-US" altLang="zh-CN" sz="1800" dirty="0" err="1">
                <a:solidFill>
                  <a:schemeClr val="accent2"/>
                </a:solidFill>
                <a:latin typeface="Arial" panose="020B0604020202020204" pitchFamily="34" charset="0"/>
                <a:ea typeface="黑体" panose="02010609060101010101" pitchFamily="49" charset="-122"/>
              </a:rPr>
              <a:t>RegDst</a:t>
            </a:r>
            <a:r>
              <a:rPr lang="en-US" altLang="zh-CN" sz="1800">
                <a:solidFill>
                  <a:schemeClr val="accent2"/>
                </a:solidFill>
                <a:latin typeface="Arial" panose="020B0604020202020204" pitchFamily="34" charset="0"/>
                <a:ea typeface="黑体" panose="02010609060101010101" pitchFamily="49" charset="-122"/>
              </a:rPr>
              <a:t>=</a:t>
            </a:r>
            <a:r>
              <a:rPr lang="en-US" altLang="zh-CN" sz="1800" dirty="0" err="1">
                <a:solidFill>
                  <a:schemeClr val="accent2"/>
                </a:solidFill>
                <a:latin typeface="Arial" panose="020B0604020202020204" pitchFamily="34" charset="0"/>
                <a:ea typeface="黑体" panose="02010609060101010101" pitchFamily="49" charset="-122"/>
              </a:rPr>
              <a:t>ExtOp</a:t>
            </a:r>
            <a:r>
              <a:rPr lang="en-US" altLang="zh-CN" sz="1800">
                <a:solidFill>
                  <a:schemeClr val="accent2"/>
                </a:solidFill>
                <a:latin typeface="Arial" panose="020B0604020202020204" pitchFamily="34" charset="0"/>
                <a:ea typeface="黑体" panose="02010609060101010101" pitchFamily="49" charset="-122"/>
              </a:rPr>
              <a:t>=</a:t>
            </a:r>
            <a:r>
              <a:rPr lang="en-US" altLang="zh-CN" sz="1800" dirty="0" err="1">
                <a:solidFill>
                  <a:schemeClr val="accent2"/>
                </a:solidFill>
                <a:latin typeface="Arial" panose="020B0604020202020204" pitchFamily="34" charset="0"/>
                <a:ea typeface="黑体" panose="02010609060101010101" pitchFamily="49" charset="-122"/>
              </a:rPr>
              <a:t>ALUSrc</a:t>
            </a:r>
            <a:r>
              <a:rPr lang="en-US" altLang="zh-CN" sz="1800">
                <a:solidFill>
                  <a:schemeClr val="accent2"/>
                </a:solidFill>
                <a:latin typeface="Arial" panose="020B0604020202020204" pitchFamily="34" charset="0"/>
                <a:ea typeface="黑体" panose="02010609060101010101" pitchFamily="49" charset="-122"/>
              </a:rPr>
              <a:t>=</a:t>
            </a:r>
            <a:r>
              <a:rPr lang="en-US" altLang="zh-CN" sz="1800" dirty="0" err="1">
                <a:solidFill>
                  <a:schemeClr val="accent2"/>
                </a:solidFill>
                <a:latin typeface="Arial" panose="020B0604020202020204" pitchFamily="34" charset="0"/>
                <a:ea typeface="黑体" panose="02010609060101010101" pitchFamily="49" charset="-122"/>
              </a:rPr>
              <a:t>MemtoReg</a:t>
            </a:r>
            <a:r>
              <a:rPr lang="en-US" altLang="zh-CN" sz="1800">
                <a:solidFill>
                  <a:schemeClr val="accent2"/>
                </a:solidFill>
                <a:latin typeface="Arial" panose="020B0604020202020204" pitchFamily="34" charset="0"/>
                <a:ea typeface="黑体" panose="02010609060101010101" pitchFamily="49" charset="-122"/>
              </a:rPr>
              <a:t>=</a:t>
            </a:r>
            <a:r>
              <a:rPr lang="en-US" altLang="zh-CN" sz="1800" dirty="0" err="1">
                <a:solidFill>
                  <a:schemeClr val="accent2"/>
                </a:solidFill>
                <a:latin typeface="Arial" panose="020B0604020202020204" pitchFamily="34" charset="0"/>
                <a:ea typeface="黑体" panose="02010609060101010101" pitchFamily="49" charset="-122"/>
              </a:rPr>
              <a:t>ALUctr</a:t>
            </a:r>
            <a:r>
              <a:rPr lang="en-US" altLang="zh-CN" sz="1800">
                <a:solidFill>
                  <a:schemeClr val="accent2"/>
                </a:solidFill>
                <a:latin typeface="Arial" panose="020B0604020202020204" pitchFamily="34" charset="0"/>
                <a:ea typeface="黑体" panose="02010609060101010101" pitchFamily="49" charset="-122"/>
              </a:rPr>
              <a:t>=x,</a:t>
            </a:r>
            <a:r>
              <a:rPr lang="en-US" altLang="zh-CN" sz="1800">
                <a:latin typeface="Arial" panose="020B0604020202020204" pitchFamily="34" charset="0"/>
                <a:ea typeface="黑体" panose="02010609060101010101" pitchFamily="49" charset="-122"/>
              </a:rPr>
              <a:t> </a:t>
            </a:r>
            <a:r>
              <a:rPr lang="en-US" altLang="zh-CN" sz="1800" dirty="0" err="1">
                <a:solidFill>
                  <a:schemeClr val="accent2"/>
                </a:solidFill>
                <a:latin typeface="Arial" panose="020B0604020202020204" pitchFamily="34" charset="0"/>
                <a:ea typeface="黑体" panose="02010609060101010101" pitchFamily="49" charset="-122"/>
              </a:rPr>
              <a:t>RegWr</a:t>
            </a:r>
            <a:r>
              <a:rPr lang="en-US" altLang="zh-CN" sz="1800">
                <a:solidFill>
                  <a:schemeClr val="accent2"/>
                </a:solidFill>
                <a:latin typeface="Arial" panose="020B0604020202020204" pitchFamily="34" charset="0"/>
                <a:ea typeface="黑体" panose="02010609060101010101" pitchFamily="49" charset="-122"/>
              </a:rPr>
              <a:t>=0,</a:t>
            </a:r>
            <a:r>
              <a:rPr lang="en-US" altLang="zh-CN" sz="1800">
                <a:latin typeface="Arial" panose="020B0604020202020204" pitchFamily="34" charset="0"/>
                <a:ea typeface="黑体" panose="02010609060101010101" pitchFamily="49" charset="-122"/>
              </a:rPr>
              <a:t> </a:t>
            </a:r>
            <a:r>
              <a:rPr lang="en-US" altLang="zh-CN" sz="1800" dirty="0" err="1">
                <a:solidFill>
                  <a:schemeClr val="accent2"/>
                </a:solidFill>
                <a:latin typeface="Arial" panose="020B0604020202020204" pitchFamily="34" charset="0"/>
                <a:ea typeface="黑体" panose="02010609060101010101" pitchFamily="49" charset="-122"/>
              </a:rPr>
              <a:t>MemWr</a:t>
            </a:r>
            <a:r>
              <a:rPr lang="en-US" altLang="zh-CN" sz="1800">
                <a:solidFill>
                  <a:schemeClr val="accent2"/>
                </a:solidFill>
                <a:latin typeface="Arial" panose="020B0604020202020204" pitchFamily="34" charset="0"/>
                <a:ea typeface="黑体" panose="02010609060101010101" pitchFamily="49" charset="-122"/>
              </a:rPr>
              <a:t>=0, Branch=0, Jump=1</a:t>
            </a:r>
            <a:endParaRPr lang="zh-CN" altLang="en-US" sz="1800" dirty="0">
              <a:solidFill>
                <a:schemeClr val="accent2"/>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35622"/>
                                        </p:tgtEl>
                                        <p:attrNameLst>
                                          <p:attrName>style.visibility</p:attrName>
                                        </p:attrNameLst>
                                      </p:cBhvr>
                                      <p:to>
                                        <p:strVal val="visible"/>
                                      </p:to>
                                    </p:set>
                                    <p:animEffect transition="in" filter="checkerboard(across)">
                                      <p:cBhvr>
                                        <p:cTn id="7" dur="500"/>
                                        <p:tgtEl>
                                          <p:spTgt spid="23562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35619"/>
                                        </p:tgtEl>
                                        <p:attrNameLst>
                                          <p:attrName>style.visibility</p:attrName>
                                        </p:attrNameLst>
                                      </p:cBhvr>
                                      <p:to>
                                        <p:strVal val="visible"/>
                                      </p:to>
                                    </p:set>
                                    <p:animEffect transition="in" filter="checkerboard(across)">
                                      <p:cBhvr>
                                        <p:cTn id="12" dur="500"/>
                                        <p:tgtEl>
                                          <p:spTgt spid="23561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235522"/>
                                        </p:tgtEl>
                                        <p:attrNameLst>
                                          <p:attrName>style.visibility</p:attrName>
                                        </p:attrNameLst>
                                      </p:cBhvr>
                                      <p:to>
                                        <p:strVal val="visible"/>
                                      </p:to>
                                    </p:set>
                                    <p:animEffect transition="in" filter="barn(outVertical)">
                                      <p:cBhvr>
                                        <p:cTn id="17" dur="500"/>
                                        <p:tgtEl>
                                          <p:spTgt spid="23552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35647"/>
                                        </p:tgtEl>
                                        <p:attrNameLst>
                                          <p:attrName>style.visibility</p:attrName>
                                        </p:attrNameLst>
                                      </p:cBhvr>
                                      <p:to>
                                        <p:strVal val="visible"/>
                                      </p:to>
                                    </p:set>
                                    <p:animEffect transition="in" filter="checkerboard(across)">
                                      <p:cBhvr>
                                        <p:cTn id="22" dur="500"/>
                                        <p:tgtEl>
                                          <p:spTgt spid="23564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5648"/>
                                        </p:tgtEl>
                                        <p:attrNameLst>
                                          <p:attrName>style.visibility</p:attrName>
                                        </p:attrNameLst>
                                      </p:cBhvr>
                                      <p:to>
                                        <p:strVal val="visible"/>
                                      </p:to>
                                    </p:set>
                                    <p:animEffect transition="in" filter="blinds(horizontal)">
                                      <p:cBhvr>
                                        <p:cTn id="27" dur="500"/>
                                        <p:tgtEl>
                                          <p:spTgt spid="235648"/>
                                        </p:tgtEl>
                                      </p:cBhvr>
                                    </p:animEffect>
                                  </p:childTnLst>
                                  <p:subTnLst>
                                    <p:set>
                                      <p:cBhvr override="childStyle">
                                        <p:cTn dur="1" fill="hold" display="0" masterRel="nextClick" afterEffect="1"/>
                                        <p:tgtEl>
                                          <p:spTgt spid="235648"/>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5649"/>
                                        </p:tgtEl>
                                        <p:attrNameLst>
                                          <p:attrName>style.visibility</p:attrName>
                                        </p:attrNameLst>
                                      </p:cBhvr>
                                      <p:to>
                                        <p:strVal val="visible"/>
                                      </p:to>
                                    </p:set>
                                    <p:animEffect transition="in" filter="blinds(horizontal)">
                                      <p:cBhvr>
                                        <p:cTn id="32" dur="500"/>
                                        <p:tgtEl>
                                          <p:spTgt spid="235649"/>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35646"/>
                                        </p:tgtEl>
                                        <p:attrNameLst>
                                          <p:attrName>style.visibility</p:attrName>
                                        </p:attrNameLst>
                                      </p:cBhvr>
                                      <p:to>
                                        <p:strVal val="visible"/>
                                      </p:to>
                                    </p:set>
                                    <p:animEffect transition="in" filter="checkerboard(across)">
                                      <p:cBhvr>
                                        <p:cTn id="37" dur="500"/>
                                        <p:tgtEl>
                                          <p:spTgt spid="235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46" grpId="0"/>
      <p:bldP spid="235647" grpId="0"/>
      <p:bldP spid="235648" grpId="0"/>
      <p:bldP spid="23564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237569"/>
          <p:cNvSpPr>
            <a:spLocks noGrp="1"/>
          </p:cNvSpPr>
          <p:nvPr>
            <p:ph type="title"/>
          </p:nvPr>
        </p:nvSpPr>
        <p:spPr>
          <a:xfrm>
            <a:off x="622300" y="152400"/>
            <a:ext cx="8343900" cy="425450"/>
          </a:xfrm>
          <a:ln/>
        </p:spPr>
        <p:txBody>
          <a:bodyPr vert="horz" wrap="square" lIns="63500" tIns="25400" rIns="63500" bIns="25400" anchor="t" anchorCtr="0">
            <a:spAutoFit/>
          </a:bodyPr>
          <a:p>
            <a:r>
              <a:rPr lang="en-US" altLang="zh-CN" sz="2800">
                <a:ea typeface="宋体" panose="02010600030101010101" pitchFamily="2" charset="-122"/>
              </a:rPr>
              <a:t>The MIPS Subset(</a:t>
            </a:r>
            <a:r>
              <a:rPr lang="zh-CN" altLang="en-US" sz="2800" dirty="0">
                <a:ea typeface="宋体" panose="02010600030101010101" pitchFamily="2" charset="-122"/>
              </a:rPr>
              <a:t>考察实现以下指令的数据通路</a:t>
            </a:r>
            <a:r>
              <a:rPr lang="en-US" altLang="zh-CN" sz="2800">
                <a:ea typeface="宋体" panose="02010600030101010101" pitchFamily="2" charset="-122"/>
              </a:rPr>
              <a:t>)</a:t>
            </a:r>
            <a:endParaRPr lang="en-US" altLang="zh-CN" sz="2800">
              <a:ea typeface="宋体" panose="02010600030101010101" pitchFamily="2" charset="-122"/>
            </a:endParaRPr>
          </a:p>
        </p:txBody>
      </p:sp>
      <p:sp>
        <p:nvSpPr>
          <p:cNvPr id="95234" name="文本占位符 237570"/>
          <p:cNvSpPr>
            <a:spLocks noGrp="1"/>
          </p:cNvSpPr>
          <p:nvPr>
            <p:ph idx="1"/>
          </p:nvPr>
        </p:nvSpPr>
        <p:spPr>
          <a:xfrm>
            <a:off x="481013" y="1163638"/>
            <a:ext cx="8191500" cy="4411662"/>
          </a:xfrm>
          <a:ln/>
        </p:spPr>
        <p:txBody>
          <a:bodyPr vert="horz" wrap="square" lIns="63500" tIns="25400" rIns="63500" bIns="25400" anchor="t" anchorCtr="0">
            <a:spAutoFit/>
          </a:bodyPr>
          <a:p>
            <a:r>
              <a:rPr lang="en-US" altLang="zh-CN">
                <a:ea typeface="宋体" panose="02010600030101010101" pitchFamily="2" charset="-122"/>
              </a:rPr>
              <a:t>ADD and subtract</a:t>
            </a:r>
            <a:endParaRPr lang="en-US" altLang="zh-CN">
              <a:ea typeface="宋体" panose="02010600030101010101" pitchFamily="2" charset="-122"/>
            </a:endParaRPr>
          </a:p>
          <a:p>
            <a:pPr lvl="1"/>
            <a:r>
              <a:rPr lang="en-US" altLang="zh-CN">
                <a:ea typeface="宋体" panose="02010600030101010101" pitchFamily="2" charset="-122"/>
              </a:rPr>
              <a:t>add rd,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endParaRPr lang="en-US" altLang="zh-CN">
              <a:ea typeface="宋体" panose="02010600030101010101" pitchFamily="2" charset="-122"/>
            </a:endParaRPr>
          </a:p>
          <a:p>
            <a:pPr lvl="1"/>
            <a:r>
              <a:rPr lang="en-US" altLang="zh-CN">
                <a:ea typeface="宋体" panose="02010600030101010101" pitchFamily="2" charset="-122"/>
              </a:rPr>
              <a:t>sub rd,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endParaRPr lang="en-US" altLang="zh-CN">
              <a:ea typeface="宋体" panose="02010600030101010101" pitchFamily="2" charset="-122"/>
            </a:endParaRPr>
          </a:p>
          <a:p>
            <a:r>
              <a:rPr lang="en-US" altLang="zh-CN">
                <a:ea typeface="宋体" panose="02010600030101010101" pitchFamily="2" charset="-122"/>
              </a:rPr>
              <a:t>OR Immediate:</a:t>
            </a:r>
            <a:endParaRPr lang="en-US" altLang="zh-CN">
              <a:ea typeface="宋体" panose="02010600030101010101" pitchFamily="2" charset="-122"/>
            </a:endParaRPr>
          </a:p>
          <a:p>
            <a:pPr lvl="1"/>
            <a:r>
              <a:rPr lang="en-US" altLang="zh-CN" dirty="0" err="1">
                <a:ea typeface="宋体" panose="02010600030101010101" pitchFamily="2" charset="-122"/>
              </a:rPr>
              <a:t>ori</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LOAD and STORE</a:t>
            </a:r>
            <a:endParaRPr lang="en-US" altLang="zh-CN">
              <a:ea typeface="宋体" panose="02010600030101010101" pitchFamily="2" charset="-122"/>
            </a:endParaRPr>
          </a:p>
          <a:p>
            <a:pPr lvl="1"/>
            <a:r>
              <a:rPr lang="en-US" altLang="zh-CN" dirty="0" err="1">
                <a:ea typeface="宋体" panose="02010600030101010101" pitchFamily="2" charset="-122"/>
              </a:rPr>
              <a:t>lw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pPr lvl="1"/>
            <a:r>
              <a:rPr lang="en-US" altLang="zh-CN" dirty="0" err="1">
                <a:ea typeface="宋体" panose="02010600030101010101" pitchFamily="2" charset="-122"/>
              </a:rPr>
              <a:t>sw</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BRANCH:</a:t>
            </a:r>
            <a:endParaRPr lang="en-US" altLang="zh-CN">
              <a:ea typeface="宋体" panose="02010600030101010101" pitchFamily="2" charset="-122"/>
            </a:endParaRPr>
          </a:p>
          <a:p>
            <a:pPr lvl="1"/>
            <a:r>
              <a:rPr lang="en-US" altLang="zh-CN" dirty="0" err="1">
                <a:ea typeface="宋体" panose="02010600030101010101" pitchFamily="2" charset="-122"/>
              </a:rPr>
              <a:t>beq</a:t>
            </a:r>
            <a:r>
              <a:rPr lang="en-US" altLang="zh-CN">
                <a:ea typeface="宋体" panose="02010600030101010101" pitchFamily="2" charset="-122"/>
              </a:rPr>
              <a:t> </a:t>
            </a:r>
            <a:r>
              <a:rPr lang="en-US" altLang="zh-CN" dirty="0" err="1">
                <a:ea typeface="宋体" panose="02010600030101010101" pitchFamily="2" charset="-122"/>
              </a:rPr>
              <a:t>rs</a:t>
            </a:r>
            <a:r>
              <a:rPr lang="en-US" altLang="zh-CN">
                <a:ea typeface="宋体" panose="02010600030101010101" pitchFamily="2" charset="-122"/>
              </a:rPr>
              <a:t>, </a:t>
            </a:r>
            <a:r>
              <a:rPr lang="en-US" altLang="zh-CN" dirty="0" err="1">
                <a:ea typeface="宋体" panose="02010600030101010101" pitchFamily="2" charset="-122"/>
              </a:rPr>
              <a:t>rt</a:t>
            </a:r>
            <a:r>
              <a:rPr lang="en-US" altLang="zh-CN">
                <a:ea typeface="宋体" panose="02010600030101010101" pitchFamily="2" charset="-122"/>
              </a:rPr>
              <a:t>, imm16</a:t>
            </a:r>
            <a:endParaRPr lang="en-US" altLang="zh-CN">
              <a:ea typeface="宋体" panose="02010600030101010101" pitchFamily="2" charset="-122"/>
            </a:endParaRPr>
          </a:p>
          <a:p>
            <a:r>
              <a:rPr lang="en-US" altLang="zh-CN">
                <a:ea typeface="宋体" panose="02010600030101010101" pitchFamily="2" charset="-122"/>
              </a:rPr>
              <a:t>JUMP:</a:t>
            </a:r>
            <a:endParaRPr lang="en-US" altLang="zh-CN">
              <a:ea typeface="宋体" panose="02010600030101010101" pitchFamily="2" charset="-122"/>
            </a:endParaRPr>
          </a:p>
          <a:p>
            <a:pPr lvl="1"/>
            <a:r>
              <a:rPr lang="en-US" altLang="zh-CN">
                <a:ea typeface="宋体" panose="02010600030101010101" pitchFamily="2" charset="-122"/>
              </a:rPr>
              <a:t>j  target</a:t>
            </a:r>
            <a:endParaRPr lang="en-US" altLang="zh-CN">
              <a:ea typeface="宋体" panose="02010600030101010101" pitchFamily="2" charset="-122"/>
            </a:endParaRPr>
          </a:p>
        </p:txBody>
      </p:sp>
      <p:sp>
        <p:nvSpPr>
          <p:cNvPr id="237642" name="文本框 237641"/>
          <p:cNvSpPr txBox="1"/>
          <p:nvPr/>
        </p:nvSpPr>
        <p:spPr>
          <a:xfrm>
            <a:off x="411163" y="5994400"/>
            <a:ext cx="8418512" cy="427038"/>
          </a:xfrm>
          <a:prstGeom prst="rect">
            <a:avLst/>
          </a:prstGeom>
          <a:noFill/>
          <a:ln w="25400">
            <a:noFill/>
          </a:ln>
        </p:spPr>
        <p:txBody>
          <a:bodyPr anchor="t" anchorCtr="0">
            <a:spAutoFit/>
          </a:bodyPr>
          <a:p>
            <a:pPr>
              <a:spcBef>
                <a:spcPct val="50000"/>
              </a:spcBef>
            </a:pPr>
            <a:r>
              <a:rPr lang="zh-CN" altLang="en-US" sz="2200" dirty="0">
                <a:solidFill>
                  <a:srgbClr val="CC0000"/>
                </a:solidFill>
                <a:latin typeface="Times New Roman" panose="02020603050405020304" pitchFamily="18" charset="0"/>
                <a:ea typeface="黑体" panose="02010609060101010101" pitchFamily="49" charset="-122"/>
              </a:rPr>
              <a:t>所有指令的数据通路都已设计好，合起来的数据通路是什么样的？</a:t>
            </a:r>
            <a:endParaRPr lang="zh-CN" altLang="en-US" sz="2200" dirty="0">
              <a:solidFill>
                <a:srgbClr val="CC0000"/>
              </a:solidFill>
              <a:latin typeface="Times New Roman" panose="02020603050405020304" pitchFamily="18" charset="0"/>
              <a:ea typeface="黑体" panose="02010609060101010101" pitchFamily="49" charset="-122"/>
            </a:endParaRPr>
          </a:p>
        </p:txBody>
      </p:sp>
      <p:grpSp>
        <p:nvGrpSpPr>
          <p:cNvPr id="95236" name="组合 237643"/>
          <p:cNvGrpSpPr/>
          <p:nvPr/>
        </p:nvGrpSpPr>
        <p:grpSpPr>
          <a:xfrm>
            <a:off x="3068638" y="2266950"/>
            <a:ext cx="5999162" cy="989013"/>
            <a:chOff x="1918" y="1392"/>
            <a:chExt cx="3763" cy="607"/>
          </a:xfrm>
        </p:grpSpPr>
        <p:sp>
          <p:nvSpPr>
            <p:cNvPr id="95237" name="矩形 237644"/>
            <p:cNvSpPr/>
            <p:nvPr/>
          </p:nvSpPr>
          <p:spPr>
            <a:xfrm>
              <a:off x="1983" y="159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95238" name="组合 237645"/>
            <p:cNvGrpSpPr/>
            <p:nvPr/>
          </p:nvGrpSpPr>
          <p:grpSpPr>
            <a:xfrm>
              <a:off x="1979" y="1584"/>
              <a:ext cx="624" cy="223"/>
              <a:chOff x="1979" y="1584"/>
              <a:chExt cx="624" cy="223"/>
            </a:xfrm>
          </p:grpSpPr>
          <p:sp>
            <p:nvSpPr>
              <p:cNvPr id="95239" name="矩形 237646"/>
              <p:cNvSpPr/>
              <p:nvPr/>
            </p:nvSpPr>
            <p:spPr>
              <a:xfrm>
                <a:off x="1979" y="158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40" name="矩形 237647"/>
              <p:cNvSpPr/>
              <p:nvPr/>
            </p:nvSpPr>
            <p:spPr>
              <a:xfrm>
                <a:off x="2161" y="1584"/>
                <a:ext cx="289"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95241" name="组合 237648"/>
            <p:cNvGrpSpPr/>
            <p:nvPr/>
          </p:nvGrpSpPr>
          <p:grpSpPr>
            <a:xfrm>
              <a:off x="2611" y="1584"/>
              <a:ext cx="580" cy="223"/>
              <a:chOff x="2611" y="1584"/>
              <a:chExt cx="580" cy="223"/>
            </a:xfrm>
          </p:grpSpPr>
          <p:sp>
            <p:nvSpPr>
              <p:cNvPr id="95242" name="矩形 237649"/>
              <p:cNvSpPr/>
              <p:nvPr/>
            </p:nvSpPr>
            <p:spPr>
              <a:xfrm>
                <a:off x="2611" y="158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43" name="矩形 237650"/>
              <p:cNvSpPr/>
              <p:nvPr/>
            </p:nvSpPr>
            <p:spPr>
              <a:xfrm>
                <a:off x="2776" y="1584"/>
                <a:ext cx="250"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95244" name="组合 237651"/>
            <p:cNvGrpSpPr/>
            <p:nvPr/>
          </p:nvGrpSpPr>
          <p:grpSpPr>
            <a:xfrm>
              <a:off x="3199" y="1584"/>
              <a:ext cx="579" cy="223"/>
              <a:chOff x="3199" y="1584"/>
              <a:chExt cx="579" cy="223"/>
            </a:xfrm>
          </p:grpSpPr>
          <p:sp>
            <p:nvSpPr>
              <p:cNvPr id="95245" name="矩形 237652"/>
              <p:cNvSpPr/>
              <p:nvPr/>
            </p:nvSpPr>
            <p:spPr>
              <a:xfrm>
                <a:off x="3199" y="158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46" name="矩形 237653"/>
              <p:cNvSpPr/>
              <p:nvPr/>
            </p:nvSpPr>
            <p:spPr>
              <a:xfrm>
                <a:off x="3363" y="1584"/>
                <a:ext cx="217" cy="223"/>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95247" name="矩形 237654"/>
            <p:cNvSpPr/>
            <p:nvPr/>
          </p:nvSpPr>
          <p:spPr>
            <a:xfrm>
              <a:off x="3786" y="1588"/>
              <a:ext cx="180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48" name="矩形 237655"/>
            <p:cNvSpPr/>
            <p:nvPr/>
          </p:nvSpPr>
          <p:spPr>
            <a:xfrm>
              <a:off x="4289" y="1584"/>
              <a:ext cx="822" cy="223"/>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95249" name="矩形 237656"/>
            <p:cNvSpPr/>
            <p:nvPr/>
          </p:nvSpPr>
          <p:spPr>
            <a:xfrm>
              <a:off x="5488" y="1392"/>
              <a:ext cx="19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95250" name="矩形 237657"/>
            <p:cNvSpPr/>
            <p:nvPr/>
          </p:nvSpPr>
          <p:spPr>
            <a:xfrm>
              <a:off x="3590"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95251" name="矩形 237658"/>
            <p:cNvSpPr/>
            <p:nvPr/>
          </p:nvSpPr>
          <p:spPr>
            <a:xfrm>
              <a:off x="3002"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95252" name="矩形 237659"/>
            <p:cNvSpPr/>
            <p:nvPr/>
          </p:nvSpPr>
          <p:spPr>
            <a:xfrm>
              <a:off x="2414"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95253" name="矩形 237660"/>
            <p:cNvSpPr/>
            <p:nvPr/>
          </p:nvSpPr>
          <p:spPr>
            <a:xfrm>
              <a:off x="1918" y="1392"/>
              <a:ext cx="273"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95254" name="矩形 237661"/>
            <p:cNvSpPr/>
            <p:nvPr/>
          </p:nvSpPr>
          <p:spPr>
            <a:xfrm>
              <a:off x="2143" y="1776"/>
              <a:ext cx="48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255" name="矩形 237662"/>
            <p:cNvSpPr/>
            <p:nvPr/>
          </p:nvSpPr>
          <p:spPr>
            <a:xfrm>
              <a:off x="4448" y="1776"/>
              <a:ext cx="568"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256" name="矩形 237663"/>
            <p:cNvSpPr/>
            <p:nvPr/>
          </p:nvSpPr>
          <p:spPr>
            <a:xfrm>
              <a:off x="3318" y="1776"/>
              <a:ext cx="490" cy="223"/>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257" name="矩形 237664"/>
            <p:cNvSpPr/>
            <p:nvPr/>
          </p:nvSpPr>
          <p:spPr>
            <a:xfrm>
              <a:off x="2731" y="1776"/>
              <a:ext cx="480" cy="223"/>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95258" name="组合 237665"/>
          <p:cNvGrpSpPr/>
          <p:nvPr/>
        </p:nvGrpSpPr>
        <p:grpSpPr>
          <a:xfrm>
            <a:off x="3238500" y="990600"/>
            <a:ext cx="5905500" cy="973138"/>
            <a:chOff x="1918" y="672"/>
            <a:chExt cx="3767" cy="613"/>
          </a:xfrm>
        </p:grpSpPr>
        <p:grpSp>
          <p:nvGrpSpPr>
            <p:cNvPr id="95259" name="组合 237666"/>
            <p:cNvGrpSpPr/>
            <p:nvPr/>
          </p:nvGrpSpPr>
          <p:grpSpPr>
            <a:xfrm>
              <a:off x="1918" y="672"/>
              <a:ext cx="3767" cy="421"/>
              <a:chOff x="1918" y="672"/>
              <a:chExt cx="3767" cy="421"/>
            </a:xfrm>
          </p:grpSpPr>
          <p:grpSp>
            <p:nvGrpSpPr>
              <p:cNvPr id="95260" name="组合 237667"/>
              <p:cNvGrpSpPr/>
              <p:nvPr/>
            </p:nvGrpSpPr>
            <p:grpSpPr>
              <a:xfrm>
                <a:off x="1979" y="864"/>
                <a:ext cx="3607" cy="229"/>
                <a:chOff x="1979" y="864"/>
                <a:chExt cx="3607" cy="229"/>
              </a:xfrm>
            </p:grpSpPr>
            <p:sp>
              <p:nvSpPr>
                <p:cNvPr id="95261" name="矩形 237668"/>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95262" name="组合 237669"/>
                <p:cNvGrpSpPr/>
                <p:nvPr/>
              </p:nvGrpSpPr>
              <p:grpSpPr>
                <a:xfrm>
                  <a:off x="1979" y="864"/>
                  <a:ext cx="3607" cy="229"/>
                  <a:chOff x="1979" y="864"/>
                  <a:chExt cx="3607" cy="229"/>
                </a:xfrm>
              </p:grpSpPr>
              <p:grpSp>
                <p:nvGrpSpPr>
                  <p:cNvPr id="95263" name="组合 237670"/>
                  <p:cNvGrpSpPr/>
                  <p:nvPr/>
                </p:nvGrpSpPr>
                <p:grpSpPr>
                  <a:xfrm>
                    <a:off x="1979" y="864"/>
                    <a:ext cx="624" cy="229"/>
                    <a:chOff x="1979" y="864"/>
                    <a:chExt cx="624" cy="229"/>
                  </a:xfrm>
                </p:grpSpPr>
                <p:sp>
                  <p:nvSpPr>
                    <p:cNvPr id="95264" name="矩形 237671"/>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65" name="矩形 237672"/>
                    <p:cNvSpPr/>
                    <p:nvPr/>
                  </p:nvSpPr>
                  <p:spPr>
                    <a:xfrm>
                      <a:off x="2161" y="864"/>
                      <a:ext cx="294"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95266" name="组合 237673"/>
                  <p:cNvGrpSpPr/>
                  <p:nvPr/>
                </p:nvGrpSpPr>
                <p:grpSpPr>
                  <a:xfrm>
                    <a:off x="2611" y="864"/>
                    <a:ext cx="580" cy="229"/>
                    <a:chOff x="2611" y="864"/>
                    <a:chExt cx="580" cy="229"/>
                  </a:xfrm>
                </p:grpSpPr>
                <p:sp>
                  <p:nvSpPr>
                    <p:cNvPr id="95267" name="矩形 237674"/>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68" name="矩形 237675"/>
                    <p:cNvSpPr/>
                    <p:nvPr/>
                  </p:nvSpPr>
                  <p:spPr>
                    <a:xfrm>
                      <a:off x="2776" y="864"/>
                      <a:ext cx="253"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95269" name="组合 237676"/>
                  <p:cNvGrpSpPr/>
                  <p:nvPr/>
                </p:nvGrpSpPr>
                <p:grpSpPr>
                  <a:xfrm>
                    <a:off x="3199" y="864"/>
                    <a:ext cx="579" cy="229"/>
                    <a:chOff x="3199" y="864"/>
                    <a:chExt cx="579" cy="229"/>
                  </a:xfrm>
                </p:grpSpPr>
                <p:sp>
                  <p:nvSpPr>
                    <p:cNvPr id="95270" name="矩形 237677"/>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71" name="矩形 237678"/>
                    <p:cNvSpPr/>
                    <p:nvPr/>
                  </p:nvSpPr>
                  <p:spPr>
                    <a:xfrm>
                      <a:off x="3363" y="864"/>
                      <a:ext cx="221"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95272" name="组合 237679"/>
                  <p:cNvGrpSpPr/>
                  <p:nvPr/>
                </p:nvGrpSpPr>
                <p:grpSpPr>
                  <a:xfrm>
                    <a:off x="3786" y="864"/>
                    <a:ext cx="579" cy="229"/>
                    <a:chOff x="3786" y="864"/>
                    <a:chExt cx="579" cy="229"/>
                  </a:xfrm>
                </p:grpSpPr>
                <p:sp>
                  <p:nvSpPr>
                    <p:cNvPr id="95273" name="矩形 237680"/>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74" name="矩形 237681"/>
                    <p:cNvSpPr/>
                    <p:nvPr/>
                  </p:nvSpPr>
                  <p:spPr>
                    <a:xfrm>
                      <a:off x="3951" y="864"/>
                      <a:ext cx="262" cy="229"/>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95275" name="组合 237682"/>
                  <p:cNvGrpSpPr/>
                  <p:nvPr/>
                </p:nvGrpSpPr>
                <p:grpSpPr>
                  <a:xfrm>
                    <a:off x="4373" y="864"/>
                    <a:ext cx="620" cy="229"/>
                    <a:chOff x="4373" y="864"/>
                    <a:chExt cx="620" cy="229"/>
                  </a:xfrm>
                </p:grpSpPr>
                <p:sp>
                  <p:nvSpPr>
                    <p:cNvPr id="95276" name="矩形 237683"/>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77" name="矩形 237684"/>
                    <p:cNvSpPr/>
                    <p:nvPr/>
                  </p:nvSpPr>
                  <p:spPr>
                    <a:xfrm>
                      <a:off x="4448" y="864"/>
                      <a:ext cx="545"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95278" name="组合 237685"/>
                  <p:cNvGrpSpPr/>
                  <p:nvPr/>
                </p:nvGrpSpPr>
                <p:grpSpPr>
                  <a:xfrm>
                    <a:off x="4961" y="864"/>
                    <a:ext cx="625" cy="229"/>
                    <a:chOff x="4961" y="864"/>
                    <a:chExt cx="625" cy="229"/>
                  </a:xfrm>
                </p:grpSpPr>
                <p:sp>
                  <p:nvSpPr>
                    <p:cNvPr id="95279" name="矩形 237686"/>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80" name="矩形 237687"/>
                    <p:cNvSpPr/>
                    <p:nvPr/>
                  </p:nvSpPr>
                  <p:spPr>
                    <a:xfrm>
                      <a:off x="5143" y="864"/>
                      <a:ext cx="424" cy="229"/>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95281" name="矩形 237688"/>
              <p:cNvSpPr/>
              <p:nvPr/>
            </p:nvSpPr>
            <p:spPr>
              <a:xfrm>
                <a:off x="5488"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95282" name="矩形 237689"/>
              <p:cNvSpPr/>
              <p:nvPr/>
            </p:nvSpPr>
            <p:spPr>
              <a:xfrm>
                <a:off x="4810" y="672"/>
                <a:ext cx="1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95283" name="矩形 237690"/>
              <p:cNvSpPr/>
              <p:nvPr/>
            </p:nvSpPr>
            <p:spPr>
              <a:xfrm>
                <a:off x="4177"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95284" name="矩形 237691"/>
              <p:cNvSpPr/>
              <p:nvPr/>
            </p:nvSpPr>
            <p:spPr>
              <a:xfrm>
                <a:off x="3589"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95285" name="矩形 237692"/>
              <p:cNvSpPr/>
              <p:nvPr/>
            </p:nvSpPr>
            <p:spPr>
              <a:xfrm>
                <a:off x="3002"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95286" name="矩形 237693"/>
              <p:cNvSpPr/>
              <p:nvPr/>
            </p:nvSpPr>
            <p:spPr>
              <a:xfrm>
                <a:off x="2414"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95287" name="矩形 237694"/>
              <p:cNvSpPr/>
              <p:nvPr/>
            </p:nvSpPr>
            <p:spPr>
              <a:xfrm>
                <a:off x="1918" y="672"/>
                <a:ext cx="278"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95288" name="矩形 237695"/>
            <p:cNvSpPr/>
            <p:nvPr/>
          </p:nvSpPr>
          <p:spPr>
            <a:xfrm>
              <a:off x="2143" y="1056"/>
              <a:ext cx="496"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289" name="矩形 237696"/>
            <p:cNvSpPr/>
            <p:nvPr/>
          </p:nvSpPr>
          <p:spPr>
            <a:xfrm>
              <a:off x="512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290" name="矩形 237697"/>
            <p:cNvSpPr/>
            <p:nvPr/>
          </p:nvSpPr>
          <p:spPr>
            <a:xfrm>
              <a:off x="4493"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291" name="矩形 237698"/>
            <p:cNvSpPr/>
            <p:nvPr/>
          </p:nvSpPr>
          <p:spPr>
            <a:xfrm>
              <a:off x="3906" y="1056"/>
              <a:ext cx="497"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292" name="矩形 237699"/>
            <p:cNvSpPr/>
            <p:nvPr/>
          </p:nvSpPr>
          <p:spPr>
            <a:xfrm>
              <a:off x="3317" y="1056"/>
              <a:ext cx="490" cy="229"/>
            </a:xfrm>
            <a:prstGeom prst="rect">
              <a:avLst/>
            </a:prstGeom>
            <a:noFill/>
            <a:ln w="12700">
              <a:noFill/>
            </a:ln>
          </p:spPr>
          <p:txBody>
            <a:bodyPr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293" name="矩形 237700"/>
            <p:cNvSpPr/>
            <p:nvPr/>
          </p:nvSpPr>
          <p:spPr>
            <a:xfrm>
              <a:off x="2731" y="1056"/>
              <a:ext cx="489" cy="229"/>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grpSp>
        <p:nvGrpSpPr>
          <p:cNvPr id="95294" name="组合 237701"/>
          <p:cNvGrpSpPr/>
          <p:nvPr/>
        </p:nvGrpSpPr>
        <p:grpSpPr>
          <a:xfrm>
            <a:off x="3168650" y="4932363"/>
            <a:ext cx="5975350" cy="1012825"/>
            <a:chOff x="1918" y="3360"/>
            <a:chExt cx="3764" cy="599"/>
          </a:xfrm>
        </p:grpSpPr>
        <p:sp>
          <p:nvSpPr>
            <p:cNvPr id="95295" name="矩形 237702"/>
            <p:cNvSpPr/>
            <p:nvPr/>
          </p:nvSpPr>
          <p:spPr>
            <a:xfrm>
              <a:off x="1983" y="3560"/>
              <a:ext cx="3599" cy="176"/>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grpSp>
          <p:nvGrpSpPr>
            <p:cNvPr id="95296" name="组合 237703"/>
            <p:cNvGrpSpPr/>
            <p:nvPr/>
          </p:nvGrpSpPr>
          <p:grpSpPr>
            <a:xfrm>
              <a:off x="1979" y="3552"/>
              <a:ext cx="624" cy="216"/>
              <a:chOff x="1979" y="3552"/>
              <a:chExt cx="624" cy="216"/>
            </a:xfrm>
          </p:grpSpPr>
          <p:sp>
            <p:nvSpPr>
              <p:cNvPr id="95297" name="矩形 237704"/>
              <p:cNvSpPr/>
              <p:nvPr/>
            </p:nvSpPr>
            <p:spPr>
              <a:xfrm>
                <a:off x="1979" y="3556"/>
                <a:ext cx="624"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298" name="矩形 237705"/>
              <p:cNvSpPr/>
              <p:nvPr/>
            </p:nvSpPr>
            <p:spPr>
              <a:xfrm>
                <a:off x="2161" y="3552"/>
                <a:ext cx="290" cy="216"/>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95299" name="矩形 237706"/>
            <p:cNvSpPr/>
            <p:nvPr/>
          </p:nvSpPr>
          <p:spPr>
            <a:xfrm>
              <a:off x="2611" y="3556"/>
              <a:ext cx="2975" cy="184"/>
            </a:xfrm>
            <a:prstGeom prst="rect">
              <a:avLst/>
            </a:prstGeom>
            <a:noFill/>
            <a:ln w="127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5300" name="矩形 237707"/>
            <p:cNvSpPr/>
            <p:nvPr/>
          </p:nvSpPr>
          <p:spPr>
            <a:xfrm>
              <a:off x="3554" y="3552"/>
              <a:ext cx="1098" cy="215"/>
            </a:xfrm>
            <a:prstGeom prst="rect">
              <a:avLst/>
            </a:prstGeom>
            <a:noFill/>
            <a:ln w="12700">
              <a:noFill/>
            </a:ln>
          </p:spPr>
          <p:txBody>
            <a:bodyPr lIns="90488" tIns="44450" rIns="90488" bIns="44450" anchor="t" anchorCtr="0">
              <a:spAutoFit/>
            </a:bodyPr>
            <a:p>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95301" name="矩形 237708"/>
            <p:cNvSpPr/>
            <p:nvPr/>
          </p:nvSpPr>
          <p:spPr>
            <a:xfrm>
              <a:off x="5488" y="3360"/>
              <a:ext cx="19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95302" name="矩形 237709"/>
            <p:cNvSpPr/>
            <p:nvPr/>
          </p:nvSpPr>
          <p:spPr>
            <a:xfrm>
              <a:off x="2414"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95303" name="矩形 237710"/>
            <p:cNvSpPr/>
            <p:nvPr/>
          </p:nvSpPr>
          <p:spPr>
            <a:xfrm>
              <a:off x="1918" y="3360"/>
              <a:ext cx="274"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95304" name="矩形 237711"/>
            <p:cNvSpPr/>
            <p:nvPr/>
          </p:nvSpPr>
          <p:spPr>
            <a:xfrm>
              <a:off x="2143" y="3744"/>
              <a:ext cx="482"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6</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95305" name="矩形 237712"/>
            <p:cNvSpPr/>
            <p:nvPr/>
          </p:nvSpPr>
          <p:spPr>
            <a:xfrm>
              <a:off x="3816" y="3744"/>
              <a:ext cx="570" cy="215"/>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26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7642"/>
                                        </p:tgtEl>
                                        <p:attrNameLst>
                                          <p:attrName>style.visibility</p:attrName>
                                        </p:attrNameLst>
                                      </p:cBhvr>
                                      <p:to>
                                        <p:strVal val="visible"/>
                                      </p:to>
                                    </p:set>
                                    <p:animEffect transition="in" filter="checkerboard(across)">
                                      <p:cBhvr>
                                        <p:cTn id="7" dur="500"/>
                                        <p:tgtEl>
                                          <p:spTgt spid="237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64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标题 239617"/>
          <p:cNvSpPr>
            <a:spLocks noGrp="1"/>
          </p:cNvSpPr>
          <p:nvPr>
            <p:ph type="title"/>
          </p:nvPr>
        </p:nvSpPr>
        <p:spPr>
          <a:xfrm>
            <a:off x="831850" y="207963"/>
            <a:ext cx="8080375" cy="425450"/>
          </a:xfrm>
          <a:ln/>
        </p:spPr>
        <p:txBody>
          <a:bodyPr vert="horz" wrap="none" lIns="63500" tIns="25400" rIns="63500" bIns="25400" anchor="t" anchorCtr="0">
            <a:spAutoFit/>
          </a:bodyPr>
          <a:p>
            <a:r>
              <a:rPr lang="en-US" altLang="zh-CN" sz="2800">
                <a:ea typeface="宋体" panose="02010600030101010101" pitchFamily="2" charset="-122"/>
              </a:rPr>
              <a:t>Putting it All Together: A Single Cycle </a:t>
            </a:r>
            <a:r>
              <a:rPr lang="en-US" altLang="zh-CN" sz="2800" dirty="0" err="1">
                <a:ea typeface="宋体" panose="02010600030101010101" pitchFamily="2" charset="-122"/>
              </a:rPr>
              <a:t>Datapath</a:t>
            </a:r>
            <a:endParaRPr lang="en-US" altLang="zh-CN" sz="2800">
              <a:ea typeface="宋体" panose="02010600030101010101" pitchFamily="2" charset="-122"/>
            </a:endParaRPr>
          </a:p>
        </p:txBody>
      </p:sp>
      <p:grpSp>
        <p:nvGrpSpPr>
          <p:cNvPr id="97282" name="组合 239618"/>
          <p:cNvGrpSpPr/>
          <p:nvPr/>
        </p:nvGrpSpPr>
        <p:grpSpPr>
          <a:xfrm>
            <a:off x="5029200" y="2770188"/>
            <a:ext cx="457200" cy="1136650"/>
            <a:chOff x="3168" y="2302"/>
            <a:chExt cx="288" cy="716"/>
          </a:xfrm>
        </p:grpSpPr>
        <p:sp>
          <p:nvSpPr>
            <p:cNvPr id="97283" name="直接连接符 239619"/>
            <p:cNvSpPr/>
            <p:nvPr/>
          </p:nvSpPr>
          <p:spPr>
            <a:xfrm>
              <a:off x="3168" y="2302"/>
              <a:ext cx="0" cy="163"/>
            </a:xfrm>
            <a:prstGeom prst="line">
              <a:avLst/>
            </a:prstGeom>
            <a:ln w="25400" cap="flat" cmpd="sng">
              <a:solidFill>
                <a:schemeClr val="tx1"/>
              </a:solidFill>
              <a:prstDash val="solid"/>
              <a:round/>
              <a:headEnd type="none" w="med" len="med"/>
              <a:tailEnd type="none" w="med" len="med"/>
            </a:ln>
          </p:spPr>
        </p:sp>
        <p:sp>
          <p:nvSpPr>
            <p:cNvPr id="97284" name="直接连接符 239620"/>
            <p:cNvSpPr/>
            <p:nvPr/>
          </p:nvSpPr>
          <p:spPr>
            <a:xfrm>
              <a:off x="3176" y="2302"/>
              <a:ext cx="272" cy="163"/>
            </a:xfrm>
            <a:prstGeom prst="line">
              <a:avLst/>
            </a:prstGeom>
            <a:ln w="25400" cap="flat" cmpd="sng">
              <a:solidFill>
                <a:schemeClr val="tx1"/>
              </a:solidFill>
              <a:prstDash val="solid"/>
              <a:round/>
              <a:headEnd type="none" w="med" len="med"/>
              <a:tailEnd type="none" w="med" len="med"/>
            </a:ln>
          </p:spPr>
        </p:sp>
        <p:sp>
          <p:nvSpPr>
            <p:cNvPr id="97285" name="直接连接符 239621"/>
            <p:cNvSpPr/>
            <p:nvPr/>
          </p:nvSpPr>
          <p:spPr>
            <a:xfrm>
              <a:off x="3176" y="2481"/>
              <a:ext cx="128" cy="74"/>
            </a:xfrm>
            <a:prstGeom prst="line">
              <a:avLst/>
            </a:prstGeom>
            <a:ln w="25400" cap="flat" cmpd="sng">
              <a:solidFill>
                <a:schemeClr val="tx1"/>
              </a:solidFill>
              <a:prstDash val="solid"/>
              <a:round/>
              <a:headEnd type="none" w="med" len="med"/>
              <a:tailEnd type="none" w="med" len="med"/>
            </a:ln>
          </p:spPr>
        </p:sp>
        <p:sp>
          <p:nvSpPr>
            <p:cNvPr id="97286" name="直接连接符 239622"/>
            <p:cNvSpPr/>
            <p:nvPr/>
          </p:nvSpPr>
          <p:spPr>
            <a:xfrm>
              <a:off x="3312" y="2571"/>
              <a:ext cx="0" cy="163"/>
            </a:xfrm>
            <a:prstGeom prst="line">
              <a:avLst/>
            </a:prstGeom>
            <a:ln w="25400" cap="flat" cmpd="sng">
              <a:solidFill>
                <a:schemeClr val="tx1"/>
              </a:solidFill>
              <a:prstDash val="solid"/>
              <a:round/>
              <a:headEnd type="none" w="med" len="med"/>
              <a:tailEnd type="none" w="med" len="med"/>
            </a:ln>
          </p:spPr>
        </p:sp>
        <p:sp>
          <p:nvSpPr>
            <p:cNvPr id="97287" name="直接连接符 239623"/>
            <p:cNvSpPr/>
            <p:nvPr/>
          </p:nvSpPr>
          <p:spPr>
            <a:xfrm>
              <a:off x="3456" y="2481"/>
              <a:ext cx="0" cy="342"/>
            </a:xfrm>
            <a:prstGeom prst="line">
              <a:avLst/>
            </a:prstGeom>
            <a:ln w="25400" cap="flat" cmpd="sng">
              <a:solidFill>
                <a:schemeClr val="tx1"/>
              </a:solidFill>
              <a:prstDash val="solid"/>
              <a:round/>
              <a:headEnd type="none" w="med" len="med"/>
              <a:tailEnd type="none" w="med" len="med"/>
            </a:ln>
          </p:spPr>
        </p:sp>
        <p:sp>
          <p:nvSpPr>
            <p:cNvPr id="97288" name="直接连接符 239624"/>
            <p:cNvSpPr/>
            <p:nvPr/>
          </p:nvSpPr>
          <p:spPr>
            <a:xfrm flipV="1">
              <a:off x="3176" y="2734"/>
              <a:ext cx="128" cy="105"/>
            </a:xfrm>
            <a:prstGeom prst="line">
              <a:avLst/>
            </a:prstGeom>
            <a:ln w="25400" cap="flat" cmpd="sng">
              <a:solidFill>
                <a:schemeClr val="tx1"/>
              </a:solidFill>
              <a:prstDash val="solid"/>
              <a:round/>
              <a:headEnd type="none" w="med" len="med"/>
              <a:tailEnd type="none" w="med" len="med"/>
            </a:ln>
          </p:spPr>
        </p:sp>
        <p:sp>
          <p:nvSpPr>
            <p:cNvPr id="97289" name="直接连接符 239625"/>
            <p:cNvSpPr/>
            <p:nvPr/>
          </p:nvSpPr>
          <p:spPr>
            <a:xfrm>
              <a:off x="3168" y="2839"/>
              <a:ext cx="0" cy="163"/>
            </a:xfrm>
            <a:prstGeom prst="line">
              <a:avLst/>
            </a:prstGeom>
            <a:ln w="25400" cap="flat" cmpd="sng">
              <a:solidFill>
                <a:schemeClr val="tx1"/>
              </a:solidFill>
              <a:prstDash val="solid"/>
              <a:round/>
              <a:headEnd type="none" w="med" len="med"/>
              <a:tailEnd type="none" w="med" len="med"/>
            </a:ln>
          </p:spPr>
        </p:sp>
        <p:sp>
          <p:nvSpPr>
            <p:cNvPr id="97290" name="直接连接符 239626"/>
            <p:cNvSpPr/>
            <p:nvPr/>
          </p:nvSpPr>
          <p:spPr>
            <a:xfrm flipV="1">
              <a:off x="3176" y="2823"/>
              <a:ext cx="272" cy="195"/>
            </a:xfrm>
            <a:prstGeom prst="line">
              <a:avLst/>
            </a:prstGeom>
            <a:ln w="25400" cap="flat" cmpd="sng">
              <a:solidFill>
                <a:schemeClr val="tx1"/>
              </a:solidFill>
              <a:prstDash val="solid"/>
              <a:round/>
              <a:headEnd type="none" w="med" len="med"/>
              <a:tailEnd type="none" w="med" len="med"/>
            </a:ln>
          </p:spPr>
        </p:sp>
      </p:grpSp>
      <p:sp>
        <p:nvSpPr>
          <p:cNvPr id="97291" name="直接连接符 239627"/>
          <p:cNvSpPr/>
          <p:nvPr/>
        </p:nvSpPr>
        <p:spPr>
          <a:xfrm flipH="1">
            <a:off x="5473700" y="3325813"/>
            <a:ext cx="2311400" cy="0"/>
          </a:xfrm>
          <a:prstGeom prst="line">
            <a:avLst/>
          </a:prstGeom>
          <a:ln w="25400" cap="flat" cmpd="sng">
            <a:solidFill>
              <a:schemeClr val="tx1"/>
            </a:solidFill>
            <a:prstDash val="solid"/>
            <a:round/>
            <a:headEnd type="triangle" w="med" len="med"/>
            <a:tailEnd type="none" w="med" len="med"/>
          </a:ln>
        </p:spPr>
      </p:sp>
      <p:sp>
        <p:nvSpPr>
          <p:cNvPr id="97292" name="直接连接符 239628"/>
          <p:cNvSpPr/>
          <p:nvPr/>
        </p:nvSpPr>
        <p:spPr>
          <a:xfrm flipH="1">
            <a:off x="5861050" y="3262313"/>
            <a:ext cx="88900" cy="128587"/>
          </a:xfrm>
          <a:prstGeom prst="line">
            <a:avLst/>
          </a:prstGeom>
          <a:ln w="12700" cap="flat" cmpd="sng">
            <a:solidFill>
              <a:schemeClr val="tx1"/>
            </a:solidFill>
            <a:prstDash val="solid"/>
            <a:round/>
            <a:headEnd type="none" w="med" len="med"/>
            <a:tailEnd type="none" w="med" len="med"/>
          </a:ln>
        </p:spPr>
      </p:sp>
      <p:sp>
        <p:nvSpPr>
          <p:cNvPr id="97293" name="矩形 239629"/>
          <p:cNvSpPr/>
          <p:nvPr/>
        </p:nvSpPr>
        <p:spPr>
          <a:xfrm>
            <a:off x="5548313" y="332422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97294" name="直接连接符 239630"/>
          <p:cNvSpPr/>
          <p:nvPr/>
        </p:nvSpPr>
        <p:spPr>
          <a:xfrm>
            <a:off x="5257800" y="2405063"/>
            <a:ext cx="0" cy="482600"/>
          </a:xfrm>
          <a:prstGeom prst="line">
            <a:avLst/>
          </a:prstGeom>
          <a:ln w="25400" cap="flat" cmpd="sng">
            <a:solidFill>
              <a:schemeClr val="tx1"/>
            </a:solidFill>
            <a:prstDash val="solid"/>
            <a:round/>
            <a:headEnd type="none" w="med" len="med"/>
            <a:tailEnd type="triangle" w="med" len="med"/>
          </a:ln>
        </p:spPr>
      </p:sp>
      <p:sp>
        <p:nvSpPr>
          <p:cNvPr id="97295" name="矩形 239631"/>
          <p:cNvSpPr/>
          <p:nvPr/>
        </p:nvSpPr>
        <p:spPr>
          <a:xfrm>
            <a:off x="4310063" y="2263775"/>
            <a:ext cx="979487" cy="363538"/>
          </a:xfrm>
          <a:prstGeom prst="rect">
            <a:avLst/>
          </a:prstGeom>
          <a:noFill/>
          <a:ln w="12700">
            <a:noFill/>
          </a:ln>
        </p:spPr>
        <p:txBody>
          <a:bodyPr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7296" name="矩形 239632"/>
          <p:cNvSpPr/>
          <p:nvPr/>
        </p:nvSpPr>
        <p:spPr>
          <a:xfrm>
            <a:off x="706438" y="3475038"/>
            <a:ext cx="536575" cy="363537"/>
          </a:xfrm>
          <a:prstGeom prst="rect">
            <a:avLst/>
          </a:prstGeom>
          <a:noFill/>
          <a:ln w="12700">
            <a:noFill/>
          </a:ln>
        </p:spPr>
        <p:txBody>
          <a:bodyPr wrap="none" lIns="90488" tIns="44450" rIns="90488" bIns="44450" anchor="t" anchorCtr="0">
            <a:spAutoFit/>
          </a:bodyPr>
          <a:p>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97297" name="矩形 239633"/>
          <p:cNvSpPr/>
          <p:nvPr/>
        </p:nvSpPr>
        <p:spPr>
          <a:xfrm>
            <a:off x="671513" y="2897188"/>
            <a:ext cx="803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97298" name="矩形 239634"/>
          <p:cNvSpPr/>
          <p:nvPr/>
        </p:nvSpPr>
        <p:spPr>
          <a:xfrm>
            <a:off x="1755775" y="2770188"/>
            <a:ext cx="1431925" cy="11303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7299" name="直接连接符 239635"/>
          <p:cNvSpPr/>
          <p:nvPr/>
        </p:nvSpPr>
        <p:spPr>
          <a:xfrm>
            <a:off x="1749425" y="3648075"/>
            <a:ext cx="323850" cy="106363"/>
          </a:xfrm>
          <a:prstGeom prst="line">
            <a:avLst/>
          </a:prstGeom>
          <a:ln w="25400" cap="flat" cmpd="sng">
            <a:solidFill>
              <a:schemeClr val="tx1"/>
            </a:solidFill>
            <a:prstDash val="solid"/>
            <a:round/>
            <a:headEnd type="none" w="med" len="med"/>
            <a:tailEnd type="none" w="med" len="med"/>
          </a:ln>
        </p:spPr>
      </p:sp>
      <p:sp>
        <p:nvSpPr>
          <p:cNvPr id="97300" name="直接连接符 239636"/>
          <p:cNvSpPr/>
          <p:nvPr/>
        </p:nvSpPr>
        <p:spPr>
          <a:xfrm flipH="1">
            <a:off x="1754188" y="3751263"/>
            <a:ext cx="301625" cy="98425"/>
          </a:xfrm>
          <a:prstGeom prst="line">
            <a:avLst/>
          </a:prstGeom>
          <a:ln w="25400" cap="flat" cmpd="sng">
            <a:solidFill>
              <a:schemeClr val="tx1"/>
            </a:solidFill>
            <a:prstDash val="solid"/>
            <a:round/>
            <a:headEnd type="none" w="med" len="med"/>
            <a:tailEnd type="none" w="med" len="med"/>
          </a:ln>
        </p:spPr>
      </p:sp>
      <p:sp>
        <p:nvSpPr>
          <p:cNvPr id="97301" name="椭圆 239637"/>
          <p:cNvSpPr/>
          <p:nvPr/>
        </p:nvSpPr>
        <p:spPr>
          <a:xfrm>
            <a:off x="1603375" y="3711575"/>
            <a:ext cx="127000" cy="117475"/>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97302" name="矩形 239638"/>
          <p:cNvSpPr/>
          <p:nvPr/>
        </p:nvSpPr>
        <p:spPr>
          <a:xfrm>
            <a:off x="1203325" y="2255838"/>
            <a:ext cx="9175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7303" name="直接连接符 239639"/>
          <p:cNvSpPr/>
          <p:nvPr/>
        </p:nvSpPr>
        <p:spPr>
          <a:xfrm flipH="1">
            <a:off x="749300" y="3255963"/>
            <a:ext cx="1016000" cy="0"/>
          </a:xfrm>
          <a:prstGeom prst="line">
            <a:avLst/>
          </a:prstGeom>
          <a:ln w="25400" cap="flat" cmpd="sng">
            <a:solidFill>
              <a:schemeClr val="tx1"/>
            </a:solidFill>
            <a:prstDash val="solid"/>
            <a:round/>
            <a:headEnd type="triangle" w="med" len="med"/>
            <a:tailEnd type="none" w="med" len="med"/>
          </a:ln>
        </p:spPr>
      </p:sp>
      <p:sp>
        <p:nvSpPr>
          <p:cNvPr id="97304" name="直接连接符 239640"/>
          <p:cNvSpPr/>
          <p:nvPr/>
        </p:nvSpPr>
        <p:spPr>
          <a:xfrm flipH="1">
            <a:off x="1289050" y="3190875"/>
            <a:ext cx="88900" cy="128588"/>
          </a:xfrm>
          <a:prstGeom prst="line">
            <a:avLst/>
          </a:prstGeom>
          <a:ln w="12700" cap="flat" cmpd="sng">
            <a:solidFill>
              <a:schemeClr val="tx1"/>
            </a:solidFill>
            <a:prstDash val="solid"/>
            <a:round/>
            <a:headEnd type="none" w="med" len="med"/>
            <a:tailEnd type="none" w="med" len="med"/>
          </a:ln>
        </p:spPr>
      </p:sp>
      <p:sp>
        <p:nvSpPr>
          <p:cNvPr id="97305" name="矩形 239641"/>
          <p:cNvSpPr/>
          <p:nvPr/>
        </p:nvSpPr>
        <p:spPr>
          <a:xfrm>
            <a:off x="976313" y="3252788"/>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97306" name="直接连接符 239642"/>
          <p:cNvSpPr/>
          <p:nvPr/>
        </p:nvSpPr>
        <p:spPr>
          <a:xfrm>
            <a:off x="3213100" y="2900363"/>
            <a:ext cx="1803400" cy="0"/>
          </a:xfrm>
          <a:prstGeom prst="line">
            <a:avLst/>
          </a:prstGeom>
          <a:ln w="25400" cap="flat" cmpd="sng">
            <a:solidFill>
              <a:schemeClr val="tx1"/>
            </a:solidFill>
            <a:prstDash val="solid"/>
            <a:round/>
            <a:headEnd type="none" w="med" len="med"/>
            <a:tailEnd type="triangle" w="med" len="med"/>
          </a:ln>
        </p:spPr>
      </p:sp>
      <p:sp>
        <p:nvSpPr>
          <p:cNvPr id="97307" name="直接连接符 239643"/>
          <p:cNvSpPr/>
          <p:nvPr/>
        </p:nvSpPr>
        <p:spPr>
          <a:xfrm flipH="1">
            <a:off x="4184650" y="2835275"/>
            <a:ext cx="88900" cy="130175"/>
          </a:xfrm>
          <a:prstGeom prst="line">
            <a:avLst/>
          </a:prstGeom>
          <a:ln w="12700" cap="flat" cmpd="sng">
            <a:solidFill>
              <a:schemeClr val="tx1"/>
            </a:solidFill>
            <a:prstDash val="solid"/>
            <a:round/>
            <a:headEnd type="none" w="med" len="med"/>
            <a:tailEnd type="none" w="med" len="med"/>
          </a:ln>
        </p:spPr>
      </p:sp>
      <p:sp>
        <p:nvSpPr>
          <p:cNvPr id="97308" name="矩形 239644"/>
          <p:cNvSpPr/>
          <p:nvPr/>
        </p:nvSpPr>
        <p:spPr>
          <a:xfrm>
            <a:off x="3871913" y="296862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97309" name="矩形 239645"/>
          <p:cNvSpPr/>
          <p:nvPr/>
        </p:nvSpPr>
        <p:spPr>
          <a:xfrm>
            <a:off x="3567113" y="2613025"/>
            <a:ext cx="7524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97310" name="直接连接符 239646"/>
          <p:cNvSpPr/>
          <p:nvPr/>
        </p:nvSpPr>
        <p:spPr>
          <a:xfrm flipV="1">
            <a:off x="1905000" y="2532063"/>
            <a:ext cx="0" cy="238125"/>
          </a:xfrm>
          <a:prstGeom prst="line">
            <a:avLst/>
          </a:prstGeom>
          <a:ln w="25400" cap="flat" cmpd="sng">
            <a:solidFill>
              <a:schemeClr val="tx1"/>
            </a:solidFill>
            <a:prstDash val="solid"/>
            <a:round/>
            <a:headEnd type="none" w="med" len="med"/>
            <a:tailEnd type="none" w="med" len="med"/>
          </a:ln>
        </p:spPr>
      </p:sp>
      <p:sp>
        <p:nvSpPr>
          <p:cNvPr id="97311" name="直接连接符 239647"/>
          <p:cNvSpPr/>
          <p:nvPr/>
        </p:nvSpPr>
        <p:spPr>
          <a:xfrm>
            <a:off x="3213100" y="3600450"/>
            <a:ext cx="965200" cy="0"/>
          </a:xfrm>
          <a:prstGeom prst="line">
            <a:avLst/>
          </a:prstGeom>
          <a:ln w="25400" cap="flat" cmpd="sng">
            <a:solidFill>
              <a:schemeClr val="tx1"/>
            </a:solidFill>
            <a:prstDash val="solid"/>
            <a:round/>
            <a:headEnd type="none" w="med" len="med"/>
            <a:tailEnd type="triangle" w="med" len="med"/>
          </a:ln>
        </p:spPr>
      </p:sp>
      <p:sp>
        <p:nvSpPr>
          <p:cNvPr id="97312" name="直接连接符 239648"/>
          <p:cNvSpPr/>
          <p:nvPr/>
        </p:nvSpPr>
        <p:spPr>
          <a:xfrm flipV="1">
            <a:off x="3663950" y="3452813"/>
            <a:ext cx="139700" cy="241300"/>
          </a:xfrm>
          <a:prstGeom prst="line">
            <a:avLst/>
          </a:prstGeom>
          <a:ln w="12700" cap="flat" cmpd="sng">
            <a:solidFill>
              <a:schemeClr val="tx1"/>
            </a:solidFill>
            <a:prstDash val="solid"/>
            <a:round/>
            <a:headEnd type="none" w="med" len="med"/>
            <a:tailEnd type="none" w="med" len="med"/>
          </a:ln>
        </p:spPr>
      </p:sp>
      <p:sp>
        <p:nvSpPr>
          <p:cNvPr id="97313" name="矩形 239649"/>
          <p:cNvSpPr/>
          <p:nvPr/>
        </p:nvSpPr>
        <p:spPr>
          <a:xfrm>
            <a:off x="3262313" y="359727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97314" name="矩形 239650"/>
          <p:cNvSpPr/>
          <p:nvPr/>
        </p:nvSpPr>
        <p:spPr>
          <a:xfrm>
            <a:off x="3186113" y="3313113"/>
            <a:ext cx="7524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97315" name="直接连接符 239651"/>
          <p:cNvSpPr/>
          <p:nvPr/>
        </p:nvSpPr>
        <p:spPr>
          <a:xfrm flipH="1">
            <a:off x="1130300" y="3752850"/>
            <a:ext cx="482600" cy="0"/>
          </a:xfrm>
          <a:prstGeom prst="line">
            <a:avLst/>
          </a:prstGeom>
          <a:ln w="25400" cap="flat" cmpd="sng">
            <a:solidFill>
              <a:schemeClr val="tx1"/>
            </a:solidFill>
            <a:prstDash val="solid"/>
            <a:round/>
            <a:headEnd type="none" w="med" len="med"/>
            <a:tailEnd type="none" w="med" len="med"/>
          </a:ln>
        </p:spPr>
      </p:sp>
      <p:sp>
        <p:nvSpPr>
          <p:cNvPr id="97316" name="直接连接符 239652"/>
          <p:cNvSpPr/>
          <p:nvPr/>
        </p:nvSpPr>
        <p:spPr>
          <a:xfrm>
            <a:off x="3048000" y="2344738"/>
            <a:ext cx="0" cy="400050"/>
          </a:xfrm>
          <a:prstGeom prst="line">
            <a:avLst/>
          </a:prstGeom>
          <a:ln w="25400" cap="flat" cmpd="sng">
            <a:solidFill>
              <a:schemeClr val="tx1"/>
            </a:solidFill>
            <a:prstDash val="solid"/>
            <a:round/>
            <a:headEnd type="none" w="med" len="med"/>
            <a:tailEnd type="none" w="med" len="med"/>
          </a:ln>
        </p:spPr>
      </p:sp>
      <p:sp>
        <p:nvSpPr>
          <p:cNvPr id="97317" name="直接连接符 239653"/>
          <p:cNvSpPr/>
          <p:nvPr/>
        </p:nvSpPr>
        <p:spPr>
          <a:xfrm flipV="1">
            <a:off x="2978150" y="2466975"/>
            <a:ext cx="139700" cy="155575"/>
          </a:xfrm>
          <a:prstGeom prst="line">
            <a:avLst/>
          </a:prstGeom>
          <a:ln w="12700" cap="flat" cmpd="sng">
            <a:solidFill>
              <a:schemeClr val="tx1"/>
            </a:solidFill>
            <a:prstDash val="solid"/>
            <a:round/>
            <a:headEnd type="none" w="med" len="med"/>
            <a:tailEnd type="none" w="med" len="med"/>
          </a:ln>
        </p:spPr>
      </p:sp>
      <p:sp>
        <p:nvSpPr>
          <p:cNvPr id="97318" name="矩形 239654"/>
          <p:cNvSpPr/>
          <p:nvPr/>
        </p:nvSpPr>
        <p:spPr>
          <a:xfrm>
            <a:off x="2805113" y="2328863"/>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97319" name="直接连接符 239655"/>
          <p:cNvSpPr/>
          <p:nvPr/>
        </p:nvSpPr>
        <p:spPr>
          <a:xfrm>
            <a:off x="2209800" y="2132013"/>
            <a:ext cx="0" cy="612775"/>
          </a:xfrm>
          <a:prstGeom prst="line">
            <a:avLst/>
          </a:prstGeom>
          <a:ln w="25400" cap="flat" cmpd="sng">
            <a:solidFill>
              <a:schemeClr val="tx1"/>
            </a:solidFill>
            <a:prstDash val="solid"/>
            <a:round/>
            <a:headEnd type="none" w="med" len="med"/>
            <a:tailEnd type="none" w="med" len="med"/>
          </a:ln>
        </p:spPr>
      </p:sp>
      <p:sp>
        <p:nvSpPr>
          <p:cNvPr id="97320" name="直接连接符 239656"/>
          <p:cNvSpPr/>
          <p:nvPr/>
        </p:nvSpPr>
        <p:spPr>
          <a:xfrm flipV="1">
            <a:off x="2139950" y="2466975"/>
            <a:ext cx="139700" cy="155575"/>
          </a:xfrm>
          <a:prstGeom prst="line">
            <a:avLst/>
          </a:prstGeom>
          <a:ln w="12700" cap="flat" cmpd="sng">
            <a:solidFill>
              <a:schemeClr val="tx1"/>
            </a:solidFill>
            <a:prstDash val="solid"/>
            <a:round/>
            <a:headEnd type="none" w="med" len="med"/>
            <a:tailEnd type="none" w="med" len="med"/>
          </a:ln>
        </p:spPr>
      </p:sp>
      <p:sp>
        <p:nvSpPr>
          <p:cNvPr id="97321" name="矩形 239657"/>
          <p:cNvSpPr/>
          <p:nvPr/>
        </p:nvSpPr>
        <p:spPr>
          <a:xfrm>
            <a:off x="1966913" y="2328863"/>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97322" name="直接连接符 239658"/>
          <p:cNvSpPr/>
          <p:nvPr/>
        </p:nvSpPr>
        <p:spPr>
          <a:xfrm>
            <a:off x="2590800" y="2344738"/>
            <a:ext cx="0" cy="400050"/>
          </a:xfrm>
          <a:prstGeom prst="line">
            <a:avLst/>
          </a:prstGeom>
          <a:ln w="25400" cap="flat" cmpd="sng">
            <a:solidFill>
              <a:schemeClr val="tx1"/>
            </a:solidFill>
            <a:prstDash val="solid"/>
            <a:round/>
            <a:headEnd type="none" w="med" len="med"/>
            <a:tailEnd type="none" w="med" len="med"/>
          </a:ln>
        </p:spPr>
      </p:sp>
      <p:sp>
        <p:nvSpPr>
          <p:cNvPr id="97323" name="直接连接符 239659"/>
          <p:cNvSpPr/>
          <p:nvPr/>
        </p:nvSpPr>
        <p:spPr>
          <a:xfrm flipV="1">
            <a:off x="2520950" y="2466975"/>
            <a:ext cx="139700" cy="155575"/>
          </a:xfrm>
          <a:prstGeom prst="line">
            <a:avLst/>
          </a:prstGeom>
          <a:ln w="12700" cap="flat" cmpd="sng">
            <a:solidFill>
              <a:schemeClr val="tx1"/>
            </a:solidFill>
            <a:prstDash val="solid"/>
            <a:round/>
            <a:headEnd type="none" w="med" len="med"/>
            <a:tailEnd type="none" w="med" len="med"/>
          </a:ln>
        </p:spPr>
      </p:sp>
      <p:sp>
        <p:nvSpPr>
          <p:cNvPr id="97324" name="矩形 239660"/>
          <p:cNvSpPr/>
          <p:nvPr/>
        </p:nvSpPr>
        <p:spPr>
          <a:xfrm>
            <a:off x="2347913" y="2328863"/>
            <a:ext cx="307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97325" name="矩形 239661"/>
          <p:cNvSpPr/>
          <p:nvPr/>
        </p:nvSpPr>
        <p:spPr>
          <a:xfrm>
            <a:off x="1966913" y="2755900"/>
            <a:ext cx="5238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97326" name="矩形 239662"/>
          <p:cNvSpPr/>
          <p:nvPr/>
        </p:nvSpPr>
        <p:spPr>
          <a:xfrm>
            <a:off x="2424113" y="2755900"/>
            <a:ext cx="4730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97327" name="矩形 239663"/>
          <p:cNvSpPr/>
          <p:nvPr/>
        </p:nvSpPr>
        <p:spPr>
          <a:xfrm>
            <a:off x="2805113" y="2755900"/>
            <a:ext cx="4857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97328" name="矩形 239664"/>
          <p:cNvSpPr/>
          <p:nvPr/>
        </p:nvSpPr>
        <p:spPr>
          <a:xfrm>
            <a:off x="1966913" y="3040063"/>
            <a:ext cx="1222375" cy="638175"/>
          </a:xfrm>
          <a:prstGeom prst="rect">
            <a:avLst/>
          </a:prstGeom>
          <a:noFill/>
          <a:ln w="12700">
            <a:noFill/>
          </a:ln>
        </p:spPr>
        <p:txBody>
          <a:bodyPr wrap="none" lIns="90488" tIns="44450" rIns="90488" bIns="44450" anchor="t" anchorCtr="0">
            <a:spAutoFit/>
          </a:bodyPr>
          <a:p>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32 32</a:t>
            </a:r>
            <a:r>
              <a:rPr lang="zh-CN" altLang="en-US"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97329" name="直接连接符 239665"/>
          <p:cNvSpPr/>
          <p:nvPr/>
        </p:nvSpPr>
        <p:spPr>
          <a:xfrm flipH="1">
            <a:off x="749300" y="5287963"/>
            <a:ext cx="7797800" cy="0"/>
          </a:xfrm>
          <a:prstGeom prst="line">
            <a:avLst/>
          </a:prstGeom>
          <a:ln w="25400" cap="flat" cmpd="sng">
            <a:solidFill>
              <a:schemeClr val="tx1"/>
            </a:solidFill>
            <a:prstDash val="solid"/>
            <a:round/>
            <a:headEnd type="none" w="med" len="med"/>
            <a:tailEnd type="none" w="med" len="med"/>
          </a:ln>
        </p:spPr>
      </p:sp>
      <p:sp>
        <p:nvSpPr>
          <p:cNvPr id="97330" name="直接连接符 239666"/>
          <p:cNvSpPr/>
          <p:nvPr/>
        </p:nvSpPr>
        <p:spPr>
          <a:xfrm flipV="1">
            <a:off x="762000" y="3243263"/>
            <a:ext cx="0" cy="2057400"/>
          </a:xfrm>
          <a:prstGeom prst="line">
            <a:avLst/>
          </a:prstGeom>
          <a:ln w="25400" cap="flat" cmpd="sng">
            <a:solidFill>
              <a:schemeClr val="tx1"/>
            </a:solidFill>
            <a:prstDash val="solid"/>
            <a:round/>
            <a:headEnd type="none" w="med" len="med"/>
            <a:tailEnd type="none" w="med" len="med"/>
          </a:ln>
        </p:spPr>
      </p:sp>
      <p:sp>
        <p:nvSpPr>
          <p:cNvPr id="97331" name="矩形 239667"/>
          <p:cNvSpPr/>
          <p:nvPr/>
        </p:nvSpPr>
        <p:spPr>
          <a:xfrm>
            <a:off x="2576513" y="2116138"/>
            <a:ext cx="4730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97332" name="矩形 239668"/>
          <p:cNvSpPr/>
          <p:nvPr/>
        </p:nvSpPr>
        <p:spPr>
          <a:xfrm>
            <a:off x="2347913" y="1476375"/>
            <a:ext cx="4222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97333" name="组合 239669"/>
          <p:cNvGrpSpPr/>
          <p:nvPr/>
        </p:nvGrpSpPr>
        <p:grpSpPr>
          <a:xfrm>
            <a:off x="4191000" y="3319463"/>
            <a:ext cx="304800" cy="1227137"/>
            <a:chOff x="2640" y="2648"/>
            <a:chExt cx="192" cy="773"/>
          </a:xfrm>
        </p:grpSpPr>
        <p:sp>
          <p:nvSpPr>
            <p:cNvPr id="97334" name="直接连接符 239670"/>
            <p:cNvSpPr/>
            <p:nvPr/>
          </p:nvSpPr>
          <p:spPr>
            <a:xfrm>
              <a:off x="2640" y="2648"/>
              <a:ext cx="0" cy="757"/>
            </a:xfrm>
            <a:prstGeom prst="line">
              <a:avLst/>
            </a:prstGeom>
            <a:ln w="25400" cap="flat" cmpd="sng">
              <a:solidFill>
                <a:schemeClr val="tx1"/>
              </a:solidFill>
              <a:prstDash val="solid"/>
              <a:round/>
              <a:headEnd type="none" w="med" len="med"/>
              <a:tailEnd type="none" w="med" len="med"/>
            </a:ln>
          </p:spPr>
        </p:sp>
        <p:sp>
          <p:nvSpPr>
            <p:cNvPr id="97335" name="直接连接符 239671"/>
            <p:cNvSpPr/>
            <p:nvPr/>
          </p:nvSpPr>
          <p:spPr>
            <a:xfrm>
              <a:off x="2648" y="2648"/>
              <a:ext cx="176" cy="86"/>
            </a:xfrm>
            <a:prstGeom prst="line">
              <a:avLst/>
            </a:prstGeom>
            <a:ln w="25400" cap="flat" cmpd="sng">
              <a:solidFill>
                <a:schemeClr val="tx1"/>
              </a:solidFill>
              <a:prstDash val="solid"/>
              <a:round/>
              <a:headEnd type="none" w="med" len="med"/>
              <a:tailEnd type="none" w="med" len="med"/>
            </a:ln>
          </p:spPr>
        </p:sp>
        <p:sp>
          <p:nvSpPr>
            <p:cNvPr id="97336" name="直接连接符 239672"/>
            <p:cNvSpPr/>
            <p:nvPr/>
          </p:nvSpPr>
          <p:spPr>
            <a:xfrm flipV="1">
              <a:off x="2648" y="3303"/>
              <a:ext cx="176" cy="118"/>
            </a:xfrm>
            <a:prstGeom prst="line">
              <a:avLst/>
            </a:prstGeom>
            <a:ln w="25400" cap="flat" cmpd="sng">
              <a:solidFill>
                <a:schemeClr val="tx1"/>
              </a:solidFill>
              <a:prstDash val="solid"/>
              <a:round/>
              <a:headEnd type="none" w="med" len="med"/>
              <a:tailEnd type="none" w="med" len="med"/>
            </a:ln>
          </p:spPr>
        </p:sp>
        <p:sp>
          <p:nvSpPr>
            <p:cNvPr id="97337" name="直接连接符 239673"/>
            <p:cNvSpPr/>
            <p:nvPr/>
          </p:nvSpPr>
          <p:spPr>
            <a:xfrm>
              <a:off x="2832" y="2750"/>
              <a:ext cx="0" cy="553"/>
            </a:xfrm>
            <a:prstGeom prst="line">
              <a:avLst/>
            </a:prstGeom>
            <a:ln w="25400" cap="flat" cmpd="sng">
              <a:solidFill>
                <a:schemeClr val="tx1"/>
              </a:solidFill>
              <a:prstDash val="solid"/>
              <a:round/>
              <a:headEnd type="none" w="med" len="med"/>
              <a:tailEnd type="none" w="med" len="med"/>
            </a:ln>
          </p:spPr>
        </p:sp>
      </p:grpSp>
      <p:grpSp>
        <p:nvGrpSpPr>
          <p:cNvPr id="97338" name="组合 239674"/>
          <p:cNvGrpSpPr/>
          <p:nvPr/>
        </p:nvGrpSpPr>
        <p:grpSpPr>
          <a:xfrm>
            <a:off x="1473200" y="1870075"/>
            <a:ext cx="1168400" cy="284163"/>
            <a:chOff x="928" y="1735"/>
            <a:chExt cx="736" cy="179"/>
          </a:xfrm>
        </p:grpSpPr>
        <p:sp>
          <p:nvSpPr>
            <p:cNvPr id="97339" name="直接连接符 239675"/>
            <p:cNvSpPr/>
            <p:nvPr/>
          </p:nvSpPr>
          <p:spPr>
            <a:xfrm flipH="1">
              <a:off x="928" y="1735"/>
              <a:ext cx="736" cy="0"/>
            </a:xfrm>
            <a:prstGeom prst="line">
              <a:avLst/>
            </a:prstGeom>
            <a:ln w="25400" cap="flat" cmpd="sng">
              <a:solidFill>
                <a:schemeClr val="tx1"/>
              </a:solidFill>
              <a:prstDash val="solid"/>
              <a:round/>
              <a:headEnd type="none" w="med" len="med"/>
              <a:tailEnd type="none" w="med" len="med"/>
            </a:ln>
          </p:spPr>
        </p:sp>
        <p:sp>
          <p:nvSpPr>
            <p:cNvPr id="97340" name="直接连接符 239676"/>
            <p:cNvSpPr/>
            <p:nvPr/>
          </p:nvSpPr>
          <p:spPr>
            <a:xfrm flipH="1">
              <a:off x="1552" y="1743"/>
              <a:ext cx="112" cy="163"/>
            </a:xfrm>
            <a:prstGeom prst="line">
              <a:avLst/>
            </a:prstGeom>
            <a:ln w="25400" cap="flat" cmpd="sng">
              <a:solidFill>
                <a:schemeClr val="tx1"/>
              </a:solidFill>
              <a:prstDash val="solid"/>
              <a:round/>
              <a:headEnd type="none" w="med" len="med"/>
              <a:tailEnd type="none" w="med" len="med"/>
            </a:ln>
          </p:spPr>
        </p:sp>
        <p:sp>
          <p:nvSpPr>
            <p:cNvPr id="97341" name="直接连接符 239677"/>
            <p:cNvSpPr/>
            <p:nvPr/>
          </p:nvSpPr>
          <p:spPr>
            <a:xfrm>
              <a:off x="944" y="1743"/>
              <a:ext cx="80" cy="163"/>
            </a:xfrm>
            <a:prstGeom prst="line">
              <a:avLst/>
            </a:prstGeom>
            <a:ln w="25400" cap="flat" cmpd="sng">
              <a:solidFill>
                <a:schemeClr val="tx1"/>
              </a:solidFill>
              <a:prstDash val="solid"/>
              <a:round/>
              <a:headEnd type="none" w="med" len="med"/>
              <a:tailEnd type="none" w="med" len="med"/>
            </a:ln>
          </p:spPr>
        </p:sp>
        <p:sp>
          <p:nvSpPr>
            <p:cNvPr id="97342" name="直接连接符 239678"/>
            <p:cNvSpPr/>
            <p:nvPr/>
          </p:nvSpPr>
          <p:spPr>
            <a:xfrm flipH="1">
              <a:off x="1024" y="1914"/>
              <a:ext cx="544" cy="0"/>
            </a:xfrm>
            <a:prstGeom prst="line">
              <a:avLst/>
            </a:prstGeom>
            <a:ln w="25400" cap="flat" cmpd="sng">
              <a:solidFill>
                <a:schemeClr val="tx1"/>
              </a:solidFill>
              <a:prstDash val="solid"/>
              <a:round/>
              <a:headEnd type="none" w="med" len="med"/>
              <a:tailEnd type="none" w="med" len="med"/>
            </a:ln>
          </p:spPr>
        </p:sp>
      </p:grpSp>
      <p:sp>
        <p:nvSpPr>
          <p:cNvPr id="97343" name="矩形 239679"/>
          <p:cNvSpPr/>
          <p:nvPr/>
        </p:nvSpPr>
        <p:spPr>
          <a:xfrm>
            <a:off x="3009900" y="2116138"/>
            <a:ext cx="422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97344" name="直接连接符 239680"/>
          <p:cNvSpPr/>
          <p:nvPr/>
        </p:nvSpPr>
        <p:spPr>
          <a:xfrm>
            <a:off x="2362200" y="1633538"/>
            <a:ext cx="0" cy="188912"/>
          </a:xfrm>
          <a:prstGeom prst="line">
            <a:avLst/>
          </a:prstGeom>
          <a:ln w="25400" cap="flat" cmpd="sng">
            <a:solidFill>
              <a:schemeClr val="tx1"/>
            </a:solidFill>
            <a:prstDash val="solid"/>
            <a:round/>
            <a:headEnd type="none" w="med" len="med"/>
            <a:tailEnd type="none" w="med" len="med"/>
          </a:ln>
        </p:spPr>
      </p:sp>
      <p:sp>
        <p:nvSpPr>
          <p:cNvPr id="97345" name="直接连接符 239681"/>
          <p:cNvSpPr/>
          <p:nvPr/>
        </p:nvSpPr>
        <p:spPr>
          <a:xfrm>
            <a:off x="1752600" y="1633538"/>
            <a:ext cx="0" cy="188912"/>
          </a:xfrm>
          <a:prstGeom prst="line">
            <a:avLst/>
          </a:prstGeom>
          <a:ln w="25400" cap="flat" cmpd="sng">
            <a:solidFill>
              <a:schemeClr val="tx1"/>
            </a:solidFill>
            <a:prstDash val="solid"/>
            <a:round/>
            <a:headEnd type="none" w="med" len="med"/>
            <a:tailEnd type="none" w="med" len="med"/>
          </a:ln>
        </p:spPr>
      </p:sp>
      <p:sp>
        <p:nvSpPr>
          <p:cNvPr id="97346" name="矩形 239682"/>
          <p:cNvSpPr/>
          <p:nvPr/>
        </p:nvSpPr>
        <p:spPr>
          <a:xfrm>
            <a:off x="1738313" y="1476375"/>
            <a:ext cx="4857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97347" name="直接连接符 239683"/>
          <p:cNvSpPr/>
          <p:nvPr/>
        </p:nvSpPr>
        <p:spPr>
          <a:xfrm flipH="1">
            <a:off x="1054100" y="2011363"/>
            <a:ext cx="558800" cy="0"/>
          </a:xfrm>
          <a:prstGeom prst="line">
            <a:avLst/>
          </a:prstGeom>
          <a:ln w="25400" cap="flat" cmpd="sng">
            <a:solidFill>
              <a:schemeClr val="tx1"/>
            </a:solidFill>
            <a:prstDash val="solid"/>
            <a:round/>
            <a:headEnd type="triangle" w="med" len="med"/>
            <a:tailEnd type="none" w="med" len="med"/>
          </a:ln>
        </p:spPr>
      </p:sp>
      <p:sp>
        <p:nvSpPr>
          <p:cNvPr id="97348" name="矩形 239684"/>
          <p:cNvSpPr/>
          <p:nvPr/>
        </p:nvSpPr>
        <p:spPr>
          <a:xfrm>
            <a:off x="366713" y="1684338"/>
            <a:ext cx="9810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7349" name="矩形 239685"/>
          <p:cNvSpPr/>
          <p:nvPr/>
        </p:nvSpPr>
        <p:spPr>
          <a:xfrm>
            <a:off x="3136900" y="4005263"/>
            <a:ext cx="355600" cy="965200"/>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7350" name="矩形 239686"/>
          <p:cNvSpPr/>
          <p:nvPr/>
        </p:nvSpPr>
        <p:spPr>
          <a:xfrm rot="5400000">
            <a:off x="3030538" y="4319588"/>
            <a:ext cx="5365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Ext</a:t>
            </a:r>
            <a:endParaRPr lang="en-US" altLang="zh-CN" sz="1800">
              <a:latin typeface="Arial" panose="020B0604020202020204" pitchFamily="34" charset="0"/>
              <a:ea typeface="宋体" panose="02010600030101010101" pitchFamily="2" charset="-122"/>
            </a:endParaRPr>
          </a:p>
        </p:txBody>
      </p:sp>
      <p:sp>
        <p:nvSpPr>
          <p:cNvPr id="97351" name="矩形 239687"/>
          <p:cNvSpPr/>
          <p:nvPr/>
        </p:nvSpPr>
        <p:spPr>
          <a:xfrm rot="5400000">
            <a:off x="3979863" y="3732213"/>
            <a:ext cx="638175" cy="365125"/>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97352" name="矩形 239688"/>
          <p:cNvSpPr/>
          <p:nvPr/>
        </p:nvSpPr>
        <p:spPr>
          <a:xfrm>
            <a:off x="1776413" y="1866900"/>
            <a:ext cx="6381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97353" name="直接连接符 239689"/>
          <p:cNvSpPr/>
          <p:nvPr/>
        </p:nvSpPr>
        <p:spPr>
          <a:xfrm>
            <a:off x="3517900" y="4392613"/>
            <a:ext cx="660400" cy="0"/>
          </a:xfrm>
          <a:prstGeom prst="line">
            <a:avLst/>
          </a:prstGeom>
          <a:ln w="25400" cap="flat" cmpd="sng">
            <a:solidFill>
              <a:schemeClr val="tx1"/>
            </a:solidFill>
            <a:prstDash val="solid"/>
            <a:round/>
            <a:headEnd type="none" w="med" len="med"/>
            <a:tailEnd type="triangle" w="med" len="med"/>
          </a:ln>
        </p:spPr>
      </p:sp>
      <p:sp>
        <p:nvSpPr>
          <p:cNvPr id="97354" name="矩形 239690"/>
          <p:cNvSpPr/>
          <p:nvPr/>
        </p:nvSpPr>
        <p:spPr>
          <a:xfrm>
            <a:off x="3509963" y="44243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97355" name="直接连接符 239691"/>
          <p:cNvSpPr/>
          <p:nvPr/>
        </p:nvSpPr>
        <p:spPr>
          <a:xfrm flipH="1">
            <a:off x="3803650" y="4327525"/>
            <a:ext cx="88900" cy="130175"/>
          </a:xfrm>
          <a:prstGeom prst="line">
            <a:avLst/>
          </a:prstGeom>
          <a:ln w="12700" cap="flat" cmpd="sng">
            <a:solidFill>
              <a:schemeClr val="tx1"/>
            </a:solidFill>
            <a:prstDash val="solid"/>
            <a:round/>
            <a:headEnd type="none" w="med" len="med"/>
            <a:tailEnd type="none" w="med" len="med"/>
          </a:ln>
        </p:spPr>
      </p:sp>
      <p:sp>
        <p:nvSpPr>
          <p:cNvPr id="97356" name="直接连接符 239692"/>
          <p:cNvSpPr/>
          <p:nvPr/>
        </p:nvSpPr>
        <p:spPr>
          <a:xfrm>
            <a:off x="2146300" y="4533900"/>
            <a:ext cx="965200" cy="0"/>
          </a:xfrm>
          <a:prstGeom prst="line">
            <a:avLst/>
          </a:prstGeom>
          <a:ln w="25400" cap="flat" cmpd="sng">
            <a:solidFill>
              <a:schemeClr val="tx1"/>
            </a:solidFill>
            <a:prstDash val="solid"/>
            <a:round/>
            <a:headEnd type="none" w="med" len="med"/>
            <a:tailEnd type="triangle" w="med" len="med"/>
          </a:ln>
        </p:spPr>
      </p:sp>
      <p:sp>
        <p:nvSpPr>
          <p:cNvPr id="97357" name="直接连接符 239693"/>
          <p:cNvSpPr/>
          <p:nvPr/>
        </p:nvSpPr>
        <p:spPr>
          <a:xfrm flipH="1">
            <a:off x="2584450" y="4470400"/>
            <a:ext cx="88900" cy="128588"/>
          </a:xfrm>
          <a:prstGeom prst="line">
            <a:avLst/>
          </a:prstGeom>
          <a:ln w="12700" cap="flat" cmpd="sng">
            <a:solidFill>
              <a:schemeClr val="tx1"/>
            </a:solidFill>
            <a:prstDash val="solid"/>
            <a:round/>
            <a:headEnd type="none" w="med" len="med"/>
            <a:tailEnd type="none" w="med" len="med"/>
          </a:ln>
        </p:spPr>
      </p:sp>
      <p:sp>
        <p:nvSpPr>
          <p:cNvPr id="97358" name="矩形 239694"/>
          <p:cNvSpPr/>
          <p:nvPr/>
        </p:nvSpPr>
        <p:spPr>
          <a:xfrm>
            <a:off x="2271713" y="4530725"/>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97359" name="矩形 239695"/>
          <p:cNvSpPr/>
          <p:nvPr/>
        </p:nvSpPr>
        <p:spPr>
          <a:xfrm>
            <a:off x="1433513" y="4389438"/>
            <a:ext cx="9048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97360" name="直接连接符 239696"/>
          <p:cNvSpPr/>
          <p:nvPr/>
        </p:nvSpPr>
        <p:spPr>
          <a:xfrm>
            <a:off x="4343400" y="4476750"/>
            <a:ext cx="0" cy="400050"/>
          </a:xfrm>
          <a:prstGeom prst="line">
            <a:avLst/>
          </a:prstGeom>
          <a:ln w="25400" cap="flat" cmpd="sng">
            <a:solidFill>
              <a:schemeClr val="tx1"/>
            </a:solidFill>
            <a:prstDash val="solid"/>
            <a:round/>
            <a:headEnd type="triangle" w="med" len="med"/>
            <a:tailEnd type="none" w="med" len="med"/>
          </a:ln>
        </p:spPr>
      </p:sp>
      <p:sp>
        <p:nvSpPr>
          <p:cNvPr id="97361" name="矩形 239697"/>
          <p:cNvSpPr/>
          <p:nvPr/>
        </p:nvSpPr>
        <p:spPr>
          <a:xfrm>
            <a:off x="3948113" y="4897438"/>
            <a:ext cx="10191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7362" name="直接连接符 239698"/>
          <p:cNvSpPr/>
          <p:nvPr/>
        </p:nvSpPr>
        <p:spPr>
          <a:xfrm>
            <a:off x="4508500" y="3752850"/>
            <a:ext cx="508000" cy="0"/>
          </a:xfrm>
          <a:prstGeom prst="line">
            <a:avLst/>
          </a:prstGeom>
          <a:ln w="25400" cap="flat" cmpd="sng">
            <a:solidFill>
              <a:schemeClr val="tx1"/>
            </a:solidFill>
            <a:prstDash val="solid"/>
            <a:round/>
            <a:headEnd type="none" w="med" len="med"/>
            <a:tailEnd type="triangle" w="med" len="med"/>
          </a:ln>
        </p:spPr>
      </p:sp>
      <p:sp>
        <p:nvSpPr>
          <p:cNvPr id="97363" name="直接连接符 239699"/>
          <p:cNvSpPr/>
          <p:nvPr/>
        </p:nvSpPr>
        <p:spPr>
          <a:xfrm>
            <a:off x="8534400" y="3622675"/>
            <a:ext cx="0" cy="1652588"/>
          </a:xfrm>
          <a:prstGeom prst="line">
            <a:avLst/>
          </a:prstGeom>
          <a:ln w="25400" cap="flat" cmpd="sng">
            <a:solidFill>
              <a:schemeClr val="tx1"/>
            </a:solidFill>
            <a:prstDash val="solid"/>
            <a:round/>
            <a:headEnd type="none" w="med" len="med"/>
            <a:tailEnd type="none" w="med" len="med"/>
          </a:ln>
        </p:spPr>
      </p:sp>
      <p:sp>
        <p:nvSpPr>
          <p:cNvPr id="97364" name="直接连接符 239700"/>
          <p:cNvSpPr/>
          <p:nvPr/>
        </p:nvSpPr>
        <p:spPr>
          <a:xfrm>
            <a:off x="3352800" y="4978400"/>
            <a:ext cx="0" cy="471488"/>
          </a:xfrm>
          <a:prstGeom prst="line">
            <a:avLst/>
          </a:prstGeom>
          <a:ln w="25400" cap="flat" cmpd="sng">
            <a:solidFill>
              <a:schemeClr val="tx1"/>
            </a:solidFill>
            <a:prstDash val="solid"/>
            <a:round/>
            <a:headEnd type="triangle" w="med" len="med"/>
            <a:tailEnd type="none" w="med" len="med"/>
          </a:ln>
        </p:spPr>
      </p:sp>
      <p:sp>
        <p:nvSpPr>
          <p:cNvPr id="97365" name="矩形 239701"/>
          <p:cNvSpPr/>
          <p:nvPr/>
        </p:nvSpPr>
        <p:spPr>
          <a:xfrm>
            <a:off x="3324225" y="5268913"/>
            <a:ext cx="854075" cy="363537"/>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ExtOp</a:t>
            </a:r>
            <a:endParaRPr lang="en-US" altLang="zh-CN" sz="1800">
              <a:solidFill>
                <a:schemeClr val="accent1"/>
              </a:solidFill>
              <a:latin typeface="Arial" panose="020B0604020202020204" pitchFamily="34" charset="0"/>
              <a:ea typeface="宋体" panose="02010600030101010101" pitchFamily="2" charset="-122"/>
            </a:endParaRPr>
          </a:p>
        </p:txBody>
      </p:sp>
      <p:grpSp>
        <p:nvGrpSpPr>
          <p:cNvPr id="97366" name="组合 239702"/>
          <p:cNvGrpSpPr/>
          <p:nvPr/>
        </p:nvGrpSpPr>
        <p:grpSpPr>
          <a:xfrm>
            <a:off x="7772400" y="3054350"/>
            <a:ext cx="304800" cy="1255713"/>
            <a:chOff x="4896" y="2481"/>
            <a:chExt cx="192" cy="791"/>
          </a:xfrm>
        </p:grpSpPr>
        <p:sp>
          <p:nvSpPr>
            <p:cNvPr id="97367" name="直接连接符 239703"/>
            <p:cNvSpPr/>
            <p:nvPr/>
          </p:nvSpPr>
          <p:spPr>
            <a:xfrm>
              <a:off x="4896" y="2481"/>
              <a:ext cx="0" cy="775"/>
            </a:xfrm>
            <a:prstGeom prst="line">
              <a:avLst/>
            </a:prstGeom>
            <a:ln w="25400" cap="flat" cmpd="sng">
              <a:solidFill>
                <a:schemeClr val="tx1"/>
              </a:solidFill>
              <a:prstDash val="solid"/>
              <a:round/>
              <a:headEnd type="none" w="med" len="med"/>
              <a:tailEnd type="none" w="med" len="med"/>
            </a:ln>
          </p:spPr>
        </p:sp>
        <p:sp>
          <p:nvSpPr>
            <p:cNvPr id="97368" name="直接连接符 239704"/>
            <p:cNvSpPr/>
            <p:nvPr/>
          </p:nvSpPr>
          <p:spPr>
            <a:xfrm>
              <a:off x="4904" y="2481"/>
              <a:ext cx="176" cy="90"/>
            </a:xfrm>
            <a:prstGeom prst="line">
              <a:avLst/>
            </a:prstGeom>
            <a:ln w="25400" cap="flat" cmpd="sng">
              <a:solidFill>
                <a:schemeClr val="tx1"/>
              </a:solidFill>
              <a:prstDash val="solid"/>
              <a:round/>
              <a:headEnd type="none" w="med" len="med"/>
              <a:tailEnd type="none" w="med" len="med"/>
            </a:ln>
          </p:spPr>
        </p:sp>
        <p:sp>
          <p:nvSpPr>
            <p:cNvPr id="97369" name="直接连接符 239705"/>
            <p:cNvSpPr/>
            <p:nvPr/>
          </p:nvSpPr>
          <p:spPr>
            <a:xfrm flipV="1">
              <a:off x="4904" y="3150"/>
              <a:ext cx="176" cy="122"/>
            </a:xfrm>
            <a:prstGeom prst="line">
              <a:avLst/>
            </a:prstGeom>
            <a:ln w="25400" cap="flat" cmpd="sng">
              <a:solidFill>
                <a:schemeClr val="tx1"/>
              </a:solidFill>
              <a:prstDash val="solid"/>
              <a:round/>
              <a:headEnd type="none" w="med" len="med"/>
              <a:tailEnd type="none" w="med" len="med"/>
            </a:ln>
          </p:spPr>
        </p:sp>
        <p:sp>
          <p:nvSpPr>
            <p:cNvPr id="97370" name="直接连接符 239706"/>
            <p:cNvSpPr/>
            <p:nvPr/>
          </p:nvSpPr>
          <p:spPr>
            <a:xfrm>
              <a:off x="5088" y="2587"/>
              <a:ext cx="0" cy="563"/>
            </a:xfrm>
            <a:prstGeom prst="line">
              <a:avLst/>
            </a:prstGeom>
            <a:ln w="25400" cap="flat" cmpd="sng">
              <a:solidFill>
                <a:schemeClr val="tx1"/>
              </a:solidFill>
              <a:prstDash val="solid"/>
              <a:round/>
              <a:headEnd type="none" w="med" len="med"/>
              <a:tailEnd type="none" w="med" len="med"/>
            </a:ln>
          </p:spPr>
        </p:sp>
      </p:grpSp>
      <p:sp>
        <p:nvSpPr>
          <p:cNvPr id="97371" name="矩形 239707"/>
          <p:cNvSpPr/>
          <p:nvPr/>
        </p:nvSpPr>
        <p:spPr>
          <a:xfrm rot="5400000">
            <a:off x="7537450" y="3584575"/>
            <a:ext cx="6381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97372" name="直接连接符 239708"/>
          <p:cNvSpPr/>
          <p:nvPr/>
        </p:nvSpPr>
        <p:spPr>
          <a:xfrm flipV="1">
            <a:off x="7924800" y="2674938"/>
            <a:ext cx="0" cy="450850"/>
          </a:xfrm>
          <a:prstGeom prst="line">
            <a:avLst/>
          </a:prstGeom>
          <a:ln w="25400" cap="flat" cmpd="sng">
            <a:solidFill>
              <a:schemeClr val="tx1"/>
            </a:solidFill>
            <a:prstDash val="solid"/>
            <a:round/>
            <a:headEnd type="triangle" w="med" len="med"/>
            <a:tailEnd type="none" w="med" len="med"/>
          </a:ln>
        </p:spPr>
      </p:sp>
      <p:sp>
        <p:nvSpPr>
          <p:cNvPr id="97373" name="矩形 239709"/>
          <p:cNvSpPr/>
          <p:nvPr/>
        </p:nvSpPr>
        <p:spPr>
          <a:xfrm>
            <a:off x="7847013" y="2552700"/>
            <a:ext cx="13493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MemtoReg</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7374" name="直接连接符 239710"/>
          <p:cNvSpPr/>
          <p:nvPr/>
        </p:nvSpPr>
        <p:spPr>
          <a:xfrm>
            <a:off x="8089900" y="3609975"/>
            <a:ext cx="431800" cy="0"/>
          </a:xfrm>
          <a:prstGeom prst="line">
            <a:avLst/>
          </a:prstGeom>
          <a:ln w="25400" cap="flat" cmpd="sng">
            <a:solidFill>
              <a:schemeClr val="tx1"/>
            </a:solidFill>
            <a:prstDash val="solid"/>
            <a:round/>
            <a:headEnd type="none" w="med" len="med"/>
            <a:tailEnd type="none" w="med" len="med"/>
          </a:ln>
        </p:spPr>
      </p:sp>
      <p:sp>
        <p:nvSpPr>
          <p:cNvPr id="97375" name="矩形 239711"/>
          <p:cNvSpPr/>
          <p:nvPr/>
        </p:nvSpPr>
        <p:spPr>
          <a:xfrm>
            <a:off x="6022975" y="3978275"/>
            <a:ext cx="1127125" cy="1128713"/>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7376" name="直接连接符 239712"/>
          <p:cNvSpPr/>
          <p:nvPr/>
        </p:nvSpPr>
        <p:spPr>
          <a:xfrm flipH="1">
            <a:off x="5397500" y="4960938"/>
            <a:ext cx="482600" cy="0"/>
          </a:xfrm>
          <a:prstGeom prst="line">
            <a:avLst/>
          </a:prstGeom>
          <a:ln w="25400" cap="flat" cmpd="sng">
            <a:solidFill>
              <a:schemeClr val="tx1"/>
            </a:solidFill>
            <a:prstDash val="solid"/>
            <a:round/>
            <a:headEnd type="none" w="med" len="med"/>
            <a:tailEnd type="none" w="med" len="med"/>
          </a:ln>
        </p:spPr>
      </p:sp>
      <p:sp>
        <p:nvSpPr>
          <p:cNvPr id="97377" name="矩形 239713"/>
          <p:cNvSpPr/>
          <p:nvPr/>
        </p:nvSpPr>
        <p:spPr>
          <a:xfrm>
            <a:off x="5329238" y="4681538"/>
            <a:ext cx="536575" cy="363537"/>
          </a:xfrm>
          <a:prstGeom prst="rect">
            <a:avLst/>
          </a:prstGeom>
          <a:noFill/>
          <a:ln w="12700">
            <a:noFill/>
          </a:ln>
        </p:spPr>
        <p:txBody>
          <a:bodyPr wrap="none" lIns="90488" tIns="44450" rIns="90488" bIns="44450" anchor="t" anchorCtr="0">
            <a:spAutoFit/>
          </a:bodyPr>
          <a:p>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97378" name="矩形 239714"/>
          <p:cNvSpPr/>
          <p:nvPr/>
        </p:nvSpPr>
        <p:spPr>
          <a:xfrm>
            <a:off x="5078413" y="3808413"/>
            <a:ext cx="9429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Data In</a:t>
            </a:r>
            <a:endParaRPr lang="en-US" altLang="zh-CN" sz="1800">
              <a:latin typeface="Arial" panose="020B0604020202020204" pitchFamily="34" charset="0"/>
              <a:ea typeface="宋体" panose="02010600030101010101" pitchFamily="2" charset="-122"/>
            </a:endParaRPr>
          </a:p>
        </p:txBody>
      </p:sp>
      <p:sp>
        <p:nvSpPr>
          <p:cNvPr id="97379" name="直接连接符 239715"/>
          <p:cNvSpPr/>
          <p:nvPr/>
        </p:nvSpPr>
        <p:spPr>
          <a:xfrm>
            <a:off x="6002338" y="4870450"/>
            <a:ext cx="309562" cy="77788"/>
          </a:xfrm>
          <a:prstGeom prst="line">
            <a:avLst/>
          </a:prstGeom>
          <a:ln w="25400" cap="flat" cmpd="sng">
            <a:solidFill>
              <a:schemeClr val="tx1"/>
            </a:solidFill>
            <a:prstDash val="solid"/>
            <a:round/>
            <a:headEnd type="none" w="med" len="med"/>
            <a:tailEnd type="none" w="med" len="med"/>
          </a:ln>
        </p:spPr>
      </p:sp>
      <p:sp>
        <p:nvSpPr>
          <p:cNvPr id="97380" name="直接连接符 239716"/>
          <p:cNvSpPr/>
          <p:nvPr/>
        </p:nvSpPr>
        <p:spPr>
          <a:xfrm flipH="1">
            <a:off x="6021388" y="4945063"/>
            <a:ext cx="271462" cy="98425"/>
          </a:xfrm>
          <a:prstGeom prst="line">
            <a:avLst/>
          </a:prstGeom>
          <a:ln w="25400" cap="flat" cmpd="sng">
            <a:solidFill>
              <a:schemeClr val="tx1"/>
            </a:solidFill>
            <a:prstDash val="solid"/>
            <a:round/>
            <a:headEnd type="none" w="med" len="med"/>
            <a:tailEnd type="none" w="med" len="med"/>
          </a:ln>
        </p:spPr>
      </p:sp>
      <p:sp>
        <p:nvSpPr>
          <p:cNvPr id="97381" name="椭圆 239717"/>
          <p:cNvSpPr/>
          <p:nvPr/>
        </p:nvSpPr>
        <p:spPr>
          <a:xfrm>
            <a:off x="5870575" y="4919663"/>
            <a:ext cx="127000" cy="117475"/>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97382" name="矩形 239718"/>
          <p:cNvSpPr/>
          <p:nvPr/>
        </p:nvSpPr>
        <p:spPr>
          <a:xfrm>
            <a:off x="6003925" y="3960813"/>
            <a:ext cx="7778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97383" name="直接连接符 239719"/>
          <p:cNvSpPr/>
          <p:nvPr/>
        </p:nvSpPr>
        <p:spPr>
          <a:xfrm flipH="1">
            <a:off x="5016500" y="4178300"/>
            <a:ext cx="1016000" cy="0"/>
          </a:xfrm>
          <a:prstGeom prst="line">
            <a:avLst/>
          </a:prstGeom>
          <a:ln w="25400" cap="flat" cmpd="sng">
            <a:solidFill>
              <a:schemeClr val="tx1"/>
            </a:solidFill>
            <a:prstDash val="solid"/>
            <a:round/>
            <a:headEnd type="triangle" w="med" len="med"/>
            <a:tailEnd type="none" w="med" len="med"/>
          </a:ln>
        </p:spPr>
      </p:sp>
      <p:sp>
        <p:nvSpPr>
          <p:cNvPr id="97384" name="直接连接符 239720"/>
          <p:cNvSpPr/>
          <p:nvPr/>
        </p:nvSpPr>
        <p:spPr>
          <a:xfrm flipH="1">
            <a:off x="5556250" y="4114800"/>
            <a:ext cx="88900" cy="128588"/>
          </a:xfrm>
          <a:prstGeom prst="line">
            <a:avLst/>
          </a:prstGeom>
          <a:ln w="12700" cap="flat" cmpd="sng">
            <a:solidFill>
              <a:schemeClr val="tx1"/>
            </a:solidFill>
            <a:prstDash val="solid"/>
            <a:round/>
            <a:headEnd type="none" w="med" len="med"/>
            <a:tailEnd type="none" w="med" len="med"/>
          </a:ln>
        </p:spPr>
      </p:sp>
      <p:sp>
        <p:nvSpPr>
          <p:cNvPr id="97385" name="矩形 239721"/>
          <p:cNvSpPr/>
          <p:nvPr/>
        </p:nvSpPr>
        <p:spPr>
          <a:xfrm>
            <a:off x="5319713" y="4246563"/>
            <a:ext cx="434975" cy="363537"/>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97386" name="直接连接符 239722"/>
          <p:cNvSpPr/>
          <p:nvPr/>
        </p:nvSpPr>
        <p:spPr>
          <a:xfrm flipV="1">
            <a:off x="6324600" y="2674938"/>
            <a:ext cx="0" cy="1303337"/>
          </a:xfrm>
          <a:prstGeom prst="line">
            <a:avLst/>
          </a:prstGeom>
          <a:ln w="25400" cap="flat" cmpd="sng">
            <a:solidFill>
              <a:schemeClr val="tx1"/>
            </a:solidFill>
            <a:prstDash val="solid"/>
            <a:round/>
            <a:headEnd type="triangle" w="med" len="med"/>
            <a:tailEnd type="none" w="med" len="med"/>
          </a:ln>
        </p:spPr>
      </p:sp>
      <p:sp>
        <p:nvSpPr>
          <p:cNvPr id="97387" name="直接连接符 239723"/>
          <p:cNvSpPr/>
          <p:nvPr/>
        </p:nvSpPr>
        <p:spPr>
          <a:xfrm>
            <a:off x="6858000" y="3338513"/>
            <a:ext cx="0" cy="614362"/>
          </a:xfrm>
          <a:prstGeom prst="line">
            <a:avLst/>
          </a:prstGeom>
          <a:ln w="25400" cap="flat" cmpd="sng">
            <a:solidFill>
              <a:schemeClr val="tx1"/>
            </a:solidFill>
            <a:prstDash val="solid"/>
            <a:round/>
            <a:headEnd type="none" w="med" len="med"/>
            <a:tailEnd type="triangle" w="med" len="med"/>
          </a:ln>
        </p:spPr>
      </p:sp>
      <p:sp>
        <p:nvSpPr>
          <p:cNvPr id="97388" name="矩形 239724"/>
          <p:cNvSpPr/>
          <p:nvPr/>
        </p:nvSpPr>
        <p:spPr>
          <a:xfrm>
            <a:off x="6615113" y="3962400"/>
            <a:ext cx="574675" cy="363538"/>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97389" name="矩形 239725"/>
          <p:cNvSpPr/>
          <p:nvPr/>
        </p:nvSpPr>
        <p:spPr>
          <a:xfrm>
            <a:off x="6015038" y="4318000"/>
            <a:ext cx="10572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97390" name="直接连接符 239726"/>
          <p:cNvSpPr/>
          <p:nvPr/>
        </p:nvSpPr>
        <p:spPr>
          <a:xfrm>
            <a:off x="7299325" y="4129088"/>
            <a:ext cx="460375" cy="0"/>
          </a:xfrm>
          <a:prstGeom prst="line">
            <a:avLst/>
          </a:prstGeom>
          <a:ln w="25400" cap="flat" cmpd="sng">
            <a:solidFill>
              <a:schemeClr val="tx1"/>
            </a:solidFill>
            <a:prstDash val="solid"/>
            <a:round/>
            <a:headEnd type="none" w="med" len="med"/>
            <a:tailEnd type="triangle" w="med" len="med"/>
          </a:ln>
        </p:spPr>
      </p:sp>
      <p:sp>
        <p:nvSpPr>
          <p:cNvPr id="97391" name="直接连接符 239727"/>
          <p:cNvSpPr/>
          <p:nvPr/>
        </p:nvSpPr>
        <p:spPr>
          <a:xfrm>
            <a:off x="7315200" y="4143375"/>
            <a:ext cx="0" cy="449263"/>
          </a:xfrm>
          <a:prstGeom prst="line">
            <a:avLst/>
          </a:prstGeom>
          <a:ln w="25400" cap="flat" cmpd="sng">
            <a:solidFill>
              <a:schemeClr val="tx1"/>
            </a:solidFill>
            <a:prstDash val="solid"/>
            <a:round/>
            <a:headEnd type="none" w="med" len="med"/>
            <a:tailEnd type="none" w="med" len="med"/>
          </a:ln>
        </p:spPr>
      </p:sp>
      <p:sp>
        <p:nvSpPr>
          <p:cNvPr id="97392" name="直接连接符 239728"/>
          <p:cNvSpPr/>
          <p:nvPr/>
        </p:nvSpPr>
        <p:spPr>
          <a:xfrm flipH="1">
            <a:off x="7150100" y="4605338"/>
            <a:ext cx="177800" cy="0"/>
          </a:xfrm>
          <a:prstGeom prst="line">
            <a:avLst/>
          </a:prstGeom>
          <a:ln w="25400" cap="flat" cmpd="sng">
            <a:solidFill>
              <a:schemeClr val="tx1"/>
            </a:solidFill>
            <a:prstDash val="solid"/>
            <a:round/>
            <a:headEnd type="none" w="med" len="med"/>
            <a:tailEnd type="none" w="med" len="med"/>
          </a:ln>
        </p:spPr>
      </p:sp>
      <p:sp>
        <p:nvSpPr>
          <p:cNvPr id="97393" name="直接连接符 239729"/>
          <p:cNvSpPr/>
          <p:nvPr/>
        </p:nvSpPr>
        <p:spPr>
          <a:xfrm flipH="1">
            <a:off x="7385050" y="4064000"/>
            <a:ext cx="88900" cy="128588"/>
          </a:xfrm>
          <a:prstGeom prst="line">
            <a:avLst/>
          </a:prstGeom>
          <a:ln w="12700" cap="flat" cmpd="sng">
            <a:solidFill>
              <a:schemeClr val="tx1"/>
            </a:solidFill>
            <a:prstDash val="solid"/>
            <a:round/>
            <a:headEnd type="none" w="med" len="med"/>
            <a:tailEnd type="none" w="med" len="med"/>
          </a:ln>
        </p:spPr>
      </p:sp>
      <p:sp>
        <p:nvSpPr>
          <p:cNvPr id="97394" name="矩形 239730"/>
          <p:cNvSpPr/>
          <p:nvPr/>
        </p:nvSpPr>
        <p:spPr>
          <a:xfrm>
            <a:off x="7148513" y="3765550"/>
            <a:ext cx="4349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97395" name="矩形 239731"/>
          <p:cNvSpPr/>
          <p:nvPr/>
        </p:nvSpPr>
        <p:spPr>
          <a:xfrm>
            <a:off x="6310313" y="2628900"/>
            <a:ext cx="1006475" cy="363538"/>
          </a:xfrm>
          <a:prstGeom prst="rect">
            <a:avLst/>
          </a:prstGeom>
          <a:noFill/>
          <a:ln w="12700">
            <a:noFill/>
          </a:ln>
        </p:spPr>
        <p:txBody>
          <a:bodyPr wrap="none" lIns="90488" tIns="44450" rIns="90488" bIns="44450" anchor="t" anchorCtr="0">
            <a:spAutoFit/>
          </a:bodyPr>
          <a:p>
            <a:r>
              <a:rPr lang="en-US" altLang="zh-CN" sz="1800" dirty="0" err="1">
                <a:solidFill>
                  <a:schemeClr val="accent1"/>
                </a:solidFill>
                <a:latin typeface="Arial" panose="020B0604020202020204" pitchFamily="34" charset="0"/>
                <a:ea typeface="宋体" panose="02010600030101010101" pitchFamily="2" charset="-122"/>
              </a:rPr>
              <a:t>MemWr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7396" name="直接连接符 239732"/>
          <p:cNvSpPr/>
          <p:nvPr/>
        </p:nvSpPr>
        <p:spPr>
          <a:xfrm>
            <a:off x="3810000" y="3595688"/>
            <a:ext cx="0" cy="569912"/>
          </a:xfrm>
          <a:prstGeom prst="line">
            <a:avLst/>
          </a:prstGeom>
          <a:ln w="25400" cap="flat" cmpd="sng">
            <a:solidFill>
              <a:schemeClr val="tx1"/>
            </a:solidFill>
            <a:prstDash val="solid"/>
            <a:round/>
            <a:headEnd type="none" w="med" len="med"/>
            <a:tailEnd type="none" w="med" len="med"/>
          </a:ln>
        </p:spPr>
      </p:sp>
      <p:sp>
        <p:nvSpPr>
          <p:cNvPr id="97397" name="直接连接符 239733"/>
          <p:cNvSpPr/>
          <p:nvPr/>
        </p:nvSpPr>
        <p:spPr>
          <a:xfrm>
            <a:off x="3805238" y="4170363"/>
            <a:ext cx="1211262" cy="7937"/>
          </a:xfrm>
          <a:prstGeom prst="line">
            <a:avLst/>
          </a:prstGeom>
          <a:ln w="25400" cap="flat" cmpd="sng">
            <a:solidFill>
              <a:schemeClr val="tx1"/>
            </a:solidFill>
            <a:prstDash val="solid"/>
            <a:round/>
            <a:headEnd type="none" w="med" len="med"/>
            <a:tailEnd type="none" w="med" len="med"/>
          </a:ln>
        </p:spPr>
      </p:sp>
      <p:sp>
        <p:nvSpPr>
          <p:cNvPr id="97398" name="矩形 239734"/>
          <p:cNvSpPr/>
          <p:nvPr/>
        </p:nvSpPr>
        <p:spPr>
          <a:xfrm rot="5400000">
            <a:off x="5016500" y="3181350"/>
            <a:ext cx="65087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97399" name="矩形 239735"/>
          <p:cNvSpPr/>
          <p:nvPr/>
        </p:nvSpPr>
        <p:spPr>
          <a:xfrm>
            <a:off x="4575175" y="1109663"/>
            <a:ext cx="1203325" cy="873125"/>
          </a:xfrm>
          <a:prstGeom prst="rect">
            <a:avLst/>
          </a:prstGeom>
          <a:noFill/>
          <a:ln w="25400" cap="flat" cmpd="sng">
            <a:solidFill>
              <a:schemeClr val="tx1"/>
            </a:solidFill>
            <a:prstDash val="solid"/>
            <a:miter/>
            <a:headEnd type="none" w="med" len="med"/>
            <a:tailEnd type="none" w="med" len="med"/>
          </a:ln>
        </p:spPr>
        <p:txBody>
          <a:bodyPr anchor="t" anchorCtr="0"/>
          <a:p>
            <a:endParaRPr lang="zh-CN" altLang="en-US">
              <a:latin typeface="Arial" panose="020B0604020202020204" pitchFamily="34" charset="0"/>
            </a:endParaRPr>
          </a:p>
        </p:txBody>
      </p:sp>
      <p:sp>
        <p:nvSpPr>
          <p:cNvPr id="97400" name="直接连接符 239736"/>
          <p:cNvSpPr/>
          <p:nvPr/>
        </p:nvSpPr>
        <p:spPr>
          <a:xfrm flipH="1">
            <a:off x="3949700" y="1836738"/>
            <a:ext cx="482600" cy="0"/>
          </a:xfrm>
          <a:prstGeom prst="line">
            <a:avLst/>
          </a:prstGeom>
          <a:ln w="25400" cap="flat" cmpd="sng">
            <a:solidFill>
              <a:schemeClr val="tx1"/>
            </a:solidFill>
            <a:prstDash val="solid"/>
            <a:round/>
            <a:headEnd type="none" w="med" len="med"/>
            <a:tailEnd type="none" w="med" len="med"/>
          </a:ln>
        </p:spPr>
      </p:sp>
      <p:sp>
        <p:nvSpPr>
          <p:cNvPr id="97401" name="直接连接符 239737"/>
          <p:cNvSpPr/>
          <p:nvPr/>
        </p:nvSpPr>
        <p:spPr>
          <a:xfrm>
            <a:off x="4556125" y="1731963"/>
            <a:ext cx="307975" cy="92075"/>
          </a:xfrm>
          <a:prstGeom prst="line">
            <a:avLst/>
          </a:prstGeom>
          <a:ln w="25400" cap="flat" cmpd="sng">
            <a:solidFill>
              <a:schemeClr val="tx1"/>
            </a:solidFill>
            <a:prstDash val="solid"/>
            <a:round/>
            <a:headEnd type="none" w="med" len="med"/>
            <a:tailEnd type="none" w="med" len="med"/>
          </a:ln>
        </p:spPr>
      </p:sp>
      <p:sp>
        <p:nvSpPr>
          <p:cNvPr id="97402" name="直接连接符 239738"/>
          <p:cNvSpPr/>
          <p:nvPr/>
        </p:nvSpPr>
        <p:spPr>
          <a:xfrm flipH="1">
            <a:off x="4559300" y="1835150"/>
            <a:ext cx="301625" cy="84138"/>
          </a:xfrm>
          <a:prstGeom prst="line">
            <a:avLst/>
          </a:prstGeom>
          <a:ln w="25400" cap="flat" cmpd="sng">
            <a:solidFill>
              <a:schemeClr val="tx1"/>
            </a:solidFill>
            <a:prstDash val="solid"/>
            <a:round/>
            <a:headEnd type="none" w="med" len="med"/>
            <a:tailEnd type="none" w="med" len="med"/>
          </a:ln>
        </p:spPr>
      </p:sp>
      <p:sp>
        <p:nvSpPr>
          <p:cNvPr id="97403" name="椭圆 239739"/>
          <p:cNvSpPr/>
          <p:nvPr/>
        </p:nvSpPr>
        <p:spPr>
          <a:xfrm>
            <a:off x="4422775" y="1795463"/>
            <a:ext cx="127000" cy="117475"/>
          </a:xfrm>
          <a:prstGeom prst="ellipse">
            <a:avLst/>
          </a:prstGeom>
          <a:noFill/>
          <a:ln w="25400" cap="flat" cmpd="sng">
            <a:solidFill>
              <a:schemeClr val="tx1"/>
            </a:solidFill>
            <a:prstDash val="solid"/>
            <a:round/>
            <a:headEnd type="none" w="med" len="med"/>
            <a:tailEnd type="none" w="med" len="med"/>
          </a:ln>
        </p:spPr>
        <p:txBody>
          <a:bodyPr anchor="t" anchorCtr="0"/>
          <a:p>
            <a:endParaRPr lang="zh-CN" altLang="en-US">
              <a:latin typeface="Arial" panose="020B0604020202020204" pitchFamily="34" charset="0"/>
            </a:endParaRPr>
          </a:p>
        </p:txBody>
      </p:sp>
      <p:sp>
        <p:nvSpPr>
          <p:cNvPr id="97404" name="矩形 239740"/>
          <p:cNvSpPr/>
          <p:nvPr/>
        </p:nvSpPr>
        <p:spPr>
          <a:xfrm>
            <a:off x="4494213" y="1193800"/>
            <a:ext cx="1362075" cy="638175"/>
          </a:xfrm>
          <a:prstGeom prst="rect">
            <a:avLst/>
          </a:prstGeom>
          <a:noFill/>
          <a:ln w="12700">
            <a:noFill/>
          </a:ln>
        </p:spPr>
        <p:txBody>
          <a:bodyPr wrap="none" lIns="90488" tIns="44450" rIns="90488" bIns="44450" anchor="t" anchorCtr="0">
            <a:spAutoFit/>
          </a:bodyPr>
          <a:p>
            <a:pPr algn="ctr"/>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a:r>
              <a:rPr lang="en-US" altLang="zh-CN" sz="1800">
                <a:latin typeface="Arial" panose="020B0604020202020204" pitchFamily="34" charset="0"/>
                <a:ea typeface="宋体" panose="02010600030101010101" pitchFamily="2" charset="-122"/>
              </a:rPr>
              <a:t>Fetch</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Unit</a:t>
            </a:r>
            <a:endParaRPr lang="en-US" altLang="zh-CN" sz="1800">
              <a:latin typeface="Arial" panose="020B0604020202020204" pitchFamily="34" charset="0"/>
              <a:ea typeface="宋体" panose="02010600030101010101" pitchFamily="2" charset="-122"/>
            </a:endParaRPr>
          </a:p>
        </p:txBody>
      </p:sp>
      <p:sp>
        <p:nvSpPr>
          <p:cNvPr id="97405" name="矩形 239741"/>
          <p:cNvSpPr/>
          <p:nvPr/>
        </p:nvSpPr>
        <p:spPr>
          <a:xfrm>
            <a:off x="3500438" y="1646238"/>
            <a:ext cx="536575" cy="363537"/>
          </a:xfrm>
          <a:prstGeom prst="rect">
            <a:avLst/>
          </a:prstGeom>
          <a:noFill/>
          <a:ln w="12700">
            <a:noFill/>
          </a:ln>
        </p:spPr>
        <p:txBody>
          <a:bodyPr wrap="none" lIns="90488" tIns="44450" rIns="90488" bIns="44450" anchor="t" anchorCtr="0">
            <a:spAutoFit/>
          </a:bodyPr>
          <a:p>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97406" name="直接连接符 239742"/>
          <p:cNvSpPr/>
          <p:nvPr/>
        </p:nvSpPr>
        <p:spPr>
          <a:xfrm flipV="1">
            <a:off x="5638800" y="1970088"/>
            <a:ext cx="0" cy="1196975"/>
          </a:xfrm>
          <a:prstGeom prst="line">
            <a:avLst/>
          </a:prstGeom>
          <a:ln w="25400" cap="flat" cmpd="sng">
            <a:solidFill>
              <a:schemeClr val="tx1"/>
            </a:solidFill>
            <a:prstDash val="solid"/>
            <a:round/>
            <a:headEnd type="none" w="med" len="med"/>
            <a:tailEnd type="triangle" w="med" len="med"/>
          </a:ln>
        </p:spPr>
      </p:sp>
      <p:sp>
        <p:nvSpPr>
          <p:cNvPr id="97407" name="直接连接符 239743"/>
          <p:cNvSpPr/>
          <p:nvPr/>
        </p:nvSpPr>
        <p:spPr>
          <a:xfrm flipH="1">
            <a:off x="5473700" y="3154363"/>
            <a:ext cx="177800" cy="0"/>
          </a:xfrm>
          <a:prstGeom prst="line">
            <a:avLst/>
          </a:prstGeom>
          <a:ln w="25400" cap="flat" cmpd="sng">
            <a:solidFill>
              <a:schemeClr val="tx1"/>
            </a:solidFill>
            <a:prstDash val="solid"/>
            <a:round/>
            <a:headEnd type="none" w="med" len="med"/>
            <a:tailEnd type="none" w="med" len="med"/>
          </a:ln>
        </p:spPr>
      </p:sp>
      <p:sp>
        <p:nvSpPr>
          <p:cNvPr id="97408" name="矩形 239744"/>
          <p:cNvSpPr/>
          <p:nvPr/>
        </p:nvSpPr>
        <p:spPr>
          <a:xfrm>
            <a:off x="5595938" y="2606675"/>
            <a:ext cx="676275" cy="363538"/>
          </a:xfrm>
          <a:prstGeom prst="rect">
            <a:avLst/>
          </a:prstGeom>
          <a:noFill/>
          <a:ln w="12700">
            <a:noFill/>
          </a:ln>
        </p:spPr>
        <p:txBody>
          <a:bodyPr wrap="none" lIns="90488" tIns="44450" rIns="90488" bIns="44450" anchor="t" anchorCtr="0">
            <a:spAutoFit/>
          </a:bodyPr>
          <a:p>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97409" name="直接连接符 239745"/>
          <p:cNvSpPr/>
          <p:nvPr/>
        </p:nvSpPr>
        <p:spPr>
          <a:xfrm>
            <a:off x="5803900" y="1249363"/>
            <a:ext cx="2489200" cy="0"/>
          </a:xfrm>
          <a:prstGeom prst="line">
            <a:avLst/>
          </a:prstGeom>
          <a:ln w="25400" cap="flat" cmpd="sng">
            <a:solidFill>
              <a:schemeClr val="tx1"/>
            </a:solidFill>
            <a:prstDash val="solid"/>
            <a:round/>
            <a:headEnd type="none" w="med" len="med"/>
            <a:tailEnd type="triangle" w="med" len="med"/>
          </a:ln>
        </p:spPr>
      </p:sp>
      <p:sp>
        <p:nvSpPr>
          <p:cNvPr id="97410" name="矩形 239746"/>
          <p:cNvSpPr/>
          <p:nvPr/>
        </p:nvSpPr>
        <p:spPr>
          <a:xfrm>
            <a:off x="5853113" y="860425"/>
            <a:ext cx="2066925" cy="363538"/>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97411" name="直接连接符 239747"/>
          <p:cNvSpPr/>
          <p:nvPr/>
        </p:nvSpPr>
        <p:spPr>
          <a:xfrm>
            <a:off x="3975100" y="1554163"/>
            <a:ext cx="584200" cy="0"/>
          </a:xfrm>
          <a:prstGeom prst="line">
            <a:avLst/>
          </a:prstGeom>
          <a:ln w="25400" cap="flat" cmpd="sng">
            <a:solidFill>
              <a:schemeClr val="tx1"/>
            </a:solidFill>
            <a:prstDash val="solid"/>
            <a:round/>
            <a:headEnd type="none" w="med" len="med"/>
            <a:tailEnd type="triangle" w="med" len="med"/>
          </a:ln>
        </p:spPr>
      </p:sp>
      <p:sp>
        <p:nvSpPr>
          <p:cNvPr id="97412" name="直接连接符 239748"/>
          <p:cNvSpPr/>
          <p:nvPr/>
        </p:nvSpPr>
        <p:spPr>
          <a:xfrm>
            <a:off x="3975100" y="1249363"/>
            <a:ext cx="584200" cy="0"/>
          </a:xfrm>
          <a:prstGeom prst="line">
            <a:avLst/>
          </a:prstGeom>
          <a:ln w="25400" cap="flat" cmpd="sng">
            <a:solidFill>
              <a:schemeClr val="tx1"/>
            </a:solidFill>
            <a:prstDash val="solid"/>
            <a:round/>
            <a:headEnd type="none" w="med" len="med"/>
            <a:tailEnd type="triangle" w="med" len="med"/>
          </a:ln>
        </p:spPr>
      </p:sp>
      <p:sp>
        <p:nvSpPr>
          <p:cNvPr id="97413" name="矩形 239749"/>
          <p:cNvSpPr/>
          <p:nvPr/>
        </p:nvSpPr>
        <p:spPr>
          <a:xfrm>
            <a:off x="3221038" y="1341438"/>
            <a:ext cx="790575" cy="363537"/>
          </a:xfrm>
          <a:prstGeom prst="rect">
            <a:avLst/>
          </a:prstGeom>
          <a:noFill/>
          <a:ln w="12700">
            <a:noFill/>
          </a:ln>
        </p:spPr>
        <p:txBody>
          <a:bodyPr wrap="none" lIns="90488" tIns="44450" rIns="90488" bIns="44450" anchor="t" anchorCtr="0">
            <a:spAutoFit/>
          </a:bodyPr>
          <a:p>
            <a:r>
              <a:rPr lang="en-US" altLang="zh-CN" sz="1800">
                <a:solidFill>
                  <a:schemeClr val="accent1"/>
                </a:solidFill>
                <a:latin typeface="Arial" panose="020B0604020202020204" pitchFamily="34" charset="0"/>
                <a:ea typeface="宋体" panose="02010600030101010101" pitchFamily="2" charset="-122"/>
              </a:rPr>
              <a:t>Jump</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7414" name="矩形 239750"/>
          <p:cNvSpPr/>
          <p:nvPr/>
        </p:nvSpPr>
        <p:spPr>
          <a:xfrm>
            <a:off x="3068638" y="960438"/>
            <a:ext cx="968375" cy="363537"/>
          </a:xfrm>
          <a:prstGeom prst="rect">
            <a:avLst/>
          </a:prstGeom>
          <a:noFill/>
          <a:ln w="12700">
            <a:noFill/>
          </a:ln>
        </p:spPr>
        <p:txBody>
          <a:bodyPr wrap="none" lIns="90488" tIns="44450" rIns="90488" bIns="44450" anchor="t" anchorCtr="0">
            <a:spAutoFit/>
          </a:bodyPr>
          <a:p>
            <a:r>
              <a:rPr lang="en-US" altLang="zh-CN" sz="1800">
                <a:solidFill>
                  <a:schemeClr val="accent1"/>
                </a:solidFill>
                <a:latin typeface="Arial" panose="020B0604020202020204" pitchFamily="34" charset="0"/>
                <a:ea typeface="宋体" panose="02010600030101010101" pitchFamily="2" charset="-122"/>
              </a:rPr>
              <a:t>Branch</a:t>
            </a:r>
            <a:endParaRPr lang="en-US" altLang="zh-CN" sz="1800">
              <a:solidFill>
                <a:schemeClr val="accent1"/>
              </a:solidFill>
              <a:latin typeface="Arial" panose="020B0604020202020204" pitchFamily="34" charset="0"/>
              <a:ea typeface="宋体" panose="02010600030101010101" pitchFamily="2" charset="-122"/>
            </a:endParaRPr>
          </a:p>
        </p:txBody>
      </p:sp>
      <p:sp>
        <p:nvSpPr>
          <p:cNvPr id="97415" name="矩形 239752"/>
          <p:cNvSpPr/>
          <p:nvPr/>
        </p:nvSpPr>
        <p:spPr>
          <a:xfrm>
            <a:off x="7732713" y="3154363"/>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97416" name="矩形 239753"/>
          <p:cNvSpPr/>
          <p:nvPr/>
        </p:nvSpPr>
        <p:spPr>
          <a:xfrm>
            <a:off x="7732713" y="3933825"/>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97417" name="矩形 239754"/>
          <p:cNvSpPr/>
          <p:nvPr/>
        </p:nvSpPr>
        <p:spPr>
          <a:xfrm>
            <a:off x="4151313" y="3382963"/>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97418" name="矩形 239755"/>
          <p:cNvSpPr/>
          <p:nvPr/>
        </p:nvSpPr>
        <p:spPr>
          <a:xfrm>
            <a:off x="4151313" y="4162425"/>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97419" name="矩形 239756"/>
          <p:cNvSpPr/>
          <p:nvPr/>
        </p:nvSpPr>
        <p:spPr>
          <a:xfrm>
            <a:off x="2281238" y="1833563"/>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97420" name="矩形 239757"/>
          <p:cNvSpPr/>
          <p:nvPr/>
        </p:nvSpPr>
        <p:spPr>
          <a:xfrm>
            <a:off x="1595438" y="1833563"/>
            <a:ext cx="282575" cy="333375"/>
          </a:xfrm>
          <a:prstGeom prst="rect">
            <a:avLst/>
          </a:prstGeom>
          <a:noFill/>
          <a:ln w="12700">
            <a:noFill/>
          </a:ln>
        </p:spPr>
        <p:txBody>
          <a:bodyPr wrap="none" lIns="90488" tIns="44450" rIns="90488" bIns="44450" anchor="t" anchorCtr="0">
            <a:spAutoFit/>
          </a:bodyPr>
          <a:p>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97421" name="直接连接符 239758"/>
          <p:cNvSpPr/>
          <p:nvPr/>
        </p:nvSpPr>
        <p:spPr>
          <a:xfrm>
            <a:off x="6096000" y="1262063"/>
            <a:ext cx="0" cy="889000"/>
          </a:xfrm>
          <a:prstGeom prst="line">
            <a:avLst/>
          </a:prstGeom>
          <a:ln w="25400" cap="flat" cmpd="sng">
            <a:solidFill>
              <a:schemeClr val="tx1"/>
            </a:solidFill>
            <a:prstDash val="solid"/>
            <a:round/>
            <a:headEnd type="none" w="med" len="med"/>
            <a:tailEnd type="triangle" w="med" len="med"/>
          </a:ln>
        </p:spPr>
      </p:sp>
      <p:sp>
        <p:nvSpPr>
          <p:cNvPr id="97422" name="矩形 239759"/>
          <p:cNvSpPr/>
          <p:nvPr/>
        </p:nvSpPr>
        <p:spPr>
          <a:xfrm rot="5400000">
            <a:off x="5749925" y="1533525"/>
            <a:ext cx="10318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&lt;21:25&gt;</a:t>
            </a:r>
            <a:endParaRPr lang="zh-CN" altLang="en-US" sz="1800" dirty="0">
              <a:latin typeface="Arial" panose="020B0604020202020204" pitchFamily="34" charset="0"/>
              <a:ea typeface="宋体" panose="02010600030101010101" pitchFamily="2" charset="-122"/>
            </a:endParaRPr>
          </a:p>
        </p:txBody>
      </p:sp>
      <p:sp>
        <p:nvSpPr>
          <p:cNvPr id="97423" name="矩形 239760"/>
          <p:cNvSpPr/>
          <p:nvPr/>
        </p:nvSpPr>
        <p:spPr>
          <a:xfrm rot="5400000">
            <a:off x="6283325" y="1533525"/>
            <a:ext cx="10318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&lt;16:20&gt;</a:t>
            </a:r>
            <a:endParaRPr lang="zh-CN" altLang="en-US" sz="1800" dirty="0">
              <a:latin typeface="Arial" panose="020B0604020202020204" pitchFamily="34" charset="0"/>
              <a:ea typeface="宋体" panose="02010600030101010101" pitchFamily="2" charset="-122"/>
            </a:endParaRPr>
          </a:p>
        </p:txBody>
      </p:sp>
      <p:sp>
        <p:nvSpPr>
          <p:cNvPr id="97424" name="矩形 239761"/>
          <p:cNvSpPr/>
          <p:nvPr/>
        </p:nvSpPr>
        <p:spPr>
          <a:xfrm rot="5400000">
            <a:off x="6816725" y="1533525"/>
            <a:ext cx="10318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&lt;11:15&gt;</a:t>
            </a:r>
            <a:endParaRPr lang="zh-CN" altLang="en-US" sz="1800" dirty="0">
              <a:latin typeface="Arial" panose="020B0604020202020204" pitchFamily="34" charset="0"/>
              <a:ea typeface="宋体" panose="02010600030101010101" pitchFamily="2" charset="-122"/>
            </a:endParaRPr>
          </a:p>
        </p:txBody>
      </p:sp>
      <p:sp>
        <p:nvSpPr>
          <p:cNvPr id="97425" name="矩形 239762"/>
          <p:cNvSpPr/>
          <p:nvPr/>
        </p:nvSpPr>
        <p:spPr>
          <a:xfrm rot="5400000">
            <a:off x="7362825" y="1520825"/>
            <a:ext cx="904875" cy="363538"/>
          </a:xfrm>
          <a:prstGeom prst="rect">
            <a:avLst/>
          </a:prstGeom>
          <a:noFill/>
          <a:ln w="12700">
            <a:noFill/>
          </a:ln>
        </p:spPr>
        <p:txBody>
          <a:bodyPr wrap="none" lIns="90488" tIns="44450" rIns="90488" bIns="44450" anchor="t" anchorCtr="0">
            <a:spAutoFit/>
          </a:bodyPr>
          <a:p>
            <a:r>
              <a:rPr lang="zh-CN" altLang="en-US" sz="1800" dirty="0">
                <a:latin typeface="Arial" panose="020B0604020202020204" pitchFamily="34" charset="0"/>
                <a:ea typeface="宋体" panose="02010600030101010101" pitchFamily="2" charset="-122"/>
              </a:rPr>
              <a:t>&lt;0:15&gt;</a:t>
            </a:r>
            <a:endParaRPr lang="zh-CN" altLang="en-US" sz="1800" dirty="0">
              <a:latin typeface="Arial" panose="020B0604020202020204" pitchFamily="34" charset="0"/>
              <a:ea typeface="宋体" panose="02010600030101010101" pitchFamily="2" charset="-122"/>
            </a:endParaRPr>
          </a:p>
        </p:txBody>
      </p:sp>
      <p:sp>
        <p:nvSpPr>
          <p:cNvPr id="97426" name="直接连接符 239763"/>
          <p:cNvSpPr/>
          <p:nvPr/>
        </p:nvSpPr>
        <p:spPr>
          <a:xfrm>
            <a:off x="6629400" y="1262063"/>
            <a:ext cx="0" cy="889000"/>
          </a:xfrm>
          <a:prstGeom prst="line">
            <a:avLst/>
          </a:prstGeom>
          <a:ln w="25400" cap="flat" cmpd="sng">
            <a:solidFill>
              <a:schemeClr val="tx1"/>
            </a:solidFill>
            <a:prstDash val="solid"/>
            <a:round/>
            <a:headEnd type="none" w="med" len="med"/>
            <a:tailEnd type="triangle" w="med" len="med"/>
          </a:ln>
        </p:spPr>
      </p:sp>
      <p:sp>
        <p:nvSpPr>
          <p:cNvPr id="97427" name="直接连接符 239764"/>
          <p:cNvSpPr/>
          <p:nvPr/>
        </p:nvSpPr>
        <p:spPr>
          <a:xfrm>
            <a:off x="7162800" y="1262063"/>
            <a:ext cx="0" cy="889000"/>
          </a:xfrm>
          <a:prstGeom prst="line">
            <a:avLst/>
          </a:prstGeom>
          <a:ln w="25400" cap="flat" cmpd="sng">
            <a:solidFill>
              <a:schemeClr val="tx1"/>
            </a:solidFill>
            <a:prstDash val="solid"/>
            <a:round/>
            <a:headEnd type="none" w="med" len="med"/>
            <a:tailEnd type="triangle" w="med" len="med"/>
          </a:ln>
        </p:spPr>
      </p:sp>
      <p:sp>
        <p:nvSpPr>
          <p:cNvPr id="97428" name="直接连接符 239765"/>
          <p:cNvSpPr/>
          <p:nvPr/>
        </p:nvSpPr>
        <p:spPr>
          <a:xfrm>
            <a:off x="7696200" y="1262063"/>
            <a:ext cx="0" cy="889000"/>
          </a:xfrm>
          <a:prstGeom prst="line">
            <a:avLst/>
          </a:prstGeom>
          <a:ln w="25400" cap="flat" cmpd="sng">
            <a:solidFill>
              <a:schemeClr val="tx1"/>
            </a:solidFill>
            <a:prstDash val="solid"/>
            <a:round/>
            <a:headEnd type="none" w="med" len="med"/>
            <a:tailEnd type="triangle" w="med" len="med"/>
          </a:ln>
        </p:spPr>
      </p:sp>
      <p:sp>
        <p:nvSpPr>
          <p:cNvPr id="97429" name="矩形 239766"/>
          <p:cNvSpPr/>
          <p:nvPr/>
        </p:nvSpPr>
        <p:spPr>
          <a:xfrm>
            <a:off x="7453313" y="2087563"/>
            <a:ext cx="9048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97430" name="矩形 239767"/>
          <p:cNvSpPr/>
          <p:nvPr/>
        </p:nvSpPr>
        <p:spPr>
          <a:xfrm>
            <a:off x="6919913" y="2087563"/>
            <a:ext cx="485775" cy="363537"/>
          </a:xfrm>
          <a:prstGeom prst="rect">
            <a:avLst/>
          </a:prstGeom>
          <a:noFill/>
          <a:ln w="12700">
            <a:noFill/>
          </a:ln>
        </p:spPr>
        <p:txBody>
          <a:bodyPr wrap="none" lIns="90488" tIns="44450" rIns="90488" bIns="44450" anchor="t" anchorCtr="0">
            <a:spAutoFit/>
          </a:bodyPr>
          <a:p>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97431" name="矩形 239768"/>
          <p:cNvSpPr/>
          <p:nvPr/>
        </p:nvSpPr>
        <p:spPr>
          <a:xfrm>
            <a:off x="6462713" y="2087563"/>
            <a:ext cx="4222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97432" name="矩形 239769"/>
          <p:cNvSpPr/>
          <p:nvPr/>
        </p:nvSpPr>
        <p:spPr>
          <a:xfrm>
            <a:off x="5929313" y="2087563"/>
            <a:ext cx="473075" cy="363537"/>
          </a:xfrm>
          <a:prstGeom prst="rect">
            <a:avLst/>
          </a:prstGeom>
          <a:noFill/>
          <a:ln w="12700">
            <a:noFill/>
          </a:ln>
        </p:spPr>
        <p:txBody>
          <a:bodyPr wrap="none" lIns="90488" tIns="44450" rIns="90488" bIns="44450" anchor="t" anchorCtr="0">
            <a:spAutoFit/>
          </a:bodyPr>
          <a:p>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239771" name="文本框 239770"/>
          <p:cNvSpPr txBox="1"/>
          <p:nvPr/>
        </p:nvSpPr>
        <p:spPr>
          <a:xfrm>
            <a:off x="355600" y="5861050"/>
            <a:ext cx="8461375" cy="381000"/>
          </a:xfrm>
          <a:prstGeom prst="rect">
            <a:avLst/>
          </a:prstGeom>
          <a:noFill/>
          <a:ln w="50800">
            <a:noFill/>
          </a:ln>
        </p:spPr>
        <p:txBody>
          <a:bodyPr anchor="t" anchorCtr="0">
            <a:spAutoFit/>
          </a:bodyPr>
          <a:p>
            <a:pPr>
              <a:spcBef>
                <a:spcPct val="50000"/>
              </a:spcBef>
            </a:pPr>
            <a:r>
              <a:rPr lang="zh-CN" altLang="en-US" sz="1900" dirty="0">
                <a:solidFill>
                  <a:srgbClr val="A50021"/>
                </a:solidFill>
                <a:latin typeface="Arial" panose="020B0604020202020204" pitchFamily="34" charset="0"/>
                <a:ea typeface="黑体" panose="02010609060101010101" pitchFamily="49" charset="-122"/>
              </a:rPr>
              <a:t>指令执行结果总是在下个时钟到来时开始保存在 </a:t>
            </a:r>
            <a:r>
              <a:rPr lang="zh-CN" altLang="en-US" sz="1900" dirty="0">
                <a:solidFill>
                  <a:schemeClr val="accent2"/>
                </a:solidFill>
                <a:latin typeface="Arial" panose="020B0604020202020204" pitchFamily="34" charset="0"/>
                <a:ea typeface="黑体" panose="02010609060101010101" pitchFamily="49" charset="-122"/>
              </a:rPr>
              <a:t>寄存器 </a:t>
            </a:r>
            <a:r>
              <a:rPr lang="zh-CN" altLang="en-US" sz="1900" dirty="0">
                <a:solidFill>
                  <a:srgbClr val="A50021"/>
                </a:solidFill>
                <a:latin typeface="Arial" panose="020B0604020202020204" pitchFamily="34" charset="0"/>
                <a:ea typeface="黑体" panose="02010609060101010101" pitchFamily="49" charset="-122"/>
              </a:rPr>
              <a:t>或 </a:t>
            </a:r>
            <a:r>
              <a:rPr lang="zh-CN" altLang="en-US" sz="1900" dirty="0">
                <a:solidFill>
                  <a:schemeClr val="accent2"/>
                </a:solidFill>
                <a:latin typeface="Arial" panose="020B0604020202020204" pitchFamily="34" charset="0"/>
                <a:ea typeface="黑体" panose="02010609060101010101" pitchFamily="49" charset="-122"/>
              </a:rPr>
              <a:t>存储器</a:t>
            </a:r>
            <a:r>
              <a:rPr lang="zh-CN" altLang="en-US" sz="1900" dirty="0">
                <a:solidFill>
                  <a:srgbClr val="A50021"/>
                </a:solidFill>
                <a:latin typeface="Arial" panose="020B0604020202020204" pitchFamily="34" charset="0"/>
                <a:ea typeface="黑体" panose="02010609060101010101" pitchFamily="49" charset="-122"/>
              </a:rPr>
              <a:t> 或</a:t>
            </a:r>
            <a:r>
              <a:rPr lang="zh-CN" altLang="en-US" sz="1900" dirty="0">
                <a:solidFill>
                  <a:schemeClr val="accent2"/>
                </a:solidFill>
                <a:latin typeface="Arial" panose="020B0604020202020204" pitchFamily="34" charset="0"/>
                <a:ea typeface="黑体" panose="02010609060101010101" pitchFamily="49" charset="-122"/>
              </a:rPr>
              <a:t> </a:t>
            </a:r>
            <a:r>
              <a:rPr lang="en-US" altLang="zh-CN" sz="1900">
                <a:solidFill>
                  <a:schemeClr val="accent2"/>
                </a:solidFill>
                <a:latin typeface="Arial" panose="020B0604020202020204" pitchFamily="34" charset="0"/>
                <a:ea typeface="黑体" panose="02010609060101010101" pitchFamily="49" charset="-122"/>
              </a:rPr>
              <a:t>PC</a:t>
            </a:r>
            <a:r>
              <a:rPr lang="en-US" altLang="zh-CN" sz="1900">
                <a:solidFill>
                  <a:srgbClr val="A50021"/>
                </a:solidFill>
                <a:latin typeface="Arial" panose="020B0604020202020204" pitchFamily="34" charset="0"/>
                <a:ea typeface="黑体" panose="02010609060101010101" pitchFamily="49" charset="-122"/>
              </a:rPr>
              <a:t> </a:t>
            </a:r>
            <a:r>
              <a:rPr lang="zh-CN" altLang="en-US" sz="1900" dirty="0">
                <a:solidFill>
                  <a:srgbClr val="A50021"/>
                </a:solidFill>
                <a:latin typeface="Arial" panose="020B0604020202020204" pitchFamily="34" charset="0"/>
                <a:ea typeface="黑体" panose="02010609060101010101" pitchFamily="49" charset="-122"/>
              </a:rPr>
              <a:t>中！</a:t>
            </a:r>
            <a:endParaRPr lang="zh-CN" altLang="en-US" sz="1900" dirty="0">
              <a:solidFill>
                <a:srgbClr val="A50021"/>
              </a:solidFill>
              <a:latin typeface="Arial" panose="020B0604020202020204" pitchFamily="34" charset="0"/>
              <a:ea typeface="黑体" panose="02010609060101010101" pitchFamily="49" charset="-122"/>
            </a:endParaRPr>
          </a:p>
        </p:txBody>
      </p:sp>
      <p:sp>
        <p:nvSpPr>
          <p:cNvPr id="239773" name="内容占位符 239772"/>
          <p:cNvSpPr>
            <a:spLocks noGrp="1"/>
          </p:cNvSpPr>
          <p:nvPr>
            <p:ph idx="1"/>
          </p:nvPr>
        </p:nvSpPr>
        <p:spPr>
          <a:xfrm>
            <a:off x="1082675" y="6235700"/>
            <a:ext cx="7807325" cy="434975"/>
          </a:xfrm>
          <a:ln/>
        </p:spPr>
        <p:txBody>
          <a:bodyPr vert="horz" wrap="square" lIns="63500" tIns="25400" rIns="63500" bIns="25400" anchor="t" anchorCtr="0">
            <a:spAutoFit/>
          </a:bodyPr>
          <a:p>
            <a:pPr marL="342900" indent="-342900">
              <a:lnSpc>
                <a:spcPct val="120000"/>
              </a:lnSpc>
              <a:spcBef>
                <a:spcPct val="10000"/>
              </a:spcBef>
              <a:buNone/>
            </a:pPr>
            <a:r>
              <a:rPr lang="zh-CN" altLang="en-US" sz="2100" dirty="0">
                <a:ea typeface="黑体" panose="02010609060101010101" pitchFamily="49" charset="-122"/>
              </a:rPr>
              <a:t>下一讲考虑：如何产生控制信号！（这就是控制器的设计内容）</a:t>
            </a:r>
            <a:endParaRPr lang="zh-CN" altLang="en-US" sz="2100" dirty="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9771"/>
                                        </p:tgtEl>
                                        <p:attrNameLst>
                                          <p:attrName>style.visibility</p:attrName>
                                        </p:attrNameLst>
                                      </p:cBhvr>
                                      <p:to>
                                        <p:strVal val="visible"/>
                                      </p:to>
                                    </p:set>
                                    <p:animEffect transition="in" filter="blinds(horizontal)">
                                      <p:cBhvr>
                                        <p:cTn id="7" dur="500"/>
                                        <p:tgtEl>
                                          <p:spTgt spid="2397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9773">
                                            <p:txEl>
                                              <p:charRg st="0" end="29"/>
                                            </p:txEl>
                                          </p:spTgt>
                                        </p:tgtEl>
                                        <p:attrNameLst>
                                          <p:attrName>style.visibility</p:attrName>
                                        </p:attrNameLst>
                                      </p:cBhvr>
                                      <p:to>
                                        <p:strVal val="visible"/>
                                      </p:to>
                                    </p:set>
                                    <p:animEffect transition="in" filter="blinds(horizontal)">
                                      <p:cBhvr>
                                        <p:cTn id="12" dur="500"/>
                                        <p:tgtEl>
                                          <p:spTgt spid="239773">
                                            <p:txEl>
                                              <p:charRg st="0" end="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771" grpId="0"/>
      <p:bldP spid="23977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标题 310273"/>
          <p:cNvSpPr>
            <a:spLocks noGrp="1"/>
          </p:cNvSpPr>
          <p:nvPr>
            <p:ph type="title"/>
          </p:nvPr>
        </p:nvSpPr>
        <p:spPr>
          <a:xfrm>
            <a:off x="457200" y="177800"/>
            <a:ext cx="2865438" cy="531813"/>
          </a:xfrm>
          <a:ln/>
        </p:spPr>
        <p:txBody>
          <a:bodyPr wrap="square" lIns="63500" tIns="25400" rIns="63500" bIns="25400" anchor="t" anchorCtr="0">
            <a:spAutoFit/>
          </a:bodyPr>
          <a:p>
            <a:r>
              <a:rPr lang="zh-CN" altLang="en-US" dirty="0">
                <a:ea typeface="宋体" panose="02010600030101010101" pitchFamily="2" charset="-122"/>
              </a:rPr>
              <a:t>第二讲小结</a:t>
            </a:r>
            <a:endParaRPr lang="zh-CN" altLang="en-US" dirty="0">
              <a:ea typeface="宋体" panose="02010600030101010101" pitchFamily="2" charset="-122"/>
            </a:endParaRPr>
          </a:p>
        </p:txBody>
      </p:sp>
      <p:sp>
        <p:nvSpPr>
          <p:cNvPr id="310276" name="内容占位符 310275"/>
          <p:cNvSpPr>
            <a:spLocks noGrp="1"/>
          </p:cNvSpPr>
          <p:nvPr>
            <p:ph idx="1"/>
          </p:nvPr>
        </p:nvSpPr>
        <p:spPr>
          <a:xfrm>
            <a:off x="396875" y="660400"/>
            <a:ext cx="8512175" cy="5897563"/>
          </a:xfrm>
          <a:ln/>
        </p:spPr>
        <p:txBody>
          <a:bodyPr vert="horz" wrap="square" lIns="63500" tIns="25400" rIns="63500" bIns="25400" anchor="t" anchorCtr="0">
            <a:spAutoFit/>
          </a:bodyPr>
          <a:p>
            <a:pPr marL="342900" indent="-342900"/>
            <a:r>
              <a:rPr lang="en-US" altLang="zh-CN">
                <a:ea typeface="宋体" panose="02010600030101010101" pitchFamily="2" charset="-122"/>
              </a:rPr>
              <a:t>CPU</a:t>
            </a:r>
            <a:r>
              <a:rPr lang="zh-CN" altLang="en-US" dirty="0">
                <a:ea typeface="宋体" panose="02010600030101010101" pitchFamily="2" charset="-122"/>
              </a:rPr>
              <a:t>设计直接决定了时钟周期宽度和</a:t>
            </a:r>
            <a:r>
              <a:rPr lang="en-US" altLang="zh-CN">
                <a:ea typeface="宋体" panose="02010600030101010101" pitchFamily="2" charset="-122"/>
              </a:rPr>
              <a:t>CPI</a:t>
            </a:r>
            <a:r>
              <a:rPr lang="zh-CN" altLang="en-US" dirty="0">
                <a:ea typeface="宋体" panose="02010600030101010101" pitchFamily="2" charset="-122"/>
              </a:rPr>
              <a:t>，所以对计算机性能非常重要！</a:t>
            </a:r>
            <a:endParaRPr lang="zh-CN" altLang="en-US" dirty="0">
              <a:ea typeface="宋体" panose="02010600030101010101" pitchFamily="2" charset="-122"/>
            </a:endParaRPr>
          </a:p>
          <a:p>
            <a:pPr marL="342900" indent="-342900"/>
            <a:r>
              <a:rPr lang="en-US" altLang="zh-CN">
                <a:ea typeface="宋体" panose="02010600030101010101" pitchFamily="2" charset="-122"/>
              </a:rPr>
              <a:t>CPU</a:t>
            </a:r>
            <a:r>
              <a:rPr lang="zh-CN" altLang="en-US" dirty="0">
                <a:ea typeface="宋体" panose="02010600030101010101" pitchFamily="2" charset="-122"/>
              </a:rPr>
              <a:t>主要由数据通路和控制器组成</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数据通路：实现指令集中所有指令的操作功能</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控制器：控制数据通路中各部件进行正确操作</a:t>
            </a:r>
            <a:endParaRPr lang="zh-CN" altLang="en-US" dirty="0">
              <a:ea typeface="宋体" panose="02010600030101010101" pitchFamily="2" charset="-122"/>
            </a:endParaRPr>
          </a:p>
          <a:p>
            <a:pPr marL="342900" indent="-342900"/>
            <a:r>
              <a:rPr lang="zh-CN" altLang="en-US" dirty="0">
                <a:ea typeface="宋体" panose="02010600030101010101" pitchFamily="2" charset="-122"/>
              </a:rPr>
              <a:t>数据通路中包含两种元件</a:t>
            </a:r>
            <a:endParaRPr lang="en-US" altLang="zh-CN">
              <a:ea typeface="宋体" panose="02010600030101010101" pitchFamily="2" charset="-122"/>
            </a:endParaRPr>
          </a:p>
          <a:p>
            <a:pPr marL="742950" lvl="1" indent="-285750"/>
            <a:r>
              <a:rPr lang="zh-CN" altLang="en-US" dirty="0">
                <a:ea typeface="宋体" panose="02010600030101010101" pitchFamily="2" charset="-122"/>
              </a:rPr>
              <a:t>操作元件（组合电路）：</a:t>
            </a:r>
            <a:r>
              <a:rPr lang="en-US" altLang="zh-CN">
                <a:ea typeface="宋体" panose="02010600030101010101" pitchFamily="2" charset="-122"/>
              </a:rPr>
              <a:t>ALU</a:t>
            </a:r>
            <a:r>
              <a:rPr lang="zh-CN" altLang="en-US" dirty="0">
                <a:ea typeface="宋体" panose="02010600030101010101" pitchFamily="2" charset="-122"/>
              </a:rPr>
              <a:t>、</a:t>
            </a:r>
            <a:r>
              <a:rPr lang="en-US" altLang="zh-CN">
                <a:ea typeface="宋体" panose="02010600030101010101" pitchFamily="2" charset="-122"/>
              </a:rPr>
              <a:t>MUX</a:t>
            </a:r>
            <a:r>
              <a:rPr lang="zh-CN" altLang="en-US" dirty="0">
                <a:ea typeface="宋体" panose="02010600030101010101" pitchFamily="2" charset="-122"/>
              </a:rPr>
              <a:t>、</a:t>
            </a:r>
            <a:r>
              <a:rPr lang="en-US" altLang="zh-CN">
                <a:ea typeface="宋体" panose="02010600030101010101" pitchFamily="2" charset="-122"/>
              </a:rPr>
              <a:t>Ext.</a:t>
            </a:r>
            <a:r>
              <a:rPr lang="zh-CN" altLang="en-US" dirty="0">
                <a:ea typeface="宋体" panose="02010600030101010101" pitchFamily="2" charset="-122"/>
              </a:rPr>
              <a:t>、</a:t>
            </a:r>
            <a:r>
              <a:rPr lang="en-US" altLang="zh-CN">
                <a:ea typeface="宋体" panose="02010600030101010101" pitchFamily="2" charset="-122"/>
              </a:rPr>
              <a:t>Adder</a:t>
            </a:r>
            <a:r>
              <a:rPr lang="zh-CN" altLang="en-US" dirty="0">
                <a:ea typeface="宋体" panose="02010600030101010101" pitchFamily="2" charset="-122"/>
              </a:rPr>
              <a:t>、</a:t>
            </a:r>
            <a:r>
              <a:rPr lang="en-US" altLang="zh-CN" dirty="0" err="1">
                <a:ea typeface="宋体" panose="02010600030101010101" pitchFamily="2" charset="-122"/>
              </a:rPr>
              <a:t>Reg/Mem</a:t>
            </a:r>
            <a:r>
              <a:rPr lang="en-US" altLang="zh-CN">
                <a:ea typeface="宋体" panose="02010600030101010101" pitchFamily="2" charset="-122"/>
              </a:rPr>
              <a:t> Read</a:t>
            </a:r>
            <a:r>
              <a:rPr lang="zh-CN" altLang="en-US" dirty="0">
                <a:ea typeface="宋体" panose="02010600030101010101" pitchFamily="2" charset="-122"/>
              </a:rPr>
              <a:t>等</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状态 </a:t>
            </a:r>
            <a:r>
              <a:rPr lang="en-US" altLang="zh-CN">
                <a:ea typeface="宋体" panose="02010600030101010101" pitchFamily="2" charset="-122"/>
              </a:rPr>
              <a:t>/ </a:t>
            </a:r>
            <a:r>
              <a:rPr lang="zh-CN" altLang="en-US" dirty="0">
                <a:ea typeface="宋体" panose="02010600030101010101" pitchFamily="2" charset="-122"/>
              </a:rPr>
              <a:t>存储元件（时序电路）：</a:t>
            </a:r>
            <a:r>
              <a:rPr lang="en-US" altLang="zh-CN">
                <a:ea typeface="宋体" panose="02010600030101010101" pitchFamily="2" charset="-122"/>
              </a:rPr>
              <a:t>PC</a:t>
            </a:r>
            <a:r>
              <a:rPr lang="zh-CN" altLang="en-US" dirty="0">
                <a:ea typeface="宋体" panose="02010600030101010101" pitchFamily="2" charset="-122"/>
              </a:rPr>
              <a:t>、</a:t>
            </a:r>
            <a:r>
              <a:rPr lang="en-US" altLang="zh-CN" dirty="0" err="1">
                <a:ea typeface="宋体" panose="02010600030101010101" pitchFamily="2" charset="-122"/>
              </a:rPr>
              <a:t>Reg/Mem</a:t>
            </a:r>
            <a:r>
              <a:rPr lang="en-US" altLang="zh-CN">
                <a:ea typeface="宋体" panose="02010600030101010101" pitchFamily="2" charset="-122"/>
              </a:rPr>
              <a:t> Write</a:t>
            </a:r>
            <a:endParaRPr lang="en-US" altLang="zh-CN">
              <a:ea typeface="宋体" panose="02010600030101010101" pitchFamily="2" charset="-122"/>
            </a:endParaRPr>
          </a:p>
          <a:p>
            <a:pPr marL="342900" indent="-342900"/>
            <a:r>
              <a:rPr lang="zh-CN" altLang="en-US" dirty="0">
                <a:ea typeface="宋体" panose="02010600030101010101" pitchFamily="2" charset="-122"/>
              </a:rPr>
              <a:t>数据通路的定时</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数据通路中的操作元件没有存储功能，其操作结果必须写到存储元件中</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在时钟到达后</a:t>
            </a:r>
            <a:r>
              <a:rPr lang="en-US" altLang="zh-CN" dirty="0" err="1">
                <a:ea typeface="宋体" panose="02010600030101010101" pitchFamily="2" charset="-122"/>
              </a:rPr>
              <a:t>clk</a:t>
            </a:r>
            <a:r>
              <a:rPr lang="en-US" altLang="zh-CN">
                <a:ea typeface="宋体" panose="02010600030101010101" pitchFamily="2" charset="-122"/>
              </a:rPr>
              <a:t>-to-Q</a:t>
            </a:r>
            <a:r>
              <a:rPr lang="zh-CN" altLang="en-US" dirty="0">
                <a:ea typeface="宋体" panose="02010600030101010101" pitchFamily="2" charset="-122"/>
              </a:rPr>
              <a:t>时存储元件开始更新状态</a:t>
            </a:r>
            <a:endParaRPr lang="zh-CN" altLang="en-US" dirty="0">
              <a:ea typeface="宋体" panose="02010600030101010101" pitchFamily="2" charset="-122"/>
            </a:endParaRPr>
          </a:p>
          <a:p>
            <a:pPr marL="342900" indent="-342900"/>
            <a:r>
              <a:rPr lang="en-US" altLang="zh-CN">
                <a:ea typeface="宋体" panose="02010600030101010101" pitchFamily="2" charset="-122"/>
              </a:rPr>
              <a:t>MIPS</a:t>
            </a:r>
            <a:r>
              <a:rPr lang="zh-CN" altLang="en-US" dirty="0">
                <a:ea typeface="宋体" panose="02010600030101010101" pitchFamily="2" charset="-122"/>
              </a:rPr>
              <a:t>指令集的一个子集作为</a:t>
            </a:r>
            <a:r>
              <a:rPr lang="en-US" altLang="zh-CN">
                <a:ea typeface="宋体" panose="02010600030101010101" pitchFamily="2" charset="-122"/>
              </a:rPr>
              <a:t>CPU</a:t>
            </a:r>
            <a:r>
              <a:rPr lang="zh-CN" altLang="en-US" dirty="0">
                <a:ea typeface="宋体" panose="02010600030101010101" pitchFamily="2" charset="-122"/>
              </a:rPr>
              <a:t>的实现目标</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公共操作：取指令和</a:t>
            </a:r>
            <a:r>
              <a:rPr lang="en-US" altLang="zh-CN">
                <a:ea typeface="宋体" panose="02010600030101010101" pitchFamily="2" charset="-122"/>
              </a:rPr>
              <a:t>PC+4</a:t>
            </a:r>
            <a:endParaRPr lang="en-US" altLang="zh-CN">
              <a:ea typeface="宋体" panose="02010600030101010101" pitchFamily="2" charset="-122"/>
            </a:endParaRPr>
          </a:p>
          <a:p>
            <a:pPr marL="742950" lvl="1" indent="-285750"/>
            <a:r>
              <a:rPr lang="zh-CN" altLang="en-US" dirty="0">
                <a:ea typeface="宋体" panose="02010600030101010101" pitchFamily="2" charset="-122"/>
              </a:rPr>
              <a:t>下址计算：</a:t>
            </a:r>
            <a:r>
              <a:rPr lang="en-US" altLang="zh-CN">
                <a:ea typeface="宋体" panose="02010600030101010101" pitchFamily="2" charset="-122"/>
              </a:rPr>
              <a:t>30</a:t>
            </a:r>
            <a:r>
              <a:rPr lang="zh-CN" altLang="en-US" dirty="0">
                <a:ea typeface="宋体" panose="02010600030101010101" pitchFamily="2" charset="-122"/>
              </a:rPr>
              <a:t>位</a:t>
            </a:r>
            <a:r>
              <a:rPr lang="en-US" altLang="zh-CN">
                <a:ea typeface="宋体" panose="02010600030101010101" pitchFamily="2" charset="-122"/>
              </a:rPr>
              <a:t>PC</a:t>
            </a:r>
            <a:r>
              <a:rPr lang="zh-CN" altLang="en-US" dirty="0">
                <a:ea typeface="宋体" panose="02010600030101010101" pitchFamily="2" charset="-122"/>
              </a:rPr>
              <a:t>，三路选择：顺序、</a:t>
            </a:r>
            <a:r>
              <a:rPr lang="en-US" altLang="zh-CN">
                <a:ea typeface="宋体" panose="02010600030101010101" pitchFamily="2" charset="-122"/>
              </a:rPr>
              <a:t>Branch</a:t>
            </a:r>
            <a:r>
              <a:rPr lang="zh-CN" altLang="en-US" dirty="0">
                <a:ea typeface="宋体" panose="02010600030101010101" pitchFamily="2" charset="-122"/>
              </a:rPr>
              <a:t>（结合标志</a:t>
            </a:r>
            <a:r>
              <a:rPr lang="en-US" altLang="zh-CN">
                <a:ea typeface="宋体" panose="02010600030101010101" pitchFamily="2" charset="-122"/>
              </a:rPr>
              <a:t>Zero</a:t>
            </a:r>
            <a:r>
              <a:rPr lang="zh-CN" altLang="en-US" dirty="0">
                <a:ea typeface="宋体" panose="02010600030101010101" pitchFamily="2" charset="-122"/>
              </a:rPr>
              <a:t>）、</a:t>
            </a:r>
            <a:r>
              <a:rPr lang="en-US" altLang="zh-CN">
                <a:ea typeface="宋体" panose="02010600030101010101" pitchFamily="2" charset="-122"/>
              </a:rPr>
              <a:t>Jump</a:t>
            </a:r>
            <a:endParaRPr lang="en-US" altLang="zh-CN">
              <a:ea typeface="宋体" panose="02010600030101010101" pitchFamily="2" charset="-122"/>
            </a:endParaRPr>
          </a:p>
          <a:p>
            <a:pPr marL="742950" lvl="1" indent="-285750"/>
            <a:r>
              <a:rPr lang="en-US" altLang="zh-CN">
                <a:ea typeface="宋体" panose="02010600030101010101" pitchFamily="2" charset="-122"/>
              </a:rPr>
              <a:t>R</a:t>
            </a:r>
            <a:r>
              <a:rPr lang="zh-CN" altLang="en-US" dirty="0">
                <a:ea typeface="宋体" panose="02010600030101010101" pitchFamily="2" charset="-122"/>
              </a:rPr>
              <a:t>型：</a:t>
            </a:r>
            <a:r>
              <a:rPr lang="en-US" altLang="zh-CN">
                <a:ea typeface="宋体" panose="02010600030101010101" pitchFamily="2" charset="-122"/>
              </a:rPr>
              <a:t>ALU</a:t>
            </a:r>
            <a:r>
              <a:rPr lang="zh-CN" altLang="en-US" dirty="0">
                <a:ea typeface="宋体" panose="02010600030101010101" pitchFamily="2" charset="-122"/>
              </a:rPr>
              <a:t>两个操作数来自</a:t>
            </a:r>
            <a:r>
              <a:rPr lang="en-US" altLang="zh-CN" dirty="0" err="1">
                <a:ea typeface="宋体" panose="02010600030101010101" pitchFamily="2" charset="-122"/>
              </a:rPr>
              <a:t>rs</a:t>
            </a:r>
            <a:r>
              <a:rPr lang="zh-CN" altLang="en-US" dirty="0">
                <a:ea typeface="宋体" panose="02010600030101010101" pitchFamily="2" charset="-122"/>
              </a:rPr>
              <a:t>和</a:t>
            </a:r>
            <a:r>
              <a:rPr lang="en-US" altLang="zh-CN" dirty="0" err="1">
                <a:ea typeface="宋体" panose="02010600030101010101" pitchFamily="2" charset="-122"/>
              </a:rPr>
              <a:t>rt</a:t>
            </a:r>
            <a:r>
              <a:rPr lang="zh-CN" altLang="en-US" dirty="0">
                <a:ea typeface="宋体" panose="02010600030101010101" pitchFamily="2" charset="-122"/>
              </a:rPr>
              <a:t>，结果写到</a:t>
            </a:r>
            <a:r>
              <a:rPr lang="en-US" altLang="zh-CN">
                <a:ea typeface="宋体" panose="02010600030101010101" pitchFamily="2" charset="-122"/>
              </a:rPr>
              <a:t>rd</a:t>
            </a:r>
            <a:endParaRPr lang="en-US" altLang="zh-CN">
              <a:ea typeface="宋体" panose="02010600030101010101" pitchFamily="2" charset="-122"/>
            </a:endParaRPr>
          </a:p>
          <a:p>
            <a:pPr marL="742950" lvl="1" indent="-285750"/>
            <a:r>
              <a:rPr lang="zh-CN" altLang="en-US" dirty="0">
                <a:ea typeface="宋体" panose="02010600030101010101" pitchFamily="2" charset="-122"/>
              </a:rPr>
              <a:t>访存：符号扩展，数据在</a:t>
            </a:r>
            <a:r>
              <a:rPr lang="en-US" altLang="zh-CN" dirty="0" err="1">
                <a:ea typeface="宋体" panose="02010600030101010101" pitchFamily="2" charset="-122"/>
              </a:rPr>
              <a:t>rt</a:t>
            </a:r>
            <a:r>
              <a:rPr lang="zh-CN" altLang="en-US" dirty="0">
                <a:ea typeface="宋体" panose="02010600030101010101" pitchFamily="2" charset="-122"/>
              </a:rPr>
              <a:t>和主存单元中交换</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立即数：</a:t>
            </a:r>
            <a:r>
              <a:rPr lang="en-US" altLang="zh-CN">
                <a:ea typeface="宋体" panose="02010600030101010101" pitchFamily="2" charset="-122"/>
              </a:rPr>
              <a:t>0</a:t>
            </a:r>
            <a:r>
              <a:rPr lang="zh-CN" altLang="en-US" dirty="0">
                <a:ea typeface="宋体" panose="02010600030101010101" pitchFamily="2" charset="-122"/>
              </a:rPr>
              <a:t>扩展后的操作数送到</a:t>
            </a:r>
            <a:r>
              <a:rPr lang="en-US" altLang="zh-CN">
                <a:ea typeface="宋体" panose="02010600030101010101" pitchFamily="2" charset="-122"/>
              </a:rPr>
              <a:t>ALU</a:t>
            </a:r>
            <a:r>
              <a:rPr lang="zh-CN" altLang="en-US" dirty="0">
                <a:ea typeface="宋体" panose="02010600030101010101" pitchFamily="2" charset="-122"/>
              </a:rPr>
              <a:t>的一个输入端</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0276">
                                            <p:txEl>
                                              <p:charRg st="0" end="35"/>
                                            </p:txEl>
                                          </p:spTgt>
                                        </p:tgtEl>
                                        <p:attrNameLst>
                                          <p:attrName>style.visibility</p:attrName>
                                        </p:attrNameLst>
                                      </p:cBhvr>
                                      <p:to>
                                        <p:strVal val="visible"/>
                                      </p:to>
                                    </p:set>
                                    <p:animEffect transition="in" filter="blinds(horizontal)">
                                      <p:cBhvr>
                                        <p:cTn id="7" dur="500"/>
                                        <p:tgtEl>
                                          <p:spTgt spid="310276">
                                            <p:txEl>
                                              <p:charRg st="0" end="35"/>
                                            </p:txEl>
                                          </p:spTgt>
                                        </p:tgtEl>
                                      </p:cBhvr>
                                    </p:animEffect>
                                  </p:childTnLst>
                                  <p:subTnLst>
                                    <p:animClr clrSpc="rgb" dir="cw">
                                      <p:cBhvr override="childStyle">
                                        <p:cTn dur="1" fill="hold" display="0" masterRel="nextClick" afterEffect="1"/>
                                        <p:tgtEl>
                                          <p:spTgt spid="310276">
                                            <p:txEl>
                                              <p:charRg st="0" end="35"/>
                                            </p:txEl>
                                          </p:spTgt>
                                        </p:tgtEl>
                                        <p:attrNameLst>
                                          <p:attrName>ppt_c</p:attrName>
                                        </p:attrNameLst>
                                      </p:cBhvr>
                                      <p:to>
                                        <a:srgbClr val="6D6D6D"/>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0276">
                                            <p:txEl>
                                              <p:charRg st="35" end="52"/>
                                            </p:txEl>
                                          </p:spTgt>
                                        </p:tgtEl>
                                        <p:attrNameLst>
                                          <p:attrName>style.visibility</p:attrName>
                                        </p:attrNameLst>
                                      </p:cBhvr>
                                      <p:to>
                                        <p:strVal val="visible"/>
                                      </p:to>
                                    </p:set>
                                    <p:animEffect transition="in" filter="blinds(horizontal)">
                                      <p:cBhvr>
                                        <p:cTn id="12" dur="500"/>
                                        <p:tgtEl>
                                          <p:spTgt spid="310276">
                                            <p:txEl>
                                              <p:charRg st="35" end="52"/>
                                            </p:txEl>
                                          </p:spTgt>
                                        </p:tgtEl>
                                      </p:cBhvr>
                                    </p:animEffect>
                                  </p:childTnLst>
                                  <p:subTnLst>
                                    <p:animClr clrSpc="rgb" dir="cw">
                                      <p:cBhvr override="childStyle">
                                        <p:cTn dur="1" fill="hold" display="0" masterRel="nextClick" afterEffect="1"/>
                                        <p:tgtEl>
                                          <p:spTgt spid="310276">
                                            <p:txEl>
                                              <p:charRg st="35" end="52"/>
                                            </p:txEl>
                                          </p:spTgt>
                                        </p:tgtEl>
                                        <p:attrNameLst>
                                          <p:attrName>ppt_c</p:attrName>
                                        </p:attrNameLst>
                                      </p:cBhvr>
                                      <p:to>
                                        <a:srgbClr val="6D6D6D"/>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10276">
                                            <p:txEl>
                                              <p:charRg st="52" end="73"/>
                                            </p:txEl>
                                          </p:spTgt>
                                        </p:tgtEl>
                                        <p:attrNameLst>
                                          <p:attrName>style.visibility</p:attrName>
                                        </p:attrNameLst>
                                      </p:cBhvr>
                                      <p:to>
                                        <p:strVal val="visible"/>
                                      </p:to>
                                    </p:set>
                                    <p:animEffect transition="in" filter="blinds(horizontal)">
                                      <p:cBhvr>
                                        <p:cTn id="17" dur="500"/>
                                        <p:tgtEl>
                                          <p:spTgt spid="310276">
                                            <p:txEl>
                                              <p:charRg st="52" end="73"/>
                                            </p:txEl>
                                          </p:spTgt>
                                        </p:tgtEl>
                                      </p:cBhvr>
                                    </p:animEffect>
                                  </p:childTnLst>
                                  <p:subTnLst>
                                    <p:animClr clrSpc="rgb" dir="cw">
                                      <p:cBhvr override="childStyle">
                                        <p:cTn dur="1" fill="hold" display="0" masterRel="nextClick" afterEffect="1"/>
                                        <p:tgtEl>
                                          <p:spTgt spid="310276">
                                            <p:txEl>
                                              <p:charRg st="52" end="73"/>
                                            </p:txEl>
                                          </p:spTgt>
                                        </p:tgtEl>
                                        <p:attrNameLst>
                                          <p:attrName>ppt_c</p:attrName>
                                        </p:attrNameLst>
                                      </p:cBhvr>
                                      <p:to>
                                        <a:srgbClr val="6D6D6D"/>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10276">
                                            <p:txEl>
                                              <p:charRg st="73" end="94"/>
                                            </p:txEl>
                                          </p:spTgt>
                                        </p:tgtEl>
                                        <p:attrNameLst>
                                          <p:attrName>style.visibility</p:attrName>
                                        </p:attrNameLst>
                                      </p:cBhvr>
                                      <p:to>
                                        <p:strVal val="visible"/>
                                      </p:to>
                                    </p:set>
                                    <p:animEffect transition="in" filter="blinds(horizontal)">
                                      <p:cBhvr>
                                        <p:cTn id="22" dur="500"/>
                                        <p:tgtEl>
                                          <p:spTgt spid="310276">
                                            <p:txEl>
                                              <p:charRg st="73" end="94"/>
                                            </p:txEl>
                                          </p:spTgt>
                                        </p:tgtEl>
                                      </p:cBhvr>
                                    </p:animEffect>
                                  </p:childTnLst>
                                  <p:subTnLst>
                                    <p:animClr clrSpc="rgb" dir="cw">
                                      <p:cBhvr override="childStyle">
                                        <p:cTn dur="1" fill="hold" display="0" masterRel="nextClick" afterEffect="1"/>
                                        <p:tgtEl>
                                          <p:spTgt spid="310276">
                                            <p:txEl>
                                              <p:charRg st="73" end="94"/>
                                            </p:txEl>
                                          </p:spTgt>
                                        </p:tgtEl>
                                        <p:attrNameLst>
                                          <p:attrName>ppt_c</p:attrName>
                                        </p:attrNameLst>
                                      </p:cBhvr>
                                      <p:to>
                                        <a:srgbClr val="6D6D6D"/>
                                      </p:to>
                                    </p:animClr>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10276">
                                            <p:txEl>
                                              <p:charRg st="94" end="106"/>
                                            </p:txEl>
                                          </p:spTgt>
                                        </p:tgtEl>
                                        <p:attrNameLst>
                                          <p:attrName>style.visibility</p:attrName>
                                        </p:attrNameLst>
                                      </p:cBhvr>
                                      <p:to>
                                        <p:strVal val="visible"/>
                                      </p:to>
                                    </p:set>
                                    <p:animEffect transition="in" filter="blinds(horizontal)">
                                      <p:cBhvr>
                                        <p:cTn id="27" dur="500"/>
                                        <p:tgtEl>
                                          <p:spTgt spid="310276">
                                            <p:txEl>
                                              <p:charRg st="94" end="106"/>
                                            </p:txEl>
                                          </p:spTgt>
                                        </p:tgtEl>
                                      </p:cBhvr>
                                    </p:animEffect>
                                  </p:childTnLst>
                                  <p:subTnLst>
                                    <p:animClr clrSpc="rgb" dir="cw">
                                      <p:cBhvr override="childStyle">
                                        <p:cTn dur="1" fill="hold" display="0" masterRel="nextClick" afterEffect="1"/>
                                        <p:tgtEl>
                                          <p:spTgt spid="310276">
                                            <p:txEl>
                                              <p:charRg st="94" end="106"/>
                                            </p:txEl>
                                          </p:spTgt>
                                        </p:tgtEl>
                                        <p:attrNameLst>
                                          <p:attrName>ppt_c</p:attrName>
                                        </p:attrNameLst>
                                      </p:cBhvr>
                                      <p:to>
                                        <a:srgbClr val="6D6D6D"/>
                                      </p:to>
                                    </p:animClr>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10276">
                                            <p:txEl>
                                              <p:charRg st="106" end="150"/>
                                            </p:txEl>
                                          </p:spTgt>
                                        </p:tgtEl>
                                        <p:attrNameLst>
                                          <p:attrName>style.visibility</p:attrName>
                                        </p:attrNameLst>
                                      </p:cBhvr>
                                      <p:to>
                                        <p:strVal val="visible"/>
                                      </p:to>
                                    </p:set>
                                    <p:animEffect transition="in" filter="blinds(horizontal)">
                                      <p:cBhvr>
                                        <p:cTn id="32" dur="500"/>
                                        <p:tgtEl>
                                          <p:spTgt spid="310276">
                                            <p:txEl>
                                              <p:charRg st="106" end="150"/>
                                            </p:txEl>
                                          </p:spTgt>
                                        </p:tgtEl>
                                      </p:cBhvr>
                                    </p:animEffect>
                                  </p:childTnLst>
                                  <p:subTnLst>
                                    <p:animClr clrSpc="rgb" dir="cw">
                                      <p:cBhvr override="childStyle">
                                        <p:cTn dur="1" fill="hold" display="0" masterRel="nextClick" afterEffect="1"/>
                                        <p:tgtEl>
                                          <p:spTgt spid="310276">
                                            <p:txEl>
                                              <p:charRg st="106" end="150"/>
                                            </p:txEl>
                                          </p:spTgt>
                                        </p:tgtEl>
                                        <p:attrNameLst>
                                          <p:attrName>ppt_c</p:attrName>
                                        </p:attrNameLst>
                                      </p:cBhvr>
                                      <p:to>
                                        <a:srgbClr val="6D6D6D"/>
                                      </p:to>
                                    </p:animClr>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10276">
                                            <p:txEl>
                                              <p:charRg st="150" end="183"/>
                                            </p:txEl>
                                          </p:spTgt>
                                        </p:tgtEl>
                                        <p:attrNameLst>
                                          <p:attrName>style.visibility</p:attrName>
                                        </p:attrNameLst>
                                      </p:cBhvr>
                                      <p:to>
                                        <p:strVal val="visible"/>
                                      </p:to>
                                    </p:set>
                                    <p:animEffect transition="in" filter="blinds(horizontal)">
                                      <p:cBhvr>
                                        <p:cTn id="37" dur="500"/>
                                        <p:tgtEl>
                                          <p:spTgt spid="310276">
                                            <p:txEl>
                                              <p:charRg st="150" end="183"/>
                                            </p:txEl>
                                          </p:spTgt>
                                        </p:tgtEl>
                                      </p:cBhvr>
                                    </p:animEffect>
                                  </p:childTnLst>
                                  <p:subTnLst>
                                    <p:animClr clrSpc="rgb" dir="cw">
                                      <p:cBhvr override="childStyle">
                                        <p:cTn dur="1" fill="hold" display="0" masterRel="nextClick" afterEffect="1"/>
                                        <p:tgtEl>
                                          <p:spTgt spid="310276">
                                            <p:txEl>
                                              <p:charRg st="150" end="183"/>
                                            </p:txEl>
                                          </p:spTgt>
                                        </p:tgtEl>
                                        <p:attrNameLst>
                                          <p:attrName>ppt_c</p:attrName>
                                        </p:attrNameLst>
                                      </p:cBhvr>
                                      <p:to>
                                        <a:srgbClr val="6D6D6D"/>
                                      </p:to>
                                    </p:animClr>
                                  </p:sub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10276">
                                            <p:txEl>
                                              <p:charRg st="183" end="191"/>
                                            </p:txEl>
                                          </p:spTgt>
                                        </p:tgtEl>
                                        <p:attrNameLst>
                                          <p:attrName>style.visibility</p:attrName>
                                        </p:attrNameLst>
                                      </p:cBhvr>
                                      <p:to>
                                        <p:strVal val="visible"/>
                                      </p:to>
                                    </p:set>
                                    <p:animEffect transition="in" filter="blinds(horizontal)">
                                      <p:cBhvr>
                                        <p:cTn id="42" dur="500"/>
                                        <p:tgtEl>
                                          <p:spTgt spid="310276">
                                            <p:txEl>
                                              <p:charRg st="183" end="191"/>
                                            </p:txEl>
                                          </p:spTgt>
                                        </p:tgtEl>
                                      </p:cBhvr>
                                    </p:animEffect>
                                  </p:childTnLst>
                                  <p:subTnLst>
                                    <p:animClr clrSpc="rgb" dir="cw">
                                      <p:cBhvr override="childStyle">
                                        <p:cTn dur="1" fill="hold" display="0" masterRel="nextClick" afterEffect="1"/>
                                        <p:tgtEl>
                                          <p:spTgt spid="310276">
                                            <p:txEl>
                                              <p:charRg st="183" end="191"/>
                                            </p:txEl>
                                          </p:spTgt>
                                        </p:tgtEl>
                                        <p:attrNameLst>
                                          <p:attrName>ppt_c</p:attrName>
                                        </p:attrNameLst>
                                      </p:cBhvr>
                                      <p:to>
                                        <a:srgbClr val="6D6D6D"/>
                                      </p:to>
                                    </p:animClr>
                                  </p:sub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10276">
                                            <p:txEl>
                                              <p:charRg st="191" end="223"/>
                                            </p:txEl>
                                          </p:spTgt>
                                        </p:tgtEl>
                                        <p:attrNameLst>
                                          <p:attrName>style.visibility</p:attrName>
                                        </p:attrNameLst>
                                      </p:cBhvr>
                                      <p:to>
                                        <p:strVal val="visible"/>
                                      </p:to>
                                    </p:set>
                                    <p:animEffect transition="in" filter="blinds(horizontal)">
                                      <p:cBhvr>
                                        <p:cTn id="47" dur="500"/>
                                        <p:tgtEl>
                                          <p:spTgt spid="310276">
                                            <p:txEl>
                                              <p:charRg st="191" end="223"/>
                                            </p:txEl>
                                          </p:spTgt>
                                        </p:tgtEl>
                                      </p:cBhvr>
                                    </p:animEffect>
                                  </p:childTnLst>
                                  <p:subTnLst>
                                    <p:animClr clrSpc="rgb" dir="cw">
                                      <p:cBhvr override="childStyle">
                                        <p:cTn dur="1" fill="hold" display="0" masterRel="nextClick" afterEffect="1"/>
                                        <p:tgtEl>
                                          <p:spTgt spid="310276">
                                            <p:txEl>
                                              <p:charRg st="191" end="223"/>
                                            </p:txEl>
                                          </p:spTgt>
                                        </p:tgtEl>
                                        <p:attrNameLst>
                                          <p:attrName>ppt_c</p:attrName>
                                        </p:attrNameLst>
                                      </p:cBhvr>
                                      <p:to>
                                        <a:srgbClr val="6D6D6D"/>
                                      </p:to>
                                    </p:animClr>
                                  </p:sub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10276">
                                            <p:txEl>
                                              <p:charRg st="223" end="249"/>
                                            </p:txEl>
                                          </p:spTgt>
                                        </p:tgtEl>
                                        <p:attrNameLst>
                                          <p:attrName>style.visibility</p:attrName>
                                        </p:attrNameLst>
                                      </p:cBhvr>
                                      <p:to>
                                        <p:strVal val="visible"/>
                                      </p:to>
                                    </p:set>
                                    <p:animEffect transition="in" filter="blinds(horizontal)">
                                      <p:cBhvr>
                                        <p:cTn id="52" dur="500"/>
                                        <p:tgtEl>
                                          <p:spTgt spid="310276">
                                            <p:txEl>
                                              <p:charRg st="223" end="249"/>
                                            </p:txEl>
                                          </p:spTgt>
                                        </p:tgtEl>
                                      </p:cBhvr>
                                    </p:animEffect>
                                  </p:childTnLst>
                                  <p:subTnLst>
                                    <p:animClr clrSpc="rgb" dir="cw">
                                      <p:cBhvr override="childStyle">
                                        <p:cTn dur="1" fill="hold" display="0" masterRel="nextClick" afterEffect="1"/>
                                        <p:tgtEl>
                                          <p:spTgt spid="310276">
                                            <p:txEl>
                                              <p:charRg st="223" end="249"/>
                                            </p:txEl>
                                          </p:spTgt>
                                        </p:tgtEl>
                                        <p:attrNameLst>
                                          <p:attrName>ppt_c</p:attrName>
                                        </p:attrNameLst>
                                      </p:cBhvr>
                                      <p:to>
                                        <a:srgbClr val="6D6D6D"/>
                                      </p:to>
                                    </p:animClr>
                                  </p:sub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10276">
                                            <p:txEl>
                                              <p:charRg st="249" end="272"/>
                                            </p:txEl>
                                          </p:spTgt>
                                        </p:tgtEl>
                                        <p:attrNameLst>
                                          <p:attrName>style.visibility</p:attrName>
                                        </p:attrNameLst>
                                      </p:cBhvr>
                                      <p:to>
                                        <p:strVal val="visible"/>
                                      </p:to>
                                    </p:set>
                                    <p:animEffect transition="in" filter="blinds(horizontal)">
                                      <p:cBhvr>
                                        <p:cTn id="57" dur="500"/>
                                        <p:tgtEl>
                                          <p:spTgt spid="310276">
                                            <p:txEl>
                                              <p:charRg st="249" end="272"/>
                                            </p:txEl>
                                          </p:spTgt>
                                        </p:tgtEl>
                                      </p:cBhvr>
                                    </p:animEffect>
                                  </p:childTnLst>
                                  <p:subTnLst>
                                    <p:animClr clrSpc="rgb" dir="cw">
                                      <p:cBhvr override="childStyle">
                                        <p:cTn dur="1" fill="hold" display="0" masterRel="nextClick" afterEffect="1"/>
                                        <p:tgtEl>
                                          <p:spTgt spid="310276">
                                            <p:txEl>
                                              <p:charRg st="249" end="272"/>
                                            </p:txEl>
                                          </p:spTgt>
                                        </p:tgtEl>
                                        <p:attrNameLst>
                                          <p:attrName>ppt_c</p:attrName>
                                        </p:attrNameLst>
                                      </p:cBhvr>
                                      <p:to>
                                        <a:srgbClr val="6D6D6D"/>
                                      </p:to>
                                    </p:animClr>
                                  </p:sub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10276">
                                            <p:txEl>
                                              <p:charRg st="272" end="286"/>
                                            </p:txEl>
                                          </p:spTgt>
                                        </p:tgtEl>
                                        <p:attrNameLst>
                                          <p:attrName>style.visibility</p:attrName>
                                        </p:attrNameLst>
                                      </p:cBhvr>
                                      <p:to>
                                        <p:strVal val="visible"/>
                                      </p:to>
                                    </p:set>
                                    <p:animEffect transition="in" filter="blinds(horizontal)">
                                      <p:cBhvr>
                                        <p:cTn id="62" dur="500"/>
                                        <p:tgtEl>
                                          <p:spTgt spid="310276">
                                            <p:txEl>
                                              <p:charRg st="272" end="286"/>
                                            </p:txEl>
                                          </p:spTgt>
                                        </p:tgtEl>
                                      </p:cBhvr>
                                    </p:animEffect>
                                  </p:childTnLst>
                                  <p:subTnLst>
                                    <p:animClr clrSpc="rgb" dir="cw">
                                      <p:cBhvr override="childStyle">
                                        <p:cTn dur="1" fill="hold" display="0" masterRel="nextClick" afterEffect="1"/>
                                        <p:tgtEl>
                                          <p:spTgt spid="310276">
                                            <p:txEl>
                                              <p:charRg st="272" end="286"/>
                                            </p:txEl>
                                          </p:spTgt>
                                        </p:tgtEl>
                                        <p:attrNameLst>
                                          <p:attrName>ppt_c</p:attrName>
                                        </p:attrNameLst>
                                      </p:cBhvr>
                                      <p:to>
                                        <a:srgbClr val="6D6D6D"/>
                                      </p:to>
                                    </p:animClr>
                                  </p:sub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10276">
                                            <p:txEl>
                                              <p:charRg st="286" end="327"/>
                                            </p:txEl>
                                          </p:spTgt>
                                        </p:tgtEl>
                                        <p:attrNameLst>
                                          <p:attrName>style.visibility</p:attrName>
                                        </p:attrNameLst>
                                      </p:cBhvr>
                                      <p:to>
                                        <p:strVal val="visible"/>
                                      </p:to>
                                    </p:set>
                                    <p:animEffect transition="in" filter="blinds(horizontal)">
                                      <p:cBhvr>
                                        <p:cTn id="67" dur="500"/>
                                        <p:tgtEl>
                                          <p:spTgt spid="310276">
                                            <p:txEl>
                                              <p:charRg st="286" end="327"/>
                                            </p:txEl>
                                          </p:spTgt>
                                        </p:tgtEl>
                                      </p:cBhvr>
                                    </p:animEffect>
                                  </p:childTnLst>
                                  <p:subTnLst>
                                    <p:animClr clrSpc="rgb" dir="cw">
                                      <p:cBhvr override="childStyle">
                                        <p:cTn dur="1" fill="hold" display="0" masterRel="nextClick" afterEffect="1"/>
                                        <p:tgtEl>
                                          <p:spTgt spid="310276">
                                            <p:txEl>
                                              <p:charRg st="286" end="327"/>
                                            </p:txEl>
                                          </p:spTgt>
                                        </p:tgtEl>
                                        <p:attrNameLst>
                                          <p:attrName>ppt_c</p:attrName>
                                        </p:attrNameLst>
                                      </p:cBhvr>
                                      <p:to>
                                        <a:srgbClr val="6D6D6D"/>
                                      </p:to>
                                    </p:animClr>
                                  </p:sub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310276">
                                            <p:txEl>
                                              <p:charRg st="327" end="353"/>
                                            </p:txEl>
                                          </p:spTgt>
                                        </p:tgtEl>
                                        <p:attrNameLst>
                                          <p:attrName>style.visibility</p:attrName>
                                        </p:attrNameLst>
                                      </p:cBhvr>
                                      <p:to>
                                        <p:strVal val="visible"/>
                                      </p:to>
                                    </p:set>
                                    <p:animEffect transition="in" filter="blinds(horizontal)">
                                      <p:cBhvr>
                                        <p:cTn id="72" dur="500"/>
                                        <p:tgtEl>
                                          <p:spTgt spid="310276">
                                            <p:txEl>
                                              <p:charRg st="327" end="353"/>
                                            </p:txEl>
                                          </p:spTgt>
                                        </p:tgtEl>
                                      </p:cBhvr>
                                    </p:animEffect>
                                  </p:childTnLst>
                                  <p:subTnLst>
                                    <p:animClr clrSpc="rgb" dir="cw">
                                      <p:cBhvr override="childStyle">
                                        <p:cTn dur="1" fill="hold" display="0" masterRel="nextClick" afterEffect="1"/>
                                        <p:tgtEl>
                                          <p:spTgt spid="310276">
                                            <p:txEl>
                                              <p:charRg st="327" end="353"/>
                                            </p:txEl>
                                          </p:spTgt>
                                        </p:tgtEl>
                                        <p:attrNameLst>
                                          <p:attrName>ppt_c</p:attrName>
                                        </p:attrNameLst>
                                      </p:cBhvr>
                                      <p:to>
                                        <a:srgbClr val="6D6D6D"/>
                                      </p:to>
                                    </p:animClr>
                                  </p:sub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310276">
                                            <p:txEl>
                                              <p:charRg st="353" end="375"/>
                                            </p:txEl>
                                          </p:spTgt>
                                        </p:tgtEl>
                                        <p:attrNameLst>
                                          <p:attrName>style.visibility</p:attrName>
                                        </p:attrNameLst>
                                      </p:cBhvr>
                                      <p:to>
                                        <p:strVal val="visible"/>
                                      </p:to>
                                    </p:set>
                                    <p:animEffect transition="in" filter="blinds(horizontal)">
                                      <p:cBhvr>
                                        <p:cTn id="77" dur="500"/>
                                        <p:tgtEl>
                                          <p:spTgt spid="310276">
                                            <p:txEl>
                                              <p:charRg st="353" end="375"/>
                                            </p:txEl>
                                          </p:spTgt>
                                        </p:tgtEl>
                                      </p:cBhvr>
                                    </p:animEffect>
                                  </p:childTnLst>
                                  <p:subTnLst>
                                    <p:animClr clrSpc="rgb" dir="cw">
                                      <p:cBhvr override="childStyle">
                                        <p:cTn dur="1" fill="hold" display="0" masterRel="nextClick" afterEffect="1"/>
                                        <p:tgtEl>
                                          <p:spTgt spid="310276">
                                            <p:txEl>
                                              <p:charRg st="353" end="375"/>
                                            </p:txEl>
                                          </p:spTgt>
                                        </p:tgtEl>
                                        <p:attrNameLst>
                                          <p:attrName>ppt_c</p:attrName>
                                        </p:attrNameLst>
                                      </p:cBhvr>
                                      <p:to>
                                        <a:srgbClr val="6D6D6D"/>
                                      </p:to>
                                    </p:animClr>
                                  </p:sub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10276">
                                            <p:txEl>
                                              <p:charRg st="375" end="399"/>
                                            </p:txEl>
                                          </p:spTgt>
                                        </p:tgtEl>
                                        <p:attrNameLst>
                                          <p:attrName>style.visibility</p:attrName>
                                        </p:attrNameLst>
                                      </p:cBhvr>
                                      <p:to>
                                        <p:strVal val="visible"/>
                                      </p:to>
                                    </p:set>
                                    <p:animEffect transition="in" filter="blinds(horizontal)">
                                      <p:cBhvr>
                                        <p:cTn id="82" dur="500"/>
                                        <p:tgtEl>
                                          <p:spTgt spid="310276">
                                            <p:txEl>
                                              <p:charRg st="375" end="399"/>
                                            </p:txEl>
                                          </p:spTgt>
                                        </p:tgtEl>
                                      </p:cBhvr>
                                    </p:animEffect>
                                  </p:childTnLst>
                                  <p:subTnLst>
                                    <p:animClr clrSpc="rgb" dir="cw">
                                      <p:cBhvr override="childStyle">
                                        <p:cTn dur="1" fill="hold" display="0" masterRel="nextClick" afterEffect="1"/>
                                        <p:tgtEl>
                                          <p:spTgt spid="310276">
                                            <p:txEl>
                                              <p:charRg st="375" end="399"/>
                                            </p:txEl>
                                          </p:spTgt>
                                        </p:tgtEl>
                                        <p:attrNameLst>
                                          <p:attrName>ppt_c</p:attrName>
                                        </p:attrNameLst>
                                      </p:cBhvr>
                                      <p:to>
                                        <a:srgbClr val="6D6D6D"/>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550913"/>
          <p:cNvSpPr>
            <a:spLocks noGrp="1"/>
          </p:cNvSpPr>
          <p:nvPr>
            <p:ph type="title"/>
          </p:nvPr>
        </p:nvSpPr>
        <p:spPr>
          <a:xfrm>
            <a:off x="515938" y="57150"/>
            <a:ext cx="7499350" cy="581025"/>
          </a:xfrm>
          <a:ln/>
        </p:spPr>
        <p:txBody>
          <a:bodyPr lIns="63500" tIns="25400" rIns="63500" bIns="25400" anchor="t" anchorCtr="0">
            <a:spAutoFit/>
          </a:bodyPr>
          <a:p>
            <a:r>
              <a:rPr lang="zh-CN" altLang="en-US" sz="4000" dirty="0"/>
              <a:t>程序的执行机制</a:t>
            </a:r>
            <a:endParaRPr lang="zh-CN" altLang="en-US" sz="4000" dirty="0"/>
          </a:p>
        </p:txBody>
      </p:sp>
      <p:sp>
        <p:nvSpPr>
          <p:cNvPr id="100354" name="文本占位符 550914"/>
          <p:cNvSpPr>
            <a:spLocks noGrp="1"/>
          </p:cNvSpPr>
          <p:nvPr>
            <p:ph idx="1"/>
          </p:nvPr>
        </p:nvSpPr>
        <p:spPr>
          <a:xfrm>
            <a:off x="454025" y="715963"/>
            <a:ext cx="8229600" cy="6040437"/>
          </a:xfrm>
          <a:ln/>
        </p:spPr>
        <p:txBody>
          <a:bodyPr wrap="square" lIns="63500" tIns="25400" rIns="63500" bIns="25400" anchor="t" anchorCtr="0">
            <a:spAutoFit/>
          </a:bodyPr>
          <a:p>
            <a:r>
              <a:rPr lang="zh-CN" altLang="en-US" sz="2200" dirty="0">
                <a:latin typeface="微软雅黑" panose="020B0503020204020204" pitchFamily="34" charset="-122"/>
                <a:ea typeface="微软雅黑" panose="020B0503020204020204" pitchFamily="34" charset="-122"/>
              </a:rPr>
              <a:t>分以下三个部分介绍</a:t>
            </a:r>
            <a:endParaRPr lang="zh-CN" altLang="en-US" sz="2200" dirty="0">
              <a:latin typeface="微软雅黑" panose="020B0503020204020204" pitchFamily="34" charset="-122"/>
              <a:ea typeface="微软雅黑" panose="020B0503020204020204" pitchFamily="34" charset="-122"/>
            </a:endParaRPr>
          </a:p>
          <a:p>
            <a:pPr lvl="1">
              <a:spcBef>
                <a:spcPct val="30000"/>
              </a:spcBef>
            </a:pPr>
            <a:r>
              <a:rPr lang="zh-CN" altLang="en-US" sz="2200" dirty="0">
                <a:latin typeface="微软雅黑" panose="020B0503020204020204" pitchFamily="34" charset="-122"/>
                <a:ea typeface="微软雅黑" panose="020B0503020204020204" pitchFamily="34" charset="-122"/>
              </a:rPr>
              <a:t>第一讲：程序执行概述</a:t>
            </a:r>
            <a:endParaRPr lang="zh-CN" altLang="en-US" sz="2200" dirty="0">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程序及指令的执行过程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en-US" altLang="zh-CN" sz="2200">
                <a:solidFill>
                  <a:srgbClr val="006600"/>
                </a:solidFill>
                <a:latin typeface="微软雅黑" panose="020B0503020204020204" pitchFamily="34" charset="-122"/>
                <a:ea typeface="微软雅黑" panose="020B0503020204020204" pitchFamily="34" charset="-122"/>
              </a:rPr>
              <a:t>CPU</a:t>
            </a:r>
            <a:r>
              <a:rPr lang="zh-CN" altLang="en-US" sz="2200" dirty="0">
                <a:solidFill>
                  <a:srgbClr val="006600"/>
                </a:solidFill>
                <a:latin typeface="微软雅黑" panose="020B0503020204020204" pitchFamily="34" charset="-122"/>
                <a:ea typeface="微软雅黑" panose="020B0503020204020204" pitchFamily="34" charset="-122"/>
              </a:rPr>
              <a:t>的基本功能和基本组成</a:t>
            </a:r>
            <a:endParaRPr lang="zh-CN" altLang="en-US" sz="2200" dirty="0">
              <a:solidFill>
                <a:srgbClr val="006600"/>
              </a:solidFill>
              <a:latin typeface="微软雅黑" panose="020B0503020204020204" pitchFamily="34" charset="-122"/>
              <a:ea typeface="微软雅黑" panose="020B0503020204020204" pitchFamily="34" charset="-122"/>
            </a:endParaRPr>
          </a:p>
          <a:p>
            <a:pPr lvl="1">
              <a:spcBef>
                <a:spcPct val="30000"/>
              </a:spcBef>
            </a:pPr>
            <a:r>
              <a:rPr lang="zh-CN" altLang="en-US" sz="2200" dirty="0">
                <a:latin typeface="微软雅黑" panose="020B0503020204020204" pitchFamily="34" charset="-122"/>
                <a:ea typeface="微软雅黑" panose="020B0503020204020204" pitchFamily="34" charset="-122"/>
              </a:rPr>
              <a:t>第二讲：数据通路基本结构和工作原理</a:t>
            </a:r>
            <a:endParaRPr lang="zh-CN" altLang="en-US" sz="2200" dirty="0">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数据通路基本结构</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数据通路的时序控制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数据通路基本工作原理</a:t>
            </a:r>
            <a:r>
              <a:rPr lang="zh-CN" altLang="en-US" sz="2200" dirty="0">
                <a:solidFill>
                  <a:srgbClr val="009900"/>
                </a:solidFill>
                <a:latin typeface="微软雅黑" panose="020B0503020204020204" pitchFamily="34" charset="-122"/>
                <a:ea typeface="微软雅黑" panose="020B0503020204020204" pitchFamily="34" charset="-122"/>
              </a:rPr>
              <a:t> </a:t>
            </a:r>
            <a:endParaRPr lang="zh-CN" altLang="en-US" sz="2200" dirty="0">
              <a:solidFill>
                <a:srgbClr val="009900"/>
              </a:solidFill>
              <a:latin typeface="微软雅黑" panose="020B0503020204020204" pitchFamily="34" charset="-122"/>
              <a:ea typeface="微软雅黑" panose="020B0503020204020204" pitchFamily="34" charset="-122"/>
            </a:endParaRPr>
          </a:p>
          <a:p>
            <a:pPr lvl="1">
              <a:spcBef>
                <a:spcPct val="30000"/>
              </a:spcBef>
            </a:pPr>
            <a:r>
              <a:rPr lang="zh-CN" altLang="en-US" sz="2200" dirty="0">
                <a:solidFill>
                  <a:schemeClr val="accent1"/>
                </a:solidFill>
                <a:latin typeface="微软雅黑" panose="020B0503020204020204" pitchFamily="34" charset="-122"/>
                <a:ea typeface="微软雅黑" panose="020B0503020204020204" pitchFamily="34" charset="-122"/>
              </a:rPr>
              <a:t>第三讲：流水线方式下指令的执行</a:t>
            </a:r>
            <a:r>
              <a:rPr lang="zh-CN" altLang="en-US" sz="2200" dirty="0">
                <a:latin typeface="微软雅黑" panose="020B0503020204020204" pitchFamily="34" charset="-122"/>
                <a:ea typeface="微软雅黑" panose="020B0503020204020204" pitchFamily="34" charset="-122"/>
              </a:rPr>
              <a:t> </a:t>
            </a:r>
            <a:endParaRPr lang="zh-CN" altLang="en-US" sz="2200" dirty="0">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指令流水线的基本原理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适合流水线的指令集特征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en-US" altLang="zh-CN" sz="2200">
                <a:solidFill>
                  <a:srgbClr val="006600"/>
                </a:solidFill>
                <a:latin typeface="微软雅黑" panose="020B0503020204020204" pitchFamily="34" charset="-122"/>
                <a:ea typeface="微软雅黑" panose="020B0503020204020204" pitchFamily="34" charset="-122"/>
              </a:rPr>
              <a:t>CISC</a:t>
            </a:r>
            <a:r>
              <a:rPr lang="zh-CN" altLang="en-US" sz="2200" dirty="0">
                <a:solidFill>
                  <a:srgbClr val="006600"/>
                </a:solidFill>
                <a:latin typeface="微软雅黑" panose="020B0503020204020204" pitchFamily="34" charset="-122"/>
                <a:ea typeface="微软雅黑" panose="020B0503020204020204" pitchFamily="34" charset="-122"/>
              </a:rPr>
              <a:t>和</a:t>
            </a:r>
            <a:r>
              <a:rPr lang="en-US" altLang="zh-CN" sz="2200">
                <a:solidFill>
                  <a:srgbClr val="006600"/>
                </a:solidFill>
                <a:latin typeface="微软雅黑" panose="020B0503020204020204" pitchFamily="34" charset="-122"/>
                <a:ea typeface="微软雅黑" panose="020B0503020204020204" pitchFamily="34" charset="-122"/>
              </a:rPr>
              <a:t>RISC</a:t>
            </a:r>
            <a:r>
              <a:rPr lang="zh-CN" altLang="en-US" sz="2200" dirty="0">
                <a:solidFill>
                  <a:srgbClr val="006600"/>
                </a:solidFill>
                <a:latin typeface="微软雅黑" panose="020B0503020204020204" pitchFamily="34" charset="-122"/>
                <a:ea typeface="微软雅黑" panose="020B0503020204020204" pitchFamily="34" charset="-122"/>
              </a:rPr>
              <a:t>风格指令集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指令流水线的实现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高级流水线实现技术</a:t>
            </a:r>
            <a:r>
              <a:rPr lang="zh-CN" altLang="en-US" sz="2000" dirty="0">
                <a:solidFill>
                  <a:srgbClr val="006600"/>
                </a:solidFill>
                <a:latin typeface="微软雅黑" panose="020B0503020204020204" pitchFamily="34" charset="-122"/>
                <a:ea typeface="微软雅黑" panose="020B0503020204020204" pitchFamily="34" charset="-122"/>
              </a:rPr>
              <a:t> </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标题 550913"/>
          <p:cNvSpPr>
            <a:spLocks noGrp="1"/>
          </p:cNvSpPr>
          <p:nvPr>
            <p:ph type="title"/>
          </p:nvPr>
        </p:nvSpPr>
        <p:spPr>
          <a:xfrm>
            <a:off x="515938" y="57150"/>
            <a:ext cx="7499350" cy="581025"/>
          </a:xfrm>
          <a:ln/>
        </p:spPr>
        <p:txBody>
          <a:bodyPr lIns="63500" tIns="25400" rIns="63500" bIns="25400" anchor="t" anchorCtr="0">
            <a:spAutoFit/>
          </a:bodyPr>
          <a:p>
            <a:r>
              <a:rPr lang="zh-CN" altLang="en-US" sz="4000" dirty="0"/>
              <a:t>程序的执行机制</a:t>
            </a:r>
            <a:endParaRPr lang="zh-CN" altLang="en-US" sz="4000" dirty="0"/>
          </a:p>
        </p:txBody>
      </p:sp>
      <p:sp>
        <p:nvSpPr>
          <p:cNvPr id="101378" name="文本占位符 550914"/>
          <p:cNvSpPr>
            <a:spLocks noGrp="1"/>
          </p:cNvSpPr>
          <p:nvPr>
            <p:ph idx="1"/>
          </p:nvPr>
        </p:nvSpPr>
        <p:spPr>
          <a:xfrm>
            <a:off x="454025" y="715963"/>
            <a:ext cx="8229600" cy="3028950"/>
          </a:xfrm>
          <a:ln/>
        </p:spPr>
        <p:txBody>
          <a:bodyPr wrap="square" lIns="63500" tIns="25400" rIns="63500" bIns="25400" anchor="t" anchorCtr="0">
            <a:spAutoFit/>
          </a:bodyPr>
          <a:p>
            <a:r>
              <a:rPr lang="zh-CN" altLang="en-US" sz="2200" dirty="0">
                <a:solidFill>
                  <a:srgbClr val="009900"/>
                </a:solidFill>
                <a:latin typeface="微软雅黑" panose="020B0503020204020204" pitchFamily="34" charset="-122"/>
                <a:ea typeface="微软雅黑" panose="020B0503020204020204" pitchFamily="34" charset="-122"/>
              </a:rPr>
              <a:t> </a:t>
            </a:r>
            <a:endParaRPr lang="zh-CN" altLang="en-US" sz="2200" dirty="0">
              <a:solidFill>
                <a:srgbClr val="009900"/>
              </a:solidFill>
              <a:latin typeface="微软雅黑" panose="020B0503020204020204" pitchFamily="34" charset="-122"/>
              <a:ea typeface="微软雅黑" panose="020B0503020204020204" pitchFamily="34" charset="-122"/>
            </a:endParaRPr>
          </a:p>
          <a:p>
            <a:pPr lvl="1">
              <a:spcBef>
                <a:spcPct val="30000"/>
              </a:spcBef>
            </a:pPr>
            <a:r>
              <a:rPr lang="zh-CN" altLang="en-US" sz="2200" dirty="0">
                <a:solidFill>
                  <a:schemeClr val="accent1"/>
                </a:solidFill>
                <a:latin typeface="微软雅黑" panose="020B0503020204020204" pitchFamily="34" charset="-122"/>
                <a:ea typeface="微软雅黑" panose="020B0503020204020204" pitchFamily="34" charset="-122"/>
              </a:rPr>
              <a:t>第三讲：控制器设计与流水线方式下指令的执行</a:t>
            </a:r>
            <a:r>
              <a:rPr lang="zh-CN" altLang="en-US" sz="2200" dirty="0">
                <a:latin typeface="微软雅黑" panose="020B0503020204020204" pitchFamily="34" charset="-122"/>
                <a:ea typeface="微软雅黑" panose="020B0503020204020204" pitchFamily="34" charset="-122"/>
              </a:rPr>
              <a:t> </a:t>
            </a:r>
            <a:endParaRPr lang="zh-CN" altLang="en-US" sz="2200" dirty="0">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指令流水线的基本原理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适合流水线的指令集特征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en-US" altLang="zh-CN" sz="2200">
                <a:solidFill>
                  <a:srgbClr val="006600"/>
                </a:solidFill>
                <a:latin typeface="微软雅黑" panose="020B0503020204020204" pitchFamily="34" charset="-122"/>
                <a:ea typeface="微软雅黑" panose="020B0503020204020204" pitchFamily="34" charset="-122"/>
              </a:rPr>
              <a:t>CISC</a:t>
            </a:r>
            <a:r>
              <a:rPr lang="zh-CN" altLang="en-US" sz="2200" dirty="0">
                <a:solidFill>
                  <a:srgbClr val="006600"/>
                </a:solidFill>
                <a:latin typeface="微软雅黑" panose="020B0503020204020204" pitchFamily="34" charset="-122"/>
                <a:ea typeface="微软雅黑" panose="020B0503020204020204" pitchFamily="34" charset="-122"/>
              </a:rPr>
              <a:t>和</a:t>
            </a:r>
            <a:r>
              <a:rPr lang="en-US" altLang="zh-CN" sz="2200">
                <a:solidFill>
                  <a:srgbClr val="006600"/>
                </a:solidFill>
                <a:latin typeface="微软雅黑" panose="020B0503020204020204" pitchFamily="34" charset="-122"/>
                <a:ea typeface="微软雅黑" panose="020B0503020204020204" pitchFamily="34" charset="-122"/>
              </a:rPr>
              <a:t>RISC</a:t>
            </a:r>
            <a:r>
              <a:rPr lang="zh-CN" altLang="en-US" sz="2200" dirty="0">
                <a:solidFill>
                  <a:srgbClr val="006600"/>
                </a:solidFill>
                <a:latin typeface="微软雅黑" panose="020B0503020204020204" pitchFamily="34" charset="-122"/>
                <a:ea typeface="微软雅黑" panose="020B0503020204020204" pitchFamily="34" charset="-122"/>
              </a:rPr>
              <a:t>风格指令集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指令流水线的实现 </a:t>
            </a:r>
            <a:endParaRPr lang="zh-CN" altLang="en-US" sz="2200" dirty="0">
              <a:solidFill>
                <a:srgbClr val="006600"/>
              </a:solidFill>
              <a:latin typeface="微软雅黑" panose="020B0503020204020204" pitchFamily="34" charset="-122"/>
              <a:ea typeface="微软雅黑" panose="020B0503020204020204" pitchFamily="34" charset="-122"/>
            </a:endParaRPr>
          </a:p>
          <a:p>
            <a:pPr lvl="2">
              <a:spcBef>
                <a:spcPct val="30000"/>
              </a:spcBef>
            </a:pPr>
            <a:r>
              <a:rPr lang="zh-CN" altLang="en-US" sz="2200" dirty="0">
                <a:solidFill>
                  <a:srgbClr val="006600"/>
                </a:solidFill>
                <a:latin typeface="微软雅黑" panose="020B0503020204020204" pitchFamily="34" charset="-122"/>
                <a:ea typeface="微软雅黑" panose="020B0503020204020204" pitchFamily="34" charset="-122"/>
              </a:rPr>
              <a:t>高级流水线实现技术</a:t>
            </a:r>
            <a:r>
              <a:rPr lang="zh-CN" altLang="en-US" sz="2000" dirty="0">
                <a:solidFill>
                  <a:srgbClr val="006600"/>
                </a:solidFill>
                <a:latin typeface="微软雅黑" panose="020B0503020204020204" pitchFamily="34" charset="-122"/>
                <a:ea typeface="微软雅黑" panose="020B0503020204020204" pitchFamily="34" charset="-122"/>
              </a:rPr>
              <a:t> </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标题 311297"/>
          <p:cNvSpPr>
            <a:spLocks noGrp="1"/>
          </p:cNvSpPr>
          <p:nvPr>
            <p:ph type="title"/>
          </p:nvPr>
        </p:nvSpPr>
        <p:spPr>
          <a:xfrm>
            <a:off x="546100" y="165100"/>
            <a:ext cx="6659563" cy="531813"/>
          </a:xfrm>
          <a:ln/>
        </p:spPr>
        <p:txBody>
          <a:bodyPr wrap="square" lIns="63500" tIns="25400" rIns="63500" bIns="25400" anchor="t" anchorCtr="0">
            <a:spAutoFit/>
          </a:bodyPr>
          <a:p>
            <a:r>
              <a:rPr lang="zh-CN" altLang="en-US" dirty="0">
                <a:ea typeface="宋体" panose="02010600030101010101" pitchFamily="2" charset="-122"/>
              </a:rPr>
              <a:t>第三讲 单周期控制器的设计 </a:t>
            </a:r>
            <a:endParaRPr lang="zh-CN" altLang="en-US" dirty="0">
              <a:ea typeface="宋体" panose="02010600030101010101" pitchFamily="2" charset="-122"/>
            </a:endParaRPr>
          </a:p>
        </p:txBody>
      </p:sp>
      <p:sp>
        <p:nvSpPr>
          <p:cNvPr id="102402" name="文本占位符 311298"/>
          <p:cNvSpPr>
            <a:spLocks noGrp="1"/>
          </p:cNvSpPr>
          <p:nvPr>
            <p:ph idx="1"/>
          </p:nvPr>
        </p:nvSpPr>
        <p:spPr>
          <a:xfrm>
            <a:off x="409575" y="1266825"/>
            <a:ext cx="8191500" cy="5289550"/>
          </a:xfrm>
          <a:ln/>
        </p:spPr>
        <p:txBody>
          <a:bodyPr lIns="63500" tIns="25400" rIns="63500" bIns="25400" anchor="t" anchorCtr="0">
            <a:spAutoFit/>
          </a:bodyPr>
          <a:p>
            <a:r>
              <a:rPr lang="zh-CN" altLang="en-US" sz="2000" dirty="0">
                <a:ea typeface="宋体" panose="02010600030101010101" pitchFamily="2" charset="-122"/>
              </a:rPr>
              <a:t>考察每条指令在数据通路中的执行过程和涉及到的控制信号的取值</a:t>
            </a:r>
            <a:endParaRPr lang="zh-CN" altLang="en-US" sz="2000" dirty="0">
              <a:ea typeface="宋体" panose="02010600030101010101" pitchFamily="2" charset="-122"/>
            </a:endParaRPr>
          </a:p>
          <a:p>
            <a:pPr lvl="1"/>
            <a:r>
              <a:rPr lang="zh-CN" altLang="en-US" sz="2000" dirty="0">
                <a:ea typeface="宋体" panose="02010600030101010101" pitchFamily="2" charset="-122"/>
              </a:rPr>
              <a:t>公共操作：取指令和计算下址</a:t>
            </a:r>
            <a:r>
              <a:rPr lang="en-US" altLang="zh-CN" sz="2000">
                <a:ea typeface="宋体" panose="02010600030101010101" pitchFamily="2" charset="-122"/>
              </a:rPr>
              <a:t>PC</a:t>
            </a:r>
            <a:endParaRPr lang="zh-CN" altLang="en-US" sz="2000" dirty="0">
              <a:ea typeface="宋体" panose="02010600030101010101" pitchFamily="2" charset="-122"/>
            </a:endParaRPr>
          </a:p>
          <a:p>
            <a:pPr lvl="1"/>
            <a:r>
              <a:rPr lang="en-US" altLang="zh-CN" sz="2000">
                <a:ea typeface="宋体" panose="02010600030101010101" pitchFamily="2" charset="-122"/>
              </a:rPr>
              <a:t>R-Type</a:t>
            </a:r>
            <a:r>
              <a:rPr lang="zh-CN" altLang="en-US" sz="2000" dirty="0">
                <a:ea typeface="宋体" panose="02010600030101010101" pitchFamily="2" charset="-122"/>
              </a:rPr>
              <a:t>指令（</a:t>
            </a:r>
            <a:r>
              <a:rPr lang="en-US" altLang="zh-CN" sz="2000">
                <a:ea typeface="宋体" panose="02010600030101010101" pitchFamily="2" charset="-122"/>
              </a:rPr>
              <a:t>add / sub</a:t>
            </a:r>
            <a:r>
              <a:rPr lang="zh-CN" altLang="en-US" sz="2000" dirty="0">
                <a:ea typeface="宋体" panose="02010600030101010101" pitchFamily="2" charset="-122"/>
              </a:rPr>
              <a:t>）</a:t>
            </a:r>
            <a:endParaRPr lang="zh-CN" altLang="en-US" sz="2000" dirty="0">
              <a:ea typeface="宋体" panose="02010600030101010101" pitchFamily="2" charset="-122"/>
            </a:endParaRPr>
          </a:p>
          <a:p>
            <a:pPr lvl="1"/>
            <a:r>
              <a:rPr lang="zh-CN" altLang="en-US" sz="2000" dirty="0">
                <a:ea typeface="宋体" panose="02010600030101010101" pitchFamily="2" charset="-122"/>
              </a:rPr>
              <a:t>立即数指令 （</a:t>
            </a:r>
            <a:r>
              <a:rPr lang="en-US" altLang="zh-CN" sz="2000" dirty="0" err="1">
                <a:ea typeface="宋体" panose="02010600030101010101" pitchFamily="2" charset="-122"/>
              </a:rPr>
              <a:t>ori</a:t>
            </a:r>
            <a:r>
              <a:rPr lang="zh-CN" altLang="en-US" sz="2000" dirty="0">
                <a:ea typeface="宋体" panose="02010600030101010101" pitchFamily="2" charset="-122"/>
              </a:rPr>
              <a:t>）</a:t>
            </a:r>
            <a:endParaRPr lang="en-US" altLang="zh-CN" sz="2000">
              <a:ea typeface="宋体" panose="02010600030101010101" pitchFamily="2" charset="-122"/>
            </a:endParaRPr>
          </a:p>
          <a:p>
            <a:pPr lvl="1"/>
            <a:r>
              <a:rPr lang="zh-CN" altLang="en-US" sz="2000" dirty="0">
                <a:ea typeface="宋体" panose="02010600030101010101" pitchFamily="2" charset="-122"/>
              </a:rPr>
              <a:t>访存指令（</a:t>
            </a:r>
            <a:r>
              <a:rPr lang="en-US" altLang="zh-CN" sz="2000" dirty="0" err="1">
                <a:ea typeface="宋体" panose="02010600030101010101" pitchFamily="2" charset="-122"/>
              </a:rPr>
              <a:t>lw</a:t>
            </a:r>
            <a:r>
              <a:rPr lang="en-US" altLang="zh-CN" sz="2000">
                <a:ea typeface="宋体" panose="02010600030101010101" pitchFamily="2" charset="-122"/>
              </a:rPr>
              <a:t> / </a:t>
            </a:r>
            <a:r>
              <a:rPr lang="en-US" altLang="zh-CN" sz="2000" dirty="0" err="1">
                <a:ea typeface="宋体" panose="02010600030101010101" pitchFamily="2" charset="-122"/>
              </a:rPr>
              <a:t>sw</a:t>
            </a:r>
            <a:r>
              <a:rPr lang="zh-CN" altLang="en-US" sz="2000" dirty="0">
                <a:ea typeface="宋体" panose="02010600030101010101" pitchFamily="2" charset="-122"/>
              </a:rPr>
              <a:t>）</a:t>
            </a:r>
            <a:endParaRPr lang="zh-CN" altLang="en-US" sz="2000" dirty="0">
              <a:ea typeface="宋体" panose="02010600030101010101" pitchFamily="2" charset="-122"/>
            </a:endParaRPr>
          </a:p>
          <a:p>
            <a:pPr lvl="1"/>
            <a:r>
              <a:rPr lang="zh-CN" altLang="en-US" sz="2000" dirty="0">
                <a:ea typeface="宋体" panose="02010600030101010101" pitchFamily="2" charset="-122"/>
              </a:rPr>
              <a:t>分支指令 （</a:t>
            </a:r>
            <a:r>
              <a:rPr lang="en-US" altLang="zh-CN" sz="2000" dirty="0" err="1">
                <a:ea typeface="宋体" panose="02010600030101010101" pitchFamily="2" charset="-122"/>
              </a:rPr>
              <a:t>beq</a:t>
            </a:r>
            <a:r>
              <a:rPr lang="zh-CN" altLang="en-US" sz="2000" dirty="0">
                <a:ea typeface="宋体" panose="02010600030101010101" pitchFamily="2" charset="-122"/>
              </a:rPr>
              <a:t>）</a:t>
            </a:r>
            <a:endParaRPr lang="zh-CN" altLang="en-US" sz="2000" dirty="0">
              <a:ea typeface="宋体" panose="02010600030101010101" pitchFamily="2" charset="-122"/>
            </a:endParaRPr>
          </a:p>
          <a:p>
            <a:pPr lvl="1"/>
            <a:r>
              <a:rPr lang="zh-CN" altLang="en-US" sz="2000" dirty="0">
                <a:ea typeface="宋体" panose="02010600030101010101" pitchFamily="2" charset="-122"/>
              </a:rPr>
              <a:t>跳转指令 （</a:t>
            </a:r>
            <a:r>
              <a:rPr lang="en-US" altLang="zh-CN" sz="2000">
                <a:ea typeface="宋体" panose="02010600030101010101" pitchFamily="2" charset="-122"/>
              </a:rPr>
              <a:t>j</a:t>
            </a:r>
            <a:r>
              <a:rPr lang="zh-CN" altLang="en-US" sz="2000" dirty="0">
                <a:ea typeface="宋体" panose="02010600030101010101" pitchFamily="2" charset="-122"/>
              </a:rPr>
              <a:t>）</a:t>
            </a:r>
            <a:endParaRPr lang="zh-CN" altLang="en-US" sz="2000" dirty="0">
              <a:ea typeface="宋体" panose="02010600030101010101" pitchFamily="2" charset="-122"/>
            </a:endParaRPr>
          </a:p>
          <a:p>
            <a:r>
              <a:rPr lang="zh-CN" altLang="en-US" sz="2000" dirty="0">
                <a:ea typeface="宋体" panose="02010600030101010101" pitchFamily="2" charset="-122"/>
              </a:rPr>
              <a:t>汇总各指令的控制信号取值</a:t>
            </a:r>
            <a:endParaRPr lang="zh-CN" altLang="en-US" sz="2000" dirty="0">
              <a:ea typeface="宋体" panose="02010600030101010101" pitchFamily="2" charset="-122"/>
            </a:endParaRPr>
          </a:p>
          <a:p>
            <a:pPr lvl="1"/>
            <a:r>
              <a:rPr lang="zh-CN" altLang="en-US" sz="2000" dirty="0">
                <a:ea typeface="宋体" panose="02010600030101010101" pitchFamily="2" charset="-122"/>
              </a:rPr>
              <a:t>分两类控制信号：直接送往数据通路 </a:t>
            </a:r>
            <a:r>
              <a:rPr lang="en-US" altLang="zh-CN" sz="2000">
                <a:ea typeface="宋体" panose="02010600030101010101" pitchFamily="2" charset="-122"/>
              </a:rPr>
              <a:t>/ </a:t>
            </a:r>
            <a:r>
              <a:rPr lang="zh-CN" altLang="en-US" sz="2000" dirty="0">
                <a:ea typeface="宋体" panose="02010600030101010101" pitchFamily="2" charset="-122"/>
              </a:rPr>
              <a:t>送往局部控制单元</a:t>
            </a:r>
            <a:endParaRPr lang="zh-CN" altLang="en-US" sz="2000" dirty="0">
              <a:ea typeface="宋体" panose="02010600030101010101" pitchFamily="2" charset="-122"/>
            </a:endParaRPr>
          </a:p>
          <a:p>
            <a:r>
              <a:rPr lang="zh-CN" altLang="en-US" sz="2000" dirty="0">
                <a:ea typeface="宋体" panose="02010600030101010101" pitchFamily="2" charset="-122"/>
              </a:rPr>
              <a:t>分析</a:t>
            </a:r>
            <a:r>
              <a:rPr lang="en-US" altLang="zh-CN" sz="2000">
                <a:ea typeface="宋体" panose="02010600030101010101" pitchFamily="2" charset="-122"/>
              </a:rPr>
              <a:t>ALU</a:t>
            </a:r>
            <a:r>
              <a:rPr lang="zh-CN" altLang="en-US" sz="2000" dirty="0">
                <a:ea typeface="宋体" panose="02010600030101010101" pitchFamily="2" charset="-122"/>
              </a:rPr>
              <a:t>操作对应的控制信号与</a:t>
            </a:r>
            <a:r>
              <a:rPr lang="en-US" altLang="zh-CN" sz="2000" dirty="0" err="1">
                <a:ea typeface="宋体" panose="02010600030101010101" pitchFamily="2" charset="-122"/>
              </a:rPr>
              <a:t>func</a:t>
            </a:r>
            <a:r>
              <a:rPr lang="zh-CN" altLang="en-US" sz="2000" dirty="0">
                <a:ea typeface="宋体" panose="02010600030101010101" pitchFamily="2" charset="-122"/>
              </a:rPr>
              <a:t>字段之间的关系</a:t>
            </a:r>
            <a:endParaRPr lang="zh-CN" altLang="en-US" sz="2000" dirty="0">
              <a:ea typeface="宋体" panose="02010600030101010101" pitchFamily="2" charset="-122"/>
            </a:endParaRPr>
          </a:p>
          <a:p>
            <a:r>
              <a:rPr lang="zh-CN" altLang="en-US" sz="2000" dirty="0">
                <a:ea typeface="宋体" panose="02010600030101010101" pitchFamily="2" charset="-122"/>
              </a:rPr>
              <a:t>设计</a:t>
            </a:r>
            <a:r>
              <a:rPr lang="en-US" altLang="zh-CN" sz="2000">
                <a:ea typeface="宋体" panose="02010600030101010101" pitchFamily="2" charset="-122"/>
              </a:rPr>
              <a:t>ALU</a:t>
            </a:r>
            <a:r>
              <a:rPr lang="zh-CN" altLang="en-US" sz="2000" dirty="0">
                <a:ea typeface="宋体" panose="02010600030101010101" pitchFamily="2" charset="-122"/>
              </a:rPr>
              <a:t>局部控制单元</a:t>
            </a:r>
            <a:endParaRPr lang="zh-CN" altLang="en-US" sz="2000" dirty="0">
              <a:ea typeface="宋体" panose="02010600030101010101" pitchFamily="2" charset="-122"/>
            </a:endParaRPr>
          </a:p>
          <a:p>
            <a:r>
              <a:rPr lang="zh-CN" altLang="en-US" sz="2000" dirty="0">
                <a:ea typeface="宋体" panose="02010600030101010101" pitchFamily="2" charset="-122"/>
              </a:rPr>
              <a:t>设计主控制单元</a:t>
            </a:r>
            <a:endParaRPr lang="zh-CN" altLang="en-US" sz="2000" dirty="0">
              <a:ea typeface="宋体" panose="02010600030101010101" pitchFamily="2" charset="-122"/>
            </a:endParaRPr>
          </a:p>
          <a:p>
            <a:endParaRPr lang="zh-CN" altLang="en-US" sz="2000" dirty="0">
              <a:ea typeface="宋体" panose="02010600030101010101" pitchFamily="2" charset="-122"/>
            </a:endParaRPr>
          </a:p>
        </p:txBody>
      </p:sp>
      <p:sp>
        <p:nvSpPr>
          <p:cNvPr id="102403" name="文本框 311299"/>
          <p:cNvSpPr txBox="1"/>
          <p:nvPr/>
        </p:nvSpPr>
        <p:spPr>
          <a:xfrm>
            <a:off x="2851150" y="741363"/>
            <a:ext cx="1973263" cy="457200"/>
          </a:xfrm>
          <a:prstGeom prst="rect">
            <a:avLst/>
          </a:prstGeom>
          <a:noFill/>
          <a:ln w="50800">
            <a:noFill/>
          </a:ln>
        </p:spPr>
        <p:txBody>
          <a:bodyPr anchor="t" anchorCtr="0">
            <a:spAutoFit/>
          </a:bodyPr>
          <a:p>
            <a:pPr eaLnBrk="0" hangingPunct="0">
              <a:spcBef>
                <a:spcPct val="50000"/>
              </a:spcBef>
            </a:pPr>
            <a:r>
              <a:rPr lang="zh-CN" altLang="en-US" sz="2400" dirty="0">
                <a:solidFill>
                  <a:schemeClr val="accent1"/>
                </a:solidFill>
                <a:latin typeface="Times New Roman" panose="02020603050405020304" pitchFamily="18" charset="0"/>
                <a:ea typeface="宋体" panose="02010600030101010101" pitchFamily="2" charset="-122"/>
              </a:rPr>
              <a:t>主 要 内 容</a:t>
            </a:r>
            <a:endParaRPr lang="zh-CN" altLang="en-US" sz="2400" dirty="0">
              <a:solidFill>
                <a:schemeClr val="accent1"/>
              </a:solidFill>
              <a:latin typeface="Times New Roman" panose="02020603050405020304" pitchFamily="18"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标题 241665"/>
          <p:cNvSpPr>
            <a:spLocks noGrp="1"/>
          </p:cNvSpPr>
          <p:nvPr>
            <p:ph type="title"/>
          </p:nvPr>
        </p:nvSpPr>
        <p:spPr>
          <a:xfrm>
            <a:off x="836613" y="207963"/>
            <a:ext cx="6472237" cy="422275"/>
          </a:xfrm>
          <a:ln/>
        </p:spPr>
        <p:txBody>
          <a:bodyPr vert="horz" wrap="none" lIns="63500" tIns="25400" rIns="63500" bIns="25400" anchor="t" anchorCtr="0">
            <a:spAutoFit/>
          </a:bodyPr>
          <a:p>
            <a:r>
              <a:rPr lang="en-US" altLang="zh-CN">
                <a:ea typeface="宋体" panose="02010600030101010101" pitchFamily="2" charset="-122"/>
              </a:rPr>
              <a:t>The Big Picture: Where are We Now? </a:t>
            </a:r>
            <a:endParaRPr lang="en-US" altLang="zh-CN">
              <a:ea typeface="宋体" panose="02010600030101010101" pitchFamily="2" charset="-122"/>
            </a:endParaRPr>
          </a:p>
        </p:txBody>
      </p:sp>
      <p:sp>
        <p:nvSpPr>
          <p:cNvPr id="103426" name="文本占位符 241666"/>
          <p:cNvSpPr>
            <a:spLocks noGrp="1"/>
          </p:cNvSpPr>
          <p:nvPr>
            <p:ph idx="1"/>
          </p:nvPr>
        </p:nvSpPr>
        <p:spPr>
          <a:xfrm>
            <a:off x="495300" y="939800"/>
            <a:ext cx="8191500" cy="2554288"/>
          </a:xfrm>
          <a:ln/>
        </p:spPr>
        <p:txBody>
          <a:bodyPr vert="horz" wrap="square" lIns="63500" tIns="25400" rIns="63500" bIns="25400" anchor="t" anchorCtr="0">
            <a:spAutoFit/>
          </a:bodyPr>
          <a:p>
            <a:r>
              <a:rPr lang="en-US" altLang="zh-CN">
                <a:ea typeface="宋体" panose="02010600030101010101" pitchFamily="2" charset="-122"/>
              </a:rPr>
              <a:t>The Five Classic Components of a Computer</a:t>
            </a:r>
            <a:endParaRPr lang="en-US" altLang="zh-CN">
              <a:ea typeface="宋体" panose="02010600030101010101" pitchFamily="2" charset="-122"/>
            </a:endParaRPr>
          </a:p>
          <a:p>
            <a:pPr>
              <a:buNone/>
            </a:pPr>
            <a:endParaRPr lang="en-US" altLang="zh-CN">
              <a:ea typeface="宋体" panose="02010600030101010101" pitchFamily="2" charset="-122"/>
            </a:endParaRPr>
          </a:p>
          <a:p>
            <a:pPr>
              <a:buNone/>
            </a:pPr>
            <a:endParaRPr lang="en-US" altLang="zh-CN">
              <a:ea typeface="宋体" panose="02010600030101010101" pitchFamily="2" charset="-122"/>
            </a:endParaRPr>
          </a:p>
          <a:p>
            <a:pPr>
              <a:buNone/>
            </a:pPr>
            <a:endParaRPr lang="en-US" altLang="zh-CN">
              <a:ea typeface="宋体" panose="02010600030101010101" pitchFamily="2" charset="-122"/>
            </a:endParaRPr>
          </a:p>
          <a:p>
            <a:pPr>
              <a:buNone/>
            </a:pPr>
            <a:endParaRPr lang="en-US" altLang="zh-CN">
              <a:ea typeface="宋体" panose="02010600030101010101" pitchFamily="2" charset="-122"/>
            </a:endParaRPr>
          </a:p>
          <a:p>
            <a:pPr>
              <a:buNone/>
            </a:pPr>
            <a:endParaRPr lang="en-US" altLang="zh-CN">
              <a:ea typeface="宋体" panose="02010600030101010101" pitchFamily="2" charset="-122"/>
            </a:endParaRPr>
          </a:p>
          <a:p>
            <a:pPr>
              <a:buNone/>
            </a:pPr>
            <a:endParaRPr lang="en-US" altLang="zh-CN">
              <a:ea typeface="宋体" panose="02010600030101010101" pitchFamily="2" charset="-122"/>
            </a:endParaRPr>
          </a:p>
        </p:txBody>
      </p:sp>
      <p:sp>
        <p:nvSpPr>
          <p:cNvPr id="103427" name="矩形 241667"/>
          <p:cNvSpPr/>
          <p:nvPr/>
        </p:nvSpPr>
        <p:spPr>
          <a:xfrm>
            <a:off x="1612900" y="1968500"/>
            <a:ext cx="1270000" cy="736600"/>
          </a:xfrm>
          <a:prstGeom prst="rect">
            <a:avLst/>
          </a:prstGeom>
          <a:noFill/>
          <a:ln w="25400" cap="flat" cmpd="sng">
            <a:solidFill>
              <a:schemeClr val="accent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3428" name="矩形 241668"/>
          <p:cNvSpPr/>
          <p:nvPr/>
        </p:nvSpPr>
        <p:spPr>
          <a:xfrm>
            <a:off x="1814513" y="2201863"/>
            <a:ext cx="993775" cy="363537"/>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1"/>
                </a:solidFill>
                <a:latin typeface="Arial" panose="020B0604020202020204" pitchFamily="34" charset="0"/>
                <a:ea typeface="黑体" panose="02010609060101010101" pitchFamily="49" charset="-122"/>
              </a:rPr>
              <a:t>Control</a:t>
            </a:r>
            <a:endParaRPr lang="en-US" altLang="zh-CN" sz="1800">
              <a:solidFill>
                <a:schemeClr val="accent1"/>
              </a:solidFill>
              <a:latin typeface="Arial" panose="020B0604020202020204" pitchFamily="34" charset="0"/>
              <a:ea typeface="黑体" panose="02010609060101010101" pitchFamily="49" charset="-122"/>
            </a:endParaRPr>
          </a:p>
        </p:txBody>
      </p:sp>
      <p:grpSp>
        <p:nvGrpSpPr>
          <p:cNvPr id="103429" name="组合 241669"/>
          <p:cNvGrpSpPr/>
          <p:nvPr/>
        </p:nvGrpSpPr>
        <p:grpSpPr>
          <a:xfrm>
            <a:off x="1600200" y="2882900"/>
            <a:ext cx="1284288" cy="736600"/>
            <a:chOff x="1016" y="2072"/>
            <a:chExt cx="809" cy="464"/>
          </a:xfrm>
        </p:grpSpPr>
        <p:sp>
          <p:nvSpPr>
            <p:cNvPr id="103430" name="矩形 241670"/>
            <p:cNvSpPr/>
            <p:nvPr/>
          </p:nvSpPr>
          <p:spPr>
            <a:xfrm>
              <a:off x="1016" y="2072"/>
              <a:ext cx="800" cy="464"/>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3431" name="矩形 241671"/>
            <p:cNvSpPr/>
            <p:nvPr/>
          </p:nvSpPr>
          <p:spPr>
            <a:xfrm>
              <a:off x="1095" y="2193"/>
              <a:ext cx="730" cy="229"/>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0000FF"/>
                  </a:solidFill>
                  <a:latin typeface="Arial" panose="020B0604020202020204" pitchFamily="34" charset="0"/>
                  <a:ea typeface="宋体" panose="02010600030101010101" pitchFamily="2" charset="-122"/>
                </a:rPr>
                <a:t>Datapath</a:t>
              </a:r>
              <a:endParaRPr lang="en-US" altLang="zh-CN" sz="1800">
                <a:solidFill>
                  <a:srgbClr val="0000FF"/>
                </a:solidFill>
                <a:latin typeface="Arial" panose="020B0604020202020204" pitchFamily="34" charset="0"/>
                <a:ea typeface="宋体" panose="02010600030101010101" pitchFamily="2" charset="-122"/>
              </a:endParaRPr>
            </a:p>
          </p:txBody>
        </p:sp>
      </p:grpSp>
      <p:sp>
        <p:nvSpPr>
          <p:cNvPr id="103432" name="矩形 241672"/>
          <p:cNvSpPr/>
          <p:nvPr/>
        </p:nvSpPr>
        <p:spPr>
          <a:xfrm>
            <a:off x="3213100" y="1587500"/>
            <a:ext cx="1041400" cy="21844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3433" name="矩形 241673"/>
          <p:cNvSpPr/>
          <p:nvPr/>
        </p:nvSpPr>
        <p:spPr>
          <a:xfrm>
            <a:off x="3182938" y="2439988"/>
            <a:ext cx="10572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03434" name="矩形 241674"/>
          <p:cNvSpPr/>
          <p:nvPr/>
        </p:nvSpPr>
        <p:spPr>
          <a:xfrm>
            <a:off x="1460500" y="1587500"/>
            <a:ext cx="1574800" cy="21844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3435" name="矩形 241675"/>
          <p:cNvSpPr/>
          <p:nvPr/>
        </p:nvSpPr>
        <p:spPr>
          <a:xfrm>
            <a:off x="1649413" y="1574800"/>
            <a:ext cx="12985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Processor</a:t>
            </a:r>
            <a:endParaRPr lang="en-US" altLang="zh-CN" sz="1800">
              <a:latin typeface="Arial" panose="020B0604020202020204" pitchFamily="34" charset="0"/>
              <a:ea typeface="宋体" panose="02010600030101010101" pitchFamily="2" charset="-122"/>
            </a:endParaRPr>
          </a:p>
        </p:txBody>
      </p:sp>
      <p:sp>
        <p:nvSpPr>
          <p:cNvPr id="103436" name="矩形 241676"/>
          <p:cNvSpPr/>
          <p:nvPr/>
        </p:nvSpPr>
        <p:spPr>
          <a:xfrm>
            <a:off x="4432300" y="1587500"/>
            <a:ext cx="1041400" cy="889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3437" name="矩形 241677"/>
          <p:cNvSpPr/>
          <p:nvPr/>
        </p:nvSpPr>
        <p:spPr>
          <a:xfrm>
            <a:off x="4576763" y="1879600"/>
            <a:ext cx="739775" cy="363538"/>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Input</a:t>
            </a:r>
            <a:endParaRPr lang="en-US" altLang="zh-CN" sz="1800">
              <a:latin typeface="Arial" panose="020B0604020202020204" pitchFamily="34" charset="0"/>
              <a:ea typeface="宋体" panose="02010600030101010101" pitchFamily="2" charset="-122"/>
            </a:endParaRPr>
          </a:p>
        </p:txBody>
      </p:sp>
      <p:sp>
        <p:nvSpPr>
          <p:cNvPr id="103438" name="矩形 241678"/>
          <p:cNvSpPr/>
          <p:nvPr/>
        </p:nvSpPr>
        <p:spPr>
          <a:xfrm>
            <a:off x="4432300" y="2882900"/>
            <a:ext cx="1041400" cy="889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3439" name="矩形 241679"/>
          <p:cNvSpPr/>
          <p:nvPr/>
        </p:nvSpPr>
        <p:spPr>
          <a:xfrm>
            <a:off x="4483100" y="3175000"/>
            <a:ext cx="930275" cy="363538"/>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Output</a:t>
            </a:r>
            <a:endParaRPr lang="en-US" altLang="zh-CN" sz="1800">
              <a:latin typeface="Arial" panose="020B0604020202020204" pitchFamily="34" charset="0"/>
              <a:ea typeface="宋体" panose="02010600030101010101" pitchFamily="2" charset="-122"/>
            </a:endParaRPr>
          </a:p>
        </p:txBody>
      </p:sp>
      <p:sp>
        <p:nvSpPr>
          <p:cNvPr id="241681" name="矩形 241680"/>
          <p:cNvSpPr/>
          <p:nvPr/>
        </p:nvSpPr>
        <p:spPr>
          <a:xfrm>
            <a:off x="357188" y="3979863"/>
            <a:ext cx="5518150" cy="350837"/>
          </a:xfrm>
          <a:prstGeom prst="rect">
            <a:avLst/>
          </a:prstGeom>
          <a:noFill/>
          <a:ln w="25400">
            <a:noFill/>
          </a:ln>
        </p:spPr>
        <p:txBody>
          <a:bodyPr wrap="none" anchor="t" anchorCtr="0">
            <a:spAutoFit/>
          </a:bodyPr>
          <a:p>
            <a:pPr eaLnBrk="0" hangingPunct="0">
              <a:lnSpc>
                <a:spcPct val="85000"/>
              </a:lnSpc>
              <a:spcBef>
                <a:spcPct val="100000"/>
              </a:spcBef>
              <a:buChar char="°"/>
            </a:pPr>
            <a:r>
              <a:rPr lang="zh-CN" altLang="en-US" sz="2000" b="0" dirty="0">
                <a:latin typeface="Times New Roman" panose="02020603050405020304" pitchFamily="18" charset="0"/>
                <a:ea typeface="黑体" panose="02010609060101010101" pitchFamily="49" charset="-122"/>
              </a:rPr>
              <a:t>下一个目标：设计单周期数据通路的控制器。</a:t>
            </a:r>
            <a:endParaRPr lang="zh-CN" altLang="en-US" sz="2000" b="0" dirty="0">
              <a:latin typeface="Times New Roman" panose="02020603050405020304" pitchFamily="18" charset="0"/>
              <a:ea typeface="黑体" panose="02010609060101010101" pitchFamily="49" charset="-122"/>
            </a:endParaRPr>
          </a:p>
        </p:txBody>
      </p:sp>
      <p:sp>
        <p:nvSpPr>
          <p:cNvPr id="241682" name="矩形 241681"/>
          <p:cNvSpPr/>
          <p:nvPr/>
        </p:nvSpPr>
        <p:spPr>
          <a:xfrm>
            <a:off x="306388" y="4375150"/>
            <a:ext cx="8570912" cy="1679575"/>
          </a:xfrm>
          <a:prstGeom prst="rect">
            <a:avLst/>
          </a:prstGeom>
          <a:noFill/>
          <a:ln w="25400">
            <a:noFill/>
          </a:ln>
        </p:spPr>
        <p:txBody>
          <a:bodyPr anchor="t" anchorCtr="0">
            <a:spAutoFit/>
          </a:bodyPr>
          <a:p>
            <a:pPr marL="457200" indent="-457200" eaLnBrk="0" hangingPunct="0">
              <a:lnSpc>
                <a:spcPct val="130000"/>
              </a:lnSpc>
              <a:buNone/>
            </a:pPr>
            <a:r>
              <a:rPr lang="zh-CN" altLang="en-US" sz="2000" b="0" dirty="0">
                <a:latin typeface="Arial" panose="020B0604020202020204" pitchFamily="34" charset="0"/>
                <a:ea typeface="黑体" panose="02010609060101010101" pitchFamily="49" charset="-122"/>
              </a:rPr>
              <a:t>设计方法：</a:t>
            </a:r>
            <a:endParaRPr lang="zh-CN" altLang="en-US" sz="2000" b="0" dirty="0">
              <a:latin typeface="Arial" panose="020B0604020202020204" pitchFamily="34" charset="0"/>
              <a:ea typeface="黑体" panose="02010609060101010101" pitchFamily="49" charset="-122"/>
            </a:endParaRPr>
          </a:p>
          <a:p>
            <a:pPr marL="457200" indent="-457200" eaLnBrk="0" hangingPunct="0">
              <a:lnSpc>
                <a:spcPct val="130000"/>
              </a:lnSpc>
              <a:buAutoNum type="arabicParenR"/>
            </a:pPr>
            <a:r>
              <a:rPr lang="zh-CN" altLang="en-US" sz="2000" b="0" dirty="0">
                <a:solidFill>
                  <a:schemeClr val="accent2"/>
                </a:solidFill>
                <a:latin typeface="Arial" panose="020B0604020202020204" pitchFamily="34" charset="0"/>
                <a:ea typeface="黑体" panose="02010609060101010101" pitchFamily="49" charset="-122"/>
              </a:rPr>
              <a:t>根据每条指令的功能，分析控制信号的取值，并在表中列出。</a:t>
            </a:r>
            <a:endParaRPr lang="zh-CN" altLang="en-US" sz="2000" b="0" dirty="0">
              <a:solidFill>
                <a:schemeClr val="accent2"/>
              </a:solidFill>
              <a:latin typeface="Arial" panose="020B0604020202020204" pitchFamily="34" charset="0"/>
              <a:ea typeface="黑体" panose="02010609060101010101" pitchFamily="49" charset="-122"/>
            </a:endParaRPr>
          </a:p>
          <a:p>
            <a:pPr marL="457200" indent="-457200" eaLnBrk="0" hangingPunct="0">
              <a:lnSpc>
                <a:spcPct val="130000"/>
              </a:lnSpc>
              <a:buAutoNum type="arabicParenR"/>
            </a:pPr>
            <a:r>
              <a:rPr lang="zh-CN" altLang="en-US" sz="2000" b="0" dirty="0">
                <a:solidFill>
                  <a:schemeClr val="accent2"/>
                </a:solidFill>
                <a:latin typeface="Arial" panose="020B0604020202020204" pitchFamily="34" charset="0"/>
                <a:ea typeface="黑体" panose="02010609060101010101" pitchFamily="49" charset="-122"/>
              </a:rPr>
              <a:t>根据列出的指令和控制信号的关系，写出每个控制信号的逻辑表达式。</a:t>
            </a:r>
            <a:endParaRPr lang="zh-CN" altLang="en-US" sz="2000" b="0" dirty="0">
              <a:solidFill>
                <a:schemeClr val="accent2"/>
              </a:solidFill>
              <a:latin typeface="Arial" panose="020B0604020202020204" pitchFamily="34" charset="0"/>
              <a:ea typeface="黑体" panose="02010609060101010101" pitchFamily="49" charset="-122"/>
            </a:endParaRPr>
          </a:p>
          <a:p>
            <a:pPr marL="1371600" lvl="2" indent="-457200" eaLnBrk="0" hangingPunct="0">
              <a:lnSpc>
                <a:spcPct val="130000"/>
              </a:lnSpc>
              <a:buNone/>
            </a:pPr>
            <a:endParaRPr lang="zh-CN" altLang="en-US" sz="2000" b="0" dirty="0">
              <a:solidFill>
                <a:schemeClr val="accent2"/>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41681">
                                            <p:txEl>
                                              <p:charRg st="0" end="21"/>
                                            </p:txEl>
                                          </p:spTgt>
                                        </p:tgtEl>
                                        <p:attrNameLst>
                                          <p:attrName>style.visibility</p:attrName>
                                        </p:attrNameLst>
                                      </p:cBhvr>
                                      <p:to>
                                        <p:strVal val="visible"/>
                                      </p:to>
                                    </p:set>
                                    <p:animEffect transition="in" filter="checkerboard(across)">
                                      <p:cBhvr>
                                        <p:cTn id="7" dur="500"/>
                                        <p:tgtEl>
                                          <p:spTgt spid="241681">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1682">
                                            <p:txEl>
                                              <p:charRg st="0" end="6"/>
                                            </p:txEl>
                                          </p:spTgt>
                                        </p:tgtEl>
                                        <p:attrNameLst>
                                          <p:attrName>style.visibility</p:attrName>
                                        </p:attrNameLst>
                                      </p:cBhvr>
                                      <p:to>
                                        <p:strVal val="visible"/>
                                      </p:to>
                                    </p:set>
                                    <p:animEffect transition="in" filter="checkerboard(across)">
                                      <p:cBhvr>
                                        <p:cTn id="12" dur="500"/>
                                        <p:tgtEl>
                                          <p:spTgt spid="241682">
                                            <p:txEl>
                                              <p:charRg st="0"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1682">
                                            <p:txEl>
                                              <p:charRg st="6" end="34"/>
                                            </p:txEl>
                                          </p:spTgt>
                                        </p:tgtEl>
                                        <p:attrNameLst>
                                          <p:attrName>style.visibility</p:attrName>
                                        </p:attrNameLst>
                                      </p:cBhvr>
                                      <p:to>
                                        <p:strVal val="visible"/>
                                      </p:to>
                                    </p:set>
                                    <p:animEffect transition="in" filter="blinds(horizontal)">
                                      <p:cBhvr>
                                        <p:cTn id="17" dur="500"/>
                                        <p:tgtEl>
                                          <p:spTgt spid="241682">
                                            <p:txEl>
                                              <p:charRg st="6" end="3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41682">
                                            <p:txEl>
                                              <p:charRg st="34" end="66"/>
                                            </p:txEl>
                                          </p:spTgt>
                                        </p:tgtEl>
                                        <p:attrNameLst>
                                          <p:attrName>style.visibility</p:attrName>
                                        </p:attrNameLst>
                                      </p:cBhvr>
                                      <p:to>
                                        <p:strVal val="visible"/>
                                      </p:to>
                                    </p:set>
                                    <p:animEffect transition="in" filter="blinds(horizontal)">
                                      <p:cBhvr>
                                        <p:cTn id="22" dur="500"/>
                                        <p:tgtEl>
                                          <p:spTgt spid="241682">
                                            <p:txEl>
                                              <p:charRg st="34" end="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82" grpId="0" uiExpand="1" build="allAtOnce"/>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标题 245761"/>
          <p:cNvSpPr>
            <a:spLocks noGrp="1"/>
          </p:cNvSpPr>
          <p:nvPr>
            <p:ph type="title"/>
          </p:nvPr>
        </p:nvSpPr>
        <p:spPr>
          <a:xfrm>
            <a:off x="419100" y="177800"/>
            <a:ext cx="8572500" cy="531813"/>
          </a:xfrm>
          <a:ln/>
        </p:spPr>
        <p:txBody>
          <a:bodyPr vert="horz" wrap="square" lIns="63500" tIns="25400" rIns="63500" bIns="25400" anchor="t" anchorCtr="0">
            <a:spAutoFit/>
          </a:bodyPr>
          <a:p>
            <a:r>
              <a:rPr lang="en-US" altLang="zh-CN">
                <a:ea typeface="宋体" panose="02010600030101010101" pitchFamily="2" charset="-122"/>
              </a:rPr>
              <a:t>Add / Sub</a:t>
            </a:r>
            <a:r>
              <a:rPr lang="zh-CN" altLang="en-US" dirty="0">
                <a:ea typeface="宋体" panose="02010600030101010101" pitchFamily="2" charset="-122"/>
              </a:rPr>
              <a:t>操作开始时取指部件中的动作</a:t>
            </a:r>
            <a:endParaRPr lang="zh-CN" altLang="en-US" dirty="0">
              <a:ea typeface="宋体" panose="02010600030101010101" pitchFamily="2" charset="-122"/>
            </a:endParaRPr>
          </a:p>
        </p:txBody>
      </p:sp>
      <p:sp>
        <p:nvSpPr>
          <p:cNvPr id="105474" name="直接连接符 245762"/>
          <p:cNvSpPr/>
          <p:nvPr/>
        </p:nvSpPr>
        <p:spPr>
          <a:xfrm>
            <a:off x="1701800" y="3581400"/>
            <a:ext cx="863600" cy="0"/>
          </a:xfrm>
          <a:prstGeom prst="line">
            <a:avLst/>
          </a:prstGeom>
          <a:ln w="50800" cap="flat" cmpd="sng">
            <a:solidFill>
              <a:schemeClr val="tx1"/>
            </a:solidFill>
            <a:prstDash val="solid"/>
            <a:round/>
            <a:headEnd type="none" w="med" len="med"/>
            <a:tailEnd type="triangle" w="med" len="med"/>
          </a:ln>
        </p:spPr>
      </p:sp>
      <p:sp>
        <p:nvSpPr>
          <p:cNvPr id="105475" name="直接连接符 245763"/>
          <p:cNvSpPr/>
          <p:nvPr/>
        </p:nvSpPr>
        <p:spPr>
          <a:xfrm flipH="1">
            <a:off x="2051050" y="3516313"/>
            <a:ext cx="88900" cy="131762"/>
          </a:xfrm>
          <a:prstGeom prst="line">
            <a:avLst/>
          </a:prstGeom>
          <a:ln w="12700" cap="flat" cmpd="sng">
            <a:solidFill>
              <a:schemeClr val="tx1"/>
            </a:solidFill>
            <a:prstDash val="solid"/>
            <a:round/>
            <a:headEnd type="none" w="med" len="med"/>
            <a:tailEnd type="none" w="med" len="med"/>
          </a:ln>
        </p:spPr>
      </p:sp>
      <p:sp>
        <p:nvSpPr>
          <p:cNvPr id="105476" name="矩形 245764"/>
          <p:cNvSpPr/>
          <p:nvPr/>
        </p:nvSpPr>
        <p:spPr>
          <a:xfrm>
            <a:off x="1814513" y="36512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05477" name="直接连接符 245765"/>
          <p:cNvSpPr/>
          <p:nvPr/>
        </p:nvSpPr>
        <p:spPr>
          <a:xfrm>
            <a:off x="3060700" y="3810000"/>
            <a:ext cx="1727200" cy="0"/>
          </a:xfrm>
          <a:prstGeom prst="line">
            <a:avLst/>
          </a:prstGeom>
          <a:ln w="25400" cap="flat" cmpd="sng">
            <a:solidFill>
              <a:schemeClr val="tx1"/>
            </a:solidFill>
            <a:prstDash val="solid"/>
            <a:round/>
            <a:headEnd type="none" w="med" len="med"/>
            <a:tailEnd type="triangle" w="med" len="med"/>
          </a:ln>
        </p:spPr>
      </p:sp>
      <p:sp>
        <p:nvSpPr>
          <p:cNvPr id="105478" name="直接连接符 245766"/>
          <p:cNvSpPr/>
          <p:nvPr/>
        </p:nvSpPr>
        <p:spPr>
          <a:xfrm flipH="1">
            <a:off x="4337050" y="3740150"/>
            <a:ext cx="88900" cy="166688"/>
          </a:xfrm>
          <a:prstGeom prst="line">
            <a:avLst/>
          </a:prstGeom>
          <a:ln w="12700" cap="flat" cmpd="sng">
            <a:solidFill>
              <a:schemeClr val="tx1"/>
            </a:solidFill>
            <a:prstDash val="solid"/>
            <a:round/>
            <a:headEnd type="none" w="med" len="med"/>
            <a:tailEnd type="none" w="med" len="med"/>
          </a:ln>
        </p:spPr>
      </p:sp>
      <p:sp>
        <p:nvSpPr>
          <p:cNvPr id="105479" name="矩形 245767"/>
          <p:cNvSpPr/>
          <p:nvPr/>
        </p:nvSpPr>
        <p:spPr>
          <a:xfrm>
            <a:off x="4176713" y="39147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05480" name="矩形 245768"/>
          <p:cNvSpPr/>
          <p:nvPr/>
        </p:nvSpPr>
        <p:spPr>
          <a:xfrm rot="5400000">
            <a:off x="2243138" y="5097463"/>
            <a:ext cx="1031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SignExt</a:t>
            </a:r>
            <a:endParaRPr lang="en-US" altLang="zh-CN" sz="1800">
              <a:latin typeface="Arial" panose="020B0604020202020204" pitchFamily="34" charset="0"/>
              <a:ea typeface="宋体" panose="02010600030101010101" pitchFamily="2" charset="-122"/>
            </a:endParaRPr>
          </a:p>
        </p:txBody>
      </p:sp>
      <p:sp>
        <p:nvSpPr>
          <p:cNvPr id="105481" name="直接连接符 245769"/>
          <p:cNvSpPr/>
          <p:nvPr/>
        </p:nvSpPr>
        <p:spPr>
          <a:xfrm>
            <a:off x="4127500" y="4643438"/>
            <a:ext cx="660400" cy="0"/>
          </a:xfrm>
          <a:prstGeom prst="line">
            <a:avLst/>
          </a:prstGeom>
          <a:ln w="25400" cap="flat" cmpd="sng">
            <a:solidFill>
              <a:schemeClr val="tx1"/>
            </a:solidFill>
            <a:prstDash val="solid"/>
            <a:round/>
            <a:headEnd type="none" w="med" len="med"/>
            <a:tailEnd type="triangle" w="med" len="med"/>
          </a:ln>
        </p:spPr>
      </p:sp>
      <p:sp>
        <p:nvSpPr>
          <p:cNvPr id="105482" name="矩形 245770"/>
          <p:cNvSpPr/>
          <p:nvPr/>
        </p:nvSpPr>
        <p:spPr>
          <a:xfrm>
            <a:off x="4195763" y="47545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05483" name="直接连接符 245771"/>
          <p:cNvSpPr/>
          <p:nvPr/>
        </p:nvSpPr>
        <p:spPr>
          <a:xfrm flipH="1">
            <a:off x="4337050" y="4578350"/>
            <a:ext cx="88900" cy="139700"/>
          </a:xfrm>
          <a:prstGeom prst="line">
            <a:avLst/>
          </a:prstGeom>
          <a:ln w="12700" cap="flat" cmpd="sng">
            <a:solidFill>
              <a:schemeClr val="tx1"/>
            </a:solidFill>
            <a:prstDash val="solid"/>
            <a:round/>
            <a:headEnd type="none" w="med" len="med"/>
            <a:tailEnd type="none" w="med" len="med"/>
          </a:ln>
        </p:spPr>
      </p:sp>
      <p:sp>
        <p:nvSpPr>
          <p:cNvPr id="105484" name="直接连接符 245772"/>
          <p:cNvSpPr/>
          <p:nvPr/>
        </p:nvSpPr>
        <p:spPr>
          <a:xfrm>
            <a:off x="1917700" y="5334000"/>
            <a:ext cx="660400" cy="0"/>
          </a:xfrm>
          <a:prstGeom prst="line">
            <a:avLst/>
          </a:prstGeom>
          <a:ln w="25400" cap="flat" cmpd="sng">
            <a:solidFill>
              <a:schemeClr val="tx1"/>
            </a:solidFill>
            <a:prstDash val="solid"/>
            <a:round/>
            <a:headEnd type="none" w="med" len="med"/>
            <a:tailEnd type="triangle" w="med" len="med"/>
          </a:ln>
        </p:spPr>
      </p:sp>
      <p:sp>
        <p:nvSpPr>
          <p:cNvPr id="105485" name="直接连接符 245773"/>
          <p:cNvSpPr/>
          <p:nvPr/>
        </p:nvSpPr>
        <p:spPr>
          <a:xfrm flipH="1">
            <a:off x="2127250" y="5251450"/>
            <a:ext cx="88900" cy="133350"/>
          </a:xfrm>
          <a:prstGeom prst="line">
            <a:avLst/>
          </a:prstGeom>
          <a:ln w="12700" cap="flat" cmpd="sng">
            <a:solidFill>
              <a:schemeClr val="tx1"/>
            </a:solidFill>
            <a:prstDash val="solid"/>
            <a:round/>
            <a:headEnd type="none" w="med" len="med"/>
            <a:tailEnd type="none" w="med" len="med"/>
          </a:ln>
        </p:spPr>
      </p:sp>
      <p:sp>
        <p:nvSpPr>
          <p:cNvPr id="105486" name="矩形 245774"/>
          <p:cNvSpPr/>
          <p:nvPr/>
        </p:nvSpPr>
        <p:spPr>
          <a:xfrm>
            <a:off x="1814513" y="5316538"/>
            <a:ext cx="3841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16</a:t>
            </a:r>
            <a:endParaRPr lang="zh-CN" altLang="en-US" b="0" dirty="0">
              <a:latin typeface="Times New Roman" panose="02020603050405020304" pitchFamily="18" charset="0"/>
              <a:ea typeface="宋体" panose="02010600030101010101" pitchFamily="2" charset="-122"/>
            </a:endParaRPr>
          </a:p>
        </p:txBody>
      </p:sp>
      <p:sp>
        <p:nvSpPr>
          <p:cNvPr id="105487" name="矩形 245775"/>
          <p:cNvSpPr/>
          <p:nvPr/>
        </p:nvSpPr>
        <p:spPr>
          <a:xfrm>
            <a:off x="1014413" y="5145088"/>
            <a:ext cx="9048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05488" name="直接连接符 245776"/>
          <p:cNvSpPr/>
          <p:nvPr/>
        </p:nvSpPr>
        <p:spPr>
          <a:xfrm>
            <a:off x="2070100" y="4449763"/>
            <a:ext cx="508000" cy="0"/>
          </a:xfrm>
          <a:prstGeom prst="line">
            <a:avLst/>
          </a:prstGeom>
          <a:ln w="25400" cap="flat" cmpd="sng">
            <a:solidFill>
              <a:schemeClr val="tx1"/>
            </a:solidFill>
            <a:prstDash val="solid"/>
            <a:round/>
            <a:headEnd type="none" w="med" len="med"/>
            <a:tailEnd type="triangle" w="med" len="med"/>
          </a:ln>
        </p:spPr>
      </p:sp>
      <p:sp>
        <p:nvSpPr>
          <p:cNvPr id="105489" name="矩形 245777"/>
          <p:cNvSpPr/>
          <p:nvPr/>
        </p:nvSpPr>
        <p:spPr>
          <a:xfrm>
            <a:off x="2603500" y="48133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05490" name="组合 245778"/>
          <p:cNvGrpSpPr/>
          <p:nvPr/>
        </p:nvGrpSpPr>
        <p:grpSpPr>
          <a:xfrm>
            <a:off x="4729163" y="3563938"/>
            <a:ext cx="376237" cy="1325562"/>
            <a:chOff x="2979" y="2245"/>
            <a:chExt cx="237" cy="835"/>
          </a:xfrm>
        </p:grpSpPr>
        <p:grpSp>
          <p:nvGrpSpPr>
            <p:cNvPr id="105491" name="组合 245779"/>
            <p:cNvGrpSpPr/>
            <p:nvPr/>
          </p:nvGrpSpPr>
          <p:grpSpPr>
            <a:xfrm>
              <a:off x="3024" y="2245"/>
              <a:ext cx="192" cy="835"/>
              <a:chOff x="3024" y="2245"/>
              <a:chExt cx="192" cy="835"/>
            </a:xfrm>
          </p:grpSpPr>
          <p:sp>
            <p:nvSpPr>
              <p:cNvPr id="105492" name="直接连接符 245780"/>
              <p:cNvSpPr/>
              <p:nvPr/>
            </p:nvSpPr>
            <p:spPr>
              <a:xfrm>
                <a:off x="3024" y="2245"/>
                <a:ext cx="0" cy="819"/>
              </a:xfrm>
              <a:prstGeom prst="line">
                <a:avLst/>
              </a:prstGeom>
              <a:ln w="25400" cap="flat" cmpd="sng">
                <a:solidFill>
                  <a:schemeClr val="tx1"/>
                </a:solidFill>
                <a:prstDash val="solid"/>
                <a:round/>
                <a:headEnd type="none" w="med" len="med"/>
                <a:tailEnd type="none" w="med" len="med"/>
              </a:ln>
            </p:spPr>
          </p:sp>
          <p:sp>
            <p:nvSpPr>
              <p:cNvPr id="105493" name="直接连接符 245781"/>
              <p:cNvSpPr/>
              <p:nvPr/>
            </p:nvSpPr>
            <p:spPr>
              <a:xfrm>
                <a:off x="3032" y="2245"/>
                <a:ext cx="176" cy="95"/>
              </a:xfrm>
              <a:prstGeom prst="line">
                <a:avLst/>
              </a:prstGeom>
              <a:ln w="25400" cap="flat" cmpd="sng">
                <a:solidFill>
                  <a:schemeClr val="tx1"/>
                </a:solidFill>
                <a:prstDash val="solid"/>
                <a:round/>
                <a:headEnd type="none" w="med" len="med"/>
                <a:tailEnd type="none" w="med" len="med"/>
              </a:ln>
            </p:spPr>
          </p:sp>
          <p:sp>
            <p:nvSpPr>
              <p:cNvPr id="105494" name="直接连接符 245782"/>
              <p:cNvSpPr/>
              <p:nvPr/>
            </p:nvSpPr>
            <p:spPr>
              <a:xfrm flipV="1">
                <a:off x="3032" y="2953"/>
                <a:ext cx="176" cy="127"/>
              </a:xfrm>
              <a:prstGeom prst="line">
                <a:avLst/>
              </a:prstGeom>
              <a:ln w="25400" cap="flat" cmpd="sng">
                <a:solidFill>
                  <a:schemeClr val="tx1"/>
                </a:solidFill>
                <a:prstDash val="solid"/>
                <a:round/>
                <a:headEnd type="none" w="med" len="med"/>
                <a:tailEnd type="none" w="med" len="med"/>
              </a:ln>
            </p:spPr>
          </p:sp>
          <p:sp>
            <p:nvSpPr>
              <p:cNvPr id="105495" name="直接连接符 245783"/>
              <p:cNvSpPr/>
              <p:nvPr/>
            </p:nvSpPr>
            <p:spPr>
              <a:xfrm>
                <a:off x="3216" y="2356"/>
                <a:ext cx="0" cy="597"/>
              </a:xfrm>
              <a:prstGeom prst="line">
                <a:avLst/>
              </a:prstGeom>
              <a:ln w="25400" cap="flat" cmpd="sng">
                <a:solidFill>
                  <a:schemeClr val="tx1"/>
                </a:solidFill>
                <a:prstDash val="solid"/>
                <a:round/>
                <a:headEnd type="none" w="med" len="med"/>
                <a:tailEnd type="none" w="med" len="med"/>
              </a:ln>
            </p:spPr>
          </p:sp>
        </p:grpSp>
        <p:sp>
          <p:nvSpPr>
            <p:cNvPr id="105496" name="矩形 245784"/>
            <p:cNvSpPr/>
            <p:nvPr/>
          </p:nvSpPr>
          <p:spPr>
            <a:xfrm rot="5400000">
              <a:off x="2888" y="2562"/>
              <a:ext cx="402"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05497" name="矩形 245785"/>
            <p:cNvSpPr/>
            <p:nvPr/>
          </p:nvSpPr>
          <p:spPr>
            <a:xfrm>
              <a:off x="3015" y="2325"/>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05498" name="矩形 245786"/>
            <p:cNvSpPr/>
            <p:nvPr/>
          </p:nvSpPr>
          <p:spPr>
            <a:xfrm>
              <a:off x="3015" y="2795"/>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grpSp>
      <p:grpSp>
        <p:nvGrpSpPr>
          <p:cNvPr id="105499" name="组合 245787"/>
          <p:cNvGrpSpPr/>
          <p:nvPr/>
        </p:nvGrpSpPr>
        <p:grpSpPr>
          <a:xfrm>
            <a:off x="2590800" y="3449638"/>
            <a:ext cx="476250" cy="1157287"/>
            <a:chOff x="1632" y="2173"/>
            <a:chExt cx="300" cy="729"/>
          </a:xfrm>
        </p:grpSpPr>
        <p:grpSp>
          <p:nvGrpSpPr>
            <p:cNvPr id="105500" name="组合 245788"/>
            <p:cNvGrpSpPr/>
            <p:nvPr/>
          </p:nvGrpSpPr>
          <p:grpSpPr>
            <a:xfrm>
              <a:off x="1632" y="2173"/>
              <a:ext cx="288" cy="729"/>
              <a:chOff x="1632" y="2173"/>
              <a:chExt cx="288" cy="729"/>
            </a:xfrm>
          </p:grpSpPr>
          <p:sp>
            <p:nvSpPr>
              <p:cNvPr id="105501" name="直接连接符 245789"/>
              <p:cNvSpPr/>
              <p:nvPr/>
            </p:nvSpPr>
            <p:spPr>
              <a:xfrm>
                <a:off x="1632" y="2173"/>
                <a:ext cx="0" cy="166"/>
              </a:xfrm>
              <a:prstGeom prst="line">
                <a:avLst/>
              </a:prstGeom>
              <a:ln w="25400" cap="flat" cmpd="sng">
                <a:solidFill>
                  <a:schemeClr val="tx1"/>
                </a:solidFill>
                <a:prstDash val="solid"/>
                <a:round/>
                <a:headEnd type="none" w="med" len="med"/>
                <a:tailEnd type="none" w="med" len="med"/>
              </a:ln>
            </p:spPr>
          </p:sp>
          <p:sp>
            <p:nvSpPr>
              <p:cNvPr id="105502" name="直接连接符 245790"/>
              <p:cNvSpPr/>
              <p:nvPr/>
            </p:nvSpPr>
            <p:spPr>
              <a:xfrm>
                <a:off x="1640" y="2173"/>
                <a:ext cx="272" cy="166"/>
              </a:xfrm>
              <a:prstGeom prst="line">
                <a:avLst/>
              </a:prstGeom>
              <a:ln w="25400" cap="flat" cmpd="sng">
                <a:solidFill>
                  <a:schemeClr val="tx1"/>
                </a:solidFill>
                <a:prstDash val="solid"/>
                <a:round/>
                <a:headEnd type="none" w="med" len="med"/>
                <a:tailEnd type="none" w="med" len="med"/>
              </a:ln>
            </p:spPr>
          </p:sp>
          <p:sp>
            <p:nvSpPr>
              <p:cNvPr id="105503" name="直接连接符 245791"/>
              <p:cNvSpPr/>
              <p:nvPr/>
            </p:nvSpPr>
            <p:spPr>
              <a:xfrm>
                <a:off x="1640" y="2355"/>
                <a:ext cx="128" cy="76"/>
              </a:xfrm>
              <a:prstGeom prst="line">
                <a:avLst/>
              </a:prstGeom>
              <a:ln w="25400" cap="flat" cmpd="sng">
                <a:solidFill>
                  <a:schemeClr val="tx1"/>
                </a:solidFill>
                <a:prstDash val="solid"/>
                <a:round/>
                <a:headEnd type="none" w="med" len="med"/>
                <a:tailEnd type="none" w="med" len="med"/>
              </a:ln>
            </p:spPr>
          </p:sp>
          <p:sp>
            <p:nvSpPr>
              <p:cNvPr id="105504" name="直接连接符 245792"/>
              <p:cNvSpPr/>
              <p:nvPr/>
            </p:nvSpPr>
            <p:spPr>
              <a:xfrm>
                <a:off x="1776" y="2447"/>
                <a:ext cx="0" cy="166"/>
              </a:xfrm>
              <a:prstGeom prst="line">
                <a:avLst/>
              </a:prstGeom>
              <a:ln w="25400" cap="flat" cmpd="sng">
                <a:solidFill>
                  <a:schemeClr val="tx1"/>
                </a:solidFill>
                <a:prstDash val="solid"/>
                <a:round/>
                <a:headEnd type="none" w="med" len="med"/>
                <a:tailEnd type="none" w="med" len="med"/>
              </a:ln>
            </p:spPr>
          </p:sp>
          <p:sp>
            <p:nvSpPr>
              <p:cNvPr id="105505" name="直接连接符 245793"/>
              <p:cNvSpPr/>
              <p:nvPr/>
            </p:nvSpPr>
            <p:spPr>
              <a:xfrm>
                <a:off x="1920" y="2355"/>
                <a:ext cx="0" cy="349"/>
              </a:xfrm>
              <a:prstGeom prst="line">
                <a:avLst/>
              </a:prstGeom>
              <a:ln w="25400" cap="flat" cmpd="sng">
                <a:solidFill>
                  <a:schemeClr val="tx1"/>
                </a:solidFill>
                <a:prstDash val="solid"/>
                <a:round/>
                <a:headEnd type="none" w="med" len="med"/>
                <a:tailEnd type="none" w="med" len="med"/>
              </a:ln>
            </p:spPr>
          </p:sp>
          <p:sp>
            <p:nvSpPr>
              <p:cNvPr id="105506" name="直接连接符 245794"/>
              <p:cNvSpPr/>
              <p:nvPr/>
            </p:nvSpPr>
            <p:spPr>
              <a:xfrm flipV="1">
                <a:off x="1640" y="2613"/>
                <a:ext cx="128" cy="107"/>
              </a:xfrm>
              <a:prstGeom prst="line">
                <a:avLst/>
              </a:prstGeom>
              <a:ln w="25400" cap="flat" cmpd="sng">
                <a:solidFill>
                  <a:schemeClr val="tx1"/>
                </a:solidFill>
                <a:prstDash val="solid"/>
                <a:round/>
                <a:headEnd type="none" w="med" len="med"/>
                <a:tailEnd type="none" w="med" len="med"/>
              </a:ln>
            </p:spPr>
          </p:sp>
          <p:sp>
            <p:nvSpPr>
              <p:cNvPr id="105507" name="直接连接符 245795"/>
              <p:cNvSpPr/>
              <p:nvPr/>
            </p:nvSpPr>
            <p:spPr>
              <a:xfrm>
                <a:off x="1632" y="2720"/>
                <a:ext cx="0" cy="166"/>
              </a:xfrm>
              <a:prstGeom prst="line">
                <a:avLst/>
              </a:prstGeom>
              <a:ln w="25400" cap="flat" cmpd="sng">
                <a:solidFill>
                  <a:schemeClr val="tx1"/>
                </a:solidFill>
                <a:prstDash val="solid"/>
                <a:round/>
                <a:headEnd type="none" w="med" len="med"/>
                <a:tailEnd type="none" w="med" len="med"/>
              </a:ln>
            </p:spPr>
          </p:sp>
          <p:sp>
            <p:nvSpPr>
              <p:cNvPr id="105508" name="直接连接符 245796"/>
              <p:cNvSpPr/>
              <p:nvPr/>
            </p:nvSpPr>
            <p:spPr>
              <a:xfrm flipV="1">
                <a:off x="1640" y="2704"/>
                <a:ext cx="272" cy="198"/>
              </a:xfrm>
              <a:prstGeom prst="line">
                <a:avLst/>
              </a:prstGeom>
              <a:ln w="25400" cap="flat" cmpd="sng">
                <a:solidFill>
                  <a:schemeClr val="tx1"/>
                </a:solidFill>
                <a:prstDash val="solid"/>
                <a:round/>
                <a:headEnd type="none" w="med" len="med"/>
                <a:tailEnd type="none" w="med" len="med"/>
              </a:ln>
            </p:spPr>
          </p:sp>
        </p:grpSp>
        <p:sp>
          <p:nvSpPr>
            <p:cNvPr id="105509" name="矩形 245797"/>
            <p:cNvSpPr/>
            <p:nvPr/>
          </p:nvSpPr>
          <p:spPr>
            <a:xfrm rot="5400000">
              <a:off x="1548" y="2456"/>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grpSp>
      <p:sp>
        <p:nvSpPr>
          <p:cNvPr id="105510" name="矩形 245798"/>
          <p:cNvSpPr/>
          <p:nvPr/>
        </p:nvSpPr>
        <p:spPr>
          <a:xfrm>
            <a:off x="1814513" y="4114800"/>
            <a:ext cx="5365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05511" name="矩形 245799"/>
          <p:cNvSpPr/>
          <p:nvPr/>
        </p:nvSpPr>
        <p:spPr>
          <a:xfrm>
            <a:off x="1384300" y="2984500"/>
            <a:ext cx="279400" cy="11938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5512" name="矩形 245800"/>
          <p:cNvSpPr/>
          <p:nvPr/>
        </p:nvSpPr>
        <p:spPr>
          <a:xfrm rot="5400000">
            <a:off x="1239838" y="3509963"/>
            <a:ext cx="4984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grpSp>
        <p:nvGrpSpPr>
          <p:cNvPr id="105513" name="组合 245801"/>
          <p:cNvGrpSpPr/>
          <p:nvPr/>
        </p:nvGrpSpPr>
        <p:grpSpPr>
          <a:xfrm>
            <a:off x="3657600" y="4059238"/>
            <a:ext cx="476250" cy="1157287"/>
            <a:chOff x="2304" y="2557"/>
            <a:chExt cx="300" cy="729"/>
          </a:xfrm>
        </p:grpSpPr>
        <p:grpSp>
          <p:nvGrpSpPr>
            <p:cNvPr id="105514" name="组合 245802"/>
            <p:cNvGrpSpPr/>
            <p:nvPr/>
          </p:nvGrpSpPr>
          <p:grpSpPr>
            <a:xfrm>
              <a:off x="2304" y="2557"/>
              <a:ext cx="288" cy="729"/>
              <a:chOff x="2304" y="2557"/>
              <a:chExt cx="288" cy="729"/>
            </a:xfrm>
          </p:grpSpPr>
          <p:sp>
            <p:nvSpPr>
              <p:cNvPr id="105515" name="直接连接符 245803"/>
              <p:cNvSpPr/>
              <p:nvPr/>
            </p:nvSpPr>
            <p:spPr>
              <a:xfrm>
                <a:off x="2304" y="2557"/>
                <a:ext cx="0" cy="166"/>
              </a:xfrm>
              <a:prstGeom prst="line">
                <a:avLst/>
              </a:prstGeom>
              <a:ln w="25400" cap="flat" cmpd="sng">
                <a:solidFill>
                  <a:schemeClr val="tx1"/>
                </a:solidFill>
                <a:prstDash val="solid"/>
                <a:round/>
                <a:headEnd type="none" w="med" len="med"/>
                <a:tailEnd type="none" w="med" len="med"/>
              </a:ln>
            </p:spPr>
          </p:sp>
          <p:sp>
            <p:nvSpPr>
              <p:cNvPr id="105516" name="直接连接符 245804"/>
              <p:cNvSpPr/>
              <p:nvPr/>
            </p:nvSpPr>
            <p:spPr>
              <a:xfrm>
                <a:off x="2312" y="2557"/>
                <a:ext cx="272" cy="166"/>
              </a:xfrm>
              <a:prstGeom prst="line">
                <a:avLst/>
              </a:prstGeom>
              <a:ln w="25400" cap="flat" cmpd="sng">
                <a:solidFill>
                  <a:schemeClr val="tx1"/>
                </a:solidFill>
                <a:prstDash val="solid"/>
                <a:round/>
                <a:headEnd type="none" w="med" len="med"/>
                <a:tailEnd type="none" w="med" len="med"/>
              </a:ln>
            </p:spPr>
          </p:sp>
          <p:sp>
            <p:nvSpPr>
              <p:cNvPr id="105517" name="直接连接符 245805"/>
              <p:cNvSpPr/>
              <p:nvPr/>
            </p:nvSpPr>
            <p:spPr>
              <a:xfrm>
                <a:off x="2312" y="2739"/>
                <a:ext cx="128" cy="76"/>
              </a:xfrm>
              <a:prstGeom prst="line">
                <a:avLst/>
              </a:prstGeom>
              <a:ln w="25400" cap="flat" cmpd="sng">
                <a:solidFill>
                  <a:schemeClr val="tx1"/>
                </a:solidFill>
                <a:prstDash val="solid"/>
                <a:round/>
                <a:headEnd type="none" w="med" len="med"/>
                <a:tailEnd type="none" w="med" len="med"/>
              </a:ln>
            </p:spPr>
          </p:sp>
          <p:sp>
            <p:nvSpPr>
              <p:cNvPr id="105518" name="直接连接符 245806"/>
              <p:cNvSpPr/>
              <p:nvPr/>
            </p:nvSpPr>
            <p:spPr>
              <a:xfrm>
                <a:off x="2448" y="2831"/>
                <a:ext cx="0" cy="166"/>
              </a:xfrm>
              <a:prstGeom prst="line">
                <a:avLst/>
              </a:prstGeom>
              <a:ln w="25400" cap="flat" cmpd="sng">
                <a:solidFill>
                  <a:schemeClr val="tx1"/>
                </a:solidFill>
                <a:prstDash val="solid"/>
                <a:round/>
                <a:headEnd type="none" w="med" len="med"/>
                <a:tailEnd type="none" w="med" len="med"/>
              </a:ln>
            </p:spPr>
          </p:sp>
          <p:sp>
            <p:nvSpPr>
              <p:cNvPr id="105519" name="直接连接符 245807"/>
              <p:cNvSpPr/>
              <p:nvPr/>
            </p:nvSpPr>
            <p:spPr>
              <a:xfrm>
                <a:off x="2592" y="2739"/>
                <a:ext cx="0" cy="349"/>
              </a:xfrm>
              <a:prstGeom prst="line">
                <a:avLst/>
              </a:prstGeom>
              <a:ln w="25400" cap="flat" cmpd="sng">
                <a:solidFill>
                  <a:schemeClr val="tx1"/>
                </a:solidFill>
                <a:prstDash val="solid"/>
                <a:round/>
                <a:headEnd type="none" w="med" len="med"/>
                <a:tailEnd type="none" w="med" len="med"/>
              </a:ln>
            </p:spPr>
          </p:sp>
          <p:sp>
            <p:nvSpPr>
              <p:cNvPr id="105520" name="直接连接符 245808"/>
              <p:cNvSpPr/>
              <p:nvPr/>
            </p:nvSpPr>
            <p:spPr>
              <a:xfrm flipV="1">
                <a:off x="2312" y="2997"/>
                <a:ext cx="128" cy="107"/>
              </a:xfrm>
              <a:prstGeom prst="line">
                <a:avLst/>
              </a:prstGeom>
              <a:ln w="25400" cap="flat" cmpd="sng">
                <a:solidFill>
                  <a:schemeClr val="tx1"/>
                </a:solidFill>
                <a:prstDash val="solid"/>
                <a:round/>
                <a:headEnd type="none" w="med" len="med"/>
                <a:tailEnd type="none" w="med" len="med"/>
              </a:ln>
            </p:spPr>
          </p:sp>
          <p:sp>
            <p:nvSpPr>
              <p:cNvPr id="105521" name="直接连接符 245809"/>
              <p:cNvSpPr/>
              <p:nvPr/>
            </p:nvSpPr>
            <p:spPr>
              <a:xfrm>
                <a:off x="2304" y="3104"/>
                <a:ext cx="0" cy="166"/>
              </a:xfrm>
              <a:prstGeom prst="line">
                <a:avLst/>
              </a:prstGeom>
              <a:ln w="25400" cap="flat" cmpd="sng">
                <a:solidFill>
                  <a:schemeClr val="tx1"/>
                </a:solidFill>
                <a:prstDash val="solid"/>
                <a:round/>
                <a:headEnd type="none" w="med" len="med"/>
                <a:tailEnd type="none" w="med" len="med"/>
              </a:ln>
            </p:spPr>
          </p:sp>
          <p:sp>
            <p:nvSpPr>
              <p:cNvPr id="105522" name="直接连接符 245810"/>
              <p:cNvSpPr/>
              <p:nvPr/>
            </p:nvSpPr>
            <p:spPr>
              <a:xfrm flipV="1">
                <a:off x="2312" y="3088"/>
                <a:ext cx="272" cy="198"/>
              </a:xfrm>
              <a:prstGeom prst="line">
                <a:avLst/>
              </a:prstGeom>
              <a:ln w="25400" cap="flat" cmpd="sng">
                <a:solidFill>
                  <a:schemeClr val="tx1"/>
                </a:solidFill>
                <a:prstDash val="solid"/>
                <a:round/>
                <a:headEnd type="none" w="med" len="med"/>
                <a:tailEnd type="none" w="med" len="med"/>
              </a:ln>
            </p:spPr>
          </p:sp>
        </p:grpSp>
        <p:sp>
          <p:nvSpPr>
            <p:cNvPr id="105523" name="矩形 245811"/>
            <p:cNvSpPr/>
            <p:nvPr/>
          </p:nvSpPr>
          <p:spPr>
            <a:xfrm rot="5400000">
              <a:off x="2220" y="2840"/>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grpSp>
      <p:sp>
        <p:nvSpPr>
          <p:cNvPr id="105524" name="直接连接符 245812"/>
          <p:cNvSpPr/>
          <p:nvPr/>
        </p:nvSpPr>
        <p:spPr>
          <a:xfrm>
            <a:off x="2984500" y="5100638"/>
            <a:ext cx="660400" cy="0"/>
          </a:xfrm>
          <a:prstGeom prst="line">
            <a:avLst/>
          </a:prstGeom>
          <a:ln w="25400" cap="flat" cmpd="sng">
            <a:solidFill>
              <a:schemeClr val="tx1"/>
            </a:solidFill>
            <a:prstDash val="solid"/>
            <a:round/>
            <a:headEnd type="none" w="med" len="med"/>
            <a:tailEnd type="triangle" w="med" len="med"/>
          </a:ln>
        </p:spPr>
      </p:sp>
      <p:sp>
        <p:nvSpPr>
          <p:cNvPr id="105525" name="矩形 245813"/>
          <p:cNvSpPr/>
          <p:nvPr/>
        </p:nvSpPr>
        <p:spPr>
          <a:xfrm>
            <a:off x="2976563" y="51355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05526" name="直接连接符 245814"/>
          <p:cNvSpPr/>
          <p:nvPr/>
        </p:nvSpPr>
        <p:spPr>
          <a:xfrm flipH="1">
            <a:off x="3194050" y="5035550"/>
            <a:ext cx="88900" cy="139700"/>
          </a:xfrm>
          <a:prstGeom prst="line">
            <a:avLst/>
          </a:prstGeom>
          <a:ln w="12700" cap="flat" cmpd="sng">
            <a:solidFill>
              <a:schemeClr val="tx1"/>
            </a:solidFill>
            <a:prstDash val="solid"/>
            <a:round/>
            <a:headEnd type="none" w="med" len="med"/>
            <a:tailEnd type="none" w="med" len="med"/>
          </a:ln>
        </p:spPr>
      </p:sp>
      <p:grpSp>
        <p:nvGrpSpPr>
          <p:cNvPr id="105527" name="组合 245815"/>
          <p:cNvGrpSpPr/>
          <p:nvPr/>
        </p:nvGrpSpPr>
        <p:grpSpPr>
          <a:xfrm>
            <a:off x="4799013" y="5087938"/>
            <a:ext cx="385762" cy="385762"/>
            <a:chOff x="3023" y="3205"/>
            <a:chExt cx="243" cy="243"/>
          </a:xfrm>
        </p:grpSpPr>
        <p:sp>
          <p:nvSpPr>
            <p:cNvPr id="105528" name="任意多边形 245816"/>
            <p:cNvSpPr/>
            <p:nvPr/>
          </p:nvSpPr>
          <p:spPr>
            <a:xfrm rot="-5400000">
              <a:off x="3031" y="3189"/>
              <a:ext cx="91" cy="115"/>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05529" name="任意多边形 245817"/>
            <p:cNvSpPr/>
            <p:nvPr/>
          </p:nvSpPr>
          <p:spPr>
            <a:xfrm rot="5400000">
              <a:off x="3159" y="3189"/>
              <a:ext cx="91" cy="115"/>
            </a:xfrm>
            <a:custGeom>
              <a:avLst/>
              <a:gdLst/>
              <a:ahLst/>
              <a:cxnLst>
                <a:cxn ang="180">
                  <a:pos x="0" y="21411"/>
                </a:cxn>
                <a:cxn ang="270">
                  <a:pos x="21362" y="0"/>
                </a:cxn>
                <a:cxn ang="90">
                  <a:pos x="21599" y="21599"/>
                </a:cxn>
              </a:cxnLst>
              <a:pathLst>
                <a:path w="21599" h="21599" fill="none">
                  <a:moveTo>
                    <a:pt x="0" y="21411"/>
                  </a:moveTo>
                  <a:cubicBezTo>
                    <a:pt x="101" y="9647"/>
                    <a:pt x="9605" y="127"/>
                    <a:pt x="21361" y="0"/>
                  </a:cubicBezTo>
                </a:path>
                <a:path w="21599" h="21599" stroke="0">
                  <a:moveTo>
                    <a:pt x="0" y="21411"/>
                  </a:moveTo>
                  <a:cubicBezTo>
                    <a:pt x="101" y="9647"/>
                    <a:pt x="9605" y="127"/>
                    <a:pt x="21361" y="0"/>
                  </a:cubicBezTo>
                  <a:lnTo>
                    <a:pt x="21599"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05530" name="直接连接符 245818"/>
            <p:cNvSpPr/>
            <p:nvPr/>
          </p:nvSpPr>
          <p:spPr>
            <a:xfrm>
              <a:off x="3024" y="3303"/>
              <a:ext cx="0" cy="137"/>
            </a:xfrm>
            <a:prstGeom prst="line">
              <a:avLst/>
            </a:prstGeom>
            <a:ln w="25400" cap="flat" cmpd="sng">
              <a:solidFill>
                <a:schemeClr val="tx1"/>
              </a:solidFill>
              <a:prstDash val="solid"/>
              <a:round/>
              <a:headEnd type="none" w="med" len="med"/>
              <a:tailEnd type="none" w="med" len="med"/>
            </a:ln>
          </p:spPr>
        </p:sp>
        <p:sp>
          <p:nvSpPr>
            <p:cNvPr id="105531" name="直接连接符 245819"/>
            <p:cNvSpPr/>
            <p:nvPr/>
          </p:nvSpPr>
          <p:spPr>
            <a:xfrm>
              <a:off x="3032" y="3448"/>
              <a:ext cx="224" cy="0"/>
            </a:xfrm>
            <a:prstGeom prst="line">
              <a:avLst/>
            </a:prstGeom>
            <a:ln w="25400" cap="flat" cmpd="sng">
              <a:solidFill>
                <a:schemeClr val="tx1"/>
              </a:solidFill>
              <a:prstDash val="solid"/>
              <a:round/>
              <a:headEnd type="none" w="med" len="med"/>
              <a:tailEnd type="none" w="med" len="med"/>
            </a:ln>
          </p:spPr>
        </p:sp>
        <p:sp>
          <p:nvSpPr>
            <p:cNvPr id="105532" name="直接连接符 245820"/>
            <p:cNvSpPr/>
            <p:nvPr/>
          </p:nvSpPr>
          <p:spPr>
            <a:xfrm>
              <a:off x="3264" y="3303"/>
              <a:ext cx="0" cy="137"/>
            </a:xfrm>
            <a:prstGeom prst="line">
              <a:avLst/>
            </a:prstGeom>
            <a:ln w="25400" cap="flat" cmpd="sng">
              <a:solidFill>
                <a:schemeClr val="tx1"/>
              </a:solidFill>
              <a:prstDash val="solid"/>
              <a:round/>
              <a:headEnd type="none" w="med" len="med"/>
              <a:tailEnd type="none" w="med" len="med"/>
            </a:ln>
          </p:spPr>
        </p:sp>
      </p:grpSp>
      <p:sp>
        <p:nvSpPr>
          <p:cNvPr id="105533" name="直接连接符 245821"/>
          <p:cNvSpPr/>
          <p:nvPr/>
        </p:nvSpPr>
        <p:spPr>
          <a:xfrm flipV="1">
            <a:off x="4991100" y="4789488"/>
            <a:ext cx="0" cy="293687"/>
          </a:xfrm>
          <a:prstGeom prst="line">
            <a:avLst/>
          </a:prstGeom>
          <a:ln w="25400" cap="flat" cmpd="sng">
            <a:solidFill>
              <a:schemeClr val="tx1"/>
            </a:solidFill>
            <a:prstDash val="solid"/>
            <a:round/>
            <a:headEnd type="none" w="med" len="med"/>
            <a:tailEnd type="none" w="med" len="med"/>
          </a:ln>
        </p:spPr>
      </p:sp>
      <p:sp>
        <p:nvSpPr>
          <p:cNvPr id="105534" name="直接连接符 245822"/>
          <p:cNvSpPr/>
          <p:nvPr/>
        </p:nvSpPr>
        <p:spPr>
          <a:xfrm>
            <a:off x="4876800" y="5499100"/>
            <a:ext cx="0" cy="355600"/>
          </a:xfrm>
          <a:prstGeom prst="line">
            <a:avLst/>
          </a:prstGeom>
          <a:ln w="25400" cap="flat" cmpd="sng">
            <a:solidFill>
              <a:schemeClr val="tx1"/>
            </a:solidFill>
            <a:prstDash val="solid"/>
            <a:round/>
            <a:headEnd type="none" w="med" len="med"/>
            <a:tailEnd type="none" w="med" len="med"/>
          </a:ln>
        </p:spPr>
      </p:sp>
      <p:sp>
        <p:nvSpPr>
          <p:cNvPr id="105535" name="直接连接符 245823"/>
          <p:cNvSpPr/>
          <p:nvPr/>
        </p:nvSpPr>
        <p:spPr>
          <a:xfrm>
            <a:off x="5105400" y="5499100"/>
            <a:ext cx="0" cy="660400"/>
          </a:xfrm>
          <a:prstGeom prst="line">
            <a:avLst/>
          </a:prstGeom>
          <a:ln w="25400" cap="flat" cmpd="sng">
            <a:solidFill>
              <a:schemeClr val="tx1"/>
            </a:solidFill>
            <a:prstDash val="solid"/>
            <a:round/>
            <a:headEnd type="none" w="med" len="med"/>
            <a:tailEnd type="none" w="med" len="med"/>
          </a:ln>
        </p:spPr>
      </p:sp>
      <p:sp>
        <p:nvSpPr>
          <p:cNvPr id="105536" name="直接连接符 245824"/>
          <p:cNvSpPr/>
          <p:nvPr/>
        </p:nvSpPr>
        <p:spPr>
          <a:xfrm>
            <a:off x="6184900" y="3429000"/>
            <a:ext cx="203200" cy="0"/>
          </a:xfrm>
          <a:prstGeom prst="line">
            <a:avLst/>
          </a:prstGeom>
          <a:ln w="25400" cap="flat" cmpd="sng">
            <a:solidFill>
              <a:schemeClr val="tx1"/>
            </a:solidFill>
            <a:prstDash val="solid"/>
            <a:round/>
            <a:headEnd type="none" w="med" len="med"/>
            <a:tailEnd type="none" w="med" len="med"/>
          </a:ln>
        </p:spPr>
      </p:sp>
      <p:sp>
        <p:nvSpPr>
          <p:cNvPr id="105537" name="直接连接符 245825"/>
          <p:cNvSpPr/>
          <p:nvPr/>
        </p:nvSpPr>
        <p:spPr>
          <a:xfrm flipV="1">
            <a:off x="6400800" y="1892300"/>
            <a:ext cx="0" cy="1549400"/>
          </a:xfrm>
          <a:prstGeom prst="line">
            <a:avLst/>
          </a:prstGeom>
          <a:ln w="25400" cap="flat" cmpd="sng">
            <a:solidFill>
              <a:schemeClr val="tx1"/>
            </a:solidFill>
            <a:prstDash val="solid"/>
            <a:round/>
            <a:headEnd type="none" w="med" len="med"/>
            <a:tailEnd type="none" w="med" len="med"/>
          </a:ln>
        </p:spPr>
      </p:sp>
      <p:sp>
        <p:nvSpPr>
          <p:cNvPr id="105538" name="直接连接符 245826"/>
          <p:cNvSpPr/>
          <p:nvPr/>
        </p:nvSpPr>
        <p:spPr>
          <a:xfrm flipH="1">
            <a:off x="749300" y="1905000"/>
            <a:ext cx="5664200" cy="0"/>
          </a:xfrm>
          <a:prstGeom prst="line">
            <a:avLst/>
          </a:prstGeom>
          <a:ln w="25400" cap="flat" cmpd="sng">
            <a:solidFill>
              <a:schemeClr val="tx1"/>
            </a:solidFill>
            <a:prstDash val="solid"/>
            <a:round/>
            <a:headEnd type="none" w="med" len="med"/>
            <a:tailEnd type="none" w="med" len="med"/>
          </a:ln>
        </p:spPr>
      </p:sp>
      <p:sp>
        <p:nvSpPr>
          <p:cNvPr id="105539" name="直接连接符 245827"/>
          <p:cNvSpPr/>
          <p:nvPr/>
        </p:nvSpPr>
        <p:spPr>
          <a:xfrm>
            <a:off x="762000" y="1917700"/>
            <a:ext cx="0" cy="1651000"/>
          </a:xfrm>
          <a:prstGeom prst="line">
            <a:avLst/>
          </a:prstGeom>
          <a:ln w="25400" cap="flat" cmpd="sng">
            <a:solidFill>
              <a:schemeClr val="tx1"/>
            </a:solidFill>
            <a:prstDash val="solid"/>
            <a:round/>
            <a:headEnd type="none" w="med" len="med"/>
            <a:tailEnd type="none" w="med" len="med"/>
          </a:ln>
        </p:spPr>
      </p:sp>
      <p:sp>
        <p:nvSpPr>
          <p:cNvPr id="105540" name="直接连接符 245828"/>
          <p:cNvSpPr/>
          <p:nvPr/>
        </p:nvSpPr>
        <p:spPr>
          <a:xfrm>
            <a:off x="774700" y="3581400"/>
            <a:ext cx="584200" cy="0"/>
          </a:xfrm>
          <a:prstGeom prst="line">
            <a:avLst/>
          </a:prstGeom>
          <a:ln w="25400" cap="flat" cmpd="sng">
            <a:solidFill>
              <a:schemeClr val="tx1"/>
            </a:solidFill>
            <a:prstDash val="solid"/>
            <a:round/>
            <a:headEnd type="none" w="med" len="med"/>
            <a:tailEnd type="triangle" w="med" len="med"/>
          </a:ln>
        </p:spPr>
      </p:sp>
      <p:sp>
        <p:nvSpPr>
          <p:cNvPr id="105541" name="直接连接符 245829"/>
          <p:cNvSpPr/>
          <p:nvPr/>
        </p:nvSpPr>
        <p:spPr>
          <a:xfrm flipH="1">
            <a:off x="4032250" y="1835150"/>
            <a:ext cx="88900" cy="166688"/>
          </a:xfrm>
          <a:prstGeom prst="line">
            <a:avLst/>
          </a:prstGeom>
          <a:ln w="12700" cap="flat" cmpd="sng">
            <a:solidFill>
              <a:schemeClr val="tx1"/>
            </a:solidFill>
            <a:prstDash val="solid"/>
            <a:round/>
            <a:headEnd type="none" w="med" len="med"/>
            <a:tailEnd type="none" w="med" len="med"/>
          </a:ln>
        </p:spPr>
      </p:sp>
      <p:sp>
        <p:nvSpPr>
          <p:cNvPr id="105542" name="矩形 245830"/>
          <p:cNvSpPr/>
          <p:nvPr/>
        </p:nvSpPr>
        <p:spPr>
          <a:xfrm>
            <a:off x="3719513" y="19335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245832" name="矩形 245831"/>
          <p:cNvSpPr/>
          <p:nvPr/>
        </p:nvSpPr>
        <p:spPr>
          <a:xfrm>
            <a:off x="2962275" y="5629275"/>
            <a:ext cx="21558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previous</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245833" name="矩形 245832"/>
          <p:cNvSpPr/>
          <p:nvPr/>
        </p:nvSpPr>
        <p:spPr>
          <a:xfrm>
            <a:off x="5067300" y="5762625"/>
            <a:ext cx="18764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2"/>
                </a:solidFill>
                <a:latin typeface="Arial" panose="020B0604020202020204" pitchFamily="34" charset="0"/>
                <a:ea typeface="宋体" panose="02010600030101010101" pitchFamily="2" charset="-122"/>
              </a:rPr>
              <a:t>Zero =</a:t>
            </a:r>
            <a:r>
              <a:rPr lang="en-US" altLang="zh-CN" u="sng">
                <a:solidFill>
                  <a:schemeClr val="accent2"/>
                </a:solidFill>
                <a:latin typeface="Times New Roman" panose="02020603050405020304" pitchFamily="18" charset="0"/>
                <a:ea typeface="宋体" panose="02010600030101010101" pitchFamily="2" charset="-122"/>
              </a:rPr>
              <a:t> </a:t>
            </a:r>
            <a:r>
              <a:rPr lang="en-US" altLang="zh-CN" sz="1800" u="sng">
                <a:solidFill>
                  <a:schemeClr val="accent2"/>
                </a:solidFill>
                <a:latin typeface="Arial" panose="020B0604020202020204" pitchFamily="34" charset="0"/>
                <a:ea typeface="宋体" panose="02010600030101010101" pitchFamily="2" charset="-122"/>
              </a:rPr>
              <a:t>previous</a:t>
            </a:r>
            <a:endParaRPr lang="en-US" altLang="zh-CN" sz="1800" u="sng">
              <a:solidFill>
                <a:schemeClr val="accent2"/>
              </a:solidFill>
              <a:latin typeface="Arial" panose="020B0604020202020204" pitchFamily="34" charset="0"/>
              <a:ea typeface="宋体" panose="02010600030101010101" pitchFamily="2" charset="-122"/>
            </a:endParaRPr>
          </a:p>
        </p:txBody>
      </p:sp>
      <p:sp>
        <p:nvSpPr>
          <p:cNvPr id="105545" name="直接连接符 245833"/>
          <p:cNvSpPr/>
          <p:nvPr/>
        </p:nvSpPr>
        <p:spPr>
          <a:xfrm>
            <a:off x="6565900" y="2590800"/>
            <a:ext cx="584200" cy="0"/>
          </a:xfrm>
          <a:prstGeom prst="line">
            <a:avLst/>
          </a:prstGeom>
          <a:ln w="25400" cap="flat" cmpd="sng">
            <a:solidFill>
              <a:schemeClr val="tx1"/>
            </a:solidFill>
            <a:prstDash val="solid"/>
            <a:round/>
            <a:headEnd type="none" w="med" len="med"/>
            <a:tailEnd type="triangle" w="med" len="med"/>
          </a:ln>
        </p:spPr>
      </p:sp>
      <p:sp>
        <p:nvSpPr>
          <p:cNvPr id="105546" name="矩形 245834"/>
          <p:cNvSpPr/>
          <p:nvPr/>
        </p:nvSpPr>
        <p:spPr>
          <a:xfrm>
            <a:off x="6462713" y="2590800"/>
            <a:ext cx="6635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endParaRPr lang="zh-CN" altLang="en-US" sz="1800" dirty="0">
              <a:latin typeface="Arial" panose="020B0604020202020204" pitchFamily="34" charset="0"/>
              <a:ea typeface="宋体" panose="02010600030101010101" pitchFamily="2" charset="-122"/>
            </a:endParaRPr>
          </a:p>
        </p:txBody>
      </p:sp>
      <p:sp>
        <p:nvSpPr>
          <p:cNvPr id="105547" name="矩形 245835"/>
          <p:cNvSpPr/>
          <p:nvPr/>
        </p:nvSpPr>
        <p:spPr>
          <a:xfrm>
            <a:off x="7165975" y="2146300"/>
            <a:ext cx="1355725" cy="1270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5548" name="矩形 245836"/>
          <p:cNvSpPr/>
          <p:nvPr/>
        </p:nvSpPr>
        <p:spPr>
          <a:xfrm>
            <a:off x="7127875" y="2133600"/>
            <a:ext cx="141922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&lt;31:2</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5549" name="矩形 245837"/>
          <p:cNvSpPr/>
          <p:nvPr/>
        </p:nvSpPr>
        <p:spPr>
          <a:xfrm>
            <a:off x="7212013" y="2819400"/>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05550" name="矩形 245838"/>
          <p:cNvSpPr/>
          <p:nvPr/>
        </p:nvSpPr>
        <p:spPr>
          <a:xfrm>
            <a:off x="7127875" y="2438400"/>
            <a:ext cx="129222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5551" name="直接连接符 245839"/>
          <p:cNvSpPr/>
          <p:nvPr/>
        </p:nvSpPr>
        <p:spPr>
          <a:xfrm>
            <a:off x="7848600" y="3441700"/>
            <a:ext cx="0" cy="723900"/>
          </a:xfrm>
          <a:prstGeom prst="line">
            <a:avLst/>
          </a:prstGeom>
          <a:ln w="25400" cap="flat" cmpd="sng">
            <a:solidFill>
              <a:schemeClr val="tx1"/>
            </a:solidFill>
            <a:prstDash val="solid"/>
            <a:round/>
            <a:headEnd type="none" w="med" len="med"/>
            <a:tailEnd type="triangle" w="med" len="med"/>
          </a:ln>
        </p:spPr>
      </p:sp>
      <p:sp>
        <p:nvSpPr>
          <p:cNvPr id="105552" name="直接连接符 245840"/>
          <p:cNvSpPr/>
          <p:nvPr/>
        </p:nvSpPr>
        <p:spPr>
          <a:xfrm flipV="1">
            <a:off x="7778750" y="3803650"/>
            <a:ext cx="139700" cy="165100"/>
          </a:xfrm>
          <a:prstGeom prst="line">
            <a:avLst/>
          </a:prstGeom>
          <a:ln w="12700" cap="flat" cmpd="sng">
            <a:solidFill>
              <a:schemeClr val="tx1"/>
            </a:solidFill>
            <a:prstDash val="solid"/>
            <a:round/>
            <a:headEnd type="none" w="med" len="med"/>
            <a:tailEnd type="none" w="med" len="med"/>
          </a:ln>
        </p:spPr>
      </p:sp>
      <p:sp>
        <p:nvSpPr>
          <p:cNvPr id="105553" name="矩形 245841"/>
          <p:cNvSpPr/>
          <p:nvPr/>
        </p:nvSpPr>
        <p:spPr>
          <a:xfrm>
            <a:off x="7910513" y="3657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05554" name="直接连接符 245842"/>
          <p:cNvSpPr/>
          <p:nvPr/>
        </p:nvSpPr>
        <p:spPr>
          <a:xfrm>
            <a:off x="3213100" y="4191000"/>
            <a:ext cx="431800" cy="0"/>
          </a:xfrm>
          <a:prstGeom prst="line">
            <a:avLst/>
          </a:prstGeom>
          <a:ln w="25400" cap="flat" cmpd="sng">
            <a:solidFill>
              <a:schemeClr val="tx1"/>
            </a:solidFill>
            <a:prstDash val="solid"/>
            <a:round/>
            <a:headEnd type="none" w="med" len="med"/>
            <a:tailEnd type="triangle" w="med" len="med"/>
          </a:ln>
        </p:spPr>
      </p:sp>
      <p:sp>
        <p:nvSpPr>
          <p:cNvPr id="105555" name="直接连接符 245843"/>
          <p:cNvSpPr/>
          <p:nvPr/>
        </p:nvSpPr>
        <p:spPr>
          <a:xfrm flipV="1">
            <a:off x="3200400" y="3797300"/>
            <a:ext cx="0" cy="406400"/>
          </a:xfrm>
          <a:prstGeom prst="line">
            <a:avLst/>
          </a:prstGeom>
          <a:ln w="25400" cap="flat" cmpd="sng">
            <a:solidFill>
              <a:schemeClr val="tx1"/>
            </a:solidFill>
            <a:prstDash val="solid"/>
            <a:round/>
            <a:headEnd type="none" w="med" len="med"/>
            <a:tailEnd type="none" w="med" len="med"/>
          </a:ln>
        </p:spPr>
      </p:sp>
      <p:grpSp>
        <p:nvGrpSpPr>
          <p:cNvPr id="105556" name="组合 245844"/>
          <p:cNvGrpSpPr/>
          <p:nvPr/>
        </p:nvGrpSpPr>
        <p:grpSpPr>
          <a:xfrm>
            <a:off x="5795963" y="2649538"/>
            <a:ext cx="376237" cy="1325562"/>
            <a:chOff x="3651" y="1669"/>
            <a:chExt cx="237" cy="835"/>
          </a:xfrm>
        </p:grpSpPr>
        <p:grpSp>
          <p:nvGrpSpPr>
            <p:cNvPr id="105557" name="组合 245845"/>
            <p:cNvGrpSpPr/>
            <p:nvPr/>
          </p:nvGrpSpPr>
          <p:grpSpPr>
            <a:xfrm>
              <a:off x="3696" y="1669"/>
              <a:ext cx="192" cy="835"/>
              <a:chOff x="3696" y="1669"/>
              <a:chExt cx="192" cy="835"/>
            </a:xfrm>
          </p:grpSpPr>
          <p:sp>
            <p:nvSpPr>
              <p:cNvPr id="105558" name="直接连接符 245846"/>
              <p:cNvSpPr/>
              <p:nvPr/>
            </p:nvSpPr>
            <p:spPr>
              <a:xfrm>
                <a:off x="3696" y="1669"/>
                <a:ext cx="0" cy="819"/>
              </a:xfrm>
              <a:prstGeom prst="line">
                <a:avLst/>
              </a:prstGeom>
              <a:ln w="25400" cap="flat" cmpd="sng">
                <a:solidFill>
                  <a:schemeClr val="tx1"/>
                </a:solidFill>
                <a:prstDash val="solid"/>
                <a:round/>
                <a:headEnd type="none" w="med" len="med"/>
                <a:tailEnd type="none" w="med" len="med"/>
              </a:ln>
            </p:spPr>
          </p:sp>
          <p:sp>
            <p:nvSpPr>
              <p:cNvPr id="105559" name="直接连接符 245847"/>
              <p:cNvSpPr/>
              <p:nvPr/>
            </p:nvSpPr>
            <p:spPr>
              <a:xfrm>
                <a:off x="3704" y="1669"/>
                <a:ext cx="176" cy="95"/>
              </a:xfrm>
              <a:prstGeom prst="line">
                <a:avLst/>
              </a:prstGeom>
              <a:ln w="25400" cap="flat" cmpd="sng">
                <a:solidFill>
                  <a:schemeClr val="tx1"/>
                </a:solidFill>
                <a:prstDash val="solid"/>
                <a:round/>
                <a:headEnd type="none" w="med" len="med"/>
                <a:tailEnd type="none" w="med" len="med"/>
              </a:ln>
            </p:spPr>
          </p:sp>
          <p:sp>
            <p:nvSpPr>
              <p:cNvPr id="105560" name="直接连接符 245848"/>
              <p:cNvSpPr/>
              <p:nvPr/>
            </p:nvSpPr>
            <p:spPr>
              <a:xfrm flipV="1">
                <a:off x="3704" y="2377"/>
                <a:ext cx="176" cy="127"/>
              </a:xfrm>
              <a:prstGeom prst="line">
                <a:avLst/>
              </a:prstGeom>
              <a:ln w="25400" cap="flat" cmpd="sng">
                <a:solidFill>
                  <a:schemeClr val="tx1"/>
                </a:solidFill>
                <a:prstDash val="solid"/>
                <a:round/>
                <a:headEnd type="none" w="med" len="med"/>
                <a:tailEnd type="none" w="med" len="med"/>
              </a:ln>
            </p:spPr>
          </p:sp>
          <p:sp>
            <p:nvSpPr>
              <p:cNvPr id="105561" name="直接连接符 245849"/>
              <p:cNvSpPr/>
              <p:nvPr/>
            </p:nvSpPr>
            <p:spPr>
              <a:xfrm>
                <a:off x="3888" y="1780"/>
                <a:ext cx="0" cy="597"/>
              </a:xfrm>
              <a:prstGeom prst="line">
                <a:avLst/>
              </a:prstGeom>
              <a:ln w="25400" cap="flat" cmpd="sng">
                <a:solidFill>
                  <a:schemeClr val="tx1"/>
                </a:solidFill>
                <a:prstDash val="solid"/>
                <a:round/>
                <a:headEnd type="none" w="med" len="med"/>
                <a:tailEnd type="none" w="med" len="med"/>
              </a:ln>
            </p:spPr>
          </p:sp>
        </p:grpSp>
        <p:sp>
          <p:nvSpPr>
            <p:cNvPr id="105562" name="矩形 245850"/>
            <p:cNvSpPr/>
            <p:nvPr/>
          </p:nvSpPr>
          <p:spPr>
            <a:xfrm rot="5400000">
              <a:off x="3560" y="1986"/>
              <a:ext cx="402"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05563" name="矩形 245851"/>
            <p:cNvSpPr/>
            <p:nvPr/>
          </p:nvSpPr>
          <p:spPr>
            <a:xfrm>
              <a:off x="3687" y="1749"/>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05564" name="矩形 245852"/>
            <p:cNvSpPr/>
            <p:nvPr/>
          </p:nvSpPr>
          <p:spPr>
            <a:xfrm>
              <a:off x="3687" y="2219"/>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grpSp>
      <p:sp>
        <p:nvSpPr>
          <p:cNvPr id="105565" name="直接连接符 245853"/>
          <p:cNvSpPr/>
          <p:nvPr/>
        </p:nvSpPr>
        <p:spPr>
          <a:xfrm>
            <a:off x="3594100" y="3124200"/>
            <a:ext cx="812800" cy="0"/>
          </a:xfrm>
          <a:prstGeom prst="line">
            <a:avLst/>
          </a:prstGeom>
          <a:ln w="25400" cap="flat" cmpd="sng">
            <a:solidFill>
              <a:schemeClr val="tx1"/>
            </a:solidFill>
            <a:prstDash val="solid"/>
            <a:round/>
            <a:headEnd type="none" w="med" len="med"/>
            <a:tailEnd type="triangle" w="med" len="med"/>
          </a:ln>
        </p:spPr>
      </p:sp>
      <p:sp>
        <p:nvSpPr>
          <p:cNvPr id="105566" name="直接连接符 245854"/>
          <p:cNvSpPr/>
          <p:nvPr/>
        </p:nvSpPr>
        <p:spPr>
          <a:xfrm flipH="1">
            <a:off x="3879850" y="3059113"/>
            <a:ext cx="88900" cy="131762"/>
          </a:xfrm>
          <a:prstGeom prst="line">
            <a:avLst/>
          </a:prstGeom>
          <a:ln w="12700" cap="flat" cmpd="sng">
            <a:solidFill>
              <a:schemeClr val="tx1"/>
            </a:solidFill>
            <a:prstDash val="solid"/>
            <a:round/>
            <a:headEnd type="none" w="med" len="med"/>
            <a:tailEnd type="none" w="med" len="med"/>
          </a:ln>
        </p:spPr>
      </p:sp>
      <p:sp>
        <p:nvSpPr>
          <p:cNvPr id="105567" name="矩形 245855"/>
          <p:cNvSpPr/>
          <p:nvPr/>
        </p:nvSpPr>
        <p:spPr>
          <a:xfrm>
            <a:off x="3567113" y="31178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05568" name="直接连接符 245856"/>
          <p:cNvSpPr/>
          <p:nvPr/>
        </p:nvSpPr>
        <p:spPr>
          <a:xfrm>
            <a:off x="1917700" y="2667000"/>
            <a:ext cx="2489200" cy="0"/>
          </a:xfrm>
          <a:prstGeom prst="line">
            <a:avLst/>
          </a:prstGeom>
          <a:ln w="25400" cap="flat" cmpd="sng">
            <a:solidFill>
              <a:schemeClr val="tx1"/>
            </a:solidFill>
            <a:prstDash val="solid"/>
            <a:round/>
            <a:headEnd type="none" w="med" len="med"/>
            <a:tailEnd type="triangle" w="med" len="med"/>
          </a:ln>
        </p:spPr>
      </p:sp>
      <p:sp>
        <p:nvSpPr>
          <p:cNvPr id="105569" name="直接连接符 245857"/>
          <p:cNvSpPr/>
          <p:nvPr/>
        </p:nvSpPr>
        <p:spPr>
          <a:xfrm flipH="1">
            <a:off x="3879850" y="2601913"/>
            <a:ext cx="88900" cy="131762"/>
          </a:xfrm>
          <a:prstGeom prst="line">
            <a:avLst/>
          </a:prstGeom>
          <a:ln w="12700" cap="flat" cmpd="sng">
            <a:solidFill>
              <a:schemeClr val="tx1"/>
            </a:solidFill>
            <a:prstDash val="solid"/>
            <a:round/>
            <a:headEnd type="none" w="med" len="med"/>
            <a:tailEnd type="none" w="med" len="med"/>
          </a:ln>
        </p:spPr>
      </p:sp>
      <p:sp>
        <p:nvSpPr>
          <p:cNvPr id="105570" name="矩形 245858"/>
          <p:cNvSpPr/>
          <p:nvPr/>
        </p:nvSpPr>
        <p:spPr>
          <a:xfrm>
            <a:off x="3643313" y="2660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4</a:t>
            </a:r>
            <a:endParaRPr lang="zh-CN" altLang="en-US" sz="1800" dirty="0">
              <a:latin typeface="Arial" panose="020B0604020202020204" pitchFamily="34" charset="0"/>
              <a:ea typeface="宋体" panose="02010600030101010101" pitchFamily="2" charset="-122"/>
            </a:endParaRPr>
          </a:p>
        </p:txBody>
      </p:sp>
      <p:sp>
        <p:nvSpPr>
          <p:cNvPr id="105571" name="矩形 245859"/>
          <p:cNvSpPr/>
          <p:nvPr/>
        </p:nvSpPr>
        <p:spPr>
          <a:xfrm>
            <a:off x="2335213" y="2336800"/>
            <a:ext cx="13493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PC&lt;31:28&gt;</a:t>
            </a:r>
            <a:endParaRPr lang="en-US" altLang="zh-CN" sz="1800">
              <a:latin typeface="Arial" panose="020B0604020202020204" pitchFamily="34" charset="0"/>
              <a:ea typeface="宋体" panose="02010600030101010101" pitchFamily="2" charset="-122"/>
            </a:endParaRPr>
          </a:p>
        </p:txBody>
      </p:sp>
      <p:sp>
        <p:nvSpPr>
          <p:cNvPr id="105572" name="矩形 245860"/>
          <p:cNvSpPr/>
          <p:nvPr/>
        </p:nvSpPr>
        <p:spPr>
          <a:xfrm>
            <a:off x="2690813" y="2717800"/>
            <a:ext cx="8794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Target</a:t>
            </a:r>
            <a:endParaRPr lang="en-US" altLang="zh-CN" sz="1800">
              <a:latin typeface="Arial" panose="020B0604020202020204" pitchFamily="34" charset="0"/>
              <a:ea typeface="宋体" panose="02010600030101010101" pitchFamily="2" charset="-122"/>
            </a:endParaRPr>
          </a:p>
        </p:txBody>
      </p:sp>
      <p:sp>
        <p:nvSpPr>
          <p:cNvPr id="105573" name="直接连接符 245861"/>
          <p:cNvSpPr/>
          <p:nvPr/>
        </p:nvSpPr>
        <p:spPr>
          <a:xfrm>
            <a:off x="4419600" y="2679700"/>
            <a:ext cx="0" cy="431800"/>
          </a:xfrm>
          <a:prstGeom prst="line">
            <a:avLst/>
          </a:prstGeom>
          <a:ln w="25400" cap="flat" cmpd="sng">
            <a:solidFill>
              <a:schemeClr val="tx1"/>
            </a:solidFill>
            <a:prstDash val="solid"/>
            <a:round/>
            <a:headEnd type="none" w="med" len="med"/>
            <a:tailEnd type="none" w="med" len="med"/>
          </a:ln>
        </p:spPr>
      </p:sp>
      <p:sp>
        <p:nvSpPr>
          <p:cNvPr id="105574" name="直接连接符 245862"/>
          <p:cNvSpPr/>
          <p:nvPr/>
        </p:nvSpPr>
        <p:spPr>
          <a:xfrm>
            <a:off x="4432300" y="2895600"/>
            <a:ext cx="1422400" cy="0"/>
          </a:xfrm>
          <a:prstGeom prst="line">
            <a:avLst/>
          </a:prstGeom>
          <a:ln w="25400" cap="flat" cmpd="sng">
            <a:solidFill>
              <a:schemeClr val="tx1"/>
            </a:solidFill>
            <a:prstDash val="solid"/>
            <a:round/>
            <a:headEnd type="none" w="med" len="med"/>
            <a:tailEnd type="triangle" w="med" len="med"/>
          </a:ln>
        </p:spPr>
      </p:sp>
      <p:sp>
        <p:nvSpPr>
          <p:cNvPr id="105575" name="直接连接符 245863"/>
          <p:cNvSpPr/>
          <p:nvPr/>
        </p:nvSpPr>
        <p:spPr>
          <a:xfrm>
            <a:off x="5422900" y="3733800"/>
            <a:ext cx="431800" cy="0"/>
          </a:xfrm>
          <a:prstGeom prst="line">
            <a:avLst/>
          </a:prstGeom>
          <a:ln w="25400" cap="flat" cmpd="sng">
            <a:solidFill>
              <a:schemeClr val="tx1"/>
            </a:solidFill>
            <a:prstDash val="solid"/>
            <a:round/>
            <a:headEnd type="none" w="med" len="med"/>
            <a:tailEnd type="triangle" w="med" len="med"/>
          </a:ln>
        </p:spPr>
      </p:sp>
      <p:sp>
        <p:nvSpPr>
          <p:cNvPr id="105576" name="直接连接符 245864"/>
          <p:cNvSpPr/>
          <p:nvPr/>
        </p:nvSpPr>
        <p:spPr>
          <a:xfrm>
            <a:off x="5118100" y="4191000"/>
            <a:ext cx="279400" cy="0"/>
          </a:xfrm>
          <a:prstGeom prst="line">
            <a:avLst/>
          </a:prstGeom>
          <a:ln w="25400" cap="flat" cmpd="sng">
            <a:solidFill>
              <a:schemeClr val="tx1"/>
            </a:solidFill>
            <a:prstDash val="solid"/>
            <a:round/>
            <a:headEnd type="none" w="med" len="med"/>
            <a:tailEnd type="none" w="med" len="med"/>
          </a:ln>
        </p:spPr>
      </p:sp>
      <p:sp>
        <p:nvSpPr>
          <p:cNvPr id="105577" name="直接连接符 245865"/>
          <p:cNvSpPr/>
          <p:nvPr/>
        </p:nvSpPr>
        <p:spPr>
          <a:xfrm flipV="1">
            <a:off x="5410200" y="3721100"/>
            <a:ext cx="0" cy="482600"/>
          </a:xfrm>
          <a:prstGeom prst="line">
            <a:avLst/>
          </a:prstGeom>
          <a:ln w="25400" cap="flat" cmpd="sng">
            <a:solidFill>
              <a:schemeClr val="tx1"/>
            </a:solidFill>
            <a:prstDash val="solid"/>
            <a:round/>
            <a:headEnd type="none" w="med" len="med"/>
            <a:tailEnd type="none" w="med" len="med"/>
          </a:ln>
        </p:spPr>
      </p:sp>
      <p:sp>
        <p:nvSpPr>
          <p:cNvPr id="105578" name="直接连接符 245866"/>
          <p:cNvSpPr/>
          <p:nvPr/>
        </p:nvSpPr>
        <p:spPr>
          <a:xfrm flipH="1">
            <a:off x="5022850" y="2825750"/>
            <a:ext cx="88900" cy="166688"/>
          </a:xfrm>
          <a:prstGeom prst="line">
            <a:avLst/>
          </a:prstGeom>
          <a:ln w="12700" cap="flat" cmpd="sng">
            <a:solidFill>
              <a:schemeClr val="tx1"/>
            </a:solidFill>
            <a:prstDash val="solid"/>
            <a:round/>
            <a:headEnd type="none" w="med" len="med"/>
            <a:tailEnd type="none" w="med" len="med"/>
          </a:ln>
        </p:spPr>
      </p:sp>
      <p:sp>
        <p:nvSpPr>
          <p:cNvPr id="105579" name="矩形 245867"/>
          <p:cNvSpPr/>
          <p:nvPr/>
        </p:nvSpPr>
        <p:spPr>
          <a:xfrm>
            <a:off x="4710113" y="29241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05580" name="文本占位符 245868"/>
          <p:cNvSpPr>
            <a:spLocks noGrp="1"/>
          </p:cNvSpPr>
          <p:nvPr>
            <p:ph idx="1"/>
          </p:nvPr>
        </p:nvSpPr>
        <p:spPr>
          <a:xfrm>
            <a:off x="112713" y="698500"/>
            <a:ext cx="8191500" cy="766763"/>
          </a:xfrm>
          <a:ln/>
        </p:spPr>
        <p:txBody>
          <a:bodyPr vert="horz" wrap="square" lIns="63500" tIns="25400" rIns="63500" bIns="25400" anchor="t" anchorCtr="0">
            <a:spAutoFit/>
          </a:bodyPr>
          <a:p>
            <a:pPr>
              <a:buNone/>
            </a:pPr>
            <a:r>
              <a:rPr lang="zh-CN" altLang="en-US" sz="2000" b="0" dirty="0">
                <a:ea typeface="黑体" panose="02010609060101010101" pitchFamily="49" charset="-122"/>
              </a:rPr>
              <a:t>取指令</a:t>
            </a:r>
            <a:r>
              <a:rPr lang="en-US" altLang="zh-CN" sz="2000" b="0">
                <a:ea typeface="黑体" panose="02010609060101010101" pitchFamily="49" charset="-122"/>
              </a:rPr>
              <a:t>: Instruction </a:t>
            </a:r>
            <a:r>
              <a:rPr lang="en-US" altLang="zh-CN" sz="2000" b="0">
                <a:ea typeface="黑体" panose="02010609060101010101" pitchFamily="49" charset="-122"/>
                <a:sym typeface="Wingdings" panose="05000000000000000000" pitchFamily="2" charset="2"/>
              </a:rPr>
              <a:t>←</a:t>
            </a:r>
            <a:r>
              <a:rPr lang="en-US" altLang="zh-CN" sz="2000" b="0">
                <a:ea typeface="黑体" panose="02010609060101010101" pitchFamily="49" charset="-122"/>
              </a:rPr>
              <a:t> M[PC]</a:t>
            </a:r>
            <a:endParaRPr lang="en-US" altLang="zh-CN" sz="2000" b="0">
              <a:ea typeface="黑体" panose="02010609060101010101" pitchFamily="49" charset="-122"/>
            </a:endParaRPr>
          </a:p>
          <a:p>
            <a:pPr lvl="1"/>
            <a:r>
              <a:rPr lang="zh-CN" altLang="en-US" sz="2000" b="0" dirty="0">
                <a:solidFill>
                  <a:srgbClr val="0000FF"/>
                </a:solidFill>
                <a:ea typeface="黑体" panose="02010609060101010101" pitchFamily="49" charset="-122"/>
              </a:rPr>
              <a:t>所有指令都相同</a:t>
            </a:r>
            <a:endParaRPr lang="zh-CN" altLang="en-US" sz="2000" b="0" dirty="0">
              <a:solidFill>
                <a:srgbClr val="0000FF"/>
              </a:solidFill>
              <a:ea typeface="黑体" panose="02010609060101010101" pitchFamily="49" charset="-122"/>
            </a:endParaRPr>
          </a:p>
        </p:txBody>
      </p:sp>
      <p:sp>
        <p:nvSpPr>
          <p:cNvPr id="105581" name="直接连接符 245869"/>
          <p:cNvSpPr/>
          <p:nvPr/>
        </p:nvSpPr>
        <p:spPr>
          <a:xfrm flipV="1">
            <a:off x="6019800" y="3873500"/>
            <a:ext cx="0" cy="482600"/>
          </a:xfrm>
          <a:prstGeom prst="line">
            <a:avLst/>
          </a:prstGeom>
          <a:ln w="25400" cap="flat" cmpd="sng">
            <a:solidFill>
              <a:schemeClr val="tx1"/>
            </a:solidFill>
            <a:prstDash val="solid"/>
            <a:round/>
            <a:headEnd type="none" w="med" len="med"/>
            <a:tailEnd type="triangle" w="med" len="med"/>
          </a:ln>
        </p:spPr>
      </p:sp>
      <p:sp>
        <p:nvSpPr>
          <p:cNvPr id="245871" name="矩形 245870"/>
          <p:cNvSpPr/>
          <p:nvPr/>
        </p:nvSpPr>
        <p:spPr>
          <a:xfrm>
            <a:off x="5294313" y="4292600"/>
            <a:ext cx="20034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 = previous</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5583" name="矩形 245871"/>
          <p:cNvSpPr/>
          <p:nvPr/>
        </p:nvSpPr>
        <p:spPr>
          <a:xfrm>
            <a:off x="290513" y="5410200"/>
            <a:ext cx="20669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Instruction&lt;15:0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5584" name="矩形 245872"/>
          <p:cNvSpPr/>
          <p:nvPr/>
        </p:nvSpPr>
        <p:spPr>
          <a:xfrm>
            <a:off x="7075488" y="4076700"/>
            <a:ext cx="20685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05585" name="直接连接符 245873"/>
          <p:cNvSpPr/>
          <p:nvPr/>
        </p:nvSpPr>
        <p:spPr>
          <a:xfrm flipH="1">
            <a:off x="5099050" y="2216150"/>
            <a:ext cx="88900" cy="166688"/>
          </a:xfrm>
          <a:prstGeom prst="line">
            <a:avLst/>
          </a:prstGeom>
          <a:ln w="12700" cap="flat" cmpd="sng">
            <a:solidFill>
              <a:schemeClr val="tx1"/>
            </a:solidFill>
            <a:prstDash val="solid"/>
            <a:round/>
            <a:headEnd type="none" w="med" len="med"/>
            <a:tailEnd type="none" w="med" len="med"/>
          </a:ln>
        </p:spPr>
      </p:sp>
      <p:sp>
        <p:nvSpPr>
          <p:cNvPr id="105586" name="矩形 245874"/>
          <p:cNvSpPr/>
          <p:nvPr/>
        </p:nvSpPr>
        <p:spPr>
          <a:xfrm>
            <a:off x="4786313" y="23145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05587" name="矩形 245875"/>
          <p:cNvSpPr/>
          <p:nvPr/>
        </p:nvSpPr>
        <p:spPr>
          <a:xfrm>
            <a:off x="2055813" y="2984500"/>
            <a:ext cx="138112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Instr</a:t>
            </a:r>
            <a:r>
              <a:rPr lang="en-US" altLang="zh-CN" sz="1800">
                <a:latin typeface="Arial" panose="020B0604020202020204" pitchFamily="34" charset="0"/>
                <a:ea typeface="宋体" panose="02010600030101010101" pitchFamily="2" charset="-122"/>
              </a:rPr>
              <a:t>&lt;25:0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grpSp>
        <p:nvGrpSpPr>
          <p:cNvPr id="245877" name="组合 245876"/>
          <p:cNvGrpSpPr/>
          <p:nvPr/>
        </p:nvGrpSpPr>
        <p:grpSpPr>
          <a:xfrm>
            <a:off x="1671638" y="2260600"/>
            <a:ext cx="5465762" cy="1346200"/>
            <a:chOff x="1053" y="1424"/>
            <a:chExt cx="3443" cy="848"/>
          </a:xfrm>
        </p:grpSpPr>
        <p:sp>
          <p:nvSpPr>
            <p:cNvPr id="105589" name="直接连接符 245877"/>
            <p:cNvSpPr/>
            <p:nvPr/>
          </p:nvSpPr>
          <p:spPr>
            <a:xfrm flipV="1">
              <a:off x="1200" y="1424"/>
              <a:ext cx="0" cy="848"/>
            </a:xfrm>
            <a:prstGeom prst="line">
              <a:avLst/>
            </a:prstGeom>
            <a:ln w="50800" cap="flat" cmpd="sng">
              <a:solidFill>
                <a:schemeClr val="accent1"/>
              </a:solidFill>
              <a:prstDash val="solid"/>
              <a:round/>
              <a:headEnd type="none" w="med" len="med"/>
              <a:tailEnd type="none" w="med" len="med"/>
            </a:ln>
          </p:spPr>
        </p:sp>
        <p:sp>
          <p:nvSpPr>
            <p:cNvPr id="105590" name="直接连接符 245878"/>
            <p:cNvSpPr/>
            <p:nvPr/>
          </p:nvSpPr>
          <p:spPr>
            <a:xfrm>
              <a:off x="1216" y="1440"/>
              <a:ext cx="3280" cy="0"/>
            </a:xfrm>
            <a:prstGeom prst="line">
              <a:avLst/>
            </a:prstGeom>
            <a:ln w="50800" cap="flat" cmpd="sng">
              <a:solidFill>
                <a:schemeClr val="accent1"/>
              </a:solidFill>
              <a:prstDash val="solid"/>
              <a:round/>
              <a:headEnd type="none" w="med" len="med"/>
              <a:tailEnd type="triangle" w="med" len="med"/>
            </a:ln>
          </p:spPr>
        </p:sp>
        <p:sp>
          <p:nvSpPr>
            <p:cNvPr id="105591" name="直接连接符 245879"/>
            <p:cNvSpPr/>
            <p:nvPr/>
          </p:nvSpPr>
          <p:spPr>
            <a:xfrm>
              <a:off x="1053" y="2256"/>
              <a:ext cx="151" cy="1"/>
            </a:xfrm>
            <a:prstGeom prst="line">
              <a:avLst/>
            </a:prstGeom>
            <a:ln w="50800" cap="flat" cmpd="sng">
              <a:solidFill>
                <a:srgbClr val="FF0000"/>
              </a:solidFill>
              <a:prstDash val="solid"/>
              <a:round/>
              <a:headEnd type="none" w="med" len="med"/>
              <a:tailEnd type="none" w="med" len="med"/>
            </a:ln>
          </p:spPr>
        </p:sp>
      </p:grpSp>
      <p:sp>
        <p:nvSpPr>
          <p:cNvPr id="105592" name="椭圆 245880"/>
          <p:cNvSpPr/>
          <p:nvPr/>
        </p:nvSpPr>
        <p:spPr>
          <a:xfrm>
            <a:off x="1460500" y="4203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5593" name="直接连接符 245881"/>
          <p:cNvSpPr/>
          <p:nvPr/>
        </p:nvSpPr>
        <p:spPr>
          <a:xfrm>
            <a:off x="1524000" y="4356100"/>
            <a:ext cx="0" cy="355600"/>
          </a:xfrm>
          <a:prstGeom prst="line">
            <a:avLst/>
          </a:prstGeom>
          <a:ln w="25400" cap="flat" cmpd="sng">
            <a:solidFill>
              <a:schemeClr val="tx1"/>
            </a:solidFill>
            <a:prstDash val="solid"/>
            <a:round/>
            <a:headEnd type="none" w="med" len="med"/>
            <a:tailEnd type="none" w="med" len="med"/>
          </a:ln>
        </p:spPr>
      </p:sp>
      <p:sp>
        <p:nvSpPr>
          <p:cNvPr id="105594" name="矩形 245882"/>
          <p:cNvSpPr/>
          <p:nvPr/>
        </p:nvSpPr>
        <p:spPr>
          <a:xfrm>
            <a:off x="1357313" y="4724400"/>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grpSp>
        <p:nvGrpSpPr>
          <p:cNvPr id="245884" name="组合 245883"/>
          <p:cNvGrpSpPr/>
          <p:nvPr/>
        </p:nvGrpSpPr>
        <p:grpSpPr>
          <a:xfrm>
            <a:off x="952500" y="4749800"/>
            <a:ext cx="609600" cy="355600"/>
            <a:chOff x="600" y="2992"/>
            <a:chExt cx="384" cy="224"/>
          </a:xfrm>
        </p:grpSpPr>
        <p:sp>
          <p:nvSpPr>
            <p:cNvPr id="105596" name="直接连接符 245884"/>
            <p:cNvSpPr/>
            <p:nvPr/>
          </p:nvSpPr>
          <p:spPr>
            <a:xfrm>
              <a:off x="600" y="2992"/>
              <a:ext cx="200" cy="0"/>
            </a:xfrm>
            <a:prstGeom prst="line">
              <a:avLst/>
            </a:prstGeom>
            <a:ln w="25400" cap="flat" cmpd="sng">
              <a:solidFill>
                <a:srgbClr val="0000FF"/>
              </a:solidFill>
              <a:prstDash val="solid"/>
              <a:round/>
              <a:headEnd type="none" w="med" len="med"/>
              <a:tailEnd type="none" w="med" len="med"/>
            </a:ln>
          </p:spPr>
        </p:sp>
        <p:sp>
          <p:nvSpPr>
            <p:cNvPr id="105597" name="直接连接符 245885"/>
            <p:cNvSpPr/>
            <p:nvPr/>
          </p:nvSpPr>
          <p:spPr>
            <a:xfrm flipH="1">
              <a:off x="800" y="2992"/>
              <a:ext cx="0" cy="224"/>
            </a:xfrm>
            <a:prstGeom prst="line">
              <a:avLst/>
            </a:prstGeom>
            <a:ln w="25400" cap="flat" cmpd="sng">
              <a:solidFill>
                <a:srgbClr val="0000FF"/>
              </a:solidFill>
              <a:prstDash val="solid"/>
              <a:round/>
              <a:headEnd type="none" w="med" len="med"/>
              <a:tailEnd type="arrow" w="med" len="med"/>
            </a:ln>
          </p:spPr>
        </p:sp>
        <p:sp>
          <p:nvSpPr>
            <p:cNvPr id="105598" name="直接连接符 245886"/>
            <p:cNvSpPr/>
            <p:nvPr/>
          </p:nvSpPr>
          <p:spPr>
            <a:xfrm>
              <a:off x="800" y="3208"/>
              <a:ext cx="184" cy="0"/>
            </a:xfrm>
            <a:prstGeom prst="line">
              <a:avLst/>
            </a:prstGeom>
            <a:ln w="25400" cap="flat" cmpd="sng">
              <a:solidFill>
                <a:srgbClr val="0000FF"/>
              </a:solidFill>
              <a:prstDash val="solid"/>
              <a:round/>
              <a:headEnd type="none" w="med" len="med"/>
              <a:tailEnd type="none" w="med" len="med"/>
            </a:ln>
          </p:spPr>
        </p:sp>
      </p:grpSp>
      <p:sp>
        <p:nvSpPr>
          <p:cNvPr id="245888" name="文本框 245887"/>
          <p:cNvSpPr txBox="1"/>
          <p:nvPr/>
        </p:nvSpPr>
        <p:spPr>
          <a:xfrm>
            <a:off x="3919538" y="639763"/>
            <a:ext cx="4932362" cy="1168400"/>
          </a:xfrm>
          <a:prstGeom prst="rect">
            <a:avLst/>
          </a:prstGeom>
          <a:noFill/>
          <a:ln w="50800">
            <a:noFill/>
          </a:ln>
        </p:spPr>
        <p:txBody>
          <a:bodyPr anchor="t" anchorCtr="0">
            <a:spAutoFit/>
          </a:bodyPr>
          <a:p>
            <a:pPr eaLnBrk="0" hangingPunct="0">
              <a:spcBef>
                <a:spcPct val="50000"/>
              </a:spcBef>
            </a:pPr>
            <a:r>
              <a:rPr lang="zh-CN" altLang="en-US" sz="2000" b="0" dirty="0">
                <a:latin typeface="Times New Roman" panose="02020603050405020304" pitchFamily="18" charset="0"/>
                <a:ea typeface="黑体" panose="02010609060101010101" pitchFamily="49" charset="-122"/>
              </a:rPr>
              <a:t>新指令还没有取出译码，所以控制信号的值还是原来指令的旧值</a:t>
            </a:r>
            <a:endParaRPr lang="zh-CN" altLang="en-US" sz="2000" b="0" dirty="0">
              <a:latin typeface="Times New Roman" panose="02020603050405020304" pitchFamily="18" charset="0"/>
              <a:ea typeface="黑体" panose="02010609060101010101" pitchFamily="49" charset="-122"/>
            </a:endParaRPr>
          </a:p>
          <a:p>
            <a:pPr eaLnBrk="0" hangingPunct="0">
              <a:spcBef>
                <a:spcPct val="50000"/>
              </a:spcBef>
            </a:pPr>
            <a:r>
              <a:rPr lang="zh-CN" altLang="en-US" sz="2000" b="0" dirty="0">
                <a:latin typeface="Times New Roman" panose="02020603050405020304" pitchFamily="18" charset="0"/>
                <a:ea typeface="黑体" panose="02010609060101010101" pitchFamily="49" charset="-122"/>
              </a:rPr>
              <a:t>新指令还没有执行，所以标志也为旧值</a:t>
            </a:r>
            <a:endParaRPr lang="zh-CN" altLang="en-US" sz="2000" dirty="0">
              <a:latin typeface="Times New Roman" panose="02020603050405020304" pitchFamily="18" charset="0"/>
              <a:ea typeface="黑体" panose="02010609060101010101" pitchFamily="49" charset="-122"/>
            </a:endParaRPr>
          </a:p>
        </p:txBody>
      </p:sp>
      <p:sp>
        <p:nvSpPr>
          <p:cNvPr id="245889" name="文本框 245888"/>
          <p:cNvSpPr txBox="1"/>
          <p:nvPr/>
        </p:nvSpPr>
        <p:spPr>
          <a:xfrm>
            <a:off x="5564188" y="4748213"/>
            <a:ext cx="3427412" cy="915987"/>
          </a:xfrm>
          <a:prstGeom prst="rect">
            <a:avLst/>
          </a:prstGeom>
          <a:noFill/>
          <a:ln w="50800">
            <a:noFill/>
          </a:ln>
        </p:spPr>
        <p:txBody>
          <a:bodyPr anchor="t" anchorCtr="0">
            <a:spAutoFit/>
          </a:bodyPr>
          <a:p>
            <a:pPr eaLnBrk="0" hangingPunct="0">
              <a:spcBef>
                <a:spcPct val="50000"/>
              </a:spcBef>
            </a:pPr>
            <a:r>
              <a:rPr lang="zh-CN" altLang="en-US" sz="1800" dirty="0">
                <a:latin typeface="Arial" panose="020B0604020202020204" pitchFamily="34" charset="0"/>
                <a:ea typeface="宋体" panose="02010600030101010101" pitchFamily="2" charset="-122"/>
              </a:rPr>
              <a:t>取出指令的第</a:t>
            </a:r>
            <a:r>
              <a:rPr lang="en-US" altLang="zh-CN" sz="1800">
                <a:latin typeface="Arial" panose="020B0604020202020204" pitchFamily="34" charset="0"/>
                <a:ea typeface="宋体" panose="02010600030101010101" pitchFamily="2" charset="-122"/>
              </a:rPr>
              <a:t>31-26</a:t>
            </a:r>
            <a:r>
              <a:rPr lang="zh-CN" altLang="en-US" sz="1800" dirty="0">
                <a:latin typeface="Arial" panose="020B0604020202020204" pitchFamily="34" charset="0"/>
                <a:ea typeface="宋体" panose="02010600030101010101" pitchFamily="2" charset="-122"/>
              </a:rPr>
              <a:t>位作为操作码首先被译码。</a:t>
            </a:r>
            <a:r>
              <a:rPr lang="en-US" altLang="zh-CN" sz="1800">
                <a:latin typeface="Arial" panose="020B0604020202020204" pitchFamily="34" charset="0"/>
                <a:ea typeface="宋体" panose="02010600030101010101" pitchFamily="2" charset="-122"/>
              </a:rPr>
              <a:t>op=000000, </a:t>
            </a:r>
            <a:r>
              <a:rPr lang="zh-CN" altLang="en-US" sz="1800" dirty="0">
                <a:latin typeface="Arial" panose="020B0604020202020204" pitchFamily="34" charset="0"/>
                <a:ea typeface="宋体" panose="02010600030101010101" pitchFamily="2" charset="-122"/>
              </a:rPr>
              <a:t>则为</a:t>
            </a:r>
            <a:r>
              <a:rPr lang="en-US" altLang="zh-CN" sz="1800">
                <a:latin typeface="Arial" panose="020B0604020202020204" pitchFamily="34" charset="0"/>
                <a:ea typeface="宋体" panose="02010600030101010101" pitchFamily="2" charset="-122"/>
              </a:rPr>
              <a:t>R-type</a:t>
            </a:r>
            <a:r>
              <a:rPr lang="zh-CN" altLang="en-US" sz="1800" dirty="0">
                <a:latin typeface="Arial" panose="020B0604020202020204" pitchFamily="34" charset="0"/>
                <a:ea typeface="宋体" panose="02010600030101010101" pitchFamily="2" charset="-122"/>
              </a:rPr>
              <a:t>指令</a:t>
            </a:r>
            <a:endParaRPr lang="en-US" altLang="zh-CN" sz="1800">
              <a:latin typeface="Arial" panose="020B0604020202020204" pitchFamily="34" charset="0"/>
              <a:ea typeface="宋体" panose="02010600030101010101" pitchFamily="2" charset="-122"/>
            </a:endParaRPr>
          </a:p>
        </p:txBody>
      </p:sp>
      <p:sp>
        <p:nvSpPr>
          <p:cNvPr id="245890" name="文本框 245889"/>
          <p:cNvSpPr txBox="1"/>
          <p:nvPr/>
        </p:nvSpPr>
        <p:spPr>
          <a:xfrm>
            <a:off x="300038" y="5775325"/>
            <a:ext cx="2311400" cy="581025"/>
          </a:xfrm>
          <a:prstGeom prst="rect">
            <a:avLst/>
          </a:prstGeom>
          <a:noFill/>
          <a:ln w="50800">
            <a:noFill/>
          </a:ln>
        </p:spPr>
        <p:txBody>
          <a:bodyPr anchor="t" anchorCtr="0">
            <a:spAutoFit/>
          </a:bodyPr>
          <a:p>
            <a:pPr eaLnBrk="0" hangingPunct="0">
              <a:spcBef>
                <a:spcPct val="50000"/>
              </a:spcBef>
            </a:pPr>
            <a:r>
              <a:rPr lang="zh-CN" altLang="en-US" b="0" dirty="0">
                <a:solidFill>
                  <a:schemeClr val="accent1"/>
                </a:solidFill>
                <a:latin typeface="Times New Roman" panose="02020603050405020304" pitchFamily="18" charset="0"/>
                <a:ea typeface="黑体" panose="02010609060101010101" pitchFamily="49" charset="-122"/>
              </a:rPr>
              <a:t>取指部件由旧控制信号控制，会不会有问题？</a:t>
            </a:r>
            <a:endParaRPr lang="zh-CN" altLang="en-US" b="0" dirty="0">
              <a:solidFill>
                <a:schemeClr val="accent1"/>
              </a:solidFill>
              <a:latin typeface="Times New Roman" panose="02020603050405020304" pitchFamily="18" charset="0"/>
              <a:ea typeface="黑体" panose="02010609060101010101" pitchFamily="49" charset="-122"/>
            </a:endParaRPr>
          </a:p>
        </p:txBody>
      </p:sp>
      <p:sp>
        <p:nvSpPr>
          <p:cNvPr id="245891" name="文本框 245890"/>
          <p:cNvSpPr txBox="1"/>
          <p:nvPr/>
        </p:nvSpPr>
        <p:spPr>
          <a:xfrm>
            <a:off x="581025" y="6491288"/>
            <a:ext cx="2176463" cy="366712"/>
          </a:xfrm>
          <a:prstGeom prst="rect">
            <a:avLst/>
          </a:prstGeom>
          <a:solidFill>
            <a:schemeClr val="bg1"/>
          </a:solidFill>
          <a:ln w="50800">
            <a:noFill/>
          </a:ln>
        </p:spPr>
        <p:txBody>
          <a:bodyPr anchor="t" anchorCtr="0">
            <a:spAutoFit/>
          </a:bodyPr>
          <a:p>
            <a:pPr eaLnBrk="0" hangingPunct="0">
              <a:spcBef>
                <a:spcPct val="50000"/>
              </a:spcBef>
            </a:pPr>
            <a:r>
              <a:rPr lang="zh-CN" altLang="en-US" sz="1800" dirty="0">
                <a:latin typeface="Arial" panose="020B0604020202020204" pitchFamily="34" charset="0"/>
                <a:ea typeface="宋体" panose="02010600030101010101" pitchFamily="2" charset="-122"/>
              </a:rPr>
              <a:t>没有问题！</a:t>
            </a:r>
            <a:r>
              <a:rPr lang="en-US" altLang="zh-CN" sz="1800">
                <a:latin typeface="Arial" panose="020B0604020202020204" pitchFamily="34" charset="0"/>
                <a:ea typeface="宋体" panose="02010600030101010101" pitchFamily="2" charset="-122"/>
              </a:rPr>
              <a:t>Why</a:t>
            </a:r>
            <a:r>
              <a:rPr lang="en-US" altLang="zh-CN">
                <a:solidFill>
                  <a:srgbClr val="008000"/>
                </a:solidFill>
                <a:latin typeface="Times New Roman" panose="02020603050405020304" pitchFamily="18" charset="0"/>
                <a:ea typeface="宋体" panose="02010600030101010101" pitchFamily="2" charset="-122"/>
              </a:rPr>
              <a:t>?</a:t>
            </a:r>
            <a:endParaRPr lang="en-US" altLang="zh-CN">
              <a:solidFill>
                <a:srgbClr val="008000"/>
              </a:solidFill>
              <a:latin typeface="Times New Roman" panose="02020603050405020304" pitchFamily="18" charset="0"/>
              <a:ea typeface="宋体" panose="02010600030101010101" pitchFamily="2" charset="-122"/>
            </a:endParaRPr>
          </a:p>
        </p:txBody>
      </p:sp>
      <p:sp>
        <p:nvSpPr>
          <p:cNvPr id="245892" name="文本框 245891"/>
          <p:cNvSpPr txBox="1"/>
          <p:nvPr/>
        </p:nvSpPr>
        <p:spPr>
          <a:xfrm>
            <a:off x="2792413" y="6153150"/>
            <a:ext cx="5776912" cy="641350"/>
          </a:xfrm>
          <a:prstGeom prst="rect">
            <a:avLst/>
          </a:prstGeom>
          <a:noFill/>
          <a:ln w="50800">
            <a:noFill/>
          </a:ln>
        </p:spPr>
        <p:txBody>
          <a:bodyPr anchor="t" anchorCtr="0">
            <a:spAutoFit/>
          </a:bodyPr>
          <a:p>
            <a:pPr eaLnBrk="0" hangingPunct="0">
              <a:spcBef>
                <a:spcPct val="20000"/>
              </a:spcBef>
            </a:pPr>
            <a:r>
              <a:rPr lang="zh-CN" altLang="en-US" sz="1800" dirty="0">
                <a:latin typeface="Arial" panose="020B0604020202020204" pitchFamily="34" charset="0"/>
                <a:ea typeface="宋体" panose="02010600030101010101" pitchFamily="2" charset="-122"/>
              </a:rPr>
              <a:t>因为在下个</a:t>
            </a:r>
            <a:r>
              <a:rPr lang="en-US" altLang="zh-CN" sz="1800" dirty="0" err="1">
                <a:latin typeface="Arial" panose="020B0604020202020204" pitchFamily="34" charset="0"/>
                <a:ea typeface="宋体" panose="02010600030101010101" pitchFamily="2" charset="-122"/>
              </a:rPr>
              <a:t>Clk</a:t>
            </a:r>
            <a:r>
              <a:rPr lang="zh-CN" altLang="en-US" sz="1800" dirty="0">
                <a:latin typeface="Arial" panose="020B0604020202020204" pitchFamily="34" charset="0"/>
                <a:ea typeface="宋体" panose="02010600030101010101" pitchFamily="2" charset="-122"/>
              </a:rPr>
              <a:t>到来之前</a:t>
            </a:r>
            <a:r>
              <a:rPr lang="en-US" altLang="zh-CN" sz="1800">
                <a:latin typeface="Arial" panose="020B0604020202020204" pitchFamily="34" charset="0"/>
                <a:ea typeface="宋体" panose="02010600030101010101" pitchFamily="2" charset="-122"/>
              </a:rPr>
              <a:t>PC</a:t>
            </a:r>
            <a:r>
              <a:rPr lang="zh-CN" altLang="en-US" sz="1800" dirty="0">
                <a:latin typeface="Arial" panose="020B0604020202020204" pitchFamily="34" charset="0"/>
                <a:ea typeface="宋体" panose="02010600030101010101" pitchFamily="2" charset="-122"/>
              </a:rPr>
              <a:t>输入端的值不会写入只要保证下个</a:t>
            </a:r>
            <a:r>
              <a:rPr lang="en-US" altLang="zh-CN" sz="1800" dirty="0" err="1">
                <a:latin typeface="Arial" panose="020B0604020202020204" pitchFamily="34" charset="0"/>
                <a:ea typeface="宋体" panose="02010600030101010101" pitchFamily="2" charset="-122"/>
              </a:rPr>
              <a:t>Clk</a:t>
            </a:r>
            <a:r>
              <a:rPr lang="zh-CN" altLang="en-US" sz="1800" dirty="0">
                <a:latin typeface="Arial" panose="020B0604020202020204" pitchFamily="34" charset="0"/>
                <a:ea typeface="宋体" panose="02010600030101010101" pitchFamily="2" charset="-122"/>
              </a:rPr>
              <a:t>来之前能产生正确的</a:t>
            </a:r>
            <a:r>
              <a:rPr lang="en-US" altLang="zh-CN" sz="1800">
                <a:latin typeface="Arial" panose="020B0604020202020204" pitchFamily="34" charset="0"/>
                <a:ea typeface="宋体" panose="02010600030101010101" pitchFamily="2" charset="-122"/>
              </a:rPr>
              <a:t>PC</a:t>
            </a:r>
            <a:r>
              <a:rPr lang="zh-CN" altLang="en-US" sz="1800" dirty="0">
                <a:latin typeface="Arial" panose="020B0604020202020204" pitchFamily="34" charset="0"/>
                <a:ea typeface="宋体" panose="02010600030101010101" pitchFamily="2" charset="-122"/>
              </a:rPr>
              <a:t>即可！</a:t>
            </a:r>
            <a:endParaRPr lang="zh-CN" altLang="en-US" sz="1800"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45884"/>
                                        </p:tgtEl>
                                        <p:attrNameLst>
                                          <p:attrName>style.visibility</p:attrName>
                                        </p:attrNameLst>
                                      </p:cBhvr>
                                      <p:to>
                                        <p:strVal val="visible"/>
                                      </p:to>
                                    </p:set>
                                    <p:animEffect transition="in" filter="checkerboard(across)">
                                      <p:cBhvr>
                                        <p:cTn id="7" dur="500"/>
                                        <p:tgtEl>
                                          <p:spTgt spid="24588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45877"/>
                                        </p:tgtEl>
                                        <p:attrNameLst>
                                          <p:attrName>style.visibility</p:attrName>
                                        </p:attrNameLst>
                                      </p:cBhvr>
                                      <p:to>
                                        <p:strVal val="visible"/>
                                      </p:to>
                                    </p:set>
                                    <p:animEffect transition="in" filter="checkerboard(across)">
                                      <p:cBhvr>
                                        <p:cTn id="12" dur="500"/>
                                        <p:tgtEl>
                                          <p:spTgt spid="2458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5888">
                                            <p:txEl>
                                              <p:charRg st="0" end="30"/>
                                            </p:txEl>
                                          </p:spTgt>
                                        </p:tgtEl>
                                        <p:attrNameLst>
                                          <p:attrName>style.visibility</p:attrName>
                                        </p:attrNameLst>
                                      </p:cBhvr>
                                      <p:to>
                                        <p:strVal val="visible"/>
                                      </p:to>
                                    </p:set>
                                    <p:animEffect transition="in" filter="blinds(horizontal)">
                                      <p:cBhvr>
                                        <p:cTn id="17" dur="500"/>
                                        <p:tgtEl>
                                          <p:spTgt spid="245888">
                                            <p:txEl>
                                              <p:charRg st="0" end="3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871"/>
                                        </p:tgtEl>
                                        <p:attrNameLst>
                                          <p:attrName>style.visibility</p:attrName>
                                        </p:attrNameLst>
                                      </p:cBhvr>
                                      <p:to>
                                        <p:strVal val="visible"/>
                                      </p:to>
                                    </p:set>
                                    <p:animEffect transition="in" filter="blinds(horizontal)">
                                      <p:cBhvr>
                                        <p:cTn id="22" dur="500"/>
                                        <p:tgtEl>
                                          <p:spTgt spid="24587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5832"/>
                                        </p:tgtEl>
                                        <p:attrNameLst>
                                          <p:attrName>style.visibility</p:attrName>
                                        </p:attrNameLst>
                                      </p:cBhvr>
                                      <p:to>
                                        <p:strVal val="visible"/>
                                      </p:to>
                                    </p:set>
                                    <p:animEffect transition="in" filter="blinds(horizontal)">
                                      <p:cBhvr>
                                        <p:cTn id="27" dur="500"/>
                                        <p:tgtEl>
                                          <p:spTgt spid="24583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45888">
                                            <p:txEl>
                                              <p:charRg st="30" end="49"/>
                                            </p:txEl>
                                          </p:spTgt>
                                        </p:tgtEl>
                                        <p:attrNameLst>
                                          <p:attrName>style.visibility</p:attrName>
                                        </p:attrNameLst>
                                      </p:cBhvr>
                                      <p:to>
                                        <p:strVal val="visible"/>
                                      </p:to>
                                    </p:set>
                                    <p:animEffect transition="in" filter="blinds(horizontal)">
                                      <p:cBhvr>
                                        <p:cTn id="32" dur="500"/>
                                        <p:tgtEl>
                                          <p:spTgt spid="245888">
                                            <p:txEl>
                                              <p:charRg st="30" end="4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5833"/>
                                        </p:tgtEl>
                                        <p:attrNameLst>
                                          <p:attrName>style.visibility</p:attrName>
                                        </p:attrNameLst>
                                      </p:cBhvr>
                                      <p:to>
                                        <p:strVal val="visible"/>
                                      </p:to>
                                    </p:set>
                                    <p:animEffect transition="in" filter="blinds(horizontal)">
                                      <p:cBhvr>
                                        <p:cTn id="37" dur="500"/>
                                        <p:tgtEl>
                                          <p:spTgt spid="24583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45889">
                                            <p:txEl>
                                              <p:charRg st="0" end="45"/>
                                            </p:txEl>
                                          </p:spTgt>
                                        </p:tgtEl>
                                        <p:attrNameLst>
                                          <p:attrName>style.visibility</p:attrName>
                                        </p:attrNameLst>
                                      </p:cBhvr>
                                      <p:to>
                                        <p:strVal val="visible"/>
                                      </p:to>
                                    </p:set>
                                    <p:animEffect transition="in" filter="blinds(horizontal)">
                                      <p:cBhvr>
                                        <p:cTn id="42" dur="500"/>
                                        <p:tgtEl>
                                          <p:spTgt spid="245889">
                                            <p:txEl>
                                              <p:charRg st="0" end="4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890"/>
                                        </p:tgtEl>
                                        <p:attrNameLst>
                                          <p:attrName>style.visibility</p:attrName>
                                        </p:attrNameLst>
                                      </p:cBhvr>
                                      <p:to>
                                        <p:strVal val="visible"/>
                                      </p:to>
                                    </p:set>
                                    <p:animEffect transition="in" filter="blinds(horizontal)">
                                      <p:cBhvr>
                                        <p:cTn id="47" dur="500"/>
                                        <p:tgtEl>
                                          <p:spTgt spid="24589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45891"/>
                                        </p:tgtEl>
                                        <p:attrNameLst>
                                          <p:attrName>style.visibility</p:attrName>
                                        </p:attrNameLst>
                                      </p:cBhvr>
                                      <p:to>
                                        <p:strVal val="visible"/>
                                      </p:to>
                                    </p:set>
                                    <p:animEffect transition="in" filter="blinds(horizontal)">
                                      <p:cBhvr>
                                        <p:cTn id="52" dur="500"/>
                                        <p:tgtEl>
                                          <p:spTgt spid="24589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45892"/>
                                        </p:tgtEl>
                                        <p:attrNameLst>
                                          <p:attrName>style.visibility</p:attrName>
                                        </p:attrNameLst>
                                      </p:cBhvr>
                                      <p:to>
                                        <p:strVal val="visible"/>
                                      </p:to>
                                    </p:set>
                                    <p:animEffect transition="in" filter="blinds(horizontal)">
                                      <p:cBhvr>
                                        <p:cTn id="57" dur="500"/>
                                        <p:tgtEl>
                                          <p:spTgt spid="245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2" grpId="0"/>
      <p:bldP spid="245833" grpId="0"/>
      <p:bldP spid="245871" grpId="0"/>
      <p:bldP spid="245890" grpId="0"/>
      <p:bldP spid="245891" grpId="0" bldLvl="0" animBg="1"/>
      <p:bldP spid="24589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7521" name="组合 247809"/>
          <p:cNvGrpSpPr/>
          <p:nvPr/>
        </p:nvGrpSpPr>
        <p:grpSpPr>
          <a:xfrm>
            <a:off x="1054100" y="2895600"/>
            <a:ext cx="850900" cy="758825"/>
            <a:chOff x="664" y="1824"/>
            <a:chExt cx="536" cy="478"/>
          </a:xfrm>
        </p:grpSpPr>
        <p:sp>
          <p:nvSpPr>
            <p:cNvPr id="107522" name="直接连接符 247810"/>
            <p:cNvSpPr/>
            <p:nvPr/>
          </p:nvSpPr>
          <p:spPr>
            <a:xfrm flipV="1">
              <a:off x="1200" y="2152"/>
              <a:ext cx="0" cy="150"/>
            </a:xfrm>
            <a:prstGeom prst="line">
              <a:avLst/>
            </a:prstGeom>
            <a:ln w="25400" cap="flat" cmpd="sng">
              <a:solidFill>
                <a:schemeClr val="tx1"/>
              </a:solidFill>
              <a:prstDash val="solid"/>
              <a:round/>
              <a:headEnd type="none" w="med" len="med"/>
              <a:tailEnd type="none" w="med" len="med"/>
            </a:ln>
          </p:spPr>
        </p:sp>
        <p:sp>
          <p:nvSpPr>
            <p:cNvPr id="107523" name="直接连接符 247811"/>
            <p:cNvSpPr/>
            <p:nvPr/>
          </p:nvSpPr>
          <p:spPr>
            <a:xfrm flipH="1">
              <a:off x="664" y="1824"/>
              <a:ext cx="352" cy="0"/>
            </a:xfrm>
            <a:prstGeom prst="line">
              <a:avLst/>
            </a:prstGeom>
            <a:ln w="25400" cap="flat" cmpd="sng">
              <a:solidFill>
                <a:schemeClr val="tx1"/>
              </a:solidFill>
              <a:prstDash val="solid"/>
              <a:round/>
              <a:headEnd type="triangle" w="med" len="med"/>
              <a:tailEnd type="none" w="med" len="med"/>
            </a:ln>
          </p:spPr>
        </p:sp>
      </p:grpSp>
      <p:sp>
        <p:nvSpPr>
          <p:cNvPr id="107524" name="标题 247812"/>
          <p:cNvSpPr>
            <a:spLocks noGrp="1"/>
          </p:cNvSpPr>
          <p:nvPr>
            <p:ph type="title"/>
          </p:nvPr>
        </p:nvSpPr>
        <p:spPr>
          <a:xfrm>
            <a:off x="444500" y="177800"/>
            <a:ext cx="8804275" cy="479425"/>
          </a:xfrm>
          <a:ln/>
        </p:spPr>
        <p:txBody>
          <a:bodyPr vert="horz" wrap="square" lIns="63500" tIns="25400" rIns="63500" bIns="25400" anchor="t" anchorCtr="0">
            <a:spAutoFit/>
          </a:bodyPr>
          <a:p>
            <a:r>
              <a:rPr lang="zh-CN" altLang="en-US" sz="3200" dirty="0">
                <a:ea typeface="宋体" panose="02010600030101010101" pitchFamily="2" charset="-122"/>
              </a:rPr>
              <a:t>指令译码后</a:t>
            </a:r>
            <a:r>
              <a:rPr lang="en-US" altLang="zh-CN" sz="3200">
                <a:ea typeface="宋体" panose="02010600030101010101" pitchFamily="2" charset="-122"/>
              </a:rPr>
              <a:t>R</a:t>
            </a:r>
            <a:r>
              <a:rPr lang="zh-CN" altLang="en-US" sz="3200" dirty="0">
                <a:ea typeface="宋体" panose="02010600030101010101" pitchFamily="2" charset="-122"/>
              </a:rPr>
              <a:t>型指令（</a:t>
            </a:r>
            <a:r>
              <a:rPr lang="en-US" altLang="zh-CN" sz="3200">
                <a:ea typeface="宋体" panose="02010600030101010101" pitchFamily="2" charset="-122"/>
              </a:rPr>
              <a:t>Add / Sub</a:t>
            </a:r>
            <a:r>
              <a:rPr lang="zh-CN" altLang="en-US" sz="3200" dirty="0">
                <a:ea typeface="宋体" panose="02010600030101010101" pitchFamily="2" charset="-122"/>
              </a:rPr>
              <a:t>）操作过程</a:t>
            </a:r>
            <a:endParaRPr lang="zh-CN" altLang="en-US" sz="3200" dirty="0">
              <a:ea typeface="宋体" panose="02010600030101010101" pitchFamily="2" charset="-122"/>
            </a:endParaRPr>
          </a:p>
        </p:txBody>
      </p:sp>
      <p:grpSp>
        <p:nvGrpSpPr>
          <p:cNvPr id="107525" name="组合 247813"/>
          <p:cNvGrpSpPr/>
          <p:nvPr/>
        </p:nvGrpSpPr>
        <p:grpSpPr>
          <a:xfrm>
            <a:off x="5029200" y="3654425"/>
            <a:ext cx="457200" cy="1136650"/>
            <a:chOff x="3168" y="2302"/>
            <a:chExt cx="288" cy="716"/>
          </a:xfrm>
        </p:grpSpPr>
        <p:sp>
          <p:nvSpPr>
            <p:cNvPr id="107526" name="直接连接符 247814"/>
            <p:cNvSpPr/>
            <p:nvPr/>
          </p:nvSpPr>
          <p:spPr>
            <a:xfrm>
              <a:off x="3168" y="2302"/>
              <a:ext cx="0" cy="163"/>
            </a:xfrm>
            <a:prstGeom prst="line">
              <a:avLst/>
            </a:prstGeom>
            <a:ln w="25400" cap="flat" cmpd="sng">
              <a:solidFill>
                <a:schemeClr val="tx1"/>
              </a:solidFill>
              <a:prstDash val="solid"/>
              <a:round/>
              <a:headEnd type="none" w="med" len="med"/>
              <a:tailEnd type="none" w="med" len="med"/>
            </a:ln>
          </p:spPr>
        </p:sp>
        <p:sp>
          <p:nvSpPr>
            <p:cNvPr id="107527" name="直接连接符 247815"/>
            <p:cNvSpPr/>
            <p:nvPr/>
          </p:nvSpPr>
          <p:spPr>
            <a:xfrm>
              <a:off x="3176" y="2302"/>
              <a:ext cx="272" cy="163"/>
            </a:xfrm>
            <a:prstGeom prst="line">
              <a:avLst/>
            </a:prstGeom>
            <a:ln w="25400" cap="flat" cmpd="sng">
              <a:solidFill>
                <a:schemeClr val="tx1"/>
              </a:solidFill>
              <a:prstDash val="solid"/>
              <a:round/>
              <a:headEnd type="none" w="med" len="med"/>
              <a:tailEnd type="none" w="med" len="med"/>
            </a:ln>
          </p:spPr>
        </p:sp>
        <p:sp>
          <p:nvSpPr>
            <p:cNvPr id="107528" name="直接连接符 247816"/>
            <p:cNvSpPr/>
            <p:nvPr/>
          </p:nvSpPr>
          <p:spPr>
            <a:xfrm>
              <a:off x="3176" y="2481"/>
              <a:ext cx="128" cy="74"/>
            </a:xfrm>
            <a:prstGeom prst="line">
              <a:avLst/>
            </a:prstGeom>
            <a:ln w="25400" cap="flat" cmpd="sng">
              <a:solidFill>
                <a:schemeClr val="tx1"/>
              </a:solidFill>
              <a:prstDash val="solid"/>
              <a:round/>
              <a:headEnd type="none" w="med" len="med"/>
              <a:tailEnd type="none" w="med" len="med"/>
            </a:ln>
          </p:spPr>
        </p:sp>
        <p:sp>
          <p:nvSpPr>
            <p:cNvPr id="107529" name="直接连接符 247817"/>
            <p:cNvSpPr/>
            <p:nvPr/>
          </p:nvSpPr>
          <p:spPr>
            <a:xfrm>
              <a:off x="3312" y="2571"/>
              <a:ext cx="0" cy="163"/>
            </a:xfrm>
            <a:prstGeom prst="line">
              <a:avLst/>
            </a:prstGeom>
            <a:ln w="25400" cap="flat" cmpd="sng">
              <a:solidFill>
                <a:schemeClr val="tx1"/>
              </a:solidFill>
              <a:prstDash val="solid"/>
              <a:round/>
              <a:headEnd type="none" w="med" len="med"/>
              <a:tailEnd type="none" w="med" len="med"/>
            </a:ln>
          </p:spPr>
        </p:sp>
        <p:sp>
          <p:nvSpPr>
            <p:cNvPr id="107530" name="直接连接符 247818"/>
            <p:cNvSpPr/>
            <p:nvPr/>
          </p:nvSpPr>
          <p:spPr>
            <a:xfrm>
              <a:off x="3456" y="2481"/>
              <a:ext cx="0" cy="342"/>
            </a:xfrm>
            <a:prstGeom prst="line">
              <a:avLst/>
            </a:prstGeom>
            <a:ln w="25400" cap="flat" cmpd="sng">
              <a:solidFill>
                <a:schemeClr val="tx1"/>
              </a:solidFill>
              <a:prstDash val="solid"/>
              <a:round/>
              <a:headEnd type="none" w="med" len="med"/>
              <a:tailEnd type="none" w="med" len="med"/>
            </a:ln>
          </p:spPr>
        </p:sp>
        <p:sp>
          <p:nvSpPr>
            <p:cNvPr id="107531" name="直接连接符 247819"/>
            <p:cNvSpPr/>
            <p:nvPr/>
          </p:nvSpPr>
          <p:spPr>
            <a:xfrm flipV="1">
              <a:off x="3176" y="2734"/>
              <a:ext cx="128" cy="105"/>
            </a:xfrm>
            <a:prstGeom prst="line">
              <a:avLst/>
            </a:prstGeom>
            <a:ln w="25400" cap="flat" cmpd="sng">
              <a:solidFill>
                <a:schemeClr val="tx1"/>
              </a:solidFill>
              <a:prstDash val="solid"/>
              <a:round/>
              <a:headEnd type="none" w="med" len="med"/>
              <a:tailEnd type="none" w="med" len="med"/>
            </a:ln>
          </p:spPr>
        </p:sp>
        <p:sp>
          <p:nvSpPr>
            <p:cNvPr id="107532" name="直接连接符 247820"/>
            <p:cNvSpPr/>
            <p:nvPr/>
          </p:nvSpPr>
          <p:spPr>
            <a:xfrm>
              <a:off x="3168" y="2839"/>
              <a:ext cx="0" cy="163"/>
            </a:xfrm>
            <a:prstGeom prst="line">
              <a:avLst/>
            </a:prstGeom>
            <a:ln w="25400" cap="flat" cmpd="sng">
              <a:solidFill>
                <a:schemeClr val="tx1"/>
              </a:solidFill>
              <a:prstDash val="solid"/>
              <a:round/>
              <a:headEnd type="none" w="med" len="med"/>
              <a:tailEnd type="none" w="med" len="med"/>
            </a:ln>
          </p:spPr>
        </p:sp>
        <p:sp>
          <p:nvSpPr>
            <p:cNvPr id="107533" name="直接连接符 247821"/>
            <p:cNvSpPr/>
            <p:nvPr/>
          </p:nvSpPr>
          <p:spPr>
            <a:xfrm flipV="1">
              <a:off x="3176" y="2823"/>
              <a:ext cx="272" cy="195"/>
            </a:xfrm>
            <a:prstGeom prst="line">
              <a:avLst/>
            </a:prstGeom>
            <a:ln w="25400" cap="flat" cmpd="sng">
              <a:solidFill>
                <a:schemeClr val="tx1"/>
              </a:solidFill>
              <a:prstDash val="solid"/>
              <a:round/>
              <a:headEnd type="none" w="med" len="med"/>
              <a:tailEnd type="none" w="med" len="med"/>
            </a:ln>
          </p:spPr>
        </p:sp>
      </p:grpSp>
      <p:sp>
        <p:nvSpPr>
          <p:cNvPr id="107534" name="直接连接符 247822"/>
          <p:cNvSpPr/>
          <p:nvPr/>
        </p:nvSpPr>
        <p:spPr>
          <a:xfrm flipH="1">
            <a:off x="5461000" y="4210050"/>
            <a:ext cx="2336800" cy="0"/>
          </a:xfrm>
          <a:prstGeom prst="line">
            <a:avLst/>
          </a:prstGeom>
          <a:ln w="50800" cap="flat" cmpd="sng">
            <a:solidFill>
              <a:schemeClr val="accent1"/>
            </a:solidFill>
            <a:prstDash val="solid"/>
            <a:round/>
            <a:headEnd type="triangle" w="med" len="med"/>
            <a:tailEnd type="none" w="med" len="med"/>
          </a:ln>
        </p:spPr>
      </p:sp>
      <p:sp>
        <p:nvSpPr>
          <p:cNvPr id="107535" name="直接连接符 247823"/>
          <p:cNvSpPr/>
          <p:nvPr/>
        </p:nvSpPr>
        <p:spPr>
          <a:xfrm flipH="1">
            <a:off x="5861050" y="4146550"/>
            <a:ext cx="88900" cy="128588"/>
          </a:xfrm>
          <a:prstGeom prst="line">
            <a:avLst/>
          </a:prstGeom>
          <a:ln w="12700" cap="flat" cmpd="sng">
            <a:solidFill>
              <a:schemeClr val="tx1"/>
            </a:solidFill>
            <a:prstDash val="solid"/>
            <a:round/>
            <a:headEnd type="none" w="med" len="med"/>
            <a:tailEnd type="none" w="med" len="med"/>
          </a:ln>
        </p:spPr>
      </p:sp>
      <p:sp>
        <p:nvSpPr>
          <p:cNvPr id="107536" name="矩形 247824"/>
          <p:cNvSpPr/>
          <p:nvPr/>
        </p:nvSpPr>
        <p:spPr>
          <a:xfrm>
            <a:off x="5548313" y="42084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endParaRPr lang="zh-CN" altLang="en-US" sz="1800" dirty="0">
              <a:latin typeface="Arial" panose="020B0604020202020204" pitchFamily="34" charset="0"/>
              <a:ea typeface="黑体" panose="02010609060101010101" pitchFamily="49" charset="-122"/>
            </a:endParaRPr>
          </a:p>
        </p:txBody>
      </p:sp>
      <p:sp>
        <p:nvSpPr>
          <p:cNvPr id="107537" name="直接连接符 247825"/>
          <p:cNvSpPr/>
          <p:nvPr/>
        </p:nvSpPr>
        <p:spPr>
          <a:xfrm>
            <a:off x="5257800" y="3289300"/>
            <a:ext cx="0" cy="482600"/>
          </a:xfrm>
          <a:prstGeom prst="line">
            <a:avLst/>
          </a:prstGeom>
          <a:ln w="25400" cap="flat" cmpd="sng">
            <a:solidFill>
              <a:schemeClr val="tx1"/>
            </a:solidFill>
            <a:prstDash val="solid"/>
            <a:round/>
            <a:headEnd type="none" w="med" len="med"/>
            <a:tailEnd type="triangle" w="med" len="med"/>
          </a:ln>
        </p:spPr>
      </p:sp>
      <p:sp>
        <p:nvSpPr>
          <p:cNvPr id="107538" name="矩形 247826"/>
          <p:cNvSpPr/>
          <p:nvPr/>
        </p:nvSpPr>
        <p:spPr>
          <a:xfrm>
            <a:off x="3787775" y="2868613"/>
            <a:ext cx="1597025" cy="638175"/>
          </a:xfrm>
          <a:prstGeom prst="rect">
            <a:avLst/>
          </a:prstGeom>
          <a:noFill/>
          <a:ln w="12700">
            <a:noFill/>
          </a:ln>
        </p:spPr>
        <p:txBody>
          <a:bodyPr lIns="90488" tIns="44450" rIns="90488" bIns="44450" anchor="t" anchorCtr="0">
            <a:spAutoFit/>
          </a:bodyPr>
          <a:p>
            <a:pPr algn="ctr" eaLnBrk="0" hangingPunct="0"/>
            <a:r>
              <a:rPr lang="en-US" altLang="zh-CN" sz="1800" u="sng" dirty="0" err="1">
                <a:solidFill>
                  <a:schemeClr val="accent1"/>
                </a:solidFill>
                <a:latin typeface="Arial" panose="020B0604020202020204" pitchFamily="34" charset="0"/>
                <a:ea typeface="宋体" panose="02010600030101010101" pitchFamily="2" charset="-122"/>
              </a:rPr>
              <a:t>ALUctr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Add or Sub</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7539" name="矩形 247827"/>
          <p:cNvSpPr/>
          <p:nvPr/>
        </p:nvSpPr>
        <p:spPr>
          <a:xfrm>
            <a:off x="1062038" y="43592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07540" name="矩形 247828"/>
          <p:cNvSpPr/>
          <p:nvPr/>
        </p:nvSpPr>
        <p:spPr>
          <a:xfrm>
            <a:off x="671513" y="3781425"/>
            <a:ext cx="803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busW</a:t>
            </a:r>
            <a:endParaRPr lang="en-US" altLang="zh-CN" sz="1800">
              <a:latin typeface="Arial" panose="020B0604020202020204" pitchFamily="34" charset="0"/>
              <a:ea typeface="黑体" panose="02010609060101010101" pitchFamily="49" charset="-122"/>
            </a:endParaRPr>
          </a:p>
        </p:txBody>
      </p:sp>
      <p:sp>
        <p:nvSpPr>
          <p:cNvPr id="107541" name="矩形 247829"/>
          <p:cNvSpPr/>
          <p:nvPr/>
        </p:nvSpPr>
        <p:spPr>
          <a:xfrm>
            <a:off x="1755775" y="3654425"/>
            <a:ext cx="1431925" cy="11303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542" name="直接连接符 247830"/>
          <p:cNvSpPr/>
          <p:nvPr/>
        </p:nvSpPr>
        <p:spPr>
          <a:xfrm>
            <a:off x="1793875" y="4560888"/>
            <a:ext cx="250825" cy="63500"/>
          </a:xfrm>
          <a:prstGeom prst="line">
            <a:avLst/>
          </a:prstGeom>
          <a:ln w="25400" cap="flat" cmpd="sng">
            <a:solidFill>
              <a:schemeClr val="tx1"/>
            </a:solidFill>
            <a:prstDash val="solid"/>
            <a:round/>
            <a:headEnd type="none" w="med" len="med"/>
            <a:tailEnd type="none" w="med" len="med"/>
          </a:ln>
        </p:spPr>
      </p:sp>
      <p:sp>
        <p:nvSpPr>
          <p:cNvPr id="107543" name="直接连接符 247831"/>
          <p:cNvSpPr/>
          <p:nvPr/>
        </p:nvSpPr>
        <p:spPr>
          <a:xfrm flipH="1">
            <a:off x="1768475" y="4649788"/>
            <a:ext cx="301625" cy="98425"/>
          </a:xfrm>
          <a:prstGeom prst="line">
            <a:avLst/>
          </a:prstGeom>
          <a:ln w="25400" cap="flat" cmpd="sng">
            <a:solidFill>
              <a:schemeClr val="tx1"/>
            </a:solidFill>
            <a:prstDash val="solid"/>
            <a:round/>
            <a:headEnd type="none" w="med" len="med"/>
            <a:tailEnd type="none" w="med" len="med"/>
          </a:ln>
        </p:spPr>
      </p:sp>
      <p:sp>
        <p:nvSpPr>
          <p:cNvPr id="107544" name="椭圆 247832"/>
          <p:cNvSpPr/>
          <p:nvPr/>
        </p:nvSpPr>
        <p:spPr>
          <a:xfrm>
            <a:off x="1603375" y="4595813"/>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545" name="矩形 247833"/>
          <p:cNvSpPr/>
          <p:nvPr/>
        </p:nvSpPr>
        <p:spPr>
          <a:xfrm>
            <a:off x="619125" y="3140075"/>
            <a:ext cx="12922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RegWr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7546" name="直接连接符 247834"/>
          <p:cNvSpPr/>
          <p:nvPr/>
        </p:nvSpPr>
        <p:spPr>
          <a:xfrm flipH="1">
            <a:off x="736600" y="4140200"/>
            <a:ext cx="1041400" cy="0"/>
          </a:xfrm>
          <a:prstGeom prst="line">
            <a:avLst/>
          </a:prstGeom>
          <a:ln w="50800" cap="flat" cmpd="sng">
            <a:solidFill>
              <a:schemeClr val="accent1"/>
            </a:solidFill>
            <a:prstDash val="solid"/>
            <a:round/>
            <a:headEnd type="triangle" w="med" len="med"/>
            <a:tailEnd type="none" w="med" len="med"/>
          </a:ln>
        </p:spPr>
      </p:sp>
      <p:sp>
        <p:nvSpPr>
          <p:cNvPr id="107547" name="直接连接符 247835"/>
          <p:cNvSpPr/>
          <p:nvPr/>
        </p:nvSpPr>
        <p:spPr>
          <a:xfrm flipH="1">
            <a:off x="1289050" y="4075113"/>
            <a:ext cx="88900" cy="128587"/>
          </a:xfrm>
          <a:prstGeom prst="line">
            <a:avLst/>
          </a:prstGeom>
          <a:ln w="12700" cap="flat" cmpd="sng">
            <a:solidFill>
              <a:schemeClr val="tx1"/>
            </a:solidFill>
            <a:prstDash val="solid"/>
            <a:round/>
            <a:headEnd type="none" w="med" len="med"/>
            <a:tailEnd type="none" w="med" len="med"/>
          </a:ln>
        </p:spPr>
      </p:sp>
      <p:sp>
        <p:nvSpPr>
          <p:cNvPr id="107548" name="矩形 247836"/>
          <p:cNvSpPr/>
          <p:nvPr/>
        </p:nvSpPr>
        <p:spPr>
          <a:xfrm>
            <a:off x="976313" y="413702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endParaRPr lang="zh-CN" altLang="en-US" sz="1800" dirty="0">
              <a:latin typeface="Arial" panose="020B0604020202020204" pitchFamily="34" charset="0"/>
              <a:ea typeface="黑体" panose="02010609060101010101" pitchFamily="49" charset="-122"/>
            </a:endParaRPr>
          </a:p>
        </p:txBody>
      </p:sp>
      <p:sp>
        <p:nvSpPr>
          <p:cNvPr id="107549" name="直接连接符 247837"/>
          <p:cNvSpPr/>
          <p:nvPr/>
        </p:nvSpPr>
        <p:spPr>
          <a:xfrm>
            <a:off x="3225800" y="3784600"/>
            <a:ext cx="1778000" cy="0"/>
          </a:xfrm>
          <a:prstGeom prst="line">
            <a:avLst/>
          </a:prstGeom>
          <a:ln w="50800" cap="flat" cmpd="sng">
            <a:solidFill>
              <a:schemeClr val="accent1"/>
            </a:solidFill>
            <a:prstDash val="solid"/>
            <a:round/>
            <a:headEnd type="none" w="med" len="med"/>
            <a:tailEnd type="triangle" w="med" len="med"/>
          </a:ln>
        </p:spPr>
      </p:sp>
      <p:sp>
        <p:nvSpPr>
          <p:cNvPr id="107550" name="直接连接符 247838"/>
          <p:cNvSpPr/>
          <p:nvPr/>
        </p:nvSpPr>
        <p:spPr>
          <a:xfrm flipH="1">
            <a:off x="4184650" y="3719513"/>
            <a:ext cx="88900" cy="130175"/>
          </a:xfrm>
          <a:prstGeom prst="line">
            <a:avLst/>
          </a:prstGeom>
          <a:ln w="12700" cap="flat" cmpd="sng">
            <a:solidFill>
              <a:schemeClr val="tx1"/>
            </a:solidFill>
            <a:prstDash val="solid"/>
            <a:round/>
            <a:headEnd type="none" w="med" len="med"/>
            <a:tailEnd type="none" w="med" len="med"/>
          </a:ln>
        </p:spPr>
      </p:sp>
      <p:sp>
        <p:nvSpPr>
          <p:cNvPr id="107551" name="矩形 247839"/>
          <p:cNvSpPr/>
          <p:nvPr/>
        </p:nvSpPr>
        <p:spPr>
          <a:xfrm>
            <a:off x="3871913" y="38528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endParaRPr lang="zh-CN" altLang="en-US" sz="1800" dirty="0">
              <a:latin typeface="Arial" panose="020B0604020202020204" pitchFamily="34" charset="0"/>
              <a:ea typeface="黑体" panose="02010609060101010101" pitchFamily="49" charset="-122"/>
            </a:endParaRPr>
          </a:p>
        </p:txBody>
      </p:sp>
      <p:sp>
        <p:nvSpPr>
          <p:cNvPr id="107552" name="矩形 247840"/>
          <p:cNvSpPr/>
          <p:nvPr/>
        </p:nvSpPr>
        <p:spPr>
          <a:xfrm>
            <a:off x="3567113" y="3395663"/>
            <a:ext cx="7524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busA</a:t>
            </a:r>
            <a:endParaRPr lang="en-US" altLang="zh-CN" sz="1800">
              <a:latin typeface="Arial" panose="020B0604020202020204" pitchFamily="34" charset="0"/>
              <a:ea typeface="黑体" panose="02010609060101010101" pitchFamily="49" charset="-122"/>
            </a:endParaRPr>
          </a:p>
        </p:txBody>
      </p:sp>
      <p:sp>
        <p:nvSpPr>
          <p:cNvPr id="107553" name="直接连接符 247841"/>
          <p:cNvSpPr/>
          <p:nvPr/>
        </p:nvSpPr>
        <p:spPr>
          <a:xfrm>
            <a:off x="3225800" y="4484688"/>
            <a:ext cx="939800" cy="0"/>
          </a:xfrm>
          <a:prstGeom prst="line">
            <a:avLst/>
          </a:prstGeom>
          <a:ln w="50800" cap="flat" cmpd="sng">
            <a:solidFill>
              <a:schemeClr val="accent1"/>
            </a:solidFill>
            <a:prstDash val="solid"/>
            <a:round/>
            <a:headEnd type="none" w="med" len="med"/>
            <a:tailEnd type="triangle" w="med" len="med"/>
          </a:ln>
        </p:spPr>
      </p:sp>
      <p:sp>
        <p:nvSpPr>
          <p:cNvPr id="107554" name="直接连接符 247842"/>
          <p:cNvSpPr/>
          <p:nvPr/>
        </p:nvSpPr>
        <p:spPr>
          <a:xfrm flipV="1">
            <a:off x="3663950" y="4337050"/>
            <a:ext cx="139700" cy="241300"/>
          </a:xfrm>
          <a:prstGeom prst="line">
            <a:avLst/>
          </a:prstGeom>
          <a:ln w="12700" cap="flat" cmpd="sng">
            <a:solidFill>
              <a:schemeClr val="tx1"/>
            </a:solidFill>
            <a:prstDash val="solid"/>
            <a:round/>
            <a:headEnd type="none" w="med" len="med"/>
            <a:tailEnd type="none" w="med" len="med"/>
          </a:ln>
        </p:spPr>
      </p:sp>
      <p:sp>
        <p:nvSpPr>
          <p:cNvPr id="107555" name="矩形 247843"/>
          <p:cNvSpPr/>
          <p:nvPr/>
        </p:nvSpPr>
        <p:spPr>
          <a:xfrm>
            <a:off x="3262313" y="448151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endParaRPr lang="zh-CN" altLang="en-US" sz="1800" dirty="0">
              <a:latin typeface="Arial" panose="020B0604020202020204" pitchFamily="34" charset="0"/>
              <a:ea typeface="黑体" panose="02010609060101010101" pitchFamily="49" charset="-122"/>
            </a:endParaRPr>
          </a:p>
        </p:txBody>
      </p:sp>
      <p:sp>
        <p:nvSpPr>
          <p:cNvPr id="107556" name="矩形 247844"/>
          <p:cNvSpPr/>
          <p:nvPr/>
        </p:nvSpPr>
        <p:spPr>
          <a:xfrm>
            <a:off x="3186113" y="4108450"/>
            <a:ext cx="7524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busB</a:t>
            </a:r>
            <a:endParaRPr lang="en-US" altLang="zh-CN" sz="1800">
              <a:latin typeface="Arial" panose="020B0604020202020204" pitchFamily="34" charset="0"/>
              <a:ea typeface="黑体" panose="02010609060101010101" pitchFamily="49" charset="-122"/>
            </a:endParaRPr>
          </a:p>
        </p:txBody>
      </p:sp>
      <p:sp>
        <p:nvSpPr>
          <p:cNvPr id="107557" name="直接连接符 247845"/>
          <p:cNvSpPr/>
          <p:nvPr/>
        </p:nvSpPr>
        <p:spPr>
          <a:xfrm flipH="1">
            <a:off x="1130300" y="4637088"/>
            <a:ext cx="482600" cy="0"/>
          </a:xfrm>
          <a:prstGeom prst="line">
            <a:avLst/>
          </a:prstGeom>
          <a:ln w="25400" cap="flat" cmpd="sng">
            <a:solidFill>
              <a:schemeClr val="tx1"/>
            </a:solidFill>
            <a:prstDash val="solid"/>
            <a:round/>
            <a:headEnd type="none" w="med" len="med"/>
            <a:tailEnd type="none" w="med" len="med"/>
          </a:ln>
        </p:spPr>
      </p:sp>
      <p:sp>
        <p:nvSpPr>
          <p:cNvPr id="107558" name="直接连接符 247846"/>
          <p:cNvSpPr/>
          <p:nvPr/>
        </p:nvSpPr>
        <p:spPr>
          <a:xfrm>
            <a:off x="3048000" y="3241675"/>
            <a:ext cx="0" cy="374650"/>
          </a:xfrm>
          <a:prstGeom prst="line">
            <a:avLst/>
          </a:prstGeom>
          <a:ln w="50800" cap="flat" cmpd="sng">
            <a:solidFill>
              <a:schemeClr val="accent1"/>
            </a:solidFill>
            <a:prstDash val="solid"/>
            <a:round/>
            <a:headEnd type="none" w="med" len="med"/>
            <a:tailEnd type="none" w="med" len="med"/>
          </a:ln>
        </p:spPr>
      </p:sp>
      <p:sp>
        <p:nvSpPr>
          <p:cNvPr id="107559" name="直接连接符 247847"/>
          <p:cNvSpPr/>
          <p:nvPr/>
        </p:nvSpPr>
        <p:spPr>
          <a:xfrm flipV="1">
            <a:off x="2978150" y="3351213"/>
            <a:ext cx="139700" cy="155575"/>
          </a:xfrm>
          <a:prstGeom prst="line">
            <a:avLst/>
          </a:prstGeom>
          <a:ln w="12700" cap="flat" cmpd="sng">
            <a:solidFill>
              <a:schemeClr val="tx1"/>
            </a:solidFill>
            <a:prstDash val="solid"/>
            <a:round/>
            <a:headEnd type="none" w="med" len="med"/>
            <a:tailEnd type="none" w="med" len="med"/>
          </a:ln>
        </p:spPr>
      </p:sp>
      <p:sp>
        <p:nvSpPr>
          <p:cNvPr id="107560" name="矩形 247848"/>
          <p:cNvSpPr/>
          <p:nvPr/>
        </p:nvSpPr>
        <p:spPr>
          <a:xfrm>
            <a:off x="28051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5</a:t>
            </a:r>
            <a:endParaRPr lang="zh-CN" altLang="en-US" sz="1800" dirty="0">
              <a:latin typeface="Arial" panose="020B0604020202020204" pitchFamily="34" charset="0"/>
              <a:ea typeface="黑体" panose="02010609060101010101" pitchFamily="49" charset="-122"/>
            </a:endParaRPr>
          </a:p>
        </p:txBody>
      </p:sp>
      <p:sp>
        <p:nvSpPr>
          <p:cNvPr id="107561" name="直接连接符 247849"/>
          <p:cNvSpPr/>
          <p:nvPr/>
        </p:nvSpPr>
        <p:spPr>
          <a:xfrm>
            <a:off x="2209800" y="3028950"/>
            <a:ext cx="0" cy="587375"/>
          </a:xfrm>
          <a:prstGeom prst="line">
            <a:avLst/>
          </a:prstGeom>
          <a:ln w="50800" cap="flat" cmpd="sng">
            <a:solidFill>
              <a:schemeClr val="accent1"/>
            </a:solidFill>
            <a:prstDash val="solid"/>
            <a:round/>
            <a:headEnd type="none" w="med" len="med"/>
            <a:tailEnd type="none" w="med" len="med"/>
          </a:ln>
        </p:spPr>
      </p:sp>
      <p:sp>
        <p:nvSpPr>
          <p:cNvPr id="107562" name="直接连接符 247850"/>
          <p:cNvSpPr/>
          <p:nvPr/>
        </p:nvSpPr>
        <p:spPr>
          <a:xfrm flipV="1">
            <a:off x="2139950" y="3351213"/>
            <a:ext cx="139700" cy="155575"/>
          </a:xfrm>
          <a:prstGeom prst="line">
            <a:avLst/>
          </a:prstGeom>
          <a:ln w="12700" cap="flat" cmpd="sng">
            <a:solidFill>
              <a:schemeClr val="tx1"/>
            </a:solidFill>
            <a:prstDash val="solid"/>
            <a:round/>
            <a:headEnd type="none" w="med" len="med"/>
            <a:tailEnd type="none" w="med" len="med"/>
          </a:ln>
        </p:spPr>
      </p:sp>
      <p:sp>
        <p:nvSpPr>
          <p:cNvPr id="107563" name="矩形 247851"/>
          <p:cNvSpPr/>
          <p:nvPr/>
        </p:nvSpPr>
        <p:spPr>
          <a:xfrm>
            <a:off x="19415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5</a:t>
            </a:r>
            <a:endParaRPr lang="zh-CN" altLang="en-US" sz="1800" dirty="0">
              <a:latin typeface="Arial" panose="020B0604020202020204" pitchFamily="34" charset="0"/>
              <a:ea typeface="黑体" panose="02010609060101010101" pitchFamily="49" charset="-122"/>
            </a:endParaRPr>
          </a:p>
        </p:txBody>
      </p:sp>
      <p:sp>
        <p:nvSpPr>
          <p:cNvPr id="107564" name="直接连接符 247852"/>
          <p:cNvSpPr/>
          <p:nvPr/>
        </p:nvSpPr>
        <p:spPr>
          <a:xfrm>
            <a:off x="2590800" y="3241675"/>
            <a:ext cx="0" cy="374650"/>
          </a:xfrm>
          <a:prstGeom prst="line">
            <a:avLst/>
          </a:prstGeom>
          <a:ln w="50800" cap="flat" cmpd="sng">
            <a:solidFill>
              <a:schemeClr val="accent1"/>
            </a:solidFill>
            <a:prstDash val="solid"/>
            <a:round/>
            <a:headEnd type="none" w="med" len="med"/>
            <a:tailEnd type="none" w="med" len="med"/>
          </a:ln>
        </p:spPr>
      </p:sp>
      <p:sp>
        <p:nvSpPr>
          <p:cNvPr id="107565" name="直接连接符 247853"/>
          <p:cNvSpPr/>
          <p:nvPr/>
        </p:nvSpPr>
        <p:spPr>
          <a:xfrm flipV="1">
            <a:off x="2520950" y="3351213"/>
            <a:ext cx="139700" cy="155575"/>
          </a:xfrm>
          <a:prstGeom prst="line">
            <a:avLst/>
          </a:prstGeom>
          <a:ln w="12700" cap="flat" cmpd="sng">
            <a:solidFill>
              <a:schemeClr val="tx1"/>
            </a:solidFill>
            <a:prstDash val="solid"/>
            <a:round/>
            <a:headEnd type="none" w="med" len="med"/>
            <a:tailEnd type="none" w="med" len="med"/>
          </a:ln>
        </p:spPr>
      </p:sp>
      <p:sp>
        <p:nvSpPr>
          <p:cNvPr id="107566" name="矩形 247854"/>
          <p:cNvSpPr/>
          <p:nvPr/>
        </p:nvSpPr>
        <p:spPr>
          <a:xfrm>
            <a:off x="2347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5</a:t>
            </a:r>
            <a:endParaRPr lang="zh-CN" altLang="en-US" sz="1800" dirty="0">
              <a:latin typeface="Arial" panose="020B0604020202020204" pitchFamily="34" charset="0"/>
              <a:ea typeface="黑体" panose="02010609060101010101" pitchFamily="49" charset="-122"/>
            </a:endParaRPr>
          </a:p>
        </p:txBody>
      </p:sp>
      <p:sp>
        <p:nvSpPr>
          <p:cNvPr id="107567" name="矩形 247855"/>
          <p:cNvSpPr/>
          <p:nvPr/>
        </p:nvSpPr>
        <p:spPr>
          <a:xfrm>
            <a:off x="1966913" y="3640138"/>
            <a:ext cx="523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107568" name="矩形 247856"/>
          <p:cNvSpPr/>
          <p:nvPr/>
        </p:nvSpPr>
        <p:spPr>
          <a:xfrm>
            <a:off x="2424113" y="3640138"/>
            <a:ext cx="4730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107569" name="矩形 247857"/>
          <p:cNvSpPr/>
          <p:nvPr/>
        </p:nvSpPr>
        <p:spPr>
          <a:xfrm>
            <a:off x="2805113" y="3640138"/>
            <a:ext cx="4857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107570" name="矩形 247858"/>
          <p:cNvSpPr/>
          <p:nvPr/>
        </p:nvSpPr>
        <p:spPr>
          <a:xfrm>
            <a:off x="1966913" y="3924300"/>
            <a:ext cx="1222375" cy="63817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黑体" panose="02010609060101010101" pitchFamily="49" charset="-122"/>
              </a:rPr>
              <a:t>32-</a:t>
            </a:r>
            <a:r>
              <a:rPr lang="en-US" altLang="zh-CN" sz="1800">
                <a:latin typeface="Arial" panose="020B0604020202020204" pitchFamily="34" charset="0"/>
                <a:ea typeface="黑体" panose="02010609060101010101" pitchFamily="49" charset="-122"/>
              </a:rPr>
              <a:t>bit</a:t>
            </a:r>
            <a:endParaRPr lang="en-US" altLang="zh-CN" sz="1800">
              <a:latin typeface="Arial" panose="020B0604020202020204" pitchFamily="34" charset="0"/>
              <a:ea typeface="黑体" panose="02010609060101010101" pitchFamily="49" charset="-122"/>
            </a:endParaRPr>
          </a:p>
          <a:p>
            <a:pPr eaLnBrk="0" hangingPunct="0"/>
            <a:r>
              <a:rPr lang="en-US" altLang="zh-CN" sz="1800">
                <a:latin typeface="Arial" panose="020B0604020202020204" pitchFamily="34" charset="0"/>
                <a:ea typeface="黑体" panose="02010609060101010101" pitchFamily="49" charset="-122"/>
              </a:rPr>
              <a:t>Registers</a:t>
            </a:r>
            <a:endParaRPr lang="en-US" altLang="zh-CN" sz="1800">
              <a:latin typeface="Arial" panose="020B0604020202020204" pitchFamily="34" charset="0"/>
              <a:ea typeface="黑体" panose="02010609060101010101" pitchFamily="49" charset="-122"/>
            </a:endParaRPr>
          </a:p>
        </p:txBody>
      </p:sp>
      <p:sp>
        <p:nvSpPr>
          <p:cNvPr id="107571" name="直接连接符 247859"/>
          <p:cNvSpPr/>
          <p:nvPr/>
        </p:nvSpPr>
        <p:spPr>
          <a:xfrm flipH="1">
            <a:off x="736600" y="6172200"/>
            <a:ext cx="7823200" cy="0"/>
          </a:xfrm>
          <a:prstGeom prst="line">
            <a:avLst/>
          </a:prstGeom>
          <a:ln w="50800" cap="flat" cmpd="sng">
            <a:solidFill>
              <a:schemeClr val="accent1"/>
            </a:solidFill>
            <a:prstDash val="solid"/>
            <a:round/>
            <a:headEnd type="none" w="med" len="med"/>
            <a:tailEnd type="none" w="med" len="med"/>
          </a:ln>
        </p:spPr>
      </p:sp>
      <p:sp>
        <p:nvSpPr>
          <p:cNvPr id="107572" name="直接连接符 247860"/>
          <p:cNvSpPr/>
          <p:nvPr/>
        </p:nvSpPr>
        <p:spPr>
          <a:xfrm flipV="1">
            <a:off x="762000" y="4114800"/>
            <a:ext cx="0" cy="2082800"/>
          </a:xfrm>
          <a:prstGeom prst="line">
            <a:avLst/>
          </a:prstGeom>
          <a:ln w="50800" cap="flat" cmpd="sng">
            <a:solidFill>
              <a:schemeClr val="accent1"/>
            </a:solidFill>
            <a:prstDash val="solid"/>
            <a:round/>
            <a:headEnd type="none" w="med" len="med"/>
            <a:tailEnd type="none" w="med" len="med"/>
          </a:ln>
        </p:spPr>
      </p:sp>
      <p:sp>
        <p:nvSpPr>
          <p:cNvPr id="107573" name="矩形 247861"/>
          <p:cNvSpPr/>
          <p:nvPr/>
        </p:nvSpPr>
        <p:spPr>
          <a:xfrm>
            <a:off x="2576513" y="3000375"/>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Rs</a:t>
            </a:r>
            <a:endParaRPr lang="en-US" altLang="zh-CN" sz="1800">
              <a:latin typeface="Arial" panose="020B0604020202020204" pitchFamily="34" charset="0"/>
              <a:ea typeface="黑体" panose="02010609060101010101" pitchFamily="49" charset="-122"/>
            </a:endParaRPr>
          </a:p>
        </p:txBody>
      </p:sp>
      <p:sp>
        <p:nvSpPr>
          <p:cNvPr id="107574" name="矩形 247862"/>
          <p:cNvSpPr/>
          <p:nvPr/>
        </p:nvSpPr>
        <p:spPr>
          <a:xfrm>
            <a:off x="2347913" y="2360613"/>
            <a:ext cx="4222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Rt</a:t>
            </a:r>
            <a:endParaRPr lang="en-US" altLang="zh-CN" sz="1800">
              <a:latin typeface="Arial" panose="020B0604020202020204" pitchFamily="34" charset="0"/>
              <a:ea typeface="黑体" panose="02010609060101010101" pitchFamily="49" charset="-122"/>
            </a:endParaRPr>
          </a:p>
        </p:txBody>
      </p:sp>
      <p:grpSp>
        <p:nvGrpSpPr>
          <p:cNvPr id="107575" name="组合 247863"/>
          <p:cNvGrpSpPr/>
          <p:nvPr/>
        </p:nvGrpSpPr>
        <p:grpSpPr>
          <a:xfrm>
            <a:off x="4191000" y="4203700"/>
            <a:ext cx="304800" cy="1227138"/>
            <a:chOff x="2640" y="2648"/>
            <a:chExt cx="192" cy="773"/>
          </a:xfrm>
        </p:grpSpPr>
        <p:sp>
          <p:nvSpPr>
            <p:cNvPr id="107576" name="直接连接符 247864"/>
            <p:cNvSpPr/>
            <p:nvPr/>
          </p:nvSpPr>
          <p:spPr>
            <a:xfrm>
              <a:off x="2640" y="2648"/>
              <a:ext cx="0" cy="757"/>
            </a:xfrm>
            <a:prstGeom prst="line">
              <a:avLst/>
            </a:prstGeom>
            <a:ln w="25400" cap="flat" cmpd="sng">
              <a:solidFill>
                <a:schemeClr val="tx1"/>
              </a:solidFill>
              <a:prstDash val="solid"/>
              <a:round/>
              <a:headEnd type="none" w="med" len="med"/>
              <a:tailEnd type="none" w="med" len="med"/>
            </a:ln>
          </p:spPr>
        </p:sp>
        <p:sp>
          <p:nvSpPr>
            <p:cNvPr id="107577" name="直接连接符 247865"/>
            <p:cNvSpPr/>
            <p:nvPr/>
          </p:nvSpPr>
          <p:spPr>
            <a:xfrm>
              <a:off x="2648" y="2648"/>
              <a:ext cx="176" cy="86"/>
            </a:xfrm>
            <a:prstGeom prst="line">
              <a:avLst/>
            </a:prstGeom>
            <a:ln w="25400" cap="flat" cmpd="sng">
              <a:solidFill>
                <a:schemeClr val="tx1"/>
              </a:solidFill>
              <a:prstDash val="solid"/>
              <a:round/>
              <a:headEnd type="none" w="med" len="med"/>
              <a:tailEnd type="none" w="med" len="med"/>
            </a:ln>
          </p:spPr>
        </p:sp>
        <p:sp>
          <p:nvSpPr>
            <p:cNvPr id="107578" name="直接连接符 247866"/>
            <p:cNvSpPr/>
            <p:nvPr/>
          </p:nvSpPr>
          <p:spPr>
            <a:xfrm flipV="1">
              <a:off x="2648" y="3303"/>
              <a:ext cx="176" cy="118"/>
            </a:xfrm>
            <a:prstGeom prst="line">
              <a:avLst/>
            </a:prstGeom>
            <a:ln w="25400" cap="flat" cmpd="sng">
              <a:solidFill>
                <a:schemeClr val="tx1"/>
              </a:solidFill>
              <a:prstDash val="solid"/>
              <a:round/>
              <a:headEnd type="none" w="med" len="med"/>
              <a:tailEnd type="none" w="med" len="med"/>
            </a:ln>
          </p:spPr>
        </p:sp>
        <p:sp>
          <p:nvSpPr>
            <p:cNvPr id="107579" name="直接连接符 247867"/>
            <p:cNvSpPr/>
            <p:nvPr/>
          </p:nvSpPr>
          <p:spPr>
            <a:xfrm>
              <a:off x="2832" y="2750"/>
              <a:ext cx="0" cy="553"/>
            </a:xfrm>
            <a:prstGeom prst="line">
              <a:avLst/>
            </a:prstGeom>
            <a:ln w="25400" cap="flat" cmpd="sng">
              <a:solidFill>
                <a:schemeClr val="tx1"/>
              </a:solidFill>
              <a:prstDash val="solid"/>
              <a:round/>
              <a:headEnd type="none" w="med" len="med"/>
              <a:tailEnd type="none" w="med" len="med"/>
            </a:ln>
          </p:spPr>
        </p:sp>
      </p:grpSp>
      <p:grpSp>
        <p:nvGrpSpPr>
          <p:cNvPr id="107580" name="组合 247868"/>
          <p:cNvGrpSpPr/>
          <p:nvPr/>
        </p:nvGrpSpPr>
        <p:grpSpPr>
          <a:xfrm>
            <a:off x="1473200" y="2754313"/>
            <a:ext cx="1168400" cy="284162"/>
            <a:chOff x="928" y="1735"/>
            <a:chExt cx="736" cy="179"/>
          </a:xfrm>
        </p:grpSpPr>
        <p:sp>
          <p:nvSpPr>
            <p:cNvPr id="107581" name="直接连接符 247869"/>
            <p:cNvSpPr/>
            <p:nvPr/>
          </p:nvSpPr>
          <p:spPr>
            <a:xfrm flipH="1">
              <a:off x="928" y="1735"/>
              <a:ext cx="736" cy="0"/>
            </a:xfrm>
            <a:prstGeom prst="line">
              <a:avLst/>
            </a:prstGeom>
            <a:ln w="25400" cap="flat" cmpd="sng">
              <a:solidFill>
                <a:schemeClr val="tx1"/>
              </a:solidFill>
              <a:prstDash val="solid"/>
              <a:round/>
              <a:headEnd type="none" w="med" len="med"/>
              <a:tailEnd type="none" w="med" len="med"/>
            </a:ln>
          </p:spPr>
        </p:sp>
        <p:sp>
          <p:nvSpPr>
            <p:cNvPr id="107582" name="直接连接符 247870"/>
            <p:cNvSpPr/>
            <p:nvPr/>
          </p:nvSpPr>
          <p:spPr>
            <a:xfrm flipH="1">
              <a:off x="1552" y="1743"/>
              <a:ext cx="112" cy="163"/>
            </a:xfrm>
            <a:prstGeom prst="line">
              <a:avLst/>
            </a:prstGeom>
            <a:ln w="25400" cap="flat" cmpd="sng">
              <a:solidFill>
                <a:schemeClr val="tx1"/>
              </a:solidFill>
              <a:prstDash val="solid"/>
              <a:round/>
              <a:headEnd type="none" w="med" len="med"/>
              <a:tailEnd type="none" w="med" len="med"/>
            </a:ln>
          </p:spPr>
        </p:sp>
        <p:sp>
          <p:nvSpPr>
            <p:cNvPr id="107583" name="直接连接符 247871"/>
            <p:cNvSpPr/>
            <p:nvPr/>
          </p:nvSpPr>
          <p:spPr>
            <a:xfrm>
              <a:off x="944" y="1743"/>
              <a:ext cx="80" cy="163"/>
            </a:xfrm>
            <a:prstGeom prst="line">
              <a:avLst/>
            </a:prstGeom>
            <a:ln w="25400" cap="flat" cmpd="sng">
              <a:solidFill>
                <a:schemeClr val="tx1"/>
              </a:solidFill>
              <a:prstDash val="solid"/>
              <a:round/>
              <a:headEnd type="none" w="med" len="med"/>
              <a:tailEnd type="none" w="med" len="med"/>
            </a:ln>
          </p:spPr>
        </p:sp>
        <p:sp>
          <p:nvSpPr>
            <p:cNvPr id="107584" name="直接连接符 247872"/>
            <p:cNvSpPr/>
            <p:nvPr/>
          </p:nvSpPr>
          <p:spPr>
            <a:xfrm flipH="1">
              <a:off x="1024" y="1914"/>
              <a:ext cx="544" cy="0"/>
            </a:xfrm>
            <a:prstGeom prst="line">
              <a:avLst/>
            </a:prstGeom>
            <a:ln w="25400" cap="flat" cmpd="sng">
              <a:solidFill>
                <a:schemeClr val="tx1"/>
              </a:solidFill>
              <a:prstDash val="solid"/>
              <a:round/>
              <a:headEnd type="none" w="med" len="med"/>
              <a:tailEnd type="none" w="med" len="med"/>
            </a:ln>
          </p:spPr>
        </p:sp>
      </p:grpSp>
      <p:sp>
        <p:nvSpPr>
          <p:cNvPr id="107585" name="矩形 247873"/>
          <p:cNvSpPr/>
          <p:nvPr/>
        </p:nvSpPr>
        <p:spPr>
          <a:xfrm>
            <a:off x="2986088" y="3000375"/>
            <a:ext cx="422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黑体" panose="02010609060101010101" pitchFamily="49" charset="-122"/>
              </a:rPr>
              <a:t>Rt</a:t>
            </a:r>
            <a:endParaRPr lang="en-US" altLang="zh-CN" sz="1800">
              <a:latin typeface="Arial" panose="020B0604020202020204" pitchFamily="34" charset="0"/>
              <a:ea typeface="黑体" panose="02010609060101010101" pitchFamily="49" charset="-122"/>
            </a:endParaRPr>
          </a:p>
        </p:txBody>
      </p:sp>
      <p:sp>
        <p:nvSpPr>
          <p:cNvPr id="107586" name="直接连接符 247874"/>
          <p:cNvSpPr/>
          <p:nvPr/>
        </p:nvSpPr>
        <p:spPr>
          <a:xfrm>
            <a:off x="2362200" y="2517775"/>
            <a:ext cx="0" cy="188913"/>
          </a:xfrm>
          <a:prstGeom prst="line">
            <a:avLst/>
          </a:prstGeom>
          <a:ln w="25400" cap="flat" cmpd="sng">
            <a:solidFill>
              <a:schemeClr val="tx1"/>
            </a:solidFill>
            <a:prstDash val="solid"/>
            <a:round/>
            <a:headEnd type="none" w="med" len="med"/>
            <a:tailEnd type="none" w="med" len="med"/>
          </a:ln>
        </p:spPr>
      </p:sp>
      <p:sp>
        <p:nvSpPr>
          <p:cNvPr id="107587" name="直接连接符 247875"/>
          <p:cNvSpPr/>
          <p:nvPr/>
        </p:nvSpPr>
        <p:spPr>
          <a:xfrm>
            <a:off x="1752600" y="2530475"/>
            <a:ext cx="0" cy="163513"/>
          </a:xfrm>
          <a:prstGeom prst="line">
            <a:avLst/>
          </a:prstGeom>
          <a:ln w="50800" cap="flat" cmpd="sng">
            <a:solidFill>
              <a:schemeClr val="accent1"/>
            </a:solidFill>
            <a:prstDash val="solid"/>
            <a:round/>
            <a:headEnd type="none" w="med" len="med"/>
            <a:tailEnd type="none" w="med" len="med"/>
          </a:ln>
        </p:spPr>
      </p:sp>
      <p:sp>
        <p:nvSpPr>
          <p:cNvPr id="107588" name="矩形 247876"/>
          <p:cNvSpPr/>
          <p:nvPr/>
        </p:nvSpPr>
        <p:spPr>
          <a:xfrm>
            <a:off x="1738313" y="2360613"/>
            <a:ext cx="4857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Rd</a:t>
            </a:r>
            <a:endParaRPr lang="en-US" altLang="zh-CN" sz="1800">
              <a:latin typeface="Arial" panose="020B0604020202020204" pitchFamily="34" charset="0"/>
              <a:ea typeface="黑体" panose="02010609060101010101" pitchFamily="49" charset="-122"/>
            </a:endParaRPr>
          </a:p>
        </p:txBody>
      </p:sp>
      <p:grpSp>
        <p:nvGrpSpPr>
          <p:cNvPr id="247878" name="组合 247877"/>
          <p:cNvGrpSpPr/>
          <p:nvPr/>
        </p:nvGrpSpPr>
        <p:grpSpPr>
          <a:xfrm>
            <a:off x="1054100" y="2895600"/>
            <a:ext cx="850900" cy="758825"/>
            <a:chOff x="664" y="1824"/>
            <a:chExt cx="536" cy="478"/>
          </a:xfrm>
        </p:grpSpPr>
        <p:sp>
          <p:nvSpPr>
            <p:cNvPr id="107590" name="直接连接符 247878"/>
            <p:cNvSpPr/>
            <p:nvPr/>
          </p:nvSpPr>
          <p:spPr>
            <a:xfrm flipV="1">
              <a:off x="1200" y="2152"/>
              <a:ext cx="0" cy="150"/>
            </a:xfrm>
            <a:prstGeom prst="line">
              <a:avLst/>
            </a:prstGeom>
            <a:ln w="25400" cap="flat" cmpd="sng">
              <a:solidFill>
                <a:srgbClr val="0000FF"/>
              </a:solidFill>
              <a:prstDash val="solid"/>
              <a:round/>
              <a:headEnd type="none" w="med" len="med"/>
              <a:tailEnd type="none" w="med" len="med"/>
            </a:ln>
          </p:spPr>
        </p:sp>
        <p:sp>
          <p:nvSpPr>
            <p:cNvPr id="107591" name="直接连接符 247879"/>
            <p:cNvSpPr/>
            <p:nvPr/>
          </p:nvSpPr>
          <p:spPr>
            <a:xfrm flipH="1">
              <a:off x="664" y="1824"/>
              <a:ext cx="352" cy="0"/>
            </a:xfrm>
            <a:prstGeom prst="line">
              <a:avLst/>
            </a:prstGeom>
            <a:ln w="25400" cap="flat" cmpd="sng">
              <a:solidFill>
                <a:srgbClr val="0000FF"/>
              </a:solidFill>
              <a:prstDash val="solid"/>
              <a:round/>
              <a:headEnd type="triangle" w="med" len="med"/>
              <a:tailEnd type="none" w="med" len="med"/>
            </a:ln>
          </p:spPr>
        </p:sp>
      </p:grpSp>
      <p:sp>
        <p:nvSpPr>
          <p:cNvPr id="107592" name="矩形 247880"/>
          <p:cNvSpPr/>
          <p:nvPr/>
        </p:nvSpPr>
        <p:spPr>
          <a:xfrm>
            <a:off x="163513" y="2540000"/>
            <a:ext cx="1355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RegDst</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7593" name="矩形 247881"/>
          <p:cNvSpPr/>
          <p:nvPr/>
        </p:nvSpPr>
        <p:spPr>
          <a:xfrm>
            <a:off x="3136900" y="48895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594" name="矩形 247882"/>
          <p:cNvSpPr/>
          <p:nvPr/>
        </p:nvSpPr>
        <p:spPr>
          <a:xfrm rot="5400000">
            <a:off x="3011488" y="5195888"/>
            <a:ext cx="5365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Ext</a:t>
            </a:r>
            <a:endParaRPr lang="en-US" altLang="zh-CN" sz="1800">
              <a:latin typeface="Arial" panose="020B0604020202020204" pitchFamily="34" charset="0"/>
              <a:ea typeface="黑体" panose="02010609060101010101" pitchFamily="49" charset="-122"/>
            </a:endParaRPr>
          </a:p>
        </p:txBody>
      </p:sp>
      <p:sp>
        <p:nvSpPr>
          <p:cNvPr id="107595" name="矩形 247883"/>
          <p:cNvSpPr/>
          <p:nvPr/>
        </p:nvSpPr>
        <p:spPr>
          <a:xfrm rot="5400000">
            <a:off x="3975100" y="4613275"/>
            <a:ext cx="638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07596" name="矩形 247884"/>
          <p:cNvSpPr/>
          <p:nvPr/>
        </p:nvSpPr>
        <p:spPr>
          <a:xfrm>
            <a:off x="1776413" y="2700338"/>
            <a:ext cx="6381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Mux</a:t>
            </a:r>
            <a:endParaRPr lang="en-US" altLang="zh-CN" sz="1800">
              <a:latin typeface="Arial" panose="020B0604020202020204" pitchFamily="34" charset="0"/>
              <a:ea typeface="黑体" panose="02010609060101010101" pitchFamily="49" charset="-122"/>
            </a:endParaRPr>
          </a:p>
        </p:txBody>
      </p:sp>
      <p:sp>
        <p:nvSpPr>
          <p:cNvPr id="107597" name="直接连接符 247885"/>
          <p:cNvSpPr/>
          <p:nvPr/>
        </p:nvSpPr>
        <p:spPr>
          <a:xfrm>
            <a:off x="3517900" y="5276850"/>
            <a:ext cx="660400" cy="0"/>
          </a:xfrm>
          <a:prstGeom prst="line">
            <a:avLst/>
          </a:prstGeom>
          <a:ln w="25400" cap="flat" cmpd="sng">
            <a:solidFill>
              <a:schemeClr val="tx1"/>
            </a:solidFill>
            <a:prstDash val="solid"/>
            <a:round/>
            <a:headEnd type="none" w="med" len="med"/>
            <a:tailEnd type="triangle" w="med" len="med"/>
          </a:ln>
        </p:spPr>
      </p:sp>
      <p:sp>
        <p:nvSpPr>
          <p:cNvPr id="107598" name="矩形 247886"/>
          <p:cNvSpPr/>
          <p:nvPr/>
        </p:nvSpPr>
        <p:spPr>
          <a:xfrm>
            <a:off x="3509963" y="5308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endParaRPr lang="zh-CN" altLang="en-US" sz="1800" dirty="0">
              <a:latin typeface="Arial" panose="020B0604020202020204" pitchFamily="34" charset="0"/>
              <a:ea typeface="黑体" panose="02010609060101010101" pitchFamily="49" charset="-122"/>
            </a:endParaRPr>
          </a:p>
        </p:txBody>
      </p:sp>
      <p:sp>
        <p:nvSpPr>
          <p:cNvPr id="107599" name="直接连接符 247887"/>
          <p:cNvSpPr/>
          <p:nvPr/>
        </p:nvSpPr>
        <p:spPr>
          <a:xfrm flipH="1">
            <a:off x="3803650" y="5211763"/>
            <a:ext cx="88900" cy="130175"/>
          </a:xfrm>
          <a:prstGeom prst="line">
            <a:avLst/>
          </a:prstGeom>
          <a:ln w="12700" cap="flat" cmpd="sng">
            <a:solidFill>
              <a:schemeClr val="tx1"/>
            </a:solidFill>
            <a:prstDash val="solid"/>
            <a:round/>
            <a:headEnd type="none" w="med" len="med"/>
            <a:tailEnd type="none" w="med" len="med"/>
          </a:ln>
        </p:spPr>
      </p:sp>
      <p:sp>
        <p:nvSpPr>
          <p:cNvPr id="107600" name="直接连接符 247888"/>
          <p:cNvSpPr/>
          <p:nvPr/>
        </p:nvSpPr>
        <p:spPr>
          <a:xfrm>
            <a:off x="2146300" y="5418138"/>
            <a:ext cx="965200" cy="0"/>
          </a:xfrm>
          <a:prstGeom prst="line">
            <a:avLst/>
          </a:prstGeom>
          <a:ln w="25400" cap="flat" cmpd="sng">
            <a:solidFill>
              <a:schemeClr val="tx1"/>
            </a:solidFill>
            <a:prstDash val="solid"/>
            <a:round/>
            <a:headEnd type="none" w="med" len="med"/>
            <a:tailEnd type="triangle" w="med" len="med"/>
          </a:ln>
        </p:spPr>
      </p:sp>
      <p:sp>
        <p:nvSpPr>
          <p:cNvPr id="107601" name="直接连接符 247889"/>
          <p:cNvSpPr/>
          <p:nvPr/>
        </p:nvSpPr>
        <p:spPr>
          <a:xfrm flipH="1">
            <a:off x="2584450" y="5354638"/>
            <a:ext cx="88900" cy="128587"/>
          </a:xfrm>
          <a:prstGeom prst="line">
            <a:avLst/>
          </a:prstGeom>
          <a:ln w="12700" cap="flat" cmpd="sng">
            <a:solidFill>
              <a:schemeClr val="tx1"/>
            </a:solidFill>
            <a:prstDash val="solid"/>
            <a:round/>
            <a:headEnd type="none" w="med" len="med"/>
            <a:tailEnd type="none" w="med" len="med"/>
          </a:ln>
        </p:spPr>
      </p:sp>
      <p:sp>
        <p:nvSpPr>
          <p:cNvPr id="107602" name="矩形 247890"/>
          <p:cNvSpPr/>
          <p:nvPr/>
        </p:nvSpPr>
        <p:spPr>
          <a:xfrm>
            <a:off x="2271713" y="54149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16</a:t>
            </a:r>
            <a:endParaRPr lang="zh-CN" altLang="en-US" sz="1800" dirty="0">
              <a:latin typeface="Arial" panose="020B0604020202020204" pitchFamily="34" charset="0"/>
              <a:ea typeface="黑体" panose="02010609060101010101" pitchFamily="49" charset="-122"/>
            </a:endParaRPr>
          </a:p>
        </p:txBody>
      </p:sp>
      <p:sp>
        <p:nvSpPr>
          <p:cNvPr id="107603" name="矩形 247891"/>
          <p:cNvSpPr/>
          <p:nvPr/>
        </p:nvSpPr>
        <p:spPr>
          <a:xfrm>
            <a:off x="1204913" y="5260975"/>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imm16</a:t>
            </a:r>
            <a:endParaRPr lang="en-US" altLang="zh-CN" sz="1800">
              <a:latin typeface="Arial" panose="020B0604020202020204" pitchFamily="34" charset="0"/>
              <a:ea typeface="黑体" panose="02010609060101010101" pitchFamily="49" charset="-122"/>
            </a:endParaRPr>
          </a:p>
        </p:txBody>
      </p:sp>
      <p:sp>
        <p:nvSpPr>
          <p:cNvPr id="107604" name="直接连接符 247892"/>
          <p:cNvSpPr/>
          <p:nvPr/>
        </p:nvSpPr>
        <p:spPr>
          <a:xfrm>
            <a:off x="4343400" y="5360988"/>
            <a:ext cx="0" cy="400050"/>
          </a:xfrm>
          <a:prstGeom prst="line">
            <a:avLst/>
          </a:prstGeom>
          <a:ln w="25400" cap="flat" cmpd="sng">
            <a:solidFill>
              <a:schemeClr val="tx1"/>
            </a:solidFill>
            <a:prstDash val="solid"/>
            <a:round/>
            <a:headEnd type="triangle" w="med" len="med"/>
            <a:tailEnd type="none" w="med" len="med"/>
          </a:ln>
        </p:spPr>
      </p:sp>
      <p:sp>
        <p:nvSpPr>
          <p:cNvPr id="107605" name="矩形 247893"/>
          <p:cNvSpPr/>
          <p:nvPr/>
        </p:nvSpPr>
        <p:spPr>
          <a:xfrm>
            <a:off x="3948113" y="5781675"/>
            <a:ext cx="13938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ALUSrc</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7606" name="直接连接符 247894"/>
          <p:cNvSpPr/>
          <p:nvPr/>
        </p:nvSpPr>
        <p:spPr>
          <a:xfrm>
            <a:off x="4521200" y="4637088"/>
            <a:ext cx="482600" cy="0"/>
          </a:xfrm>
          <a:prstGeom prst="line">
            <a:avLst/>
          </a:prstGeom>
          <a:ln w="50800" cap="flat" cmpd="sng">
            <a:solidFill>
              <a:schemeClr val="accent1"/>
            </a:solidFill>
            <a:prstDash val="solid"/>
            <a:round/>
            <a:headEnd type="none" w="med" len="med"/>
            <a:tailEnd type="triangle" w="med" len="med"/>
          </a:ln>
        </p:spPr>
      </p:sp>
      <p:sp>
        <p:nvSpPr>
          <p:cNvPr id="107607" name="直接连接符 247895"/>
          <p:cNvSpPr/>
          <p:nvPr/>
        </p:nvSpPr>
        <p:spPr>
          <a:xfrm>
            <a:off x="8534400" y="4519613"/>
            <a:ext cx="0" cy="1627187"/>
          </a:xfrm>
          <a:prstGeom prst="line">
            <a:avLst/>
          </a:prstGeom>
          <a:ln w="50800" cap="flat" cmpd="sng">
            <a:solidFill>
              <a:schemeClr val="accent1"/>
            </a:solidFill>
            <a:prstDash val="solid"/>
            <a:round/>
            <a:headEnd type="none" w="med" len="med"/>
            <a:tailEnd type="none" w="med" len="med"/>
          </a:ln>
        </p:spPr>
      </p:sp>
      <p:sp>
        <p:nvSpPr>
          <p:cNvPr id="107608" name="直接连接符 247896"/>
          <p:cNvSpPr/>
          <p:nvPr/>
        </p:nvSpPr>
        <p:spPr>
          <a:xfrm>
            <a:off x="3352800" y="5862638"/>
            <a:ext cx="0" cy="471487"/>
          </a:xfrm>
          <a:prstGeom prst="line">
            <a:avLst/>
          </a:prstGeom>
          <a:ln w="25400" cap="flat" cmpd="sng">
            <a:solidFill>
              <a:schemeClr val="tx1"/>
            </a:solidFill>
            <a:prstDash val="solid"/>
            <a:round/>
            <a:headEnd type="triangle" w="med" len="med"/>
            <a:tailEnd type="none" w="med" len="med"/>
          </a:ln>
        </p:spPr>
      </p:sp>
      <p:sp>
        <p:nvSpPr>
          <p:cNvPr id="107609" name="矩形 247897"/>
          <p:cNvSpPr/>
          <p:nvPr/>
        </p:nvSpPr>
        <p:spPr>
          <a:xfrm>
            <a:off x="2347913" y="6191250"/>
            <a:ext cx="1228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ExtOp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x</a:t>
            </a:r>
            <a:endParaRPr lang="en-US" altLang="zh-CN" sz="1800" u="sng">
              <a:solidFill>
                <a:schemeClr val="accent1"/>
              </a:solidFill>
              <a:latin typeface="Arial" panose="020B0604020202020204" pitchFamily="34" charset="0"/>
              <a:ea typeface="宋体" panose="02010600030101010101" pitchFamily="2" charset="-122"/>
            </a:endParaRPr>
          </a:p>
        </p:txBody>
      </p:sp>
      <p:grpSp>
        <p:nvGrpSpPr>
          <p:cNvPr id="107610" name="组合 247898"/>
          <p:cNvGrpSpPr/>
          <p:nvPr/>
        </p:nvGrpSpPr>
        <p:grpSpPr>
          <a:xfrm>
            <a:off x="7772400" y="3938588"/>
            <a:ext cx="304800" cy="1255712"/>
            <a:chOff x="4896" y="2481"/>
            <a:chExt cx="192" cy="791"/>
          </a:xfrm>
        </p:grpSpPr>
        <p:sp>
          <p:nvSpPr>
            <p:cNvPr id="107611" name="直接连接符 247899"/>
            <p:cNvSpPr/>
            <p:nvPr/>
          </p:nvSpPr>
          <p:spPr>
            <a:xfrm>
              <a:off x="4896" y="2481"/>
              <a:ext cx="0" cy="775"/>
            </a:xfrm>
            <a:prstGeom prst="line">
              <a:avLst/>
            </a:prstGeom>
            <a:ln w="25400" cap="flat" cmpd="sng">
              <a:solidFill>
                <a:schemeClr val="tx1"/>
              </a:solidFill>
              <a:prstDash val="solid"/>
              <a:round/>
              <a:headEnd type="none" w="med" len="med"/>
              <a:tailEnd type="none" w="med" len="med"/>
            </a:ln>
          </p:spPr>
        </p:sp>
        <p:sp>
          <p:nvSpPr>
            <p:cNvPr id="107612" name="直接连接符 247900"/>
            <p:cNvSpPr/>
            <p:nvPr/>
          </p:nvSpPr>
          <p:spPr>
            <a:xfrm>
              <a:off x="4904" y="2481"/>
              <a:ext cx="176" cy="90"/>
            </a:xfrm>
            <a:prstGeom prst="line">
              <a:avLst/>
            </a:prstGeom>
            <a:ln w="25400" cap="flat" cmpd="sng">
              <a:solidFill>
                <a:schemeClr val="tx1"/>
              </a:solidFill>
              <a:prstDash val="solid"/>
              <a:round/>
              <a:headEnd type="none" w="med" len="med"/>
              <a:tailEnd type="none" w="med" len="med"/>
            </a:ln>
          </p:spPr>
        </p:sp>
        <p:sp>
          <p:nvSpPr>
            <p:cNvPr id="107613" name="直接连接符 247901"/>
            <p:cNvSpPr/>
            <p:nvPr/>
          </p:nvSpPr>
          <p:spPr>
            <a:xfrm flipV="1">
              <a:off x="4904" y="3150"/>
              <a:ext cx="176" cy="122"/>
            </a:xfrm>
            <a:prstGeom prst="line">
              <a:avLst/>
            </a:prstGeom>
            <a:ln w="25400" cap="flat" cmpd="sng">
              <a:solidFill>
                <a:schemeClr val="tx1"/>
              </a:solidFill>
              <a:prstDash val="solid"/>
              <a:round/>
              <a:headEnd type="none" w="med" len="med"/>
              <a:tailEnd type="none" w="med" len="med"/>
            </a:ln>
          </p:spPr>
        </p:sp>
        <p:sp>
          <p:nvSpPr>
            <p:cNvPr id="107614" name="直接连接符 247902"/>
            <p:cNvSpPr/>
            <p:nvPr/>
          </p:nvSpPr>
          <p:spPr>
            <a:xfrm>
              <a:off x="5088" y="2587"/>
              <a:ext cx="0" cy="563"/>
            </a:xfrm>
            <a:prstGeom prst="line">
              <a:avLst/>
            </a:prstGeom>
            <a:ln w="25400" cap="flat" cmpd="sng">
              <a:solidFill>
                <a:schemeClr val="tx1"/>
              </a:solidFill>
              <a:prstDash val="solid"/>
              <a:round/>
              <a:headEnd type="none" w="med" len="med"/>
              <a:tailEnd type="none" w="med" len="med"/>
            </a:ln>
          </p:spPr>
        </p:sp>
      </p:grpSp>
      <p:sp>
        <p:nvSpPr>
          <p:cNvPr id="107615" name="矩形 247903"/>
          <p:cNvSpPr/>
          <p:nvPr/>
        </p:nvSpPr>
        <p:spPr>
          <a:xfrm rot="5400000">
            <a:off x="7542213" y="4471988"/>
            <a:ext cx="638175" cy="365125"/>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Mux</a:t>
            </a:r>
            <a:endParaRPr lang="en-US" altLang="zh-CN" sz="1800">
              <a:latin typeface="Arial" panose="020B0604020202020204" pitchFamily="34" charset="0"/>
              <a:ea typeface="黑体" panose="02010609060101010101" pitchFamily="49" charset="-122"/>
            </a:endParaRPr>
          </a:p>
        </p:txBody>
      </p:sp>
      <p:sp>
        <p:nvSpPr>
          <p:cNvPr id="107616" name="直接连接符 247904"/>
          <p:cNvSpPr/>
          <p:nvPr/>
        </p:nvSpPr>
        <p:spPr>
          <a:xfrm flipV="1">
            <a:off x="7924800" y="3559175"/>
            <a:ext cx="0" cy="450850"/>
          </a:xfrm>
          <a:prstGeom prst="line">
            <a:avLst/>
          </a:prstGeom>
          <a:ln w="25400" cap="flat" cmpd="sng">
            <a:solidFill>
              <a:schemeClr val="tx1"/>
            </a:solidFill>
            <a:prstDash val="solid"/>
            <a:round/>
            <a:headEnd type="triangle" w="med" len="med"/>
            <a:tailEnd type="none" w="med" len="med"/>
          </a:ln>
        </p:spPr>
      </p:sp>
      <p:sp>
        <p:nvSpPr>
          <p:cNvPr id="107617" name="矩形 247905"/>
          <p:cNvSpPr/>
          <p:nvPr/>
        </p:nvSpPr>
        <p:spPr>
          <a:xfrm>
            <a:off x="7377113" y="3284538"/>
            <a:ext cx="17367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MemtoReg</a:t>
            </a:r>
            <a:r>
              <a:rPr lang="en-US" altLang="zh-CN" sz="1800" u="sng">
                <a:solidFill>
                  <a:schemeClr val="accent1"/>
                </a:solidFill>
                <a:latin typeface="Arial" panose="020B0604020202020204" pitchFamily="34" charset="0"/>
                <a:ea typeface="宋体" panose="02010600030101010101" pitchFamily="2" charset="-122"/>
              </a:rPr>
              <a:t> =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7618" name="直接连接符 247906"/>
          <p:cNvSpPr/>
          <p:nvPr/>
        </p:nvSpPr>
        <p:spPr>
          <a:xfrm>
            <a:off x="8102600" y="4494213"/>
            <a:ext cx="406400" cy="0"/>
          </a:xfrm>
          <a:prstGeom prst="line">
            <a:avLst/>
          </a:prstGeom>
          <a:ln w="50800" cap="flat" cmpd="sng">
            <a:solidFill>
              <a:schemeClr val="accent1"/>
            </a:solidFill>
            <a:prstDash val="solid"/>
            <a:round/>
            <a:headEnd type="none" w="med" len="med"/>
            <a:tailEnd type="none" w="med" len="med"/>
          </a:ln>
        </p:spPr>
      </p:sp>
      <p:sp>
        <p:nvSpPr>
          <p:cNvPr id="107619" name="矩形 247907"/>
          <p:cNvSpPr/>
          <p:nvPr/>
        </p:nvSpPr>
        <p:spPr>
          <a:xfrm>
            <a:off x="6022975" y="4862513"/>
            <a:ext cx="1127125" cy="112871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20" name="直接连接符 247908"/>
          <p:cNvSpPr/>
          <p:nvPr/>
        </p:nvSpPr>
        <p:spPr>
          <a:xfrm flipH="1">
            <a:off x="5397500" y="5845175"/>
            <a:ext cx="482600" cy="0"/>
          </a:xfrm>
          <a:prstGeom prst="line">
            <a:avLst/>
          </a:prstGeom>
          <a:ln w="25400" cap="flat" cmpd="sng">
            <a:solidFill>
              <a:schemeClr val="tx1"/>
            </a:solidFill>
            <a:prstDash val="solid"/>
            <a:round/>
            <a:headEnd type="none" w="med" len="med"/>
            <a:tailEnd type="none" w="med" len="med"/>
          </a:ln>
        </p:spPr>
      </p:sp>
      <p:sp>
        <p:nvSpPr>
          <p:cNvPr id="107621" name="矩形 247909"/>
          <p:cNvSpPr/>
          <p:nvPr/>
        </p:nvSpPr>
        <p:spPr>
          <a:xfrm>
            <a:off x="5329238" y="5565775"/>
            <a:ext cx="53657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rgbClr val="A50021"/>
                </a:solidFill>
                <a:latin typeface="Arial" panose="020B0604020202020204" pitchFamily="34" charset="0"/>
                <a:ea typeface="宋体" panose="02010600030101010101" pitchFamily="2" charset="-122"/>
              </a:rPr>
              <a:t>Clk</a:t>
            </a:r>
            <a:endParaRPr lang="en-US" altLang="zh-CN" sz="1800" u="sng">
              <a:solidFill>
                <a:srgbClr val="A50021"/>
              </a:solidFill>
              <a:latin typeface="Arial" panose="020B0604020202020204" pitchFamily="34" charset="0"/>
              <a:ea typeface="宋体" panose="02010600030101010101" pitchFamily="2" charset="-122"/>
            </a:endParaRPr>
          </a:p>
        </p:txBody>
      </p:sp>
      <p:sp>
        <p:nvSpPr>
          <p:cNvPr id="107622" name="矩形 247910"/>
          <p:cNvSpPr/>
          <p:nvPr/>
        </p:nvSpPr>
        <p:spPr>
          <a:xfrm>
            <a:off x="4468813" y="5060950"/>
            <a:ext cx="9302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Data</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黑体" panose="02010609060101010101" pitchFamily="49" charset="-122"/>
              </a:rPr>
              <a:t>In</a:t>
            </a:r>
            <a:endParaRPr lang="en-US" altLang="zh-CN" sz="1800">
              <a:latin typeface="Arial" panose="020B0604020202020204" pitchFamily="34" charset="0"/>
              <a:ea typeface="黑体" panose="02010609060101010101" pitchFamily="49" charset="-122"/>
            </a:endParaRPr>
          </a:p>
        </p:txBody>
      </p:sp>
      <p:sp>
        <p:nvSpPr>
          <p:cNvPr id="107623" name="直接连接符 247911"/>
          <p:cNvSpPr/>
          <p:nvPr/>
        </p:nvSpPr>
        <p:spPr>
          <a:xfrm>
            <a:off x="6061075" y="5768975"/>
            <a:ext cx="250825" cy="63500"/>
          </a:xfrm>
          <a:prstGeom prst="line">
            <a:avLst/>
          </a:prstGeom>
          <a:ln w="25400" cap="flat" cmpd="sng">
            <a:solidFill>
              <a:schemeClr val="tx1"/>
            </a:solidFill>
            <a:prstDash val="solid"/>
            <a:round/>
            <a:headEnd type="none" w="med" len="med"/>
            <a:tailEnd type="none" w="med" len="med"/>
          </a:ln>
        </p:spPr>
      </p:sp>
      <p:sp>
        <p:nvSpPr>
          <p:cNvPr id="107624" name="直接连接符 247912"/>
          <p:cNvSpPr/>
          <p:nvPr/>
        </p:nvSpPr>
        <p:spPr>
          <a:xfrm flipH="1">
            <a:off x="6035675" y="5857875"/>
            <a:ext cx="301625" cy="98425"/>
          </a:xfrm>
          <a:prstGeom prst="line">
            <a:avLst/>
          </a:prstGeom>
          <a:ln w="25400" cap="flat" cmpd="sng">
            <a:solidFill>
              <a:schemeClr val="tx1"/>
            </a:solidFill>
            <a:prstDash val="solid"/>
            <a:round/>
            <a:headEnd type="none" w="med" len="med"/>
            <a:tailEnd type="none" w="med" len="med"/>
          </a:ln>
        </p:spPr>
      </p:sp>
      <p:sp>
        <p:nvSpPr>
          <p:cNvPr id="107625" name="椭圆 247913"/>
          <p:cNvSpPr/>
          <p:nvPr/>
        </p:nvSpPr>
        <p:spPr>
          <a:xfrm>
            <a:off x="5870575" y="58039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26" name="矩形 247914"/>
          <p:cNvSpPr/>
          <p:nvPr/>
        </p:nvSpPr>
        <p:spPr>
          <a:xfrm>
            <a:off x="6003925" y="4845050"/>
            <a:ext cx="7778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WrEn</a:t>
            </a:r>
            <a:endParaRPr lang="en-US" altLang="zh-CN" sz="1800">
              <a:latin typeface="Arial" panose="020B0604020202020204" pitchFamily="34" charset="0"/>
              <a:ea typeface="黑体" panose="02010609060101010101" pitchFamily="49" charset="-122"/>
            </a:endParaRPr>
          </a:p>
        </p:txBody>
      </p:sp>
      <p:sp>
        <p:nvSpPr>
          <p:cNvPr id="107627" name="直接连接符 247915"/>
          <p:cNvSpPr/>
          <p:nvPr/>
        </p:nvSpPr>
        <p:spPr>
          <a:xfrm flipH="1">
            <a:off x="5016500" y="5062538"/>
            <a:ext cx="1016000" cy="0"/>
          </a:xfrm>
          <a:prstGeom prst="line">
            <a:avLst/>
          </a:prstGeom>
          <a:ln w="25400" cap="flat" cmpd="sng">
            <a:solidFill>
              <a:schemeClr val="tx1"/>
            </a:solidFill>
            <a:prstDash val="solid"/>
            <a:round/>
            <a:headEnd type="triangle" w="med" len="med"/>
            <a:tailEnd type="none" w="med" len="med"/>
          </a:ln>
        </p:spPr>
      </p:sp>
      <p:sp>
        <p:nvSpPr>
          <p:cNvPr id="107628" name="直接连接符 247916"/>
          <p:cNvSpPr/>
          <p:nvPr/>
        </p:nvSpPr>
        <p:spPr>
          <a:xfrm flipH="1">
            <a:off x="5556250" y="4999038"/>
            <a:ext cx="88900" cy="128587"/>
          </a:xfrm>
          <a:prstGeom prst="line">
            <a:avLst/>
          </a:prstGeom>
          <a:ln w="12700" cap="flat" cmpd="sng">
            <a:solidFill>
              <a:schemeClr val="tx1"/>
            </a:solidFill>
            <a:prstDash val="solid"/>
            <a:round/>
            <a:headEnd type="none" w="med" len="med"/>
            <a:tailEnd type="none" w="med" len="med"/>
          </a:ln>
        </p:spPr>
      </p:sp>
      <p:sp>
        <p:nvSpPr>
          <p:cNvPr id="107629" name="矩形 247917"/>
          <p:cNvSpPr/>
          <p:nvPr/>
        </p:nvSpPr>
        <p:spPr>
          <a:xfrm>
            <a:off x="5319713" y="51308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endParaRPr lang="zh-CN" altLang="en-US" sz="1800" dirty="0">
              <a:latin typeface="Arial" panose="020B0604020202020204" pitchFamily="34" charset="0"/>
              <a:ea typeface="黑体" panose="02010609060101010101" pitchFamily="49" charset="-122"/>
            </a:endParaRPr>
          </a:p>
        </p:txBody>
      </p:sp>
      <p:sp>
        <p:nvSpPr>
          <p:cNvPr id="107630" name="直接连接符 247918"/>
          <p:cNvSpPr/>
          <p:nvPr/>
        </p:nvSpPr>
        <p:spPr>
          <a:xfrm flipV="1">
            <a:off x="6324600" y="3559175"/>
            <a:ext cx="0" cy="1303338"/>
          </a:xfrm>
          <a:prstGeom prst="line">
            <a:avLst/>
          </a:prstGeom>
          <a:ln w="25400" cap="flat" cmpd="sng">
            <a:solidFill>
              <a:schemeClr val="tx1"/>
            </a:solidFill>
            <a:prstDash val="solid"/>
            <a:round/>
            <a:headEnd type="triangle" w="med" len="med"/>
            <a:tailEnd type="none" w="med" len="med"/>
          </a:ln>
        </p:spPr>
      </p:sp>
      <p:sp>
        <p:nvSpPr>
          <p:cNvPr id="107631" name="直接连接符 247919"/>
          <p:cNvSpPr/>
          <p:nvPr/>
        </p:nvSpPr>
        <p:spPr>
          <a:xfrm>
            <a:off x="6858000" y="4222750"/>
            <a:ext cx="0" cy="614363"/>
          </a:xfrm>
          <a:prstGeom prst="line">
            <a:avLst/>
          </a:prstGeom>
          <a:ln w="25400" cap="flat" cmpd="sng">
            <a:solidFill>
              <a:schemeClr val="tx1"/>
            </a:solidFill>
            <a:prstDash val="solid"/>
            <a:round/>
            <a:headEnd type="none" w="med" len="med"/>
            <a:tailEnd type="triangle" w="med" len="med"/>
          </a:ln>
        </p:spPr>
      </p:sp>
      <p:sp>
        <p:nvSpPr>
          <p:cNvPr id="107632" name="矩形 247920"/>
          <p:cNvSpPr/>
          <p:nvPr/>
        </p:nvSpPr>
        <p:spPr>
          <a:xfrm>
            <a:off x="6615113" y="4846638"/>
            <a:ext cx="5746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Adr</a:t>
            </a:r>
            <a:endParaRPr lang="en-US" altLang="zh-CN" sz="1800">
              <a:latin typeface="Arial" panose="020B0604020202020204" pitchFamily="34" charset="0"/>
              <a:ea typeface="黑体" panose="02010609060101010101" pitchFamily="49" charset="-122"/>
            </a:endParaRPr>
          </a:p>
        </p:txBody>
      </p:sp>
      <p:sp>
        <p:nvSpPr>
          <p:cNvPr id="107633" name="矩形 247921"/>
          <p:cNvSpPr/>
          <p:nvPr/>
        </p:nvSpPr>
        <p:spPr>
          <a:xfrm>
            <a:off x="6015038" y="5202238"/>
            <a:ext cx="10572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黑体" panose="02010609060101010101" pitchFamily="49" charset="-122"/>
              </a:rPr>
              <a:t>Data</a:t>
            </a:r>
            <a:endParaRPr lang="en-US" altLang="zh-CN" sz="1800">
              <a:latin typeface="Arial" panose="020B0604020202020204" pitchFamily="34" charset="0"/>
              <a:ea typeface="黑体" panose="02010609060101010101" pitchFamily="49" charset="-122"/>
            </a:endParaRPr>
          </a:p>
          <a:p>
            <a:pPr algn="ctr" eaLnBrk="0" hangingPunct="0"/>
            <a:r>
              <a:rPr lang="en-US" altLang="zh-CN" sz="1800">
                <a:latin typeface="Arial" panose="020B0604020202020204" pitchFamily="34" charset="0"/>
                <a:ea typeface="黑体" panose="02010609060101010101" pitchFamily="49" charset="-122"/>
              </a:rPr>
              <a:t>Memory</a:t>
            </a:r>
            <a:endParaRPr lang="en-US" altLang="zh-CN" sz="1800">
              <a:latin typeface="Arial" panose="020B0604020202020204" pitchFamily="34" charset="0"/>
              <a:ea typeface="黑体" panose="02010609060101010101" pitchFamily="49" charset="-122"/>
            </a:endParaRPr>
          </a:p>
        </p:txBody>
      </p:sp>
      <p:sp>
        <p:nvSpPr>
          <p:cNvPr id="107634" name="直接连接符 247922"/>
          <p:cNvSpPr/>
          <p:nvPr/>
        </p:nvSpPr>
        <p:spPr>
          <a:xfrm>
            <a:off x="7327900" y="5013325"/>
            <a:ext cx="431800" cy="0"/>
          </a:xfrm>
          <a:prstGeom prst="line">
            <a:avLst/>
          </a:prstGeom>
          <a:ln w="25400" cap="flat" cmpd="sng">
            <a:solidFill>
              <a:schemeClr val="tx1"/>
            </a:solidFill>
            <a:prstDash val="solid"/>
            <a:round/>
            <a:headEnd type="none" w="med" len="med"/>
            <a:tailEnd type="triangle" w="med" len="med"/>
          </a:ln>
        </p:spPr>
      </p:sp>
      <p:sp>
        <p:nvSpPr>
          <p:cNvPr id="107635" name="直接连接符 247923"/>
          <p:cNvSpPr/>
          <p:nvPr/>
        </p:nvSpPr>
        <p:spPr>
          <a:xfrm>
            <a:off x="7315200" y="5041900"/>
            <a:ext cx="0" cy="434975"/>
          </a:xfrm>
          <a:prstGeom prst="line">
            <a:avLst/>
          </a:prstGeom>
          <a:ln w="25400" cap="flat" cmpd="sng">
            <a:solidFill>
              <a:schemeClr val="tx1"/>
            </a:solidFill>
            <a:prstDash val="solid"/>
            <a:round/>
            <a:headEnd type="none" w="med" len="med"/>
            <a:tailEnd type="none" w="med" len="med"/>
          </a:ln>
        </p:spPr>
      </p:sp>
      <p:sp>
        <p:nvSpPr>
          <p:cNvPr id="107636" name="直接连接符 247924"/>
          <p:cNvSpPr/>
          <p:nvPr/>
        </p:nvSpPr>
        <p:spPr>
          <a:xfrm flipH="1">
            <a:off x="7150100" y="5489575"/>
            <a:ext cx="177800" cy="0"/>
          </a:xfrm>
          <a:prstGeom prst="line">
            <a:avLst/>
          </a:prstGeom>
          <a:ln w="25400" cap="flat" cmpd="sng">
            <a:solidFill>
              <a:schemeClr val="tx1"/>
            </a:solidFill>
            <a:prstDash val="solid"/>
            <a:round/>
            <a:headEnd type="none" w="med" len="med"/>
            <a:tailEnd type="none" w="med" len="med"/>
          </a:ln>
        </p:spPr>
      </p:sp>
      <p:sp>
        <p:nvSpPr>
          <p:cNvPr id="107637" name="直接连接符 247925"/>
          <p:cNvSpPr/>
          <p:nvPr/>
        </p:nvSpPr>
        <p:spPr>
          <a:xfrm flipH="1">
            <a:off x="7385050" y="4948238"/>
            <a:ext cx="88900" cy="128587"/>
          </a:xfrm>
          <a:prstGeom prst="line">
            <a:avLst/>
          </a:prstGeom>
          <a:ln w="12700" cap="flat" cmpd="sng">
            <a:solidFill>
              <a:schemeClr val="tx1"/>
            </a:solidFill>
            <a:prstDash val="solid"/>
            <a:round/>
            <a:headEnd type="none" w="med" len="med"/>
            <a:tailEnd type="none" w="med" len="med"/>
          </a:ln>
        </p:spPr>
      </p:sp>
      <p:sp>
        <p:nvSpPr>
          <p:cNvPr id="107638" name="矩形 247926"/>
          <p:cNvSpPr/>
          <p:nvPr/>
        </p:nvSpPr>
        <p:spPr>
          <a:xfrm>
            <a:off x="7148513" y="46497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endParaRPr lang="zh-CN" altLang="en-US" sz="1800" dirty="0">
              <a:latin typeface="Arial" panose="020B0604020202020204" pitchFamily="34" charset="0"/>
              <a:ea typeface="黑体" panose="02010609060101010101" pitchFamily="49" charset="-122"/>
            </a:endParaRPr>
          </a:p>
        </p:txBody>
      </p:sp>
      <p:sp>
        <p:nvSpPr>
          <p:cNvPr id="107639" name="矩形 247927"/>
          <p:cNvSpPr/>
          <p:nvPr/>
        </p:nvSpPr>
        <p:spPr>
          <a:xfrm>
            <a:off x="6310313" y="3513138"/>
            <a:ext cx="13811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MemWr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7640" name="直接连接符 247928"/>
          <p:cNvSpPr/>
          <p:nvPr/>
        </p:nvSpPr>
        <p:spPr>
          <a:xfrm>
            <a:off x="3810000" y="4508500"/>
            <a:ext cx="0" cy="541338"/>
          </a:xfrm>
          <a:prstGeom prst="line">
            <a:avLst/>
          </a:prstGeom>
          <a:ln w="25400" cap="flat" cmpd="sng">
            <a:solidFill>
              <a:schemeClr val="tx1"/>
            </a:solidFill>
            <a:prstDash val="solid"/>
            <a:round/>
            <a:headEnd type="none" w="med" len="med"/>
            <a:tailEnd type="none" w="med" len="med"/>
          </a:ln>
        </p:spPr>
      </p:sp>
      <p:sp>
        <p:nvSpPr>
          <p:cNvPr id="107641" name="直接连接符 247929"/>
          <p:cNvSpPr/>
          <p:nvPr/>
        </p:nvSpPr>
        <p:spPr>
          <a:xfrm>
            <a:off x="3805238" y="5054600"/>
            <a:ext cx="1211262" cy="7938"/>
          </a:xfrm>
          <a:prstGeom prst="line">
            <a:avLst/>
          </a:prstGeom>
          <a:ln w="25400" cap="flat" cmpd="sng">
            <a:solidFill>
              <a:schemeClr val="tx1"/>
            </a:solidFill>
            <a:prstDash val="solid"/>
            <a:round/>
            <a:headEnd type="none" w="med" len="med"/>
            <a:tailEnd type="none" w="med" len="med"/>
          </a:ln>
        </p:spPr>
      </p:sp>
      <p:sp>
        <p:nvSpPr>
          <p:cNvPr id="107642" name="矩形 247930"/>
          <p:cNvSpPr/>
          <p:nvPr/>
        </p:nvSpPr>
        <p:spPr>
          <a:xfrm rot="5400000">
            <a:off x="5021263" y="4068763"/>
            <a:ext cx="6508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107643" name="矩形 247931"/>
          <p:cNvSpPr/>
          <p:nvPr/>
        </p:nvSpPr>
        <p:spPr>
          <a:xfrm>
            <a:off x="4575175" y="1993900"/>
            <a:ext cx="1203325" cy="873125"/>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44" name="直接连接符 247932"/>
          <p:cNvSpPr/>
          <p:nvPr/>
        </p:nvSpPr>
        <p:spPr>
          <a:xfrm flipH="1">
            <a:off x="3949700" y="2749550"/>
            <a:ext cx="482600" cy="0"/>
          </a:xfrm>
          <a:prstGeom prst="line">
            <a:avLst/>
          </a:prstGeom>
          <a:ln w="25400" cap="flat" cmpd="sng">
            <a:solidFill>
              <a:schemeClr val="tx1"/>
            </a:solidFill>
            <a:prstDash val="solid"/>
            <a:round/>
            <a:headEnd type="none" w="med" len="med"/>
            <a:tailEnd type="none" w="med" len="med"/>
          </a:ln>
        </p:spPr>
      </p:sp>
      <p:sp>
        <p:nvSpPr>
          <p:cNvPr id="107645" name="直接连接符 247933"/>
          <p:cNvSpPr/>
          <p:nvPr/>
        </p:nvSpPr>
        <p:spPr>
          <a:xfrm>
            <a:off x="4557713" y="2616200"/>
            <a:ext cx="306387" cy="119063"/>
          </a:xfrm>
          <a:prstGeom prst="line">
            <a:avLst/>
          </a:prstGeom>
          <a:ln w="25400" cap="flat" cmpd="sng">
            <a:solidFill>
              <a:schemeClr val="tx1"/>
            </a:solidFill>
            <a:prstDash val="solid"/>
            <a:round/>
            <a:headEnd type="none" w="med" len="med"/>
            <a:tailEnd type="none" w="med" len="med"/>
          </a:ln>
        </p:spPr>
      </p:sp>
      <p:sp>
        <p:nvSpPr>
          <p:cNvPr id="107646" name="直接连接符 247934"/>
          <p:cNvSpPr/>
          <p:nvPr/>
        </p:nvSpPr>
        <p:spPr>
          <a:xfrm flipH="1">
            <a:off x="4587875" y="2719388"/>
            <a:ext cx="301625" cy="98425"/>
          </a:xfrm>
          <a:prstGeom prst="line">
            <a:avLst/>
          </a:prstGeom>
          <a:ln w="25400" cap="flat" cmpd="sng">
            <a:solidFill>
              <a:schemeClr val="tx1"/>
            </a:solidFill>
            <a:prstDash val="solid"/>
            <a:round/>
            <a:headEnd type="none" w="med" len="med"/>
            <a:tailEnd type="none" w="med" len="med"/>
          </a:ln>
        </p:spPr>
      </p:sp>
      <p:sp>
        <p:nvSpPr>
          <p:cNvPr id="107647" name="椭圆 247935"/>
          <p:cNvSpPr/>
          <p:nvPr/>
        </p:nvSpPr>
        <p:spPr>
          <a:xfrm>
            <a:off x="4422775" y="26797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48" name="矩形 247936"/>
          <p:cNvSpPr/>
          <p:nvPr/>
        </p:nvSpPr>
        <p:spPr>
          <a:xfrm>
            <a:off x="4494213" y="2078038"/>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黑体" panose="02010609060101010101" pitchFamily="49" charset="-122"/>
              </a:rPr>
              <a:t>Instruction</a:t>
            </a:r>
            <a:endParaRPr lang="en-US" altLang="zh-CN" sz="1800">
              <a:latin typeface="Arial" panose="020B0604020202020204" pitchFamily="34" charset="0"/>
              <a:ea typeface="黑体" panose="02010609060101010101" pitchFamily="49" charset="-122"/>
            </a:endParaRPr>
          </a:p>
          <a:p>
            <a:pPr algn="ctr" eaLnBrk="0" hangingPunct="0"/>
            <a:r>
              <a:rPr lang="en-US" altLang="zh-CN" sz="1800">
                <a:latin typeface="Arial" panose="020B0604020202020204" pitchFamily="34" charset="0"/>
                <a:ea typeface="黑体" panose="02010609060101010101" pitchFamily="49" charset="-122"/>
              </a:rPr>
              <a:t>Fetch</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黑体" panose="02010609060101010101" pitchFamily="49" charset="-122"/>
              </a:rPr>
              <a:t>Unit</a:t>
            </a:r>
            <a:endParaRPr lang="en-US" altLang="zh-CN" sz="1800">
              <a:latin typeface="Arial" panose="020B0604020202020204" pitchFamily="34" charset="0"/>
              <a:ea typeface="黑体" panose="02010609060101010101" pitchFamily="49" charset="-122"/>
            </a:endParaRPr>
          </a:p>
        </p:txBody>
      </p:sp>
      <p:sp>
        <p:nvSpPr>
          <p:cNvPr id="107649" name="矩形 247937"/>
          <p:cNvSpPr/>
          <p:nvPr/>
        </p:nvSpPr>
        <p:spPr>
          <a:xfrm>
            <a:off x="3500438" y="25304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07650" name="直接连接符 247938"/>
          <p:cNvSpPr/>
          <p:nvPr/>
        </p:nvSpPr>
        <p:spPr>
          <a:xfrm flipV="1">
            <a:off x="5638800" y="2882900"/>
            <a:ext cx="0" cy="1168400"/>
          </a:xfrm>
          <a:prstGeom prst="line">
            <a:avLst/>
          </a:prstGeom>
          <a:ln w="25400" cap="flat" cmpd="sng">
            <a:solidFill>
              <a:schemeClr val="tx1"/>
            </a:solidFill>
            <a:prstDash val="solid"/>
            <a:round/>
            <a:headEnd type="none" w="med" len="med"/>
            <a:tailEnd type="triangle" w="med" len="med"/>
          </a:ln>
        </p:spPr>
      </p:sp>
      <p:sp>
        <p:nvSpPr>
          <p:cNvPr id="107651" name="直接连接符 247939"/>
          <p:cNvSpPr/>
          <p:nvPr/>
        </p:nvSpPr>
        <p:spPr>
          <a:xfrm flipH="1">
            <a:off x="5473700" y="4038600"/>
            <a:ext cx="177800" cy="0"/>
          </a:xfrm>
          <a:prstGeom prst="line">
            <a:avLst/>
          </a:prstGeom>
          <a:ln w="25400" cap="flat" cmpd="sng">
            <a:solidFill>
              <a:schemeClr val="tx1"/>
            </a:solidFill>
            <a:prstDash val="solid"/>
            <a:round/>
            <a:headEnd type="none" w="med" len="med"/>
            <a:tailEnd type="none" w="med" len="med"/>
          </a:ln>
        </p:spPr>
      </p:sp>
      <p:sp>
        <p:nvSpPr>
          <p:cNvPr id="107652" name="矩形 247940"/>
          <p:cNvSpPr/>
          <p:nvPr/>
        </p:nvSpPr>
        <p:spPr>
          <a:xfrm>
            <a:off x="5624513" y="3505200"/>
            <a:ext cx="6762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07653" name="直接连接符 247941"/>
          <p:cNvSpPr/>
          <p:nvPr/>
        </p:nvSpPr>
        <p:spPr>
          <a:xfrm>
            <a:off x="5762625" y="2120900"/>
            <a:ext cx="2530475" cy="12700"/>
          </a:xfrm>
          <a:prstGeom prst="line">
            <a:avLst/>
          </a:prstGeom>
          <a:ln w="25400" cap="flat" cmpd="sng">
            <a:solidFill>
              <a:schemeClr val="tx1"/>
            </a:solidFill>
            <a:prstDash val="solid"/>
            <a:round/>
            <a:headEnd type="none" w="med" len="med"/>
            <a:tailEnd type="triangle" w="med" len="med"/>
          </a:ln>
        </p:spPr>
      </p:sp>
      <p:sp>
        <p:nvSpPr>
          <p:cNvPr id="107654" name="矩形 247942"/>
          <p:cNvSpPr/>
          <p:nvPr/>
        </p:nvSpPr>
        <p:spPr>
          <a:xfrm>
            <a:off x="5853113" y="1744663"/>
            <a:ext cx="206692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7655" name="直接连接符 247943"/>
          <p:cNvSpPr/>
          <p:nvPr/>
        </p:nvSpPr>
        <p:spPr>
          <a:xfrm>
            <a:off x="3975100" y="2438400"/>
            <a:ext cx="584200" cy="0"/>
          </a:xfrm>
          <a:prstGeom prst="line">
            <a:avLst/>
          </a:prstGeom>
          <a:ln w="25400" cap="flat" cmpd="sng">
            <a:solidFill>
              <a:schemeClr val="tx1"/>
            </a:solidFill>
            <a:prstDash val="solid"/>
            <a:round/>
            <a:headEnd type="none" w="med" len="med"/>
            <a:tailEnd type="triangle" w="med" len="med"/>
          </a:ln>
        </p:spPr>
      </p:sp>
      <p:sp>
        <p:nvSpPr>
          <p:cNvPr id="107656" name="直接连接符 247944"/>
          <p:cNvSpPr/>
          <p:nvPr/>
        </p:nvSpPr>
        <p:spPr>
          <a:xfrm>
            <a:off x="3975100" y="2133600"/>
            <a:ext cx="584200" cy="0"/>
          </a:xfrm>
          <a:prstGeom prst="line">
            <a:avLst/>
          </a:prstGeom>
          <a:ln w="25400" cap="flat" cmpd="sng">
            <a:solidFill>
              <a:schemeClr val="tx1"/>
            </a:solidFill>
            <a:prstDash val="solid"/>
            <a:round/>
            <a:headEnd type="none" w="med" len="med"/>
            <a:tailEnd type="triangle" w="med" len="med"/>
          </a:ln>
        </p:spPr>
      </p:sp>
      <p:sp>
        <p:nvSpPr>
          <p:cNvPr id="107657" name="矩形 247945"/>
          <p:cNvSpPr/>
          <p:nvPr/>
        </p:nvSpPr>
        <p:spPr>
          <a:xfrm>
            <a:off x="2763838" y="2225675"/>
            <a:ext cx="11779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 =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7658" name="矩形 247946"/>
          <p:cNvSpPr/>
          <p:nvPr/>
        </p:nvSpPr>
        <p:spPr>
          <a:xfrm>
            <a:off x="2890838" y="1844675"/>
            <a:ext cx="13430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7659" name="文本占位符 247947"/>
          <p:cNvSpPr>
            <a:spLocks noGrp="1"/>
          </p:cNvSpPr>
          <p:nvPr>
            <p:ph idx="1"/>
          </p:nvPr>
        </p:nvSpPr>
        <p:spPr>
          <a:xfrm>
            <a:off x="419100" y="1524000"/>
            <a:ext cx="8191500" cy="325438"/>
          </a:xfrm>
          <a:ln/>
        </p:spPr>
        <p:txBody>
          <a:bodyPr vert="horz" wrap="square" lIns="63500" tIns="25400" rIns="63500" bIns="25400" anchor="t" anchorCtr="0">
            <a:spAutoFit/>
          </a:bodyPr>
          <a:p>
            <a:r>
              <a:rPr lang="en-US" altLang="zh-CN" dirty="0" err="1">
                <a:ea typeface="宋体" panose="02010600030101010101" pitchFamily="2" charset="-122"/>
              </a:rPr>
              <a:t>R[rd</a:t>
            </a:r>
            <a:r>
              <a:rPr lang="en-US" altLang="zh-CN">
                <a:ea typeface="宋体" panose="02010600030101010101" pitchFamily="2" charset="-122"/>
              </a:rPr>
              <a:t>]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a:t>
            </a:r>
            <a:r>
              <a:rPr lang="en-US" altLang="zh-CN" dirty="0" err="1">
                <a:ea typeface="宋体" panose="02010600030101010101" pitchFamily="2" charset="-122"/>
              </a:rPr>
              <a:t>R[rs</a:t>
            </a:r>
            <a:r>
              <a:rPr lang="en-US" altLang="zh-CN">
                <a:ea typeface="宋体" panose="02010600030101010101" pitchFamily="2" charset="-122"/>
              </a:rPr>
              <a:t>]  + / -  </a:t>
            </a:r>
            <a:r>
              <a:rPr lang="en-US" altLang="zh-CN" dirty="0" err="1">
                <a:ea typeface="宋体" panose="02010600030101010101" pitchFamily="2" charset="-122"/>
              </a:rPr>
              <a:t>R[rt</a:t>
            </a:r>
            <a:r>
              <a:rPr lang="en-US" altLang="zh-CN">
                <a:ea typeface="宋体" panose="02010600030101010101" pitchFamily="2" charset="-122"/>
              </a:rPr>
              <a:t>]</a:t>
            </a:r>
            <a:endParaRPr lang="en-US" altLang="zh-CN">
              <a:ea typeface="宋体" panose="02010600030101010101" pitchFamily="2" charset="-122"/>
            </a:endParaRPr>
          </a:p>
        </p:txBody>
      </p:sp>
      <p:sp>
        <p:nvSpPr>
          <p:cNvPr id="107660" name="矩形 247948"/>
          <p:cNvSpPr/>
          <p:nvPr/>
        </p:nvSpPr>
        <p:spPr>
          <a:xfrm>
            <a:off x="7732713" y="40386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07661" name="矩形 247949"/>
          <p:cNvSpPr/>
          <p:nvPr/>
        </p:nvSpPr>
        <p:spPr>
          <a:xfrm>
            <a:off x="7732713" y="48180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07662" name="矩形 247950"/>
          <p:cNvSpPr/>
          <p:nvPr/>
        </p:nvSpPr>
        <p:spPr>
          <a:xfrm>
            <a:off x="4151313" y="42672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07663" name="矩形 247951"/>
          <p:cNvSpPr/>
          <p:nvPr/>
        </p:nvSpPr>
        <p:spPr>
          <a:xfrm>
            <a:off x="4151313" y="50466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07664" name="矩形 247952"/>
          <p:cNvSpPr/>
          <p:nvPr/>
        </p:nvSpPr>
        <p:spPr>
          <a:xfrm>
            <a:off x="22812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07665" name="矩形 247953"/>
          <p:cNvSpPr/>
          <p:nvPr/>
        </p:nvSpPr>
        <p:spPr>
          <a:xfrm>
            <a:off x="15954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07666" name="直接连接符 247954"/>
          <p:cNvSpPr/>
          <p:nvPr/>
        </p:nvSpPr>
        <p:spPr>
          <a:xfrm>
            <a:off x="6096000" y="2146300"/>
            <a:ext cx="0" cy="889000"/>
          </a:xfrm>
          <a:prstGeom prst="line">
            <a:avLst/>
          </a:prstGeom>
          <a:ln w="25400" cap="flat" cmpd="sng">
            <a:solidFill>
              <a:schemeClr val="tx1"/>
            </a:solidFill>
            <a:prstDash val="solid"/>
            <a:round/>
            <a:headEnd type="none" w="med" len="med"/>
            <a:tailEnd type="triangle" w="med" len="med"/>
          </a:ln>
        </p:spPr>
      </p:sp>
      <p:sp>
        <p:nvSpPr>
          <p:cNvPr id="107667" name="矩形 247955"/>
          <p:cNvSpPr/>
          <p:nvPr/>
        </p:nvSpPr>
        <p:spPr>
          <a:xfrm rot="5400000">
            <a:off x="57546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&lt;21:25&gt;</a:t>
            </a:r>
            <a:endParaRPr lang="zh-CN" altLang="en-US" sz="1800" dirty="0">
              <a:latin typeface="Arial" panose="020B0604020202020204" pitchFamily="34" charset="0"/>
              <a:ea typeface="黑体" panose="02010609060101010101" pitchFamily="49" charset="-122"/>
            </a:endParaRPr>
          </a:p>
        </p:txBody>
      </p:sp>
      <p:sp>
        <p:nvSpPr>
          <p:cNvPr id="107668" name="矩形 247956"/>
          <p:cNvSpPr/>
          <p:nvPr/>
        </p:nvSpPr>
        <p:spPr>
          <a:xfrm rot="5400000">
            <a:off x="62880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&lt;16:20&gt;</a:t>
            </a:r>
            <a:endParaRPr lang="zh-CN" altLang="en-US" sz="1800" dirty="0">
              <a:latin typeface="Arial" panose="020B0604020202020204" pitchFamily="34" charset="0"/>
              <a:ea typeface="黑体" panose="02010609060101010101" pitchFamily="49" charset="-122"/>
            </a:endParaRPr>
          </a:p>
        </p:txBody>
      </p:sp>
      <p:sp>
        <p:nvSpPr>
          <p:cNvPr id="107669" name="矩形 247957"/>
          <p:cNvSpPr/>
          <p:nvPr/>
        </p:nvSpPr>
        <p:spPr>
          <a:xfrm rot="5400000">
            <a:off x="68214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&lt;11:15&gt;</a:t>
            </a:r>
            <a:endParaRPr lang="zh-CN" altLang="en-US" sz="1800" dirty="0">
              <a:latin typeface="Arial" panose="020B0604020202020204" pitchFamily="34" charset="0"/>
              <a:ea typeface="黑体" panose="02010609060101010101" pitchFamily="49" charset="-122"/>
            </a:endParaRPr>
          </a:p>
        </p:txBody>
      </p:sp>
      <p:sp>
        <p:nvSpPr>
          <p:cNvPr id="107670" name="矩形 247958"/>
          <p:cNvSpPr/>
          <p:nvPr/>
        </p:nvSpPr>
        <p:spPr>
          <a:xfrm rot="5400000">
            <a:off x="7367588" y="2408238"/>
            <a:ext cx="904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&lt;0:15&gt;</a:t>
            </a:r>
            <a:endParaRPr lang="zh-CN" altLang="en-US" sz="1800" dirty="0">
              <a:latin typeface="Arial" panose="020B0604020202020204" pitchFamily="34" charset="0"/>
              <a:ea typeface="黑体" panose="02010609060101010101" pitchFamily="49" charset="-122"/>
            </a:endParaRPr>
          </a:p>
        </p:txBody>
      </p:sp>
      <p:sp>
        <p:nvSpPr>
          <p:cNvPr id="107671" name="直接连接符 247959"/>
          <p:cNvSpPr/>
          <p:nvPr/>
        </p:nvSpPr>
        <p:spPr>
          <a:xfrm>
            <a:off x="6629400" y="2146300"/>
            <a:ext cx="0" cy="889000"/>
          </a:xfrm>
          <a:prstGeom prst="line">
            <a:avLst/>
          </a:prstGeom>
          <a:ln w="25400" cap="flat" cmpd="sng">
            <a:solidFill>
              <a:schemeClr val="tx1"/>
            </a:solidFill>
            <a:prstDash val="solid"/>
            <a:round/>
            <a:headEnd type="none" w="med" len="med"/>
            <a:tailEnd type="triangle" w="med" len="med"/>
          </a:ln>
        </p:spPr>
      </p:sp>
      <p:sp>
        <p:nvSpPr>
          <p:cNvPr id="107672" name="直接连接符 247960"/>
          <p:cNvSpPr/>
          <p:nvPr/>
        </p:nvSpPr>
        <p:spPr>
          <a:xfrm>
            <a:off x="7162800" y="2146300"/>
            <a:ext cx="0" cy="889000"/>
          </a:xfrm>
          <a:prstGeom prst="line">
            <a:avLst/>
          </a:prstGeom>
          <a:ln w="25400" cap="flat" cmpd="sng">
            <a:solidFill>
              <a:schemeClr val="tx1"/>
            </a:solidFill>
            <a:prstDash val="solid"/>
            <a:round/>
            <a:headEnd type="none" w="med" len="med"/>
            <a:tailEnd type="triangle" w="med" len="med"/>
          </a:ln>
        </p:spPr>
      </p:sp>
      <p:sp>
        <p:nvSpPr>
          <p:cNvPr id="107673" name="直接连接符 247961"/>
          <p:cNvSpPr/>
          <p:nvPr/>
        </p:nvSpPr>
        <p:spPr>
          <a:xfrm>
            <a:off x="7696200" y="2146300"/>
            <a:ext cx="0" cy="889000"/>
          </a:xfrm>
          <a:prstGeom prst="line">
            <a:avLst/>
          </a:prstGeom>
          <a:ln w="25400" cap="flat" cmpd="sng">
            <a:solidFill>
              <a:schemeClr val="tx1"/>
            </a:solidFill>
            <a:prstDash val="solid"/>
            <a:round/>
            <a:headEnd type="none" w="med" len="med"/>
            <a:tailEnd type="triangle" w="med" len="med"/>
          </a:ln>
        </p:spPr>
      </p:sp>
      <p:sp>
        <p:nvSpPr>
          <p:cNvPr id="107674" name="矩形 247962"/>
          <p:cNvSpPr/>
          <p:nvPr/>
        </p:nvSpPr>
        <p:spPr>
          <a:xfrm>
            <a:off x="7453313" y="2971800"/>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Imm16</a:t>
            </a:r>
            <a:endParaRPr lang="en-US" altLang="zh-CN" sz="1800">
              <a:latin typeface="Arial" panose="020B0604020202020204" pitchFamily="34" charset="0"/>
              <a:ea typeface="黑体" panose="02010609060101010101" pitchFamily="49" charset="-122"/>
            </a:endParaRPr>
          </a:p>
        </p:txBody>
      </p:sp>
      <p:sp>
        <p:nvSpPr>
          <p:cNvPr id="107675" name="矩形 247963"/>
          <p:cNvSpPr/>
          <p:nvPr/>
        </p:nvSpPr>
        <p:spPr>
          <a:xfrm>
            <a:off x="6919913" y="2971800"/>
            <a:ext cx="4857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Rd</a:t>
            </a:r>
            <a:endParaRPr lang="en-US" altLang="zh-CN" sz="1800">
              <a:latin typeface="Arial" panose="020B0604020202020204" pitchFamily="34" charset="0"/>
              <a:ea typeface="黑体" panose="02010609060101010101" pitchFamily="49" charset="-122"/>
            </a:endParaRPr>
          </a:p>
        </p:txBody>
      </p:sp>
      <p:sp>
        <p:nvSpPr>
          <p:cNvPr id="107676" name="矩形 247964"/>
          <p:cNvSpPr/>
          <p:nvPr/>
        </p:nvSpPr>
        <p:spPr>
          <a:xfrm>
            <a:off x="6462713" y="29718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Rt</a:t>
            </a:r>
            <a:endParaRPr lang="en-US" altLang="zh-CN" sz="1800">
              <a:latin typeface="Arial" panose="020B0604020202020204" pitchFamily="34" charset="0"/>
              <a:ea typeface="黑体" panose="02010609060101010101" pitchFamily="49" charset="-122"/>
            </a:endParaRPr>
          </a:p>
        </p:txBody>
      </p:sp>
      <p:sp>
        <p:nvSpPr>
          <p:cNvPr id="107677" name="矩形 247965"/>
          <p:cNvSpPr/>
          <p:nvPr/>
        </p:nvSpPr>
        <p:spPr>
          <a:xfrm>
            <a:off x="5929313" y="29718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Rs</a:t>
            </a:r>
            <a:endParaRPr lang="en-US" altLang="zh-CN" sz="1800">
              <a:latin typeface="Arial" panose="020B0604020202020204" pitchFamily="34" charset="0"/>
              <a:ea typeface="黑体" panose="02010609060101010101" pitchFamily="49" charset="-122"/>
            </a:endParaRPr>
          </a:p>
        </p:txBody>
      </p:sp>
      <p:grpSp>
        <p:nvGrpSpPr>
          <p:cNvPr id="107678" name="组合 247966"/>
          <p:cNvGrpSpPr/>
          <p:nvPr/>
        </p:nvGrpSpPr>
        <p:grpSpPr>
          <a:xfrm>
            <a:off x="1509713" y="609600"/>
            <a:ext cx="6327775" cy="668338"/>
            <a:chOff x="951" y="384"/>
            <a:chExt cx="3986" cy="421"/>
          </a:xfrm>
        </p:grpSpPr>
        <p:sp>
          <p:nvSpPr>
            <p:cNvPr id="107679" name="矩形 247967"/>
            <p:cNvSpPr/>
            <p:nvPr/>
          </p:nvSpPr>
          <p:spPr>
            <a:xfrm>
              <a:off x="1016" y="584"/>
              <a:ext cx="382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07680" name="组合 247968"/>
            <p:cNvGrpSpPr/>
            <p:nvPr/>
          </p:nvGrpSpPr>
          <p:grpSpPr>
            <a:xfrm>
              <a:off x="1012" y="576"/>
              <a:ext cx="664" cy="229"/>
              <a:chOff x="1012" y="576"/>
              <a:chExt cx="664" cy="229"/>
            </a:xfrm>
          </p:grpSpPr>
          <p:sp>
            <p:nvSpPr>
              <p:cNvPr id="107681" name="矩形 247969"/>
              <p:cNvSpPr/>
              <p:nvPr/>
            </p:nvSpPr>
            <p:spPr>
              <a:xfrm>
                <a:off x="1012" y="580"/>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82" name="矩形 247970"/>
              <p:cNvSpPr/>
              <p:nvPr/>
            </p:nvSpPr>
            <p:spPr>
              <a:xfrm>
                <a:off x="1209" y="576"/>
                <a:ext cx="2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op</a:t>
                </a:r>
                <a:endParaRPr lang="en-US" altLang="zh-CN" sz="1800">
                  <a:latin typeface="Arial" panose="020B0604020202020204" pitchFamily="34" charset="0"/>
                  <a:ea typeface="黑体" panose="02010609060101010101" pitchFamily="49" charset="-122"/>
                </a:endParaRPr>
              </a:p>
            </p:txBody>
          </p:sp>
        </p:grpSp>
        <p:grpSp>
          <p:nvGrpSpPr>
            <p:cNvPr id="107683" name="组合 247971"/>
            <p:cNvGrpSpPr/>
            <p:nvPr/>
          </p:nvGrpSpPr>
          <p:grpSpPr>
            <a:xfrm>
              <a:off x="1684" y="576"/>
              <a:ext cx="616" cy="229"/>
              <a:chOff x="1684" y="576"/>
              <a:chExt cx="616" cy="229"/>
            </a:xfrm>
          </p:grpSpPr>
          <p:sp>
            <p:nvSpPr>
              <p:cNvPr id="107684" name="矩形 247972"/>
              <p:cNvSpPr/>
              <p:nvPr/>
            </p:nvSpPr>
            <p:spPr>
              <a:xfrm>
                <a:off x="1684" y="580"/>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85" name="矩形 247973"/>
              <p:cNvSpPr/>
              <p:nvPr/>
            </p:nvSpPr>
            <p:spPr>
              <a:xfrm>
                <a:off x="1863" y="576"/>
                <a:ext cx="250"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rs</a:t>
                </a:r>
                <a:endParaRPr lang="en-US" altLang="zh-CN" sz="1800">
                  <a:latin typeface="Arial" panose="020B0604020202020204" pitchFamily="34" charset="0"/>
                  <a:ea typeface="黑体" panose="02010609060101010101" pitchFamily="49" charset="-122"/>
                </a:endParaRPr>
              </a:p>
            </p:txBody>
          </p:sp>
        </p:grpSp>
        <p:grpSp>
          <p:nvGrpSpPr>
            <p:cNvPr id="107686" name="组合 247974"/>
            <p:cNvGrpSpPr/>
            <p:nvPr/>
          </p:nvGrpSpPr>
          <p:grpSpPr>
            <a:xfrm>
              <a:off x="2308" y="576"/>
              <a:ext cx="616" cy="229"/>
              <a:chOff x="2308" y="576"/>
              <a:chExt cx="616" cy="229"/>
            </a:xfrm>
          </p:grpSpPr>
          <p:sp>
            <p:nvSpPr>
              <p:cNvPr id="107687" name="矩形 247975"/>
              <p:cNvSpPr/>
              <p:nvPr/>
            </p:nvSpPr>
            <p:spPr>
              <a:xfrm>
                <a:off x="2308" y="580"/>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88" name="矩形 247976"/>
              <p:cNvSpPr/>
              <p:nvPr/>
            </p:nvSpPr>
            <p:spPr>
              <a:xfrm>
                <a:off x="2487" y="576"/>
                <a:ext cx="21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rt</a:t>
                </a:r>
                <a:endParaRPr lang="en-US" altLang="zh-CN" sz="1800">
                  <a:latin typeface="Arial" panose="020B0604020202020204" pitchFamily="34" charset="0"/>
                  <a:ea typeface="黑体" panose="02010609060101010101" pitchFamily="49" charset="-122"/>
                </a:endParaRPr>
              </a:p>
            </p:txBody>
          </p:sp>
        </p:grpSp>
        <p:grpSp>
          <p:nvGrpSpPr>
            <p:cNvPr id="107689" name="组合 247977"/>
            <p:cNvGrpSpPr/>
            <p:nvPr/>
          </p:nvGrpSpPr>
          <p:grpSpPr>
            <a:xfrm>
              <a:off x="2932" y="576"/>
              <a:ext cx="616" cy="229"/>
              <a:chOff x="2932" y="576"/>
              <a:chExt cx="616" cy="229"/>
            </a:xfrm>
          </p:grpSpPr>
          <p:sp>
            <p:nvSpPr>
              <p:cNvPr id="107690" name="矩形 247978"/>
              <p:cNvSpPr/>
              <p:nvPr/>
            </p:nvSpPr>
            <p:spPr>
              <a:xfrm>
                <a:off x="2932" y="580"/>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91" name="矩形 247979"/>
              <p:cNvSpPr/>
              <p:nvPr/>
            </p:nvSpPr>
            <p:spPr>
              <a:xfrm>
                <a:off x="3111" y="576"/>
                <a:ext cx="25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rd</a:t>
                </a:r>
                <a:endParaRPr lang="en-US" altLang="zh-CN" sz="1800">
                  <a:latin typeface="Arial" panose="020B0604020202020204" pitchFamily="34" charset="0"/>
                  <a:ea typeface="黑体" panose="02010609060101010101" pitchFamily="49" charset="-122"/>
                </a:endParaRPr>
              </a:p>
            </p:txBody>
          </p:sp>
        </p:grpSp>
        <p:grpSp>
          <p:nvGrpSpPr>
            <p:cNvPr id="107692" name="组合 247980"/>
            <p:cNvGrpSpPr/>
            <p:nvPr/>
          </p:nvGrpSpPr>
          <p:grpSpPr>
            <a:xfrm>
              <a:off x="3556" y="576"/>
              <a:ext cx="621" cy="229"/>
              <a:chOff x="3556" y="576"/>
              <a:chExt cx="621" cy="229"/>
            </a:xfrm>
          </p:grpSpPr>
          <p:sp>
            <p:nvSpPr>
              <p:cNvPr id="107693" name="矩形 247981"/>
              <p:cNvSpPr/>
              <p:nvPr/>
            </p:nvSpPr>
            <p:spPr>
              <a:xfrm>
                <a:off x="3556" y="580"/>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94" name="矩形 247982"/>
              <p:cNvSpPr/>
              <p:nvPr/>
            </p:nvSpPr>
            <p:spPr>
              <a:xfrm>
                <a:off x="3639" y="576"/>
                <a:ext cx="53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shamt</a:t>
                </a:r>
                <a:endParaRPr lang="en-US" altLang="zh-CN" sz="1800">
                  <a:latin typeface="Arial" panose="020B0604020202020204" pitchFamily="34" charset="0"/>
                  <a:ea typeface="黑体" panose="02010609060101010101" pitchFamily="49" charset="-122"/>
                </a:endParaRPr>
              </a:p>
            </p:txBody>
          </p:sp>
        </p:grpSp>
        <p:grpSp>
          <p:nvGrpSpPr>
            <p:cNvPr id="107695" name="组合 247983"/>
            <p:cNvGrpSpPr/>
            <p:nvPr/>
          </p:nvGrpSpPr>
          <p:grpSpPr>
            <a:xfrm>
              <a:off x="4180" y="576"/>
              <a:ext cx="664" cy="229"/>
              <a:chOff x="4180" y="576"/>
              <a:chExt cx="664" cy="229"/>
            </a:xfrm>
          </p:grpSpPr>
          <p:sp>
            <p:nvSpPr>
              <p:cNvPr id="107696" name="矩形 247984"/>
              <p:cNvSpPr/>
              <p:nvPr/>
            </p:nvSpPr>
            <p:spPr>
              <a:xfrm>
                <a:off x="4180" y="580"/>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7697" name="矩形 247985"/>
              <p:cNvSpPr/>
              <p:nvPr/>
            </p:nvSpPr>
            <p:spPr>
              <a:xfrm>
                <a:off x="4377" y="576"/>
                <a:ext cx="41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func</a:t>
                </a:r>
                <a:endParaRPr lang="en-US" altLang="zh-CN" sz="1800">
                  <a:latin typeface="Arial" panose="020B0604020202020204" pitchFamily="34" charset="0"/>
                  <a:ea typeface="黑体" panose="02010609060101010101" pitchFamily="49" charset="-122"/>
                </a:endParaRPr>
              </a:p>
            </p:txBody>
          </p:sp>
        </p:grpSp>
        <p:sp>
          <p:nvSpPr>
            <p:cNvPr id="107698" name="矩形 247986"/>
            <p:cNvSpPr/>
            <p:nvPr/>
          </p:nvSpPr>
          <p:spPr>
            <a:xfrm>
              <a:off x="4743" y="38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0</a:t>
              </a:r>
              <a:endParaRPr lang="zh-CN" altLang="en-US" sz="1800" dirty="0">
                <a:latin typeface="Arial" panose="020B0604020202020204" pitchFamily="34" charset="0"/>
                <a:ea typeface="黑体" panose="02010609060101010101" pitchFamily="49" charset="-122"/>
              </a:endParaRPr>
            </a:p>
          </p:txBody>
        </p:sp>
        <p:sp>
          <p:nvSpPr>
            <p:cNvPr id="107699" name="矩形 247987"/>
            <p:cNvSpPr/>
            <p:nvPr/>
          </p:nvSpPr>
          <p:spPr>
            <a:xfrm>
              <a:off x="4023" y="38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6</a:t>
              </a:r>
              <a:endParaRPr lang="zh-CN" altLang="en-US" sz="1800" dirty="0">
                <a:latin typeface="Arial" panose="020B0604020202020204" pitchFamily="34" charset="0"/>
                <a:ea typeface="黑体" panose="02010609060101010101" pitchFamily="49" charset="-122"/>
              </a:endParaRPr>
            </a:p>
          </p:txBody>
        </p:sp>
        <p:sp>
          <p:nvSpPr>
            <p:cNvPr id="107700" name="矩形 247988"/>
            <p:cNvSpPr/>
            <p:nvPr/>
          </p:nvSpPr>
          <p:spPr>
            <a:xfrm>
              <a:off x="3351"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11</a:t>
              </a:r>
              <a:endParaRPr lang="zh-CN" altLang="en-US" sz="1800" dirty="0">
                <a:latin typeface="Arial" panose="020B0604020202020204" pitchFamily="34" charset="0"/>
                <a:ea typeface="黑体" panose="02010609060101010101" pitchFamily="49" charset="-122"/>
              </a:endParaRPr>
            </a:p>
          </p:txBody>
        </p:sp>
        <p:sp>
          <p:nvSpPr>
            <p:cNvPr id="107701" name="矩形 247989"/>
            <p:cNvSpPr/>
            <p:nvPr/>
          </p:nvSpPr>
          <p:spPr>
            <a:xfrm>
              <a:off x="2727"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16</a:t>
              </a:r>
              <a:endParaRPr lang="zh-CN" altLang="en-US" sz="1800" dirty="0">
                <a:latin typeface="Arial" panose="020B0604020202020204" pitchFamily="34" charset="0"/>
                <a:ea typeface="黑体" panose="02010609060101010101" pitchFamily="49" charset="-122"/>
              </a:endParaRPr>
            </a:p>
          </p:txBody>
        </p:sp>
        <p:sp>
          <p:nvSpPr>
            <p:cNvPr id="107702" name="矩形 247990"/>
            <p:cNvSpPr/>
            <p:nvPr/>
          </p:nvSpPr>
          <p:spPr>
            <a:xfrm>
              <a:off x="2103"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21</a:t>
              </a:r>
              <a:endParaRPr lang="zh-CN" altLang="en-US" sz="1800" dirty="0">
                <a:latin typeface="Arial" panose="020B0604020202020204" pitchFamily="34" charset="0"/>
                <a:ea typeface="黑体" panose="02010609060101010101" pitchFamily="49" charset="-122"/>
              </a:endParaRPr>
            </a:p>
          </p:txBody>
        </p:sp>
        <p:sp>
          <p:nvSpPr>
            <p:cNvPr id="107703" name="矩形 247991"/>
            <p:cNvSpPr/>
            <p:nvPr/>
          </p:nvSpPr>
          <p:spPr>
            <a:xfrm>
              <a:off x="1479"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26</a:t>
              </a:r>
              <a:endParaRPr lang="zh-CN" altLang="en-US" sz="1800" dirty="0">
                <a:latin typeface="Arial" panose="020B0604020202020204" pitchFamily="34" charset="0"/>
                <a:ea typeface="黑体" panose="02010609060101010101" pitchFamily="49" charset="-122"/>
              </a:endParaRPr>
            </a:p>
          </p:txBody>
        </p:sp>
        <p:sp>
          <p:nvSpPr>
            <p:cNvPr id="107704" name="矩形 247992"/>
            <p:cNvSpPr/>
            <p:nvPr/>
          </p:nvSpPr>
          <p:spPr>
            <a:xfrm>
              <a:off x="951"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31</a:t>
              </a:r>
              <a:endParaRPr lang="zh-CN" altLang="en-US" sz="1800" dirty="0">
                <a:latin typeface="Arial" panose="020B0604020202020204" pitchFamily="34" charset="0"/>
                <a:ea typeface="黑体" panose="02010609060101010101" pitchFamily="49" charset="-122"/>
              </a:endParaRPr>
            </a:p>
          </p:txBody>
        </p:sp>
      </p:grpSp>
      <p:grpSp>
        <p:nvGrpSpPr>
          <p:cNvPr id="247994" name="组合 247993"/>
          <p:cNvGrpSpPr/>
          <p:nvPr/>
        </p:nvGrpSpPr>
        <p:grpSpPr>
          <a:xfrm>
            <a:off x="2605088" y="3235325"/>
            <a:ext cx="442912" cy="382588"/>
            <a:chOff x="1641" y="2038"/>
            <a:chExt cx="279" cy="241"/>
          </a:xfrm>
        </p:grpSpPr>
        <p:sp>
          <p:nvSpPr>
            <p:cNvPr id="107706" name="直接连接符 247994"/>
            <p:cNvSpPr/>
            <p:nvPr/>
          </p:nvSpPr>
          <p:spPr>
            <a:xfrm>
              <a:off x="1641" y="2038"/>
              <a:ext cx="0" cy="236"/>
            </a:xfrm>
            <a:prstGeom prst="line">
              <a:avLst/>
            </a:prstGeom>
            <a:ln w="50800" cap="flat" cmpd="sng">
              <a:solidFill>
                <a:srgbClr val="0000FF"/>
              </a:solidFill>
              <a:prstDash val="solid"/>
              <a:round/>
              <a:headEnd type="none" w="med" len="med"/>
              <a:tailEnd type="none" w="med" len="med"/>
            </a:ln>
          </p:spPr>
        </p:sp>
        <p:sp>
          <p:nvSpPr>
            <p:cNvPr id="107707" name="直接连接符 247995"/>
            <p:cNvSpPr/>
            <p:nvPr/>
          </p:nvSpPr>
          <p:spPr>
            <a:xfrm>
              <a:off x="1920" y="2043"/>
              <a:ext cx="0" cy="236"/>
            </a:xfrm>
            <a:prstGeom prst="line">
              <a:avLst/>
            </a:prstGeom>
            <a:ln w="50800" cap="flat" cmpd="sng">
              <a:solidFill>
                <a:srgbClr val="0000FF"/>
              </a:solidFill>
              <a:prstDash val="solid"/>
              <a:round/>
              <a:headEnd type="none" w="med" len="med"/>
              <a:tailEnd type="none" w="med" len="med"/>
            </a:ln>
          </p:spPr>
        </p:sp>
      </p:grpSp>
      <p:grpSp>
        <p:nvGrpSpPr>
          <p:cNvPr id="247997" name="组合 247996"/>
          <p:cNvGrpSpPr/>
          <p:nvPr/>
        </p:nvGrpSpPr>
        <p:grpSpPr>
          <a:xfrm>
            <a:off x="3221038" y="3797300"/>
            <a:ext cx="1793875" cy="698500"/>
            <a:chOff x="2029" y="2382"/>
            <a:chExt cx="1130" cy="440"/>
          </a:xfrm>
        </p:grpSpPr>
        <p:sp>
          <p:nvSpPr>
            <p:cNvPr id="107709" name="直接连接符 247997"/>
            <p:cNvSpPr/>
            <p:nvPr/>
          </p:nvSpPr>
          <p:spPr>
            <a:xfrm>
              <a:off x="2039" y="2382"/>
              <a:ext cx="1120" cy="0"/>
            </a:xfrm>
            <a:prstGeom prst="line">
              <a:avLst/>
            </a:prstGeom>
            <a:ln w="50800" cap="flat" cmpd="sng">
              <a:solidFill>
                <a:srgbClr val="0000FF"/>
              </a:solidFill>
              <a:prstDash val="solid"/>
              <a:round/>
              <a:headEnd type="none" w="med" len="med"/>
              <a:tailEnd type="triangle" w="med" len="med"/>
            </a:ln>
          </p:spPr>
        </p:sp>
        <p:sp>
          <p:nvSpPr>
            <p:cNvPr id="107710" name="直接连接符 247998"/>
            <p:cNvSpPr/>
            <p:nvPr/>
          </p:nvSpPr>
          <p:spPr>
            <a:xfrm>
              <a:off x="2029" y="2822"/>
              <a:ext cx="592" cy="0"/>
            </a:xfrm>
            <a:prstGeom prst="line">
              <a:avLst/>
            </a:prstGeom>
            <a:ln w="50800" cap="flat" cmpd="sng">
              <a:solidFill>
                <a:srgbClr val="0000FF"/>
              </a:solidFill>
              <a:prstDash val="solid"/>
              <a:round/>
              <a:headEnd type="none" w="med" len="med"/>
              <a:tailEnd type="triangle" w="med" len="med"/>
            </a:ln>
          </p:spPr>
        </p:sp>
      </p:grpSp>
      <p:sp>
        <p:nvSpPr>
          <p:cNvPr id="248000" name="直接连接符 247999"/>
          <p:cNvSpPr/>
          <p:nvPr/>
        </p:nvSpPr>
        <p:spPr>
          <a:xfrm>
            <a:off x="4530725" y="4632325"/>
            <a:ext cx="482600" cy="0"/>
          </a:xfrm>
          <a:prstGeom prst="line">
            <a:avLst/>
          </a:prstGeom>
          <a:ln w="50800" cap="flat" cmpd="sng">
            <a:solidFill>
              <a:srgbClr val="0000FF"/>
            </a:solidFill>
            <a:prstDash val="solid"/>
            <a:round/>
            <a:headEnd type="none" w="med" len="med"/>
            <a:tailEnd type="triangle" w="med" len="med"/>
          </a:ln>
        </p:spPr>
      </p:sp>
      <p:sp>
        <p:nvSpPr>
          <p:cNvPr id="248001" name="直接连接符 248000"/>
          <p:cNvSpPr/>
          <p:nvPr/>
        </p:nvSpPr>
        <p:spPr>
          <a:xfrm flipH="1">
            <a:off x="5456238" y="4205288"/>
            <a:ext cx="2336800" cy="0"/>
          </a:xfrm>
          <a:prstGeom prst="line">
            <a:avLst/>
          </a:prstGeom>
          <a:ln w="50800" cap="flat" cmpd="sng">
            <a:solidFill>
              <a:srgbClr val="0000FF"/>
            </a:solidFill>
            <a:prstDash val="solid"/>
            <a:round/>
            <a:headEnd type="triangle" w="med" len="med"/>
            <a:tailEnd type="none" w="med" len="med"/>
          </a:ln>
        </p:spPr>
      </p:sp>
      <p:grpSp>
        <p:nvGrpSpPr>
          <p:cNvPr id="248002" name="组合 248001"/>
          <p:cNvGrpSpPr/>
          <p:nvPr/>
        </p:nvGrpSpPr>
        <p:grpSpPr>
          <a:xfrm>
            <a:off x="731838" y="4124325"/>
            <a:ext cx="7823200" cy="2082800"/>
            <a:chOff x="461" y="2607"/>
            <a:chExt cx="4928" cy="1312"/>
          </a:xfrm>
        </p:grpSpPr>
        <p:sp>
          <p:nvSpPr>
            <p:cNvPr id="107714" name="直接连接符 248002"/>
            <p:cNvSpPr/>
            <p:nvPr/>
          </p:nvSpPr>
          <p:spPr>
            <a:xfrm>
              <a:off x="5101" y="2837"/>
              <a:ext cx="256" cy="0"/>
            </a:xfrm>
            <a:prstGeom prst="line">
              <a:avLst/>
            </a:prstGeom>
            <a:ln w="50800" cap="flat" cmpd="sng">
              <a:solidFill>
                <a:srgbClr val="0000FF"/>
              </a:solidFill>
              <a:prstDash val="solid"/>
              <a:round/>
              <a:headEnd type="none" w="med" len="med"/>
              <a:tailEnd type="none" w="med" len="med"/>
            </a:ln>
          </p:spPr>
        </p:sp>
        <p:sp>
          <p:nvSpPr>
            <p:cNvPr id="107715" name="直接连接符 248003"/>
            <p:cNvSpPr/>
            <p:nvPr/>
          </p:nvSpPr>
          <p:spPr>
            <a:xfrm>
              <a:off x="5373" y="2853"/>
              <a:ext cx="0" cy="1025"/>
            </a:xfrm>
            <a:prstGeom prst="line">
              <a:avLst/>
            </a:prstGeom>
            <a:ln w="50800" cap="flat" cmpd="sng">
              <a:solidFill>
                <a:srgbClr val="0000FF"/>
              </a:solidFill>
              <a:prstDash val="solid"/>
              <a:round/>
              <a:headEnd type="none" w="med" len="med"/>
              <a:tailEnd type="none" w="med" len="med"/>
            </a:ln>
          </p:spPr>
        </p:sp>
        <p:sp>
          <p:nvSpPr>
            <p:cNvPr id="107716" name="直接连接符 248004"/>
            <p:cNvSpPr/>
            <p:nvPr/>
          </p:nvSpPr>
          <p:spPr>
            <a:xfrm flipH="1">
              <a:off x="461" y="3894"/>
              <a:ext cx="4928" cy="0"/>
            </a:xfrm>
            <a:prstGeom prst="line">
              <a:avLst/>
            </a:prstGeom>
            <a:ln w="50800" cap="flat" cmpd="sng">
              <a:solidFill>
                <a:srgbClr val="0000FF"/>
              </a:solidFill>
              <a:prstDash val="solid"/>
              <a:round/>
              <a:headEnd type="none" w="med" len="med"/>
              <a:tailEnd type="none" w="med" len="med"/>
            </a:ln>
          </p:spPr>
        </p:sp>
        <p:sp>
          <p:nvSpPr>
            <p:cNvPr id="107717" name="直接连接符 248005"/>
            <p:cNvSpPr/>
            <p:nvPr/>
          </p:nvSpPr>
          <p:spPr>
            <a:xfrm flipV="1">
              <a:off x="486" y="2607"/>
              <a:ext cx="0" cy="1312"/>
            </a:xfrm>
            <a:prstGeom prst="line">
              <a:avLst/>
            </a:prstGeom>
            <a:ln w="50800" cap="flat" cmpd="sng">
              <a:solidFill>
                <a:srgbClr val="0000FF"/>
              </a:solidFill>
              <a:prstDash val="solid"/>
              <a:round/>
              <a:headEnd type="none" w="med" len="med"/>
              <a:tailEnd type="none" w="med" len="med"/>
            </a:ln>
          </p:spPr>
        </p:sp>
        <p:sp>
          <p:nvSpPr>
            <p:cNvPr id="107718" name="直接连接符 248006"/>
            <p:cNvSpPr/>
            <p:nvPr/>
          </p:nvSpPr>
          <p:spPr>
            <a:xfrm flipH="1">
              <a:off x="461" y="2614"/>
              <a:ext cx="656" cy="0"/>
            </a:xfrm>
            <a:prstGeom prst="line">
              <a:avLst/>
            </a:prstGeom>
            <a:ln w="50800" cap="flat" cmpd="sng">
              <a:solidFill>
                <a:srgbClr val="0000FF"/>
              </a:solidFill>
              <a:prstDash val="solid"/>
              <a:round/>
              <a:headEnd type="triangle" w="med" len="med"/>
              <a:tailEnd type="none" w="med" len="med"/>
            </a:ln>
          </p:spPr>
        </p:sp>
      </p:grpSp>
      <p:sp>
        <p:nvSpPr>
          <p:cNvPr id="248008" name="直接连接符 248007"/>
          <p:cNvSpPr/>
          <p:nvPr/>
        </p:nvSpPr>
        <p:spPr>
          <a:xfrm>
            <a:off x="5253038" y="3284538"/>
            <a:ext cx="0" cy="482600"/>
          </a:xfrm>
          <a:prstGeom prst="line">
            <a:avLst/>
          </a:prstGeom>
          <a:ln w="25400" cap="flat" cmpd="sng">
            <a:solidFill>
              <a:srgbClr val="0000FF"/>
            </a:solidFill>
            <a:prstDash val="solid"/>
            <a:round/>
            <a:headEnd type="none" w="med" len="med"/>
            <a:tailEnd type="triangle" w="med" len="med"/>
          </a:ln>
        </p:spPr>
      </p:sp>
      <p:sp>
        <p:nvSpPr>
          <p:cNvPr id="248009" name="直接连接符 248008"/>
          <p:cNvSpPr/>
          <p:nvPr/>
        </p:nvSpPr>
        <p:spPr>
          <a:xfrm>
            <a:off x="4338638" y="5356225"/>
            <a:ext cx="0" cy="400050"/>
          </a:xfrm>
          <a:prstGeom prst="line">
            <a:avLst/>
          </a:prstGeom>
          <a:ln w="25400" cap="flat" cmpd="sng">
            <a:solidFill>
              <a:srgbClr val="0000FF"/>
            </a:solidFill>
            <a:prstDash val="solid"/>
            <a:round/>
            <a:headEnd type="triangle" w="med" len="med"/>
            <a:tailEnd type="none" w="med" len="med"/>
          </a:ln>
        </p:spPr>
      </p:sp>
      <p:sp>
        <p:nvSpPr>
          <p:cNvPr id="248010" name="直接连接符 248009"/>
          <p:cNvSpPr/>
          <p:nvPr/>
        </p:nvSpPr>
        <p:spPr>
          <a:xfrm flipV="1">
            <a:off x="7920038" y="3554413"/>
            <a:ext cx="0" cy="450850"/>
          </a:xfrm>
          <a:prstGeom prst="line">
            <a:avLst/>
          </a:prstGeom>
          <a:ln w="25400" cap="flat" cmpd="sng">
            <a:solidFill>
              <a:srgbClr val="0000FF"/>
            </a:solidFill>
            <a:prstDash val="solid"/>
            <a:round/>
            <a:headEnd type="triangle" w="med" len="med"/>
            <a:tailEnd type="none" w="med" len="med"/>
          </a:ln>
        </p:spPr>
      </p:sp>
      <p:grpSp>
        <p:nvGrpSpPr>
          <p:cNvPr id="248011" name="组合 248010"/>
          <p:cNvGrpSpPr/>
          <p:nvPr/>
        </p:nvGrpSpPr>
        <p:grpSpPr>
          <a:xfrm>
            <a:off x="1762125" y="2540000"/>
            <a:ext cx="442913" cy="1085850"/>
            <a:chOff x="1110" y="1600"/>
            <a:chExt cx="279" cy="684"/>
          </a:xfrm>
        </p:grpSpPr>
        <p:sp>
          <p:nvSpPr>
            <p:cNvPr id="107723" name="直接连接符 248011"/>
            <p:cNvSpPr/>
            <p:nvPr/>
          </p:nvSpPr>
          <p:spPr>
            <a:xfrm>
              <a:off x="1110" y="1600"/>
              <a:ext cx="0" cy="103"/>
            </a:xfrm>
            <a:prstGeom prst="line">
              <a:avLst/>
            </a:prstGeom>
            <a:ln w="50800" cap="flat" cmpd="sng">
              <a:solidFill>
                <a:srgbClr val="0000FF"/>
              </a:solidFill>
              <a:prstDash val="solid"/>
              <a:round/>
              <a:headEnd type="none" w="med" len="med"/>
              <a:tailEnd type="none" w="med" len="med"/>
            </a:ln>
          </p:spPr>
        </p:sp>
        <p:sp>
          <p:nvSpPr>
            <p:cNvPr id="107724" name="直接连接符 248012"/>
            <p:cNvSpPr/>
            <p:nvPr/>
          </p:nvSpPr>
          <p:spPr>
            <a:xfrm>
              <a:off x="1389" y="1914"/>
              <a:ext cx="0" cy="370"/>
            </a:xfrm>
            <a:prstGeom prst="line">
              <a:avLst/>
            </a:prstGeom>
            <a:ln w="50800" cap="flat" cmpd="sng">
              <a:solidFill>
                <a:srgbClr val="0000FF"/>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247994"/>
                                        </p:tgtEl>
                                        <p:attrNameLst>
                                          <p:attrName>style.visibility</p:attrName>
                                        </p:attrNameLst>
                                      </p:cBhvr>
                                      <p:to>
                                        <p:strVal val="visible"/>
                                      </p:to>
                                    </p:set>
                                    <p:animEffect transition="in" filter="slide(fromTop)">
                                      <p:cBhvr>
                                        <p:cTn id="7" dur="500"/>
                                        <p:tgtEl>
                                          <p:spTgt spid="247994"/>
                                        </p:tgtEl>
                                      </p:cBhvr>
                                    </p:animEffect>
                                  </p:childTnLst>
                                  <p:subTnLst>
                                    <p:animClr clrSpc="rgb" dir="cw">
                                      <p:cBhvr override="childStyle">
                                        <p:cTn dur="1" fill="hold" display="0" masterRel="nextClick" afterEffect="1"/>
                                        <p:tgtEl>
                                          <p:spTgt spid="247994"/>
                                        </p:tgtEl>
                                        <p:attrNameLst>
                                          <p:attrName>ppt_c</p:attrName>
                                        </p:attrNameLst>
                                      </p:cBhvr>
                                      <p:to>
                                        <a:srgbClr val="0000FF"/>
                                      </p:to>
                                    </p:animClr>
                                  </p:sub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47997"/>
                                        </p:tgtEl>
                                        <p:attrNameLst>
                                          <p:attrName>style.visibility</p:attrName>
                                        </p:attrNameLst>
                                      </p:cBhvr>
                                      <p:to>
                                        <p:strVal val="visible"/>
                                      </p:to>
                                    </p:set>
                                    <p:animEffect transition="in" filter="slide(fromLeft)">
                                      <p:cBhvr>
                                        <p:cTn id="12" dur="500"/>
                                        <p:tgtEl>
                                          <p:spTgt spid="247997"/>
                                        </p:tgtEl>
                                      </p:cBhvr>
                                    </p:animEffect>
                                  </p:childTnLst>
                                  <p:subTnLst>
                                    <p:animClr clrSpc="rgb" dir="cw">
                                      <p:cBhvr override="childStyle">
                                        <p:cTn dur="1" fill="hold" display="0" masterRel="nextClick" afterEffect="1"/>
                                        <p:tgtEl>
                                          <p:spTgt spid="247997"/>
                                        </p:tgtEl>
                                        <p:attrNameLst>
                                          <p:attrName>ppt_c</p:attrName>
                                        </p:attrNameLst>
                                      </p:cBhvr>
                                      <p:to>
                                        <a:srgbClr val="0000FF"/>
                                      </p:to>
                                    </p:animClr>
                                  </p:sub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48009"/>
                                        </p:tgtEl>
                                        <p:attrNameLst>
                                          <p:attrName>style.visibility</p:attrName>
                                        </p:attrNameLst>
                                      </p:cBhvr>
                                      <p:to>
                                        <p:strVal val="visible"/>
                                      </p:to>
                                    </p:set>
                                    <p:animEffect transition="in" filter="slide(fromBottom)">
                                      <p:cBhvr>
                                        <p:cTn id="17" dur="500"/>
                                        <p:tgtEl>
                                          <p:spTgt spid="248009"/>
                                        </p:tgtEl>
                                      </p:cBhvr>
                                    </p:animEffect>
                                  </p:childTnLst>
                                  <p:subTnLst>
                                    <p:animClr clrSpc="rgb" dir="cw">
                                      <p:cBhvr override="childStyle">
                                        <p:cTn dur="1" fill="hold" display="0" masterRel="nextClick" afterEffect="1"/>
                                        <p:tgtEl>
                                          <p:spTgt spid="248009"/>
                                        </p:tgtEl>
                                        <p:attrNameLst>
                                          <p:attrName>ppt_c</p:attrName>
                                        </p:attrNameLst>
                                      </p:cBhvr>
                                      <p:to>
                                        <a:srgbClr val="0000FF"/>
                                      </p:to>
                                    </p:animClr>
                                  </p:sub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48000"/>
                                        </p:tgtEl>
                                        <p:attrNameLst>
                                          <p:attrName>style.visibility</p:attrName>
                                        </p:attrNameLst>
                                      </p:cBhvr>
                                      <p:to>
                                        <p:strVal val="visible"/>
                                      </p:to>
                                    </p:set>
                                    <p:animEffect transition="in" filter="slide(fromLeft)">
                                      <p:cBhvr>
                                        <p:cTn id="22" dur="500"/>
                                        <p:tgtEl>
                                          <p:spTgt spid="24800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248008"/>
                                        </p:tgtEl>
                                        <p:attrNameLst>
                                          <p:attrName>style.visibility</p:attrName>
                                        </p:attrNameLst>
                                      </p:cBhvr>
                                      <p:to>
                                        <p:strVal val="visible"/>
                                      </p:to>
                                    </p:set>
                                    <p:animEffect transition="in" filter="slide(fromTop)">
                                      <p:cBhvr>
                                        <p:cTn id="27" dur="500"/>
                                        <p:tgtEl>
                                          <p:spTgt spid="248008"/>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248001"/>
                                        </p:tgtEl>
                                        <p:attrNameLst>
                                          <p:attrName>style.visibility</p:attrName>
                                        </p:attrNameLst>
                                      </p:cBhvr>
                                      <p:to>
                                        <p:strVal val="visible"/>
                                      </p:to>
                                    </p:set>
                                    <p:animEffect transition="in" filter="slide(fromLeft)">
                                      <p:cBhvr>
                                        <p:cTn id="32" dur="500"/>
                                        <p:tgtEl>
                                          <p:spTgt spid="248001"/>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nodeType="clickEffect">
                                  <p:stCondLst>
                                    <p:cond delay="0"/>
                                  </p:stCondLst>
                                  <p:childTnLst>
                                    <p:set>
                                      <p:cBhvr>
                                        <p:cTn id="36" dur="1" fill="hold">
                                          <p:stCondLst>
                                            <p:cond delay="0"/>
                                          </p:stCondLst>
                                        </p:cTn>
                                        <p:tgtEl>
                                          <p:spTgt spid="248010"/>
                                        </p:tgtEl>
                                        <p:attrNameLst>
                                          <p:attrName>style.visibility</p:attrName>
                                        </p:attrNameLst>
                                      </p:cBhvr>
                                      <p:to>
                                        <p:strVal val="visible"/>
                                      </p:to>
                                    </p:set>
                                    <p:animEffect transition="in" filter="slide(fromTop)">
                                      <p:cBhvr>
                                        <p:cTn id="37" dur="500"/>
                                        <p:tgtEl>
                                          <p:spTgt spid="248010"/>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247878"/>
                                        </p:tgtEl>
                                        <p:attrNameLst>
                                          <p:attrName>style.visibility</p:attrName>
                                        </p:attrNameLst>
                                      </p:cBhvr>
                                      <p:to>
                                        <p:strVal val="visible"/>
                                      </p:to>
                                    </p:set>
                                    <p:animEffect transition="in" filter="slide(fromLeft)">
                                      <p:cBhvr>
                                        <p:cTn id="42" dur="500"/>
                                        <p:tgtEl>
                                          <p:spTgt spid="247878"/>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248011"/>
                                        </p:tgtEl>
                                        <p:attrNameLst>
                                          <p:attrName>style.visibility</p:attrName>
                                        </p:attrNameLst>
                                      </p:cBhvr>
                                      <p:to>
                                        <p:strVal val="visible"/>
                                      </p:to>
                                    </p:set>
                                    <p:animEffect transition="in" filter="checkerboard(across)">
                                      <p:cBhvr>
                                        <p:cTn id="47" dur="500"/>
                                        <p:tgtEl>
                                          <p:spTgt spid="248011"/>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48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9569" name="组合 249857"/>
          <p:cNvGrpSpPr/>
          <p:nvPr/>
        </p:nvGrpSpPr>
        <p:grpSpPr>
          <a:xfrm>
            <a:off x="736600" y="1693863"/>
            <a:ext cx="5689600" cy="2598737"/>
            <a:chOff x="537" y="1265"/>
            <a:chExt cx="3584" cy="1637"/>
          </a:xfrm>
        </p:grpSpPr>
        <p:sp>
          <p:nvSpPr>
            <p:cNvPr id="109570" name="直接连接符 249858"/>
            <p:cNvSpPr/>
            <p:nvPr/>
          </p:nvSpPr>
          <p:spPr>
            <a:xfrm flipV="1">
              <a:off x="3482" y="2428"/>
              <a:ext cx="0" cy="320"/>
            </a:xfrm>
            <a:prstGeom prst="line">
              <a:avLst/>
            </a:prstGeom>
            <a:ln w="50800" cap="flat" cmpd="sng">
              <a:solidFill>
                <a:srgbClr val="FF0000"/>
              </a:solidFill>
              <a:prstDash val="solid"/>
              <a:round/>
              <a:headEnd type="none" w="med" len="med"/>
              <a:tailEnd type="none" w="med" len="med"/>
            </a:ln>
          </p:spPr>
        </p:sp>
        <p:sp>
          <p:nvSpPr>
            <p:cNvPr id="109571" name="直接连接符 249859"/>
            <p:cNvSpPr/>
            <p:nvPr/>
          </p:nvSpPr>
          <p:spPr>
            <a:xfrm>
              <a:off x="1125" y="2419"/>
              <a:ext cx="544" cy="0"/>
            </a:xfrm>
            <a:prstGeom prst="line">
              <a:avLst/>
            </a:prstGeom>
            <a:ln w="50800" cap="flat" cmpd="sng">
              <a:solidFill>
                <a:srgbClr val="FF0000"/>
              </a:solidFill>
              <a:prstDash val="solid"/>
              <a:round/>
              <a:headEnd type="none" w="med" len="med"/>
              <a:tailEnd type="triangle" w="med" len="med"/>
            </a:ln>
          </p:spPr>
        </p:sp>
        <p:sp>
          <p:nvSpPr>
            <p:cNvPr id="109572" name="直接连接符 249860"/>
            <p:cNvSpPr/>
            <p:nvPr/>
          </p:nvSpPr>
          <p:spPr>
            <a:xfrm>
              <a:off x="2009" y="2490"/>
              <a:ext cx="1072" cy="0"/>
            </a:xfrm>
            <a:prstGeom prst="line">
              <a:avLst/>
            </a:prstGeom>
            <a:ln w="50800" cap="flat" cmpd="sng">
              <a:solidFill>
                <a:srgbClr val="FF0000"/>
              </a:solidFill>
              <a:prstDash val="solid"/>
              <a:round/>
              <a:headEnd type="none" w="med" len="med"/>
              <a:tailEnd type="triangle" w="med" len="med"/>
            </a:ln>
          </p:spPr>
        </p:sp>
        <p:sp>
          <p:nvSpPr>
            <p:cNvPr id="109573" name="直接连接符 249861"/>
            <p:cNvSpPr/>
            <p:nvPr/>
          </p:nvSpPr>
          <p:spPr>
            <a:xfrm>
              <a:off x="1385" y="2902"/>
              <a:ext cx="304" cy="0"/>
            </a:xfrm>
            <a:prstGeom prst="line">
              <a:avLst/>
            </a:prstGeom>
            <a:ln w="50800" cap="flat" cmpd="sng">
              <a:solidFill>
                <a:srgbClr val="FF0000"/>
              </a:solidFill>
              <a:prstDash val="solid"/>
              <a:round/>
              <a:headEnd type="none" w="med" len="med"/>
              <a:tailEnd type="triangle" w="med" len="med"/>
            </a:ln>
          </p:spPr>
        </p:sp>
        <p:sp>
          <p:nvSpPr>
            <p:cNvPr id="109574" name="直接连接符 249862"/>
            <p:cNvSpPr/>
            <p:nvPr/>
          </p:nvSpPr>
          <p:spPr>
            <a:xfrm>
              <a:off x="3497" y="2442"/>
              <a:ext cx="256" cy="0"/>
            </a:xfrm>
            <a:prstGeom prst="line">
              <a:avLst/>
            </a:prstGeom>
            <a:ln w="50800" cap="flat" cmpd="sng">
              <a:solidFill>
                <a:srgbClr val="FF0000"/>
              </a:solidFill>
              <a:prstDash val="solid"/>
              <a:round/>
              <a:headEnd type="none" w="med" len="med"/>
              <a:tailEnd type="triangle" w="med" len="med"/>
            </a:ln>
          </p:spPr>
        </p:sp>
        <p:sp>
          <p:nvSpPr>
            <p:cNvPr id="109575" name="直接连接符 249863"/>
            <p:cNvSpPr/>
            <p:nvPr/>
          </p:nvSpPr>
          <p:spPr>
            <a:xfrm>
              <a:off x="3305" y="2730"/>
              <a:ext cx="160" cy="0"/>
            </a:xfrm>
            <a:prstGeom prst="line">
              <a:avLst/>
            </a:prstGeom>
            <a:ln w="50800" cap="flat" cmpd="sng">
              <a:solidFill>
                <a:srgbClr val="FF0000"/>
              </a:solidFill>
              <a:prstDash val="solid"/>
              <a:round/>
              <a:headEnd type="none" w="med" len="med"/>
              <a:tailEnd type="none" w="med" len="med"/>
            </a:ln>
          </p:spPr>
        </p:sp>
        <p:grpSp>
          <p:nvGrpSpPr>
            <p:cNvPr id="109576" name="组合 249864"/>
            <p:cNvGrpSpPr/>
            <p:nvPr/>
          </p:nvGrpSpPr>
          <p:grpSpPr>
            <a:xfrm>
              <a:off x="537" y="1265"/>
              <a:ext cx="3584" cy="1072"/>
              <a:chOff x="464" y="1184"/>
              <a:chExt cx="3584" cy="1072"/>
            </a:xfrm>
          </p:grpSpPr>
          <p:sp>
            <p:nvSpPr>
              <p:cNvPr id="109577" name="直接连接符 249865"/>
              <p:cNvSpPr/>
              <p:nvPr/>
            </p:nvSpPr>
            <p:spPr>
              <a:xfrm>
                <a:off x="3904" y="2160"/>
                <a:ext cx="112" cy="0"/>
              </a:xfrm>
              <a:prstGeom prst="line">
                <a:avLst/>
              </a:prstGeom>
              <a:ln w="50800" cap="flat" cmpd="sng">
                <a:solidFill>
                  <a:srgbClr val="FF0000"/>
                </a:solidFill>
                <a:prstDash val="solid"/>
                <a:round/>
                <a:headEnd type="none" w="med" len="med"/>
                <a:tailEnd type="none" w="med" len="med"/>
              </a:ln>
            </p:spPr>
          </p:sp>
          <p:grpSp>
            <p:nvGrpSpPr>
              <p:cNvPr id="109578" name="组合 249866"/>
              <p:cNvGrpSpPr/>
              <p:nvPr/>
            </p:nvGrpSpPr>
            <p:grpSpPr>
              <a:xfrm>
                <a:off x="464" y="1184"/>
                <a:ext cx="3584" cy="1072"/>
                <a:chOff x="464" y="1184"/>
                <a:chExt cx="3584" cy="1072"/>
              </a:xfrm>
            </p:grpSpPr>
            <p:sp>
              <p:nvSpPr>
                <p:cNvPr id="109579" name="直接连接符 249867"/>
                <p:cNvSpPr/>
                <p:nvPr/>
              </p:nvSpPr>
              <p:spPr>
                <a:xfrm flipV="1">
                  <a:off x="4032" y="1184"/>
                  <a:ext cx="0" cy="992"/>
                </a:xfrm>
                <a:prstGeom prst="line">
                  <a:avLst/>
                </a:prstGeom>
                <a:ln w="50800" cap="flat" cmpd="sng">
                  <a:solidFill>
                    <a:srgbClr val="FF0000"/>
                  </a:solidFill>
                  <a:prstDash val="solid"/>
                  <a:round/>
                  <a:headEnd type="none" w="med" len="med"/>
                  <a:tailEnd type="none" w="med" len="med"/>
                </a:ln>
              </p:spPr>
            </p:sp>
            <p:sp>
              <p:nvSpPr>
                <p:cNvPr id="109580" name="直接连接符 249868"/>
                <p:cNvSpPr/>
                <p:nvPr/>
              </p:nvSpPr>
              <p:spPr>
                <a:xfrm flipH="1">
                  <a:off x="464" y="1200"/>
                  <a:ext cx="3584" cy="0"/>
                </a:xfrm>
                <a:prstGeom prst="line">
                  <a:avLst/>
                </a:prstGeom>
                <a:ln w="50800" cap="flat" cmpd="sng">
                  <a:solidFill>
                    <a:srgbClr val="FF0000"/>
                  </a:solidFill>
                  <a:prstDash val="solid"/>
                  <a:round/>
                  <a:headEnd type="none" w="med" len="med"/>
                  <a:tailEnd type="none" w="med" len="med"/>
                </a:ln>
              </p:spPr>
            </p:sp>
            <p:sp>
              <p:nvSpPr>
                <p:cNvPr id="109581" name="直接连接符 249869"/>
                <p:cNvSpPr/>
                <p:nvPr/>
              </p:nvSpPr>
              <p:spPr>
                <a:xfrm>
                  <a:off x="480" y="1216"/>
                  <a:ext cx="0" cy="1024"/>
                </a:xfrm>
                <a:prstGeom prst="line">
                  <a:avLst/>
                </a:prstGeom>
                <a:ln w="50800" cap="flat" cmpd="sng">
                  <a:solidFill>
                    <a:srgbClr val="FF0000"/>
                  </a:solidFill>
                  <a:prstDash val="solid"/>
                  <a:round/>
                  <a:headEnd type="none" w="med" len="med"/>
                  <a:tailEnd type="none" w="med" len="med"/>
                </a:ln>
              </p:spPr>
            </p:sp>
            <p:sp>
              <p:nvSpPr>
                <p:cNvPr id="109582" name="直接连接符 249870"/>
                <p:cNvSpPr/>
                <p:nvPr/>
              </p:nvSpPr>
              <p:spPr>
                <a:xfrm>
                  <a:off x="496" y="2256"/>
                  <a:ext cx="352" cy="0"/>
                </a:xfrm>
                <a:prstGeom prst="line">
                  <a:avLst/>
                </a:prstGeom>
                <a:ln w="50800" cap="flat" cmpd="sng">
                  <a:solidFill>
                    <a:srgbClr val="FF0000"/>
                  </a:solidFill>
                  <a:prstDash val="solid"/>
                  <a:round/>
                  <a:headEnd type="none" w="med" len="med"/>
                  <a:tailEnd type="triangle" w="med" len="med"/>
                </a:ln>
              </p:spPr>
            </p:sp>
          </p:grpSp>
        </p:grpSp>
      </p:grpSp>
      <p:sp>
        <p:nvSpPr>
          <p:cNvPr id="109583" name="标题 249871"/>
          <p:cNvSpPr>
            <a:spLocks noGrp="1"/>
          </p:cNvSpPr>
          <p:nvPr>
            <p:ph type="title"/>
          </p:nvPr>
        </p:nvSpPr>
        <p:spPr>
          <a:xfrm>
            <a:off x="-301625" y="228600"/>
            <a:ext cx="9737725" cy="479425"/>
          </a:xfrm>
          <a:ln/>
        </p:spPr>
        <p:txBody>
          <a:bodyPr vert="horz" wrap="square" lIns="63500" tIns="25400" rIns="63500" bIns="25400" anchor="t" anchorCtr="0">
            <a:spAutoFit/>
          </a:bodyPr>
          <a:p>
            <a:r>
              <a:rPr lang="en-US" altLang="zh-CN" sz="3200">
                <a:ea typeface="宋体" panose="02010600030101010101" pitchFamily="2" charset="-122"/>
              </a:rPr>
              <a:t>R</a:t>
            </a:r>
            <a:r>
              <a:rPr lang="zh-CN" altLang="en-US" sz="3200" dirty="0">
                <a:ea typeface="宋体" panose="02010600030101010101" pitchFamily="2" charset="-122"/>
              </a:rPr>
              <a:t>型指令（</a:t>
            </a:r>
            <a:r>
              <a:rPr lang="en-US" altLang="zh-CN" sz="3200">
                <a:ea typeface="宋体" panose="02010600030101010101" pitchFamily="2" charset="-122"/>
              </a:rPr>
              <a:t>Add /Sub</a:t>
            </a:r>
            <a:r>
              <a:rPr lang="zh-CN" altLang="en-US" sz="3200" dirty="0">
                <a:ea typeface="宋体" panose="02010600030101010101" pitchFamily="2" charset="-122"/>
              </a:rPr>
              <a:t>）最后阶段取指部件中的动作</a:t>
            </a:r>
            <a:endParaRPr lang="zh-CN" altLang="en-US" sz="3200" dirty="0">
              <a:ea typeface="宋体" panose="02010600030101010101" pitchFamily="2" charset="-122"/>
            </a:endParaRPr>
          </a:p>
        </p:txBody>
      </p:sp>
      <p:sp>
        <p:nvSpPr>
          <p:cNvPr id="109584" name="直接连接符 249872"/>
          <p:cNvSpPr/>
          <p:nvPr/>
        </p:nvSpPr>
        <p:spPr>
          <a:xfrm flipH="1">
            <a:off x="2051050" y="3338513"/>
            <a:ext cx="88900" cy="131762"/>
          </a:xfrm>
          <a:prstGeom prst="line">
            <a:avLst/>
          </a:prstGeom>
          <a:ln w="12700" cap="flat" cmpd="sng">
            <a:solidFill>
              <a:schemeClr val="tx1"/>
            </a:solidFill>
            <a:prstDash val="solid"/>
            <a:round/>
            <a:headEnd type="none" w="med" len="med"/>
            <a:tailEnd type="none" w="med" len="med"/>
          </a:ln>
        </p:spPr>
      </p:sp>
      <p:sp>
        <p:nvSpPr>
          <p:cNvPr id="109585" name="矩形 249873"/>
          <p:cNvSpPr/>
          <p:nvPr/>
        </p:nvSpPr>
        <p:spPr>
          <a:xfrm>
            <a:off x="1814513" y="34734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30</a:t>
            </a:r>
            <a:endParaRPr lang="zh-CN" altLang="en-US" sz="1800" dirty="0">
              <a:latin typeface="Arial" panose="020B0604020202020204" pitchFamily="34" charset="0"/>
              <a:ea typeface="黑体" panose="02010609060101010101" pitchFamily="49" charset="-122"/>
            </a:endParaRPr>
          </a:p>
        </p:txBody>
      </p:sp>
      <p:sp>
        <p:nvSpPr>
          <p:cNvPr id="249875" name="直接连接符 249874"/>
          <p:cNvSpPr/>
          <p:nvPr/>
        </p:nvSpPr>
        <p:spPr>
          <a:xfrm>
            <a:off x="3101975" y="3632200"/>
            <a:ext cx="1701800" cy="0"/>
          </a:xfrm>
          <a:prstGeom prst="line">
            <a:avLst/>
          </a:prstGeom>
          <a:ln w="50800" cap="flat" cmpd="sng">
            <a:solidFill>
              <a:srgbClr val="0000FF"/>
            </a:solidFill>
            <a:prstDash val="solid"/>
            <a:round/>
            <a:headEnd type="none" w="med" len="med"/>
            <a:tailEnd type="triangle" w="med" len="med"/>
          </a:ln>
        </p:spPr>
      </p:sp>
      <p:sp>
        <p:nvSpPr>
          <p:cNvPr id="109587" name="直接连接符 249875"/>
          <p:cNvSpPr/>
          <p:nvPr/>
        </p:nvSpPr>
        <p:spPr>
          <a:xfrm flipH="1">
            <a:off x="4184650" y="3562350"/>
            <a:ext cx="88900" cy="166688"/>
          </a:xfrm>
          <a:prstGeom prst="line">
            <a:avLst/>
          </a:prstGeom>
          <a:ln w="12700" cap="flat" cmpd="sng">
            <a:solidFill>
              <a:schemeClr val="tx1"/>
            </a:solidFill>
            <a:prstDash val="solid"/>
            <a:round/>
            <a:headEnd type="none" w="med" len="med"/>
            <a:tailEnd type="none" w="med" len="med"/>
          </a:ln>
        </p:spPr>
      </p:sp>
      <p:sp>
        <p:nvSpPr>
          <p:cNvPr id="109588" name="矩形 249876"/>
          <p:cNvSpPr/>
          <p:nvPr/>
        </p:nvSpPr>
        <p:spPr>
          <a:xfrm>
            <a:off x="4024313" y="37369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30</a:t>
            </a:r>
            <a:endParaRPr lang="zh-CN" altLang="en-US" sz="1800" dirty="0">
              <a:latin typeface="Arial" panose="020B0604020202020204" pitchFamily="34" charset="0"/>
              <a:ea typeface="黑体" panose="02010609060101010101" pitchFamily="49" charset="-122"/>
            </a:endParaRPr>
          </a:p>
        </p:txBody>
      </p:sp>
      <p:sp>
        <p:nvSpPr>
          <p:cNvPr id="109589" name="矩形 249877"/>
          <p:cNvSpPr/>
          <p:nvPr/>
        </p:nvSpPr>
        <p:spPr>
          <a:xfrm rot="5400000">
            <a:off x="2243138" y="4995863"/>
            <a:ext cx="1031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SignExt</a:t>
            </a:r>
            <a:endParaRPr lang="en-US" altLang="zh-CN" sz="1800">
              <a:latin typeface="Arial" panose="020B0604020202020204" pitchFamily="34" charset="0"/>
              <a:ea typeface="黑体" panose="02010609060101010101" pitchFamily="49" charset="-122"/>
            </a:endParaRPr>
          </a:p>
        </p:txBody>
      </p:sp>
      <p:sp>
        <p:nvSpPr>
          <p:cNvPr id="109590" name="直接连接符 249878"/>
          <p:cNvSpPr/>
          <p:nvPr/>
        </p:nvSpPr>
        <p:spPr>
          <a:xfrm>
            <a:off x="4127500" y="4465638"/>
            <a:ext cx="660400" cy="0"/>
          </a:xfrm>
          <a:prstGeom prst="line">
            <a:avLst/>
          </a:prstGeom>
          <a:ln w="25400" cap="flat" cmpd="sng">
            <a:solidFill>
              <a:schemeClr val="tx1"/>
            </a:solidFill>
            <a:prstDash val="solid"/>
            <a:round/>
            <a:headEnd type="none" w="med" len="med"/>
            <a:tailEnd type="triangle" w="med" len="med"/>
          </a:ln>
        </p:spPr>
      </p:sp>
      <p:sp>
        <p:nvSpPr>
          <p:cNvPr id="109591" name="矩形 249879"/>
          <p:cNvSpPr/>
          <p:nvPr/>
        </p:nvSpPr>
        <p:spPr>
          <a:xfrm>
            <a:off x="4195763" y="45767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30</a:t>
            </a:r>
            <a:endParaRPr lang="zh-CN" altLang="en-US" sz="1800" dirty="0">
              <a:latin typeface="Arial" panose="020B0604020202020204" pitchFamily="34" charset="0"/>
              <a:ea typeface="黑体" panose="02010609060101010101" pitchFamily="49" charset="-122"/>
            </a:endParaRPr>
          </a:p>
        </p:txBody>
      </p:sp>
      <p:sp>
        <p:nvSpPr>
          <p:cNvPr id="109592" name="直接连接符 249880"/>
          <p:cNvSpPr/>
          <p:nvPr/>
        </p:nvSpPr>
        <p:spPr>
          <a:xfrm flipH="1">
            <a:off x="4337050" y="4400550"/>
            <a:ext cx="88900" cy="139700"/>
          </a:xfrm>
          <a:prstGeom prst="line">
            <a:avLst/>
          </a:prstGeom>
          <a:ln w="12700" cap="flat" cmpd="sng">
            <a:solidFill>
              <a:schemeClr val="tx1"/>
            </a:solidFill>
            <a:prstDash val="solid"/>
            <a:round/>
            <a:headEnd type="none" w="med" len="med"/>
            <a:tailEnd type="none" w="med" len="med"/>
          </a:ln>
        </p:spPr>
      </p:sp>
      <p:sp>
        <p:nvSpPr>
          <p:cNvPr id="109593" name="直接连接符 249881"/>
          <p:cNvSpPr/>
          <p:nvPr/>
        </p:nvSpPr>
        <p:spPr>
          <a:xfrm>
            <a:off x="1917700" y="5156200"/>
            <a:ext cx="660400" cy="0"/>
          </a:xfrm>
          <a:prstGeom prst="line">
            <a:avLst/>
          </a:prstGeom>
          <a:ln w="25400" cap="flat" cmpd="sng">
            <a:solidFill>
              <a:schemeClr val="tx1"/>
            </a:solidFill>
            <a:prstDash val="solid"/>
            <a:round/>
            <a:headEnd type="none" w="med" len="med"/>
            <a:tailEnd type="triangle" w="med" len="med"/>
          </a:ln>
        </p:spPr>
      </p:sp>
      <p:sp>
        <p:nvSpPr>
          <p:cNvPr id="109594" name="直接连接符 249882"/>
          <p:cNvSpPr/>
          <p:nvPr/>
        </p:nvSpPr>
        <p:spPr>
          <a:xfrm flipH="1">
            <a:off x="2127250" y="5073650"/>
            <a:ext cx="88900" cy="133350"/>
          </a:xfrm>
          <a:prstGeom prst="line">
            <a:avLst/>
          </a:prstGeom>
          <a:ln w="12700" cap="flat" cmpd="sng">
            <a:solidFill>
              <a:schemeClr val="tx1"/>
            </a:solidFill>
            <a:prstDash val="solid"/>
            <a:round/>
            <a:headEnd type="none" w="med" len="med"/>
            <a:tailEnd type="none" w="med" len="med"/>
          </a:ln>
        </p:spPr>
      </p:sp>
      <p:sp>
        <p:nvSpPr>
          <p:cNvPr id="109595" name="矩形 249883"/>
          <p:cNvSpPr/>
          <p:nvPr/>
        </p:nvSpPr>
        <p:spPr>
          <a:xfrm>
            <a:off x="2030413" y="479583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16</a:t>
            </a:r>
            <a:endParaRPr lang="zh-CN" altLang="en-US" sz="1800" dirty="0">
              <a:latin typeface="Arial" panose="020B0604020202020204" pitchFamily="34" charset="0"/>
              <a:ea typeface="黑体" panose="02010609060101010101" pitchFamily="49" charset="-122"/>
            </a:endParaRPr>
          </a:p>
        </p:txBody>
      </p:sp>
      <p:sp>
        <p:nvSpPr>
          <p:cNvPr id="109596" name="矩形 249884"/>
          <p:cNvSpPr/>
          <p:nvPr/>
        </p:nvSpPr>
        <p:spPr>
          <a:xfrm>
            <a:off x="1065213" y="4941888"/>
            <a:ext cx="9048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imm16</a:t>
            </a:r>
            <a:endParaRPr lang="en-US" altLang="zh-CN" sz="1800">
              <a:latin typeface="Arial" panose="020B0604020202020204" pitchFamily="34" charset="0"/>
              <a:ea typeface="黑体" panose="02010609060101010101" pitchFamily="49" charset="-122"/>
            </a:endParaRPr>
          </a:p>
        </p:txBody>
      </p:sp>
      <p:sp>
        <p:nvSpPr>
          <p:cNvPr id="109597" name="矩形 249885"/>
          <p:cNvSpPr/>
          <p:nvPr/>
        </p:nvSpPr>
        <p:spPr>
          <a:xfrm>
            <a:off x="2603500" y="46355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09598" name="组合 249886"/>
          <p:cNvGrpSpPr/>
          <p:nvPr/>
        </p:nvGrpSpPr>
        <p:grpSpPr>
          <a:xfrm>
            <a:off x="4729163" y="3386138"/>
            <a:ext cx="376237" cy="1325562"/>
            <a:chOff x="2979" y="2245"/>
            <a:chExt cx="237" cy="835"/>
          </a:xfrm>
        </p:grpSpPr>
        <p:grpSp>
          <p:nvGrpSpPr>
            <p:cNvPr id="109599" name="组合 249887"/>
            <p:cNvGrpSpPr/>
            <p:nvPr/>
          </p:nvGrpSpPr>
          <p:grpSpPr>
            <a:xfrm>
              <a:off x="3024" y="2245"/>
              <a:ext cx="192" cy="835"/>
              <a:chOff x="3024" y="2245"/>
              <a:chExt cx="192" cy="835"/>
            </a:xfrm>
          </p:grpSpPr>
          <p:sp>
            <p:nvSpPr>
              <p:cNvPr id="109600" name="直接连接符 249888"/>
              <p:cNvSpPr/>
              <p:nvPr/>
            </p:nvSpPr>
            <p:spPr>
              <a:xfrm>
                <a:off x="3024" y="2245"/>
                <a:ext cx="0" cy="819"/>
              </a:xfrm>
              <a:prstGeom prst="line">
                <a:avLst/>
              </a:prstGeom>
              <a:ln w="25400" cap="flat" cmpd="sng">
                <a:solidFill>
                  <a:schemeClr val="tx1"/>
                </a:solidFill>
                <a:prstDash val="solid"/>
                <a:round/>
                <a:headEnd type="none" w="med" len="med"/>
                <a:tailEnd type="none" w="med" len="med"/>
              </a:ln>
            </p:spPr>
          </p:sp>
          <p:sp>
            <p:nvSpPr>
              <p:cNvPr id="109601" name="直接连接符 249889"/>
              <p:cNvSpPr/>
              <p:nvPr/>
            </p:nvSpPr>
            <p:spPr>
              <a:xfrm>
                <a:off x="3032" y="2245"/>
                <a:ext cx="176" cy="95"/>
              </a:xfrm>
              <a:prstGeom prst="line">
                <a:avLst/>
              </a:prstGeom>
              <a:ln w="25400" cap="flat" cmpd="sng">
                <a:solidFill>
                  <a:schemeClr val="tx1"/>
                </a:solidFill>
                <a:prstDash val="solid"/>
                <a:round/>
                <a:headEnd type="none" w="med" len="med"/>
                <a:tailEnd type="none" w="med" len="med"/>
              </a:ln>
            </p:spPr>
          </p:sp>
          <p:sp>
            <p:nvSpPr>
              <p:cNvPr id="109602" name="直接连接符 249890"/>
              <p:cNvSpPr/>
              <p:nvPr/>
            </p:nvSpPr>
            <p:spPr>
              <a:xfrm flipV="1">
                <a:off x="3032" y="2953"/>
                <a:ext cx="176" cy="127"/>
              </a:xfrm>
              <a:prstGeom prst="line">
                <a:avLst/>
              </a:prstGeom>
              <a:ln w="25400" cap="flat" cmpd="sng">
                <a:solidFill>
                  <a:schemeClr val="tx1"/>
                </a:solidFill>
                <a:prstDash val="solid"/>
                <a:round/>
                <a:headEnd type="none" w="med" len="med"/>
                <a:tailEnd type="none" w="med" len="med"/>
              </a:ln>
            </p:spPr>
          </p:sp>
          <p:sp>
            <p:nvSpPr>
              <p:cNvPr id="109603" name="直接连接符 249891"/>
              <p:cNvSpPr/>
              <p:nvPr/>
            </p:nvSpPr>
            <p:spPr>
              <a:xfrm>
                <a:off x="3216" y="2356"/>
                <a:ext cx="0" cy="597"/>
              </a:xfrm>
              <a:prstGeom prst="line">
                <a:avLst/>
              </a:prstGeom>
              <a:ln w="25400" cap="flat" cmpd="sng">
                <a:solidFill>
                  <a:schemeClr val="tx1"/>
                </a:solidFill>
                <a:prstDash val="solid"/>
                <a:round/>
                <a:headEnd type="none" w="med" len="med"/>
                <a:tailEnd type="none" w="med" len="med"/>
              </a:ln>
            </p:spPr>
          </p:sp>
        </p:grpSp>
        <p:sp>
          <p:nvSpPr>
            <p:cNvPr id="109604" name="矩形 249892"/>
            <p:cNvSpPr/>
            <p:nvPr/>
          </p:nvSpPr>
          <p:spPr>
            <a:xfrm rot="5400000">
              <a:off x="2888" y="2562"/>
              <a:ext cx="402"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Mux</a:t>
              </a:r>
              <a:endParaRPr lang="en-US" altLang="zh-CN" sz="1800">
                <a:latin typeface="Arial" panose="020B0604020202020204" pitchFamily="34" charset="0"/>
                <a:ea typeface="黑体" panose="02010609060101010101" pitchFamily="49" charset="-122"/>
              </a:endParaRPr>
            </a:p>
          </p:txBody>
        </p:sp>
        <p:sp>
          <p:nvSpPr>
            <p:cNvPr id="109605" name="矩形 249893"/>
            <p:cNvSpPr/>
            <p:nvPr/>
          </p:nvSpPr>
          <p:spPr>
            <a:xfrm>
              <a:off x="3015" y="2325"/>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09606" name="矩形 249894"/>
            <p:cNvSpPr/>
            <p:nvPr/>
          </p:nvSpPr>
          <p:spPr>
            <a:xfrm>
              <a:off x="3015" y="2795"/>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grpSp>
      <p:grpSp>
        <p:nvGrpSpPr>
          <p:cNvPr id="109607" name="组合 249895"/>
          <p:cNvGrpSpPr/>
          <p:nvPr/>
        </p:nvGrpSpPr>
        <p:grpSpPr>
          <a:xfrm>
            <a:off x="2590800" y="3271838"/>
            <a:ext cx="476250" cy="1157287"/>
            <a:chOff x="1632" y="2173"/>
            <a:chExt cx="300" cy="729"/>
          </a:xfrm>
        </p:grpSpPr>
        <p:grpSp>
          <p:nvGrpSpPr>
            <p:cNvPr id="109608" name="组合 249896"/>
            <p:cNvGrpSpPr/>
            <p:nvPr/>
          </p:nvGrpSpPr>
          <p:grpSpPr>
            <a:xfrm>
              <a:off x="1632" y="2173"/>
              <a:ext cx="288" cy="729"/>
              <a:chOff x="1632" y="2173"/>
              <a:chExt cx="288" cy="729"/>
            </a:xfrm>
          </p:grpSpPr>
          <p:sp>
            <p:nvSpPr>
              <p:cNvPr id="109609" name="直接连接符 249897"/>
              <p:cNvSpPr/>
              <p:nvPr/>
            </p:nvSpPr>
            <p:spPr>
              <a:xfrm>
                <a:off x="1632" y="2173"/>
                <a:ext cx="0" cy="166"/>
              </a:xfrm>
              <a:prstGeom prst="line">
                <a:avLst/>
              </a:prstGeom>
              <a:ln w="25400" cap="flat" cmpd="sng">
                <a:solidFill>
                  <a:schemeClr val="tx1"/>
                </a:solidFill>
                <a:prstDash val="solid"/>
                <a:round/>
                <a:headEnd type="none" w="med" len="med"/>
                <a:tailEnd type="none" w="med" len="med"/>
              </a:ln>
            </p:spPr>
          </p:sp>
          <p:sp>
            <p:nvSpPr>
              <p:cNvPr id="109610" name="直接连接符 249898"/>
              <p:cNvSpPr/>
              <p:nvPr/>
            </p:nvSpPr>
            <p:spPr>
              <a:xfrm>
                <a:off x="1640" y="2173"/>
                <a:ext cx="272" cy="166"/>
              </a:xfrm>
              <a:prstGeom prst="line">
                <a:avLst/>
              </a:prstGeom>
              <a:ln w="25400" cap="flat" cmpd="sng">
                <a:solidFill>
                  <a:schemeClr val="tx1"/>
                </a:solidFill>
                <a:prstDash val="solid"/>
                <a:round/>
                <a:headEnd type="none" w="med" len="med"/>
                <a:tailEnd type="none" w="med" len="med"/>
              </a:ln>
            </p:spPr>
          </p:sp>
          <p:sp>
            <p:nvSpPr>
              <p:cNvPr id="109611" name="直接连接符 249899"/>
              <p:cNvSpPr/>
              <p:nvPr/>
            </p:nvSpPr>
            <p:spPr>
              <a:xfrm>
                <a:off x="1640" y="2355"/>
                <a:ext cx="128" cy="76"/>
              </a:xfrm>
              <a:prstGeom prst="line">
                <a:avLst/>
              </a:prstGeom>
              <a:ln w="25400" cap="flat" cmpd="sng">
                <a:solidFill>
                  <a:schemeClr val="tx1"/>
                </a:solidFill>
                <a:prstDash val="solid"/>
                <a:round/>
                <a:headEnd type="none" w="med" len="med"/>
                <a:tailEnd type="none" w="med" len="med"/>
              </a:ln>
            </p:spPr>
          </p:sp>
          <p:sp>
            <p:nvSpPr>
              <p:cNvPr id="109612" name="直接连接符 249900"/>
              <p:cNvSpPr/>
              <p:nvPr/>
            </p:nvSpPr>
            <p:spPr>
              <a:xfrm>
                <a:off x="1776" y="2447"/>
                <a:ext cx="0" cy="166"/>
              </a:xfrm>
              <a:prstGeom prst="line">
                <a:avLst/>
              </a:prstGeom>
              <a:ln w="25400" cap="flat" cmpd="sng">
                <a:solidFill>
                  <a:schemeClr val="tx1"/>
                </a:solidFill>
                <a:prstDash val="solid"/>
                <a:round/>
                <a:headEnd type="none" w="med" len="med"/>
                <a:tailEnd type="none" w="med" len="med"/>
              </a:ln>
            </p:spPr>
          </p:sp>
          <p:sp>
            <p:nvSpPr>
              <p:cNvPr id="109613" name="直接连接符 249901"/>
              <p:cNvSpPr/>
              <p:nvPr/>
            </p:nvSpPr>
            <p:spPr>
              <a:xfrm>
                <a:off x="1920" y="2355"/>
                <a:ext cx="0" cy="349"/>
              </a:xfrm>
              <a:prstGeom prst="line">
                <a:avLst/>
              </a:prstGeom>
              <a:ln w="25400" cap="flat" cmpd="sng">
                <a:solidFill>
                  <a:schemeClr val="tx1"/>
                </a:solidFill>
                <a:prstDash val="solid"/>
                <a:round/>
                <a:headEnd type="none" w="med" len="med"/>
                <a:tailEnd type="none" w="med" len="med"/>
              </a:ln>
            </p:spPr>
          </p:sp>
          <p:sp>
            <p:nvSpPr>
              <p:cNvPr id="109614" name="直接连接符 249902"/>
              <p:cNvSpPr/>
              <p:nvPr/>
            </p:nvSpPr>
            <p:spPr>
              <a:xfrm flipV="1">
                <a:off x="1640" y="2613"/>
                <a:ext cx="128" cy="107"/>
              </a:xfrm>
              <a:prstGeom prst="line">
                <a:avLst/>
              </a:prstGeom>
              <a:ln w="25400" cap="flat" cmpd="sng">
                <a:solidFill>
                  <a:schemeClr val="tx1"/>
                </a:solidFill>
                <a:prstDash val="solid"/>
                <a:round/>
                <a:headEnd type="none" w="med" len="med"/>
                <a:tailEnd type="none" w="med" len="med"/>
              </a:ln>
            </p:spPr>
          </p:sp>
          <p:sp>
            <p:nvSpPr>
              <p:cNvPr id="109615" name="直接连接符 249903"/>
              <p:cNvSpPr/>
              <p:nvPr/>
            </p:nvSpPr>
            <p:spPr>
              <a:xfrm>
                <a:off x="1632" y="2720"/>
                <a:ext cx="0" cy="166"/>
              </a:xfrm>
              <a:prstGeom prst="line">
                <a:avLst/>
              </a:prstGeom>
              <a:ln w="25400" cap="flat" cmpd="sng">
                <a:solidFill>
                  <a:schemeClr val="tx1"/>
                </a:solidFill>
                <a:prstDash val="solid"/>
                <a:round/>
                <a:headEnd type="none" w="med" len="med"/>
                <a:tailEnd type="none" w="med" len="med"/>
              </a:ln>
            </p:spPr>
          </p:sp>
          <p:sp>
            <p:nvSpPr>
              <p:cNvPr id="109616" name="直接连接符 249904"/>
              <p:cNvSpPr/>
              <p:nvPr/>
            </p:nvSpPr>
            <p:spPr>
              <a:xfrm flipV="1">
                <a:off x="1640" y="2704"/>
                <a:ext cx="272" cy="198"/>
              </a:xfrm>
              <a:prstGeom prst="line">
                <a:avLst/>
              </a:prstGeom>
              <a:ln w="25400" cap="flat" cmpd="sng">
                <a:solidFill>
                  <a:schemeClr val="tx1"/>
                </a:solidFill>
                <a:prstDash val="solid"/>
                <a:round/>
                <a:headEnd type="none" w="med" len="med"/>
                <a:tailEnd type="none" w="med" len="med"/>
              </a:ln>
            </p:spPr>
          </p:sp>
        </p:grpSp>
        <p:sp>
          <p:nvSpPr>
            <p:cNvPr id="109617" name="矩形 249905"/>
            <p:cNvSpPr/>
            <p:nvPr/>
          </p:nvSpPr>
          <p:spPr>
            <a:xfrm rot="5400000">
              <a:off x="1548" y="2456"/>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Adder</a:t>
              </a:r>
              <a:endParaRPr lang="en-US" altLang="zh-CN" sz="1800">
                <a:latin typeface="Arial" panose="020B0604020202020204" pitchFamily="34" charset="0"/>
                <a:ea typeface="黑体" panose="02010609060101010101" pitchFamily="49" charset="-122"/>
              </a:endParaRPr>
            </a:p>
          </p:txBody>
        </p:sp>
      </p:grpSp>
      <p:sp>
        <p:nvSpPr>
          <p:cNvPr id="109618" name="矩形 249906"/>
          <p:cNvSpPr/>
          <p:nvPr/>
        </p:nvSpPr>
        <p:spPr>
          <a:xfrm>
            <a:off x="1814513" y="3937000"/>
            <a:ext cx="5365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“1”</a:t>
            </a:r>
            <a:endParaRPr lang="zh-CN" altLang="en-US" sz="1800" dirty="0">
              <a:latin typeface="Arial" panose="020B0604020202020204" pitchFamily="34" charset="0"/>
              <a:ea typeface="黑体" panose="02010609060101010101" pitchFamily="49" charset="-122"/>
            </a:endParaRPr>
          </a:p>
        </p:txBody>
      </p:sp>
      <p:grpSp>
        <p:nvGrpSpPr>
          <p:cNvPr id="109619" name="组合 249907"/>
          <p:cNvGrpSpPr/>
          <p:nvPr/>
        </p:nvGrpSpPr>
        <p:grpSpPr>
          <a:xfrm>
            <a:off x="1308100" y="2806700"/>
            <a:ext cx="585788" cy="2103438"/>
            <a:chOff x="824" y="1880"/>
            <a:chExt cx="369" cy="1325"/>
          </a:xfrm>
        </p:grpSpPr>
        <p:sp>
          <p:nvSpPr>
            <p:cNvPr id="109620" name="矩形 249908"/>
            <p:cNvSpPr/>
            <p:nvPr/>
          </p:nvSpPr>
          <p:spPr>
            <a:xfrm>
              <a:off x="872" y="1880"/>
              <a:ext cx="176" cy="75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9621" name="椭圆 249909"/>
            <p:cNvSpPr/>
            <p:nvPr/>
          </p:nvSpPr>
          <p:spPr>
            <a:xfrm>
              <a:off x="920" y="2648"/>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9622" name="直接连接符 249910"/>
            <p:cNvSpPr/>
            <p:nvPr/>
          </p:nvSpPr>
          <p:spPr>
            <a:xfrm>
              <a:off x="960" y="2744"/>
              <a:ext cx="0" cy="224"/>
            </a:xfrm>
            <a:prstGeom prst="line">
              <a:avLst/>
            </a:prstGeom>
            <a:ln w="25400" cap="flat" cmpd="sng">
              <a:solidFill>
                <a:schemeClr val="tx1"/>
              </a:solidFill>
              <a:prstDash val="solid"/>
              <a:round/>
              <a:headEnd type="none" w="med" len="med"/>
              <a:tailEnd type="none" w="med" len="med"/>
            </a:ln>
          </p:spPr>
        </p:sp>
        <p:sp>
          <p:nvSpPr>
            <p:cNvPr id="109623" name="矩形 249911"/>
            <p:cNvSpPr/>
            <p:nvPr/>
          </p:nvSpPr>
          <p:spPr>
            <a:xfrm rot="5400000">
              <a:off x="777" y="2208"/>
              <a:ext cx="31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PC</a:t>
              </a:r>
              <a:endParaRPr lang="en-US" altLang="zh-CN" sz="1800">
                <a:latin typeface="Arial" panose="020B0604020202020204" pitchFamily="34" charset="0"/>
                <a:ea typeface="黑体" panose="02010609060101010101" pitchFamily="49" charset="-122"/>
              </a:endParaRPr>
            </a:p>
          </p:txBody>
        </p:sp>
        <p:sp>
          <p:nvSpPr>
            <p:cNvPr id="109624" name="矩形 249912"/>
            <p:cNvSpPr/>
            <p:nvPr/>
          </p:nvSpPr>
          <p:spPr>
            <a:xfrm>
              <a:off x="855" y="2976"/>
              <a:ext cx="338" cy="229"/>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黑体" panose="02010609060101010101" pitchFamily="49" charset="-122"/>
                </a:rPr>
                <a:t>Clk</a:t>
              </a:r>
              <a:endParaRPr lang="en-US" altLang="zh-CN" sz="1800">
                <a:solidFill>
                  <a:srgbClr val="A50021"/>
                </a:solidFill>
                <a:latin typeface="Arial" panose="020B0604020202020204" pitchFamily="34" charset="0"/>
                <a:ea typeface="黑体" panose="02010609060101010101" pitchFamily="49" charset="-122"/>
              </a:endParaRPr>
            </a:p>
          </p:txBody>
        </p:sp>
      </p:grpSp>
      <p:grpSp>
        <p:nvGrpSpPr>
          <p:cNvPr id="109625" name="组合 249913"/>
          <p:cNvGrpSpPr/>
          <p:nvPr/>
        </p:nvGrpSpPr>
        <p:grpSpPr>
          <a:xfrm>
            <a:off x="3657600" y="3881438"/>
            <a:ext cx="476250" cy="1157287"/>
            <a:chOff x="2304" y="2557"/>
            <a:chExt cx="300" cy="729"/>
          </a:xfrm>
        </p:grpSpPr>
        <p:grpSp>
          <p:nvGrpSpPr>
            <p:cNvPr id="109626" name="组合 249914"/>
            <p:cNvGrpSpPr/>
            <p:nvPr/>
          </p:nvGrpSpPr>
          <p:grpSpPr>
            <a:xfrm>
              <a:off x="2304" y="2557"/>
              <a:ext cx="288" cy="729"/>
              <a:chOff x="2304" y="2557"/>
              <a:chExt cx="288" cy="729"/>
            </a:xfrm>
          </p:grpSpPr>
          <p:sp>
            <p:nvSpPr>
              <p:cNvPr id="109627" name="直接连接符 249915"/>
              <p:cNvSpPr/>
              <p:nvPr/>
            </p:nvSpPr>
            <p:spPr>
              <a:xfrm>
                <a:off x="2304" y="2557"/>
                <a:ext cx="0" cy="166"/>
              </a:xfrm>
              <a:prstGeom prst="line">
                <a:avLst/>
              </a:prstGeom>
              <a:ln w="25400" cap="flat" cmpd="sng">
                <a:solidFill>
                  <a:schemeClr val="tx1"/>
                </a:solidFill>
                <a:prstDash val="solid"/>
                <a:round/>
                <a:headEnd type="none" w="med" len="med"/>
                <a:tailEnd type="none" w="med" len="med"/>
              </a:ln>
            </p:spPr>
          </p:sp>
          <p:sp>
            <p:nvSpPr>
              <p:cNvPr id="109628" name="直接连接符 249916"/>
              <p:cNvSpPr/>
              <p:nvPr/>
            </p:nvSpPr>
            <p:spPr>
              <a:xfrm>
                <a:off x="2312" y="2557"/>
                <a:ext cx="272" cy="166"/>
              </a:xfrm>
              <a:prstGeom prst="line">
                <a:avLst/>
              </a:prstGeom>
              <a:ln w="25400" cap="flat" cmpd="sng">
                <a:solidFill>
                  <a:schemeClr val="tx1"/>
                </a:solidFill>
                <a:prstDash val="solid"/>
                <a:round/>
                <a:headEnd type="none" w="med" len="med"/>
                <a:tailEnd type="none" w="med" len="med"/>
              </a:ln>
            </p:spPr>
          </p:sp>
          <p:sp>
            <p:nvSpPr>
              <p:cNvPr id="109629" name="直接连接符 249917"/>
              <p:cNvSpPr/>
              <p:nvPr/>
            </p:nvSpPr>
            <p:spPr>
              <a:xfrm>
                <a:off x="2312" y="2739"/>
                <a:ext cx="128" cy="76"/>
              </a:xfrm>
              <a:prstGeom prst="line">
                <a:avLst/>
              </a:prstGeom>
              <a:ln w="25400" cap="flat" cmpd="sng">
                <a:solidFill>
                  <a:schemeClr val="tx1"/>
                </a:solidFill>
                <a:prstDash val="solid"/>
                <a:round/>
                <a:headEnd type="none" w="med" len="med"/>
                <a:tailEnd type="none" w="med" len="med"/>
              </a:ln>
            </p:spPr>
          </p:sp>
          <p:sp>
            <p:nvSpPr>
              <p:cNvPr id="109630" name="直接连接符 249918"/>
              <p:cNvSpPr/>
              <p:nvPr/>
            </p:nvSpPr>
            <p:spPr>
              <a:xfrm>
                <a:off x="2448" y="2831"/>
                <a:ext cx="0" cy="166"/>
              </a:xfrm>
              <a:prstGeom prst="line">
                <a:avLst/>
              </a:prstGeom>
              <a:ln w="25400" cap="flat" cmpd="sng">
                <a:solidFill>
                  <a:schemeClr val="tx1"/>
                </a:solidFill>
                <a:prstDash val="solid"/>
                <a:round/>
                <a:headEnd type="none" w="med" len="med"/>
                <a:tailEnd type="none" w="med" len="med"/>
              </a:ln>
            </p:spPr>
          </p:sp>
          <p:sp>
            <p:nvSpPr>
              <p:cNvPr id="109631" name="直接连接符 249919"/>
              <p:cNvSpPr/>
              <p:nvPr/>
            </p:nvSpPr>
            <p:spPr>
              <a:xfrm>
                <a:off x="2592" y="2739"/>
                <a:ext cx="0" cy="349"/>
              </a:xfrm>
              <a:prstGeom prst="line">
                <a:avLst/>
              </a:prstGeom>
              <a:ln w="25400" cap="flat" cmpd="sng">
                <a:solidFill>
                  <a:schemeClr val="tx1"/>
                </a:solidFill>
                <a:prstDash val="solid"/>
                <a:round/>
                <a:headEnd type="none" w="med" len="med"/>
                <a:tailEnd type="none" w="med" len="med"/>
              </a:ln>
            </p:spPr>
          </p:sp>
          <p:sp>
            <p:nvSpPr>
              <p:cNvPr id="109632" name="直接连接符 249920"/>
              <p:cNvSpPr/>
              <p:nvPr/>
            </p:nvSpPr>
            <p:spPr>
              <a:xfrm flipV="1">
                <a:off x="2312" y="2997"/>
                <a:ext cx="128" cy="107"/>
              </a:xfrm>
              <a:prstGeom prst="line">
                <a:avLst/>
              </a:prstGeom>
              <a:ln w="25400" cap="flat" cmpd="sng">
                <a:solidFill>
                  <a:schemeClr val="tx1"/>
                </a:solidFill>
                <a:prstDash val="solid"/>
                <a:round/>
                <a:headEnd type="none" w="med" len="med"/>
                <a:tailEnd type="none" w="med" len="med"/>
              </a:ln>
            </p:spPr>
          </p:sp>
          <p:sp>
            <p:nvSpPr>
              <p:cNvPr id="109633" name="直接连接符 249921"/>
              <p:cNvSpPr/>
              <p:nvPr/>
            </p:nvSpPr>
            <p:spPr>
              <a:xfrm>
                <a:off x="2304" y="3104"/>
                <a:ext cx="0" cy="166"/>
              </a:xfrm>
              <a:prstGeom prst="line">
                <a:avLst/>
              </a:prstGeom>
              <a:ln w="25400" cap="flat" cmpd="sng">
                <a:solidFill>
                  <a:schemeClr val="tx1"/>
                </a:solidFill>
                <a:prstDash val="solid"/>
                <a:round/>
                <a:headEnd type="none" w="med" len="med"/>
                <a:tailEnd type="none" w="med" len="med"/>
              </a:ln>
            </p:spPr>
          </p:sp>
          <p:sp>
            <p:nvSpPr>
              <p:cNvPr id="109634" name="直接连接符 249922"/>
              <p:cNvSpPr/>
              <p:nvPr/>
            </p:nvSpPr>
            <p:spPr>
              <a:xfrm flipV="1">
                <a:off x="2312" y="3088"/>
                <a:ext cx="272" cy="198"/>
              </a:xfrm>
              <a:prstGeom prst="line">
                <a:avLst/>
              </a:prstGeom>
              <a:ln w="25400" cap="flat" cmpd="sng">
                <a:solidFill>
                  <a:schemeClr val="tx1"/>
                </a:solidFill>
                <a:prstDash val="solid"/>
                <a:round/>
                <a:headEnd type="none" w="med" len="med"/>
                <a:tailEnd type="none" w="med" len="med"/>
              </a:ln>
            </p:spPr>
          </p:sp>
        </p:grpSp>
        <p:sp>
          <p:nvSpPr>
            <p:cNvPr id="109635" name="矩形 249923"/>
            <p:cNvSpPr/>
            <p:nvPr/>
          </p:nvSpPr>
          <p:spPr>
            <a:xfrm rot="5400000">
              <a:off x="2220" y="2840"/>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Adder</a:t>
              </a:r>
              <a:endParaRPr lang="en-US" altLang="zh-CN" sz="1800">
                <a:latin typeface="Arial" panose="020B0604020202020204" pitchFamily="34" charset="0"/>
                <a:ea typeface="黑体" panose="02010609060101010101" pitchFamily="49" charset="-122"/>
              </a:endParaRPr>
            </a:p>
          </p:txBody>
        </p:sp>
      </p:grpSp>
      <p:sp>
        <p:nvSpPr>
          <p:cNvPr id="109636" name="直接连接符 249924"/>
          <p:cNvSpPr/>
          <p:nvPr/>
        </p:nvSpPr>
        <p:spPr>
          <a:xfrm>
            <a:off x="2984500" y="4922838"/>
            <a:ext cx="660400" cy="0"/>
          </a:xfrm>
          <a:prstGeom prst="line">
            <a:avLst/>
          </a:prstGeom>
          <a:ln w="25400" cap="flat" cmpd="sng">
            <a:solidFill>
              <a:schemeClr val="tx1"/>
            </a:solidFill>
            <a:prstDash val="solid"/>
            <a:round/>
            <a:headEnd type="none" w="med" len="med"/>
            <a:tailEnd type="triangle" w="med" len="med"/>
          </a:ln>
        </p:spPr>
      </p:sp>
      <p:sp>
        <p:nvSpPr>
          <p:cNvPr id="109637" name="矩形 249925"/>
          <p:cNvSpPr/>
          <p:nvPr/>
        </p:nvSpPr>
        <p:spPr>
          <a:xfrm>
            <a:off x="2976563" y="49577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30</a:t>
            </a:r>
            <a:endParaRPr lang="zh-CN" altLang="en-US" sz="1800" dirty="0">
              <a:latin typeface="Arial" panose="020B0604020202020204" pitchFamily="34" charset="0"/>
              <a:ea typeface="黑体" panose="02010609060101010101" pitchFamily="49" charset="-122"/>
            </a:endParaRPr>
          </a:p>
        </p:txBody>
      </p:sp>
      <p:sp>
        <p:nvSpPr>
          <p:cNvPr id="109638" name="直接连接符 249926"/>
          <p:cNvSpPr/>
          <p:nvPr/>
        </p:nvSpPr>
        <p:spPr>
          <a:xfrm flipH="1">
            <a:off x="3194050" y="4857750"/>
            <a:ext cx="88900" cy="139700"/>
          </a:xfrm>
          <a:prstGeom prst="line">
            <a:avLst/>
          </a:prstGeom>
          <a:ln w="12700" cap="flat" cmpd="sng">
            <a:solidFill>
              <a:schemeClr val="tx1"/>
            </a:solidFill>
            <a:prstDash val="solid"/>
            <a:round/>
            <a:headEnd type="none" w="med" len="med"/>
            <a:tailEnd type="none" w="med" len="med"/>
          </a:ln>
        </p:spPr>
      </p:sp>
      <p:grpSp>
        <p:nvGrpSpPr>
          <p:cNvPr id="109639" name="组合 249927"/>
          <p:cNvGrpSpPr/>
          <p:nvPr/>
        </p:nvGrpSpPr>
        <p:grpSpPr>
          <a:xfrm>
            <a:off x="4799013" y="4910138"/>
            <a:ext cx="385762" cy="385762"/>
            <a:chOff x="3023" y="3205"/>
            <a:chExt cx="243" cy="243"/>
          </a:xfrm>
        </p:grpSpPr>
        <p:sp>
          <p:nvSpPr>
            <p:cNvPr id="109640" name="任意多边形 249928"/>
            <p:cNvSpPr/>
            <p:nvPr/>
          </p:nvSpPr>
          <p:spPr>
            <a:xfrm rot="-5400000">
              <a:off x="3031" y="3189"/>
              <a:ext cx="91" cy="115"/>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09641" name="任意多边形 249929"/>
            <p:cNvSpPr/>
            <p:nvPr/>
          </p:nvSpPr>
          <p:spPr>
            <a:xfrm rot="5400000">
              <a:off x="3159" y="3189"/>
              <a:ext cx="91" cy="115"/>
            </a:xfrm>
            <a:custGeom>
              <a:avLst/>
              <a:gdLst/>
              <a:ahLst/>
              <a:cxnLst>
                <a:cxn ang="180">
                  <a:pos x="0" y="21411"/>
                </a:cxn>
                <a:cxn ang="270">
                  <a:pos x="21362" y="0"/>
                </a:cxn>
                <a:cxn ang="90">
                  <a:pos x="21599" y="21599"/>
                </a:cxn>
              </a:cxnLst>
              <a:pathLst>
                <a:path w="21599" h="21599" fill="none">
                  <a:moveTo>
                    <a:pt x="0" y="21411"/>
                  </a:moveTo>
                  <a:cubicBezTo>
                    <a:pt x="101" y="9647"/>
                    <a:pt x="9605" y="127"/>
                    <a:pt x="21361" y="0"/>
                  </a:cubicBezTo>
                </a:path>
                <a:path w="21599" h="21599" stroke="0">
                  <a:moveTo>
                    <a:pt x="0" y="21411"/>
                  </a:moveTo>
                  <a:cubicBezTo>
                    <a:pt x="101" y="9647"/>
                    <a:pt x="9605" y="127"/>
                    <a:pt x="21361" y="0"/>
                  </a:cubicBezTo>
                  <a:lnTo>
                    <a:pt x="21599"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09642" name="直接连接符 249930"/>
            <p:cNvSpPr/>
            <p:nvPr/>
          </p:nvSpPr>
          <p:spPr>
            <a:xfrm>
              <a:off x="3024" y="3303"/>
              <a:ext cx="0" cy="137"/>
            </a:xfrm>
            <a:prstGeom prst="line">
              <a:avLst/>
            </a:prstGeom>
            <a:ln w="25400" cap="flat" cmpd="sng">
              <a:solidFill>
                <a:schemeClr val="tx1"/>
              </a:solidFill>
              <a:prstDash val="solid"/>
              <a:round/>
              <a:headEnd type="none" w="med" len="med"/>
              <a:tailEnd type="none" w="med" len="med"/>
            </a:ln>
          </p:spPr>
        </p:sp>
        <p:sp>
          <p:nvSpPr>
            <p:cNvPr id="109643" name="直接连接符 249931"/>
            <p:cNvSpPr/>
            <p:nvPr/>
          </p:nvSpPr>
          <p:spPr>
            <a:xfrm>
              <a:off x="3032" y="3448"/>
              <a:ext cx="224" cy="0"/>
            </a:xfrm>
            <a:prstGeom prst="line">
              <a:avLst/>
            </a:prstGeom>
            <a:ln w="25400" cap="flat" cmpd="sng">
              <a:solidFill>
                <a:schemeClr val="tx1"/>
              </a:solidFill>
              <a:prstDash val="solid"/>
              <a:round/>
              <a:headEnd type="none" w="med" len="med"/>
              <a:tailEnd type="none" w="med" len="med"/>
            </a:ln>
          </p:spPr>
        </p:sp>
        <p:sp>
          <p:nvSpPr>
            <p:cNvPr id="109644" name="直接连接符 249932"/>
            <p:cNvSpPr/>
            <p:nvPr/>
          </p:nvSpPr>
          <p:spPr>
            <a:xfrm>
              <a:off x="3264" y="3303"/>
              <a:ext cx="0" cy="137"/>
            </a:xfrm>
            <a:prstGeom prst="line">
              <a:avLst/>
            </a:prstGeom>
            <a:ln w="25400" cap="flat" cmpd="sng">
              <a:solidFill>
                <a:schemeClr val="tx1"/>
              </a:solidFill>
              <a:prstDash val="solid"/>
              <a:round/>
              <a:headEnd type="none" w="med" len="med"/>
              <a:tailEnd type="none" w="med" len="med"/>
            </a:ln>
          </p:spPr>
        </p:sp>
      </p:grpSp>
      <p:sp>
        <p:nvSpPr>
          <p:cNvPr id="109645" name="直接连接符 249933"/>
          <p:cNvSpPr/>
          <p:nvPr/>
        </p:nvSpPr>
        <p:spPr>
          <a:xfrm flipV="1">
            <a:off x="4991100" y="4611688"/>
            <a:ext cx="0" cy="293687"/>
          </a:xfrm>
          <a:prstGeom prst="line">
            <a:avLst/>
          </a:prstGeom>
          <a:ln w="25400" cap="flat" cmpd="sng">
            <a:solidFill>
              <a:schemeClr val="tx1"/>
            </a:solidFill>
            <a:prstDash val="solid"/>
            <a:round/>
            <a:headEnd type="none" w="med" len="med"/>
            <a:tailEnd type="none" w="med" len="med"/>
          </a:ln>
        </p:spPr>
      </p:sp>
      <p:sp>
        <p:nvSpPr>
          <p:cNvPr id="109646" name="直接连接符 249934"/>
          <p:cNvSpPr/>
          <p:nvPr/>
        </p:nvSpPr>
        <p:spPr>
          <a:xfrm>
            <a:off x="4876800" y="5321300"/>
            <a:ext cx="0" cy="355600"/>
          </a:xfrm>
          <a:prstGeom prst="line">
            <a:avLst/>
          </a:prstGeom>
          <a:ln w="25400" cap="flat" cmpd="sng">
            <a:solidFill>
              <a:schemeClr val="tx1"/>
            </a:solidFill>
            <a:prstDash val="solid"/>
            <a:round/>
            <a:headEnd type="none" w="med" len="med"/>
            <a:tailEnd type="none" w="med" len="med"/>
          </a:ln>
        </p:spPr>
      </p:sp>
      <p:sp>
        <p:nvSpPr>
          <p:cNvPr id="109647" name="直接连接符 249935"/>
          <p:cNvSpPr/>
          <p:nvPr/>
        </p:nvSpPr>
        <p:spPr>
          <a:xfrm>
            <a:off x="5105400" y="5321300"/>
            <a:ext cx="0" cy="660400"/>
          </a:xfrm>
          <a:prstGeom prst="line">
            <a:avLst/>
          </a:prstGeom>
          <a:ln w="25400" cap="flat" cmpd="sng">
            <a:solidFill>
              <a:schemeClr val="tx1"/>
            </a:solidFill>
            <a:prstDash val="solid"/>
            <a:round/>
            <a:headEnd type="none" w="med" len="med"/>
            <a:tailEnd type="none" w="med" len="med"/>
          </a:ln>
        </p:spPr>
      </p:sp>
      <p:sp>
        <p:nvSpPr>
          <p:cNvPr id="109648" name="直接连接符 249936"/>
          <p:cNvSpPr/>
          <p:nvPr/>
        </p:nvSpPr>
        <p:spPr>
          <a:xfrm flipH="1">
            <a:off x="4032250" y="1657350"/>
            <a:ext cx="88900" cy="166688"/>
          </a:xfrm>
          <a:prstGeom prst="line">
            <a:avLst/>
          </a:prstGeom>
          <a:ln w="12700" cap="flat" cmpd="sng">
            <a:solidFill>
              <a:schemeClr val="tx1"/>
            </a:solidFill>
            <a:prstDash val="solid"/>
            <a:round/>
            <a:headEnd type="none" w="med" len="med"/>
            <a:tailEnd type="none" w="med" len="med"/>
          </a:ln>
        </p:spPr>
      </p:sp>
      <p:sp>
        <p:nvSpPr>
          <p:cNvPr id="109649" name="矩形 249937"/>
          <p:cNvSpPr/>
          <p:nvPr/>
        </p:nvSpPr>
        <p:spPr>
          <a:xfrm>
            <a:off x="3719513" y="17557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30</a:t>
            </a:r>
            <a:endParaRPr lang="zh-CN" altLang="en-US" sz="1800" dirty="0">
              <a:latin typeface="Arial" panose="020B0604020202020204" pitchFamily="34" charset="0"/>
              <a:ea typeface="黑体" panose="02010609060101010101" pitchFamily="49" charset="-122"/>
            </a:endParaRPr>
          </a:p>
        </p:txBody>
      </p:sp>
      <p:sp>
        <p:nvSpPr>
          <p:cNvPr id="109650" name="矩形 249938"/>
          <p:cNvSpPr/>
          <p:nvPr/>
        </p:nvSpPr>
        <p:spPr>
          <a:xfrm>
            <a:off x="3605213" y="5575300"/>
            <a:ext cx="13430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09651" name="矩形 249939"/>
          <p:cNvSpPr/>
          <p:nvPr/>
        </p:nvSpPr>
        <p:spPr>
          <a:xfrm>
            <a:off x="5116513" y="5588000"/>
            <a:ext cx="10636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2"/>
                </a:solidFill>
                <a:latin typeface="Arial" panose="020B0604020202020204" pitchFamily="34" charset="0"/>
                <a:ea typeface="宋体" panose="02010600030101010101" pitchFamily="2" charset="-122"/>
              </a:rPr>
              <a:t>Zero = x</a:t>
            </a:r>
            <a:endParaRPr lang="en-US" altLang="zh-CN" sz="1800" u="sng">
              <a:solidFill>
                <a:schemeClr val="accent2"/>
              </a:solidFill>
              <a:latin typeface="Arial" panose="020B0604020202020204" pitchFamily="34" charset="0"/>
              <a:ea typeface="宋体" panose="02010600030101010101" pitchFamily="2" charset="-122"/>
            </a:endParaRPr>
          </a:p>
        </p:txBody>
      </p:sp>
      <p:sp>
        <p:nvSpPr>
          <p:cNvPr id="109652" name="直接连接符 249940"/>
          <p:cNvSpPr/>
          <p:nvPr/>
        </p:nvSpPr>
        <p:spPr>
          <a:xfrm>
            <a:off x="6565900" y="2413000"/>
            <a:ext cx="584200" cy="0"/>
          </a:xfrm>
          <a:prstGeom prst="line">
            <a:avLst/>
          </a:prstGeom>
          <a:ln w="25400" cap="flat" cmpd="sng">
            <a:solidFill>
              <a:schemeClr val="tx1"/>
            </a:solidFill>
            <a:prstDash val="solid"/>
            <a:round/>
            <a:headEnd type="none" w="med" len="med"/>
            <a:tailEnd type="triangle" w="med" len="med"/>
          </a:ln>
        </p:spPr>
      </p:sp>
      <p:sp>
        <p:nvSpPr>
          <p:cNvPr id="109653" name="矩形 249941"/>
          <p:cNvSpPr/>
          <p:nvPr/>
        </p:nvSpPr>
        <p:spPr>
          <a:xfrm>
            <a:off x="6462713" y="2413000"/>
            <a:ext cx="6635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“00”</a:t>
            </a:r>
            <a:endParaRPr lang="zh-CN" altLang="en-US" sz="1800" dirty="0">
              <a:latin typeface="Arial" panose="020B0604020202020204" pitchFamily="34" charset="0"/>
              <a:ea typeface="黑体" panose="02010609060101010101" pitchFamily="49" charset="-122"/>
            </a:endParaRPr>
          </a:p>
        </p:txBody>
      </p:sp>
      <p:sp>
        <p:nvSpPr>
          <p:cNvPr id="109654" name="矩形 249942"/>
          <p:cNvSpPr/>
          <p:nvPr/>
        </p:nvSpPr>
        <p:spPr>
          <a:xfrm>
            <a:off x="7165975" y="1968500"/>
            <a:ext cx="1355725" cy="1270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09655" name="矩形 249943"/>
          <p:cNvSpPr/>
          <p:nvPr/>
        </p:nvSpPr>
        <p:spPr>
          <a:xfrm>
            <a:off x="7127875" y="1955800"/>
            <a:ext cx="141922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Addr</a:t>
            </a:r>
            <a:r>
              <a:rPr lang="en-US" altLang="zh-CN" sz="1800">
                <a:latin typeface="Arial" panose="020B0604020202020204" pitchFamily="34" charset="0"/>
                <a:ea typeface="黑体" panose="02010609060101010101" pitchFamily="49" charset="-122"/>
              </a:rPr>
              <a:t>&lt;31:2</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9656" name="矩形 249944"/>
          <p:cNvSpPr/>
          <p:nvPr/>
        </p:nvSpPr>
        <p:spPr>
          <a:xfrm>
            <a:off x="7212013" y="2641600"/>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黑体" panose="02010609060101010101" pitchFamily="49" charset="-122"/>
              </a:rPr>
              <a:t>Instruction</a:t>
            </a:r>
            <a:endParaRPr lang="en-US" altLang="zh-CN" sz="1800">
              <a:latin typeface="Arial" panose="020B0604020202020204" pitchFamily="34" charset="0"/>
              <a:ea typeface="黑体" panose="02010609060101010101" pitchFamily="49" charset="-122"/>
            </a:endParaRPr>
          </a:p>
          <a:p>
            <a:pPr algn="ctr" eaLnBrk="0" hangingPunct="0"/>
            <a:r>
              <a:rPr lang="en-US" altLang="zh-CN" sz="1800">
                <a:latin typeface="Arial" panose="020B0604020202020204" pitchFamily="34" charset="0"/>
                <a:ea typeface="黑体" panose="02010609060101010101" pitchFamily="49" charset="-122"/>
              </a:rPr>
              <a:t>Memory</a:t>
            </a:r>
            <a:endParaRPr lang="en-US" altLang="zh-CN" sz="1800">
              <a:latin typeface="Arial" panose="020B0604020202020204" pitchFamily="34" charset="0"/>
              <a:ea typeface="黑体" panose="02010609060101010101" pitchFamily="49" charset="-122"/>
            </a:endParaRPr>
          </a:p>
        </p:txBody>
      </p:sp>
      <p:sp>
        <p:nvSpPr>
          <p:cNvPr id="109657" name="矩形 249945"/>
          <p:cNvSpPr/>
          <p:nvPr/>
        </p:nvSpPr>
        <p:spPr>
          <a:xfrm>
            <a:off x="7127875" y="2260600"/>
            <a:ext cx="129222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Addr</a:t>
            </a:r>
            <a:r>
              <a:rPr lang="en-US" altLang="zh-CN" sz="1800">
                <a:latin typeface="Arial" panose="020B0604020202020204" pitchFamily="34" charset="0"/>
                <a:ea typeface="黑体" panose="02010609060101010101" pitchFamily="49" charset="-122"/>
              </a:rPr>
              <a:t>&lt;1:0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9658" name="直接连接符 249946"/>
          <p:cNvSpPr/>
          <p:nvPr/>
        </p:nvSpPr>
        <p:spPr>
          <a:xfrm>
            <a:off x="7848600" y="3263900"/>
            <a:ext cx="0" cy="1041400"/>
          </a:xfrm>
          <a:prstGeom prst="line">
            <a:avLst/>
          </a:prstGeom>
          <a:ln w="25400" cap="flat" cmpd="sng">
            <a:solidFill>
              <a:schemeClr val="tx1"/>
            </a:solidFill>
            <a:prstDash val="solid"/>
            <a:round/>
            <a:headEnd type="none" w="med" len="med"/>
            <a:tailEnd type="triangle" w="med" len="med"/>
          </a:ln>
        </p:spPr>
      </p:sp>
      <p:sp>
        <p:nvSpPr>
          <p:cNvPr id="109659" name="直接连接符 249947"/>
          <p:cNvSpPr/>
          <p:nvPr/>
        </p:nvSpPr>
        <p:spPr>
          <a:xfrm flipV="1">
            <a:off x="7778750" y="3625850"/>
            <a:ext cx="139700" cy="165100"/>
          </a:xfrm>
          <a:prstGeom prst="line">
            <a:avLst/>
          </a:prstGeom>
          <a:ln w="12700" cap="flat" cmpd="sng">
            <a:solidFill>
              <a:schemeClr val="tx1"/>
            </a:solidFill>
            <a:prstDash val="solid"/>
            <a:round/>
            <a:headEnd type="none" w="med" len="med"/>
            <a:tailEnd type="none" w="med" len="med"/>
          </a:ln>
        </p:spPr>
      </p:sp>
      <p:sp>
        <p:nvSpPr>
          <p:cNvPr id="109660" name="矩形 249948"/>
          <p:cNvSpPr/>
          <p:nvPr/>
        </p:nvSpPr>
        <p:spPr>
          <a:xfrm>
            <a:off x="7910513" y="34798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32</a:t>
            </a:r>
            <a:endParaRPr lang="zh-CN" altLang="en-US" sz="1800" dirty="0">
              <a:latin typeface="Arial" panose="020B0604020202020204" pitchFamily="34" charset="0"/>
              <a:ea typeface="黑体" panose="02010609060101010101" pitchFamily="49" charset="-122"/>
            </a:endParaRPr>
          </a:p>
        </p:txBody>
      </p:sp>
      <p:sp>
        <p:nvSpPr>
          <p:cNvPr id="109661" name="直接连接符 249949"/>
          <p:cNvSpPr/>
          <p:nvPr/>
        </p:nvSpPr>
        <p:spPr>
          <a:xfrm>
            <a:off x="3213100" y="4013200"/>
            <a:ext cx="431800" cy="0"/>
          </a:xfrm>
          <a:prstGeom prst="line">
            <a:avLst/>
          </a:prstGeom>
          <a:ln w="25400" cap="flat" cmpd="sng">
            <a:solidFill>
              <a:schemeClr val="tx1"/>
            </a:solidFill>
            <a:prstDash val="solid"/>
            <a:round/>
            <a:headEnd type="none" w="med" len="med"/>
            <a:tailEnd type="triangle" w="med" len="med"/>
          </a:ln>
        </p:spPr>
      </p:sp>
      <p:sp>
        <p:nvSpPr>
          <p:cNvPr id="109662" name="直接连接符 249950"/>
          <p:cNvSpPr/>
          <p:nvPr/>
        </p:nvSpPr>
        <p:spPr>
          <a:xfrm flipV="1">
            <a:off x="3200400" y="3619500"/>
            <a:ext cx="0" cy="406400"/>
          </a:xfrm>
          <a:prstGeom prst="line">
            <a:avLst/>
          </a:prstGeom>
          <a:ln w="25400" cap="flat" cmpd="sng">
            <a:solidFill>
              <a:schemeClr val="tx1"/>
            </a:solidFill>
            <a:prstDash val="solid"/>
            <a:round/>
            <a:headEnd type="none" w="med" len="med"/>
            <a:tailEnd type="none" w="med" len="med"/>
          </a:ln>
        </p:spPr>
      </p:sp>
      <p:grpSp>
        <p:nvGrpSpPr>
          <p:cNvPr id="109663" name="组合 249951"/>
          <p:cNvGrpSpPr/>
          <p:nvPr/>
        </p:nvGrpSpPr>
        <p:grpSpPr>
          <a:xfrm>
            <a:off x="5795963" y="2471738"/>
            <a:ext cx="376237" cy="1325562"/>
            <a:chOff x="3651" y="1669"/>
            <a:chExt cx="237" cy="835"/>
          </a:xfrm>
        </p:grpSpPr>
        <p:grpSp>
          <p:nvGrpSpPr>
            <p:cNvPr id="109664" name="组合 249952"/>
            <p:cNvGrpSpPr/>
            <p:nvPr/>
          </p:nvGrpSpPr>
          <p:grpSpPr>
            <a:xfrm>
              <a:off x="3696" y="1669"/>
              <a:ext cx="192" cy="835"/>
              <a:chOff x="3696" y="1669"/>
              <a:chExt cx="192" cy="835"/>
            </a:xfrm>
          </p:grpSpPr>
          <p:sp>
            <p:nvSpPr>
              <p:cNvPr id="109665" name="直接连接符 249953"/>
              <p:cNvSpPr/>
              <p:nvPr/>
            </p:nvSpPr>
            <p:spPr>
              <a:xfrm>
                <a:off x="3696" y="1669"/>
                <a:ext cx="0" cy="819"/>
              </a:xfrm>
              <a:prstGeom prst="line">
                <a:avLst/>
              </a:prstGeom>
              <a:ln w="25400" cap="flat" cmpd="sng">
                <a:solidFill>
                  <a:schemeClr val="tx1"/>
                </a:solidFill>
                <a:prstDash val="solid"/>
                <a:round/>
                <a:headEnd type="none" w="med" len="med"/>
                <a:tailEnd type="none" w="med" len="med"/>
              </a:ln>
            </p:spPr>
          </p:sp>
          <p:sp>
            <p:nvSpPr>
              <p:cNvPr id="109666" name="直接连接符 249954"/>
              <p:cNvSpPr/>
              <p:nvPr/>
            </p:nvSpPr>
            <p:spPr>
              <a:xfrm>
                <a:off x="3704" y="1669"/>
                <a:ext cx="176" cy="95"/>
              </a:xfrm>
              <a:prstGeom prst="line">
                <a:avLst/>
              </a:prstGeom>
              <a:ln w="25400" cap="flat" cmpd="sng">
                <a:solidFill>
                  <a:schemeClr val="tx1"/>
                </a:solidFill>
                <a:prstDash val="solid"/>
                <a:round/>
                <a:headEnd type="none" w="med" len="med"/>
                <a:tailEnd type="none" w="med" len="med"/>
              </a:ln>
            </p:spPr>
          </p:sp>
          <p:sp>
            <p:nvSpPr>
              <p:cNvPr id="109667" name="直接连接符 249955"/>
              <p:cNvSpPr/>
              <p:nvPr/>
            </p:nvSpPr>
            <p:spPr>
              <a:xfrm flipV="1">
                <a:off x="3704" y="2377"/>
                <a:ext cx="176" cy="127"/>
              </a:xfrm>
              <a:prstGeom prst="line">
                <a:avLst/>
              </a:prstGeom>
              <a:ln w="25400" cap="flat" cmpd="sng">
                <a:solidFill>
                  <a:schemeClr val="tx1"/>
                </a:solidFill>
                <a:prstDash val="solid"/>
                <a:round/>
                <a:headEnd type="none" w="med" len="med"/>
                <a:tailEnd type="none" w="med" len="med"/>
              </a:ln>
            </p:spPr>
          </p:sp>
          <p:sp>
            <p:nvSpPr>
              <p:cNvPr id="109668" name="直接连接符 249956"/>
              <p:cNvSpPr/>
              <p:nvPr/>
            </p:nvSpPr>
            <p:spPr>
              <a:xfrm>
                <a:off x="3888" y="1780"/>
                <a:ext cx="0" cy="597"/>
              </a:xfrm>
              <a:prstGeom prst="line">
                <a:avLst/>
              </a:prstGeom>
              <a:ln w="25400" cap="flat" cmpd="sng">
                <a:solidFill>
                  <a:schemeClr val="tx1"/>
                </a:solidFill>
                <a:prstDash val="solid"/>
                <a:round/>
                <a:headEnd type="none" w="med" len="med"/>
                <a:tailEnd type="none" w="med" len="med"/>
              </a:ln>
            </p:spPr>
          </p:sp>
        </p:grpSp>
        <p:sp>
          <p:nvSpPr>
            <p:cNvPr id="109669" name="矩形 249957"/>
            <p:cNvSpPr/>
            <p:nvPr/>
          </p:nvSpPr>
          <p:spPr>
            <a:xfrm rot="5400000">
              <a:off x="3560" y="1986"/>
              <a:ext cx="402"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黑体" panose="02010609060101010101" pitchFamily="49" charset="-122"/>
                </a:rPr>
                <a:t>Mux</a:t>
              </a:r>
              <a:endParaRPr lang="en-US" altLang="zh-CN" sz="1800">
                <a:latin typeface="Arial" panose="020B0604020202020204" pitchFamily="34" charset="0"/>
                <a:ea typeface="黑体" panose="02010609060101010101" pitchFamily="49" charset="-122"/>
              </a:endParaRPr>
            </a:p>
          </p:txBody>
        </p:sp>
        <p:sp>
          <p:nvSpPr>
            <p:cNvPr id="109670" name="矩形 249958"/>
            <p:cNvSpPr/>
            <p:nvPr/>
          </p:nvSpPr>
          <p:spPr>
            <a:xfrm>
              <a:off x="3687" y="1749"/>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09671" name="矩形 249959"/>
            <p:cNvSpPr/>
            <p:nvPr/>
          </p:nvSpPr>
          <p:spPr>
            <a:xfrm>
              <a:off x="3687" y="2219"/>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grpSp>
      <p:sp>
        <p:nvSpPr>
          <p:cNvPr id="109672" name="直接连接符 249960"/>
          <p:cNvSpPr/>
          <p:nvPr/>
        </p:nvSpPr>
        <p:spPr>
          <a:xfrm>
            <a:off x="3594100" y="2946400"/>
            <a:ext cx="812800" cy="0"/>
          </a:xfrm>
          <a:prstGeom prst="line">
            <a:avLst/>
          </a:prstGeom>
          <a:ln w="25400" cap="flat" cmpd="sng">
            <a:solidFill>
              <a:schemeClr val="tx1"/>
            </a:solidFill>
            <a:prstDash val="solid"/>
            <a:round/>
            <a:headEnd type="none" w="med" len="med"/>
            <a:tailEnd type="triangle" w="med" len="med"/>
          </a:ln>
        </p:spPr>
      </p:sp>
      <p:sp>
        <p:nvSpPr>
          <p:cNvPr id="109673" name="直接连接符 249961"/>
          <p:cNvSpPr/>
          <p:nvPr/>
        </p:nvSpPr>
        <p:spPr>
          <a:xfrm flipH="1">
            <a:off x="3879850" y="2881313"/>
            <a:ext cx="88900" cy="131762"/>
          </a:xfrm>
          <a:prstGeom prst="line">
            <a:avLst/>
          </a:prstGeom>
          <a:ln w="12700" cap="flat" cmpd="sng">
            <a:solidFill>
              <a:schemeClr val="tx1"/>
            </a:solidFill>
            <a:prstDash val="solid"/>
            <a:round/>
            <a:headEnd type="none" w="med" len="med"/>
            <a:tailEnd type="none" w="med" len="med"/>
          </a:ln>
        </p:spPr>
      </p:sp>
      <p:sp>
        <p:nvSpPr>
          <p:cNvPr id="109674" name="矩形 249962"/>
          <p:cNvSpPr/>
          <p:nvPr/>
        </p:nvSpPr>
        <p:spPr>
          <a:xfrm>
            <a:off x="3567113" y="29400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26</a:t>
            </a:r>
            <a:endParaRPr lang="zh-CN" altLang="en-US" sz="1800" dirty="0">
              <a:latin typeface="Arial" panose="020B0604020202020204" pitchFamily="34" charset="0"/>
              <a:ea typeface="黑体" panose="02010609060101010101" pitchFamily="49" charset="-122"/>
            </a:endParaRPr>
          </a:p>
        </p:txBody>
      </p:sp>
      <p:sp>
        <p:nvSpPr>
          <p:cNvPr id="109675" name="直接连接符 249963"/>
          <p:cNvSpPr/>
          <p:nvPr/>
        </p:nvSpPr>
        <p:spPr>
          <a:xfrm>
            <a:off x="1917700" y="2489200"/>
            <a:ext cx="2489200" cy="0"/>
          </a:xfrm>
          <a:prstGeom prst="line">
            <a:avLst/>
          </a:prstGeom>
          <a:ln w="25400" cap="flat" cmpd="sng">
            <a:solidFill>
              <a:schemeClr val="tx1"/>
            </a:solidFill>
            <a:prstDash val="solid"/>
            <a:round/>
            <a:headEnd type="none" w="med" len="med"/>
            <a:tailEnd type="triangle" w="med" len="med"/>
          </a:ln>
        </p:spPr>
      </p:sp>
      <p:sp>
        <p:nvSpPr>
          <p:cNvPr id="109676" name="直接连接符 249964"/>
          <p:cNvSpPr/>
          <p:nvPr/>
        </p:nvSpPr>
        <p:spPr>
          <a:xfrm flipH="1">
            <a:off x="3879850" y="2424113"/>
            <a:ext cx="88900" cy="131762"/>
          </a:xfrm>
          <a:prstGeom prst="line">
            <a:avLst/>
          </a:prstGeom>
          <a:ln w="12700" cap="flat" cmpd="sng">
            <a:solidFill>
              <a:schemeClr val="tx1"/>
            </a:solidFill>
            <a:prstDash val="solid"/>
            <a:round/>
            <a:headEnd type="none" w="med" len="med"/>
            <a:tailEnd type="none" w="med" len="med"/>
          </a:ln>
        </p:spPr>
      </p:sp>
      <p:sp>
        <p:nvSpPr>
          <p:cNvPr id="109677" name="矩形 249965"/>
          <p:cNvSpPr/>
          <p:nvPr/>
        </p:nvSpPr>
        <p:spPr>
          <a:xfrm>
            <a:off x="3643313" y="24828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4</a:t>
            </a:r>
            <a:endParaRPr lang="zh-CN" altLang="en-US" sz="1800" dirty="0">
              <a:latin typeface="Arial" panose="020B0604020202020204" pitchFamily="34" charset="0"/>
              <a:ea typeface="黑体" panose="02010609060101010101" pitchFamily="49" charset="-122"/>
            </a:endParaRPr>
          </a:p>
        </p:txBody>
      </p:sp>
      <p:sp>
        <p:nvSpPr>
          <p:cNvPr id="109678" name="直接连接符 249966"/>
          <p:cNvSpPr/>
          <p:nvPr/>
        </p:nvSpPr>
        <p:spPr>
          <a:xfrm flipV="1">
            <a:off x="1905000" y="2095500"/>
            <a:ext cx="0" cy="1320800"/>
          </a:xfrm>
          <a:prstGeom prst="line">
            <a:avLst/>
          </a:prstGeom>
          <a:ln w="25400" cap="flat" cmpd="sng">
            <a:solidFill>
              <a:schemeClr val="tx1"/>
            </a:solidFill>
            <a:prstDash val="solid"/>
            <a:round/>
            <a:headEnd type="none" w="med" len="med"/>
            <a:tailEnd type="none" w="med" len="med"/>
          </a:ln>
        </p:spPr>
      </p:sp>
      <p:sp>
        <p:nvSpPr>
          <p:cNvPr id="109679" name="矩形 249967"/>
          <p:cNvSpPr/>
          <p:nvPr/>
        </p:nvSpPr>
        <p:spPr>
          <a:xfrm>
            <a:off x="2500313" y="2184400"/>
            <a:ext cx="13303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PC&lt;31:28</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9680" name="矩形 249968"/>
          <p:cNvSpPr/>
          <p:nvPr/>
        </p:nvSpPr>
        <p:spPr>
          <a:xfrm>
            <a:off x="2551113" y="2527300"/>
            <a:ext cx="8794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Target</a:t>
            </a:r>
            <a:endParaRPr lang="en-US" altLang="zh-CN" sz="1800">
              <a:latin typeface="Arial" panose="020B0604020202020204" pitchFamily="34" charset="0"/>
              <a:ea typeface="黑体" panose="02010609060101010101" pitchFamily="49" charset="-122"/>
            </a:endParaRPr>
          </a:p>
        </p:txBody>
      </p:sp>
      <p:sp>
        <p:nvSpPr>
          <p:cNvPr id="109681" name="直接连接符 249969"/>
          <p:cNvSpPr/>
          <p:nvPr/>
        </p:nvSpPr>
        <p:spPr>
          <a:xfrm>
            <a:off x="4419600" y="2501900"/>
            <a:ext cx="0" cy="431800"/>
          </a:xfrm>
          <a:prstGeom prst="line">
            <a:avLst/>
          </a:prstGeom>
          <a:ln w="25400" cap="flat" cmpd="sng">
            <a:solidFill>
              <a:schemeClr val="tx1"/>
            </a:solidFill>
            <a:prstDash val="solid"/>
            <a:round/>
            <a:headEnd type="none" w="med" len="med"/>
            <a:tailEnd type="none" w="med" len="med"/>
          </a:ln>
        </p:spPr>
      </p:sp>
      <p:sp>
        <p:nvSpPr>
          <p:cNvPr id="109682" name="直接连接符 249970"/>
          <p:cNvSpPr/>
          <p:nvPr/>
        </p:nvSpPr>
        <p:spPr>
          <a:xfrm>
            <a:off x="4432300" y="2717800"/>
            <a:ext cx="1422400" cy="0"/>
          </a:xfrm>
          <a:prstGeom prst="line">
            <a:avLst/>
          </a:prstGeom>
          <a:ln w="25400" cap="flat" cmpd="sng">
            <a:solidFill>
              <a:schemeClr val="tx1"/>
            </a:solidFill>
            <a:prstDash val="solid"/>
            <a:round/>
            <a:headEnd type="none" w="med" len="med"/>
            <a:tailEnd type="triangle" w="med" len="med"/>
          </a:ln>
        </p:spPr>
      </p:sp>
      <p:sp>
        <p:nvSpPr>
          <p:cNvPr id="109683" name="直接连接符 249971"/>
          <p:cNvSpPr/>
          <p:nvPr/>
        </p:nvSpPr>
        <p:spPr>
          <a:xfrm flipH="1">
            <a:off x="5022850" y="2647950"/>
            <a:ext cx="88900" cy="166688"/>
          </a:xfrm>
          <a:prstGeom prst="line">
            <a:avLst/>
          </a:prstGeom>
          <a:ln w="12700" cap="flat" cmpd="sng">
            <a:solidFill>
              <a:schemeClr val="tx1"/>
            </a:solidFill>
            <a:prstDash val="solid"/>
            <a:round/>
            <a:headEnd type="none" w="med" len="med"/>
            <a:tailEnd type="none" w="med" len="med"/>
          </a:ln>
        </p:spPr>
      </p:sp>
      <p:sp>
        <p:nvSpPr>
          <p:cNvPr id="109684" name="矩形 249972"/>
          <p:cNvSpPr/>
          <p:nvPr/>
        </p:nvSpPr>
        <p:spPr>
          <a:xfrm>
            <a:off x="4710113" y="27463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30</a:t>
            </a:r>
            <a:endParaRPr lang="zh-CN" altLang="en-US" sz="1800" dirty="0">
              <a:latin typeface="Arial" panose="020B0604020202020204" pitchFamily="34" charset="0"/>
              <a:ea typeface="黑体" panose="02010609060101010101" pitchFamily="49" charset="-122"/>
            </a:endParaRPr>
          </a:p>
        </p:txBody>
      </p:sp>
      <p:sp>
        <p:nvSpPr>
          <p:cNvPr id="109685" name="文本占位符 249973"/>
          <p:cNvSpPr>
            <a:spLocks noGrp="1"/>
          </p:cNvSpPr>
          <p:nvPr>
            <p:ph idx="1"/>
          </p:nvPr>
        </p:nvSpPr>
        <p:spPr>
          <a:xfrm>
            <a:off x="444500" y="774700"/>
            <a:ext cx="8191500" cy="766763"/>
          </a:xfrm>
          <a:ln/>
        </p:spPr>
        <p:txBody>
          <a:bodyPr vert="horz" wrap="square" lIns="63500" tIns="25400" rIns="63500" bIns="25400" anchor="t" anchorCtr="0">
            <a:spAutoFit/>
          </a:bodyPr>
          <a:p>
            <a:r>
              <a:rPr lang="en-US" altLang="zh-CN" sz="2000">
                <a:ea typeface="黑体" panose="02010609060101010101" pitchFamily="49" charset="-122"/>
              </a:rPr>
              <a:t>PC </a:t>
            </a:r>
            <a:r>
              <a:rPr lang="en-US" altLang="zh-CN" sz="2000">
                <a:ea typeface="黑体" panose="02010609060101010101" pitchFamily="49" charset="-122"/>
                <a:sym typeface="Wingdings" panose="05000000000000000000" pitchFamily="2" charset="2"/>
              </a:rPr>
              <a:t>←</a:t>
            </a:r>
            <a:r>
              <a:rPr lang="en-US" altLang="zh-CN" sz="2000">
                <a:ea typeface="黑体" panose="02010609060101010101" pitchFamily="49" charset="-122"/>
              </a:rPr>
              <a:t> PC + 4</a:t>
            </a:r>
            <a:endParaRPr lang="en-US" altLang="zh-CN" sz="2000">
              <a:ea typeface="黑体" panose="02010609060101010101" pitchFamily="49" charset="-122"/>
            </a:endParaRPr>
          </a:p>
          <a:p>
            <a:pPr lvl="1"/>
            <a:r>
              <a:rPr lang="zh-CN" altLang="en-US" sz="2000" b="0" dirty="0">
                <a:ea typeface="黑体" panose="02010609060101010101" pitchFamily="49" charset="-122"/>
              </a:rPr>
              <a:t>除 </a:t>
            </a:r>
            <a:r>
              <a:rPr lang="en-US" altLang="zh-CN" sz="2000" b="0">
                <a:ea typeface="黑体" panose="02010609060101010101" pitchFamily="49" charset="-122"/>
              </a:rPr>
              <a:t>Branch and Jump</a:t>
            </a:r>
            <a:r>
              <a:rPr lang="zh-CN" altLang="en-US" sz="2000" b="0" dirty="0">
                <a:ea typeface="黑体" panose="02010609060101010101" pitchFamily="49" charset="-122"/>
              </a:rPr>
              <a:t>以外的指令都相同</a:t>
            </a:r>
            <a:endParaRPr lang="zh-CN" altLang="en-US" sz="2000" b="0" dirty="0">
              <a:ea typeface="黑体" panose="02010609060101010101" pitchFamily="49" charset="-122"/>
            </a:endParaRPr>
          </a:p>
        </p:txBody>
      </p:sp>
      <p:grpSp>
        <p:nvGrpSpPr>
          <p:cNvPr id="109686" name="组合 249974"/>
          <p:cNvGrpSpPr/>
          <p:nvPr/>
        </p:nvGrpSpPr>
        <p:grpSpPr>
          <a:xfrm>
            <a:off x="5624513" y="3695700"/>
            <a:ext cx="1177925" cy="833438"/>
            <a:chOff x="3543" y="2440"/>
            <a:chExt cx="742" cy="525"/>
          </a:xfrm>
        </p:grpSpPr>
        <p:sp>
          <p:nvSpPr>
            <p:cNvPr id="109687" name="直接连接符 249975"/>
            <p:cNvSpPr/>
            <p:nvPr/>
          </p:nvSpPr>
          <p:spPr>
            <a:xfrm flipV="1">
              <a:off x="3792" y="2440"/>
              <a:ext cx="0" cy="304"/>
            </a:xfrm>
            <a:prstGeom prst="line">
              <a:avLst/>
            </a:prstGeom>
            <a:ln w="25400" cap="flat" cmpd="sng">
              <a:solidFill>
                <a:schemeClr val="tx1"/>
              </a:solidFill>
              <a:prstDash val="solid"/>
              <a:round/>
              <a:headEnd type="none" w="med" len="med"/>
              <a:tailEnd type="triangle" w="med" len="med"/>
            </a:ln>
          </p:spPr>
        </p:sp>
        <p:sp>
          <p:nvSpPr>
            <p:cNvPr id="109688" name="矩形 249976"/>
            <p:cNvSpPr/>
            <p:nvPr/>
          </p:nvSpPr>
          <p:spPr>
            <a:xfrm>
              <a:off x="3543" y="2736"/>
              <a:ext cx="742" cy="229"/>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 = 0</a:t>
              </a:r>
              <a:endParaRPr lang="en-US" altLang="zh-CN" sz="1800" u="sng">
                <a:solidFill>
                  <a:schemeClr val="accent1"/>
                </a:solidFill>
                <a:latin typeface="Arial" panose="020B0604020202020204" pitchFamily="34" charset="0"/>
                <a:ea typeface="宋体" panose="02010600030101010101" pitchFamily="2" charset="-122"/>
              </a:endParaRPr>
            </a:p>
          </p:txBody>
        </p:sp>
      </p:grpSp>
      <p:sp>
        <p:nvSpPr>
          <p:cNvPr id="109689" name="矩形 249977"/>
          <p:cNvSpPr/>
          <p:nvPr/>
        </p:nvSpPr>
        <p:spPr>
          <a:xfrm>
            <a:off x="252413" y="5257800"/>
            <a:ext cx="20669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Instruction&lt;15:0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9690" name="矩形 249978"/>
          <p:cNvSpPr/>
          <p:nvPr/>
        </p:nvSpPr>
        <p:spPr>
          <a:xfrm>
            <a:off x="7072313" y="4241800"/>
            <a:ext cx="20669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09691" name="直接连接符 249979"/>
          <p:cNvSpPr/>
          <p:nvPr/>
        </p:nvSpPr>
        <p:spPr>
          <a:xfrm>
            <a:off x="1917700" y="2108200"/>
            <a:ext cx="5232400" cy="0"/>
          </a:xfrm>
          <a:prstGeom prst="line">
            <a:avLst/>
          </a:prstGeom>
          <a:ln w="25400" cap="flat" cmpd="sng">
            <a:solidFill>
              <a:schemeClr val="tx1"/>
            </a:solidFill>
            <a:prstDash val="solid"/>
            <a:round/>
            <a:headEnd type="none" w="med" len="med"/>
            <a:tailEnd type="triangle" w="med" len="med"/>
          </a:ln>
        </p:spPr>
      </p:sp>
      <p:sp>
        <p:nvSpPr>
          <p:cNvPr id="109692" name="直接连接符 249980"/>
          <p:cNvSpPr/>
          <p:nvPr/>
        </p:nvSpPr>
        <p:spPr>
          <a:xfrm flipH="1">
            <a:off x="5099050" y="2038350"/>
            <a:ext cx="88900" cy="166688"/>
          </a:xfrm>
          <a:prstGeom prst="line">
            <a:avLst/>
          </a:prstGeom>
          <a:ln w="12700" cap="flat" cmpd="sng">
            <a:solidFill>
              <a:schemeClr val="tx1"/>
            </a:solidFill>
            <a:prstDash val="solid"/>
            <a:round/>
            <a:headEnd type="none" w="med" len="med"/>
            <a:tailEnd type="none" w="med" len="med"/>
          </a:ln>
        </p:spPr>
      </p:sp>
      <p:sp>
        <p:nvSpPr>
          <p:cNvPr id="109693" name="矩形 249981"/>
          <p:cNvSpPr/>
          <p:nvPr/>
        </p:nvSpPr>
        <p:spPr>
          <a:xfrm>
            <a:off x="4786313" y="21367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黑体" panose="02010609060101010101" pitchFamily="49" charset="-122"/>
              </a:rPr>
              <a:t>30</a:t>
            </a:r>
            <a:endParaRPr lang="zh-CN" altLang="en-US" sz="1800" dirty="0">
              <a:latin typeface="Arial" panose="020B0604020202020204" pitchFamily="34" charset="0"/>
              <a:ea typeface="黑体" panose="02010609060101010101" pitchFamily="49" charset="-122"/>
            </a:endParaRPr>
          </a:p>
        </p:txBody>
      </p:sp>
      <p:sp>
        <p:nvSpPr>
          <p:cNvPr id="109694" name="矩形 249982"/>
          <p:cNvSpPr/>
          <p:nvPr/>
        </p:nvSpPr>
        <p:spPr>
          <a:xfrm>
            <a:off x="1611313" y="2806700"/>
            <a:ext cx="2085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黑体" panose="02010609060101010101" pitchFamily="49" charset="-122"/>
              </a:rPr>
              <a:t>Instruction&lt;25:0&gt;</a:t>
            </a:r>
            <a:endParaRPr lang="en-US" altLang="zh-CN" sz="1800">
              <a:latin typeface="Arial" panose="020B0604020202020204" pitchFamily="34" charset="0"/>
              <a:ea typeface="黑体" panose="02010609060101010101" pitchFamily="49" charset="-122"/>
            </a:endParaRPr>
          </a:p>
        </p:txBody>
      </p:sp>
      <p:grpSp>
        <p:nvGrpSpPr>
          <p:cNvPr id="249984" name="组合 249983"/>
          <p:cNvGrpSpPr/>
          <p:nvPr/>
        </p:nvGrpSpPr>
        <p:grpSpPr>
          <a:xfrm>
            <a:off x="1671638" y="3532188"/>
            <a:ext cx="892175" cy="739775"/>
            <a:chOff x="1054" y="2337"/>
            <a:chExt cx="562" cy="466"/>
          </a:xfrm>
        </p:grpSpPr>
        <p:sp>
          <p:nvSpPr>
            <p:cNvPr id="109696" name="直接连接符 249984"/>
            <p:cNvSpPr/>
            <p:nvPr/>
          </p:nvSpPr>
          <p:spPr>
            <a:xfrm>
              <a:off x="1312" y="2803"/>
              <a:ext cx="304" cy="0"/>
            </a:xfrm>
            <a:prstGeom prst="line">
              <a:avLst/>
            </a:prstGeom>
            <a:ln w="50800" cap="flat" cmpd="sng">
              <a:solidFill>
                <a:srgbClr val="0000FF"/>
              </a:solidFill>
              <a:prstDash val="solid"/>
              <a:round/>
              <a:headEnd type="none" w="med" len="med"/>
              <a:tailEnd type="triangle" w="med" len="med"/>
            </a:ln>
          </p:spPr>
        </p:sp>
        <p:sp>
          <p:nvSpPr>
            <p:cNvPr id="109697" name="直接连接符 249985"/>
            <p:cNvSpPr/>
            <p:nvPr/>
          </p:nvSpPr>
          <p:spPr>
            <a:xfrm>
              <a:off x="1054" y="2337"/>
              <a:ext cx="544" cy="0"/>
            </a:xfrm>
            <a:prstGeom prst="line">
              <a:avLst/>
            </a:prstGeom>
            <a:ln w="50800" cap="flat" cmpd="sng">
              <a:solidFill>
                <a:srgbClr val="0000FF"/>
              </a:solidFill>
              <a:prstDash val="solid"/>
              <a:round/>
              <a:headEnd type="none" w="med" len="med"/>
              <a:tailEnd type="triangle" w="med" len="med"/>
            </a:ln>
          </p:spPr>
        </p:sp>
      </p:grpSp>
      <p:grpSp>
        <p:nvGrpSpPr>
          <p:cNvPr id="249987" name="组合 249986"/>
          <p:cNvGrpSpPr/>
          <p:nvPr/>
        </p:nvGrpSpPr>
        <p:grpSpPr>
          <a:xfrm>
            <a:off x="5130800" y="3529013"/>
            <a:ext cx="711200" cy="508000"/>
            <a:chOff x="3232" y="2344"/>
            <a:chExt cx="448" cy="320"/>
          </a:xfrm>
        </p:grpSpPr>
        <p:sp>
          <p:nvSpPr>
            <p:cNvPr id="109699" name="直接连接符 249987"/>
            <p:cNvSpPr/>
            <p:nvPr/>
          </p:nvSpPr>
          <p:spPr>
            <a:xfrm>
              <a:off x="3424" y="2352"/>
              <a:ext cx="256" cy="0"/>
            </a:xfrm>
            <a:prstGeom prst="line">
              <a:avLst/>
            </a:prstGeom>
            <a:ln w="50800" cap="flat" cmpd="sng">
              <a:solidFill>
                <a:srgbClr val="0000FF"/>
              </a:solidFill>
              <a:prstDash val="solid"/>
              <a:round/>
              <a:headEnd type="none" w="med" len="med"/>
              <a:tailEnd type="triangle" w="med" len="med"/>
            </a:ln>
          </p:spPr>
        </p:sp>
        <p:sp>
          <p:nvSpPr>
            <p:cNvPr id="109700" name="直接连接符 249988"/>
            <p:cNvSpPr/>
            <p:nvPr/>
          </p:nvSpPr>
          <p:spPr>
            <a:xfrm>
              <a:off x="3232" y="2640"/>
              <a:ext cx="160" cy="0"/>
            </a:xfrm>
            <a:prstGeom prst="line">
              <a:avLst/>
            </a:prstGeom>
            <a:ln w="50800" cap="flat" cmpd="sng">
              <a:solidFill>
                <a:srgbClr val="0000FF"/>
              </a:solidFill>
              <a:prstDash val="solid"/>
              <a:round/>
              <a:headEnd type="none" w="med" len="med"/>
              <a:tailEnd type="none" w="med" len="med"/>
            </a:ln>
          </p:spPr>
        </p:sp>
        <p:sp>
          <p:nvSpPr>
            <p:cNvPr id="109701" name="直接连接符 249989"/>
            <p:cNvSpPr/>
            <p:nvPr/>
          </p:nvSpPr>
          <p:spPr>
            <a:xfrm flipV="1">
              <a:off x="3407" y="2344"/>
              <a:ext cx="0" cy="320"/>
            </a:xfrm>
            <a:prstGeom prst="line">
              <a:avLst/>
            </a:prstGeom>
            <a:ln w="50800" cap="flat" cmpd="sng">
              <a:solidFill>
                <a:srgbClr val="0000FF"/>
              </a:solidFill>
              <a:prstDash val="solid"/>
              <a:round/>
              <a:headEnd type="none" w="med" len="med"/>
              <a:tailEnd type="none" w="med" len="med"/>
            </a:ln>
          </p:spPr>
        </p:sp>
      </p:grpSp>
      <p:grpSp>
        <p:nvGrpSpPr>
          <p:cNvPr id="249991" name="组合 249990"/>
          <p:cNvGrpSpPr/>
          <p:nvPr/>
        </p:nvGrpSpPr>
        <p:grpSpPr>
          <a:xfrm>
            <a:off x="749300" y="1677988"/>
            <a:ext cx="5651500" cy="1735137"/>
            <a:chOff x="472" y="1169"/>
            <a:chExt cx="3560" cy="1093"/>
          </a:xfrm>
        </p:grpSpPr>
        <p:sp>
          <p:nvSpPr>
            <p:cNvPr id="109703" name="直接连接符 249991"/>
            <p:cNvSpPr/>
            <p:nvPr/>
          </p:nvSpPr>
          <p:spPr>
            <a:xfrm flipV="1">
              <a:off x="472" y="1193"/>
              <a:ext cx="3532" cy="9"/>
            </a:xfrm>
            <a:prstGeom prst="line">
              <a:avLst/>
            </a:prstGeom>
            <a:ln w="50800" cap="flat" cmpd="sng">
              <a:solidFill>
                <a:srgbClr val="0000FF"/>
              </a:solidFill>
              <a:prstDash val="solid"/>
              <a:round/>
              <a:headEnd type="none" w="med" len="med"/>
              <a:tailEnd type="none" w="med" len="med"/>
            </a:ln>
          </p:spPr>
        </p:sp>
        <p:sp>
          <p:nvSpPr>
            <p:cNvPr id="109704" name="直接连接符 249992"/>
            <p:cNvSpPr/>
            <p:nvPr/>
          </p:nvSpPr>
          <p:spPr>
            <a:xfrm>
              <a:off x="472" y="2253"/>
              <a:ext cx="405" cy="9"/>
            </a:xfrm>
            <a:prstGeom prst="line">
              <a:avLst/>
            </a:prstGeom>
            <a:ln w="50800" cap="flat" cmpd="sng">
              <a:solidFill>
                <a:srgbClr val="0000FF"/>
              </a:solidFill>
              <a:prstDash val="solid"/>
              <a:round/>
              <a:headEnd type="none" w="med" len="med"/>
              <a:tailEnd type="triangle" w="med" len="med"/>
            </a:ln>
          </p:spPr>
        </p:sp>
        <p:sp>
          <p:nvSpPr>
            <p:cNvPr id="109705" name="直接连接符 249993"/>
            <p:cNvSpPr/>
            <p:nvPr/>
          </p:nvSpPr>
          <p:spPr>
            <a:xfrm>
              <a:off x="485" y="1216"/>
              <a:ext cx="0" cy="1015"/>
            </a:xfrm>
            <a:prstGeom prst="line">
              <a:avLst/>
            </a:prstGeom>
            <a:ln w="38100" cap="flat" cmpd="sng">
              <a:solidFill>
                <a:srgbClr val="0000FF"/>
              </a:solidFill>
              <a:prstDash val="solid"/>
              <a:round/>
              <a:headEnd type="none" w="med" len="med"/>
              <a:tailEnd type="none" w="med" len="med"/>
            </a:ln>
          </p:spPr>
        </p:sp>
        <p:sp>
          <p:nvSpPr>
            <p:cNvPr id="109706" name="直接连接符 249994"/>
            <p:cNvSpPr/>
            <p:nvPr/>
          </p:nvSpPr>
          <p:spPr>
            <a:xfrm>
              <a:off x="4031" y="1169"/>
              <a:ext cx="0" cy="1015"/>
            </a:xfrm>
            <a:prstGeom prst="line">
              <a:avLst/>
            </a:prstGeom>
            <a:ln w="38100" cap="flat" cmpd="sng">
              <a:solidFill>
                <a:srgbClr val="0000FF"/>
              </a:solidFill>
              <a:prstDash val="solid"/>
              <a:round/>
              <a:headEnd type="none" w="med" len="med"/>
              <a:tailEnd type="none" w="med" len="med"/>
            </a:ln>
          </p:spPr>
        </p:sp>
        <p:sp>
          <p:nvSpPr>
            <p:cNvPr id="109707" name="直接连接符 249995"/>
            <p:cNvSpPr/>
            <p:nvPr/>
          </p:nvSpPr>
          <p:spPr>
            <a:xfrm flipV="1">
              <a:off x="3886" y="2149"/>
              <a:ext cx="146" cy="9"/>
            </a:xfrm>
            <a:prstGeom prst="line">
              <a:avLst/>
            </a:prstGeom>
            <a:ln w="38100" cap="flat" cmpd="sng">
              <a:solidFill>
                <a:srgbClr val="0000FF"/>
              </a:solidFill>
              <a:prstDash val="solid"/>
              <a:round/>
              <a:headEnd type="none" w="med" len="med"/>
              <a:tailEnd type="none" w="med" len="med"/>
            </a:ln>
          </p:spPr>
        </p:sp>
      </p:grpSp>
      <p:sp>
        <p:nvSpPr>
          <p:cNvPr id="249997" name="文本框 249996"/>
          <p:cNvSpPr txBox="1"/>
          <p:nvPr/>
        </p:nvSpPr>
        <p:spPr>
          <a:xfrm>
            <a:off x="2451100" y="6067425"/>
            <a:ext cx="5588000" cy="701675"/>
          </a:xfrm>
          <a:prstGeom prst="rect">
            <a:avLst/>
          </a:prstGeom>
          <a:noFill/>
          <a:ln w="50800">
            <a:noFill/>
          </a:ln>
        </p:spPr>
        <p:txBody>
          <a:bodyPr anchor="t" anchorCtr="0">
            <a:spAutoFit/>
          </a:bodyPr>
          <a:p>
            <a:pPr eaLnBrk="0" hangingPunct="0">
              <a:spcBef>
                <a:spcPct val="50000"/>
              </a:spcBef>
            </a:pPr>
            <a:r>
              <a:rPr lang="zh-CN" altLang="en-US" sz="2000" dirty="0">
                <a:solidFill>
                  <a:srgbClr val="A50021"/>
                </a:solidFill>
                <a:latin typeface="Arial" panose="020B0604020202020204" pitchFamily="34" charset="0"/>
                <a:ea typeface="黑体" panose="02010609060101010101" pitchFamily="49" charset="-122"/>
              </a:rPr>
              <a:t>因为新的控制信号保证了正确的</a:t>
            </a:r>
            <a:r>
              <a:rPr lang="en-US" altLang="zh-CN" sz="2000">
                <a:solidFill>
                  <a:srgbClr val="A50021"/>
                </a:solidFill>
                <a:latin typeface="Arial" panose="020B0604020202020204" pitchFamily="34" charset="0"/>
                <a:ea typeface="黑体" panose="02010609060101010101" pitchFamily="49" charset="-122"/>
              </a:rPr>
              <a:t>PC</a:t>
            </a:r>
            <a:r>
              <a:rPr lang="zh-CN" altLang="en-US" sz="2000" dirty="0">
                <a:solidFill>
                  <a:srgbClr val="A50021"/>
                </a:solidFill>
                <a:latin typeface="Arial" panose="020B0604020202020204" pitchFamily="34" charset="0"/>
                <a:ea typeface="黑体" panose="02010609060101010101" pitchFamily="49" charset="-122"/>
              </a:rPr>
              <a:t>值的产生，在足够长的时间后，下个时钟</a:t>
            </a:r>
            <a:r>
              <a:rPr lang="en-US" altLang="zh-CN" sz="2000" dirty="0" err="1">
                <a:solidFill>
                  <a:srgbClr val="A50021"/>
                </a:solidFill>
                <a:latin typeface="Arial" panose="020B0604020202020204" pitchFamily="34" charset="0"/>
                <a:ea typeface="黑体" panose="02010609060101010101" pitchFamily="49" charset="-122"/>
              </a:rPr>
              <a:t>Clk</a:t>
            </a:r>
            <a:r>
              <a:rPr lang="zh-CN" altLang="en-US" sz="2000" dirty="0">
                <a:solidFill>
                  <a:srgbClr val="A50021"/>
                </a:solidFill>
                <a:latin typeface="Arial" panose="020B0604020202020204" pitchFamily="34" charset="0"/>
                <a:ea typeface="黑体" panose="02010609060101010101" pitchFamily="49" charset="-122"/>
              </a:rPr>
              <a:t>到来！</a:t>
            </a:r>
            <a:endParaRPr lang="zh-CN" altLang="en-US" sz="2000" dirty="0">
              <a:solidFill>
                <a:srgbClr val="A50021"/>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49984"/>
                                        </p:tgtEl>
                                        <p:attrNameLst>
                                          <p:attrName>style.visibility</p:attrName>
                                        </p:attrNameLst>
                                      </p:cBhvr>
                                      <p:to>
                                        <p:strVal val="visible"/>
                                      </p:to>
                                    </p:set>
                                    <p:animEffect transition="in" filter="slide(fromLeft)">
                                      <p:cBhvr>
                                        <p:cTn id="7" dur="500"/>
                                        <p:tgtEl>
                                          <p:spTgt spid="24998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49875"/>
                                        </p:tgtEl>
                                        <p:attrNameLst>
                                          <p:attrName>style.visibility</p:attrName>
                                        </p:attrNameLst>
                                      </p:cBhvr>
                                      <p:to>
                                        <p:strVal val="visible"/>
                                      </p:to>
                                    </p:set>
                                    <p:animEffect transition="in" filter="slide(fromLeft)">
                                      <p:cBhvr>
                                        <p:cTn id="12" dur="500"/>
                                        <p:tgtEl>
                                          <p:spTgt spid="24987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249987"/>
                                        </p:tgtEl>
                                        <p:attrNameLst>
                                          <p:attrName>style.visibility</p:attrName>
                                        </p:attrNameLst>
                                      </p:cBhvr>
                                      <p:to>
                                        <p:strVal val="visible"/>
                                      </p:to>
                                    </p:set>
                                    <p:animEffect transition="in" filter="slide(fromLeft)">
                                      <p:cBhvr>
                                        <p:cTn id="17" dur="500"/>
                                        <p:tgtEl>
                                          <p:spTgt spid="24998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9997"/>
                                        </p:tgtEl>
                                        <p:attrNameLst>
                                          <p:attrName>style.visibility</p:attrName>
                                        </p:attrNameLst>
                                      </p:cBhvr>
                                      <p:to>
                                        <p:strVal val="visible"/>
                                      </p:to>
                                    </p:set>
                                    <p:animEffect transition="in" filter="blinds(horizontal)">
                                      <p:cBhvr>
                                        <p:cTn id="22" dur="500"/>
                                        <p:tgtEl>
                                          <p:spTgt spid="24999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500" fill="hold">
                                          <p:stCondLst>
                                            <p:cond delay="0"/>
                                          </p:stCondLst>
                                        </p:cTn>
                                        <p:tgtEl>
                                          <p:spTgt spid="249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99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矩形 251905"/>
          <p:cNvSpPr/>
          <p:nvPr/>
        </p:nvSpPr>
        <p:spPr>
          <a:xfrm>
            <a:off x="914400" y="3886200"/>
            <a:ext cx="7924800" cy="228600"/>
          </a:xfrm>
          <a:prstGeom prst="rect">
            <a:avLst/>
          </a:prstGeom>
          <a:solidFill>
            <a:srgbClr val="DDDDDD"/>
          </a:solidFill>
          <a:ln w="12700">
            <a:noFill/>
          </a:ln>
        </p:spPr>
        <p:txBody>
          <a:bodyPr anchor="t" anchorCtr="0"/>
          <a:p>
            <a:pPr eaLnBrk="0" hangingPunct="0"/>
            <a:endParaRPr lang="zh-CN" altLang="en-US">
              <a:latin typeface="Arial" panose="020B0604020202020204" pitchFamily="34" charset="0"/>
            </a:endParaRPr>
          </a:p>
        </p:txBody>
      </p:sp>
      <p:sp>
        <p:nvSpPr>
          <p:cNvPr id="111618" name="矩形 251906"/>
          <p:cNvSpPr/>
          <p:nvPr/>
        </p:nvSpPr>
        <p:spPr>
          <a:xfrm>
            <a:off x="914400" y="3352800"/>
            <a:ext cx="7924800" cy="228600"/>
          </a:xfrm>
          <a:prstGeom prst="rect">
            <a:avLst/>
          </a:prstGeom>
          <a:solidFill>
            <a:srgbClr val="DDDDDD"/>
          </a:solidFill>
          <a:ln w="12700">
            <a:noFill/>
          </a:ln>
        </p:spPr>
        <p:txBody>
          <a:bodyPr anchor="t" anchorCtr="0"/>
          <a:p>
            <a:pPr eaLnBrk="0" hangingPunct="0"/>
            <a:endParaRPr lang="zh-CN" altLang="en-US">
              <a:latin typeface="Arial" panose="020B0604020202020204" pitchFamily="34" charset="0"/>
            </a:endParaRPr>
          </a:p>
        </p:txBody>
      </p:sp>
      <p:sp>
        <p:nvSpPr>
          <p:cNvPr id="111619" name="矩形 251907"/>
          <p:cNvSpPr/>
          <p:nvPr/>
        </p:nvSpPr>
        <p:spPr>
          <a:xfrm>
            <a:off x="914400" y="2819400"/>
            <a:ext cx="7924800" cy="228600"/>
          </a:xfrm>
          <a:prstGeom prst="rect">
            <a:avLst/>
          </a:prstGeom>
          <a:solidFill>
            <a:srgbClr val="DDDDDD"/>
          </a:solidFill>
          <a:ln w="12700">
            <a:noFill/>
          </a:ln>
        </p:spPr>
        <p:txBody>
          <a:bodyPr anchor="t" anchorCtr="0"/>
          <a:p>
            <a:pPr eaLnBrk="0" hangingPunct="0"/>
            <a:endParaRPr lang="zh-CN" altLang="en-US">
              <a:latin typeface="Arial" panose="020B0604020202020204" pitchFamily="34" charset="0"/>
            </a:endParaRPr>
          </a:p>
        </p:txBody>
      </p:sp>
      <p:sp>
        <p:nvSpPr>
          <p:cNvPr id="111620" name="矩形 251908"/>
          <p:cNvSpPr/>
          <p:nvPr/>
        </p:nvSpPr>
        <p:spPr>
          <a:xfrm>
            <a:off x="914400" y="2286000"/>
            <a:ext cx="7924800" cy="228600"/>
          </a:xfrm>
          <a:prstGeom prst="rect">
            <a:avLst/>
          </a:prstGeom>
          <a:solidFill>
            <a:srgbClr val="DDDDDD"/>
          </a:solidFill>
          <a:ln w="12700">
            <a:noFill/>
          </a:ln>
        </p:spPr>
        <p:txBody>
          <a:bodyPr anchor="t" anchorCtr="0"/>
          <a:p>
            <a:pPr eaLnBrk="0" hangingPunct="0"/>
            <a:endParaRPr lang="zh-CN" altLang="en-US">
              <a:latin typeface="Arial" panose="020B0604020202020204" pitchFamily="34" charset="0"/>
            </a:endParaRPr>
          </a:p>
        </p:txBody>
      </p:sp>
      <p:sp>
        <p:nvSpPr>
          <p:cNvPr id="111621" name="矩形 251909"/>
          <p:cNvSpPr/>
          <p:nvPr/>
        </p:nvSpPr>
        <p:spPr>
          <a:xfrm>
            <a:off x="1066800" y="1752600"/>
            <a:ext cx="7772400" cy="228600"/>
          </a:xfrm>
          <a:prstGeom prst="rect">
            <a:avLst/>
          </a:prstGeom>
          <a:solidFill>
            <a:srgbClr val="DDDDDD"/>
          </a:solidFill>
          <a:ln w="12700">
            <a:noFill/>
          </a:ln>
        </p:spPr>
        <p:txBody>
          <a:bodyPr anchor="t" anchorCtr="0"/>
          <a:p>
            <a:pPr eaLnBrk="0" hangingPunct="0"/>
            <a:endParaRPr lang="zh-CN" altLang="en-US">
              <a:latin typeface="Arial" panose="020B0604020202020204" pitchFamily="34" charset="0"/>
            </a:endParaRPr>
          </a:p>
        </p:txBody>
      </p:sp>
      <p:sp>
        <p:nvSpPr>
          <p:cNvPr id="111622" name="矩形 251910"/>
          <p:cNvSpPr/>
          <p:nvPr/>
        </p:nvSpPr>
        <p:spPr>
          <a:xfrm>
            <a:off x="533400" y="1219200"/>
            <a:ext cx="8305800" cy="228600"/>
          </a:xfrm>
          <a:prstGeom prst="rect">
            <a:avLst/>
          </a:prstGeom>
          <a:solidFill>
            <a:srgbClr val="DDDDDD"/>
          </a:solidFill>
          <a:ln w="12700">
            <a:noFill/>
          </a:ln>
        </p:spPr>
        <p:txBody>
          <a:bodyPr anchor="t" anchorCtr="0"/>
          <a:p>
            <a:pPr eaLnBrk="0" hangingPunct="0"/>
            <a:endParaRPr lang="zh-CN" altLang="en-US">
              <a:latin typeface="Arial" panose="020B0604020202020204" pitchFamily="34" charset="0"/>
            </a:endParaRPr>
          </a:p>
        </p:txBody>
      </p:sp>
      <p:sp>
        <p:nvSpPr>
          <p:cNvPr id="111623" name="标题 251911"/>
          <p:cNvSpPr>
            <a:spLocks noGrp="1"/>
          </p:cNvSpPr>
          <p:nvPr>
            <p:ph type="title"/>
          </p:nvPr>
        </p:nvSpPr>
        <p:spPr>
          <a:xfrm>
            <a:off x="822325" y="174625"/>
            <a:ext cx="6396038" cy="422275"/>
          </a:xfrm>
          <a:ln/>
        </p:spPr>
        <p:txBody>
          <a:bodyPr vert="horz" wrap="none" lIns="63500" tIns="25400" rIns="63500" bIns="25400" anchor="t" anchorCtr="0">
            <a:spAutoFit/>
          </a:bodyPr>
          <a:p>
            <a:r>
              <a:rPr lang="en-US" altLang="zh-CN">
                <a:ea typeface="宋体" panose="02010600030101010101" pitchFamily="2" charset="-122"/>
              </a:rPr>
              <a:t>Register-Register</a:t>
            </a:r>
            <a:r>
              <a:rPr lang="zh-CN" altLang="en-US" dirty="0">
                <a:ea typeface="宋体" panose="02010600030101010101" pitchFamily="2" charset="-122"/>
              </a:rPr>
              <a:t>（</a:t>
            </a:r>
            <a:r>
              <a:rPr lang="en-US" altLang="zh-CN">
                <a:ea typeface="宋体" panose="02010600030101010101" pitchFamily="2" charset="-122"/>
              </a:rPr>
              <a:t>R</a:t>
            </a:r>
            <a:r>
              <a:rPr lang="zh-CN" altLang="en-US" dirty="0">
                <a:ea typeface="宋体" panose="02010600030101010101" pitchFamily="2" charset="-122"/>
              </a:rPr>
              <a:t>型指令） </a:t>
            </a:r>
            <a:r>
              <a:rPr lang="en-US" altLang="zh-CN">
                <a:ea typeface="宋体" panose="02010600030101010101" pitchFamily="2" charset="-122"/>
              </a:rPr>
              <a:t>Timing</a:t>
            </a:r>
            <a:endParaRPr lang="en-US" altLang="zh-CN">
              <a:ea typeface="宋体" panose="02010600030101010101" pitchFamily="2" charset="-122"/>
            </a:endParaRPr>
          </a:p>
        </p:txBody>
      </p:sp>
      <p:sp>
        <p:nvSpPr>
          <p:cNvPr id="111624" name="直接连接符 251912"/>
          <p:cNvSpPr/>
          <p:nvPr/>
        </p:nvSpPr>
        <p:spPr>
          <a:xfrm>
            <a:off x="5867400" y="5116513"/>
            <a:ext cx="0" cy="247650"/>
          </a:xfrm>
          <a:prstGeom prst="line">
            <a:avLst/>
          </a:prstGeom>
          <a:ln w="25400" cap="flat" cmpd="sng">
            <a:solidFill>
              <a:schemeClr val="tx1"/>
            </a:solidFill>
            <a:prstDash val="solid"/>
            <a:round/>
            <a:headEnd type="none" w="med" len="med"/>
            <a:tailEnd type="none" w="med" len="med"/>
          </a:ln>
        </p:spPr>
      </p:sp>
      <p:sp>
        <p:nvSpPr>
          <p:cNvPr id="111625" name="直接连接符 251913"/>
          <p:cNvSpPr/>
          <p:nvPr/>
        </p:nvSpPr>
        <p:spPr>
          <a:xfrm>
            <a:off x="5880100" y="5116513"/>
            <a:ext cx="431800" cy="261937"/>
          </a:xfrm>
          <a:prstGeom prst="line">
            <a:avLst/>
          </a:prstGeom>
          <a:ln w="25400" cap="flat" cmpd="sng">
            <a:solidFill>
              <a:schemeClr val="tx1"/>
            </a:solidFill>
            <a:prstDash val="solid"/>
            <a:round/>
            <a:headEnd type="none" w="med" len="med"/>
            <a:tailEnd type="none" w="med" len="med"/>
          </a:ln>
        </p:spPr>
      </p:sp>
      <p:sp>
        <p:nvSpPr>
          <p:cNvPr id="111626" name="直接连接符 251914"/>
          <p:cNvSpPr/>
          <p:nvPr/>
        </p:nvSpPr>
        <p:spPr>
          <a:xfrm>
            <a:off x="5865813" y="5375275"/>
            <a:ext cx="246062" cy="153988"/>
          </a:xfrm>
          <a:prstGeom prst="line">
            <a:avLst/>
          </a:prstGeom>
          <a:ln w="25400" cap="flat" cmpd="sng">
            <a:solidFill>
              <a:schemeClr val="tx1"/>
            </a:solidFill>
            <a:prstDash val="solid"/>
            <a:round/>
            <a:headEnd type="none" w="med" len="med"/>
            <a:tailEnd type="none" w="med" len="med"/>
          </a:ln>
        </p:spPr>
      </p:sp>
      <p:sp>
        <p:nvSpPr>
          <p:cNvPr id="111627" name="直接连接符 251915"/>
          <p:cNvSpPr/>
          <p:nvPr/>
        </p:nvSpPr>
        <p:spPr>
          <a:xfrm>
            <a:off x="6096000" y="5526088"/>
            <a:ext cx="0" cy="247650"/>
          </a:xfrm>
          <a:prstGeom prst="line">
            <a:avLst/>
          </a:prstGeom>
          <a:ln w="25400" cap="flat" cmpd="sng">
            <a:solidFill>
              <a:schemeClr val="tx1"/>
            </a:solidFill>
            <a:prstDash val="solid"/>
            <a:round/>
            <a:headEnd type="none" w="med" len="med"/>
            <a:tailEnd type="none" w="med" len="med"/>
          </a:ln>
        </p:spPr>
      </p:sp>
      <p:sp>
        <p:nvSpPr>
          <p:cNvPr id="111628" name="直接连接符 251916"/>
          <p:cNvSpPr/>
          <p:nvPr/>
        </p:nvSpPr>
        <p:spPr>
          <a:xfrm>
            <a:off x="6324600" y="5389563"/>
            <a:ext cx="0" cy="520700"/>
          </a:xfrm>
          <a:prstGeom prst="line">
            <a:avLst/>
          </a:prstGeom>
          <a:ln w="25400" cap="flat" cmpd="sng">
            <a:solidFill>
              <a:schemeClr val="tx1"/>
            </a:solidFill>
            <a:prstDash val="solid"/>
            <a:round/>
            <a:headEnd type="none" w="med" len="med"/>
            <a:tailEnd type="none" w="med" len="med"/>
          </a:ln>
        </p:spPr>
      </p:sp>
      <p:sp>
        <p:nvSpPr>
          <p:cNvPr id="111629" name="直接连接符 251917"/>
          <p:cNvSpPr/>
          <p:nvPr/>
        </p:nvSpPr>
        <p:spPr>
          <a:xfrm flipV="1">
            <a:off x="5880100" y="5759450"/>
            <a:ext cx="203200" cy="176213"/>
          </a:xfrm>
          <a:prstGeom prst="line">
            <a:avLst/>
          </a:prstGeom>
          <a:ln w="25400" cap="flat" cmpd="sng">
            <a:solidFill>
              <a:schemeClr val="tx1"/>
            </a:solidFill>
            <a:prstDash val="solid"/>
            <a:round/>
            <a:headEnd type="none" w="med" len="med"/>
            <a:tailEnd type="none" w="med" len="med"/>
          </a:ln>
        </p:spPr>
      </p:sp>
      <p:sp>
        <p:nvSpPr>
          <p:cNvPr id="111630" name="直接连接符 251918"/>
          <p:cNvSpPr/>
          <p:nvPr/>
        </p:nvSpPr>
        <p:spPr>
          <a:xfrm>
            <a:off x="5867400" y="5935663"/>
            <a:ext cx="0" cy="290512"/>
          </a:xfrm>
          <a:prstGeom prst="line">
            <a:avLst/>
          </a:prstGeom>
          <a:ln w="25400" cap="flat" cmpd="sng">
            <a:solidFill>
              <a:schemeClr val="tx1"/>
            </a:solidFill>
            <a:prstDash val="solid"/>
            <a:round/>
            <a:headEnd type="none" w="med" len="med"/>
            <a:tailEnd type="none" w="med" len="med"/>
          </a:ln>
        </p:spPr>
      </p:sp>
      <p:sp>
        <p:nvSpPr>
          <p:cNvPr id="111631" name="直接连接符 251919"/>
          <p:cNvSpPr/>
          <p:nvPr/>
        </p:nvSpPr>
        <p:spPr>
          <a:xfrm flipV="1">
            <a:off x="5851525" y="5867400"/>
            <a:ext cx="474663" cy="355600"/>
          </a:xfrm>
          <a:prstGeom prst="line">
            <a:avLst/>
          </a:prstGeom>
          <a:ln w="25400" cap="flat" cmpd="sng">
            <a:solidFill>
              <a:schemeClr val="tx1"/>
            </a:solidFill>
            <a:prstDash val="solid"/>
            <a:round/>
            <a:headEnd type="none" w="med" len="med"/>
            <a:tailEnd type="none" w="med" len="med"/>
          </a:ln>
        </p:spPr>
      </p:sp>
      <p:sp>
        <p:nvSpPr>
          <p:cNvPr id="111632" name="直接连接符 251920"/>
          <p:cNvSpPr/>
          <p:nvPr/>
        </p:nvSpPr>
        <p:spPr>
          <a:xfrm flipH="1">
            <a:off x="6311900" y="5649913"/>
            <a:ext cx="1854200" cy="0"/>
          </a:xfrm>
          <a:prstGeom prst="line">
            <a:avLst/>
          </a:prstGeom>
          <a:ln w="25400" cap="flat" cmpd="sng">
            <a:solidFill>
              <a:schemeClr val="tx1"/>
            </a:solidFill>
            <a:prstDash val="solid"/>
            <a:round/>
            <a:headEnd type="triangle" w="med" len="med"/>
            <a:tailEnd type="none" w="med" len="med"/>
          </a:ln>
        </p:spPr>
      </p:sp>
      <p:sp>
        <p:nvSpPr>
          <p:cNvPr id="111633" name="直接连接符 251921"/>
          <p:cNvSpPr/>
          <p:nvPr/>
        </p:nvSpPr>
        <p:spPr>
          <a:xfrm flipH="1">
            <a:off x="6775450" y="5519738"/>
            <a:ext cx="165100" cy="260350"/>
          </a:xfrm>
          <a:prstGeom prst="line">
            <a:avLst/>
          </a:prstGeom>
          <a:ln w="12700" cap="flat" cmpd="sng">
            <a:solidFill>
              <a:schemeClr val="tx1"/>
            </a:solidFill>
            <a:prstDash val="solid"/>
            <a:round/>
            <a:headEnd type="none" w="med" len="med"/>
            <a:tailEnd type="none" w="med" len="med"/>
          </a:ln>
        </p:spPr>
      </p:sp>
      <p:sp>
        <p:nvSpPr>
          <p:cNvPr id="111634" name="矩形 251922"/>
          <p:cNvSpPr/>
          <p:nvPr/>
        </p:nvSpPr>
        <p:spPr>
          <a:xfrm>
            <a:off x="6462713" y="5645150"/>
            <a:ext cx="393700" cy="577850"/>
          </a:xfrm>
          <a:prstGeom prst="rect">
            <a:avLst/>
          </a:prstGeom>
          <a:noFill/>
          <a:ln w="12700">
            <a:noFill/>
          </a:ln>
        </p:spPr>
        <p:txBody>
          <a:bodyPr lIns="90488" tIns="44450" rIns="90488" bIns="44450" anchor="t" anchorCtr="0">
            <a:spAutoFit/>
          </a:bodyPr>
          <a:p>
            <a:pPr eaLnBrk="0" hangingPunct="0"/>
            <a:r>
              <a:rPr lang="zh-CN" altLang="en-US" dirty="0">
                <a:latin typeface="Arial" panose="020B0604020202020204" pitchFamily="34" charset="0"/>
                <a:ea typeface="黑体" panose="02010609060101010101" pitchFamily="49" charset="-122"/>
              </a:rPr>
              <a:t>32</a:t>
            </a:r>
            <a:endParaRPr lang="zh-CN" altLang="en-US" dirty="0">
              <a:latin typeface="Arial" panose="020B0604020202020204" pitchFamily="34" charset="0"/>
              <a:ea typeface="黑体" panose="02010609060101010101" pitchFamily="49" charset="-122"/>
            </a:endParaRPr>
          </a:p>
        </p:txBody>
      </p:sp>
      <p:sp>
        <p:nvSpPr>
          <p:cNvPr id="111635" name="矩形 251923"/>
          <p:cNvSpPr/>
          <p:nvPr/>
        </p:nvSpPr>
        <p:spPr>
          <a:xfrm>
            <a:off x="6919913" y="5372100"/>
            <a:ext cx="801687"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Result</a:t>
            </a:r>
            <a:endParaRPr lang="en-US" altLang="zh-CN">
              <a:latin typeface="Arial" panose="020B0604020202020204" pitchFamily="34" charset="0"/>
              <a:ea typeface="黑体" panose="02010609060101010101" pitchFamily="49" charset="-122"/>
            </a:endParaRPr>
          </a:p>
        </p:txBody>
      </p:sp>
      <p:sp>
        <p:nvSpPr>
          <p:cNvPr id="111636" name="直接连接符 251924"/>
          <p:cNvSpPr/>
          <p:nvPr/>
        </p:nvSpPr>
        <p:spPr>
          <a:xfrm>
            <a:off x="6096000" y="4843463"/>
            <a:ext cx="0" cy="384175"/>
          </a:xfrm>
          <a:prstGeom prst="line">
            <a:avLst/>
          </a:prstGeom>
          <a:ln w="25400" cap="flat" cmpd="sng">
            <a:solidFill>
              <a:srgbClr val="3366FF"/>
            </a:solidFill>
            <a:prstDash val="solid"/>
            <a:round/>
            <a:headEnd type="none" w="med" len="med"/>
            <a:tailEnd type="triangle" w="med" len="med"/>
          </a:ln>
        </p:spPr>
      </p:sp>
      <p:sp>
        <p:nvSpPr>
          <p:cNvPr id="111637" name="矩形 251925"/>
          <p:cNvSpPr/>
          <p:nvPr/>
        </p:nvSpPr>
        <p:spPr>
          <a:xfrm>
            <a:off x="5716588" y="4552950"/>
            <a:ext cx="1038225" cy="363538"/>
          </a:xfrm>
          <a:prstGeom prst="rect">
            <a:avLst/>
          </a:prstGeom>
          <a:noFill/>
          <a:ln w="12700">
            <a:noFill/>
          </a:ln>
        </p:spPr>
        <p:txBody>
          <a:bodyPr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ALUctr</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1638" name="矩形 251926"/>
          <p:cNvSpPr/>
          <p:nvPr/>
        </p:nvSpPr>
        <p:spPr>
          <a:xfrm>
            <a:off x="1900238" y="5751513"/>
            <a:ext cx="536575" cy="363537"/>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1639" name="矩形 251927"/>
          <p:cNvSpPr/>
          <p:nvPr/>
        </p:nvSpPr>
        <p:spPr>
          <a:xfrm>
            <a:off x="1509713" y="5303838"/>
            <a:ext cx="733425"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busW</a:t>
            </a:r>
            <a:endParaRPr lang="en-US" altLang="zh-CN">
              <a:latin typeface="Arial" panose="020B0604020202020204" pitchFamily="34" charset="0"/>
              <a:ea typeface="黑体" panose="02010609060101010101" pitchFamily="49" charset="-122"/>
            </a:endParaRPr>
          </a:p>
        </p:txBody>
      </p:sp>
      <p:sp>
        <p:nvSpPr>
          <p:cNvPr id="111640" name="矩形 251928"/>
          <p:cNvSpPr/>
          <p:nvPr/>
        </p:nvSpPr>
        <p:spPr>
          <a:xfrm>
            <a:off x="2593975" y="5116513"/>
            <a:ext cx="1431925" cy="108426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1641" name="直接连接符 251929"/>
          <p:cNvSpPr/>
          <p:nvPr/>
        </p:nvSpPr>
        <p:spPr>
          <a:xfrm>
            <a:off x="2632075" y="5986463"/>
            <a:ext cx="250825" cy="60325"/>
          </a:xfrm>
          <a:prstGeom prst="line">
            <a:avLst/>
          </a:prstGeom>
          <a:ln w="25400" cap="flat" cmpd="sng">
            <a:solidFill>
              <a:schemeClr val="tx1"/>
            </a:solidFill>
            <a:prstDash val="solid"/>
            <a:round/>
            <a:headEnd type="none" w="med" len="med"/>
            <a:tailEnd type="none" w="med" len="med"/>
          </a:ln>
        </p:spPr>
      </p:sp>
      <p:sp>
        <p:nvSpPr>
          <p:cNvPr id="111642" name="直接连接符 251930"/>
          <p:cNvSpPr/>
          <p:nvPr/>
        </p:nvSpPr>
        <p:spPr>
          <a:xfrm flipH="1">
            <a:off x="2606675" y="6072188"/>
            <a:ext cx="301625" cy="93662"/>
          </a:xfrm>
          <a:prstGeom prst="line">
            <a:avLst/>
          </a:prstGeom>
          <a:ln w="25400" cap="flat" cmpd="sng">
            <a:solidFill>
              <a:schemeClr val="tx1"/>
            </a:solidFill>
            <a:prstDash val="solid"/>
            <a:round/>
            <a:headEnd type="none" w="med" len="med"/>
            <a:tailEnd type="none" w="med" len="med"/>
          </a:ln>
        </p:spPr>
      </p:sp>
      <p:sp>
        <p:nvSpPr>
          <p:cNvPr id="111643" name="椭圆 251931"/>
          <p:cNvSpPr/>
          <p:nvPr/>
        </p:nvSpPr>
        <p:spPr>
          <a:xfrm>
            <a:off x="2441575" y="6021388"/>
            <a:ext cx="127000" cy="11112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1644" name="矩形 251932"/>
          <p:cNvSpPr/>
          <p:nvPr/>
        </p:nvSpPr>
        <p:spPr>
          <a:xfrm>
            <a:off x="2041525" y="4619625"/>
            <a:ext cx="91757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RegWr</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1645" name="直接连接符 251933"/>
          <p:cNvSpPr/>
          <p:nvPr/>
        </p:nvSpPr>
        <p:spPr>
          <a:xfrm flipH="1">
            <a:off x="1587500" y="5581650"/>
            <a:ext cx="1016000" cy="0"/>
          </a:xfrm>
          <a:prstGeom prst="line">
            <a:avLst/>
          </a:prstGeom>
          <a:ln w="25400" cap="flat" cmpd="sng">
            <a:solidFill>
              <a:schemeClr val="tx1"/>
            </a:solidFill>
            <a:prstDash val="solid"/>
            <a:round/>
            <a:headEnd type="triangle" w="med" len="med"/>
            <a:tailEnd type="none" w="med" len="med"/>
          </a:ln>
        </p:spPr>
      </p:sp>
      <p:sp>
        <p:nvSpPr>
          <p:cNvPr id="111646" name="直接连接符 251934"/>
          <p:cNvSpPr/>
          <p:nvPr/>
        </p:nvSpPr>
        <p:spPr>
          <a:xfrm flipH="1">
            <a:off x="2051050" y="5451475"/>
            <a:ext cx="165100" cy="260350"/>
          </a:xfrm>
          <a:prstGeom prst="line">
            <a:avLst/>
          </a:prstGeom>
          <a:ln w="12700" cap="flat" cmpd="sng">
            <a:solidFill>
              <a:schemeClr val="tx1"/>
            </a:solidFill>
            <a:prstDash val="solid"/>
            <a:round/>
            <a:headEnd type="none" w="med" len="med"/>
            <a:tailEnd type="none" w="med" len="med"/>
          </a:ln>
        </p:spPr>
      </p:sp>
      <p:sp>
        <p:nvSpPr>
          <p:cNvPr id="111647" name="矩形 251935"/>
          <p:cNvSpPr/>
          <p:nvPr/>
        </p:nvSpPr>
        <p:spPr>
          <a:xfrm>
            <a:off x="1738313" y="5576888"/>
            <a:ext cx="40640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黑体" panose="02010609060101010101" pitchFamily="49" charset="-122"/>
              </a:rPr>
              <a:t>32</a:t>
            </a:r>
            <a:endParaRPr lang="zh-CN" altLang="en-US" dirty="0">
              <a:latin typeface="Arial" panose="020B0604020202020204" pitchFamily="34" charset="0"/>
              <a:ea typeface="黑体" panose="02010609060101010101" pitchFamily="49" charset="-122"/>
            </a:endParaRPr>
          </a:p>
        </p:txBody>
      </p:sp>
      <p:sp>
        <p:nvSpPr>
          <p:cNvPr id="111648" name="直接连接符 251936"/>
          <p:cNvSpPr/>
          <p:nvPr/>
        </p:nvSpPr>
        <p:spPr>
          <a:xfrm>
            <a:off x="4051300" y="5240338"/>
            <a:ext cx="1803400" cy="0"/>
          </a:xfrm>
          <a:prstGeom prst="line">
            <a:avLst/>
          </a:prstGeom>
          <a:ln w="25400" cap="flat" cmpd="sng">
            <a:solidFill>
              <a:schemeClr val="tx1"/>
            </a:solidFill>
            <a:prstDash val="solid"/>
            <a:round/>
            <a:headEnd type="none" w="med" len="med"/>
            <a:tailEnd type="triangle" w="med" len="med"/>
          </a:ln>
        </p:spPr>
      </p:sp>
      <p:sp>
        <p:nvSpPr>
          <p:cNvPr id="111649" name="直接连接符 251937"/>
          <p:cNvSpPr/>
          <p:nvPr/>
        </p:nvSpPr>
        <p:spPr>
          <a:xfrm flipH="1">
            <a:off x="5022850" y="5110163"/>
            <a:ext cx="165100" cy="260350"/>
          </a:xfrm>
          <a:prstGeom prst="line">
            <a:avLst/>
          </a:prstGeom>
          <a:ln w="12700" cap="flat" cmpd="sng">
            <a:solidFill>
              <a:schemeClr val="tx1"/>
            </a:solidFill>
            <a:prstDash val="solid"/>
            <a:round/>
            <a:headEnd type="none" w="med" len="med"/>
            <a:tailEnd type="none" w="med" len="med"/>
          </a:ln>
        </p:spPr>
      </p:sp>
      <p:sp>
        <p:nvSpPr>
          <p:cNvPr id="111650" name="矩形 251938"/>
          <p:cNvSpPr/>
          <p:nvPr/>
        </p:nvSpPr>
        <p:spPr>
          <a:xfrm>
            <a:off x="4710113" y="5303838"/>
            <a:ext cx="40640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黑体" panose="02010609060101010101" pitchFamily="49" charset="-122"/>
              </a:rPr>
              <a:t>32</a:t>
            </a:r>
            <a:endParaRPr lang="zh-CN" altLang="en-US" dirty="0">
              <a:latin typeface="Arial" panose="020B0604020202020204" pitchFamily="34" charset="0"/>
              <a:ea typeface="黑体" panose="02010609060101010101" pitchFamily="49" charset="-122"/>
            </a:endParaRPr>
          </a:p>
        </p:txBody>
      </p:sp>
      <p:sp>
        <p:nvSpPr>
          <p:cNvPr id="111651" name="矩形 251939"/>
          <p:cNvSpPr/>
          <p:nvPr/>
        </p:nvSpPr>
        <p:spPr>
          <a:xfrm>
            <a:off x="4405313" y="4962525"/>
            <a:ext cx="687387"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busA</a:t>
            </a:r>
            <a:endParaRPr lang="en-US" altLang="zh-CN">
              <a:latin typeface="Arial" panose="020B0604020202020204" pitchFamily="34" charset="0"/>
              <a:ea typeface="黑体" panose="02010609060101010101" pitchFamily="49" charset="-122"/>
            </a:endParaRPr>
          </a:p>
        </p:txBody>
      </p:sp>
      <p:sp>
        <p:nvSpPr>
          <p:cNvPr id="111652" name="直接连接符 251940"/>
          <p:cNvSpPr/>
          <p:nvPr/>
        </p:nvSpPr>
        <p:spPr>
          <a:xfrm flipV="1">
            <a:off x="2743200" y="4886325"/>
            <a:ext cx="0" cy="230188"/>
          </a:xfrm>
          <a:prstGeom prst="line">
            <a:avLst/>
          </a:prstGeom>
          <a:ln w="25400" cap="flat" cmpd="sng">
            <a:solidFill>
              <a:srgbClr val="3366FF"/>
            </a:solidFill>
            <a:prstDash val="solid"/>
            <a:round/>
            <a:headEnd type="triangle" w="med" len="med"/>
            <a:tailEnd type="none" w="med" len="med"/>
          </a:ln>
        </p:spPr>
      </p:sp>
      <p:sp>
        <p:nvSpPr>
          <p:cNvPr id="111653" name="直接连接符 251941"/>
          <p:cNvSpPr/>
          <p:nvPr/>
        </p:nvSpPr>
        <p:spPr>
          <a:xfrm>
            <a:off x="4051300" y="6059488"/>
            <a:ext cx="1803400" cy="0"/>
          </a:xfrm>
          <a:prstGeom prst="line">
            <a:avLst/>
          </a:prstGeom>
          <a:ln w="25400" cap="flat" cmpd="sng">
            <a:solidFill>
              <a:schemeClr val="tx1"/>
            </a:solidFill>
            <a:prstDash val="solid"/>
            <a:round/>
            <a:headEnd type="none" w="med" len="med"/>
            <a:tailEnd type="triangle" w="med" len="med"/>
          </a:ln>
        </p:spPr>
      </p:sp>
      <p:sp>
        <p:nvSpPr>
          <p:cNvPr id="111654" name="直接连接符 251942"/>
          <p:cNvSpPr/>
          <p:nvPr/>
        </p:nvSpPr>
        <p:spPr>
          <a:xfrm flipH="1">
            <a:off x="5022850" y="5929313"/>
            <a:ext cx="165100" cy="260350"/>
          </a:xfrm>
          <a:prstGeom prst="line">
            <a:avLst/>
          </a:prstGeom>
          <a:ln w="12700" cap="flat" cmpd="sng">
            <a:solidFill>
              <a:schemeClr val="tx1"/>
            </a:solidFill>
            <a:prstDash val="solid"/>
            <a:round/>
            <a:headEnd type="none" w="med" len="med"/>
            <a:tailEnd type="none" w="med" len="med"/>
          </a:ln>
        </p:spPr>
      </p:sp>
      <p:sp>
        <p:nvSpPr>
          <p:cNvPr id="111655" name="矩形 251943"/>
          <p:cNvSpPr/>
          <p:nvPr/>
        </p:nvSpPr>
        <p:spPr>
          <a:xfrm>
            <a:off x="4710113" y="6054725"/>
            <a:ext cx="40640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黑体" panose="02010609060101010101" pitchFamily="49" charset="-122"/>
              </a:rPr>
              <a:t>32</a:t>
            </a:r>
            <a:endParaRPr lang="zh-CN" altLang="en-US" dirty="0">
              <a:latin typeface="Arial" panose="020B0604020202020204" pitchFamily="34" charset="0"/>
              <a:ea typeface="黑体" panose="02010609060101010101" pitchFamily="49" charset="-122"/>
            </a:endParaRPr>
          </a:p>
        </p:txBody>
      </p:sp>
      <p:sp>
        <p:nvSpPr>
          <p:cNvPr id="111656" name="矩形 251944"/>
          <p:cNvSpPr/>
          <p:nvPr/>
        </p:nvSpPr>
        <p:spPr>
          <a:xfrm>
            <a:off x="4405313" y="5781675"/>
            <a:ext cx="687387"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busB</a:t>
            </a:r>
            <a:endParaRPr lang="en-US" altLang="zh-CN">
              <a:latin typeface="Arial" panose="020B0604020202020204" pitchFamily="34" charset="0"/>
              <a:ea typeface="黑体" panose="02010609060101010101" pitchFamily="49" charset="-122"/>
            </a:endParaRPr>
          </a:p>
        </p:txBody>
      </p:sp>
      <p:sp>
        <p:nvSpPr>
          <p:cNvPr id="111657" name="直接连接符 251945"/>
          <p:cNvSpPr/>
          <p:nvPr/>
        </p:nvSpPr>
        <p:spPr>
          <a:xfrm flipH="1">
            <a:off x="1968500" y="6059488"/>
            <a:ext cx="482600" cy="0"/>
          </a:xfrm>
          <a:prstGeom prst="line">
            <a:avLst/>
          </a:prstGeom>
          <a:ln w="25400" cap="flat" cmpd="sng">
            <a:solidFill>
              <a:schemeClr val="tx1"/>
            </a:solidFill>
            <a:prstDash val="solid"/>
            <a:round/>
            <a:headEnd type="none" w="med" len="med"/>
            <a:tailEnd type="none" w="med" len="med"/>
          </a:ln>
        </p:spPr>
      </p:sp>
      <p:sp>
        <p:nvSpPr>
          <p:cNvPr id="111658" name="直接连接符 251946"/>
          <p:cNvSpPr/>
          <p:nvPr/>
        </p:nvSpPr>
        <p:spPr>
          <a:xfrm>
            <a:off x="3048000" y="4706938"/>
            <a:ext cx="0" cy="384175"/>
          </a:xfrm>
          <a:prstGeom prst="line">
            <a:avLst/>
          </a:prstGeom>
          <a:ln w="25400" cap="flat" cmpd="sng">
            <a:solidFill>
              <a:schemeClr val="tx1"/>
            </a:solidFill>
            <a:prstDash val="solid"/>
            <a:round/>
            <a:headEnd type="none" w="med" len="med"/>
            <a:tailEnd type="none" w="med" len="med"/>
          </a:ln>
        </p:spPr>
      </p:sp>
      <p:sp>
        <p:nvSpPr>
          <p:cNvPr id="111659" name="直接连接符 251947"/>
          <p:cNvSpPr/>
          <p:nvPr/>
        </p:nvSpPr>
        <p:spPr>
          <a:xfrm flipV="1">
            <a:off x="2978150" y="4824413"/>
            <a:ext cx="139700" cy="149225"/>
          </a:xfrm>
          <a:prstGeom prst="line">
            <a:avLst/>
          </a:prstGeom>
          <a:ln w="12700" cap="flat" cmpd="sng">
            <a:solidFill>
              <a:schemeClr val="tx1"/>
            </a:solidFill>
            <a:prstDash val="solid"/>
            <a:round/>
            <a:headEnd type="none" w="med" len="med"/>
            <a:tailEnd type="none" w="med" len="med"/>
          </a:ln>
        </p:spPr>
      </p:sp>
      <p:sp>
        <p:nvSpPr>
          <p:cNvPr id="111660" name="矩形 251948"/>
          <p:cNvSpPr/>
          <p:nvPr/>
        </p:nvSpPr>
        <p:spPr>
          <a:xfrm>
            <a:off x="2805113" y="4689475"/>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5</a:t>
            </a:r>
            <a:endParaRPr lang="zh-CN" altLang="en-US" b="0" dirty="0">
              <a:latin typeface="Times New Roman" panose="02020603050405020304" pitchFamily="18" charset="0"/>
              <a:ea typeface="宋体" panose="02010600030101010101" pitchFamily="2" charset="-122"/>
            </a:endParaRPr>
          </a:p>
        </p:txBody>
      </p:sp>
      <p:sp>
        <p:nvSpPr>
          <p:cNvPr id="111661" name="直接连接符 251949"/>
          <p:cNvSpPr/>
          <p:nvPr/>
        </p:nvSpPr>
        <p:spPr>
          <a:xfrm>
            <a:off x="3429000" y="4706938"/>
            <a:ext cx="0" cy="384175"/>
          </a:xfrm>
          <a:prstGeom prst="line">
            <a:avLst/>
          </a:prstGeom>
          <a:ln w="25400" cap="flat" cmpd="sng">
            <a:solidFill>
              <a:schemeClr val="tx1"/>
            </a:solidFill>
            <a:prstDash val="solid"/>
            <a:round/>
            <a:headEnd type="none" w="med" len="med"/>
            <a:tailEnd type="none" w="med" len="med"/>
          </a:ln>
        </p:spPr>
      </p:sp>
      <p:sp>
        <p:nvSpPr>
          <p:cNvPr id="111662" name="直接连接符 251950"/>
          <p:cNvSpPr/>
          <p:nvPr/>
        </p:nvSpPr>
        <p:spPr>
          <a:xfrm flipV="1">
            <a:off x="3359150" y="4824413"/>
            <a:ext cx="139700" cy="149225"/>
          </a:xfrm>
          <a:prstGeom prst="line">
            <a:avLst/>
          </a:prstGeom>
          <a:ln w="12700" cap="flat" cmpd="sng">
            <a:solidFill>
              <a:schemeClr val="tx1"/>
            </a:solidFill>
            <a:prstDash val="solid"/>
            <a:round/>
            <a:headEnd type="none" w="med" len="med"/>
            <a:tailEnd type="none" w="med" len="med"/>
          </a:ln>
        </p:spPr>
      </p:sp>
      <p:sp>
        <p:nvSpPr>
          <p:cNvPr id="111663" name="矩形 251951"/>
          <p:cNvSpPr/>
          <p:nvPr/>
        </p:nvSpPr>
        <p:spPr>
          <a:xfrm>
            <a:off x="3186113" y="4689475"/>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5</a:t>
            </a:r>
            <a:endParaRPr lang="zh-CN" altLang="en-US" b="0" dirty="0">
              <a:latin typeface="Times New Roman" panose="02020603050405020304" pitchFamily="18" charset="0"/>
              <a:ea typeface="宋体" panose="02010600030101010101" pitchFamily="2" charset="-122"/>
            </a:endParaRPr>
          </a:p>
        </p:txBody>
      </p:sp>
      <p:sp>
        <p:nvSpPr>
          <p:cNvPr id="111664" name="直接连接符 251952"/>
          <p:cNvSpPr/>
          <p:nvPr/>
        </p:nvSpPr>
        <p:spPr>
          <a:xfrm>
            <a:off x="3886200" y="4706938"/>
            <a:ext cx="0" cy="384175"/>
          </a:xfrm>
          <a:prstGeom prst="line">
            <a:avLst/>
          </a:prstGeom>
          <a:ln w="25400" cap="flat" cmpd="sng">
            <a:solidFill>
              <a:schemeClr val="tx1"/>
            </a:solidFill>
            <a:prstDash val="solid"/>
            <a:round/>
            <a:headEnd type="none" w="med" len="med"/>
            <a:tailEnd type="none" w="med" len="med"/>
          </a:ln>
        </p:spPr>
      </p:sp>
      <p:sp>
        <p:nvSpPr>
          <p:cNvPr id="111665" name="直接连接符 251953"/>
          <p:cNvSpPr/>
          <p:nvPr/>
        </p:nvSpPr>
        <p:spPr>
          <a:xfrm flipV="1">
            <a:off x="3816350" y="4824413"/>
            <a:ext cx="139700" cy="149225"/>
          </a:xfrm>
          <a:prstGeom prst="line">
            <a:avLst/>
          </a:prstGeom>
          <a:ln w="12700" cap="flat" cmpd="sng">
            <a:solidFill>
              <a:schemeClr val="tx1"/>
            </a:solidFill>
            <a:prstDash val="solid"/>
            <a:round/>
            <a:headEnd type="none" w="med" len="med"/>
            <a:tailEnd type="none" w="med" len="med"/>
          </a:ln>
        </p:spPr>
      </p:sp>
      <p:sp>
        <p:nvSpPr>
          <p:cNvPr id="111666" name="矩形 251954"/>
          <p:cNvSpPr/>
          <p:nvPr/>
        </p:nvSpPr>
        <p:spPr>
          <a:xfrm>
            <a:off x="3643313" y="4689475"/>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5</a:t>
            </a:r>
            <a:endParaRPr lang="zh-CN" altLang="en-US" b="0" dirty="0">
              <a:latin typeface="Times New Roman" panose="02020603050405020304" pitchFamily="18" charset="0"/>
              <a:ea typeface="宋体" panose="02010600030101010101" pitchFamily="2" charset="-122"/>
            </a:endParaRPr>
          </a:p>
        </p:txBody>
      </p:sp>
      <p:sp>
        <p:nvSpPr>
          <p:cNvPr id="111667" name="矩形 251955"/>
          <p:cNvSpPr/>
          <p:nvPr/>
        </p:nvSpPr>
        <p:spPr>
          <a:xfrm>
            <a:off x="2805113" y="5099050"/>
            <a:ext cx="485775"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Rw</a:t>
            </a:r>
            <a:endParaRPr lang="en-US" altLang="zh-CN">
              <a:latin typeface="Arial" panose="020B0604020202020204" pitchFamily="34" charset="0"/>
              <a:ea typeface="黑体" panose="02010609060101010101" pitchFamily="49" charset="-122"/>
            </a:endParaRPr>
          </a:p>
        </p:txBody>
      </p:sp>
      <p:sp>
        <p:nvSpPr>
          <p:cNvPr id="111668" name="矩形 251956"/>
          <p:cNvSpPr/>
          <p:nvPr/>
        </p:nvSpPr>
        <p:spPr>
          <a:xfrm>
            <a:off x="3262313" y="5099050"/>
            <a:ext cx="417512"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R</a:t>
            </a:r>
            <a:r>
              <a:rPr lang="en-US" altLang="zh-CN" b="0">
                <a:latin typeface="Times New Roman" panose="02020603050405020304" pitchFamily="18" charset="0"/>
                <a:ea typeface="宋体" panose="02010600030101010101" pitchFamily="2" charset="-122"/>
              </a:rPr>
              <a:t>a</a:t>
            </a:r>
            <a:endParaRPr lang="en-US" altLang="zh-CN" b="0">
              <a:latin typeface="Times New Roman" panose="02020603050405020304" pitchFamily="18" charset="0"/>
              <a:ea typeface="宋体" panose="02010600030101010101" pitchFamily="2" charset="-122"/>
            </a:endParaRPr>
          </a:p>
        </p:txBody>
      </p:sp>
      <p:sp>
        <p:nvSpPr>
          <p:cNvPr id="111669" name="矩形 251957"/>
          <p:cNvSpPr/>
          <p:nvPr/>
        </p:nvSpPr>
        <p:spPr>
          <a:xfrm>
            <a:off x="3643313" y="5099050"/>
            <a:ext cx="450850"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Rb</a:t>
            </a:r>
            <a:endParaRPr lang="en-US" altLang="zh-CN">
              <a:latin typeface="Arial" panose="020B0604020202020204" pitchFamily="34" charset="0"/>
              <a:ea typeface="黑体" panose="02010609060101010101" pitchFamily="49" charset="-122"/>
            </a:endParaRPr>
          </a:p>
        </p:txBody>
      </p:sp>
      <p:sp>
        <p:nvSpPr>
          <p:cNvPr id="111670" name="矩形 251958"/>
          <p:cNvSpPr/>
          <p:nvPr/>
        </p:nvSpPr>
        <p:spPr>
          <a:xfrm>
            <a:off x="2843213" y="5448300"/>
            <a:ext cx="1106487" cy="57785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32 32-</a:t>
            </a:r>
            <a:r>
              <a:rPr lang="en-US" altLang="zh-CN">
                <a:latin typeface="Arial" panose="020B0604020202020204" pitchFamily="34" charset="0"/>
                <a:ea typeface="宋体" panose="02010600030101010101" pitchFamily="2" charset="-122"/>
              </a:rPr>
              <a:t>bit</a:t>
            </a:r>
            <a:endParaRPr lang="en-US" altLang="zh-CN">
              <a:latin typeface="Arial" panose="020B0604020202020204" pitchFamily="34" charset="0"/>
              <a:ea typeface="宋体" panose="02010600030101010101" pitchFamily="2" charset="-122"/>
            </a:endParaRPr>
          </a:p>
          <a:p>
            <a:pPr eaLnBrk="0" hangingPunct="0"/>
            <a:r>
              <a:rPr lang="en-US" altLang="zh-CN">
                <a:latin typeface="Arial" panose="020B0604020202020204" pitchFamily="34" charset="0"/>
                <a:ea typeface="宋体" panose="02010600030101010101" pitchFamily="2" charset="-122"/>
              </a:rPr>
              <a:t>Registers</a:t>
            </a:r>
            <a:endParaRPr lang="en-US" altLang="zh-CN">
              <a:latin typeface="Arial" panose="020B0604020202020204" pitchFamily="34" charset="0"/>
              <a:ea typeface="宋体" panose="02010600030101010101" pitchFamily="2" charset="-122"/>
            </a:endParaRPr>
          </a:p>
        </p:txBody>
      </p:sp>
      <p:sp>
        <p:nvSpPr>
          <p:cNvPr id="111671" name="直接连接符 251959"/>
          <p:cNvSpPr/>
          <p:nvPr/>
        </p:nvSpPr>
        <p:spPr>
          <a:xfrm>
            <a:off x="7391400" y="5662613"/>
            <a:ext cx="0" cy="725487"/>
          </a:xfrm>
          <a:prstGeom prst="line">
            <a:avLst/>
          </a:prstGeom>
          <a:ln w="25400" cap="flat" cmpd="sng">
            <a:solidFill>
              <a:schemeClr val="tx1"/>
            </a:solidFill>
            <a:prstDash val="solid"/>
            <a:round/>
            <a:headEnd type="none" w="med" len="med"/>
            <a:tailEnd type="none" w="med" len="med"/>
          </a:ln>
        </p:spPr>
      </p:sp>
      <p:sp>
        <p:nvSpPr>
          <p:cNvPr id="111672" name="直接连接符 251960"/>
          <p:cNvSpPr/>
          <p:nvPr/>
        </p:nvSpPr>
        <p:spPr>
          <a:xfrm flipH="1">
            <a:off x="1587500" y="6400800"/>
            <a:ext cx="5816600" cy="0"/>
          </a:xfrm>
          <a:prstGeom prst="line">
            <a:avLst/>
          </a:prstGeom>
          <a:ln w="25400" cap="flat" cmpd="sng">
            <a:solidFill>
              <a:schemeClr val="tx1"/>
            </a:solidFill>
            <a:prstDash val="solid"/>
            <a:round/>
            <a:headEnd type="none" w="med" len="med"/>
            <a:tailEnd type="none" w="med" len="med"/>
          </a:ln>
        </p:spPr>
      </p:sp>
      <p:sp>
        <p:nvSpPr>
          <p:cNvPr id="111673" name="直接连接符 251961"/>
          <p:cNvSpPr/>
          <p:nvPr/>
        </p:nvSpPr>
        <p:spPr>
          <a:xfrm flipV="1">
            <a:off x="1600200" y="5568950"/>
            <a:ext cx="0" cy="844550"/>
          </a:xfrm>
          <a:prstGeom prst="line">
            <a:avLst/>
          </a:prstGeom>
          <a:ln w="25400" cap="flat" cmpd="sng">
            <a:solidFill>
              <a:schemeClr val="tx1"/>
            </a:solidFill>
            <a:prstDash val="solid"/>
            <a:round/>
            <a:headEnd type="none" w="med" len="med"/>
            <a:tailEnd type="none" w="med" len="med"/>
          </a:ln>
        </p:spPr>
      </p:sp>
      <p:sp>
        <p:nvSpPr>
          <p:cNvPr id="111674" name="矩形 251962"/>
          <p:cNvSpPr/>
          <p:nvPr/>
        </p:nvSpPr>
        <p:spPr>
          <a:xfrm>
            <a:off x="3262313" y="4416425"/>
            <a:ext cx="439737"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Rs</a:t>
            </a:r>
            <a:endParaRPr lang="en-US" altLang="zh-CN">
              <a:latin typeface="Arial" panose="020B0604020202020204" pitchFamily="34" charset="0"/>
              <a:ea typeface="黑体" panose="02010609060101010101" pitchFamily="49" charset="-122"/>
            </a:endParaRPr>
          </a:p>
        </p:txBody>
      </p:sp>
      <p:sp>
        <p:nvSpPr>
          <p:cNvPr id="111675" name="矩形 251963"/>
          <p:cNvSpPr/>
          <p:nvPr/>
        </p:nvSpPr>
        <p:spPr>
          <a:xfrm>
            <a:off x="3719513" y="4416425"/>
            <a:ext cx="395287"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Rt</a:t>
            </a:r>
            <a:endParaRPr lang="en-US" altLang="zh-CN">
              <a:latin typeface="Arial" panose="020B0604020202020204" pitchFamily="34" charset="0"/>
              <a:ea typeface="黑体" panose="02010609060101010101" pitchFamily="49" charset="-122"/>
            </a:endParaRPr>
          </a:p>
        </p:txBody>
      </p:sp>
      <p:sp>
        <p:nvSpPr>
          <p:cNvPr id="111676" name="矩形 251964"/>
          <p:cNvSpPr/>
          <p:nvPr/>
        </p:nvSpPr>
        <p:spPr>
          <a:xfrm>
            <a:off x="2881313" y="4416425"/>
            <a:ext cx="450850"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Rd</a:t>
            </a:r>
            <a:endParaRPr lang="en-US" altLang="zh-CN">
              <a:latin typeface="Arial" panose="020B0604020202020204" pitchFamily="34" charset="0"/>
              <a:ea typeface="黑体" panose="02010609060101010101" pitchFamily="49" charset="-122"/>
            </a:endParaRPr>
          </a:p>
        </p:txBody>
      </p:sp>
      <p:sp>
        <p:nvSpPr>
          <p:cNvPr id="111677" name="矩形 251965"/>
          <p:cNvSpPr/>
          <p:nvPr/>
        </p:nvSpPr>
        <p:spPr>
          <a:xfrm rot="5400000">
            <a:off x="5916613" y="5484813"/>
            <a:ext cx="606425" cy="333375"/>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ALU</a:t>
            </a:r>
            <a:endParaRPr lang="en-US" altLang="zh-CN">
              <a:latin typeface="Times New Roman" panose="02020603050405020304" pitchFamily="18" charset="0"/>
              <a:ea typeface="宋体" panose="02010600030101010101" pitchFamily="2" charset="-122"/>
            </a:endParaRPr>
          </a:p>
        </p:txBody>
      </p:sp>
      <p:sp>
        <p:nvSpPr>
          <p:cNvPr id="111678" name="直接连接符 251966"/>
          <p:cNvSpPr/>
          <p:nvPr/>
        </p:nvSpPr>
        <p:spPr>
          <a:xfrm>
            <a:off x="469900" y="685800"/>
            <a:ext cx="1193800" cy="0"/>
          </a:xfrm>
          <a:prstGeom prst="line">
            <a:avLst/>
          </a:prstGeom>
          <a:ln w="25400" cap="flat" cmpd="sng">
            <a:solidFill>
              <a:schemeClr val="tx1"/>
            </a:solidFill>
            <a:prstDash val="solid"/>
            <a:round/>
            <a:headEnd type="none" w="med" len="med"/>
            <a:tailEnd type="none" w="med" len="med"/>
          </a:ln>
        </p:spPr>
      </p:sp>
      <p:sp>
        <p:nvSpPr>
          <p:cNvPr id="111679" name="直接连接符 251967"/>
          <p:cNvSpPr/>
          <p:nvPr/>
        </p:nvSpPr>
        <p:spPr>
          <a:xfrm>
            <a:off x="1676400" y="698500"/>
            <a:ext cx="0" cy="203200"/>
          </a:xfrm>
          <a:prstGeom prst="line">
            <a:avLst/>
          </a:prstGeom>
          <a:ln w="25400" cap="flat" cmpd="sng">
            <a:solidFill>
              <a:schemeClr val="tx1"/>
            </a:solidFill>
            <a:prstDash val="solid"/>
            <a:round/>
            <a:headEnd type="none" w="med" len="med"/>
            <a:tailEnd type="none" w="med" len="med"/>
          </a:ln>
        </p:spPr>
      </p:sp>
      <p:sp>
        <p:nvSpPr>
          <p:cNvPr id="111680" name="直接连接符 251968"/>
          <p:cNvSpPr/>
          <p:nvPr/>
        </p:nvSpPr>
        <p:spPr>
          <a:xfrm>
            <a:off x="1689100" y="914400"/>
            <a:ext cx="3022600" cy="0"/>
          </a:xfrm>
          <a:prstGeom prst="line">
            <a:avLst/>
          </a:prstGeom>
          <a:ln w="25400" cap="flat" cmpd="sng">
            <a:solidFill>
              <a:schemeClr val="tx1"/>
            </a:solidFill>
            <a:prstDash val="solid"/>
            <a:round/>
            <a:headEnd type="none" w="med" len="med"/>
            <a:tailEnd type="none" w="med" len="med"/>
          </a:ln>
        </p:spPr>
      </p:sp>
      <p:sp>
        <p:nvSpPr>
          <p:cNvPr id="111681" name="直接连接符 251969"/>
          <p:cNvSpPr/>
          <p:nvPr/>
        </p:nvSpPr>
        <p:spPr>
          <a:xfrm>
            <a:off x="4724400" y="698500"/>
            <a:ext cx="0" cy="203200"/>
          </a:xfrm>
          <a:prstGeom prst="line">
            <a:avLst/>
          </a:prstGeom>
          <a:ln w="25400" cap="flat" cmpd="sng">
            <a:solidFill>
              <a:schemeClr val="tx1"/>
            </a:solidFill>
            <a:prstDash val="solid"/>
            <a:round/>
            <a:headEnd type="none" w="med" len="med"/>
            <a:tailEnd type="none" w="med" len="med"/>
          </a:ln>
        </p:spPr>
      </p:sp>
      <p:sp>
        <p:nvSpPr>
          <p:cNvPr id="111682" name="直接连接符 251970"/>
          <p:cNvSpPr/>
          <p:nvPr/>
        </p:nvSpPr>
        <p:spPr>
          <a:xfrm>
            <a:off x="4737100" y="685800"/>
            <a:ext cx="3403600" cy="0"/>
          </a:xfrm>
          <a:prstGeom prst="line">
            <a:avLst/>
          </a:prstGeom>
          <a:ln w="25400" cap="flat" cmpd="sng">
            <a:solidFill>
              <a:schemeClr val="tx1"/>
            </a:solidFill>
            <a:prstDash val="solid"/>
            <a:round/>
            <a:headEnd type="none" w="med" len="med"/>
            <a:tailEnd type="none" w="med" len="med"/>
          </a:ln>
        </p:spPr>
      </p:sp>
      <p:sp>
        <p:nvSpPr>
          <p:cNvPr id="111683" name="直接连接符 251971"/>
          <p:cNvSpPr/>
          <p:nvPr/>
        </p:nvSpPr>
        <p:spPr>
          <a:xfrm>
            <a:off x="8153400" y="698500"/>
            <a:ext cx="0" cy="203200"/>
          </a:xfrm>
          <a:prstGeom prst="line">
            <a:avLst/>
          </a:prstGeom>
          <a:ln w="25400" cap="flat" cmpd="sng">
            <a:solidFill>
              <a:schemeClr val="tx1"/>
            </a:solidFill>
            <a:prstDash val="solid"/>
            <a:round/>
            <a:headEnd type="none" w="med" len="med"/>
            <a:tailEnd type="none" w="med" len="med"/>
          </a:ln>
        </p:spPr>
      </p:sp>
      <p:sp>
        <p:nvSpPr>
          <p:cNvPr id="111684" name="直接连接符 251972"/>
          <p:cNvSpPr/>
          <p:nvPr/>
        </p:nvSpPr>
        <p:spPr>
          <a:xfrm>
            <a:off x="8166100" y="914400"/>
            <a:ext cx="660400" cy="0"/>
          </a:xfrm>
          <a:prstGeom prst="line">
            <a:avLst/>
          </a:prstGeom>
          <a:ln w="25400" cap="flat" cmpd="sng">
            <a:solidFill>
              <a:schemeClr val="tx1"/>
            </a:solidFill>
            <a:prstDash val="solid"/>
            <a:round/>
            <a:headEnd type="none" w="med" len="med"/>
            <a:tailEnd type="none" w="med" len="med"/>
          </a:ln>
        </p:spPr>
      </p:sp>
      <p:sp>
        <p:nvSpPr>
          <p:cNvPr id="111685" name="矩形 251973"/>
          <p:cNvSpPr/>
          <p:nvPr/>
        </p:nvSpPr>
        <p:spPr>
          <a:xfrm>
            <a:off x="74613" y="709613"/>
            <a:ext cx="496887"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Clk</a:t>
            </a:r>
            <a:endParaRPr lang="en-US" altLang="zh-CN">
              <a:latin typeface="Arial" panose="020B0604020202020204" pitchFamily="34" charset="0"/>
              <a:ea typeface="黑体" panose="02010609060101010101" pitchFamily="49" charset="-122"/>
            </a:endParaRPr>
          </a:p>
        </p:txBody>
      </p:sp>
      <p:sp>
        <p:nvSpPr>
          <p:cNvPr id="111686" name="直接连接符 251974"/>
          <p:cNvSpPr/>
          <p:nvPr/>
        </p:nvSpPr>
        <p:spPr>
          <a:xfrm>
            <a:off x="546100" y="1219200"/>
            <a:ext cx="1270000" cy="0"/>
          </a:xfrm>
          <a:prstGeom prst="line">
            <a:avLst/>
          </a:prstGeom>
          <a:ln w="25400" cap="flat" cmpd="sng">
            <a:solidFill>
              <a:schemeClr val="tx1"/>
            </a:solidFill>
            <a:prstDash val="solid"/>
            <a:round/>
            <a:headEnd type="none" w="med" len="med"/>
            <a:tailEnd type="none" w="med" len="med"/>
          </a:ln>
        </p:spPr>
      </p:sp>
      <p:sp>
        <p:nvSpPr>
          <p:cNvPr id="111687" name="直接连接符 251975"/>
          <p:cNvSpPr/>
          <p:nvPr/>
        </p:nvSpPr>
        <p:spPr>
          <a:xfrm>
            <a:off x="1841500" y="1231900"/>
            <a:ext cx="127000" cy="203200"/>
          </a:xfrm>
          <a:prstGeom prst="line">
            <a:avLst/>
          </a:prstGeom>
          <a:ln w="25400" cap="flat" cmpd="sng">
            <a:solidFill>
              <a:schemeClr val="tx1"/>
            </a:solidFill>
            <a:prstDash val="solid"/>
            <a:round/>
            <a:headEnd type="none" w="med" len="med"/>
            <a:tailEnd type="none" w="med" len="med"/>
          </a:ln>
        </p:spPr>
      </p:sp>
      <p:sp>
        <p:nvSpPr>
          <p:cNvPr id="111688" name="直接连接符 251976"/>
          <p:cNvSpPr/>
          <p:nvPr/>
        </p:nvSpPr>
        <p:spPr>
          <a:xfrm>
            <a:off x="546100" y="1447800"/>
            <a:ext cx="1270000" cy="0"/>
          </a:xfrm>
          <a:prstGeom prst="line">
            <a:avLst/>
          </a:prstGeom>
          <a:ln w="25400" cap="flat" cmpd="sng">
            <a:solidFill>
              <a:schemeClr val="tx1"/>
            </a:solidFill>
            <a:prstDash val="solid"/>
            <a:round/>
            <a:headEnd type="none" w="med" len="med"/>
            <a:tailEnd type="none" w="med" len="med"/>
          </a:ln>
        </p:spPr>
      </p:sp>
      <p:sp>
        <p:nvSpPr>
          <p:cNvPr id="111689" name="直接连接符 251977"/>
          <p:cNvSpPr/>
          <p:nvPr/>
        </p:nvSpPr>
        <p:spPr>
          <a:xfrm flipV="1">
            <a:off x="1841500" y="1206500"/>
            <a:ext cx="127000" cy="254000"/>
          </a:xfrm>
          <a:prstGeom prst="line">
            <a:avLst/>
          </a:prstGeom>
          <a:ln w="25400" cap="flat" cmpd="sng">
            <a:solidFill>
              <a:schemeClr val="tx1"/>
            </a:solidFill>
            <a:prstDash val="solid"/>
            <a:round/>
            <a:headEnd type="none" w="med" len="med"/>
            <a:tailEnd type="none" w="med" len="med"/>
          </a:ln>
        </p:spPr>
      </p:sp>
      <p:sp>
        <p:nvSpPr>
          <p:cNvPr id="111690" name="直接连接符 251978"/>
          <p:cNvSpPr/>
          <p:nvPr/>
        </p:nvSpPr>
        <p:spPr>
          <a:xfrm>
            <a:off x="1993900" y="1219200"/>
            <a:ext cx="6299200" cy="0"/>
          </a:xfrm>
          <a:prstGeom prst="line">
            <a:avLst/>
          </a:prstGeom>
          <a:ln w="25400" cap="flat" cmpd="sng">
            <a:solidFill>
              <a:schemeClr val="tx1"/>
            </a:solidFill>
            <a:prstDash val="solid"/>
            <a:round/>
            <a:headEnd type="none" w="med" len="med"/>
            <a:tailEnd type="none" w="med" len="med"/>
          </a:ln>
        </p:spPr>
      </p:sp>
      <p:sp>
        <p:nvSpPr>
          <p:cNvPr id="111691" name="矩形 251979"/>
          <p:cNvSpPr/>
          <p:nvPr/>
        </p:nvSpPr>
        <p:spPr>
          <a:xfrm>
            <a:off x="74613" y="1219200"/>
            <a:ext cx="617537"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PC</a:t>
            </a:r>
            <a:endParaRPr lang="en-US" altLang="zh-CN">
              <a:latin typeface="Arial" panose="020B0604020202020204" pitchFamily="34" charset="0"/>
              <a:ea typeface="黑体" panose="02010609060101010101" pitchFamily="49" charset="-122"/>
            </a:endParaRPr>
          </a:p>
        </p:txBody>
      </p:sp>
      <p:sp>
        <p:nvSpPr>
          <p:cNvPr id="111692" name="直接连接符 251980"/>
          <p:cNvSpPr/>
          <p:nvPr/>
        </p:nvSpPr>
        <p:spPr>
          <a:xfrm>
            <a:off x="1993900" y="1447800"/>
            <a:ext cx="6299200" cy="0"/>
          </a:xfrm>
          <a:prstGeom prst="line">
            <a:avLst/>
          </a:prstGeom>
          <a:ln w="25400" cap="flat" cmpd="sng">
            <a:solidFill>
              <a:schemeClr val="tx1"/>
            </a:solidFill>
            <a:prstDash val="solid"/>
            <a:round/>
            <a:headEnd type="none" w="med" len="med"/>
            <a:tailEnd type="none" w="med" len="med"/>
          </a:ln>
        </p:spPr>
      </p:sp>
      <p:sp>
        <p:nvSpPr>
          <p:cNvPr id="111693" name="直接连接符 251981"/>
          <p:cNvSpPr/>
          <p:nvPr/>
        </p:nvSpPr>
        <p:spPr>
          <a:xfrm>
            <a:off x="1676400" y="1003300"/>
            <a:ext cx="0" cy="3327400"/>
          </a:xfrm>
          <a:prstGeom prst="line">
            <a:avLst/>
          </a:prstGeom>
          <a:ln w="25400" cap="flat" cmpd="sng">
            <a:solidFill>
              <a:schemeClr val="tx1"/>
            </a:solidFill>
            <a:prstDash val="lgDash"/>
            <a:round/>
            <a:headEnd type="none" w="med" len="med"/>
            <a:tailEnd type="none" w="med" len="med"/>
          </a:ln>
        </p:spPr>
      </p:sp>
      <p:sp>
        <p:nvSpPr>
          <p:cNvPr id="111694" name="直接连接符 251982"/>
          <p:cNvSpPr/>
          <p:nvPr/>
        </p:nvSpPr>
        <p:spPr>
          <a:xfrm>
            <a:off x="8153400" y="1003300"/>
            <a:ext cx="0" cy="3327400"/>
          </a:xfrm>
          <a:prstGeom prst="line">
            <a:avLst/>
          </a:prstGeom>
          <a:ln w="25400" cap="flat" cmpd="sng">
            <a:solidFill>
              <a:schemeClr val="tx1"/>
            </a:solidFill>
            <a:prstDash val="lgDash"/>
            <a:round/>
            <a:headEnd type="none" w="med" len="med"/>
            <a:tailEnd type="none" w="med" len="med"/>
          </a:ln>
        </p:spPr>
      </p:sp>
      <p:sp>
        <p:nvSpPr>
          <p:cNvPr id="111695" name="直接连接符 251983"/>
          <p:cNvSpPr/>
          <p:nvPr/>
        </p:nvSpPr>
        <p:spPr>
          <a:xfrm>
            <a:off x="8318500" y="1231900"/>
            <a:ext cx="127000" cy="203200"/>
          </a:xfrm>
          <a:prstGeom prst="line">
            <a:avLst/>
          </a:prstGeom>
          <a:ln w="25400" cap="flat" cmpd="sng">
            <a:solidFill>
              <a:schemeClr val="tx1"/>
            </a:solidFill>
            <a:prstDash val="solid"/>
            <a:round/>
            <a:headEnd type="none" w="med" len="med"/>
            <a:tailEnd type="none" w="med" len="med"/>
          </a:ln>
        </p:spPr>
      </p:sp>
      <p:sp>
        <p:nvSpPr>
          <p:cNvPr id="111696" name="直接连接符 251984"/>
          <p:cNvSpPr/>
          <p:nvPr/>
        </p:nvSpPr>
        <p:spPr>
          <a:xfrm flipV="1">
            <a:off x="8318500" y="1206500"/>
            <a:ext cx="127000" cy="254000"/>
          </a:xfrm>
          <a:prstGeom prst="line">
            <a:avLst/>
          </a:prstGeom>
          <a:ln w="25400" cap="flat" cmpd="sng">
            <a:solidFill>
              <a:schemeClr val="tx1"/>
            </a:solidFill>
            <a:prstDash val="solid"/>
            <a:round/>
            <a:headEnd type="none" w="med" len="med"/>
            <a:tailEnd type="none" w="med" len="med"/>
          </a:ln>
        </p:spPr>
      </p:sp>
      <p:sp>
        <p:nvSpPr>
          <p:cNvPr id="111697" name="直接连接符 251985"/>
          <p:cNvSpPr/>
          <p:nvPr/>
        </p:nvSpPr>
        <p:spPr>
          <a:xfrm>
            <a:off x="1079500" y="1752600"/>
            <a:ext cx="2032000" cy="0"/>
          </a:xfrm>
          <a:prstGeom prst="line">
            <a:avLst/>
          </a:prstGeom>
          <a:ln w="25400" cap="flat" cmpd="sng">
            <a:solidFill>
              <a:schemeClr val="tx1"/>
            </a:solidFill>
            <a:prstDash val="solid"/>
            <a:round/>
            <a:headEnd type="none" w="med" len="med"/>
            <a:tailEnd type="none" w="med" len="med"/>
          </a:ln>
        </p:spPr>
      </p:sp>
      <p:sp>
        <p:nvSpPr>
          <p:cNvPr id="111698" name="直接连接符 251986"/>
          <p:cNvSpPr/>
          <p:nvPr/>
        </p:nvSpPr>
        <p:spPr>
          <a:xfrm>
            <a:off x="3136900" y="1765300"/>
            <a:ext cx="127000" cy="203200"/>
          </a:xfrm>
          <a:prstGeom prst="line">
            <a:avLst/>
          </a:prstGeom>
          <a:ln w="25400" cap="flat" cmpd="sng">
            <a:solidFill>
              <a:schemeClr val="tx1"/>
            </a:solidFill>
            <a:prstDash val="solid"/>
            <a:round/>
            <a:headEnd type="none" w="med" len="med"/>
            <a:tailEnd type="none" w="med" len="med"/>
          </a:ln>
        </p:spPr>
      </p:sp>
      <p:sp>
        <p:nvSpPr>
          <p:cNvPr id="111699" name="直接连接符 251987"/>
          <p:cNvSpPr/>
          <p:nvPr/>
        </p:nvSpPr>
        <p:spPr>
          <a:xfrm>
            <a:off x="1079500" y="1981200"/>
            <a:ext cx="2032000" cy="0"/>
          </a:xfrm>
          <a:prstGeom prst="line">
            <a:avLst/>
          </a:prstGeom>
          <a:ln w="25400" cap="flat" cmpd="sng">
            <a:solidFill>
              <a:schemeClr val="tx1"/>
            </a:solidFill>
            <a:prstDash val="solid"/>
            <a:round/>
            <a:headEnd type="none" w="med" len="med"/>
            <a:tailEnd type="none" w="med" len="med"/>
          </a:ln>
        </p:spPr>
      </p:sp>
      <p:sp>
        <p:nvSpPr>
          <p:cNvPr id="111700" name="直接连接符 251988"/>
          <p:cNvSpPr/>
          <p:nvPr/>
        </p:nvSpPr>
        <p:spPr>
          <a:xfrm flipV="1">
            <a:off x="3136900" y="1739900"/>
            <a:ext cx="127000" cy="254000"/>
          </a:xfrm>
          <a:prstGeom prst="line">
            <a:avLst/>
          </a:prstGeom>
          <a:ln w="25400" cap="flat" cmpd="sng">
            <a:solidFill>
              <a:schemeClr val="tx1"/>
            </a:solidFill>
            <a:prstDash val="solid"/>
            <a:round/>
            <a:headEnd type="none" w="med" len="med"/>
            <a:tailEnd type="none" w="med" len="med"/>
          </a:ln>
        </p:spPr>
      </p:sp>
      <p:sp>
        <p:nvSpPr>
          <p:cNvPr id="111701" name="直接连接符 251989"/>
          <p:cNvSpPr/>
          <p:nvPr/>
        </p:nvSpPr>
        <p:spPr>
          <a:xfrm>
            <a:off x="3289300" y="1752600"/>
            <a:ext cx="5537200" cy="0"/>
          </a:xfrm>
          <a:prstGeom prst="line">
            <a:avLst/>
          </a:prstGeom>
          <a:ln w="25400" cap="flat" cmpd="sng">
            <a:solidFill>
              <a:schemeClr val="tx1"/>
            </a:solidFill>
            <a:prstDash val="solid"/>
            <a:round/>
            <a:headEnd type="none" w="med" len="med"/>
            <a:tailEnd type="none" w="med" len="med"/>
          </a:ln>
        </p:spPr>
      </p:sp>
      <p:sp>
        <p:nvSpPr>
          <p:cNvPr id="111702" name="矩形 251990"/>
          <p:cNvSpPr/>
          <p:nvPr/>
        </p:nvSpPr>
        <p:spPr>
          <a:xfrm>
            <a:off x="14288" y="1633538"/>
            <a:ext cx="1470025" cy="577850"/>
          </a:xfrm>
          <a:prstGeom prst="rect">
            <a:avLst/>
          </a:prstGeom>
          <a:noFill/>
          <a:ln w="12700">
            <a:noFill/>
          </a:ln>
        </p:spPr>
        <p:txBody>
          <a:bodyPr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Rs</a:t>
            </a:r>
            <a:r>
              <a:rPr lang="en-US" altLang="zh-CN" sz="1400" b="0">
                <a:latin typeface="Times New Roman" panose="02020603050405020304" pitchFamily="18" charset="0"/>
                <a:ea typeface="宋体" panose="02010600030101010101" pitchFamily="2" charset="-122"/>
              </a:rPr>
              <a:t>, </a:t>
            </a:r>
            <a:r>
              <a:rPr lang="en-US" altLang="zh-CN" dirty="0" err="1">
                <a:latin typeface="Arial" panose="020B0604020202020204" pitchFamily="34" charset="0"/>
                <a:ea typeface="黑体" panose="02010609060101010101" pitchFamily="49" charset="-122"/>
              </a:rPr>
              <a:t>Rt</a:t>
            </a:r>
            <a:r>
              <a:rPr lang="en-US" altLang="zh-CN" sz="1400"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黑体" panose="02010609060101010101" pitchFamily="49" charset="-122"/>
              </a:rPr>
              <a:t>Rd,</a:t>
            </a:r>
            <a:endParaRPr lang="en-US" altLang="zh-CN">
              <a:latin typeface="Arial" panose="020B0604020202020204" pitchFamily="34" charset="0"/>
              <a:ea typeface="黑体" panose="02010609060101010101" pitchFamily="49" charset="-122"/>
            </a:endParaRPr>
          </a:p>
          <a:p>
            <a:pPr eaLnBrk="0" hangingPunct="0"/>
            <a:r>
              <a:rPr lang="en-US" altLang="zh-CN">
                <a:latin typeface="Arial" panose="020B0604020202020204" pitchFamily="34" charset="0"/>
                <a:ea typeface="黑体" panose="02010609060101010101" pitchFamily="49" charset="-122"/>
              </a:rPr>
              <a:t>Op</a:t>
            </a:r>
            <a:r>
              <a:rPr lang="en-US" altLang="zh-CN" sz="1400" b="0">
                <a:latin typeface="Times New Roman" panose="02020603050405020304" pitchFamily="18" charset="0"/>
                <a:ea typeface="宋体" panose="02010600030101010101" pitchFamily="2" charset="-122"/>
              </a:rPr>
              <a:t>, </a:t>
            </a:r>
            <a:r>
              <a:rPr lang="en-US" altLang="zh-CN" dirty="0" err="1">
                <a:latin typeface="Arial" panose="020B0604020202020204" pitchFamily="34" charset="0"/>
                <a:ea typeface="黑体" panose="02010609060101010101" pitchFamily="49" charset="-122"/>
              </a:rPr>
              <a:t>Func</a:t>
            </a:r>
            <a:endParaRPr lang="en-US" altLang="zh-CN">
              <a:latin typeface="Arial" panose="020B0604020202020204" pitchFamily="34" charset="0"/>
              <a:ea typeface="黑体" panose="02010609060101010101" pitchFamily="49" charset="-122"/>
            </a:endParaRPr>
          </a:p>
        </p:txBody>
      </p:sp>
      <p:sp>
        <p:nvSpPr>
          <p:cNvPr id="111703" name="直接连接符 251991"/>
          <p:cNvSpPr/>
          <p:nvPr/>
        </p:nvSpPr>
        <p:spPr>
          <a:xfrm>
            <a:off x="3289300" y="1981200"/>
            <a:ext cx="5537200" cy="0"/>
          </a:xfrm>
          <a:prstGeom prst="line">
            <a:avLst/>
          </a:prstGeom>
          <a:ln w="25400" cap="flat" cmpd="sng">
            <a:solidFill>
              <a:schemeClr val="tx1"/>
            </a:solidFill>
            <a:prstDash val="solid"/>
            <a:round/>
            <a:headEnd type="none" w="med" len="med"/>
            <a:tailEnd type="none" w="med" len="med"/>
          </a:ln>
        </p:spPr>
      </p:sp>
      <p:sp>
        <p:nvSpPr>
          <p:cNvPr id="111704" name="直接连接符 251992"/>
          <p:cNvSpPr/>
          <p:nvPr/>
        </p:nvSpPr>
        <p:spPr>
          <a:xfrm>
            <a:off x="1905000" y="1003300"/>
            <a:ext cx="0" cy="660400"/>
          </a:xfrm>
          <a:prstGeom prst="line">
            <a:avLst/>
          </a:prstGeom>
          <a:ln w="25400" cap="flat" cmpd="sng">
            <a:solidFill>
              <a:srgbClr val="0000FF"/>
            </a:solidFill>
            <a:prstDash val="dash"/>
            <a:round/>
            <a:headEnd type="none" w="med" len="med"/>
            <a:tailEnd type="none" w="med" len="med"/>
          </a:ln>
        </p:spPr>
      </p:sp>
      <p:sp>
        <p:nvSpPr>
          <p:cNvPr id="251994" name="矩形 251993"/>
          <p:cNvSpPr/>
          <p:nvPr/>
        </p:nvSpPr>
        <p:spPr>
          <a:xfrm>
            <a:off x="2347913" y="900113"/>
            <a:ext cx="984250" cy="333375"/>
          </a:xfrm>
          <a:prstGeom prst="rect">
            <a:avLst/>
          </a:prstGeom>
          <a:noFill/>
          <a:ln w="12700">
            <a:noFill/>
          </a:ln>
        </p:spPr>
        <p:txBody>
          <a:bodyPr wrap="none" lIns="90488" tIns="44450" rIns="90488" bIns="44450" anchor="t" anchorCtr="0">
            <a:spAutoFit/>
          </a:bodyPr>
          <a:p>
            <a:pPr eaLnBrk="0" hangingPunct="0"/>
            <a:r>
              <a:rPr lang="en-US" altLang="zh-CN" dirty="0" err="1">
                <a:solidFill>
                  <a:srgbClr val="0000FF"/>
                </a:solidFill>
                <a:latin typeface="Arial" panose="020B0604020202020204" pitchFamily="34" charset="0"/>
                <a:ea typeface="宋体" panose="02010600030101010101" pitchFamily="2" charset="-122"/>
              </a:rPr>
              <a:t>Clk</a:t>
            </a:r>
            <a:r>
              <a:rPr lang="en-US" altLang="zh-CN">
                <a:solidFill>
                  <a:srgbClr val="0000FF"/>
                </a:solidFill>
                <a:latin typeface="Arial" panose="020B0604020202020204" pitchFamily="34" charset="0"/>
                <a:ea typeface="宋体" panose="02010600030101010101" pitchFamily="2" charset="-122"/>
              </a:rPr>
              <a:t>-to-Q</a:t>
            </a:r>
            <a:endParaRPr lang="en-US" altLang="zh-CN">
              <a:solidFill>
                <a:srgbClr val="0000FF"/>
              </a:solidFill>
              <a:latin typeface="Arial" panose="020B0604020202020204" pitchFamily="34" charset="0"/>
              <a:ea typeface="宋体" panose="02010600030101010101" pitchFamily="2" charset="-122"/>
            </a:endParaRPr>
          </a:p>
        </p:txBody>
      </p:sp>
      <p:sp>
        <p:nvSpPr>
          <p:cNvPr id="111706" name="直接连接符 251994"/>
          <p:cNvSpPr/>
          <p:nvPr/>
        </p:nvSpPr>
        <p:spPr>
          <a:xfrm flipH="1">
            <a:off x="1892300" y="1066800"/>
            <a:ext cx="482600" cy="0"/>
          </a:xfrm>
          <a:prstGeom prst="line">
            <a:avLst/>
          </a:prstGeom>
          <a:ln w="25400" cap="flat" cmpd="sng">
            <a:solidFill>
              <a:schemeClr val="tx1"/>
            </a:solidFill>
            <a:prstDash val="solid"/>
            <a:round/>
            <a:headEnd type="none" w="med" len="med"/>
            <a:tailEnd type="triangle" w="med" len="med"/>
          </a:ln>
        </p:spPr>
      </p:sp>
      <p:sp>
        <p:nvSpPr>
          <p:cNvPr id="111707" name="直接连接符 251995"/>
          <p:cNvSpPr/>
          <p:nvPr/>
        </p:nvSpPr>
        <p:spPr>
          <a:xfrm flipH="1">
            <a:off x="1206500" y="1066800"/>
            <a:ext cx="482600" cy="0"/>
          </a:xfrm>
          <a:prstGeom prst="line">
            <a:avLst/>
          </a:prstGeom>
          <a:ln w="25400" cap="flat" cmpd="sng">
            <a:solidFill>
              <a:schemeClr val="tx1"/>
            </a:solidFill>
            <a:prstDash val="solid"/>
            <a:round/>
            <a:headEnd type="triangle" w="med" len="med"/>
            <a:tailEnd type="none" w="med" len="med"/>
          </a:ln>
        </p:spPr>
      </p:sp>
      <p:sp>
        <p:nvSpPr>
          <p:cNvPr id="111708" name="直接连接符 251996"/>
          <p:cNvSpPr/>
          <p:nvPr/>
        </p:nvSpPr>
        <p:spPr>
          <a:xfrm>
            <a:off x="914400" y="2286000"/>
            <a:ext cx="3340100" cy="0"/>
          </a:xfrm>
          <a:prstGeom prst="line">
            <a:avLst/>
          </a:prstGeom>
          <a:ln w="25400" cap="flat" cmpd="sng">
            <a:solidFill>
              <a:schemeClr val="tx1"/>
            </a:solidFill>
            <a:prstDash val="solid"/>
            <a:round/>
            <a:headEnd type="none" w="med" len="med"/>
            <a:tailEnd type="none" w="med" len="med"/>
          </a:ln>
        </p:spPr>
      </p:sp>
      <p:sp>
        <p:nvSpPr>
          <p:cNvPr id="111709" name="直接连接符 251997"/>
          <p:cNvSpPr/>
          <p:nvPr/>
        </p:nvSpPr>
        <p:spPr>
          <a:xfrm>
            <a:off x="4279900" y="2298700"/>
            <a:ext cx="127000" cy="203200"/>
          </a:xfrm>
          <a:prstGeom prst="line">
            <a:avLst/>
          </a:prstGeom>
          <a:ln w="25400" cap="flat" cmpd="sng">
            <a:solidFill>
              <a:schemeClr val="tx1"/>
            </a:solidFill>
            <a:prstDash val="solid"/>
            <a:round/>
            <a:headEnd type="none" w="med" len="med"/>
            <a:tailEnd type="none" w="med" len="med"/>
          </a:ln>
        </p:spPr>
      </p:sp>
      <p:sp>
        <p:nvSpPr>
          <p:cNvPr id="111710" name="直接连接符 251998"/>
          <p:cNvSpPr/>
          <p:nvPr/>
        </p:nvSpPr>
        <p:spPr>
          <a:xfrm>
            <a:off x="914400" y="2514600"/>
            <a:ext cx="3340100" cy="0"/>
          </a:xfrm>
          <a:prstGeom prst="line">
            <a:avLst/>
          </a:prstGeom>
          <a:ln w="25400" cap="flat" cmpd="sng">
            <a:solidFill>
              <a:schemeClr val="tx1"/>
            </a:solidFill>
            <a:prstDash val="solid"/>
            <a:round/>
            <a:headEnd type="none" w="med" len="med"/>
            <a:tailEnd type="none" w="med" len="med"/>
          </a:ln>
        </p:spPr>
      </p:sp>
      <p:sp>
        <p:nvSpPr>
          <p:cNvPr id="111711" name="直接连接符 251999"/>
          <p:cNvSpPr/>
          <p:nvPr/>
        </p:nvSpPr>
        <p:spPr>
          <a:xfrm flipV="1">
            <a:off x="4279900" y="2273300"/>
            <a:ext cx="127000" cy="254000"/>
          </a:xfrm>
          <a:prstGeom prst="line">
            <a:avLst/>
          </a:prstGeom>
          <a:ln w="25400" cap="flat" cmpd="sng">
            <a:solidFill>
              <a:schemeClr val="tx1"/>
            </a:solidFill>
            <a:prstDash val="solid"/>
            <a:round/>
            <a:headEnd type="none" w="med" len="med"/>
            <a:tailEnd type="none" w="med" len="med"/>
          </a:ln>
        </p:spPr>
      </p:sp>
      <p:sp>
        <p:nvSpPr>
          <p:cNvPr id="111712" name="直接连接符 252000"/>
          <p:cNvSpPr/>
          <p:nvPr/>
        </p:nvSpPr>
        <p:spPr>
          <a:xfrm>
            <a:off x="4432300" y="2286000"/>
            <a:ext cx="4394200" cy="0"/>
          </a:xfrm>
          <a:prstGeom prst="line">
            <a:avLst/>
          </a:prstGeom>
          <a:ln w="25400" cap="flat" cmpd="sng">
            <a:solidFill>
              <a:schemeClr val="tx1"/>
            </a:solidFill>
            <a:prstDash val="solid"/>
            <a:round/>
            <a:headEnd type="none" w="med" len="med"/>
            <a:tailEnd type="none" w="med" len="med"/>
          </a:ln>
        </p:spPr>
      </p:sp>
      <p:sp>
        <p:nvSpPr>
          <p:cNvPr id="111713" name="直接连接符 252001"/>
          <p:cNvSpPr/>
          <p:nvPr/>
        </p:nvSpPr>
        <p:spPr>
          <a:xfrm>
            <a:off x="4432300" y="2514600"/>
            <a:ext cx="4394200" cy="0"/>
          </a:xfrm>
          <a:prstGeom prst="line">
            <a:avLst/>
          </a:prstGeom>
          <a:ln w="25400" cap="flat" cmpd="sng">
            <a:solidFill>
              <a:schemeClr val="tx1"/>
            </a:solidFill>
            <a:prstDash val="solid"/>
            <a:round/>
            <a:headEnd type="none" w="med" len="med"/>
            <a:tailEnd type="none" w="med" len="med"/>
          </a:ln>
        </p:spPr>
      </p:sp>
      <p:sp>
        <p:nvSpPr>
          <p:cNvPr id="111714" name="直接连接符 252002"/>
          <p:cNvSpPr/>
          <p:nvPr/>
        </p:nvSpPr>
        <p:spPr>
          <a:xfrm>
            <a:off x="914400" y="3352800"/>
            <a:ext cx="4406900" cy="0"/>
          </a:xfrm>
          <a:prstGeom prst="line">
            <a:avLst/>
          </a:prstGeom>
          <a:ln w="25400" cap="flat" cmpd="sng">
            <a:solidFill>
              <a:schemeClr val="tx1"/>
            </a:solidFill>
            <a:prstDash val="solid"/>
            <a:round/>
            <a:headEnd type="none" w="med" len="med"/>
            <a:tailEnd type="none" w="med" len="med"/>
          </a:ln>
        </p:spPr>
      </p:sp>
      <p:sp>
        <p:nvSpPr>
          <p:cNvPr id="111715" name="直接连接符 252003"/>
          <p:cNvSpPr/>
          <p:nvPr/>
        </p:nvSpPr>
        <p:spPr>
          <a:xfrm>
            <a:off x="5346700" y="3365500"/>
            <a:ext cx="127000" cy="203200"/>
          </a:xfrm>
          <a:prstGeom prst="line">
            <a:avLst/>
          </a:prstGeom>
          <a:ln w="25400" cap="flat" cmpd="sng">
            <a:solidFill>
              <a:schemeClr val="tx1"/>
            </a:solidFill>
            <a:prstDash val="solid"/>
            <a:round/>
            <a:headEnd type="none" w="med" len="med"/>
            <a:tailEnd type="none" w="med" len="med"/>
          </a:ln>
        </p:spPr>
      </p:sp>
      <p:sp>
        <p:nvSpPr>
          <p:cNvPr id="111716" name="直接连接符 252004"/>
          <p:cNvSpPr/>
          <p:nvPr/>
        </p:nvSpPr>
        <p:spPr>
          <a:xfrm>
            <a:off x="914400" y="3581400"/>
            <a:ext cx="4406900" cy="0"/>
          </a:xfrm>
          <a:prstGeom prst="line">
            <a:avLst/>
          </a:prstGeom>
          <a:ln w="25400" cap="flat" cmpd="sng">
            <a:solidFill>
              <a:schemeClr val="tx1"/>
            </a:solidFill>
            <a:prstDash val="solid"/>
            <a:round/>
            <a:headEnd type="none" w="med" len="med"/>
            <a:tailEnd type="none" w="med" len="med"/>
          </a:ln>
        </p:spPr>
      </p:sp>
      <p:sp>
        <p:nvSpPr>
          <p:cNvPr id="111717" name="直接连接符 252005"/>
          <p:cNvSpPr/>
          <p:nvPr/>
        </p:nvSpPr>
        <p:spPr>
          <a:xfrm flipV="1">
            <a:off x="5346700" y="3340100"/>
            <a:ext cx="127000" cy="254000"/>
          </a:xfrm>
          <a:prstGeom prst="line">
            <a:avLst/>
          </a:prstGeom>
          <a:ln w="25400" cap="flat" cmpd="sng">
            <a:solidFill>
              <a:schemeClr val="tx1"/>
            </a:solidFill>
            <a:prstDash val="solid"/>
            <a:round/>
            <a:headEnd type="none" w="med" len="med"/>
            <a:tailEnd type="none" w="med" len="med"/>
          </a:ln>
        </p:spPr>
      </p:sp>
      <p:sp>
        <p:nvSpPr>
          <p:cNvPr id="111718" name="直接连接符 252006"/>
          <p:cNvSpPr/>
          <p:nvPr/>
        </p:nvSpPr>
        <p:spPr>
          <a:xfrm>
            <a:off x="5499100" y="3581400"/>
            <a:ext cx="3327400" cy="0"/>
          </a:xfrm>
          <a:prstGeom prst="line">
            <a:avLst/>
          </a:prstGeom>
          <a:ln w="25400" cap="flat" cmpd="sng">
            <a:solidFill>
              <a:schemeClr val="tx1"/>
            </a:solidFill>
            <a:prstDash val="solid"/>
            <a:round/>
            <a:headEnd type="none" w="med" len="med"/>
            <a:tailEnd type="none" w="med" len="med"/>
          </a:ln>
        </p:spPr>
      </p:sp>
      <p:sp>
        <p:nvSpPr>
          <p:cNvPr id="111719" name="直接连接符 252007"/>
          <p:cNvSpPr/>
          <p:nvPr/>
        </p:nvSpPr>
        <p:spPr>
          <a:xfrm>
            <a:off x="914400" y="3886200"/>
            <a:ext cx="5549900" cy="0"/>
          </a:xfrm>
          <a:prstGeom prst="line">
            <a:avLst/>
          </a:prstGeom>
          <a:ln w="25400" cap="flat" cmpd="sng">
            <a:solidFill>
              <a:schemeClr val="tx1"/>
            </a:solidFill>
            <a:prstDash val="solid"/>
            <a:round/>
            <a:headEnd type="none" w="med" len="med"/>
            <a:tailEnd type="none" w="med" len="med"/>
          </a:ln>
        </p:spPr>
      </p:sp>
      <p:sp>
        <p:nvSpPr>
          <p:cNvPr id="111720" name="直接连接符 252008"/>
          <p:cNvSpPr/>
          <p:nvPr/>
        </p:nvSpPr>
        <p:spPr>
          <a:xfrm>
            <a:off x="6489700" y="3898900"/>
            <a:ext cx="127000" cy="203200"/>
          </a:xfrm>
          <a:prstGeom prst="line">
            <a:avLst/>
          </a:prstGeom>
          <a:ln w="25400" cap="flat" cmpd="sng">
            <a:solidFill>
              <a:schemeClr val="tx1"/>
            </a:solidFill>
            <a:prstDash val="solid"/>
            <a:round/>
            <a:headEnd type="none" w="med" len="med"/>
            <a:tailEnd type="none" w="med" len="med"/>
          </a:ln>
        </p:spPr>
      </p:sp>
      <p:sp>
        <p:nvSpPr>
          <p:cNvPr id="111721" name="直接连接符 252009"/>
          <p:cNvSpPr/>
          <p:nvPr/>
        </p:nvSpPr>
        <p:spPr>
          <a:xfrm>
            <a:off x="914400" y="4114800"/>
            <a:ext cx="5549900" cy="0"/>
          </a:xfrm>
          <a:prstGeom prst="line">
            <a:avLst/>
          </a:prstGeom>
          <a:ln w="25400" cap="flat" cmpd="sng">
            <a:solidFill>
              <a:schemeClr val="tx1"/>
            </a:solidFill>
            <a:prstDash val="solid"/>
            <a:round/>
            <a:headEnd type="none" w="med" len="med"/>
            <a:tailEnd type="none" w="med" len="med"/>
          </a:ln>
        </p:spPr>
      </p:sp>
      <p:sp>
        <p:nvSpPr>
          <p:cNvPr id="111722" name="直接连接符 252010"/>
          <p:cNvSpPr/>
          <p:nvPr/>
        </p:nvSpPr>
        <p:spPr>
          <a:xfrm flipV="1">
            <a:off x="6489700" y="3873500"/>
            <a:ext cx="127000" cy="254000"/>
          </a:xfrm>
          <a:prstGeom prst="line">
            <a:avLst/>
          </a:prstGeom>
          <a:ln w="25400" cap="flat" cmpd="sng">
            <a:solidFill>
              <a:schemeClr val="tx1"/>
            </a:solidFill>
            <a:prstDash val="solid"/>
            <a:round/>
            <a:headEnd type="none" w="med" len="med"/>
            <a:tailEnd type="none" w="med" len="med"/>
          </a:ln>
        </p:spPr>
      </p:sp>
      <p:sp>
        <p:nvSpPr>
          <p:cNvPr id="111723" name="直接连接符 252011"/>
          <p:cNvSpPr/>
          <p:nvPr/>
        </p:nvSpPr>
        <p:spPr>
          <a:xfrm>
            <a:off x="6642100" y="3886200"/>
            <a:ext cx="2184400" cy="0"/>
          </a:xfrm>
          <a:prstGeom prst="line">
            <a:avLst/>
          </a:prstGeom>
          <a:ln w="25400" cap="flat" cmpd="sng">
            <a:solidFill>
              <a:schemeClr val="tx1"/>
            </a:solidFill>
            <a:prstDash val="solid"/>
            <a:round/>
            <a:headEnd type="none" w="med" len="med"/>
            <a:tailEnd type="none" w="med" len="med"/>
          </a:ln>
        </p:spPr>
      </p:sp>
      <p:sp>
        <p:nvSpPr>
          <p:cNvPr id="111724" name="直接连接符 252012"/>
          <p:cNvSpPr/>
          <p:nvPr/>
        </p:nvSpPr>
        <p:spPr>
          <a:xfrm>
            <a:off x="6642100" y="4114800"/>
            <a:ext cx="2184400" cy="0"/>
          </a:xfrm>
          <a:prstGeom prst="line">
            <a:avLst/>
          </a:prstGeom>
          <a:ln w="25400" cap="flat" cmpd="sng">
            <a:solidFill>
              <a:schemeClr val="tx1"/>
            </a:solidFill>
            <a:prstDash val="solid"/>
            <a:round/>
            <a:headEnd type="none" w="med" len="med"/>
            <a:tailEnd type="none" w="med" len="med"/>
          </a:ln>
        </p:spPr>
      </p:sp>
      <p:sp>
        <p:nvSpPr>
          <p:cNvPr id="111725" name="矩形 252013"/>
          <p:cNvSpPr/>
          <p:nvPr/>
        </p:nvSpPr>
        <p:spPr>
          <a:xfrm>
            <a:off x="74613" y="2251075"/>
            <a:ext cx="1003300" cy="333375"/>
          </a:xfrm>
          <a:prstGeom prst="rect">
            <a:avLst/>
          </a:prstGeom>
          <a:noFill/>
          <a:ln w="12700">
            <a:noFill/>
          </a:ln>
        </p:spPr>
        <p:txBody>
          <a:bodyPr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ALUctr</a:t>
            </a:r>
            <a:endParaRPr lang="en-US" altLang="zh-CN">
              <a:latin typeface="Arial" panose="020B0604020202020204" pitchFamily="34" charset="0"/>
              <a:ea typeface="黑体" panose="02010609060101010101" pitchFamily="49" charset="-122"/>
            </a:endParaRPr>
          </a:p>
        </p:txBody>
      </p:sp>
      <p:sp>
        <p:nvSpPr>
          <p:cNvPr id="111726" name="直接连接符 252014"/>
          <p:cNvSpPr/>
          <p:nvPr/>
        </p:nvSpPr>
        <p:spPr>
          <a:xfrm>
            <a:off x="3200400" y="1536700"/>
            <a:ext cx="0" cy="2184400"/>
          </a:xfrm>
          <a:prstGeom prst="line">
            <a:avLst/>
          </a:prstGeom>
          <a:ln w="25400" cap="flat" cmpd="sng">
            <a:solidFill>
              <a:srgbClr val="FF0000"/>
            </a:solidFill>
            <a:prstDash val="dash"/>
            <a:round/>
            <a:headEnd type="none" w="med" len="med"/>
            <a:tailEnd type="none" w="med" len="med"/>
          </a:ln>
        </p:spPr>
      </p:sp>
      <p:sp>
        <p:nvSpPr>
          <p:cNvPr id="252016" name="矩形 252015"/>
          <p:cNvSpPr/>
          <p:nvPr/>
        </p:nvSpPr>
        <p:spPr>
          <a:xfrm>
            <a:off x="3262313" y="1420813"/>
            <a:ext cx="3354387" cy="333375"/>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Instruction</a:t>
            </a:r>
            <a:r>
              <a:rPr lang="en-US" altLang="zh-CN" sz="1400">
                <a:solidFill>
                  <a:srgbClr val="0000FF"/>
                </a:solidFill>
                <a:latin typeface="Times New Roman" panose="02020603050405020304" pitchFamily="18" charset="0"/>
                <a:ea typeface="宋体" panose="02010600030101010101" pitchFamily="2" charset="-122"/>
              </a:rPr>
              <a:t> </a:t>
            </a:r>
            <a:r>
              <a:rPr lang="en-US" altLang="zh-CN">
                <a:solidFill>
                  <a:srgbClr val="0000FF"/>
                </a:solidFill>
                <a:latin typeface="Arial" panose="020B0604020202020204" pitchFamily="34" charset="0"/>
                <a:ea typeface="宋体" panose="02010600030101010101" pitchFamily="2" charset="-122"/>
              </a:rPr>
              <a:t>Memory Access Time</a:t>
            </a:r>
            <a:endParaRPr lang="en-US" altLang="zh-CN">
              <a:solidFill>
                <a:srgbClr val="0000FF"/>
              </a:solidFill>
              <a:latin typeface="Arial" panose="020B0604020202020204" pitchFamily="34" charset="0"/>
              <a:ea typeface="宋体" panose="02010600030101010101" pitchFamily="2" charset="-122"/>
            </a:endParaRPr>
          </a:p>
        </p:txBody>
      </p:sp>
      <p:sp>
        <p:nvSpPr>
          <p:cNvPr id="111728" name="直接连接符 252016"/>
          <p:cNvSpPr/>
          <p:nvPr/>
        </p:nvSpPr>
        <p:spPr>
          <a:xfrm>
            <a:off x="1917700" y="1600200"/>
            <a:ext cx="1270000" cy="0"/>
          </a:xfrm>
          <a:prstGeom prst="line">
            <a:avLst/>
          </a:prstGeom>
          <a:ln w="25400" cap="flat" cmpd="sng">
            <a:solidFill>
              <a:schemeClr val="accent2"/>
            </a:solidFill>
            <a:prstDash val="solid"/>
            <a:round/>
            <a:headEnd type="triangle" w="med" len="med"/>
            <a:tailEnd type="triangle" w="med" len="med"/>
          </a:ln>
        </p:spPr>
      </p:sp>
      <p:sp>
        <p:nvSpPr>
          <p:cNvPr id="111729" name="矩形 252017"/>
          <p:cNvSpPr/>
          <p:nvPr/>
        </p:nvSpPr>
        <p:spPr>
          <a:xfrm>
            <a:off x="3214688" y="2247900"/>
            <a:ext cx="13081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Old Value</a:t>
            </a:r>
            <a:endParaRPr lang="en-US" altLang="zh-CN">
              <a:latin typeface="Arial" panose="020B0604020202020204" pitchFamily="34" charset="0"/>
              <a:ea typeface="黑体" panose="02010609060101010101" pitchFamily="49" charset="-122"/>
            </a:endParaRPr>
          </a:p>
        </p:txBody>
      </p:sp>
      <p:sp>
        <p:nvSpPr>
          <p:cNvPr id="111730" name="矩形 252018"/>
          <p:cNvSpPr/>
          <p:nvPr/>
        </p:nvSpPr>
        <p:spPr>
          <a:xfrm>
            <a:off x="4862513" y="2251075"/>
            <a:ext cx="14351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New Value</a:t>
            </a:r>
            <a:endParaRPr lang="en-US" altLang="zh-CN">
              <a:latin typeface="Arial" panose="020B0604020202020204" pitchFamily="34" charset="0"/>
              <a:ea typeface="黑体" panose="02010609060101010101" pitchFamily="49" charset="-122"/>
            </a:endParaRPr>
          </a:p>
        </p:txBody>
      </p:sp>
      <p:sp>
        <p:nvSpPr>
          <p:cNvPr id="111731" name="直接连接符 252019"/>
          <p:cNvSpPr/>
          <p:nvPr/>
        </p:nvSpPr>
        <p:spPr>
          <a:xfrm>
            <a:off x="4343400" y="2070100"/>
            <a:ext cx="0" cy="1041400"/>
          </a:xfrm>
          <a:prstGeom prst="line">
            <a:avLst/>
          </a:prstGeom>
          <a:ln w="25400" cap="flat" cmpd="sng">
            <a:solidFill>
              <a:srgbClr val="FF0000"/>
            </a:solidFill>
            <a:prstDash val="dash"/>
            <a:round/>
            <a:headEnd type="none" w="med" len="med"/>
            <a:tailEnd type="none" w="med" len="med"/>
          </a:ln>
        </p:spPr>
      </p:sp>
      <p:sp>
        <p:nvSpPr>
          <p:cNvPr id="111732" name="直接连接符 252020"/>
          <p:cNvSpPr/>
          <p:nvPr/>
        </p:nvSpPr>
        <p:spPr>
          <a:xfrm>
            <a:off x="914400" y="2819400"/>
            <a:ext cx="3352800" cy="0"/>
          </a:xfrm>
          <a:prstGeom prst="line">
            <a:avLst/>
          </a:prstGeom>
          <a:ln w="25400" cap="flat" cmpd="sng">
            <a:solidFill>
              <a:schemeClr val="tx1"/>
            </a:solidFill>
            <a:prstDash val="solid"/>
            <a:round/>
            <a:headEnd type="none" w="med" len="med"/>
            <a:tailEnd type="none" w="med" len="med"/>
          </a:ln>
        </p:spPr>
      </p:sp>
      <p:sp>
        <p:nvSpPr>
          <p:cNvPr id="111733" name="直接连接符 252021"/>
          <p:cNvSpPr/>
          <p:nvPr/>
        </p:nvSpPr>
        <p:spPr>
          <a:xfrm>
            <a:off x="914400" y="3048000"/>
            <a:ext cx="3352800" cy="0"/>
          </a:xfrm>
          <a:prstGeom prst="line">
            <a:avLst/>
          </a:prstGeom>
          <a:ln w="25400" cap="flat" cmpd="sng">
            <a:solidFill>
              <a:schemeClr val="tx1"/>
            </a:solidFill>
            <a:prstDash val="solid"/>
            <a:round/>
            <a:headEnd type="none" w="med" len="med"/>
            <a:tailEnd type="none" w="med" len="med"/>
          </a:ln>
        </p:spPr>
      </p:sp>
      <p:sp>
        <p:nvSpPr>
          <p:cNvPr id="111734" name="直接连接符 252022"/>
          <p:cNvSpPr/>
          <p:nvPr/>
        </p:nvSpPr>
        <p:spPr>
          <a:xfrm flipV="1">
            <a:off x="4419600" y="2819400"/>
            <a:ext cx="4406900" cy="0"/>
          </a:xfrm>
          <a:prstGeom prst="line">
            <a:avLst/>
          </a:prstGeom>
          <a:ln w="25400" cap="flat" cmpd="sng">
            <a:solidFill>
              <a:schemeClr val="tx1"/>
            </a:solidFill>
            <a:prstDash val="solid"/>
            <a:round/>
            <a:headEnd type="none" w="med" len="med"/>
            <a:tailEnd type="none" w="med" len="med"/>
          </a:ln>
        </p:spPr>
      </p:sp>
      <p:sp>
        <p:nvSpPr>
          <p:cNvPr id="111735" name="矩形 252023"/>
          <p:cNvSpPr/>
          <p:nvPr/>
        </p:nvSpPr>
        <p:spPr>
          <a:xfrm>
            <a:off x="74613" y="2784475"/>
            <a:ext cx="952500" cy="333375"/>
          </a:xfrm>
          <a:prstGeom prst="rect">
            <a:avLst/>
          </a:prstGeom>
          <a:noFill/>
          <a:ln w="12700">
            <a:noFill/>
          </a:ln>
        </p:spPr>
        <p:txBody>
          <a:bodyPr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RegWr</a:t>
            </a:r>
            <a:endParaRPr lang="en-US" altLang="zh-CN">
              <a:latin typeface="Arial" panose="020B0604020202020204" pitchFamily="34" charset="0"/>
              <a:ea typeface="黑体" panose="02010609060101010101" pitchFamily="49" charset="-122"/>
            </a:endParaRPr>
          </a:p>
        </p:txBody>
      </p:sp>
      <p:sp>
        <p:nvSpPr>
          <p:cNvPr id="111736" name="矩形 252024"/>
          <p:cNvSpPr/>
          <p:nvPr/>
        </p:nvSpPr>
        <p:spPr>
          <a:xfrm>
            <a:off x="3217863" y="2774950"/>
            <a:ext cx="14224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Old Value</a:t>
            </a:r>
            <a:endParaRPr lang="en-US" altLang="zh-CN">
              <a:latin typeface="Arial" panose="020B0604020202020204" pitchFamily="34" charset="0"/>
              <a:ea typeface="黑体" panose="02010609060101010101" pitchFamily="49" charset="-122"/>
            </a:endParaRPr>
          </a:p>
        </p:txBody>
      </p:sp>
      <p:sp>
        <p:nvSpPr>
          <p:cNvPr id="111737" name="矩形 252025"/>
          <p:cNvSpPr/>
          <p:nvPr/>
        </p:nvSpPr>
        <p:spPr>
          <a:xfrm>
            <a:off x="4862513" y="2784475"/>
            <a:ext cx="18288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New</a:t>
            </a:r>
            <a:r>
              <a:rPr lang="en-US" altLang="zh-CN" sz="1400"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黑体" panose="02010609060101010101" pitchFamily="49" charset="-122"/>
              </a:rPr>
              <a:t>Value</a:t>
            </a:r>
            <a:endParaRPr lang="en-US" altLang="zh-CN">
              <a:latin typeface="Arial" panose="020B0604020202020204" pitchFamily="34" charset="0"/>
              <a:ea typeface="黑体" panose="02010609060101010101" pitchFamily="49" charset="-122"/>
            </a:endParaRPr>
          </a:p>
        </p:txBody>
      </p:sp>
      <p:sp>
        <p:nvSpPr>
          <p:cNvPr id="111738" name="直接连接符 252026"/>
          <p:cNvSpPr/>
          <p:nvPr/>
        </p:nvSpPr>
        <p:spPr>
          <a:xfrm>
            <a:off x="3213100" y="2133600"/>
            <a:ext cx="1117600" cy="0"/>
          </a:xfrm>
          <a:prstGeom prst="line">
            <a:avLst/>
          </a:prstGeom>
          <a:ln w="25400" cap="flat" cmpd="sng">
            <a:solidFill>
              <a:schemeClr val="accent2"/>
            </a:solidFill>
            <a:prstDash val="solid"/>
            <a:round/>
            <a:headEnd type="triangle" w="med" len="med"/>
            <a:tailEnd type="triangle" w="med" len="med"/>
          </a:ln>
        </p:spPr>
      </p:sp>
      <p:sp>
        <p:nvSpPr>
          <p:cNvPr id="252028" name="矩形 252027"/>
          <p:cNvSpPr/>
          <p:nvPr/>
        </p:nvSpPr>
        <p:spPr>
          <a:xfrm>
            <a:off x="4329113" y="1954213"/>
            <a:ext cx="2924175" cy="333375"/>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Delay through Control Logic</a:t>
            </a:r>
            <a:endParaRPr lang="en-US" altLang="zh-CN">
              <a:solidFill>
                <a:srgbClr val="0000FF"/>
              </a:solidFill>
              <a:latin typeface="Arial" panose="020B0604020202020204" pitchFamily="34" charset="0"/>
              <a:ea typeface="宋体" panose="02010600030101010101" pitchFamily="2" charset="-122"/>
            </a:endParaRPr>
          </a:p>
        </p:txBody>
      </p:sp>
      <p:sp>
        <p:nvSpPr>
          <p:cNvPr id="111740" name="直接连接符 252028"/>
          <p:cNvSpPr/>
          <p:nvPr/>
        </p:nvSpPr>
        <p:spPr>
          <a:xfrm>
            <a:off x="5499100" y="3352800"/>
            <a:ext cx="3327400" cy="0"/>
          </a:xfrm>
          <a:prstGeom prst="line">
            <a:avLst/>
          </a:prstGeom>
          <a:ln w="25400" cap="flat" cmpd="sng">
            <a:solidFill>
              <a:schemeClr val="tx1"/>
            </a:solidFill>
            <a:prstDash val="solid"/>
            <a:round/>
            <a:headEnd type="none" w="med" len="med"/>
            <a:tailEnd type="none" w="med" len="med"/>
          </a:ln>
        </p:spPr>
      </p:sp>
      <p:sp>
        <p:nvSpPr>
          <p:cNvPr id="111741" name="矩形 252029"/>
          <p:cNvSpPr/>
          <p:nvPr/>
        </p:nvSpPr>
        <p:spPr>
          <a:xfrm>
            <a:off x="74613" y="3317875"/>
            <a:ext cx="1016000" cy="333375"/>
          </a:xfrm>
          <a:prstGeom prst="rect">
            <a:avLst/>
          </a:prstGeom>
          <a:noFill/>
          <a:ln w="12700">
            <a:noFill/>
          </a:ln>
        </p:spPr>
        <p:txBody>
          <a:bodyPr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busA</a:t>
            </a:r>
            <a:r>
              <a:rPr lang="en-US" altLang="zh-CN" sz="1400"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黑体" panose="02010609060101010101" pitchFamily="49" charset="-122"/>
              </a:rPr>
              <a:t>B</a:t>
            </a:r>
            <a:endParaRPr lang="en-US" altLang="zh-CN">
              <a:latin typeface="Arial" panose="020B0604020202020204" pitchFamily="34" charset="0"/>
              <a:ea typeface="黑体" panose="02010609060101010101" pitchFamily="49" charset="-122"/>
            </a:endParaRPr>
          </a:p>
        </p:txBody>
      </p:sp>
      <p:sp>
        <p:nvSpPr>
          <p:cNvPr id="111742" name="直接连接符 252030"/>
          <p:cNvSpPr/>
          <p:nvPr/>
        </p:nvSpPr>
        <p:spPr>
          <a:xfrm>
            <a:off x="5410200" y="3136900"/>
            <a:ext cx="0" cy="660400"/>
          </a:xfrm>
          <a:prstGeom prst="line">
            <a:avLst/>
          </a:prstGeom>
          <a:ln w="25400" cap="flat" cmpd="sng">
            <a:solidFill>
              <a:srgbClr val="FF0000"/>
            </a:solidFill>
            <a:prstDash val="dash"/>
            <a:round/>
            <a:headEnd type="none" w="med" len="med"/>
            <a:tailEnd type="none" w="med" len="med"/>
          </a:ln>
        </p:spPr>
      </p:sp>
      <p:sp>
        <p:nvSpPr>
          <p:cNvPr id="111743" name="直接连接符 252031"/>
          <p:cNvSpPr/>
          <p:nvPr/>
        </p:nvSpPr>
        <p:spPr>
          <a:xfrm>
            <a:off x="3213100" y="3200400"/>
            <a:ext cx="2184400" cy="0"/>
          </a:xfrm>
          <a:prstGeom prst="line">
            <a:avLst/>
          </a:prstGeom>
          <a:ln w="25400" cap="flat" cmpd="sng">
            <a:solidFill>
              <a:schemeClr val="accent2"/>
            </a:solidFill>
            <a:prstDash val="solid"/>
            <a:round/>
            <a:headEnd type="triangle" w="med" len="med"/>
            <a:tailEnd type="triangle" w="med" len="med"/>
          </a:ln>
        </p:spPr>
      </p:sp>
      <p:sp>
        <p:nvSpPr>
          <p:cNvPr id="252033" name="矩形 252032"/>
          <p:cNvSpPr/>
          <p:nvPr/>
        </p:nvSpPr>
        <p:spPr>
          <a:xfrm>
            <a:off x="5395913" y="3033713"/>
            <a:ext cx="2687637" cy="333375"/>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Register</a:t>
            </a:r>
            <a:r>
              <a:rPr lang="en-US" altLang="zh-CN" sz="1400">
                <a:solidFill>
                  <a:srgbClr val="0000FF"/>
                </a:solidFill>
                <a:latin typeface="Times New Roman" panose="02020603050405020304" pitchFamily="18" charset="0"/>
                <a:ea typeface="宋体" panose="02010600030101010101" pitchFamily="2" charset="-122"/>
              </a:rPr>
              <a:t> </a:t>
            </a:r>
            <a:r>
              <a:rPr lang="en-US" altLang="zh-CN">
                <a:solidFill>
                  <a:srgbClr val="0000FF"/>
                </a:solidFill>
                <a:latin typeface="Arial" panose="020B0604020202020204" pitchFamily="34" charset="0"/>
                <a:ea typeface="宋体" panose="02010600030101010101" pitchFamily="2" charset="-122"/>
              </a:rPr>
              <a:t>File Access Time</a:t>
            </a:r>
            <a:endParaRPr lang="en-US" altLang="zh-CN">
              <a:solidFill>
                <a:srgbClr val="0000FF"/>
              </a:solidFill>
              <a:latin typeface="Arial" panose="020B0604020202020204" pitchFamily="34" charset="0"/>
              <a:ea typeface="宋体" panose="02010600030101010101" pitchFamily="2" charset="-122"/>
            </a:endParaRPr>
          </a:p>
        </p:txBody>
      </p:sp>
      <p:sp>
        <p:nvSpPr>
          <p:cNvPr id="111745" name="矩形 252033"/>
          <p:cNvSpPr/>
          <p:nvPr/>
        </p:nvSpPr>
        <p:spPr>
          <a:xfrm>
            <a:off x="4081463" y="3327400"/>
            <a:ext cx="12319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Old Value</a:t>
            </a:r>
            <a:endParaRPr lang="en-US" altLang="zh-CN">
              <a:latin typeface="Arial" panose="020B0604020202020204" pitchFamily="34" charset="0"/>
              <a:ea typeface="黑体" panose="02010609060101010101" pitchFamily="49" charset="-122"/>
            </a:endParaRPr>
          </a:p>
        </p:txBody>
      </p:sp>
      <p:sp>
        <p:nvSpPr>
          <p:cNvPr id="111746" name="矩形 252034"/>
          <p:cNvSpPr/>
          <p:nvPr/>
        </p:nvSpPr>
        <p:spPr>
          <a:xfrm>
            <a:off x="6005513" y="3317875"/>
            <a:ext cx="15240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New</a:t>
            </a:r>
            <a:r>
              <a:rPr lang="en-US" altLang="zh-CN" sz="1400"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黑体" panose="02010609060101010101" pitchFamily="49" charset="-122"/>
              </a:rPr>
              <a:t>Value</a:t>
            </a:r>
            <a:endParaRPr lang="en-US" altLang="zh-CN">
              <a:latin typeface="Arial" panose="020B0604020202020204" pitchFamily="34" charset="0"/>
              <a:ea typeface="黑体" panose="02010609060101010101" pitchFamily="49" charset="-122"/>
            </a:endParaRPr>
          </a:p>
        </p:txBody>
      </p:sp>
      <p:sp>
        <p:nvSpPr>
          <p:cNvPr id="111747" name="矩形 252035"/>
          <p:cNvSpPr/>
          <p:nvPr/>
        </p:nvSpPr>
        <p:spPr>
          <a:xfrm>
            <a:off x="74613" y="3851275"/>
            <a:ext cx="774700" cy="333375"/>
          </a:xfrm>
          <a:prstGeom prst="rect">
            <a:avLst/>
          </a:prstGeom>
          <a:noFill/>
          <a:ln w="12700">
            <a:noFill/>
          </a:ln>
        </p:spPr>
        <p:txBody>
          <a:bodyPr lIns="90488" tIns="44450" rIns="90488" bIns="44450" anchor="t" anchorCtr="0">
            <a:spAutoFit/>
          </a:bodyPr>
          <a:p>
            <a:pPr eaLnBrk="0" hangingPunct="0"/>
            <a:r>
              <a:rPr lang="en-US" altLang="zh-CN" dirty="0" err="1">
                <a:latin typeface="Arial" panose="020B0604020202020204" pitchFamily="34" charset="0"/>
                <a:ea typeface="黑体" panose="02010609060101010101" pitchFamily="49" charset="-122"/>
              </a:rPr>
              <a:t>busW</a:t>
            </a:r>
            <a:endParaRPr lang="en-US" altLang="zh-CN">
              <a:latin typeface="Arial" panose="020B0604020202020204" pitchFamily="34" charset="0"/>
              <a:ea typeface="黑体" panose="02010609060101010101" pitchFamily="49" charset="-122"/>
            </a:endParaRPr>
          </a:p>
        </p:txBody>
      </p:sp>
      <p:sp>
        <p:nvSpPr>
          <p:cNvPr id="111748" name="直接连接符 252036"/>
          <p:cNvSpPr/>
          <p:nvPr/>
        </p:nvSpPr>
        <p:spPr>
          <a:xfrm>
            <a:off x="6553200" y="3670300"/>
            <a:ext cx="0" cy="660400"/>
          </a:xfrm>
          <a:prstGeom prst="line">
            <a:avLst/>
          </a:prstGeom>
          <a:ln w="25400" cap="flat" cmpd="sng">
            <a:solidFill>
              <a:srgbClr val="FF0000"/>
            </a:solidFill>
            <a:prstDash val="dash"/>
            <a:round/>
            <a:headEnd type="none" w="med" len="med"/>
            <a:tailEnd type="none" w="med" len="med"/>
          </a:ln>
        </p:spPr>
      </p:sp>
      <p:sp>
        <p:nvSpPr>
          <p:cNvPr id="111749" name="直接连接符 252037"/>
          <p:cNvSpPr/>
          <p:nvPr/>
        </p:nvSpPr>
        <p:spPr>
          <a:xfrm>
            <a:off x="5422900" y="3733800"/>
            <a:ext cx="1117600" cy="0"/>
          </a:xfrm>
          <a:prstGeom prst="line">
            <a:avLst/>
          </a:prstGeom>
          <a:ln w="25400" cap="flat" cmpd="sng">
            <a:solidFill>
              <a:schemeClr val="accent2"/>
            </a:solidFill>
            <a:prstDash val="solid"/>
            <a:round/>
            <a:headEnd type="triangle" w="med" len="med"/>
            <a:tailEnd type="triangle" w="med" len="med"/>
          </a:ln>
        </p:spPr>
      </p:sp>
      <p:sp>
        <p:nvSpPr>
          <p:cNvPr id="252039" name="矩形 252038"/>
          <p:cNvSpPr/>
          <p:nvPr/>
        </p:nvSpPr>
        <p:spPr>
          <a:xfrm>
            <a:off x="6615113" y="3567113"/>
            <a:ext cx="1182687" cy="333375"/>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ALU</a:t>
            </a:r>
            <a:r>
              <a:rPr lang="en-US" altLang="zh-CN" sz="1400">
                <a:solidFill>
                  <a:srgbClr val="0000FF"/>
                </a:solidFill>
                <a:latin typeface="Times New Roman" panose="02020603050405020304" pitchFamily="18" charset="0"/>
                <a:ea typeface="宋体" panose="02010600030101010101" pitchFamily="2" charset="-122"/>
              </a:rPr>
              <a:t> </a:t>
            </a:r>
            <a:r>
              <a:rPr lang="en-US" altLang="zh-CN">
                <a:solidFill>
                  <a:srgbClr val="0000FF"/>
                </a:solidFill>
                <a:latin typeface="Arial" panose="020B0604020202020204" pitchFamily="34" charset="0"/>
                <a:ea typeface="宋体" panose="02010600030101010101" pitchFamily="2" charset="-122"/>
              </a:rPr>
              <a:t>Delay</a:t>
            </a:r>
            <a:endParaRPr lang="en-US" altLang="zh-CN">
              <a:solidFill>
                <a:srgbClr val="0000FF"/>
              </a:solidFill>
              <a:latin typeface="Arial" panose="020B0604020202020204" pitchFamily="34" charset="0"/>
              <a:ea typeface="宋体" panose="02010600030101010101" pitchFamily="2" charset="-122"/>
            </a:endParaRPr>
          </a:p>
        </p:txBody>
      </p:sp>
      <p:sp>
        <p:nvSpPr>
          <p:cNvPr id="111751" name="矩形 252039"/>
          <p:cNvSpPr/>
          <p:nvPr/>
        </p:nvSpPr>
        <p:spPr>
          <a:xfrm>
            <a:off x="5421313" y="3829050"/>
            <a:ext cx="12954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Old Value</a:t>
            </a:r>
            <a:endParaRPr lang="en-US" altLang="zh-CN">
              <a:latin typeface="Arial" panose="020B0604020202020204" pitchFamily="34" charset="0"/>
              <a:ea typeface="黑体" panose="02010609060101010101" pitchFamily="49" charset="-122"/>
            </a:endParaRPr>
          </a:p>
        </p:txBody>
      </p:sp>
      <p:sp>
        <p:nvSpPr>
          <p:cNvPr id="111752" name="矩形 252040"/>
          <p:cNvSpPr/>
          <p:nvPr/>
        </p:nvSpPr>
        <p:spPr>
          <a:xfrm>
            <a:off x="6831013" y="3825875"/>
            <a:ext cx="13716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New Value</a:t>
            </a:r>
            <a:endParaRPr lang="en-US" altLang="zh-CN">
              <a:latin typeface="Arial" panose="020B0604020202020204" pitchFamily="34" charset="0"/>
              <a:ea typeface="黑体" panose="02010609060101010101" pitchFamily="49" charset="-122"/>
            </a:endParaRPr>
          </a:p>
        </p:txBody>
      </p:sp>
      <p:sp>
        <p:nvSpPr>
          <p:cNvPr id="111753" name="矩形 252041"/>
          <p:cNvSpPr/>
          <p:nvPr/>
        </p:nvSpPr>
        <p:spPr>
          <a:xfrm>
            <a:off x="2043113" y="1717675"/>
            <a:ext cx="11811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Old</a:t>
            </a:r>
            <a:r>
              <a:rPr lang="en-US" altLang="zh-CN" sz="1400"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黑体" panose="02010609060101010101" pitchFamily="49" charset="-122"/>
              </a:rPr>
              <a:t>Value</a:t>
            </a:r>
            <a:endParaRPr lang="en-US" altLang="zh-CN">
              <a:latin typeface="Arial" panose="020B0604020202020204" pitchFamily="34" charset="0"/>
              <a:ea typeface="黑体" panose="02010609060101010101" pitchFamily="49" charset="-122"/>
            </a:endParaRPr>
          </a:p>
        </p:txBody>
      </p:sp>
      <p:sp>
        <p:nvSpPr>
          <p:cNvPr id="111754" name="直接连接符 252042"/>
          <p:cNvSpPr/>
          <p:nvPr/>
        </p:nvSpPr>
        <p:spPr>
          <a:xfrm>
            <a:off x="8470900" y="1219200"/>
            <a:ext cx="355600" cy="0"/>
          </a:xfrm>
          <a:prstGeom prst="line">
            <a:avLst/>
          </a:prstGeom>
          <a:ln w="25400" cap="flat" cmpd="sng">
            <a:solidFill>
              <a:schemeClr val="tx1"/>
            </a:solidFill>
            <a:prstDash val="solid"/>
            <a:round/>
            <a:headEnd type="none" w="med" len="med"/>
            <a:tailEnd type="none" w="med" len="med"/>
          </a:ln>
        </p:spPr>
      </p:sp>
      <p:sp>
        <p:nvSpPr>
          <p:cNvPr id="111755" name="直接连接符 252043"/>
          <p:cNvSpPr/>
          <p:nvPr/>
        </p:nvSpPr>
        <p:spPr>
          <a:xfrm>
            <a:off x="8470900" y="1447800"/>
            <a:ext cx="355600" cy="0"/>
          </a:xfrm>
          <a:prstGeom prst="line">
            <a:avLst/>
          </a:prstGeom>
          <a:ln w="25400" cap="flat" cmpd="sng">
            <a:solidFill>
              <a:schemeClr val="tx1"/>
            </a:solidFill>
            <a:prstDash val="solid"/>
            <a:round/>
            <a:headEnd type="none" w="med" len="med"/>
            <a:tailEnd type="none" w="med" len="med"/>
          </a:ln>
        </p:spPr>
      </p:sp>
      <p:sp>
        <p:nvSpPr>
          <p:cNvPr id="111756" name="矩形 252044"/>
          <p:cNvSpPr/>
          <p:nvPr/>
        </p:nvSpPr>
        <p:spPr>
          <a:xfrm>
            <a:off x="3567113" y="1717675"/>
            <a:ext cx="13462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New</a:t>
            </a:r>
            <a:r>
              <a:rPr lang="en-US" altLang="zh-CN" sz="1400"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黑体" panose="02010609060101010101" pitchFamily="49" charset="-122"/>
              </a:rPr>
              <a:t>Value</a:t>
            </a:r>
            <a:endParaRPr lang="en-US" altLang="zh-CN">
              <a:latin typeface="Arial" panose="020B0604020202020204" pitchFamily="34" charset="0"/>
              <a:ea typeface="黑体" panose="02010609060101010101" pitchFamily="49" charset="-122"/>
            </a:endParaRPr>
          </a:p>
        </p:txBody>
      </p:sp>
      <p:sp>
        <p:nvSpPr>
          <p:cNvPr id="111757" name="矩形 252045"/>
          <p:cNvSpPr/>
          <p:nvPr/>
        </p:nvSpPr>
        <p:spPr>
          <a:xfrm>
            <a:off x="2119313" y="1184275"/>
            <a:ext cx="14478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New</a:t>
            </a:r>
            <a:r>
              <a:rPr lang="en-US" altLang="zh-CN" sz="1400"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黑体" panose="02010609060101010101" pitchFamily="49" charset="-122"/>
              </a:rPr>
              <a:t>Value</a:t>
            </a:r>
            <a:endParaRPr lang="en-US" altLang="zh-CN">
              <a:latin typeface="Arial" panose="020B0604020202020204" pitchFamily="34" charset="0"/>
              <a:ea typeface="黑体" panose="02010609060101010101" pitchFamily="49" charset="-122"/>
            </a:endParaRPr>
          </a:p>
        </p:txBody>
      </p:sp>
      <p:sp>
        <p:nvSpPr>
          <p:cNvPr id="111758" name="矩形 252046"/>
          <p:cNvSpPr/>
          <p:nvPr/>
        </p:nvSpPr>
        <p:spPr>
          <a:xfrm>
            <a:off x="595313" y="1184275"/>
            <a:ext cx="1219200" cy="333375"/>
          </a:xfrm>
          <a:prstGeom prst="rect">
            <a:avLst/>
          </a:prstGeom>
          <a:noFill/>
          <a:ln w="12700">
            <a:noFill/>
          </a:ln>
        </p:spPr>
        <p:txBody>
          <a:bodyPr lIns="90488" tIns="44450" rIns="90488" bIns="44450" anchor="t" anchorCtr="0">
            <a:spAutoFit/>
          </a:bodyPr>
          <a:p>
            <a:pPr eaLnBrk="0" hangingPunct="0"/>
            <a:r>
              <a:rPr lang="en-US" altLang="zh-CN">
                <a:latin typeface="Arial" panose="020B0604020202020204" pitchFamily="34" charset="0"/>
                <a:ea typeface="黑体" panose="02010609060101010101" pitchFamily="49" charset="-122"/>
              </a:rPr>
              <a:t>Old</a:t>
            </a:r>
            <a:r>
              <a:rPr lang="en-US" altLang="zh-CN" sz="1400"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黑体" panose="02010609060101010101" pitchFamily="49" charset="-122"/>
              </a:rPr>
              <a:t>Value</a:t>
            </a:r>
            <a:endParaRPr lang="en-US" altLang="zh-CN">
              <a:latin typeface="Arial" panose="020B0604020202020204" pitchFamily="34" charset="0"/>
              <a:ea typeface="黑体" panose="02010609060101010101" pitchFamily="49" charset="-122"/>
            </a:endParaRPr>
          </a:p>
        </p:txBody>
      </p:sp>
      <p:sp>
        <p:nvSpPr>
          <p:cNvPr id="111759" name="椭圆 252047"/>
          <p:cNvSpPr/>
          <p:nvPr/>
        </p:nvSpPr>
        <p:spPr>
          <a:xfrm>
            <a:off x="8083550" y="2749550"/>
            <a:ext cx="139700" cy="215900"/>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1760" name="椭圆 252048"/>
          <p:cNvSpPr/>
          <p:nvPr/>
        </p:nvSpPr>
        <p:spPr>
          <a:xfrm>
            <a:off x="8083550" y="3740150"/>
            <a:ext cx="139700" cy="444500"/>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252062" name="组合 252061"/>
          <p:cNvGrpSpPr/>
          <p:nvPr/>
        </p:nvGrpSpPr>
        <p:grpSpPr>
          <a:xfrm>
            <a:off x="7327900" y="2903538"/>
            <a:ext cx="1560513" cy="2246312"/>
            <a:chOff x="4616" y="1829"/>
            <a:chExt cx="983" cy="1415"/>
          </a:xfrm>
        </p:grpSpPr>
        <p:sp>
          <p:nvSpPr>
            <p:cNvPr id="111762" name="任意多边形 252049"/>
            <p:cNvSpPr/>
            <p:nvPr/>
          </p:nvSpPr>
          <p:spPr>
            <a:xfrm>
              <a:off x="5184" y="1829"/>
              <a:ext cx="140" cy="1052"/>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12700" cap="rnd" cmpd="sng">
              <a:solidFill>
                <a:schemeClr val="accent1"/>
              </a:solidFill>
              <a:prstDash val="solid"/>
              <a:round/>
              <a:headEnd type="none" w="med" len="med"/>
              <a:tailEnd type="triangle" w="med" len="med"/>
            </a:ln>
          </p:spPr>
          <p:txBody>
            <a:bodyPr/>
            <a:p>
              <a:endParaRPr lang="zh-CN" altLang="en-US"/>
            </a:p>
          </p:txBody>
        </p:sp>
        <p:sp>
          <p:nvSpPr>
            <p:cNvPr id="111763" name="任意多边形 252050"/>
            <p:cNvSpPr/>
            <p:nvPr/>
          </p:nvSpPr>
          <p:spPr>
            <a:xfrm>
              <a:off x="5184" y="2501"/>
              <a:ext cx="140" cy="44"/>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12700" cap="rnd" cmpd="sng">
              <a:solidFill>
                <a:schemeClr val="accent1"/>
              </a:solidFill>
              <a:prstDash val="solid"/>
              <a:round/>
              <a:headEnd type="none" w="med" len="med"/>
              <a:tailEnd type="none" w="med" len="med"/>
            </a:ln>
          </p:spPr>
          <p:txBody>
            <a:bodyPr/>
            <a:p>
              <a:endParaRPr lang="zh-CN" altLang="en-US"/>
            </a:p>
          </p:txBody>
        </p:sp>
        <p:sp>
          <p:nvSpPr>
            <p:cNvPr id="111764" name="矩形 252051"/>
            <p:cNvSpPr/>
            <p:nvPr/>
          </p:nvSpPr>
          <p:spPr>
            <a:xfrm>
              <a:off x="4616" y="2880"/>
              <a:ext cx="983" cy="364"/>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1"/>
                  </a:solidFill>
                  <a:latin typeface="Arial" panose="020B0604020202020204" pitchFamily="34" charset="0"/>
                  <a:ea typeface="宋体" panose="02010600030101010101" pitchFamily="2" charset="-122"/>
                </a:rPr>
                <a:t>Register Write</a:t>
              </a:r>
              <a:endParaRPr lang="en-US" altLang="zh-CN">
                <a:solidFill>
                  <a:schemeClr val="accent1"/>
                </a:solidFill>
                <a:latin typeface="Arial" panose="020B0604020202020204" pitchFamily="34" charset="0"/>
                <a:ea typeface="宋体" panose="02010600030101010101" pitchFamily="2" charset="-122"/>
              </a:endParaRPr>
            </a:p>
            <a:p>
              <a:pPr algn="ctr" eaLnBrk="0" hangingPunct="0"/>
              <a:r>
                <a:rPr lang="en-US" altLang="zh-CN">
                  <a:solidFill>
                    <a:schemeClr val="accent1"/>
                  </a:solidFill>
                  <a:latin typeface="Arial" panose="020B0604020202020204" pitchFamily="34" charset="0"/>
                  <a:ea typeface="宋体" panose="02010600030101010101" pitchFamily="2" charset="-122"/>
                </a:rPr>
                <a:t>Occurs Here</a:t>
              </a:r>
              <a:endParaRPr lang="en-US" altLang="zh-CN">
                <a:solidFill>
                  <a:schemeClr val="accent1"/>
                </a:solidFill>
                <a:latin typeface="Arial" panose="020B0604020202020204" pitchFamily="34" charset="0"/>
                <a:ea typeface="宋体" panose="02010600030101010101" pitchFamily="2" charset="-122"/>
              </a:endParaRPr>
            </a:p>
          </p:txBody>
        </p:sp>
      </p:grpSp>
      <p:sp>
        <p:nvSpPr>
          <p:cNvPr id="111765" name="直接连接符 252052"/>
          <p:cNvSpPr/>
          <p:nvPr/>
        </p:nvSpPr>
        <p:spPr>
          <a:xfrm>
            <a:off x="4267200" y="2819400"/>
            <a:ext cx="127000" cy="203200"/>
          </a:xfrm>
          <a:prstGeom prst="line">
            <a:avLst/>
          </a:prstGeom>
          <a:ln w="25400" cap="flat" cmpd="sng">
            <a:solidFill>
              <a:schemeClr val="tx1"/>
            </a:solidFill>
            <a:prstDash val="solid"/>
            <a:round/>
            <a:headEnd type="none" w="med" len="med"/>
            <a:tailEnd type="none" w="med" len="med"/>
          </a:ln>
        </p:spPr>
      </p:sp>
      <p:sp>
        <p:nvSpPr>
          <p:cNvPr id="111766" name="直接连接符 252053"/>
          <p:cNvSpPr/>
          <p:nvPr/>
        </p:nvSpPr>
        <p:spPr>
          <a:xfrm flipV="1">
            <a:off x="4267200" y="2794000"/>
            <a:ext cx="127000" cy="254000"/>
          </a:xfrm>
          <a:prstGeom prst="line">
            <a:avLst/>
          </a:prstGeom>
          <a:ln w="25400" cap="flat" cmpd="sng">
            <a:solidFill>
              <a:schemeClr val="tx1"/>
            </a:solidFill>
            <a:prstDash val="solid"/>
            <a:round/>
            <a:headEnd type="none" w="med" len="med"/>
            <a:tailEnd type="none" w="med" len="med"/>
          </a:ln>
        </p:spPr>
      </p:sp>
      <p:sp>
        <p:nvSpPr>
          <p:cNvPr id="111767" name="直接连接符 252054"/>
          <p:cNvSpPr/>
          <p:nvPr/>
        </p:nvSpPr>
        <p:spPr>
          <a:xfrm>
            <a:off x="4419600" y="3048000"/>
            <a:ext cx="4419600" cy="0"/>
          </a:xfrm>
          <a:prstGeom prst="line">
            <a:avLst/>
          </a:prstGeom>
          <a:ln w="22225" cap="flat" cmpd="sng">
            <a:solidFill>
              <a:schemeClr val="tx1"/>
            </a:solidFill>
            <a:prstDash val="solid"/>
            <a:round/>
            <a:headEnd type="none" w="med" len="med"/>
            <a:tailEnd type="none" w="med" len="med"/>
          </a:ln>
        </p:spPr>
      </p:sp>
      <p:sp>
        <p:nvSpPr>
          <p:cNvPr id="111768" name="直接连接符 252055"/>
          <p:cNvSpPr/>
          <p:nvPr/>
        </p:nvSpPr>
        <p:spPr>
          <a:xfrm>
            <a:off x="8391525" y="987425"/>
            <a:ext cx="0" cy="660400"/>
          </a:xfrm>
          <a:prstGeom prst="line">
            <a:avLst/>
          </a:prstGeom>
          <a:ln w="25400" cap="flat" cmpd="sng">
            <a:solidFill>
              <a:srgbClr val="0000FF"/>
            </a:solidFill>
            <a:prstDash val="dash"/>
            <a:round/>
            <a:headEnd type="none" w="med" len="med"/>
            <a:tailEnd type="none" w="med" len="med"/>
          </a:ln>
        </p:spPr>
      </p:sp>
      <p:sp>
        <p:nvSpPr>
          <p:cNvPr id="252058" name="矩形 252057"/>
          <p:cNvSpPr/>
          <p:nvPr/>
        </p:nvSpPr>
        <p:spPr>
          <a:xfrm>
            <a:off x="8383588" y="1169988"/>
            <a:ext cx="633412" cy="304800"/>
          </a:xfrm>
          <a:prstGeom prst="rect">
            <a:avLst/>
          </a:prstGeom>
          <a:noFill/>
          <a:ln w="25400">
            <a:noFill/>
          </a:ln>
        </p:spPr>
        <p:txBody>
          <a:bodyPr wrap="none" anchor="t" anchorCtr="0">
            <a:spAutoFit/>
          </a:bodyPr>
          <a:p>
            <a:pPr algn="ctr" eaLnBrk="0" hangingPunct="0"/>
            <a:r>
              <a:rPr lang="en-US" altLang="zh-CN" sz="1400">
                <a:solidFill>
                  <a:srgbClr val="FF0000"/>
                </a:solidFill>
                <a:latin typeface="Arial" panose="020B0604020202020204" pitchFamily="34" charset="0"/>
                <a:ea typeface="宋体" panose="02010600030101010101" pitchFamily="2" charset="-122"/>
              </a:rPr>
              <a:t>PC+4</a:t>
            </a:r>
            <a:endParaRPr lang="zh-CN" altLang="en-US" sz="1400" dirty="0">
              <a:solidFill>
                <a:srgbClr val="FF0000"/>
              </a:solidFill>
              <a:latin typeface="Arial" panose="020B0604020202020204" pitchFamily="34" charset="0"/>
              <a:ea typeface="宋体" panose="02010600030101010101" pitchFamily="2" charset="-122"/>
            </a:endParaRPr>
          </a:p>
        </p:txBody>
      </p:sp>
      <p:sp>
        <p:nvSpPr>
          <p:cNvPr id="111770" name="直接连接符 252058"/>
          <p:cNvSpPr/>
          <p:nvPr/>
        </p:nvSpPr>
        <p:spPr>
          <a:xfrm flipH="1">
            <a:off x="6850063" y="885825"/>
            <a:ext cx="30162" cy="2146300"/>
          </a:xfrm>
          <a:prstGeom prst="line">
            <a:avLst/>
          </a:prstGeom>
          <a:ln w="25400" cap="flat" cmpd="sng">
            <a:solidFill>
              <a:srgbClr val="0000FF"/>
            </a:solidFill>
            <a:prstDash val="dash"/>
            <a:round/>
            <a:headEnd type="none" w="med" len="med"/>
            <a:tailEnd type="none" w="med" len="med"/>
          </a:ln>
        </p:spPr>
      </p:sp>
      <p:sp>
        <p:nvSpPr>
          <p:cNvPr id="111771" name="直接连接符 252059"/>
          <p:cNvSpPr/>
          <p:nvPr/>
        </p:nvSpPr>
        <p:spPr>
          <a:xfrm>
            <a:off x="6881813" y="1058863"/>
            <a:ext cx="1509712" cy="0"/>
          </a:xfrm>
          <a:prstGeom prst="line">
            <a:avLst/>
          </a:prstGeom>
          <a:ln w="25400" cap="flat" cmpd="sng">
            <a:solidFill>
              <a:schemeClr val="tx1"/>
            </a:solidFill>
            <a:prstDash val="solid"/>
            <a:round/>
            <a:headEnd type="triangle" w="med" len="med"/>
            <a:tailEnd type="triangle" w="med" len="med"/>
          </a:ln>
        </p:spPr>
      </p:sp>
      <p:grpSp>
        <p:nvGrpSpPr>
          <p:cNvPr id="252063" name="组合 252062"/>
          <p:cNvGrpSpPr/>
          <p:nvPr/>
        </p:nvGrpSpPr>
        <p:grpSpPr>
          <a:xfrm>
            <a:off x="6850063" y="760413"/>
            <a:ext cx="1322387" cy="336550"/>
            <a:chOff x="4315" y="511"/>
            <a:chExt cx="833" cy="212"/>
          </a:xfrm>
        </p:grpSpPr>
        <p:sp>
          <p:nvSpPr>
            <p:cNvPr id="111773" name="文本框 252056"/>
            <p:cNvSpPr txBox="1"/>
            <p:nvPr/>
          </p:nvSpPr>
          <p:spPr>
            <a:xfrm>
              <a:off x="4315" y="511"/>
              <a:ext cx="833" cy="212"/>
            </a:xfrm>
            <a:prstGeom prst="rect">
              <a:avLst/>
            </a:prstGeom>
            <a:noFill/>
            <a:ln w="25400">
              <a:noFill/>
            </a:ln>
          </p:spPr>
          <p:txBody>
            <a:bodyPr anchor="t" anchorCtr="0">
              <a:spAutoFit/>
            </a:bodyPr>
            <a:p>
              <a:pPr algn="ctr" eaLnBrk="0" hangingPunct="0">
                <a:spcBef>
                  <a:spcPct val="50000"/>
                </a:spcBef>
              </a:pPr>
              <a:r>
                <a:rPr lang="en-US" altLang="zh-CN">
                  <a:solidFill>
                    <a:srgbClr val="0000FF"/>
                  </a:solidFill>
                  <a:latin typeface="Arial" panose="020B0604020202020204" pitchFamily="34" charset="0"/>
                  <a:ea typeface="宋体" panose="02010600030101010101" pitchFamily="2" charset="-122"/>
                </a:rPr>
                <a:t>PC+4</a:t>
              </a:r>
              <a:r>
                <a:rPr lang="en-US" altLang="zh-CN" sz="1400">
                  <a:solidFill>
                    <a:srgbClr val="0000FF"/>
                  </a:solidFill>
                  <a:latin typeface="Times New Roman" panose="02020603050405020304" pitchFamily="18" charset="0"/>
                  <a:ea typeface="宋体" panose="02010600030101010101" pitchFamily="2" charset="-122"/>
                </a:rPr>
                <a:t>     </a:t>
              </a:r>
              <a:r>
                <a:rPr lang="en-US" altLang="zh-CN">
                  <a:solidFill>
                    <a:srgbClr val="0000FF"/>
                  </a:solidFill>
                  <a:latin typeface="Arial" panose="020B0604020202020204" pitchFamily="34" charset="0"/>
                  <a:ea typeface="宋体" panose="02010600030101010101" pitchFamily="2" charset="-122"/>
                </a:rPr>
                <a:t>PC  </a:t>
              </a:r>
              <a:endParaRPr lang="en-US" altLang="zh-CN">
                <a:solidFill>
                  <a:srgbClr val="0000FF"/>
                </a:solidFill>
                <a:latin typeface="Arial" panose="020B0604020202020204" pitchFamily="34" charset="0"/>
                <a:ea typeface="宋体" panose="02010600030101010101" pitchFamily="2" charset="-122"/>
              </a:endParaRPr>
            </a:p>
          </p:txBody>
        </p:sp>
        <p:sp>
          <p:nvSpPr>
            <p:cNvPr id="111774" name="直接连接符 252060"/>
            <p:cNvSpPr/>
            <p:nvPr/>
          </p:nvSpPr>
          <p:spPr>
            <a:xfrm>
              <a:off x="4726" y="612"/>
              <a:ext cx="137" cy="0"/>
            </a:xfrm>
            <a:prstGeom prst="line">
              <a:avLst/>
            </a:prstGeom>
            <a:ln w="19050" cap="flat" cmpd="sng">
              <a:solidFill>
                <a:srgbClr val="0000FF"/>
              </a:solidFill>
              <a:prstDash val="solid"/>
              <a:round/>
              <a:headEnd type="none" w="med" len="med"/>
              <a:tailEnd type="triangl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1994"/>
                                        </p:tgtEl>
                                        <p:attrNameLst>
                                          <p:attrName>style.visibility</p:attrName>
                                        </p:attrNameLst>
                                      </p:cBhvr>
                                      <p:to>
                                        <p:strVal val="visible"/>
                                      </p:to>
                                    </p:set>
                                    <p:animEffect transition="in" filter="blinds(horizontal)">
                                      <p:cBhvr>
                                        <p:cTn id="7" dur="500"/>
                                        <p:tgtEl>
                                          <p:spTgt spid="2519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2016"/>
                                        </p:tgtEl>
                                        <p:attrNameLst>
                                          <p:attrName>style.visibility</p:attrName>
                                        </p:attrNameLst>
                                      </p:cBhvr>
                                      <p:to>
                                        <p:strVal val="visible"/>
                                      </p:to>
                                    </p:set>
                                    <p:animEffect transition="in" filter="blinds(horizontal)">
                                      <p:cBhvr>
                                        <p:cTn id="12" dur="500"/>
                                        <p:tgtEl>
                                          <p:spTgt spid="2520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2028">
                                            <p:txEl>
                                              <p:charRg st="0" end="28"/>
                                            </p:txEl>
                                          </p:spTgt>
                                        </p:tgtEl>
                                        <p:attrNameLst>
                                          <p:attrName>style.visibility</p:attrName>
                                        </p:attrNameLst>
                                      </p:cBhvr>
                                      <p:to>
                                        <p:strVal val="visible"/>
                                      </p:to>
                                    </p:set>
                                    <p:animEffect transition="in" filter="blinds(horizontal)">
                                      <p:cBhvr>
                                        <p:cTn id="17" dur="500"/>
                                        <p:tgtEl>
                                          <p:spTgt spid="252028">
                                            <p:txEl>
                                              <p:charRg st="0" end="2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52033">
                                            <p:txEl>
                                              <p:charRg st="0" end="26"/>
                                            </p:txEl>
                                          </p:spTgt>
                                        </p:tgtEl>
                                        <p:attrNameLst>
                                          <p:attrName>style.visibility</p:attrName>
                                        </p:attrNameLst>
                                      </p:cBhvr>
                                      <p:to>
                                        <p:strVal val="visible"/>
                                      </p:to>
                                    </p:set>
                                    <p:animEffect transition="in" filter="blinds(horizontal)">
                                      <p:cBhvr>
                                        <p:cTn id="22" dur="500"/>
                                        <p:tgtEl>
                                          <p:spTgt spid="252033">
                                            <p:txEl>
                                              <p:charRg st="0" end="2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52039">
                                            <p:txEl>
                                              <p:charRg st="0" end="10"/>
                                            </p:txEl>
                                          </p:spTgt>
                                        </p:tgtEl>
                                        <p:attrNameLst>
                                          <p:attrName>style.visibility</p:attrName>
                                        </p:attrNameLst>
                                      </p:cBhvr>
                                      <p:to>
                                        <p:strVal val="visible"/>
                                      </p:to>
                                    </p:set>
                                    <p:animEffect transition="in" filter="blinds(horizontal)">
                                      <p:cBhvr>
                                        <p:cTn id="27" dur="500"/>
                                        <p:tgtEl>
                                          <p:spTgt spid="252039">
                                            <p:txEl>
                                              <p:charRg st="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52063"/>
                                        </p:tgtEl>
                                        <p:attrNameLst>
                                          <p:attrName>style.visibility</p:attrName>
                                        </p:attrNameLst>
                                      </p:cBhvr>
                                      <p:to>
                                        <p:strVal val="visible"/>
                                      </p:to>
                                    </p:set>
                                    <p:animEffect transition="in" filter="blinds(horizontal)">
                                      <p:cBhvr>
                                        <p:cTn id="32" dur="500"/>
                                        <p:tgtEl>
                                          <p:spTgt spid="25206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52062"/>
                                        </p:tgtEl>
                                        <p:attrNameLst>
                                          <p:attrName>style.visibility</p:attrName>
                                        </p:attrNameLst>
                                      </p:cBhvr>
                                      <p:to>
                                        <p:strVal val="visible"/>
                                      </p:to>
                                    </p:set>
                                    <p:animEffect transition="in" filter="blinds(horizontal)">
                                      <p:cBhvr>
                                        <p:cTn id="37" dur="500"/>
                                        <p:tgtEl>
                                          <p:spTgt spid="25206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2058"/>
                                        </p:tgtEl>
                                        <p:attrNameLst>
                                          <p:attrName>style.visibility</p:attrName>
                                        </p:attrNameLst>
                                      </p:cBhvr>
                                      <p:to>
                                        <p:strVal val="visible"/>
                                      </p:to>
                                    </p:set>
                                    <p:animEffect transition="in" filter="blinds(horizontal)">
                                      <p:cBhvr>
                                        <p:cTn id="42" dur="500"/>
                                        <p:tgtEl>
                                          <p:spTgt spid="252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94" grpId="0"/>
      <p:bldP spid="252016" grpId="0"/>
      <p:bldP spid="25205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标题 253953"/>
          <p:cNvSpPr>
            <a:spLocks noGrp="1"/>
          </p:cNvSpPr>
          <p:nvPr>
            <p:ph type="title"/>
          </p:nvPr>
        </p:nvSpPr>
        <p:spPr>
          <a:xfrm>
            <a:off x="596900" y="215900"/>
            <a:ext cx="5722938" cy="422275"/>
          </a:xfrm>
          <a:ln/>
        </p:spPr>
        <p:txBody>
          <a:bodyPr vert="horz" wrap="square" lIns="63500" tIns="25400" rIns="63500" bIns="25400" anchor="t" anchorCtr="0">
            <a:spAutoFit/>
          </a:bodyPr>
          <a:p>
            <a:r>
              <a:rPr lang="en-US" altLang="zh-CN" dirty="0" err="1">
                <a:ea typeface="宋体" panose="02010600030101010101" pitchFamily="2" charset="-122"/>
              </a:rPr>
              <a:t>ori</a:t>
            </a:r>
            <a:r>
              <a:rPr lang="en-US" altLang="zh-CN">
                <a:ea typeface="宋体" panose="02010600030101010101" pitchFamily="2" charset="-122"/>
              </a:rPr>
              <a:t> </a:t>
            </a:r>
            <a:r>
              <a:rPr lang="zh-CN" altLang="en-US" dirty="0">
                <a:ea typeface="宋体" panose="02010600030101010101" pitchFamily="2" charset="-122"/>
              </a:rPr>
              <a:t>指令译码后的执行过程 </a:t>
            </a:r>
            <a:endParaRPr lang="zh-CN" altLang="en-US" dirty="0">
              <a:ea typeface="宋体" panose="02010600030101010101" pitchFamily="2" charset="-122"/>
            </a:endParaRPr>
          </a:p>
        </p:txBody>
      </p:sp>
      <p:grpSp>
        <p:nvGrpSpPr>
          <p:cNvPr id="113666" name="组合 253954"/>
          <p:cNvGrpSpPr/>
          <p:nvPr/>
        </p:nvGrpSpPr>
        <p:grpSpPr>
          <a:xfrm>
            <a:off x="5029200" y="3654425"/>
            <a:ext cx="457200" cy="1136650"/>
            <a:chOff x="3168" y="2302"/>
            <a:chExt cx="288" cy="716"/>
          </a:xfrm>
        </p:grpSpPr>
        <p:sp>
          <p:nvSpPr>
            <p:cNvPr id="113667" name="直接连接符 253955"/>
            <p:cNvSpPr/>
            <p:nvPr/>
          </p:nvSpPr>
          <p:spPr>
            <a:xfrm>
              <a:off x="3168" y="2302"/>
              <a:ext cx="0" cy="163"/>
            </a:xfrm>
            <a:prstGeom prst="line">
              <a:avLst/>
            </a:prstGeom>
            <a:ln w="25400" cap="flat" cmpd="sng">
              <a:solidFill>
                <a:schemeClr val="tx1"/>
              </a:solidFill>
              <a:prstDash val="solid"/>
              <a:round/>
              <a:headEnd type="none" w="med" len="med"/>
              <a:tailEnd type="none" w="med" len="med"/>
            </a:ln>
          </p:spPr>
        </p:sp>
        <p:sp>
          <p:nvSpPr>
            <p:cNvPr id="113668" name="直接连接符 253956"/>
            <p:cNvSpPr/>
            <p:nvPr/>
          </p:nvSpPr>
          <p:spPr>
            <a:xfrm>
              <a:off x="3176" y="2302"/>
              <a:ext cx="272" cy="163"/>
            </a:xfrm>
            <a:prstGeom prst="line">
              <a:avLst/>
            </a:prstGeom>
            <a:ln w="25400" cap="flat" cmpd="sng">
              <a:solidFill>
                <a:schemeClr val="tx1"/>
              </a:solidFill>
              <a:prstDash val="solid"/>
              <a:round/>
              <a:headEnd type="none" w="med" len="med"/>
              <a:tailEnd type="none" w="med" len="med"/>
            </a:ln>
          </p:spPr>
        </p:sp>
        <p:sp>
          <p:nvSpPr>
            <p:cNvPr id="113669" name="直接连接符 253957"/>
            <p:cNvSpPr/>
            <p:nvPr/>
          </p:nvSpPr>
          <p:spPr>
            <a:xfrm>
              <a:off x="3176" y="2481"/>
              <a:ext cx="128" cy="74"/>
            </a:xfrm>
            <a:prstGeom prst="line">
              <a:avLst/>
            </a:prstGeom>
            <a:ln w="25400" cap="flat" cmpd="sng">
              <a:solidFill>
                <a:schemeClr val="tx1"/>
              </a:solidFill>
              <a:prstDash val="solid"/>
              <a:round/>
              <a:headEnd type="none" w="med" len="med"/>
              <a:tailEnd type="none" w="med" len="med"/>
            </a:ln>
          </p:spPr>
        </p:sp>
        <p:sp>
          <p:nvSpPr>
            <p:cNvPr id="113670" name="直接连接符 253958"/>
            <p:cNvSpPr/>
            <p:nvPr/>
          </p:nvSpPr>
          <p:spPr>
            <a:xfrm>
              <a:off x="3312" y="2571"/>
              <a:ext cx="0" cy="163"/>
            </a:xfrm>
            <a:prstGeom prst="line">
              <a:avLst/>
            </a:prstGeom>
            <a:ln w="25400" cap="flat" cmpd="sng">
              <a:solidFill>
                <a:schemeClr val="tx1"/>
              </a:solidFill>
              <a:prstDash val="solid"/>
              <a:round/>
              <a:headEnd type="none" w="med" len="med"/>
              <a:tailEnd type="none" w="med" len="med"/>
            </a:ln>
          </p:spPr>
        </p:sp>
        <p:sp>
          <p:nvSpPr>
            <p:cNvPr id="113671" name="直接连接符 253959"/>
            <p:cNvSpPr/>
            <p:nvPr/>
          </p:nvSpPr>
          <p:spPr>
            <a:xfrm>
              <a:off x="3456" y="2481"/>
              <a:ext cx="0" cy="342"/>
            </a:xfrm>
            <a:prstGeom prst="line">
              <a:avLst/>
            </a:prstGeom>
            <a:ln w="25400" cap="flat" cmpd="sng">
              <a:solidFill>
                <a:schemeClr val="tx1"/>
              </a:solidFill>
              <a:prstDash val="solid"/>
              <a:round/>
              <a:headEnd type="none" w="med" len="med"/>
              <a:tailEnd type="none" w="med" len="med"/>
            </a:ln>
          </p:spPr>
        </p:sp>
        <p:sp>
          <p:nvSpPr>
            <p:cNvPr id="113672" name="直接连接符 253960"/>
            <p:cNvSpPr/>
            <p:nvPr/>
          </p:nvSpPr>
          <p:spPr>
            <a:xfrm flipV="1">
              <a:off x="3176" y="2734"/>
              <a:ext cx="128" cy="105"/>
            </a:xfrm>
            <a:prstGeom prst="line">
              <a:avLst/>
            </a:prstGeom>
            <a:ln w="25400" cap="flat" cmpd="sng">
              <a:solidFill>
                <a:schemeClr val="tx1"/>
              </a:solidFill>
              <a:prstDash val="solid"/>
              <a:round/>
              <a:headEnd type="none" w="med" len="med"/>
              <a:tailEnd type="none" w="med" len="med"/>
            </a:ln>
          </p:spPr>
        </p:sp>
        <p:sp>
          <p:nvSpPr>
            <p:cNvPr id="113673" name="直接连接符 253961"/>
            <p:cNvSpPr/>
            <p:nvPr/>
          </p:nvSpPr>
          <p:spPr>
            <a:xfrm>
              <a:off x="3168" y="2839"/>
              <a:ext cx="0" cy="163"/>
            </a:xfrm>
            <a:prstGeom prst="line">
              <a:avLst/>
            </a:prstGeom>
            <a:ln w="25400" cap="flat" cmpd="sng">
              <a:solidFill>
                <a:schemeClr val="tx1"/>
              </a:solidFill>
              <a:prstDash val="solid"/>
              <a:round/>
              <a:headEnd type="none" w="med" len="med"/>
              <a:tailEnd type="none" w="med" len="med"/>
            </a:ln>
          </p:spPr>
        </p:sp>
        <p:sp>
          <p:nvSpPr>
            <p:cNvPr id="113674" name="直接连接符 253962"/>
            <p:cNvSpPr/>
            <p:nvPr/>
          </p:nvSpPr>
          <p:spPr>
            <a:xfrm flipV="1">
              <a:off x="3176" y="2823"/>
              <a:ext cx="272" cy="195"/>
            </a:xfrm>
            <a:prstGeom prst="line">
              <a:avLst/>
            </a:prstGeom>
            <a:ln w="25400" cap="flat" cmpd="sng">
              <a:solidFill>
                <a:schemeClr val="tx1"/>
              </a:solidFill>
              <a:prstDash val="solid"/>
              <a:round/>
              <a:headEnd type="none" w="med" len="med"/>
              <a:tailEnd type="none" w="med" len="med"/>
            </a:ln>
          </p:spPr>
        </p:sp>
      </p:grpSp>
      <p:sp>
        <p:nvSpPr>
          <p:cNvPr id="113675" name="直接连接符 253963"/>
          <p:cNvSpPr/>
          <p:nvPr/>
        </p:nvSpPr>
        <p:spPr>
          <a:xfrm flipH="1">
            <a:off x="5461000" y="4210050"/>
            <a:ext cx="2336800" cy="0"/>
          </a:xfrm>
          <a:prstGeom prst="line">
            <a:avLst/>
          </a:prstGeom>
          <a:ln w="50800" cap="flat" cmpd="sng">
            <a:solidFill>
              <a:schemeClr val="accent1"/>
            </a:solidFill>
            <a:prstDash val="solid"/>
            <a:round/>
            <a:headEnd type="triangle" w="med" len="med"/>
            <a:tailEnd type="none" w="med" len="med"/>
          </a:ln>
        </p:spPr>
      </p:sp>
      <p:sp>
        <p:nvSpPr>
          <p:cNvPr id="113676" name="直接连接符 253964"/>
          <p:cNvSpPr/>
          <p:nvPr/>
        </p:nvSpPr>
        <p:spPr>
          <a:xfrm flipH="1">
            <a:off x="5861050" y="4146550"/>
            <a:ext cx="88900" cy="128588"/>
          </a:xfrm>
          <a:prstGeom prst="line">
            <a:avLst/>
          </a:prstGeom>
          <a:ln w="12700" cap="flat" cmpd="sng">
            <a:solidFill>
              <a:schemeClr val="tx1"/>
            </a:solidFill>
            <a:prstDash val="solid"/>
            <a:round/>
            <a:headEnd type="none" w="med" len="med"/>
            <a:tailEnd type="none" w="med" len="med"/>
          </a:ln>
        </p:spPr>
      </p:sp>
      <p:sp>
        <p:nvSpPr>
          <p:cNvPr id="113677" name="矩形 253965"/>
          <p:cNvSpPr/>
          <p:nvPr/>
        </p:nvSpPr>
        <p:spPr>
          <a:xfrm>
            <a:off x="5548313" y="42084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3678" name="直接连接符 253966"/>
          <p:cNvSpPr/>
          <p:nvPr/>
        </p:nvSpPr>
        <p:spPr>
          <a:xfrm>
            <a:off x="5257800" y="3289300"/>
            <a:ext cx="0" cy="482600"/>
          </a:xfrm>
          <a:prstGeom prst="line">
            <a:avLst/>
          </a:prstGeom>
          <a:ln w="25400" cap="flat" cmpd="sng">
            <a:solidFill>
              <a:schemeClr val="tx1"/>
            </a:solidFill>
            <a:prstDash val="solid"/>
            <a:round/>
            <a:headEnd type="none" w="med" len="med"/>
            <a:tailEnd type="triangle" w="med" len="med"/>
          </a:ln>
        </p:spPr>
      </p:sp>
      <p:sp>
        <p:nvSpPr>
          <p:cNvPr id="113679" name="矩形 253967"/>
          <p:cNvSpPr/>
          <p:nvPr/>
        </p:nvSpPr>
        <p:spPr>
          <a:xfrm>
            <a:off x="3862388" y="3059113"/>
            <a:ext cx="1533525" cy="363537"/>
          </a:xfrm>
          <a:prstGeom prst="rect">
            <a:avLst/>
          </a:prstGeom>
          <a:noFill/>
          <a:ln w="12700">
            <a:noFill/>
          </a:ln>
        </p:spPr>
        <p:txBody>
          <a:bodyPr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ALUctr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Or</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3680" name="矩形 253968"/>
          <p:cNvSpPr/>
          <p:nvPr/>
        </p:nvSpPr>
        <p:spPr>
          <a:xfrm>
            <a:off x="1062038" y="43592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3681" name="矩形 253969"/>
          <p:cNvSpPr/>
          <p:nvPr/>
        </p:nvSpPr>
        <p:spPr>
          <a:xfrm>
            <a:off x="671513" y="3781425"/>
            <a:ext cx="803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113682" name="矩形 253970"/>
          <p:cNvSpPr/>
          <p:nvPr/>
        </p:nvSpPr>
        <p:spPr>
          <a:xfrm>
            <a:off x="1755775" y="3654425"/>
            <a:ext cx="1431925" cy="11303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683" name="直接连接符 253971"/>
          <p:cNvSpPr/>
          <p:nvPr/>
        </p:nvSpPr>
        <p:spPr>
          <a:xfrm>
            <a:off x="1793875" y="4560888"/>
            <a:ext cx="250825" cy="63500"/>
          </a:xfrm>
          <a:prstGeom prst="line">
            <a:avLst/>
          </a:prstGeom>
          <a:ln w="25400" cap="flat" cmpd="sng">
            <a:solidFill>
              <a:schemeClr val="tx1"/>
            </a:solidFill>
            <a:prstDash val="solid"/>
            <a:round/>
            <a:headEnd type="none" w="med" len="med"/>
            <a:tailEnd type="none" w="med" len="med"/>
          </a:ln>
        </p:spPr>
      </p:sp>
      <p:sp>
        <p:nvSpPr>
          <p:cNvPr id="113684" name="直接连接符 253972"/>
          <p:cNvSpPr/>
          <p:nvPr/>
        </p:nvSpPr>
        <p:spPr>
          <a:xfrm flipH="1">
            <a:off x="1768475" y="4649788"/>
            <a:ext cx="301625" cy="98425"/>
          </a:xfrm>
          <a:prstGeom prst="line">
            <a:avLst/>
          </a:prstGeom>
          <a:ln w="25400" cap="flat" cmpd="sng">
            <a:solidFill>
              <a:schemeClr val="tx1"/>
            </a:solidFill>
            <a:prstDash val="solid"/>
            <a:round/>
            <a:headEnd type="none" w="med" len="med"/>
            <a:tailEnd type="none" w="med" len="med"/>
          </a:ln>
        </p:spPr>
      </p:sp>
      <p:sp>
        <p:nvSpPr>
          <p:cNvPr id="113685" name="椭圆 253973"/>
          <p:cNvSpPr/>
          <p:nvPr/>
        </p:nvSpPr>
        <p:spPr>
          <a:xfrm>
            <a:off x="1603375" y="4595813"/>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686" name="矩形 253974"/>
          <p:cNvSpPr/>
          <p:nvPr/>
        </p:nvSpPr>
        <p:spPr>
          <a:xfrm>
            <a:off x="769938" y="3140075"/>
            <a:ext cx="12922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RegWr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3687" name="直接连接符 253975"/>
          <p:cNvSpPr/>
          <p:nvPr/>
        </p:nvSpPr>
        <p:spPr>
          <a:xfrm flipH="1">
            <a:off x="736600" y="4140200"/>
            <a:ext cx="1041400" cy="0"/>
          </a:xfrm>
          <a:prstGeom prst="line">
            <a:avLst/>
          </a:prstGeom>
          <a:ln w="50800" cap="flat" cmpd="sng">
            <a:solidFill>
              <a:schemeClr val="accent1"/>
            </a:solidFill>
            <a:prstDash val="solid"/>
            <a:round/>
            <a:headEnd type="triangle" w="med" len="med"/>
            <a:tailEnd type="none" w="med" len="med"/>
          </a:ln>
        </p:spPr>
      </p:sp>
      <p:sp>
        <p:nvSpPr>
          <p:cNvPr id="113688" name="直接连接符 253976"/>
          <p:cNvSpPr/>
          <p:nvPr/>
        </p:nvSpPr>
        <p:spPr>
          <a:xfrm flipH="1">
            <a:off x="1212850" y="4075113"/>
            <a:ext cx="88900" cy="128587"/>
          </a:xfrm>
          <a:prstGeom prst="line">
            <a:avLst/>
          </a:prstGeom>
          <a:ln w="12700" cap="flat" cmpd="sng">
            <a:solidFill>
              <a:schemeClr val="tx1"/>
            </a:solidFill>
            <a:prstDash val="solid"/>
            <a:round/>
            <a:headEnd type="none" w="med" len="med"/>
            <a:tailEnd type="none" w="med" len="med"/>
          </a:ln>
        </p:spPr>
      </p:sp>
      <p:sp>
        <p:nvSpPr>
          <p:cNvPr id="113689" name="矩形 253977"/>
          <p:cNvSpPr/>
          <p:nvPr/>
        </p:nvSpPr>
        <p:spPr>
          <a:xfrm>
            <a:off x="976313" y="413702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3690" name="直接连接符 253978"/>
          <p:cNvSpPr/>
          <p:nvPr/>
        </p:nvSpPr>
        <p:spPr>
          <a:xfrm>
            <a:off x="3225800" y="3784600"/>
            <a:ext cx="1778000" cy="0"/>
          </a:xfrm>
          <a:prstGeom prst="line">
            <a:avLst/>
          </a:prstGeom>
          <a:ln w="50800" cap="flat" cmpd="sng">
            <a:solidFill>
              <a:schemeClr val="accent1"/>
            </a:solidFill>
            <a:prstDash val="solid"/>
            <a:round/>
            <a:headEnd type="none" w="med" len="med"/>
            <a:tailEnd type="triangle" w="med" len="med"/>
          </a:ln>
        </p:spPr>
      </p:sp>
      <p:sp>
        <p:nvSpPr>
          <p:cNvPr id="113691" name="直接连接符 253979"/>
          <p:cNvSpPr/>
          <p:nvPr/>
        </p:nvSpPr>
        <p:spPr>
          <a:xfrm flipH="1">
            <a:off x="4184650" y="3719513"/>
            <a:ext cx="88900" cy="130175"/>
          </a:xfrm>
          <a:prstGeom prst="line">
            <a:avLst/>
          </a:prstGeom>
          <a:ln w="12700" cap="flat" cmpd="sng">
            <a:solidFill>
              <a:schemeClr val="tx1"/>
            </a:solidFill>
            <a:prstDash val="solid"/>
            <a:round/>
            <a:headEnd type="none" w="med" len="med"/>
            <a:tailEnd type="none" w="med" len="med"/>
          </a:ln>
        </p:spPr>
      </p:sp>
      <p:sp>
        <p:nvSpPr>
          <p:cNvPr id="113692" name="矩形 253980"/>
          <p:cNvSpPr/>
          <p:nvPr/>
        </p:nvSpPr>
        <p:spPr>
          <a:xfrm>
            <a:off x="3871913" y="38528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3693" name="矩形 253981"/>
          <p:cNvSpPr/>
          <p:nvPr/>
        </p:nvSpPr>
        <p:spPr>
          <a:xfrm>
            <a:off x="3541713" y="3408363"/>
            <a:ext cx="7524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113694" name="直接连接符 253982"/>
          <p:cNvSpPr/>
          <p:nvPr/>
        </p:nvSpPr>
        <p:spPr>
          <a:xfrm flipV="1">
            <a:off x="1905000" y="3416300"/>
            <a:ext cx="0" cy="238125"/>
          </a:xfrm>
          <a:prstGeom prst="line">
            <a:avLst/>
          </a:prstGeom>
          <a:ln w="25400" cap="flat" cmpd="sng">
            <a:solidFill>
              <a:schemeClr val="tx1"/>
            </a:solidFill>
            <a:prstDash val="solid"/>
            <a:round/>
            <a:headEnd type="none" w="med" len="med"/>
            <a:tailEnd type="none" w="med" len="med"/>
          </a:ln>
        </p:spPr>
      </p:sp>
      <p:sp>
        <p:nvSpPr>
          <p:cNvPr id="113695" name="直接连接符 253983"/>
          <p:cNvSpPr/>
          <p:nvPr/>
        </p:nvSpPr>
        <p:spPr>
          <a:xfrm>
            <a:off x="3213100" y="4484688"/>
            <a:ext cx="965200" cy="0"/>
          </a:xfrm>
          <a:prstGeom prst="line">
            <a:avLst/>
          </a:prstGeom>
          <a:ln w="25400" cap="flat" cmpd="sng">
            <a:solidFill>
              <a:schemeClr val="tx1"/>
            </a:solidFill>
            <a:prstDash val="solid"/>
            <a:round/>
            <a:headEnd type="none" w="med" len="med"/>
            <a:tailEnd type="triangle" w="med" len="med"/>
          </a:ln>
        </p:spPr>
      </p:sp>
      <p:sp>
        <p:nvSpPr>
          <p:cNvPr id="113696" name="直接连接符 253984"/>
          <p:cNvSpPr/>
          <p:nvPr/>
        </p:nvSpPr>
        <p:spPr>
          <a:xfrm flipV="1">
            <a:off x="3663950" y="4337050"/>
            <a:ext cx="139700" cy="241300"/>
          </a:xfrm>
          <a:prstGeom prst="line">
            <a:avLst/>
          </a:prstGeom>
          <a:ln w="12700" cap="flat" cmpd="sng">
            <a:solidFill>
              <a:schemeClr val="tx1"/>
            </a:solidFill>
            <a:prstDash val="solid"/>
            <a:round/>
            <a:headEnd type="none" w="med" len="med"/>
            <a:tailEnd type="none" w="med" len="med"/>
          </a:ln>
        </p:spPr>
      </p:sp>
      <p:sp>
        <p:nvSpPr>
          <p:cNvPr id="113697" name="矩形 253985"/>
          <p:cNvSpPr/>
          <p:nvPr/>
        </p:nvSpPr>
        <p:spPr>
          <a:xfrm>
            <a:off x="3262313" y="448151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3698" name="矩形 253986"/>
          <p:cNvSpPr/>
          <p:nvPr/>
        </p:nvSpPr>
        <p:spPr>
          <a:xfrm>
            <a:off x="3186113" y="4121150"/>
            <a:ext cx="7524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113699" name="直接连接符 253987"/>
          <p:cNvSpPr/>
          <p:nvPr/>
        </p:nvSpPr>
        <p:spPr>
          <a:xfrm flipH="1">
            <a:off x="1130300" y="4637088"/>
            <a:ext cx="482600" cy="0"/>
          </a:xfrm>
          <a:prstGeom prst="line">
            <a:avLst/>
          </a:prstGeom>
          <a:ln w="25400" cap="flat" cmpd="sng">
            <a:solidFill>
              <a:schemeClr val="tx1"/>
            </a:solidFill>
            <a:prstDash val="solid"/>
            <a:round/>
            <a:headEnd type="none" w="med" len="med"/>
            <a:tailEnd type="none" w="med" len="med"/>
          </a:ln>
        </p:spPr>
      </p:sp>
      <p:sp>
        <p:nvSpPr>
          <p:cNvPr id="113700" name="直接连接符 253988"/>
          <p:cNvSpPr/>
          <p:nvPr/>
        </p:nvSpPr>
        <p:spPr>
          <a:xfrm>
            <a:off x="3048000" y="3228975"/>
            <a:ext cx="0" cy="400050"/>
          </a:xfrm>
          <a:prstGeom prst="line">
            <a:avLst/>
          </a:prstGeom>
          <a:ln w="25400" cap="flat" cmpd="sng">
            <a:solidFill>
              <a:schemeClr val="tx1"/>
            </a:solidFill>
            <a:prstDash val="solid"/>
            <a:round/>
            <a:headEnd type="none" w="med" len="med"/>
            <a:tailEnd type="none" w="med" len="med"/>
          </a:ln>
        </p:spPr>
      </p:sp>
      <p:sp>
        <p:nvSpPr>
          <p:cNvPr id="113701" name="直接连接符 253989"/>
          <p:cNvSpPr/>
          <p:nvPr/>
        </p:nvSpPr>
        <p:spPr>
          <a:xfrm flipV="1">
            <a:off x="2978150" y="3351213"/>
            <a:ext cx="139700" cy="155575"/>
          </a:xfrm>
          <a:prstGeom prst="line">
            <a:avLst/>
          </a:prstGeom>
          <a:ln w="12700" cap="flat" cmpd="sng">
            <a:solidFill>
              <a:schemeClr val="tx1"/>
            </a:solidFill>
            <a:prstDash val="solid"/>
            <a:round/>
            <a:headEnd type="none" w="med" len="med"/>
            <a:tailEnd type="none" w="med" len="med"/>
          </a:ln>
        </p:spPr>
      </p:sp>
      <p:sp>
        <p:nvSpPr>
          <p:cNvPr id="113702" name="矩形 253990"/>
          <p:cNvSpPr/>
          <p:nvPr/>
        </p:nvSpPr>
        <p:spPr>
          <a:xfrm>
            <a:off x="28051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3703" name="直接连接符 253991"/>
          <p:cNvSpPr/>
          <p:nvPr/>
        </p:nvSpPr>
        <p:spPr>
          <a:xfrm>
            <a:off x="2209800" y="3028950"/>
            <a:ext cx="0" cy="587375"/>
          </a:xfrm>
          <a:prstGeom prst="line">
            <a:avLst/>
          </a:prstGeom>
          <a:ln w="50800" cap="flat" cmpd="sng">
            <a:solidFill>
              <a:schemeClr val="accent1"/>
            </a:solidFill>
            <a:prstDash val="solid"/>
            <a:round/>
            <a:headEnd type="none" w="med" len="med"/>
            <a:tailEnd type="none" w="med" len="med"/>
          </a:ln>
        </p:spPr>
      </p:sp>
      <p:sp>
        <p:nvSpPr>
          <p:cNvPr id="113704" name="直接连接符 253992"/>
          <p:cNvSpPr/>
          <p:nvPr/>
        </p:nvSpPr>
        <p:spPr>
          <a:xfrm flipV="1">
            <a:off x="2139950" y="3351213"/>
            <a:ext cx="139700" cy="155575"/>
          </a:xfrm>
          <a:prstGeom prst="line">
            <a:avLst/>
          </a:prstGeom>
          <a:ln w="12700" cap="flat" cmpd="sng">
            <a:solidFill>
              <a:schemeClr val="tx1"/>
            </a:solidFill>
            <a:prstDash val="solid"/>
            <a:round/>
            <a:headEnd type="none" w="med" len="med"/>
            <a:tailEnd type="none" w="med" len="med"/>
          </a:ln>
        </p:spPr>
      </p:sp>
      <p:sp>
        <p:nvSpPr>
          <p:cNvPr id="113705" name="矩形 253993"/>
          <p:cNvSpPr/>
          <p:nvPr/>
        </p:nvSpPr>
        <p:spPr>
          <a:xfrm>
            <a:off x="1966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3706" name="直接连接符 253994"/>
          <p:cNvSpPr/>
          <p:nvPr/>
        </p:nvSpPr>
        <p:spPr>
          <a:xfrm>
            <a:off x="2590800" y="3241675"/>
            <a:ext cx="0" cy="374650"/>
          </a:xfrm>
          <a:prstGeom prst="line">
            <a:avLst/>
          </a:prstGeom>
          <a:ln w="50800" cap="flat" cmpd="sng">
            <a:solidFill>
              <a:schemeClr val="accent1"/>
            </a:solidFill>
            <a:prstDash val="solid"/>
            <a:round/>
            <a:headEnd type="none" w="med" len="med"/>
            <a:tailEnd type="none" w="med" len="med"/>
          </a:ln>
        </p:spPr>
      </p:sp>
      <p:sp>
        <p:nvSpPr>
          <p:cNvPr id="113707" name="直接连接符 253995"/>
          <p:cNvSpPr/>
          <p:nvPr/>
        </p:nvSpPr>
        <p:spPr>
          <a:xfrm flipV="1">
            <a:off x="2520950" y="3351213"/>
            <a:ext cx="139700" cy="155575"/>
          </a:xfrm>
          <a:prstGeom prst="line">
            <a:avLst/>
          </a:prstGeom>
          <a:ln w="12700" cap="flat" cmpd="sng">
            <a:solidFill>
              <a:schemeClr val="tx1"/>
            </a:solidFill>
            <a:prstDash val="solid"/>
            <a:round/>
            <a:headEnd type="none" w="med" len="med"/>
            <a:tailEnd type="none" w="med" len="med"/>
          </a:ln>
        </p:spPr>
      </p:sp>
      <p:sp>
        <p:nvSpPr>
          <p:cNvPr id="113708" name="矩形 253996"/>
          <p:cNvSpPr/>
          <p:nvPr/>
        </p:nvSpPr>
        <p:spPr>
          <a:xfrm>
            <a:off x="2347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3709" name="矩形 253997"/>
          <p:cNvSpPr/>
          <p:nvPr/>
        </p:nvSpPr>
        <p:spPr>
          <a:xfrm>
            <a:off x="1966913" y="3640138"/>
            <a:ext cx="523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113710" name="矩形 253998"/>
          <p:cNvSpPr/>
          <p:nvPr/>
        </p:nvSpPr>
        <p:spPr>
          <a:xfrm>
            <a:off x="2424113" y="3640138"/>
            <a:ext cx="4730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113711" name="矩形 253999"/>
          <p:cNvSpPr/>
          <p:nvPr/>
        </p:nvSpPr>
        <p:spPr>
          <a:xfrm>
            <a:off x="2805113" y="3640138"/>
            <a:ext cx="4857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113712" name="矩形 254000"/>
          <p:cNvSpPr/>
          <p:nvPr/>
        </p:nvSpPr>
        <p:spPr>
          <a:xfrm>
            <a:off x="1966913" y="3924300"/>
            <a:ext cx="1222375" cy="63817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pPr eaLnBrk="0" hangingPunct="0"/>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113713" name="直接连接符 254001"/>
          <p:cNvSpPr/>
          <p:nvPr/>
        </p:nvSpPr>
        <p:spPr>
          <a:xfrm flipH="1">
            <a:off x="736600" y="6172200"/>
            <a:ext cx="7823200" cy="0"/>
          </a:xfrm>
          <a:prstGeom prst="line">
            <a:avLst/>
          </a:prstGeom>
          <a:ln w="50800" cap="flat" cmpd="sng">
            <a:solidFill>
              <a:schemeClr val="accent1"/>
            </a:solidFill>
            <a:prstDash val="solid"/>
            <a:round/>
            <a:headEnd type="none" w="med" len="med"/>
            <a:tailEnd type="none" w="med" len="med"/>
          </a:ln>
        </p:spPr>
      </p:sp>
      <p:sp>
        <p:nvSpPr>
          <p:cNvPr id="113714" name="直接连接符 254002"/>
          <p:cNvSpPr/>
          <p:nvPr/>
        </p:nvSpPr>
        <p:spPr>
          <a:xfrm flipV="1">
            <a:off x="762000" y="4114800"/>
            <a:ext cx="0" cy="2082800"/>
          </a:xfrm>
          <a:prstGeom prst="line">
            <a:avLst/>
          </a:prstGeom>
          <a:ln w="50800" cap="flat" cmpd="sng">
            <a:solidFill>
              <a:schemeClr val="accent1"/>
            </a:solidFill>
            <a:prstDash val="solid"/>
            <a:round/>
            <a:headEnd type="none" w="med" len="med"/>
            <a:tailEnd type="none" w="med" len="med"/>
          </a:ln>
        </p:spPr>
      </p:sp>
      <p:sp>
        <p:nvSpPr>
          <p:cNvPr id="113715" name="矩形 254003"/>
          <p:cNvSpPr/>
          <p:nvPr/>
        </p:nvSpPr>
        <p:spPr>
          <a:xfrm>
            <a:off x="2538413" y="2974975"/>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13716" name="矩形 254004"/>
          <p:cNvSpPr/>
          <p:nvPr/>
        </p:nvSpPr>
        <p:spPr>
          <a:xfrm>
            <a:off x="2347913" y="2360613"/>
            <a:ext cx="4222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113717" name="组合 254005"/>
          <p:cNvGrpSpPr/>
          <p:nvPr/>
        </p:nvGrpSpPr>
        <p:grpSpPr>
          <a:xfrm>
            <a:off x="4191000" y="4203700"/>
            <a:ext cx="304800" cy="1227138"/>
            <a:chOff x="2640" y="2648"/>
            <a:chExt cx="192" cy="773"/>
          </a:xfrm>
        </p:grpSpPr>
        <p:sp>
          <p:nvSpPr>
            <p:cNvPr id="113718" name="直接连接符 254006"/>
            <p:cNvSpPr/>
            <p:nvPr/>
          </p:nvSpPr>
          <p:spPr>
            <a:xfrm>
              <a:off x="2640" y="2648"/>
              <a:ext cx="0" cy="757"/>
            </a:xfrm>
            <a:prstGeom prst="line">
              <a:avLst/>
            </a:prstGeom>
            <a:ln w="25400" cap="flat" cmpd="sng">
              <a:solidFill>
                <a:schemeClr val="tx1"/>
              </a:solidFill>
              <a:prstDash val="solid"/>
              <a:round/>
              <a:headEnd type="none" w="med" len="med"/>
              <a:tailEnd type="none" w="med" len="med"/>
            </a:ln>
          </p:spPr>
        </p:sp>
        <p:sp>
          <p:nvSpPr>
            <p:cNvPr id="113719" name="直接连接符 254007"/>
            <p:cNvSpPr/>
            <p:nvPr/>
          </p:nvSpPr>
          <p:spPr>
            <a:xfrm>
              <a:off x="2648" y="2648"/>
              <a:ext cx="176" cy="86"/>
            </a:xfrm>
            <a:prstGeom prst="line">
              <a:avLst/>
            </a:prstGeom>
            <a:ln w="25400" cap="flat" cmpd="sng">
              <a:solidFill>
                <a:schemeClr val="tx1"/>
              </a:solidFill>
              <a:prstDash val="solid"/>
              <a:round/>
              <a:headEnd type="none" w="med" len="med"/>
              <a:tailEnd type="none" w="med" len="med"/>
            </a:ln>
          </p:spPr>
        </p:sp>
        <p:sp>
          <p:nvSpPr>
            <p:cNvPr id="113720" name="直接连接符 254008"/>
            <p:cNvSpPr/>
            <p:nvPr/>
          </p:nvSpPr>
          <p:spPr>
            <a:xfrm flipV="1">
              <a:off x="2648" y="3303"/>
              <a:ext cx="176" cy="118"/>
            </a:xfrm>
            <a:prstGeom prst="line">
              <a:avLst/>
            </a:prstGeom>
            <a:ln w="25400" cap="flat" cmpd="sng">
              <a:solidFill>
                <a:schemeClr val="tx1"/>
              </a:solidFill>
              <a:prstDash val="solid"/>
              <a:round/>
              <a:headEnd type="none" w="med" len="med"/>
              <a:tailEnd type="none" w="med" len="med"/>
            </a:ln>
          </p:spPr>
        </p:sp>
        <p:sp>
          <p:nvSpPr>
            <p:cNvPr id="113721" name="直接连接符 254009"/>
            <p:cNvSpPr/>
            <p:nvPr/>
          </p:nvSpPr>
          <p:spPr>
            <a:xfrm>
              <a:off x="2832" y="2750"/>
              <a:ext cx="0" cy="553"/>
            </a:xfrm>
            <a:prstGeom prst="line">
              <a:avLst/>
            </a:prstGeom>
            <a:ln w="25400" cap="flat" cmpd="sng">
              <a:solidFill>
                <a:schemeClr val="tx1"/>
              </a:solidFill>
              <a:prstDash val="solid"/>
              <a:round/>
              <a:headEnd type="none" w="med" len="med"/>
              <a:tailEnd type="none" w="med" len="med"/>
            </a:ln>
          </p:spPr>
        </p:sp>
      </p:grpSp>
      <p:grpSp>
        <p:nvGrpSpPr>
          <p:cNvPr id="113722" name="组合 254010"/>
          <p:cNvGrpSpPr/>
          <p:nvPr/>
        </p:nvGrpSpPr>
        <p:grpSpPr>
          <a:xfrm>
            <a:off x="1473200" y="2754313"/>
            <a:ext cx="1168400" cy="284162"/>
            <a:chOff x="928" y="1735"/>
            <a:chExt cx="736" cy="179"/>
          </a:xfrm>
        </p:grpSpPr>
        <p:sp>
          <p:nvSpPr>
            <p:cNvPr id="113723" name="直接连接符 254011"/>
            <p:cNvSpPr/>
            <p:nvPr/>
          </p:nvSpPr>
          <p:spPr>
            <a:xfrm flipH="1">
              <a:off x="928" y="1735"/>
              <a:ext cx="736" cy="0"/>
            </a:xfrm>
            <a:prstGeom prst="line">
              <a:avLst/>
            </a:prstGeom>
            <a:ln w="25400" cap="flat" cmpd="sng">
              <a:solidFill>
                <a:schemeClr val="tx1"/>
              </a:solidFill>
              <a:prstDash val="solid"/>
              <a:round/>
              <a:headEnd type="none" w="med" len="med"/>
              <a:tailEnd type="none" w="med" len="med"/>
            </a:ln>
          </p:spPr>
        </p:sp>
        <p:sp>
          <p:nvSpPr>
            <p:cNvPr id="113724" name="直接连接符 254012"/>
            <p:cNvSpPr/>
            <p:nvPr/>
          </p:nvSpPr>
          <p:spPr>
            <a:xfrm flipH="1">
              <a:off x="1552" y="1743"/>
              <a:ext cx="112" cy="163"/>
            </a:xfrm>
            <a:prstGeom prst="line">
              <a:avLst/>
            </a:prstGeom>
            <a:ln w="25400" cap="flat" cmpd="sng">
              <a:solidFill>
                <a:schemeClr val="tx1"/>
              </a:solidFill>
              <a:prstDash val="solid"/>
              <a:round/>
              <a:headEnd type="none" w="med" len="med"/>
              <a:tailEnd type="none" w="med" len="med"/>
            </a:ln>
          </p:spPr>
        </p:sp>
        <p:sp>
          <p:nvSpPr>
            <p:cNvPr id="113725" name="直接连接符 254013"/>
            <p:cNvSpPr/>
            <p:nvPr/>
          </p:nvSpPr>
          <p:spPr>
            <a:xfrm>
              <a:off x="944" y="1743"/>
              <a:ext cx="80" cy="163"/>
            </a:xfrm>
            <a:prstGeom prst="line">
              <a:avLst/>
            </a:prstGeom>
            <a:ln w="25400" cap="flat" cmpd="sng">
              <a:solidFill>
                <a:schemeClr val="tx1"/>
              </a:solidFill>
              <a:prstDash val="solid"/>
              <a:round/>
              <a:headEnd type="none" w="med" len="med"/>
              <a:tailEnd type="none" w="med" len="med"/>
            </a:ln>
          </p:spPr>
        </p:sp>
        <p:sp>
          <p:nvSpPr>
            <p:cNvPr id="113726" name="直接连接符 254014"/>
            <p:cNvSpPr/>
            <p:nvPr/>
          </p:nvSpPr>
          <p:spPr>
            <a:xfrm flipH="1">
              <a:off x="1024" y="1914"/>
              <a:ext cx="544" cy="0"/>
            </a:xfrm>
            <a:prstGeom prst="line">
              <a:avLst/>
            </a:prstGeom>
            <a:ln w="25400" cap="flat" cmpd="sng">
              <a:solidFill>
                <a:schemeClr val="tx1"/>
              </a:solidFill>
              <a:prstDash val="solid"/>
              <a:round/>
              <a:headEnd type="none" w="med" len="med"/>
              <a:tailEnd type="none" w="med" len="med"/>
            </a:ln>
          </p:spPr>
        </p:sp>
      </p:grpSp>
      <p:sp>
        <p:nvSpPr>
          <p:cNvPr id="113727" name="矩形 254015"/>
          <p:cNvSpPr/>
          <p:nvPr/>
        </p:nvSpPr>
        <p:spPr>
          <a:xfrm>
            <a:off x="3074988" y="3013075"/>
            <a:ext cx="422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13728" name="直接连接符 254016"/>
          <p:cNvSpPr/>
          <p:nvPr/>
        </p:nvSpPr>
        <p:spPr>
          <a:xfrm>
            <a:off x="2362200" y="2530475"/>
            <a:ext cx="0" cy="163513"/>
          </a:xfrm>
          <a:prstGeom prst="line">
            <a:avLst/>
          </a:prstGeom>
          <a:ln w="50800" cap="flat" cmpd="sng">
            <a:solidFill>
              <a:schemeClr val="accent1"/>
            </a:solidFill>
            <a:prstDash val="solid"/>
            <a:round/>
            <a:headEnd type="none" w="med" len="med"/>
            <a:tailEnd type="none" w="med" len="med"/>
          </a:ln>
        </p:spPr>
      </p:sp>
      <p:sp>
        <p:nvSpPr>
          <p:cNvPr id="113729" name="直接连接符 254017"/>
          <p:cNvSpPr/>
          <p:nvPr/>
        </p:nvSpPr>
        <p:spPr>
          <a:xfrm>
            <a:off x="1752600" y="2517775"/>
            <a:ext cx="0" cy="188913"/>
          </a:xfrm>
          <a:prstGeom prst="line">
            <a:avLst/>
          </a:prstGeom>
          <a:ln w="25400" cap="flat" cmpd="sng">
            <a:solidFill>
              <a:schemeClr val="tx1"/>
            </a:solidFill>
            <a:prstDash val="solid"/>
            <a:round/>
            <a:headEnd type="none" w="med" len="med"/>
            <a:tailEnd type="none" w="med" len="med"/>
          </a:ln>
        </p:spPr>
      </p:sp>
      <p:sp>
        <p:nvSpPr>
          <p:cNvPr id="113730" name="矩形 254018"/>
          <p:cNvSpPr/>
          <p:nvPr/>
        </p:nvSpPr>
        <p:spPr>
          <a:xfrm>
            <a:off x="1738313" y="2360613"/>
            <a:ext cx="4857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13731" name="直接连接符 254019"/>
          <p:cNvSpPr/>
          <p:nvPr/>
        </p:nvSpPr>
        <p:spPr>
          <a:xfrm flipH="1">
            <a:off x="1054100" y="2895600"/>
            <a:ext cx="558800" cy="0"/>
          </a:xfrm>
          <a:prstGeom prst="line">
            <a:avLst/>
          </a:prstGeom>
          <a:ln w="25400" cap="flat" cmpd="sng">
            <a:solidFill>
              <a:schemeClr val="tx1"/>
            </a:solidFill>
            <a:prstDash val="solid"/>
            <a:round/>
            <a:headEnd type="triangle" w="med" len="med"/>
            <a:tailEnd type="none" w="med" len="med"/>
          </a:ln>
        </p:spPr>
      </p:sp>
      <p:sp>
        <p:nvSpPr>
          <p:cNvPr id="113732" name="矩形 254020"/>
          <p:cNvSpPr/>
          <p:nvPr/>
        </p:nvSpPr>
        <p:spPr>
          <a:xfrm>
            <a:off x="0" y="2505075"/>
            <a:ext cx="1355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RegDst</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3733" name="矩形 254021"/>
          <p:cNvSpPr/>
          <p:nvPr/>
        </p:nvSpPr>
        <p:spPr>
          <a:xfrm>
            <a:off x="3136900" y="48895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734" name="矩形 254022"/>
          <p:cNvSpPr/>
          <p:nvPr/>
        </p:nvSpPr>
        <p:spPr>
          <a:xfrm rot="5400000">
            <a:off x="3011488" y="4979988"/>
            <a:ext cx="5365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Ext</a:t>
            </a:r>
            <a:endParaRPr lang="en-US" altLang="zh-CN" sz="1800">
              <a:latin typeface="Arial" panose="020B0604020202020204" pitchFamily="34" charset="0"/>
              <a:ea typeface="宋体" panose="02010600030101010101" pitchFamily="2" charset="-122"/>
            </a:endParaRPr>
          </a:p>
        </p:txBody>
      </p:sp>
      <p:sp>
        <p:nvSpPr>
          <p:cNvPr id="113735" name="矩形 254023"/>
          <p:cNvSpPr/>
          <p:nvPr/>
        </p:nvSpPr>
        <p:spPr>
          <a:xfrm rot="5400000">
            <a:off x="3975100" y="4613275"/>
            <a:ext cx="638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3736" name="矩形 254024"/>
          <p:cNvSpPr/>
          <p:nvPr/>
        </p:nvSpPr>
        <p:spPr>
          <a:xfrm>
            <a:off x="1776413" y="2751138"/>
            <a:ext cx="6381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3737" name="直接连接符 254025"/>
          <p:cNvSpPr/>
          <p:nvPr/>
        </p:nvSpPr>
        <p:spPr>
          <a:xfrm>
            <a:off x="3530600" y="5276850"/>
            <a:ext cx="635000" cy="0"/>
          </a:xfrm>
          <a:prstGeom prst="line">
            <a:avLst/>
          </a:prstGeom>
          <a:ln w="50800" cap="flat" cmpd="sng">
            <a:solidFill>
              <a:schemeClr val="accent1"/>
            </a:solidFill>
            <a:prstDash val="solid"/>
            <a:round/>
            <a:headEnd type="none" w="med" len="med"/>
            <a:tailEnd type="triangle" w="med" len="med"/>
          </a:ln>
        </p:spPr>
      </p:sp>
      <p:sp>
        <p:nvSpPr>
          <p:cNvPr id="113738" name="矩形 254026"/>
          <p:cNvSpPr/>
          <p:nvPr/>
        </p:nvSpPr>
        <p:spPr>
          <a:xfrm>
            <a:off x="3509963" y="5308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3739" name="直接连接符 254027"/>
          <p:cNvSpPr/>
          <p:nvPr/>
        </p:nvSpPr>
        <p:spPr>
          <a:xfrm flipH="1">
            <a:off x="3651250" y="5211763"/>
            <a:ext cx="88900" cy="130175"/>
          </a:xfrm>
          <a:prstGeom prst="line">
            <a:avLst/>
          </a:prstGeom>
          <a:ln w="12700" cap="flat" cmpd="sng">
            <a:solidFill>
              <a:schemeClr val="tx1"/>
            </a:solidFill>
            <a:prstDash val="solid"/>
            <a:round/>
            <a:headEnd type="none" w="med" len="med"/>
            <a:tailEnd type="none" w="med" len="med"/>
          </a:ln>
        </p:spPr>
      </p:sp>
      <p:sp>
        <p:nvSpPr>
          <p:cNvPr id="113740" name="直接连接符 254028"/>
          <p:cNvSpPr/>
          <p:nvPr/>
        </p:nvSpPr>
        <p:spPr>
          <a:xfrm>
            <a:off x="2159000" y="5418138"/>
            <a:ext cx="939800" cy="0"/>
          </a:xfrm>
          <a:prstGeom prst="line">
            <a:avLst/>
          </a:prstGeom>
          <a:ln w="50800" cap="flat" cmpd="sng">
            <a:solidFill>
              <a:schemeClr val="accent1"/>
            </a:solidFill>
            <a:prstDash val="solid"/>
            <a:round/>
            <a:headEnd type="none" w="med" len="med"/>
            <a:tailEnd type="triangle" w="med" len="med"/>
          </a:ln>
        </p:spPr>
      </p:sp>
      <p:sp>
        <p:nvSpPr>
          <p:cNvPr id="113741" name="直接连接符 254029"/>
          <p:cNvSpPr/>
          <p:nvPr/>
        </p:nvSpPr>
        <p:spPr>
          <a:xfrm flipH="1">
            <a:off x="2584450" y="5354638"/>
            <a:ext cx="88900" cy="128587"/>
          </a:xfrm>
          <a:prstGeom prst="line">
            <a:avLst/>
          </a:prstGeom>
          <a:ln w="12700" cap="flat" cmpd="sng">
            <a:solidFill>
              <a:schemeClr val="tx1"/>
            </a:solidFill>
            <a:prstDash val="solid"/>
            <a:round/>
            <a:headEnd type="none" w="med" len="med"/>
            <a:tailEnd type="none" w="med" len="med"/>
          </a:ln>
        </p:spPr>
      </p:sp>
      <p:sp>
        <p:nvSpPr>
          <p:cNvPr id="113742" name="矩形 254030"/>
          <p:cNvSpPr/>
          <p:nvPr/>
        </p:nvSpPr>
        <p:spPr>
          <a:xfrm>
            <a:off x="2271713" y="54149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13743" name="矩形 254031"/>
          <p:cNvSpPr/>
          <p:nvPr/>
        </p:nvSpPr>
        <p:spPr>
          <a:xfrm>
            <a:off x="1281113" y="5260975"/>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13744" name="直接连接符 254032"/>
          <p:cNvSpPr/>
          <p:nvPr/>
        </p:nvSpPr>
        <p:spPr>
          <a:xfrm>
            <a:off x="4343400" y="5360988"/>
            <a:ext cx="0" cy="400050"/>
          </a:xfrm>
          <a:prstGeom prst="line">
            <a:avLst/>
          </a:prstGeom>
          <a:ln w="25400" cap="flat" cmpd="sng">
            <a:solidFill>
              <a:schemeClr val="tx1"/>
            </a:solidFill>
            <a:prstDash val="solid"/>
            <a:round/>
            <a:headEnd type="triangle" w="med" len="med"/>
            <a:tailEnd type="none" w="med" len="med"/>
          </a:ln>
        </p:spPr>
      </p:sp>
      <p:sp>
        <p:nvSpPr>
          <p:cNvPr id="113745" name="矩形 254033"/>
          <p:cNvSpPr/>
          <p:nvPr/>
        </p:nvSpPr>
        <p:spPr>
          <a:xfrm>
            <a:off x="3795713" y="5781675"/>
            <a:ext cx="13938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ALUSrc</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3746" name="直接连接符 254034"/>
          <p:cNvSpPr/>
          <p:nvPr/>
        </p:nvSpPr>
        <p:spPr>
          <a:xfrm>
            <a:off x="4521200" y="4637088"/>
            <a:ext cx="482600" cy="0"/>
          </a:xfrm>
          <a:prstGeom prst="line">
            <a:avLst/>
          </a:prstGeom>
          <a:ln w="50800" cap="flat" cmpd="sng">
            <a:solidFill>
              <a:schemeClr val="accent1"/>
            </a:solidFill>
            <a:prstDash val="solid"/>
            <a:round/>
            <a:headEnd type="none" w="med" len="med"/>
            <a:tailEnd type="triangle" w="med" len="med"/>
          </a:ln>
        </p:spPr>
      </p:sp>
      <p:sp>
        <p:nvSpPr>
          <p:cNvPr id="113747" name="直接连接符 254035"/>
          <p:cNvSpPr/>
          <p:nvPr/>
        </p:nvSpPr>
        <p:spPr>
          <a:xfrm>
            <a:off x="8534400" y="4519613"/>
            <a:ext cx="0" cy="1627187"/>
          </a:xfrm>
          <a:prstGeom prst="line">
            <a:avLst/>
          </a:prstGeom>
          <a:ln w="50800" cap="flat" cmpd="sng">
            <a:solidFill>
              <a:schemeClr val="accent1"/>
            </a:solidFill>
            <a:prstDash val="solid"/>
            <a:round/>
            <a:headEnd type="none" w="med" len="med"/>
            <a:tailEnd type="none" w="med" len="med"/>
          </a:ln>
        </p:spPr>
      </p:sp>
      <p:sp>
        <p:nvSpPr>
          <p:cNvPr id="113748" name="直接连接符 254036"/>
          <p:cNvSpPr/>
          <p:nvPr/>
        </p:nvSpPr>
        <p:spPr>
          <a:xfrm>
            <a:off x="3352800" y="5862638"/>
            <a:ext cx="0" cy="471487"/>
          </a:xfrm>
          <a:prstGeom prst="line">
            <a:avLst/>
          </a:prstGeom>
          <a:ln w="25400" cap="flat" cmpd="sng">
            <a:solidFill>
              <a:schemeClr val="tx1"/>
            </a:solidFill>
            <a:prstDash val="solid"/>
            <a:round/>
            <a:headEnd type="triangle" w="med" len="med"/>
            <a:tailEnd type="none" w="med" len="med"/>
          </a:ln>
        </p:spPr>
      </p:sp>
      <p:sp>
        <p:nvSpPr>
          <p:cNvPr id="113749" name="矩形 254037"/>
          <p:cNvSpPr/>
          <p:nvPr/>
        </p:nvSpPr>
        <p:spPr>
          <a:xfrm>
            <a:off x="2474913" y="6267450"/>
            <a:ext cx="1228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ExtOp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grpSp>
        <p:nvGrpSpPr>
          <p:cNvPr id="113750" name="组合 254038"/>
          <p:cNvGrpSpPr/>
          <p:nvPr/>
        </p:nvGrpSpPr>
        <p:grpSpPr>
          <a:xfrm>
            <a:off x="7772400" y="3938588"/>
            <a:ext cx="304800" cy="1255712"/>
            <a:chOff x="4896" y="2481"/>
            <a:chExt cx="192" cy="791"/>
          </a:xfrm>
        </p:grpSpPr>
        <p:sp>
          <p:nvSpPr>
            <p:cNvPr id="113751" name="直接连接符 254039"/>
            <p:cNvSpPr/>
            <p:nvPr/>
          </p:nvSpPr>
          <p:spPr>
            <a:xfrm>
              <a:off x="4896" y="2481"/>
              <a:ext cx="0" cy="775"/>
            </a:xfrm>
            <a:prstGeom prst="line">
              <a:avLst/>
            </a:prstGeom>
            <a:ln w="25400" cap="flat" cmpd="sng">
              <a:solidFill>
                <a:schemeClr val="tx1"/>
              </a:solidFill>
              <a:prstDash val="solid"/>
              <a:round/>
              <a:headEnd type="none" w="med" len="med"/>
              <a:tailEnd type="none" w="med" len="med"/>
            </a:ln>
          </p:spPr>
        </p:sp>
        <p:sp>
          <p:nvSpPr>
            <p:cNvPr id="113752" name="直接连接符 254040"/>
            <p:cNvSpPr/>
            <p:nvPr/>
          </p:nvSpPr>
          <p:spPr>
            <a:xfrm>
              <a:off x="4904" y="2481"/>
              <a:ext cx="176" cy="90"/>
            </a:xfrm>
            <a:prstGeom prst="line">
              <a:avLst/>
            </a:prstGeom>
            <a:ln w="25400" cap="flat" cmpd="sng">
              <a:solidFill>
                <a:schemeClr val="tx1"/>
              </a:solidFill>
              <a:prstDash val="solid"/>
              <a:round/>
              <a:headEnd type="none" w="med" len="med"/>
              <a:tailEnd type="none" w="med" len="med"/>
            </a:ln>
          </p:spPr>
        </p:sp>
        <p:sp>
          <p:nvSpPr>
            <p:cNvPr id="113753" name="直接连接符 254041"/>
            <p:cNvSpPr/>
            <p:nvPr/>
          </p:nvSpPr>
          <p:spPr>
            <a:xfrm flipV="1">
              <a:off x="4904" y="3150"/>
              <a:ext cx="176" cy="122"/>
            </a:xfrm>
            <a:prstGeom prst="line">
              <a:avLst/>
            </a:prstGeom>
            <a:ln w="25400" cap="flat" cmpd="sng">
              <a:solidFill>
                <a:schemeClr val="tx1"/>
              </a:solidFill>
              <a:prstDash val="solid"/>
              <a:round/>
              <a:headEnd type="none" w="med" len="med"/>
              <a:tailEnd type="none" w="med" len="med"/>
            </a:ln>
          </p:spPr>
        </p:sp>
        <p:sp>
          <p:nvSpPr>
            <p:cNvPr id="113754" name="直接连接符 254042"/>
            <p:cNvSpPr/>
            <p:nvPr/>
          </p:nvSpPr>
          <p:spPr>
            <a:xfrm>
              <a:off x="5088" y="2587"/>
              <a:ext cx="0" cy="563"/>
            </a:xfrm>
            <a:prstGeom prst="line">
              <a:avLst/>
            </a:prstGeom>
            <a:ln w="25400" cap="flat" cmpd="sng">
              <a:solidFill>
                <a:schemeClr val="tx1"/>
              </a:solidFill>
              <a:prstDash val="solid"/>
              <a:round/>
              <a:headEnd type="none" w="med" len="med"/>
              <a:tailEnd type="none" w="med" len="med"/>
            </a:ln>
          </p:spPr>
        </p:sp>
      </p:grpSp>
      <p:sp>
        <p:nvSpPr>
          <p:cNvPr id="113755" name="矩形 254043"/>
          <p:cNvSpPr/>
          <p:nvPr/>
        </p:nvSpPr>
        <p:spPr>
          <a:xfrm rot="5400000">
            <a:off x="7542213" y="4471988"/>
            <a:ext cx="638175" cy="365125"/>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3756" name="直接连接符 254044"/>
          <p:cNvSpPr/>
          <p:nvPr/>
        </p:nvSpPr>
        <p:spPr>
          <a:xfrm flipV="1">
            <a:off x="7924800" y="3559175"/>
            <a:ext cx="0" cy="450850"/>
          </a:xfrm>
          <a:prstGeom prst="line">
            <a:avLst/>
          </a:prstGeom>
          <a:ln w="25400" cap="flat" cmpd="sng">
            <a:solidFill>
              <a:schemeClr val="tx1"/>
            </a:solidFill>
            <a:prstDash val="solid"/>
            <a:round/>
            <a:headEnd type="triangle" w="med" len="med"/>
            <a:tailEnd type="none" w="med" len="med"/>
          </a:ln>
        </p:spPr>
      </p:sp>
      <p:sp>
        <p:nvSpPr>
          <p:cNvPr id="113757" name="矩形 254045"/>
          <p:cNvSpPr/>
          <p:nvPr/>
        </p:nvSpPr>
        <p:spPr>
          <a:xfrm>
            <a:off x="7277100" y="3236913"/>
            <a:ext cx="17240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MemtoReg</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3758" name="直接连接符 254046"/>
          <p:cNvSpPr/>
          <p:nvPr/>
        </p:nvSpPr>
        <p:spPr>
          <a:xfrm>
            <a:off x="8102600" y="4494213"/>
            <a:ext cx="406400" cy="0"/>
          </a:xfrm>
          <a:prstGeom prst="line">
            <a:avLst/>
          </a:prstGeom>
          <a:ln w="50800" cap="flat" cmpd="sng">
            <a:solidFill>
              <a:schemeClr val="accent1"/>
            </a:solidFill>
            <a:prstDash val="solid"/>
            <a:round/>
            <a:headEnd type="none" w="med" len="med"/>
            <a:tailEnd type="none" w="med" len="med"/>
          </a:ln>
        </p:spPr>
      </p:sp>
      <p:sp>
        <p:nvSpPr>
          <p:cNvPr id="113759" name="矩形 254047"/>
          <p:cNvSpPr/>
          <p:nvPr/>
        </p:nvSpPr>
        <p:spPr>
          <a:xfrm>
            <a:off x="6022975" y="4862513"/>
            <a:ext cx="1127125" cy="112871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760" name="直接连接符 254048"/>
          <p:cNvSpPr/>
          <p:nvPr/>
        </p:nvSpPr>
        <p:spPr>
          <a:xfrm flipH="1">
            <a:off x="5397500" y="5845175"/>
            <a:ext cx="482600" cy="0"/>
          </a:xfrm>
          <a:prstGeom prst="line">
            <a:avLst/>
          </a:prstGeom>
          <a:ln w="25400" cap="flat" cmpd="sng">
            <a:solidFill>
              <a:schemeClr val="tx1"/>
            </a:solidFill>
            <a:prstDash val="solid"/>
            <a:round/>
            <a:headEnd type="none" w="med" len="med"/>
            <a:tailEnd type="none" w="med" len="med"/>
          </a:ln>
        </p:spPr>
      </p:sp>
      <p:sp>
        <p:nvSpPr>
          <p:cNvPr id="113761" name="矩形 254049"/>
          <p:cNvSpPr/>
          <p:nvPr/>
        </p:nvSpPr>
        <p:spPr>
          <a:xfrm>
            <a:off x="5329238" y="55276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3762" name="矩形 254050"/>
          <p:cNvSpPr/>
          <p:nvPr/>
        </p:nvSpPr>
        <p:spPr>
          <a:xfrm>
            <a:off x="4633913" y="5060950"/>
            <a:ext cx="9302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Data</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In</a:t>
            </a:r>
            <a:endParaRPr lang="en-US" altLang="zh-CN" sz="1800">
              <a:latin typeface="Arial" panose="020B0604020202020204" pitchFamily="34" charset="0"/>
              <a:ea typeface="宋体" panose="02010600030101010101" pitchFamily="2" charset="-122"/>
            </a:endParaRPr>
          </a:p>
        </p:txBody>
      </p:sp>
      <p:sp>
        <p:nvSpPr>
          <p:cNvPr id="113763" name="直接连接符 254051"/>
          <p:cNvSpPr/>
          <p:nvPr/>
        </p:nvSpPr>
        <p:spPr>
          <a:xfrm>
            <a:off x="6061075" y="5768975"/>
            <a:ext cx="250825" cy="63500"/>
          </a:xfrm>
          <a:prstGeom prst="line">
            <a:avLst/>
          </a:prstGeom>
          <a:ln w="25400" cap="flat" cmpd="sng">
            <a:solidFill>
              <a:schemeClr val="tx1"/>
            </a:solidFill>
            <a:prstDash val="solid"/>
            <a:round/>
            <a:headEnd type="none" w="med" len="med"/>
            <a:tailEnd type="none" w="med" len="med"/>
          </a:ln>
        </p:spPr>
      </p:sp>
      <p:sp>
        <p:nvSpPr>
          <p:cNvPr id="113764" name="直接连接符 254052"/>
          <p:cNvSpPr/>
          <p:nvPr/>
        </p:nvSpPr>
        <p:spPr>
          <a:xfrm flipH="1">
            <a:off x="6035675" y="5857875"/>
            <a:ext cx="301625" cy="98425"/>
          </a:xfrm>
          <a:prstGeom prst="line">
            <a:avLst/>
          </a:prstGeom>
          <a:ln w="25400" cap="flat" cmpd="sng">
            <a:solidFill>
              <a:schemeClr val="tx1"/>
            </a:solidFill>
            <a:prstDash val="solid"/>
            <a:round/>
            <a:headEnd type="none" w="med" len="med"/>
            <a:tailEnd type="none" w="med" len="med"/>
          </a:ln>
        </p:spPr>
      </p:sp>
      <p:sp>
        <p:nvSpPr>
          <p:cNvPr id="113765" name="椭圆 254053"/>
          <p:cNvSpPr/>
          <p:nvPr/>
        </p:nvSpPr>
        <p:spPr>
          <a:xfrm>
            <a:off x="5870575" y="58039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766" name="矩形 254054"/>
          <p:cNvSpPr/>
          <p:nvPr/>
        </p:nvSpPr>
        <p:spPr>
          <a:xfrm>
            <a:off x="6003925" y="4845050"/>
            <a:ext cx="7778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113767" name="直接连接符 254055"/>
          <p:cNvSpPr/>
          <p:nvPr/>
        </p:nvSpPr>
        <p:spPr>
          <a:xfrm flipH="1">
            <a:off x="5016500" y="5062538"/>
            <a:ext cx="1016000" cy="0"/>
          </a:xfrm>
          <a:prstGeom prst="line">
            <a:avLst/>
          </a:prstGeom>
          <a:ln w="25400" cap="flat" cmpd="sng">
            <a:solidFill>
              <a:schemeClr val="tx1"/>
            </a:solidFill>
            <a:prstDash val="solid"/>
            <a:round/>
            <a:headEnd type="triangle" w="med" len="med"/>
            <a:tailEnd type="none" w="med" len="med"/>
          </a:ln>
        </p:spPr>
      </p:sp>
      <p:sp>
        <p:nvSpPr>
          <p:cNvPr id="113768" name="直接连接符 254056"/>
          <p:cNvSpPr/>
          <p:nvPr/>
        </p:nvSpPr>
        <p:spPr>
          <a:xfrm flipH="1">
            <a:off x="5556250" y="4999038"/>
            <a:ext cx="88900" cy="128587"/>
          </a:xfrm>
          <a:prstGeom prst="line">
            <a:avLst/>
          </a:prstGeom>
          <a:ln w="12700" cap="flat" cmpd="sng">
            <a:solidFill>
              <a:schemeClr val="tx1"/>
            </a:solidFill>
            <a:prstDash val="solid"/>
            <a:round/>
            <a:headEnd type="none" w="med" len="med"/>
            <a:tailEnd type="none" w="med" len="med"/>
          </a:ln>
        </p:spPr>
      </p:sp>
      <p:sp>
        <p:nvSpPr>
          <p:cNvPr id="113769" name="矩形 254057"/>
          <p:cNvSpPr/>
          <p:nvPr/>
        </p:nvSpPr>
        <p:spPr>
          <a:xfrm>
            <a:off x="5319713" y="51308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3770" name="直接连接符 254058"/>
          <p:cNvSpPr/>
          <p:nvPr/>
        </p:nvSpPr>
        <p:spPr>
          <a:xfrm flipV="1">
            <a:off x="6324600" y="3559175"/>
            <a:ext cx="0" cy="1303338"/>
          </a:xfrm>
          <a:prstGeom prst="line">
            <a:avLst/>
          </a:prstGeom>
          <a:ln w="25400" cap="flat" cmpd="sng">
            <a:solidFill>
              <a:schemeClr val="tx1"/>
            </a:solidFill>
            <a:prstDash val="solid"/>
            <a:round/>
            <a:headEnd type="triangle" w="med" len="med"/>
            <a:tailEnd type="none" w="med" len="med"/>
          </a:ln>
        </p:spPr>
      </p:sp>
      <p:sp>
        <p:nvSpPr>
          <p:cNvPr id="113771" name="直接连接符 254059"/>
          <p:cNvSpPr/>
          <p:nvPr/>
        </p:nvSpPr>
        <p:spPr>
          <a:xfrm>
            <a:off x="6858000" y="4222750"/>
            <a:ext cx="0" cy="614363"/>
          </a:xfrm>
          <a:prstGeom prst="line">
            <a:avLst/>
          </a:prstGeom>
          <a:ln w="25400" cap="flat" cmpd="sng">
            <a:solidFill>
              <a:schemeClr val="tx1"/>
            </a:solidFill>
            <a:prstDash val="solid"/>
            <a:round/>
            <a:headEnd type="none" w="med" len="med"/>
            <a:tailEnd type="triangle" w="med" len="med"/>
          </a:ln>
        </p:spPr>
      </p:sp>
      <p:sp>
        <p:nvSpPr>
          <p:cNvPr id="113772" name="矩形 254060"/>
          <p:cNvSpPr/>
          <p:nvPr/>
        </p:nvSpPr>
        <p:spPr>
          <a:xfrm>
            <a:off x="6615113" y="4846638"/>
            <a:ext cx="5746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113773" name="矩形 254061"/>
          <p:cNvSpPr/>
          <p:nvPr/>
        </p:nvSpPr>
        <p:spPr>
          <a:xfrm>
            <a:off x="6015038" y="5202238"/>
            <a:ext cx="10572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13774" name="直接连接符 254062"/>
          <p:cNvSpPr/>
          <p:nvPr/>
        </p:nvSpPr>
        <p:spPr>
          <a:xfrm>
            <a:off x="7327900" y="5013325"/>
            <a:ext cx="431800" cy="0"/>
          </a:xfrm>
          <a:prstGeom prst="line">
            <a:avLst/>
          </a:prstGeom>
          <a:ln w="25400" cap="flat" cmpd="sng">
            <a:solidFill>
              <a:schemeClr val="tx1"/>
            </a:solidFill>
            <a:prstDash val="solid"/>
            <a:round/>
            <a:headEnd type="none" w="med" len="med"/>
            <a:tailEnd type="triangle" w="med" len="med"/>
          </a:ln>
        </p:spPr>
      </p:sp>
      <p:sp>
        <p:nvSpPr>
          <p:cNvPr id="113775" name="直接连接符 254063"/>
          <p:cNvSpPr/>
          <p:nvPr/>
        </p:nvSpPr>
        <p:spPr>
          <a:xfrm>
            <a:off x="7315200" y="5041900"/>
            <a:ext cx="0" cy="434975"/>
          </a:xfrm>
          <a:prstGeom prst="line">
            <a:avLst/>
          </a:prstGeom>
          <a:ln w="25400" cap="flat" cmpd="sng">
            <a:solidFill>
              <a:schemeClr val="tx1"/>
            </a:solidFill>
            <a:prstDash val="solid"/>
            <a:round/>
            <a:headEnd type="none" w="med" len="med"/>
            <a:tailEnd type="none" w="med" len="med"/>
          </a:ln>
        </p:spPr>
      </p:sp>
      <p:sp>
        <p:nvSpPr>
          <p:cNvPr id="113776" name="直接连接符 254064"/>
          <p:cNvSpPr/>
          <p:nvPr/>
        </p:nvSpPr>
        <p:spPr>
          <a:xfrm flipH="1">
            <a:off x="7150100" y="5489575"/>
            <a:ext cx="177800" cy="0"/>
          </a:xfrm>
          <a:prstGeom prst="line">
            <a:avLst/>
          </a:prstGeom>
          <a:ln w="25400" cap="flat" cmpd="sng">
            <a:solidFill>
              <a:schemeClr val="tx1"/>
            </a:solidFill>
            <a:prstDash val="solid"/>
            <a:round/>
            <a:headEnd type="none" w="med" len="med"/>
            <a:tailEnd type="none" w="med" len="med"/>
          </a:ln>
        </p:spPr>
      </p:sp>
      <p:sp>
        <p:nvSpPr>
          <p:cNvPr id="113777" name="直接连接符 254065"/>
          <p:cNvSpPr/>
          <p:nvPr/>
        </p:nvSpPr>
        <p:spPr>
          <a:xfrm flipH="1">
            <a:off x="7385050" y="4948238"/>
            <a:ext cx="88900" cy="128587"/>
          </a:xfrm>
          <a:prstGeom prst="line">
            <a:avLst/>
          </a:prstGeom>
          <a:ln w="12700" cap="flat" cmpd="sng">
            <a:solidFill>
              <a:schemeClr val="tx1"/>
            </a:solidFill>
            <a:prstDash val="solid"/>
            <a:round/>
            <a:headEnd type="none" w="med" len="med"/>
            <a:tailEnd type="none" w="med" len="med"/>
          </a:ln>
        </p:spPr>
      </p:sp>
      <p:sp>
        <p:nvSpPr>
          <p:cNvPr id="113778" name="矩形 254066"/>
          <p:cNvSpPr/>
          <p:nvPr/>
        </p:nvSpPr>
        <p:spPr>
          <a:xfrm>
            <a:off x="7148513" y="46497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3779" name="矩形 254067"/>
          <p:cNvSpPr/>
          <p:nvPr/>
        </p:nvSpPr>
        <p:spPr>
          <a:xfrm>
            <a:off x="6310313" y="3513138"/>
            <a:ext cx="13811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MemWr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3780" name="直接连接符 254068"/>
          <p:cNvSpPr/>
          <p:nvPr/>
        </p:nvSpPr>
        <p:spPr>
          <a:xfrm>
            <a:off x="3810000" y="4508500"/>
            <a:ext cx="0" cy="541338"/>
          </a:xfrm>
          <a:prstGeom prst="line">
            <a:avLst/>
          </a:prstGeom>
          <a:ln w="25400" cap="flat" cmpd="sng">
            <a:solidFill>
              <a:schemeClr val="tx1"/>
            </a:solidFill>
            <a:prstDash val="solid"/>
            <a:round/>
            <a:headEnd type="none" w="med" len="med"/>
            <a:tailEnd type="none" w="med" len="med"/>
          </a:ln>
        </p:spPr>
      </p:sp>
      <p:sp>
        <p:nvSpPr>
          <p:cNvPr id="113781" name="直接连接符 254069"/>
          <p:cNvSpPr/>
          <p:nvPr/>
        </p:nvSpPr>
        <p:spPr>
          <a:xfrm>
            <a:off x="3805238" y="5054600"/>
            <a:ext cx="1211262" cy="7938"/>
          </a:xfrm>
          <a:prstGeom prst="line">
            <a:avLst/>
          </a:prstGeom>
          <a:ln w="25400" cap="flat" cmpd="sng">
            <a:solidFill>
              <a:schemeClr val="tx1"/>
            </a:solidFill>
            <a:prstDash val="solid"/>
            <a:round/>
            <a:headEnd type="none" w="med" len="med"/>
            <a:tailEnd type="none" w="med" len="med"/>
          </a:ln>
        </p:spPr>
      </p:sp>
      <p:sp>
        <p:nvSpPr>
          <p:cNvPr id="113782" name="矩形 254070"/>
          <p:cNvSpPr/>
          <p:nvPr/>
        </p:nvSpPr>
        <p:spPr>
          <a:xfrm rot="5400000">
            <a:off x="5021263" y="4068763"/>
            <a:ext cx="6508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113783" name="矩形 254071"/>
          <p:cNvSpPr/>
          <p:nvPr/>
        </p:nvSpPr>
        <p:spPr>
          <a:xfrm>
            <a:off x="4575175" y="1993900"/>
            <a:ext cx="1203325" cy="873125"/>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784" name="直接连接符 254072"/>
          <p:cNvSpPr/>
          <p:nvPr/>
        </p:nvSpPr>
        <p:spPr>
          <a:xfrm flipH="1">
            <a:off x="3949700" y="2720975"/>
            <a:ext cx="482600" cy="0"/>
          </a:xfrm>
          <a:prstGeom prst="line">
            <a:avLst/>
          </a:prstGeom>
          <a:ln w="25400" cap="flat" cmpd="sng">
            <a:solidFill>
              <a:schemeClr val="tx1"/>
            </a:solidFill>
            <a:prstDash val="solid"/>
            <a:round/>
            <a:headEnd type="none" w="med" len="med"/>
            <a:tailEnd type="none" w="med" len="med"/>
          </a:ln>
        </p:spPr>
      </p:sp>
      <p:sp>
        <p:nvSpPr>
          <p:cNvPr id="113785" name="直接连接符 254073"/>
          <p:cNvSpPr/>
          <p:nvPr/>
        </p:nvSpPr>
        <p:spPr>
          <a:xfrm>
            <a:off x="4557713" y="2630488"/>
            <a:ext cx="292100" cy="104775"/>
          </a:xfrm>
          <a:prstGeom prst="line">
            <a:avLst/>
          </a:prstGeom>
          <a:ln w="25400" cap="flat" cmpd="sng">
            <a:solidFill>
              <a:schemeClr val="tx1"/>
            </a:solidFill>
            <a:prstDash val="solid"/>
            <a:round/>
            <a:headEnd type="none" w="med" len="med"/>
            <a:tailEnd type="none" w="med" len="med"/>
          </a:ln>
        </p:spPr>
      </p:sp>
      <p:sp>
        <p:nvSpPr>
          <p:cNvPr id="113786" name="直接连接符 254074"/>
          <p:cNvSpPr/>
          <p:nvPr/>
        </p:nvSpPr>
        <p:spPr>
          <a:xfrm flipH="1">
            <a:off x="4587875" y="2733675"/>
            <a:ext cx="301625" cy="98425"/>
          </a:xfrm>
          <a:prstGeom prst="line">
            <a:avLst/>
          </a:prstGeom>
          <a:ln w="25400" cap="flat" cmpd="sng">
            <a:solidFill>
              <a:schemeClr val="tx1"/>
            </a:solidFill>
            <a:prstDash val="solid"/>
            <a:round/>
            <a:headEnd type="none" w="med" len="med"/>
            <a:tailEnd type="none" w="med" len="med"/>
          </a:ln>
        </p:spPr>
      </p:sp>
      <p:sp>
        <p:nvSpPr>
          <p:cNvPr id="113787" name="椭圆 254075"/>
          <p:cNvSpPr/>
          <p:nvPr/>
        </p:nvSpPr>
        <p:spPr>
          <a:xfrm>
            <a:off x="4422775" y="26797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788" name="矩形 254076"/>
          <p:cNvSpPr/>
          <p:nvPr/>
        </p:nvSpPr>
        <p:spPr>
          <a:xfrm>
            <a:off x="4494213" y="2078038"/>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Fetch</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Unit</a:t>
            </a:r>
            <a:endParaRPr lang="en-US" altLang="zh-CN" sz="1800">
              <a:latin typeface="Arial" panose="020B0604020202020204" pitchFamily="34" charset="0"/>
              <a:ea typeface="宋体" panose="02010600030101010101" pitchFamily="2" charset="-122"/>
            </a:endParaRPr>
          </a:p>
        </p:txBody>
      </p:sp>
      <p:sp>
        <p:nvSpPr>
          <p:cNvPr id="113789" name="矩形 254077"/>
          <p:cNvSpPr/>
          <p:nvPr/>
        </p:nvSpPr>
        <p:spPr>
          <a:xfrm>
            <a:off x="3500438" y="25304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3790" name="直接连接符 254078"/>
          <p:cNvSpPr/>
          <p:nvPr/>
        </p:nvSpPr>
        <p:spPr>
          <a:xfrm flipV="1">
            <a:off x="5638800" y="2882900"/>
            <a:ext cx="0" cy="1168400"/>
          </a:xfrm>
          <a:prstGeom prst="line">
            <a:avLst/>
          </a:prstGeom>
          <a:ln w="25400" cap="flat" cmpd="sng">
            <a:solidFill>
              <a:schemeClr val="tx1"/>
            </a:solidFill>
            <a:prstDash val="solid"/>
            <a:round/>
            <a:headEnd type="none" w="med" len="med"/>
            <a:tailEnd type="triangle" w="med" len="med"/>
          </a:ln>
        </p:spPr>
      </p:sp>
      <p:sp>
        <p:nvSpPr>
          <p:cNvPr id="113791" name="直接连接符 254079"/>
          <p:cNvSpPr/>
          <p:nvPr/>
        </p:nvSpPr>
        <p:spPr>
          <a:xfrm flipH="1">
            <a:off x="5473700" y="4038600"/>
            <a:ext cx="177800" cy="0"/>
          </a:xfrm>
          <a:prstGeom prst="line">
            <a:avLst/>
          </a:prstGeom>
          <a:ln w="25400" cap="flat" cmpd="sng">
            <a:solidFill>
              <a:schemeClr val="tx1"/>
            </a:solidFill>
            <a:prstDash val="solid"/>
            <a:round/>
            <a:headEnd type="none" w="med" len="med"/>
            <a:tailEnd type="none" w="med" len="med"/>
          </a:ln>
        </p:spPr>
      </p:sp>
      <p:sp>
        <p:nvSpPr>
          <p:cNvPr id="113792" name="矩形 254080"/>
          <p:cNvSpPr/>
          <p:nvPr/>
        </p:nvSpPr>
        <p:spPr>
          <a:xfrm>
            <a:off x="5624513" y="3505200"/>
            <a:ext cx="6762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13793" name="直接连接符 254081"/>
          <p:cNvSpPr/>
          <p:nvPr/>
        </p:nvSpPr>
        <p:spPr>
          <a:xfrm>
            <a:off x="5803900" y="2133600"/>
            <a:ext cx="2489200" cy="0"/>
          </a:xfrm>
          <a:prstGeom prst="line">
            <a:avLst/>
          </a:prstGeom>
          <a:ln w="25400" cap="flat" cmpd="sng">
            <a:solidFill>
              <a:schemeClr val="tx1"/>
            </a:solidFill>
            <a:prstDash val="solid"/>
            <a:round/>
            <a:headEnd type="none" w="med" len="med"/>
            <a:tailEnd type="triangle" w="med" len="med"/>
          </a:ln>
        </p:spPr>
      </p:sp>
      <p:sp>
        <p:nvSpPr>
          <p:cNvPr id="113794" name="矩形 254082"/>
          <p:cNvSpPr/>
          <p:nvPr/>
        </p:nvSpPr>
        <p:spPr>
          <a:xfrm>
            <a:off x="5853113" y="1744663"/>
            <a:ext cx="206692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13795" name="直接连接符 254083"/>
          <p:cNvSpPr/>
          <p:nvPr/>
        </p:nvSpPr>
        <p:spPr>
          <a:xfrm>
            <a:off x="3975100" y="2438400"/>
            <a:ext cx="584200" cy="0"/>
          </a:xfrm>
          <a:prstGeom prst="line">
            <a:avLst/>
          </a:prstGeom>
          <a:ln w="25400" cap="flat" cmpd="sng">
            <a:solidFill>
              <a:schemeClr val="tx1"/>
            </a:solidFill>
            <a:prstDash val="solid"/>
            <a:round/>
            <a:headEnd type="none" w="med" len="med"/>
            <a:tailEnd type="triangle" w="med" len="med"/>
          </a:ln>
        </p:spPr>
      </p:sp>
      <p:sp>
        <p:nvSpPr>
          <p:cNvPr id="113796" name="直接连接符 254084"/>
          <p:cNvSpPr/>
          <p:nvPr/>
        </p:nvSpPr>
        <p:spPr>
          <a:xfrm>
            <a:off x="3975100" y="2133600"/>
            <a:ext cx="584200" cy="0"/>
          </a:xfrm>
          <a:prstGeom prst="line">
            <a:avLst/>
          </a:prstGeom>
          <a:ln w="25400" cap="flat" cmpd="sng">
            <a:solidFill>
              <a:schemeClr val="tx1"/>
            </a:solidFill>
            <a:prstDash val="solid"/>
            <a:round/>
            <a:headEnd type="none" w="med" len="med"/>
            <a:tailEnd type="triangle" w="med" len="med"/>
          </a:ln>
        </p:spPr>
      </p:sp>
      <p:sp>
        <p:nvSpPr>
          <p:cNvPr id="113797" name="矩形 254085"/>
          <p:cNvSpPr/>
          <p:nvPr/>
        </p:nvSpPr>
        <p:spPr>
          <a:xfrm>
            <a:off x="2827338" y="2225675"/>
            <a:ext cx="11652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3798" name="矩形 254086"/>
          <p:cNvSpPr/>
          <p:nvPr/>
        </p:nvSpPr>
        <p:spPr>
          <a:xfrm>
            <a:off x="2674938" y="1844675"/>
            <a:ext cx="13430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3799" name="文本占位符 254087"/>
          <p:cNvSpPr>
            <a:spLocks noGrp="1"/>
          </p:cNvSpPr>
          <p:nvPr>
            <p:ph idx="1"/>
          </p:nvPr>
        </p:nvSpPr>
        <p:spPr>
          <a:xfrm>
            <a:off x="419100" y="1447800"/>
            <a:ext cx="8191500" cy="325438"/>
          </a:xfrm>
          <a:ln/>
        </p:spPr>
        <p:txBody>
          <a:bodyPr vert="horz" wrap="square" lIns="63500" tIns="25400" rIns="63500" bIns="25400" anchor="t" anchorCtr="0">
            <a:spAutoFit/>
          </a:bodyPr>
          <a:p>
            <a:r>
              <a:rPr lang="en-US" altLang="zh-CN" dirty="0" err="1">
                <a:ea typeface="宋体" panose="02010600030101010101" pitchFamily="2" charset="-122"/>
              </a:rPr>
              <a:t>R[rt</a:t>
            </a:r>
            <a:r>
              <a:rPr lang="en-US" altLang="zh-CN">
                <a:ea typeface="宋体" panose="02010600030101010101" pitchFamily="2" charset="-122"/>
              </a:rPr>
              <a:t>]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a:t>
            </a:r>
            <a:r>
              <a:rPr lang="en-US" altLang="zh-CN" dirty="0" err="1">
                <a:ea typeface="宋体" panose="02010600030101010101" pitchFamily="2" charset="-122"/>
              </a:rPr>
              <a:t>R[rs</a:t>
            </a:r>
            <a:r>
              <a:rPr lang="en-US" altLang="zh-CN">
                <a:ea typeface="宋体" panose="02010600030101010101" pitchFamily="2" charset="-122"/>
              </a:rPr>
              <a:t>]  or  ZeroExt[Imm16]</a:t>
            </a:r>
            <a:endParaRPr lang="en-US" altLang="zh-CN">
              <a:ea typeface="宋体" panose="02010600030101010101" pitchFamily="2" charset="-122"/>
            </a:endParaRPr>
          </a:p>
        </p:txBody>
      </p:sp>
      <p:sp>
        <p:nvSpPr>
          <p:cNvPr id="113800" name="矩形 254088"/>
          <p:cNvSpPr/>
          <p:nvPr/>
        </p:nvSpPr>
        <p:spPr>
          <a:xfrm>
            <a:off x="7732713" y="40386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3801" name="矩形 254089"/>
          <p:cNvSpPr/>
          <p:nvPr/>
        </p:nvSpPr>
        <p:spPr>
          <a:xfrm>
            <a:off x="7732713" y="48180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3802" name="矩形 254090"/>
          <p:cNvSpPr/>
          <p:nvPr/>
        </p:nvSpPr>
        <p:spPr>
          <a:xfrm>
            <a:off x="4151313" y="42672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3803" name="矩形 254091"/>
          <p:cNvSpPr/>
          <p:nvPr/>
        </p:nvSpPr>
        <p:spPr>
          <a:xfrm>
            <a:off x="4151313" y="50466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3804" name="矩形 254092"/>
          <p:cNvSpPr/>
          <p:nvPr/>
        </p:nvSpPr>
        <p:spPr>
          <a:xfrm>
            <a:off x="22812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3805" name="矩形 254093"/>
          <p:cNvSpPr/>
          <p:nvPr/>
        </p:nvSpPr>
        <p:spPr>
          <a:xfrm>
            <a:off x="15954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3806" name="直接连接符 254094"/>
          <p:cNvSpPr/>
          <p:nvPr/>
        </p:nvSpPr>
        <p:spPr>
          <a:xfrm>
            <a:off x="6096000" y="2146300"/>
            <a:ext cx="0" cy="889000"/>
          </a:xfrm>
          <a:prstGeom prst="line">
            <a:avLst/>
          </a:prstGeom>
          <a:ln w="25400" cap="flat" cmpd="sng">
            <a:solidFill>
              <a:schemeClr val="tx1"/>
            </a:solidFill>
            <a:prstDash val="solid"/>
            <a:round/>
            <a:headEnd type="none" w="med" len="med"/>
            <a:tailEnd type="triangle" w="med" len="med"/>
          </a:ln>
        </p:spPr>
      </p:sp>
      <p:sp>
        <p:nvSpPr>
          <p:cNvPr id="113807" name="矩形 254095"/>
          <p:cNvSpPr/>
          <p:nvPr/>
        </p:nvSpPr>
        <p:spPr>
          <a:xfrm rot="5400000">
            <a:off x="57546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&lt;21:25&gt;</a:t>
            </a:r>
            <a:endParaRPr lang="zh-CN" altLang="en-US" sz="1800" dirty="0">
              <a:latin typeface="Arial" panose="020B0604020202020204" pitchFamily="34" charset="0"/>
              <a:ea typeface="宋体" panose="02010600030101010101" pitchFamily="2" charset="-122"/>
            </a:endParaRPr>
          </a:p>
        </p:txBody>
      </p:sp>
      <p:sp>
        <p:nvSpPr>
          <p:cNvPr id="113808" name="矩形 254096"/>
          <p:cNvSpPr/>
          <p:nvPr/>
        </p:nvSpPr>
        <p:spPr>
          <a:xfrm rot="5400000">
            <a:off x="62880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&lt;16:20&gt;</a:t>
            </a:r>
            <a:endParaRPr lang="zh-CN" altLang="en-US" sz="1800" dirty="0">
              <a:latin typeface="Arial" panose="020B0604020202020204" pitchFamily="34" charset="0"/>
              <a:ea typeface="宋体" panose="02010600030101010101" pitchFamily="2" charset="-122"/>
            </a:endParaRPr>
          </a:p>
        </p:txBody>
      </p:sp>
      <p:sp>
        <p:nvSpPr>
          <p:cNvPr id="113809" name="矩形 254097"/>
          <p:cNvSpPr/>
          <p:nvPr/>
        </p:nvSpPr>
        <p:spPr>
          <a:xfrm rot="5400000">
            <a:off x="68214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&lt;11:15&gt;</a:t>
            </a:r>
            <a:endParaRPr lang="zh-CN" altLang="en-US" sz="1800" dirty="0">
              <a:latin typeface="Arial" panose="020B0604020202020204" pitchFamily="34" charset="0"/>
              <a:ea typeface="宋体" panose="02010600030101010101" pitchFamily="2" charset="-122"/>
            </a:endParaRPr>
          </a:p>
        </p:txBody>
      </p:sp>
      <p:sp>
        <p:nvSpPr>
          <p:cNvPr id="113810" name="矩形 254098"/>
          <p:cNvSpPr/>
          <p:nvPr/>
        </p:nvSpPr>
        <p:spPr>
          <a:xfrm rot="5400000">
            <a:off x="7367588" y="2408238"/>
            <a:ext cx="904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&lt;0:15&gt;</a:t>
            </a:r>
            <a:endParaRPr lang="zh-CN" altLang="en-US" sz="1800" dirty="0">
              <a:latin typeface="Arial" panose="020B0604020202020204" pitchFamily="34" charset="0"/>
              <a:ea typeface="宋体" panose="02010600030101010101" pitchFamily="2" charset="-122"/>
            </a:endParaRPr>
          </a:p>
        </p:txBody>
      </p:sp>
      <p:sp>
        <p:nvSpPr>
          <p:cNvPr id="113811" name="直接连接符 254099"/>
          <p:cNvSpPr/>
          <p:nvPr/>
        </p:nvSpPr>
        <p:spPr>
          <a:xfrm>
            <a:off x="6629400" y="2146300"/>
            <a:ext cx="0" cy="889000"/>
          </a:xfrm>
          <a:prstGeom prst="line">
            <a:avLst/>
          </a:prstGeom>
          <a:ln w="25400" cap="flat" cmpd="sng">
            <a:solidFill>
              <a:schemeClr val="tx1"/>
            </a:solidFill>
            <a:prstDash val="solid"/>
            <a:round/>
            <a:headEnd type="none" w="med" len="med"/>
            <a:tailEnd type="triangle" w="med" len="med"/>
          </a:ln>
        </p:spPr>
      </p:sp>
      <p:sp>
        <p:nvSpPr>
          <p:cNvPr id="113812" name="直接连接符 254100"/>
          <p:cNvSpPr/>
          <p:nvPr/>
        </p:nvSpPr>
        <p:spPr>
          <a:xfrm>
            <a:off x="7162800" y="2146300"/>
            <a:ext cx="0" cy="889000"/>
          </a:xfrm>
          <a:prstGeom prst="line">
            <a:avLst/>
          </a:prstGeom>
          <a:ln w="25400" cap="flat" cmpd="sng">
            <a:solidFill>
              <a:schemeClr val="tx1"/>
            </a:solidFill>
            <a:prstDash val="solid"/>
            <a:round/>
            <a:headEnd type="none" w="med" len="med"/>
            <a:tailEnd type="triangle" w="med" len="med"/>
          </a:ln>
        </p:spPr>
      </p:sp>
      <p:sp>
        <p:nvSpPr>
          <p:cNvPr id="113813" name="直接连接符 254101"/>
          <p:cNvSpPr/>
          <p:nvPr/>
        </p:nvSpPr>
        <p:spPr>
          <a:xfrm>
            <a:off x="7696200" y="2146300"/>
            <a:ext cx="0" cy="889000"/>
          </a:xfrm>
          <a:prstGeom prst="line">
            <a:avLst/>
          </a:prstGeom>
          <a:ln w="25400" cap="flat" cmpd="sng">
            <a:solidFill>
              <a:schemeClr val="tx1"/>
            </a:solidFill>
            <a:prstDash val="solid"/>
            <a:round/>
            <a:headEnd type="none" w="med" len="med"/>
            <a:tailEnd type="triangle" w="med" len="med"/>
          </a:ln>
        </p:spPr>
      </p:sp>
      <p:sp>
        <p:nvSpPr>
          <p:cNvPr id="113814" name="矩形 254102"/>
          <p:cNvSpPr/>
          <p:nvPr/>
        </p:nvSpPr>
        <p:spPr>
          <a:xfrm>
            <a:off x="7453313" y="2971800"/>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13815" name="矩形 254103"/>
          <p:cNvSpPr/>
          <p:nvPr/>
        </p:nvSpPr>
        <p:spPr>
          <a:xfrm>
            <a:off x="6919913" y="2971800"/>
            <a:ext cx="4857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13816" name="矩形 254104"/>
          <p:cNvSpPr/>
          <p:nvPr/>
        </p:nvSpPr>
        <p:spPr>
          <a:xfrm>
            <a:off x="6462713" y="29718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13817" name="矩形 254105"/>
          <p:cNvSpPr/>
          <p:nvPr/>
        </p:nvSpPr>
        <p:spPr>
          <a:xfrm>
            <a:off x="5929313" y="29718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nvGrpSpPr>
          <p:cNvPr id="113818" name="组合 254106"/>
          <p:cNvGrpSpPr/>
          <p:nvPr/>
        </p:nvGrpSpPr>
        <p:grpSpPr>
          <a:xfrm>
            <a:off x="1749425" y="609600"/>
            <a:ext cx="5975350" cy="668338"/>
            <a:chOff x="1102" y="384"/>
            <a:chExt cx="3764" cy="421"/>
          </a:xfrm>
        </p:grpSpPr>
        <p:sp>
          <p:nvSpPr>
            <p:cNvPr id="113819" name="矩形 254107"/>
            <p:cNvSpPr/>
            <p:nvPr/>
          </p:nvSpPr>
          <p:spPr>
            <a:xfrm>
              <a:off x="1167" y="584"/>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13820" name="组合 254108"/>
            <p:cNvGrpSpPr/>
            <p:nvPr/>
          </p:nvGrpSpPr>
          <p:grpSpPr>
            <a:xfrm>
              <a:off x="1163" y="576"/>
              <a:ext cx="624" cy="229"/>
              <a:chOff x="1163" y="576"/>
              <a:chExt cx="624" cy="229"/>
            </a:xfrm>
          </p:grpSpPr>
          <p:sp>
            <p:nvSpPr>
              <p:cNvPr id="113821" name="矩形 254109"/>
              <p:cNvSpPr/>
              <p:nvPr/>
            </p:nvSpPr>
            <p:spPr>
              <a:xfrm>
                <a:off x="1163" y="580"/>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822" name="矩形 254110"/>
              <p:cNvSpPr/>
              <p:nvPr/>
            </p:nvSpPr>
            <p:spPr>
              <a:xfrm>
                <a:off x="1345" y="576"/>
                <a:ext cx="2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113823" name="组合 254111"/>
            <p:cNvGrpSpPr/>
            <p:nvPr/>
          </p:nvGrpSpPr>
          <p:grpSpPr>
            <a:xfrm>
              <a:off x="1795" y="576"/>
              <a:ext cx="580" cy="229"/>
              <a:chOff x="1795" y="576"/>
              <a:chExt cx="580" cy="229"/>
            </a:xfrm>
          </p:grpSpPr>
          <p:sp>
            <p:nvSpPr>
              <p:cNvPr id="113824" name="矩形 254112"/>
              <p:cNvSpPr/>
              <p:nvPr/>
            </p:nvSpPr>
            <p:spPr>
              <a:xfrm>
                <a:off x="1795" y="580"/>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825" name="矩形 254113"/>
              <p:cNvSpPr/>
              <p:nvPr/>
            </p:nvSpPr>
            <p:spPr>
              <a:xfrm>
                <a:off x="1960" y="576"/>
                <a:ext cx="250"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113826" name="组合 254114"/>
            <p:cNvGrpSpPr/>
            <p:nvPr/>
          </p:nvGrpSpPr>
          <p:grpSpPr>
            <a:xfrm>
              <a:off x="2383" y="576"/>
              <a:ext cx="579" cy="229"/>
              <a:chOff x="2383" y="576"/>
              <a:chExt cx="579" cy="229"/>
            </a:xfrm>
          </p:grpSpPr>
          <p:sp>
            <p:nvSpPr>
              <p:cNvPr id="113827" name="矩形 254115"/>
              <p:cNvSpPr/>
              <p:nvPr/>
            </p:nvSpPr>
            <p:spPr>
              <a:xfrm>
                <a:off x="2383" y="580"/>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828" name="矩形 254116"/>
              <p:cNvSpPr/>
              <p:nvPr/>
            </p:nvSpPr>
            <p:spPr>
              <a:xfrm>
                <a:off x="2547" y="576"/>
                <a:ext cx="21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113829" name="矩形 254117"/>
            <p:cNvSpPr/>
            <p:nvPr/>
          </p:nvSpPr>
          <p:spPr>
            <a:xfrm>
              <a:off x="2970" y="580"/>
              <a:ext cx="180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3830" name="矩形 254118"/>
            <p:cNvSpPr/>
            <p:nvPr/>
          </p:nvSpPr>
          <p:spPr>
            <a:xfrm>
              <a:off x="3473" y="576"/>
              <a:ext cx="8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113831" name="矩形 254119"/>
            <p:cNvSpPr/>
            <p:nvPr/>
          </p:nvSpPr>
          <p:spPr>
            <a:xfrm>
              <a:off x="4672" y="38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13832" name="矩形 254120"/>
            <p:cNvSpPr/>
            <p:nvPr/>
          </p:nvSpPr>
          <p:spPr>
            <a:xfrm>
              <a:off x="2774"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13833" name="矩形 254121"/>
            <p:cNvSpPr/>
            <p:nvPr/>
          </p:nvSpPr>
          <p:spPr>
            <a:xfrm>
              <a:off x="2186"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113834" name="矩形 254122"/>
            <p:cNvSpPr/>
            <p:nvPr/>
          </p:nvSpPr>
          <p:spPr>
            <a:xfrm>
              <a:off x="1598"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13835" name="矩形 254123"/>
            <p:cNvSpPr/>
            <p:nvPr/>
          </p:nvSpPr>
          <p:spPr>
            <a:xfrm>
              <a:off x="1102"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254125" name="直接连接符 254124"/>
          <p:cNvSpPr/>
          <p:nvPr/>
        </p:nvSpPr>
        <p:spPr>
          <a:xfrm flipH="1">
            <a:off x="5456238" y="4205288"/>
            <a:ext cx="2336800" cy="0"/>
          </a:xfrm>
          <a:prstGeom prst="line">
            <a:avLst/>
          </a:prstGeom>
          <a:ln w="50800" cap="flat" cmpd="sng">
            <a:solidFill>
              <a:srgbClr val="0000FF"/>
            </a:solidFill>
            <a:prstDash val="solid"/>
            <a:round/>
            <a:headEnd type="triangle" w="med" len="med"/>
            <a:tailEnd type="none" w="med" len="med"/>
          </a:ln>
        </p:spPr>
      </p:sp>
      <p:sp>
        <p:nvSpPr>
          <p:cNvPr id="254126" name="直接连接符 254125"/>
          <p:cNvSpPr/>
          <p:nvPr/>
        </p:nvSpPr>
        <p:spPr>
          <a:xfrm>
            <a:off x="5253038" y="3284538"/>
            <a:ext cx="0" cy="482600"/>
          </a:xfrm>
          <a:prstGeom prst="line">
            <a:avLst/>
          </a:prstGeom>
          <a:ln w="25400" cap="flat" cmpd="sng">
            <a:solidFill>
              <a:srgbClr val="0000FF"/>
            </a:solidFill>
            <a:prstDash val="solid"/>
            <a:round/>
            <a:headEnd type="none" w="med" len="med"/>
            <a:tailEnd type="triangle" w="med" len="med"/>
          </a:ln>
        </p:spPr>
      </p:sp>
      <p:grpSp>
        <p:nvGrpSpPr>
          <p:cNvPr id="254127" name="组合 254126"/>
          <p:cNvGrpSpPr/>
          <p:nvPr/>
        </p:nvGrpSpPr>
        <p:grpSpPr>
          <a:xfrm>
            <a:off x="2600325" y="3236913"/>
            <a:ext cx="2413000" cy="557212"/>
            <a:chOff x="1638" y="2039"/>
            <a:chExt cx="1520" cy="351"/>
          </a:xfrm>
        </p:grpSpPr>
        <p:sp>
          <p:nvSpPr>
            <p:cNvPr id="113839" name="直接连接符 254127"/>
            <p:cNvSpPr/>
            <p:nvPr/>
          </p:nvSpPr>
          <p:spPr>
            <a:xfrm>
              <a:off x="2038" y="2390"/>
              <a:ext cx="1120" cy="0"/>
            </a:xfrm>
            <a:prstGeom prst="line">
              <a:avLst/>
            </a:prstGeom>
            <a:ln w="50800" cap="flat" cmpd="sng">
              <a:solidFill>
                <a:srgbClr val="0000FF"/>
              </a:solidFill>
              <a:prstDash val="solid"/>
              <a:round/>
              <a:headEnd type="none" w="med" len="med"/>
              <a:tailEnd type="triangle" w="med" len="med"/>
            </a:ln>
          </p:spPr>
        </p:sp>
        <p:sp>
          <p:nvSpPr>
            <p:cNvPr id="113840" name="直接连接符 254128"/>
            <p:cNvSpPr/>
            <p:nvPr/>
          </p:nvSpPr>
          <p:spPr>
            <a:xfrm>
              <a:off x="1638" y="2039"/>
              <a:ext cx="0" cy="236"/>
            </a:xfrm>
            <a:prstGeom prst="line">
              <a:avLst/>
            </a:prstGeom>
            <a:ln w="50800" cap="flat" cmpd="sng">
              <a:solidFill>
                <a:srgbClr val="0000FF"/>
              </a:solidFill>
              <a:prstDash val="solid"/>
              <a:round/>
              <a:headEnd type="none" w="med" len="med"/>
              <a:tailEnd type="none" w="med" len="med"/>
            </a:ln>
          </p:spPr>
        </p:sp>
      </p:grpSp>
      <p:grpSp>
        <p:nvGrpSpPr>
          <p:cNvPr id="254130" name="组合 254129"/>
          <p:cNvGrpSpPr/>
          <p:nvPr/>
        </p:nvGrpSpPr>
        <p:grpSpPr>
          <a:xfrm>
            <a:off x="1049338" y="2525713"/>
            <a:ext cx="1322387" cy="1123950"/>
            <a:chOff x="661" y="1591"/>
            <a:chExt cx="833" cy="708"/>
          </a:xfrm>
        </p:grpSpPr>
        <p:sp>
          <p:nvSpPr>
            <p:cNvPr id="113842" name="直接连接符 254130"/>
            <p:cNvSpPr/>
            <p:nvPr/>
          </p:nvSpPr>
          <p:spPr>
            <a:xfrm flipV="1">
              <a:off x="1197" y="2149"/>
              <a:ext cx="0" cy="150"/>
            </a:xfrm>
            <a:prstGeom prst="line">
              <a:avLst/>
            </a:prstGeom>
            <a:ln w="25400" cap="flat" cmpd="sng">
              <a:solidFill>
                <a:srgbClr val="0000FF"/>
              </a:solidFill>
              <a:prstDash val="solid"/>
              <a:round/>
              <a:headEnd type="none" w="med" len="med"/>
              <a:tailEnd type="none" w="med" len="med"/>
            </a:ln>
          </p:spPr>
        </p:sp>
        <p:sp>
          <p:nvSpPr>
            <p:cNvPr id="113843" name="直接连接符 254131"/>
            <p:cNvSpPr/>
            <p:nvPr/>
          </p:nvSpPr>
          <p:spPr>
            <a:xfrm>
              <a:off x="1389" y="1905"/>
              <a:ext cx="0" cy="370"/>
            </a:xfrm>
            <a:prstGeom prst="line">
              <a:avLst/>
            </a:prstGeom>
            <a:ln w="50800" cap="flat" cmpd="sng">
              <a:solidFill>
                <a:srgbClr val="0000FF"/>
              </a:solidFill>
              <a:prstDash val="solid"/>
              <a:round/>
              <a:headEnd type="none" w="med" len="med"/>
              <a:tailEnd type="none" w="med" len="med"/>
            </a:ln>
          </p:spPr>
        </p:sp>
        <p:sp>
          <p:nvSpPr>
            <p:cNvPr id="113844" name="直接连接符 254132"/>
            <p:cNvSpPr/>
            <p:nvPr/>
          </p:nvSpPr>
          <p:spPr>
            <a:xfrm>
              <a:off x="1494" y="1591"/>
              <a:ext cx="0" cy="103"/>
            </a:xfrm>
            <a:prstGeom prst="line">
              <a:avLst/>
            </a:prstGeom>
            <a:ln w="50800" cap="flat" cmpd="sng">
              <a:solidFill>
                <a:srgbClr val="0000FF"/>
              </a:solidFill>
              <a:prstDash val="solid"/>
              <a:round/>
              <a:headEnd type="none" w="med" len="med"/>
              <a:tailEnd type="none" w="med" len="med"/>
            </a:ln>
          </p:spPr>
        </p:sp>
        <p:sp>
          <p:nvSpPr>
            <p:cNvPr id="113845" name="直接连接符 254133"/>
            <p:cNvSpPr/>
            <p:nvPr/>
          </p:nvSpPr>
          <p:spPr>
            <a:xfrm flipH="1">
              <a:off x="661" y="1830"/>
              <a:ext cx="352" cy="0"/>
            </a:xfrm>
            <a:prstGeom prst="line">
              <a:avLst/>
            </a:prstGeom>
            <a:ln w="25400" cap="flat" cmpd="sng">
              <a:solidFill>
                <a:srgbClr val="0000FF"/>
              </a:solidFill>
              <a:prstDash val="solid"/>
              <a:round/>
              <a:headEnd type="triangle" w="med" len="med"/>
              <a:tailEnd type="none" w="med" len="med"/>
            </a:ln>
          </p:spPr>
        </p:sp>
      </p:grpSp>
      <p:grpSp>
        <p:nvGrpSpPr>
          <p:cNvPr id="254135" name="组合 254134"/>
          <p:cNvGrpSpPr/>
          <p:nvPr/>
        </p:nvGrpSpPr>
        <p:grpSpPr>
          <a:xfrm>
            <a:off x="2154238" y="4632325"/>
            <a:ext cx="2859087" cy="1697038"/>
            <a:chOff x="1357" y="2918"/>
            <a:chExt cx="1801" cy="1069"/>
          </a:xfrm>
        </p:grpSpPr>
        <p:sp>
          <p:nvSpPr>
            <p:cNvPr id="113847" name="直接连接符 254135"/>
            <p:cNvSpPr/>
            <p:nvPr/>
          </p:nvSpPr>
          <p:spPr>
            <a:xfrm>
              <a:off x="2221" y="3330"/>
              <a:ext cx="400" cy="0"/>
            </a:xfrm>
            <a:prstGeom prst="line">
              <a:avLst/>
            </a:prstGeom>
            <a:ln w="50800" cap="flat" cmpd="sng">
              <a:solidFill>
                <a:srgbClr val="0000FF"/>
              </a:solidFill>
              <a:prstDash val="solid"/>
              <a:round/>
              <a:headEnd type="none" w="med" len="med"/>
              <a:tailEnd type="triangle" w="med" len="med"/>
            </a:ln>
          </p:spPr>
        </p:sp>
        <p:sp>
          <p:nvSpPr>
            <p:cNvPr id="113848" name="直接连接符 254136"/>
            <p:cNvSpPr/>
            <p:nvPr/>
          </p:nvSpPr>
          <p:spPr>
            <a:xfrm>
              <a:off x="1357" y="3410"/>
              <a:ext cx="592" cy="0"/>
            </a:xfrm>
            <a:prstGeom prst="line">
              <a:avLst/>
            </a:prstGeom>
            <a:ln w="50800" cap="flat" cmpd="sng">
              <a:solidFill>
                <a:srgbClr val="0000FF"/>
              </a:solidFill>
              <a:prstDash val="solid"/>
              <a:round/>
              <a:headEnd type="none" w="med" len="med"/>
              <a:tailEnd type="triangle" w="med" len="med"/>
            </a:ln>
          </p:spPr>
        </p:sp>
        <p:sp>
          <p:nvSpPr>
            <p:cNvPr id="113849" name="直接连接符 254137"/>
            <p:cNvSpPr/>
            <p:nvPr/>
          </p:nvSpPr>
          <p:spPr>
            <a:xfrm>
              <a:off x="2854" y="2918"/>
              <a:ext cx="304" cy="0"/>
            </a:xfrm>
            <a:prstGeom prst="line">
              <a:avLst/>
            </a:prstGeom>
            <a:ln w="50800" cap="flat" cmpd="sng">
              <a:solidFill>
                <a:srgbClr val="0000FF"/>
              </a:solidFill>
              <a:prstDash val="solid"/>
              <a:round/>
              <a:headEnd type="none" w="med" len="med"/>
              <a:tailEnd type="triangle" w="med" len="med"/>
            </a:ln>
          </p:spPr>
        </p:sp>
        <p:grpSp>
          <p:nvGrpSpPr>
            <p:cNvPr id="113850" name="组合 254138"/>
            <p:cNvGrpSpPr/>
            <p:nvPr/>
          </p:nvGrpSpPr>
          <p:grpSpPr>
            <a:xfrm>
              <a:off x="2109" y="3374"/>
              <a:ext cx="624" cy="613"/>
              <a:chOff x="2109" y="3374"/>
              <a:chExt cx="624" cy="613"/>
            </a:xfrm>
          </p:grpSpPr>
          <p:sp>
            <p:nvSpPr>
              <p:cNvPr id="113851" name="直接连接符 254139"/>
              <p:cNvSpPr/>
              <p:nvPr/>
            </p:nvSpPr>
            <p:spPr>
              <a:xfrm>
                <a:off x="2733" y="3374"/>
                <a:ext cx="0" cy="252"/>
              </a:xfrm>
              <a:prstGeom prst="line">
                <a:avLst/>
              </a:prstGeom>
              <a:ln w="25400" cap="flat" cmpd="sng">
                <a:solidFill>
                  <a:srgbClr val="0000FF"/>
                </a:solidFill>
                <a:prstDash val="solid"/>
                <a:round/>
                <a:headEnd type="triangle" w="med" len="med"/>
                <a:tailEnd type="none" w="med" len="med"/>
              </a:ln>
            </p:spPr>
          </p:sp>
          <p:sp>
            <p:nvSpPr>
              <p:cNvPr id="113852" name="直接连接符 254140"/>
              <p:cNvSpPr/>
              <p:nvPr/>
            </p:nvSpPr>
            <p:spPr>
              <a:xfrm>
                <a:off x="2109" y="3690"/>
                <a:ext cx="0" cy="297"/>
              </a:xfrm>
              <a:prstGeom prst="line">
                <a:avLst/>
              </a:prstGeom>
              <a:ln w="25400" cap="flat" cmpd="sng">
                <a:solidFill>
                  <a:srgbClr val="0000FF"/>
                </a:solidFill>
                <a:prstDash val="solid"/>
                <a:round/>
                <a:headEnd type="triangle" w="med" len="med"/>
                <a:tailEnd type="none" w="med" len="med"/>
              </a:ln>
            </p:spPr>
          </p:sp>
        </p:grpSp>
      </p:grpSp>
      <p:grpSp>
        <p:nvGrpSpPr>
          <p:cNvPr id="254142" name="组合 254141"/>
          <p:cNvGrpSpPr/>
          <p:nvPr/>
        </p:nvGrpSpPr>
        <p:grpSpPr>
          <a:xfrm>
            <a:off x="731838" y="3554413"/>
            <a:ext cx="7823200" cy="2638425"/>
            <a:chOff x="461" y="2239"/>
            <a:chExt cx="4928" cy="1662"/>
          </a:xfrm>
        </p:grpSpPr>
        <p:sp>
          <p:nvSpPr>
            <p:cNvPr id="113854" name="直接连接符 254142"/>
            <p:cNvSpPr/>
            <p:nvPr/>
          </p:nvSpPr>
          <p:spPr>
            <a:xfrm flipH="1">
              <a:off x="461" y="2605"/>
              <a:ext cx="656" cy="0"/>
            </a:xfrm>
            <a:prstGeom prst="line">
              <a:avLst/>
            </a:prstGeom>
            <a:ln w="50800" cap="flat" cmpd="sng">
              <a:solidFill>
                <a:srgbClr val="0000FF"/>
              </a:solidFill>
              <a:prstDash val="solid"/>
              <a:round/>
              <a:headEnd type="triangle" w="med" len="med"/>
              <a:tailEnd type="none" w="med" len="med"/>
            </a:ln>
          </p:spPr>
        </p:sp>
        <p:sp>
          <p:nvSpPr>
            <p:cNvPr id="113855" name="直接连接符 254143"/>
            <p:cNvSpPr/>
            <p:nvPr/>
          </p:nvSpPr>
          <p:spPr>
            <a:xfrm flipH="1">
              <a:off x="461" y="3885"/>
              <a:ext cx="4928" cy="0"/>
            </a:xfrm>
            <a:prstGeom prst="line">
              <a:avLst/>
            </a:prstGeom>
            <a:ln w="50800" cap="flat" cmpd="sng">
              <a:solidFill>
                <a:srgbClr val="0000FF"/>
              </a:solidFill>
              <a:prstDash val="solid"/>
              <a:round/>
              <a:headEnd type="none" w="med" len="med"/>
              <a:tailEnd type="none" w="med" len="med"/>
            </a:ln>
          </p:spPr>
        </p:sp>
        <p:sp>
          <p:nvSpPr>
            <p:cNvPr id="113856" name="直接连接符 254144"/>
            <p:cNvSpPr/>
            <p:nvPr/>
          </p:nvSpPr>
          <p:spPr>
            <a:xfrm flipV="1">
              <a:off x="486" y="2589"/>
              <a:ext cx="0" cy="1312"/>
            </a:xfrm>
            <a:prstGeom prst="line">
              <a:avLst/>
            </a:prstGeom>
            <a:ln w="50800" cap="flat" cmpd="sng">
              <a:solidFill>
                <a:srgbClr val="0000FF"/>
              </a:solidFill>
              <a:prstDash val="solid"/>
              <a:round/>
              <a:headEnd type="none" w="med" len="med"/>
              <a:tailEnd type="none" w="med" len="med"/>
            </a:ln>
          </p:spPr>
        </p:sp>
        <p:sp>
          <p:nvSpPr>
            <p:cNvPr id="113857" name="直接连接符 254145"/>
            <p:cNvSpPr/>
            <p:nvPr/>
          </p:nvSpPr>
          <p:spPr>
            <a:xfrm>
              <a:off x="5373" y="2844"/>
              <a:ext cx="0" cy="1025"/>
            </a:xfrm>
            <a:prstGeom prst="line">
              <a:avLst/>
            </a:prstGeom>
            <a:ln w="50800" cap="flat" cmpd="sng">
              <a:solidFill>
                <a:srgbClr val="0000FF"/>
              </a:solidFill>
              <a:prstDash val="solid"/>
              <a:round/>
              <a:headEnd type="none" w="med" len="med"/>
              <a:tailEnd type="none" w="med" len="med"/>
            </a:ln>
          </p:spPr>
        </p:sp>
        <p:sp>
          <p:nvSpPr>
            <p:cNvPr id="113858" name="直接连接符 254146"/>
            <p:cNvSpPr/>
            <p:nvPr/>
          </p:nvSpPr>
          <p:spPr>
            <a:xfrm>
              <a:off x="5110" y="2837"/>
              <a:ext cx="256" cy="0"/>
            </a:xfrm>
            <a:prstGeom prst="line">
              <a:avLst/>
            </a:prstGeom>
            <a:ln w="50800" cap="flat" cmpd="sng">
              <a:solidFill>
                <a:srgbClr val="0000FF"/>
              </a:solidFill>
              <a:prstDash val="solid"/>
              <a:round/>
              <a:headEnd type="none" w="med" len="med"/>
              <a:tailEnd type="none" w="med" len="med"/>
            </a:ln>
          </p:spPr>
        </p:sp>
        <p:sp>
          <p:nvSpPr>
            <p:cNvPr id="113859" name="直接连接符 254147"/>
            <p:cNvSpPr/>
            <p:nvPr/>
          </p:nvSpPr>
          <p:spPr>
            <a:xfrm flipV="1">
              <a:off x="4989" y="2239"/>
              <a:ext cx="0" cy="284"/>
            </a:xfrm>
            <a:prstGeom prst="line">
              <a:avLst/>
            </a:prstGeom>
            <a:ln w="25400" cap="flat" cmpd="sng">
              <a:solidFill>
                <a:srgbClr val="0000FF"/>
              </a:solidFill>
              <a:prstDash val="solid"/>
              <a:round/>
              <a:headEnd type="triangl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54127"/>
                                        </p:tgtEl>
                                        <p:attrNameLst>
                                          <p:attrName>style.visibility</p:attrName>
                                        </p:attrNameLst>
                                      </p:cBhvr>
                                      <p:to>
                                        <p:strVal val="visible"/>
                                      </p:to>
                                    </p:set>
                                    <p:animEffect transition="in" filter="slide(fromLeft)">
                                      <p:cBhvr>
                                        <p:cTn id="7" dur="500"/>
                                        <p:tgtEl>
                                          <p:spTgt spid="25412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54135"/>
                                        </p:tgtEl>
                                        <p:attrNameLst>
                                          <p:attrName>style.visibility</p:attrName>
                                        </p:attrNameLst>
                                      </p:cBhvr>
                                      <p:to>
                                        <p:strVal val="visible"/>
                                      </p:to>
                                    </p:set>
                                    <p:animEffect transition="in" filter="slide(fromLeft)">
                                      <p:cBhvr>
                                        <p:cTn id="12" dur="500"/>
                                        <p:tgtEl>
                                          <p:spTgt spid="25413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254126"/>
                                        </p:tgtEl>
                                        <p:attrNameLst>
                                          <p:attrName>style.visibility</p:attrName>
                                        </p:attrNameLst>
                                      </p:cBhvr>
                                      <p:to>
                                        <p:strVal val="visible"/>
                                      </p:to>
                                    </p:set>
                                    <p:animEffect transition="in" filter="slide(fromTop)">
                                      <p:cBhvr>
                                        <p:cTn id="17" dur="500"/>
                                        <p:tgtEl>
                                          <p:spTgt spid="25412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54125"/>
                                        </p:tgtEl>
                                        <p:attrNameLst>
                                          <p:attrName>style.visibility</p:attrName>
                                        </p:attrNameLst>
                                      </p:cBhvr>
                                      <p:to>
                                        <p:strVal val="visible"/>
                                      </p:to>
                                    </p:set>
                                    <p:animEffect transition="in" filter="slide(fromLeft)">
                                      <p:cBhvr>
                                        <p:cTn id="22" dur="500"/>
                                        <p:tgtEl>
                                          <p:spTgt spid="25412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254130"/>
                                        </p:tgtEl>
                                        <p:attrNameLst>
                                          <p:attrName>style.visibility</p:attrName>
                                        </p:attrNameLst>
                                      </p:cBhvr>
                                      <p:to>
                                        <p:strVal val="visible"/>
                                      </p:to>
                                    </p:set>
                                    <p:animEffect transition="in" filter="slide(fromTop)">
                                      <p:cBhvr>
                                        <p:cTn id="27" dur="500"/>
                                        <p:tgtEl>
                                          <p:spTgt spid="25413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54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标题 256001"/>
          <p:cNvSpPr>
            <a:spLocks noGrp="1"/>
          </p:cNvSpPr>
          <p:nvPr>
            <p:ph type="title"/>
          </p:nvPr>
        </p:nvSpPr>
        <p:spPr>
          <a:xfrm>
            <a:off x="444500" y="203200"/>
            <a:ext cx="6629400" cy="531813"/>
          </a:xfrm>
          <a:ln/>
        </p:spPr>
        <p:txBody>
          <a:bodyPr vert="horz" wrap="square" lIns="63500" tIns="25400" rIns="63500" bIns="25400" anchor="t" anchorCtr="0">
            <a:spAutoFit/>
          </a:bodyPr>
          <a:p>
            <a:r>
              <a:rPr lang="en-US" altLang="zh-CN">
                <a:ea typeface="宋体" panose="02010600030101010101" pitchFamily="2" charset="-122"/>
              </a:rPr>
              <a:t>Load</a:t>
            </a:r>
            <a:r>
              <a:rPr lang="zh-CN" altLang="en-US" dirty="0">
                <a:ea typeface="宋体" panose="02010600030101010101" pitchFamily="2" charset="-122"/>
              </a:rPr>
              <a:t>指令译码后的执行过程</a:t>
            </a:r>
            <a:endParaRPr lang="zh-CN" altLang="en-US" dirty="0">
              <a:ea typeface="宋体" panose="02010600030101010101" pitchFamily="2" charset="-122"/>
            </a:endParaRPr>
          </a:p>
        </p:txBody>
      </p:sp>
      <p:grpSp>
        <p:nvGrpSpPr>
          <p:cNvPr id="115714" name="组合 256002"/>
          <p:cNvGrpSpPr/>
          <p:nvPr/>
        </p:nvGrpSpPr>
        <p:grpSpPr>
          <a:xfrm>
            <a:off x="5029200" y="3654425"/>
            <a:ext cx="457200" cy="1136650"/>
            <a:chOff x="3168" y="2302"/>
            <a:chExt cx="288" cy="716"/>
          </a:xfrm>
        </p:grpSpPr>
        <p:sp>
          <p:nvSpPr>
            <p:cNvPr id="115715" name="直接连接符 256003"/>
            <p:cNvSpPr/>
            <p:nvPr/>
          </p:nvSpPr>
          <p:spPr>
            <a:xfrm>
              <a:off x="3168" y="2302"/>
              <a:ext cx="0" cy="163"/>
            </a:xfrm>
            <a:prstGeom prst="line">
              <a:avLst/>
            </a:prstGeom>
            <a:ln w="25400" cap="flat" cmpd="sng">
              <a:solidFill>
                <a:schemeClr val="tx1"/>
              </a:solidFill>
              <a:prstDash val="solid"/>
              <a:round/>
              <a:headEnd type="none" w="med" len="med"/>
              <a:tailEnd type="none" w="med" len="med"/>
            </a:ln>
          </p:spPr>
        </p:sp>
        <p:sp>
          <p:nvSpPr>
            <p:cNvPr id="115716" name="直接连接符 256004"/>
            <p:cNvSpPr/>
            <p:nvPr/>
          </p:nvSpPr>
          <p:spPr>
            <a:xfrm>
              <a:off x="3176" y="2302"/>
              <a:ext cx="272" cy="163"/>
            </a:xfrm>
            <a:prstGeom prst="line">
              <a:avLst/>
            </a:prstGeom>
            <a:ln w="25400" cap="flat" cmpd="sng">
              <a:solidFill>
                <a:schemeClr val="tx1"/>
              </a:solidFill>
              <a:prstDash val="solid"/>
              <a:round/>
              <a:headEnd type="none" w="med" len="med"/>
              <a:tailEnd type="none" w="med" len="med"/>
            </a:ln>
          </p:spPr>
        </p:sp>
        <p:sp>
          <p:nvSpPr>
            <p:cNvPr id="115717" name="直接连接符 256005"/>
            <p:cNvSpPr/>
            <p:nvPr/>
          </p:nvSpPr>
          <p:spPr>
            <a:xfrm>
              <a:off x="3176" y="2481"/>
              <a:ext cx="128" cy="74"/>
            </a:xfrm>
            <a:prstGeom prst="line">
              <a:avLst/>
            </a:prstGeom>
            <a:ln w="25400" cap="flat" cmpd="sng">
              <a:solidFill>
                <a:schemeClr val="tx1"/>
              </a:solidFill>
              <a:prstDash val="solid"/>
              <a:round/>
              <a:headEnd type="none" w="med" len="med"/>
              <a:tailEnd type="none" w="med" len="med"/>
            </a:ln>
          </p:spPr>
        </p:sp>
        <p:sp>
          <p:nvSpPr>
            <p:cNvPr id="115718" name="直接连接符 256006"/>
            <p:cNvSpPr/>
            <p:nvPr/>
          </p:nvSpPr>
          <p:spPr>
            <a:xfrm>
              <a:off x="3312" y="2571"/>
              <a:ext cx="0" cy="163"/>
            </a:xfrm>
            <a:prstGeom prst="line">
              <a:avLst/>
            </a:prstGeom>
            <a:ln w="25400" cap="flat" cmpd="sng">
              <a:solidFill>
                <a:schemeClr val="tx1"/>
              </a:solidFill>
              <a:prstDash val="solid"/>
              <a:round/>
              <a:headEnd type="none" w="med" len="med"/>
              <a:tailEnd type="none" w="med" len="med"/>
            </a:ln>
          </p:spPr>
        </p:sp>
        <p:sp>
          <p:nvSpPr>
            <p:cNvPr id="115719" name="直接连接符 256007"/>
            <p:cNvSpPr/>
            <p:nvPr/>
          </p:nvSpPr>
          <p:spPr>
            <a:xfrm>
              <a:off x="3456" y="2481"/>
              <a:ext cx="0" cy="342"/>
            </a:xfrm>
            <a:prstGeom prst="line">
              <a:avLst/>
            </a:prstGeom>
            <a:ln w="25400" cap="flat" cmpd="sng">
              <a:solidFill>
                <a:schemeClr val="tx1"/>
              </a:solidFill>
              <a:prstDash val="solid"/>
              <a:round/>
              <a:headEnd type="none" w="med" len="med"/>
              <a:tailEnd type="none" w="med" len="med"/>
            </a:ln>
          </p:spPr>
        </p:sp>
        <p:sp>
          <p:nvSpPr>
            <p:cNvPr id="115720" name="直接连接符 256008"/>
            <p:cNvSpPr/>
            <p:nvPr/>
          </p:nvSpPr>
          <p:spPr>
            <a:xfrm flipV="1">
              <a:off x="3176" y="2734"/>
              <a:ext cx="128" cy="105"/>
            </a:xfrm>
            <a:prstGeom prst="line">
              <a:avLst/>
            </a:prstGeom>
            <a:ln w="25400" cap="flat" cmpd="sng">
              <a:solidFill>
                <a:schemeClr val="tx1"/>
              </a:solidFill>
              <a:prstDash val="solid"/>
              <a:round/>
              <a:headEnd type="none" w="med" len="med"/>
              <a:tailEnd type="none" w="med" len="med"/>
            </a:ln>
          </p:spPr>
        </p:sp>
        <p:sp>
          <p:nvSpPr>
            <p:cNvPr id="115721" name="直接连接符 256009"/>
            <p:cNvSpPr/>
            <p:nvPr/>
          </p:nvSpPr>
          <p:spPr>
            <a:xfrm>
              <a:off x="3168" y="2839"/>
              <a:ext cx="0" cy="163"/>
            </a:xfrm>
            <a:prstGeom prst="line">
              <a:avLst/>
            </a:prstGeom>
            <a:ln w="25400" cap="flat" cmpd="sng">
              <a:solidFill>
                <a:schemeClr val="tx1"/>
              </a:solidFill>
              <a:prstDash val="solid"/>
              <a:round/>
              <a:headEnd type="none" w="med" len="med"/>
              <a:tailEnd type="none" w="med" len="med"/>
            </a:ln>
          </p:spPr>
        </p:sp>
        <p:sp>
          <p:nvSpPr>
            <p:cNvPr id="115722" name="直接连接符 256010"/>
            <p:cNvSpPr/>
            <p:nvPr/>
          </p:nvSpPr>
          <p:spPr>
            <a:xfrm flipV="1">
              <a:off x="3176" y="2823"/>
              <a:ext cx="272" cy="195"/>
            </a:xfrm>
            <a:prstGeom prst="line">
              <a:avLst/>
            </a:prstGeom>
            <a:ln w="25400" cap="flat" cmpd="sng">
              <a:solidFill>
                <a:schemeClr val="tx1"/>
              </a:solidFill>
              <a:prstDash val="solid"/>
              <a:round/>
              <a:headEnd type="none" w="med" len="med"/>
              <a:tailEnd type="none" w="med" len="med"/>
            </a:ln>
          </p:spPr>
        </p:sp>
      </p:grpSp>
      <p:sp>
        <p:nvSpPr>
          <p:cNvPr id="115723" name="直接连接符 256011"/>
          <p:cNvSpPr/>
          <p:nvPr/>
        </p:nvSpPr>
        <p:spPr>
          <a:xfrm flipH="1">
            <a:off x="6845300" y="4191000"/>
            <a:ext cx="939800" cy="0"/>
          </a:xfrm>
          <a:prstGeom prst="line">
            <a:avLst/>
          </a:prstGeom>
          <a:ln w="25400" cap="flat" cmpd="sng">
            <a:solidFill>
              <a:schemeClr val="tx1"/>
            </a:solidFill>
            <a:prstDash val="solid"/>
            <a:round/>
            <a:headEnd type="triangle" w="med" len="med"/>
            <a:tailEnd type="none" w="med" len="med"/>
          </a:ln>
        </p:spPr>
      </p:sp>
      <p:sp>
        <p:nvSpPr>
          <p:cNvPr id="115724" name="直接连接符 256012"/>
          <p:cNvSpPr/>
          <p:nvPr/>
        </p:nvSpPr>
        <p:spPr>
          <a:xfrm flipH="1">
            <a:off x="5861050" y="4146550"/>
            <a:ext cx="88900" cy="128588"/>
          </a:xfrm>
          <a:prstGeom prst="line">
            <a:avLst/>
          </a:prstGeom>
          <a:ln w="12700" cap="flat" cmpd="sng">
            <a:solidFill>
              <a:schemeClr val="tx1"/>
            </a:solidFill>
            <a:prstDash val="solid"/>
            <a:round/>
            <a:headEnd type="none" w="med" len="med"/>
            <a:tailEnd type="none" w="med" len="med"/>
          </a:ln>
        </p:spPr>
      </p:sp>
      <p:sp>
        <p:nvSpPr>
          <p:cNvPr id="115725" name="矩形 256013"/>
          <p:cNvSpPr/>
          <p:nvPr/>
        </p:nvSpPr>
        <p:spPr>
          <a:xfrm>
            <a:off x="5548313" y="42084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5726" name="直接连接符 256014"/>
          <p:cNvSpPr/>
          <p:nvPr/>
        </p:nvSpPr>
        <p:spPr>
          <a:xfrm>
            <a:off x="5257800" y="3289300"/>
            <a:ext cx="0" cy="482600"/>
          </a:xfrm>
          <a:prstGeom prst="line">
            <a:avLst/>
          </a:prstGeom>
          <a:ln w="25400" cap="flat" cmpd="sng">
            <a:solidFill>
              <a:schemeClr val="tx1"/>
            </a:solidFill>
            <a:prstDash val="solid"/>
            <a:round/>
            <a:headEnd type="none" w="med" len="med"/>
            <a:tailEnd type="triangle" w="med" len="med"/>
          </a:ln>
        </p:spPr>
      </p:sp>
      <p:sp>
        <p:nvSpPr>
          <p:cNvPr id="115727" name="矩形 256015"/>
          <p:cNvSpPr/>
          <p:nvPr/>
        </p:nvSpPr>
        <p:spPr>
          <a:xfrm>
            <a:off x="4135438" y="2962275"/>
            <a:ext cx="1487487" cy="638175"/>
          </a:xfrm>
          <a:prstGeom prst="rect">
            <a:avLst/>
          </a:prstGeom>
          <a:noFill/>
          <a:ln w="12700">
            <a:noFill/>
          </a:ln>
        </p:spPr>
        <p:txBody>
          <a:bodyPr lIns="90488" tIns="44450" rIns="90488" bIns="44450" anchor="t" anchorCtr="0">
            <a:spAutoFit/>
          </a:bodyPr>
          <a:p>
            <a:pPr algn="ctr" eaLnBrk="0" hangingPunct="0"/>
            <a:r>
              <a:rPr lang="en-US" altLang="zh-CN" sz="1800" u="sng" dirty="0" err="1">
                <a:solidFill>
                  <a:schemeClr val="accent1"/>
                </a:solidFill>
                <a:latin typeface="Arial" panose="020B0604020202020204" pitchFamily="34" charset="0"/>
                <a:ea typeface="宋体" panose="02010600030101010101" pitchFamily="2" charset="-122"/>
              </a:rPr>
              <a:t>ALUctr</a:t>
            </a:r>
            <a:r>
              <a:rPr lang="en-US" altLang="zh-CN" sz="1800" u="sng">
                <a:solidFill>
                  <a:schemeClr val="accent1"/>
                </a:solidFill>
                <a:latin typeface="Arial" panose="020B0604020202020204" pitchFamily="34" charset="0"/>
                <a:ea typeface="宋体" panose="02010600030101010101" pitchFamily="2" charset="-122"/>
              </a:rPr>
              <a:t> = Add</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5728" name="矩形 256016"/>
          <p:cNvSpPr/>
          <p:nvPr/>
        </p:nvSpPr>
        <p:spPr>
          <a:xfrm>
            <a:off x="871538" y="46640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5729" name="矩形 256017"/>
          <p:cNvSpPr/>
          <p:nvPr/>
        </p:nvSpPr>
        <p:spPr>
          <a:xfrm>
            <a:off x="671513" y="3781425"/>
            <a:ext cx="803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115730" name="矩形 256018"/>
          <p:cNvSpPr/>
          <p:nvPr/>
        </p:nvSpPr>
        <p:spPr>
          <a:xfrm>
            <a:off x="1755775" y="3654425"/>
            <a:ext cx="1431925" cy="11303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731" name="直接连接符 256019"/>
          <p:cNvSpPr/>
          <p:nvPr/>
        </p:nvSpPr>
        <p:spPr>
          <a:xfrm>
            <a:off x="1793875" y="4560888"/>
            <a:ext cx="250825" cy="63500"/>
          </a:xfrm>
          <a:prstGeom prst="line">
            <a:avLst/>
          </a:prstGeom>
          <a:ln w="25400" cap="flat" cmpd="sng">
            <a:solidFill>
              <a:schemeClr val="tx1"/>
            </a:solidFill>
            <a:prstDash val="solid"/>
            <a:round/>
            <a:headEnd type="none" w="med" len="med"/>
            <a:tailEnd type="none" w="med" len="med"/>
          </a:ln>
        </p:spPr>
      </p:sp>
      <p:sp>
        <p:nvSpPr>
          <p:cNvPr id="115732" name="直接连接符 256020"/>
          <p:cNvSpPr/>
          <p:nvPr/>
        </p:nvSpPr>
        <p:spPr>
          <a:xfrm flipH="1">
            <a:off x="1768475" y="4649788"/>
            <a:ext cx="301625" cy="98425"/>
          </a:xfrm>
          <a:prstGeom prst="line">
            <a:avLst/>
          </a:prstGeom>
          <a:ln w="25400" cap="flat" cmpd="sng">
            <a:solidFill>
              <a:schemeClr val="tx1"/>
            </a:solidFill>
            <a:prstDash val="solid"/>
            <a:round/>
            <a:headEnd type="none" w="med" len="med"/>
            <a:tailEnd type="none" w="med" len="med"/>
          </a:ln>
        </p:spPr>
      </p:sp>
      <p:sp>
        <p:nvSpPr>
          <p:cNvPr id="115733" name="椭圆 256021"/>
          <p:cNvSpPr/>
          <p:nvPr/>
        </p:nvSpPr>
        <p:spPr>
          <a:xfrm>
            <a:off x="1603375" y="4595813"/>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734" name="矩形 256022"/>
          <p:cNvSpPr/>
          <p:nvPr/>
        </p:nvSpPr>
        <p:spPr>
          <a:xfrm>
            <a:off x="601663" y="3140075"/>
            <a:ext cx="12922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RegWr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5735" name="直接连接符 256023"/>
          <p:cNvSpPr/>
          <p:nvPr/>
        </p:nvSpPr>
        <p:spPr>
          <a:xfrm flipH="1">
            <a:off x="736600" y="4140200"/>
            <a:ext cx="1041400" cy="0"/>
          </a:xfrm>
          <a:prstGeom prst="line">
            <a:avLst/>
          </a:prstGeom>
          <a:ln w="50800" cap="flat" cmpd="sng">
            <a:solidFill>
              <a:schemeClr val="accent1"/>
            </a:solidFill>
            <a:prstDash val="solid"/>
            <a:round/>
            <a:headEnd type="triangle" w="med" len="med"/>
            <a:tailEnd type="none" w="med" len="med"/>
          </a:ln>
        </p:spPr>
      </p:sp>
      <p:sp>
        <p:nvSpPr>
          <p:cNvPr id="115736" name="直接连接符 256024"/>
          <p:cNvSpPr/>
          <p:nvPr/>
        </p:nvSpPr>
        <p:spPr>
          <a:xfrm flipH="1">
            <a:off x="1289050" y="4075113"/>
            <a:ext cx="88900" cy="128587"/>
          </a:xfrm>
          <a:prstGeom prst="line">
            <a:avLst/>
          </a:prstGeom>
          <a:ln w="12700" cap="flat" cmpd="sng">
            <a:solidFill>
              <a:schemeClr val="tx1"/>
            </a:solidFill>
            <a:prstDash val="solid"/>
            <a:round/>
            <a:headEnd type="none" w="med" len="med"/>
            <a:tailEnd type="none" w="med" len="med"/>
          </a:ln>
        </p:spPr>
      </p:sp>
      <p:sp>
        <p:nvSpPr>
          <p:cNvPr id="115737" name="矩形 256025"/>
          <p:cNvSpPr/>
          <p:nvPr/>
        </p:nvSpPr>
        <p:spPr>
          <a:xfrm>
            <a:off x="976313" y="413702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5738" name="直接连接符 256026"/>
          <p:cNvSpPr/>
          <p:nvPr/>
        </p:nvSpPr>
        <p:spPr>
          <a:xfrm>
            <a:off x="3225800" y="3784600"/>
            <a:ext cx="1778000" cy="0"/>
          </a:xfrm>
          <a:prstGeom prst="line">
            <a:avLst/>
          </a:prstGeom>
          <a:ln w="50800" cap="flat" cmpd="sng">
            <a:solidFill>
              <a:schemeClr val="accent1"/>
            </a:solidFill>
            <a:prstDash val="solid"/>
            <a:round/>
            <a:headEnd type="none" w="med" len="med"/>
            <a:tailEnd type="triangle" w="med" len="med"/>
          </a:ln>
        </p:spPr>
      </p:sp>
      <p:sp>
        <p:nvSpPr>
          <p:cNvPr id="115739" name="直接连接符 256027"/>
          <p:cNvSpPr/>
          <p:nvPr/>
        </p:nvSpPr>
        <p:spPr>
          <a:xfrm flipH="1">
            <a:off x="4184650" y="3719513"/>
            <a:ext cx="88900" cy="130175"/>
          </a:xfrm>
          <a:prstGeom prst="line">
            <a:avLst/>
          </a:prstGeom>
          <a:ln w="12700" cap="flat" cmpd="sng">
            <a:solidFill>
              <a:schemeClr val="tx1"/>
            </a:solidFill>
            <a:prstDash val="solid"/>
            <a:round/>
            <a:headEnd type="none" w="med" len="med"/>
            <a:tailEnd type="none" w="med" len="med"/>
          </a:ln>
        </p:spPr>
      </p:sp>
      <p:sp>
        <p:nvSpPr>
          <p:cNvPr id="115740" name="矩形 256028"/>
          <p:cNvSpPr/>
          <p:nvPr/>
        </p:nvSpPr>
        <p:spPr>
          <a:xfrm>
            <a:off x="3871913" y="38528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5741" name="矩形 256029"/>
          <p:cNvSpPr/>
          <p:nvPr/>
        </p:nvSpPr>
        <p:spPr>
          <a:xfrm>
            <a:off x="3567113" y="3408363"/>
            <a:ext cx="7524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115742" name="直接连接符 256030"/>
          <p:cNvSpPr/>
          <p:nvPr/>
        </p:nvSpPr>
        <p:spPr>
          <a:xfrm flipV="1">
            <a:off x="1905000" y="3416300"/>
            <a:ext cx="0" cy="238125"/>
          </a:xfrm>
          <a:prstGeom prst="line">
            <a:avLst/>
          </a:prstGeom>
          <a:ln w="25400" cap="flat" cmpd="sng">
            <a:solidFill>
              <a:schemeClr val="tx1"/>
            </a:solidFill>
            <a:prstDash val="solid"/>
            <a:round/>
            <a:headEnd type="none" w="med" len="med"/>
            <a:tailEnd type="none" w="med" len="med"/>
          </a:ln>
        </p:spPr>
      </p:sp>
      <p:sp>
        <p:nvSpPr>
          <p:cNvPr id="115743" name="直接连接符 256031"/>
          <p:cNvSpPr/>
          <p:nvPr/>
        </p:nvSpPr>
        <p:spPr>
          <a:xfrm>
            <a:off x="3213100" y="4484688"/>
            <a:ext cx="965200" cy="0"/>
          </a:xfrm>
          <a:prstGeom prst="line">
            <a:avLst/>
          </a:prstGeom>
          <a:ln w="25400" cap="flat" cmpd="sng">
            <a:solidFill>
              <a:schemeClr val="tx1"/>
            </a:solidFill>
            <a:prstDash val="solid"/>
            <a:round/>
            <a:headEnd type="none" w="med" len="med"/>
            <a:tailEnd type="triangle" w="med" len="med"/>
          </a:ln>
        </p:spPr>
      </p:sp>
      <p:sp>
        <p:nvSpPr>
          <p:cNvPr id="115744" name="直接连接符 256032"/>
          <p:cNvSpPr/>
          <p:nvPr/>
        </p:nvSpPr>
        <p:spPr>
          <a:xfrm flipV="1">
            <a:off x="3663950" y="4337050"/>
            <a:ext cx="139700" cy="241300"/>
          </a:xfrm>
          <a:prstGeom prst="line">
            <a:avLst/>
          </a:prstGeom>
          <a:ln w="12700" cap="flat" cmpd="sng">
            <a:solidFill>
              <a:schemeClr val="tx1"/>
            </a:solidFill>
            <a:prstDash val="solid"/>
            <a:round/>
            <a:headEnd type="none" w="med" len="med"/>
            <a:tailEnd type="none" w="med" len="med"/>
          </a:ln>
        </p:spPr>
      </p:sp>
      <p:sp>
        <p:nvSpPr>
          <p:cNvPr id="115745" name="矩形 256033"/>
          <p:cNvSpPr/>
          <p:nvPr/>
        </p:nvSpPr>
        <p:spPr>
          <a:xfrm>
            <a:off x="3262313" y="448151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5746" name="矩形 256034"/>
          <p:cNvSpPr/>
          <p:nvPr/>
        </p:nvSpPr>
        <p:spPr>
          <a:xfrm>
            <a:off x="3198813" y="4121150"/>
            <a:ext cx="7524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115747" name="直接连接符 256035"/>
          <p:cNvSpPr/>
          <p:nvPr/>
        </p:nvSpPr>
        <p:spPr>
          <a:xfrm flipH="1">
            <a:off x="1130300" y="4637088"/>
            <a:ext cx="482600" cy="0"/>
          </a:xfrm>
          <a:prstGeom prst="line">
            <a:avLst/>
          </a:prstGeom>
          <a:ln w="25400" cap="flat" cmpd="sng">
            <a:solidFill>
              <a:schemeClr val="tx1"/>
            </a:solidFill>
            <a:prstDash val="solid"/>
            <a:round/>
            <a:headEnd type="none" w="med" len="med"/>
            <a:tailEnd type="none" w="med" len="med"/>
          </a:ln>
        </p:spPr>
      </p:sp>
      <p:sp>
        <p:nvSpPr>
          <p:cNvPr id="115748" name="直接连接符 256036"/>
          <p:cNvSpPr/>
          <p:nvPr/>
        </p:nvSpPr>
        <p:spPr>
          <a:xfrm>
            <a:off x="3048000" y="3228975"/>
            <a:ext cx="0" cy="400050"/>
          </a:xfrm>
          <a:prstGeom prst="line">
            <a:avLst/>
          </a:prstGeom>
          <a:ln w="25400" cap="flat" cmpd="sng">
            <a:solidFill>
              <a:schemeClr val="tx1"/>
            </a:solidFill>
            <a:prstDash val="solid"/>
            <a:round/>
            <a:headEnd type="none" w="med" len="med"/>
            <a:tailEnd type="none" w="med" len="med"/>
          </a:ln>
        </p:spPr>
      </p:sp>
      <p:sp>
        <p:nvSpPr>
          <p:cNvPr id="115749" name="直接连接符 256037"/>
          <p:cNvSpPr/>
          <p:nvPr/>
        </p:nvSpPr>
        <p:spPr>
          <a:xfrm flipV="1">
            <a:off x="2978150" y="3351213"/>
            <a:ext cx="139700" cy="155575"/>
          </a:xfrm>
          <a:prstGeom prst="line">
            <a:avLst/>
          </a:prstGeom>
          <a:ln w="12700" cap="flat" cmpd="sng">
            <a:solidFill>
              <a:schemeClr val="tx1"/>
            </a:solidFill>
            <a:prstDash val="solid"/>
            <a:round/>
            <a:headEnd type="none" w="med" len="med"/>
            <a:tailEnd type="none" w="med" len="med"/>
          </a:ln>
        </p:spPr>
      </p:sp>
      <p:sp>
        <p:nvSpPr>
          <p:cNvPr id="115750" name="矩形 256038"/>
          <p:cNvSpPr/>
          <p:nvPr/>
        </p:nvSpPr>
        <p:spPr>
          <a:xfrm>
            <a:off x="28051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5751" name="直接连接符 256039"/>
          <p:cNvSpPr/>
          <p:nvPr/>
        </p:nvSpPr>
        <p:spPr>
          <a:xfrm>
            <a:off x="2209800" y="3028950"/>
            <a:ext cx="0" cy="587375"/>
          </a:xfrm>
          <a:prstGeom prst="line">
            <a:avLst/>
          </a:prstGeom>
          <a:ln w="50800" cap="flat" cmpd="sng">
            <a:solidFill>
              <a:schemeClr val="accent1"/>
            </a:solidFill>
            <a:prstDash val="solid"/>
            <a:round/>
            <a:headEnd type="none" w="med" len="med"/>
            <a:tailEnd type="none" w="med" len="med"/>
          </a:ln>
        </p:spPr>
      </p:sp>
      <p:sp>
        <p:nvSpPr>
          <p:cNvPr id="115752" name="直接连接符 256040"/>
          <p:cNvSpPr/>
          <p:nvPr/>
        </p:nvSpPr>
        <p:spPr>
          <a:xfrm flipV="1">
            <a:off x="2139950" y="3351213"/>
            <a:ext cx="139700" cy="155575"/>
          </a:xfrm>
          <a:prstGeom prst="line">
            <a:avLst/>
          </a:prstGeom>
          <a:ln w="12700" cap="flat" cmpd="sng">
            <a:solidFill>
              <a:schemeClr val="tx1"/>
            </a:solidFill>
            <a:prstDash val="solid"/>
            <a:round/>
            <a:headEnd type="none" w="med" len="med"/>
            <a:tailEnd type="none" w="med" len="med"/>
          </a:ln>
        </p:spPr>
      </p:sp>
      <p:sp>
        <p:nvSpPr>
          <p:cNvPr id="115753" name="矩形 256041"/>
          <p:cNvSpPr/>
          <p:nvPr/>
        </p:nvSpPr>
        <p:spPr>
          <a:xfrm>
            <a:off x="1966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5754" name="直接连接符 256042"/>
          <p:cNvSpPr/>
          <p:nvPr/>
        </p:nvSpPr>
        <p:spPr>
          <a:xfrm>
            <a:off x="2590800" y="3241675"/>
            <a:ext cx="0" cy="374650"/>
          </a:xfrm>
          <a:prstGeom prst="line">
            <a:avLst/>
          </a:prstGeom>
          <a:ln w="50800" cap="flat" cmpd="sng">
            <a:solidFill>
              <a:schemeClr val="accent1"/>
            </a:solidFill>
            <a:prstDash val="solid"/>
            <a:round/>
            <a:headEnd type="none" w="med" len="med"/>
            <a:tailEnd type="none" w="med" len="med"/>
          </a:ln>
        </p:spPr>
      </p:sp>
      <p:sp>
        <p:nvSpPr>
          <p:cNvPr id="115755" name="直接连接符 256043"/>
          <p:cNvSpPr/>
          <p:nvPr/>
        </p:nvSpPr>
        <p:spPr>
          <a:xfrm flipV="1">
            <a:off x="2520950" y="3351213"/>
            <a:ext cx="139700" cy="155575"/>
          </a:xfrm>
          <a:prstGeom prst="line">
            <a:avLst/>
          </a:prstGeom>
          <a:ln w="12700" cap="flat" cmpd="sng">
            <a:solidFill>
              <a:schemeClr val="tx1"/>
            </a:solidFill>
            <a:prstDash val="solid"/>
            <a:round/>
            <a:headEnd type="none" w="med" len="med"/>
            <a:tailEnd type="none" w="med" len="med"/>
          </a:ln>
        </p:spPr>
      </p:sp>
      <p:sp>
        <p:nvSpPr>
          <p:cNvPr id="115756" name="矩形 256044"/>
          <p:cNvSpPr/>
          <p:nvPr/>
        </p:nvSpPr>
        <p:spPr>
          <a:xfrm>
            <a:off x="2347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5757" name="矩形 256045"/>
          <p:cNvSpPr/>
          <p:nvPr/>
        </p:nvSpPr>
        <p:spPr>
          <a:xfrm>
            <a:off x="1966913" y="3640138"/>
            <a:ext cx="523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115758" name="矩形 256046"/>
          <p:cNvSpPr/>
          <p:nvPr/>
        </p:nvSpPr>
        <p:spPr>
          <a:xfrm>
            <a:off x="2424113" y="3640138"/>
            <a:ext cx="4730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115759" name="矩形 256047"/>
          <p:cNvSpPr/>
          <p:nvPr/>
        </p:nvSpPr>
        <p:spPr>
          <a:xfrm>
            <a:off x="2805113" y="3640138"/>
            <a:ext cx="4857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115760" name="矩形 256048"/>
          <p:cNvSpPr/>
          <p:nvPr/>
        </p:nvSpPr>
        <p:spPr>
          <a:xfrm>
            <a:off x="1966913" y="3924300"/>
            <a:ext cx="1222375" cy="63817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pPr eaLnBrk="0" hangingPunct="0"/>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115761" name="直接连接符 256049"/>
          <p:cNvSpPr/>
          <p:nvPr/>
        </p:nvSpPr>
        <p:spPr>
          <a:xfrm flipH="1">
            <a:off x="736600" y="6172200"/>
            <a:ext cx="7823200" cy="0"/>
          </a:xfrm>
          <a:prstGeom prst="line">
            <a:avLst/>
          </a:prstGeom>
          <a:ln w="50800" cap="flat" cmpd="sng">
            <a:solidFill>
              <a:schemeClr val="accent1"/>
            </a:solidFill>
            <a:prstDash val="solid"/>
            <a:round/>
            <a:headEnd type="none" w="med" len="med"/>
            <a:tailEnd type="none" w="med" len="med"/>
          </a:ln>
        </p:spPr>
      </p:sp>
      <p:sp>
        <p:nvSpPr>
          <p:cNvPr id="115762" name="直接连接符 256050"/>
          <p:cNvSpPr/>
          <p:nvPr/>
        </p:nvSpPr>
        <p:spPr>
          <a:xfrm flipV="1">
            <a:off x="762000" y="4114800"/>
            <a:ext cx="0" cy="2082800"/>
          </a:xfrm>
          <a:prstGeom prst="line">
            <a:avLst/>
          </a:prstGeom>
          <a:ln w="50800" cap="flat" cmpd="sng">
            <a:solidFill>
              <a:schemeClr val="accent1"/>
            </a:solidFill>
            <a:prstDash val="solid"/>
            <a:round/>
            <a:headEnd type="none" w="med" len="med"/>
            <a:tailEnd type="none" w="med" len="med"/>
          </a:ln>
        </p:spPr>
      </p:sp>
      <p:sp>
        <p:nvSpPr>
          <p:cNvPr id="115763" name="矩形 256051"/>
          <p:cNvSpPr/>
          <p:nvPr/>
        </p:nvSpPr>
        <p:spPr>
          <a:xfrm>
            <a:off x="2576513" y="3000375"/>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15764" name="矩形 256052"/>
          <p:cNvSpPr/>
          <p:nvPr/>
        </p:nvSpPr>
        <p:spPr>
          <a:xfrm>
            <a:off x="2347913" y="2360613"/>
            <a:ext cx="4222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115765" name="组合 256053"/>
          <p:cNvGrpSpPr/>
          <p:nvPr/>
        </p:nvGrpSpPr>
        <p:grpSpPr>
          <a:xfrm>
            <a:off x="4191000" y="4203700"/>
            <a:ext cx="304800" cy="1227138"/>
            <a:chOff x="2640" y="2648"/>
            <a:chExt cx="192" cy="773"/>
          </a:xfrm>
        </p:grpSpPr>
        <p:sp>
          <p:nvSpPr>
            <p:cNvPr id="115766" name="直接连接符 256054"/>
            <p:cNvSpPr/>
            <p:nvPr/>
          </p:nvSpPr>
          <p:spPr>
            <a:xfrm>
              <a:off x="2640" y="2648"/>
              <a:ext cx="0" cy="757"/>
            </a:xfrm>
            <a:prstGeom prst="line">
              <a:avLst/>
            </a:prstGeom>
            <a:ln w="25400" cap="flat" cmpd="sng">
              <a:solidFill>
                <a:schemeClr val="tx1"/>
              </a:solidFill>
              <a:prstDash val="solid"/>
              <a:round/>
              <a:headEnd type="none" w="med" len="med"/>
              <a:tailEnd type="none" w="med" len="med"/>
            </a:ln>
          </p:spPr>
        </p:sp>
        <p:sp>
          <p:nvSpPr>
            <p:cNvPr id="115767" name="直接连接符 256055"/>
            <p:cNvSpPr/>
            <p:nvPr/>
          </p:nvSpPr>
          <p:spPr>
            <a:xfrm>
              <a:off x="2648" y="2648"/>
              <a:ext cx="176" cy="86"/>
            </a:xfrm>
            <a:prstGeom prst="line">
              <a:avLst/>
            </a:prstGeom>
            <a:ln w="25400" cap="flat" cmpd="sng">
              <a:solidFill>
                <a:schemeClr val="tx1"/>
              </a:solidFill>
              <a:prstDash val="solid"/>
              <a:round/>
              <a:headEnd type="none" w="med" len="med"/>
              <a:tailEnd type="none" w="med" len="med"/>
            </a:ln>
          </p:spPr>
        </p:sp>
        <p:sp>
          <p:nvSpPr>
            <p:cNvPr id="115768" name="直接连接符 256056"/>
            <p:cNvSpPr/>
            <p:nvPr/>
          </p:nvSpPr>
          <p:spPr>
            <a:xfrm flipV="1">
              <a:off x="2648" y="3303"/>
              <a:ext cx="176" cy="118"/>
            </a:xfrm>
            <a:prstGeom prst="line">
              <a:avLst/>
            </a:prstGeom>
            <a:ln w="25400" cap="flat" cmpd="sng">
              <a:solidFill>
                <a:schemeClr val="tx1"/>
              </a:solidFill>
              <a:prstDash val="solid"/>
              <a:round/>
              <a:headEnd type="none" w="med" len="med"/>
              <a:tailEnd type="none" w="med" len="med"/>
            </a:ln>
          </p:spPr>
        </p:sp>
        <p:sp>
          <p:nvSpPr>
            <p:cNvPr id="115769" name="直接连接符 256057"/>
            <p:cNvSpPr/>
            <p:nvPr/>
          </p:nvSpPr>
          <p:spPr>
            <a:xfrm>
              <a:off x="2832" y="2750"/>
              <a:ext cx="0" cy="553"/>
            </a:xfrm>
            <a:prstGeom prst="line">
              <a:avLst/>
            </a:prstGeom>
            <a:ln w="25400" cap="flat" cmpd="sng">
              <a:solidFill>
                <a:schemeClr val="tx1"/>
              </a:solidFill>
              <a:prstDash val="solid"/>
              <a:round/>
              <a:headEnd type="none" w="med" len="med"/>
              <a:tailEnd type="none" w="med" len="med"/>
            </a:ln>
          </p:spPr>
        </p:sp>
      </p:grpSp>
      <p:grpSp>
        <p:nvGrpSpPr>
          <p:cNvPr id="115770" name="组合 256058"/>
          <p:cNvGrpSpPr/>
          <p:nvPr/>
        </p:nvGrpSpPr>
        <p:grpSpPr>
          <a:xfrm>
            <a:off x="1473200" y="2754313"/>
            <a:ext cx="1168400" cy="284162"/>
            <a:chOff x="928" y="1735"/>
            <a:chExt cx="736" cy="179"/>
          </a:xfrm>
        </p:grpSpPr>
        <p:sp>
          <p:nvSpPr>
            <p:cNvPr id="115771" name="直接连接符 256059"/>
            <p:cNvSpPr/>
            <p:nvPr/>
          </p:nvSpPr>
          <p:spPr>
            <a:xfrm flipH="1">
              <a:off x="928" y="1735"/>
              <a:ext cx="736" cy="0"/>
            </a:xfrm>
            <a:prstGeom prst="line">
              <a:avLst/>
            </a:prstGeom>
            <a:ln w="25400" cap="flat" cmpd="sng">
              <a:solidFill>
                <a:schemeClr val="tx1"/>
              </a:solidFill>
              <a:prstDash val="solid"/>
              <a:round/>
              <a:headEnd type="none" w="med" len="med"/>
              <a:tailEnd type="none" w="med" len="med"/>
            </a:ln>
          </p:spPr>
        </p:sp>
        <p:sp>
          <p:nvSpPr>
            <p:cNvPr id="115772" name="直接连接符 256060"/>
            <p:cNvSpPr/>
            <p:nvPr/>
          </p:nvSpPr>
          <p:spPr>
            <a:xfrm flipH="1">
              <a:off x="1552" y="1743"/>
              <a:ext cx="112" cy="163"/>
            </a:xfrm>
            <a:prstGeom prst="line">
              <a:avLst/>
            </a:prstGeom>
            <a:ln w="25400" cap="flat" cmpd="sng">
              <a:solidFill>
                <a:schemeClr val="tx1"/>
              </a:solidFill>
              <a:prstDash val="solid"/>
              <a:round/>
              <a:headEnd type="none" w="med" len="med"/>
              <a:tailEnd type="none" w="med" len="med"/>
            </a:ln>
          </p:spPr>
        </p:sp>
        <p:sp>
          <p:nvSpPr>
            <p:cNvPr id="115773" name="直接连接符 256061"/>
            <p:cNvSpPr/>
            <p:nvPr/>
          </p:nvSpPr>
          <p:spPr>
            <a:xfrm>
              <a:off x="944" y="1743"/>
              <a:ext cx="80" cy="163"/>
            </a:xfrm>
            <a:prstGeom prst="line">
              <a:avLst/>
            </a:prstGeom>
            <a:ln w="25400" cap="flat" cmpd="sng">
              <a:solidFill>
                <a:schemeClr val="tx1"/>
              </a:solidFill>
              <a:prstDash val="solid"/>
              <a:round/>
              <a:headEnd type="none" w="med" len="med"/>
              <a:tailEnd type="none" w="med" len="med"/>
            </a:ln>
          </p:spPr>
        </p:sp>
        <p:sp>
          <p:nvSpPr>
            <p:cNvPr id="115774" name="直接连接符 256062"/>
            <p:cNvSpPr/>
            <p:nvPr/>
          </p:nvSpPr>
          <p:spPr>
            <a:xfrm flipH="1">
              <a:off x="1024" y="1914"/>
              <a:ext cx="544" cy="0"/>
            </a:xfrm>
            <a:prstGeom prst="line">
              <a:avLst/>
            </a:prstGeom>
            <a:ln w="25400" cap="flat" cmpd="sng">
              <a:solidFill>
                <a:schemeClr val="tx1"/>
              </a:solidFill>
              <a:prstDash val="solid"/>
              <a:round/>
              <a:headEnd type="none" w="med" len="med"/>
              <a:tailEnd type="none" w="med" len="med"/>
            </a:ln>
          </p:spPr>
        </p:sp>
      </p:grpSp>
      <p:sp>
        <p:nvSpPr>
          <p:cNvPr id="115775" name="矩形 256063"/>
          <p:cNvSpPr/>
          <p:nvPr/>
        </p:nvSpPr>
        <p:spPr>
          <a:xfrm>
            <a:off x="2986088" y="3000375"/>
            <a:ext cx="422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15776" name="直接连接符 256064"/>
          <p:cNvSpPr/>
          <p:nvPr/>
        </p:nvSpPr>
        <p:spPr>
          <a:xfrm>
            <a:off x="2362200" y="2530475"/>
            <a:ext cx="0" cy="163513"/>
          </a:xfrm>
          <a:prstGeom prst="line">
            <a:avLst/>
          </a:prstGeom>
          <a:ln w="50800" cap="flat" cmpd="sng">
            <a:solidFill>
              <a:schemeClr val="accent1"/>
            </a:solidFill>
            <a:prstDash val="solid"/>
            <a:round/>
            <a:headEnd type="none" w="med" len="med"/>
            <a:tailEnd type="none" w="med" len="med"/>
          </a:ln>
        </p:spPr>
      </p:sp>
      <p:sp>
        <p:nvSpPr>
          <p:cNvPr id="115777" name="直接连接符 256065"/>
          <p:cNvSpPr/>
          <p:nvPr/>
        </p:nvSpPr>
        <p:spPr>
          <a:xfrm>
            <a:off x="1752600" y="2517775"/>
            <a:ext cx="0" cy="188913"/>
          </a:xfrm>
          <a:prstGeom prst="line">
            <a:avLst/>
          </a:prstGeom>
          <a:ln w="25400" cap="flat" cmpd="sng">
            <a:solidFill>
              <a:schemeClr val="tx1"/>
            </a:solidFill>
            <a:prstDash val="solid"/>
            <a:round/>
            <a:headEnd type="none" w="med" len="med"/>
            <a:tailEnd type="none" w="med" len="med"/>
          </a:ln>
        </p:spPr>
      </p:sp>
      <p:sp>
        <p:nvSpPr>
          <p:cNvPr id="115778" name="矩形 256066"/>
          <p:cNvSpPr/>
          <p:nvPr/>
        </p:nvSpPr>
        <p:spPr>
          <a:xfrm>
            <a:off x="1738313" y="2360613"/>
            <a:ext cx="4857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15779" name="直接连接符 256067"/>
          <p:cNvSpPr/>
          <p:nvPr/>
        </p:nvSpPr>
        <p:spPr>
          <a:xfrm flipH="1">
            <a:off x="1054100" y="2895600"/>
            <a:ext cx="558800" cy="0"/>
          </a:xfrm>
          <a:prstGeom prst="line">
            <a:avLst/>
          </a:prstGeom>
          <a:ln w="25400" cap="flat" cmpd="sng">
            <a:solidFill>
              <a:schemeClr val="tx1"/>
            </a:solidFill>
            <a:prstDash val="solid"/>
            <a:round/>
            <a:headEnd type="triangle" w="med" len="med"/>
            <a:tailEnd type="none" w="med" len="med"/>
          </a:ln>
        </p:spPr>
      </p:sp>
      <p:sp>
        <p:nvSpPr>
          <p:cNvPr id="115780" name="矩形 256068"/>
          <p:cNvSpPr/>
          <p:nvPr/>
        </p:nvSpPr>
        <p:spPr>
          <a:xfrm>
            <a:off x="0" y="2540000"/>
            <a:ext cx="1355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RegDst</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5781" name="矩形 256069"/>
          <p:cNvSpPr/>
          <p:nvPr/>
        </p:nvSpPr>
        <p:spPr>
          <a:xfrm>
            <a:off x="3136900" y="48895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782" name="矩形 256070"/>
          <p:cNvSpPr/>
          <p:nvPr/>
        </p:nvSpPr>
        <p:spPr>
          <a:xfrm rot="5400000">
            <a:off x="3011488" y="5170488"/>
            <a:ext cx="5365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Ext</a:t>
            </a:r>
            <a:endParaRPr lang="en-US" altLang="zh-CN" sz="1800">
              <a:latin typeface="Arial" panose="020B0604020202020204" pitchFamily="34" charset="0"/>
              <a:ea typeface="宋体" panose="02010600030101010101" pitchFamily="2" charset="-122"/>
            </a:endParaRPr>
          </a:p>
        </p:txBody>
      </p:sp>
      <p:sp>
        <p:nvSpPr>
          <p:cNvPr id="115783" name="矩形 256071"/>
          <p:cNvSpPr/>
          <p:nvPr/>
        </p:nvSpPr>
        <p:spPr>
          <a:xfrm rot="5400000">
            <a:off x="3975100" y="4613275"/>
            <a:ext cx="638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5784" name="矩形 256072"/>
          <p:cNvSpPr/>
          <p:nvPr/>
        </p:nvSpPr>
        <p:spPr>
          <a:xfrm>
            <a:off x="1776413" y="2751138"/>
            <a:ext cx="6381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5785" name="直接连接符 256073"/>
          <p:cNvSpPr/>
          <p:nvPr/>
        </p:nvSpPr>
        <p:spPr>
          <a:xfrm>
            <a:off x="3530600" y="5276850"/>
            <a:ext cx="635000" cy="0"/>
          </a:xfrm>
          <a:prstGeom prst="line">
            <a:avLst/>
          </a:prstGeom>
          <a:ln w="50800" cap="flat" cmpd="sng">
            <a:solidFill>
              <a:schemeClr val="accent1"/>
            </a:solidFill>
            <a:prstDash val="solid"/>
            <a:round/>
            <a:headEnd type="none" w="med" len="med"/>
            <a:tailEnd type="triangle" w="med" len="med"/>
          </a:ln>
        </p:spPr>
      </p:sp>
      <p:sp>
        <p:nvSpPr>
          <p:cNvPr id="115786" name="矩形 256074"/>
          <p:cNvSpPr/>
          <p:nvPr/>
        </p:nvSpPr>
        <p:spPr>
          <a:xfrm>
            <a:off x="3509963" y="5308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5787" name="直接连接符 256075"/>
          <p:cNvSpPr/>
          <p:nvPr/>
        </p:nvSpPr>
        <p:spPr>
          <a:xfrm flipH="1">
            <a:off x="3651250" y="5211763"/>
            <a:ext cx="88900" cy="130175"/>
          </a:xfrm>
          <a:prstGeom prst="line">
            <a:avLst/>
          </a:prstGeom>
          <a:ln w="12700" cap="flat" cmpd="sng">
            <a:solidFill>
              <a:schemeClr val="tx1"/>
            </a:solidFill>
            <a:prstDash val="solid"/>
            <a:round/>
            <a:headEnd type="none" w="med" len="med"/>
            <a:tailEnd type="none" w="med" len="med"/>
          </a:ln>
        </p:spPr>
      </p:sp>
      <p:sp>
        <p:nvSpPr>
          <p:cNvPr id="115788" name="直接连接符 256076"/>
          <p:cNvSpPr/>
          <p:nvPr/>
        </p:nvSpPr>
        <p:spPr>
          <a:xfrm>
            <a:off x="2159000" y="5418138"/>
            <a:ext cx="939800" cy="0"/>
          </a:xfrm>
          <a:prstGeom prst="line">
            <a:avLst/>
          </a:prstGeom>
          <a:ln w="50800" cap="flat" cmpd="sng">
            <a:solidFill>
              <a:schemeClr val="accent1"/>
            </a:solidFill>
            <a:prstDash val="solid"/>
            <a:round/>
            <a:headEnd type="none" w="med" len="med"/>
            <a:tailEnd type="triangle" w="med" len="med"/>
          </a:ln>
        </p:spPr>
      </p:sp>
      <p:sp>
        <p:nvSpPr>
          <p:cNvPr id="115789" name="直接连接符 256077"/>
          <p:cNvSpPr/>
          <p:nvPr/>
        </p:nvSpPr>
        <p:spPr>
          <a:xfrm flipH="1">
            <a:off x="2584450" y="5354638"/>
            <a:ext cx="88900" cy="128587"/>
          </a:xfrm>
          <a:prstGeom prst="line">
            <a:avLst/>
          </a:prstGeom>
          <a:ln w="12700" cap="flat" cmpd="sng">
            <a:solidFill>
              <a:schemeClr val="tx1"/>
            </a:solidFill>
            <a:prstDash val="solid"/>
            <a:round/>
            <a:headEnd type="none" w="med" len="med"/>
            <a:tailEnd type="none" w="med" len="med"/>
          </a:ln>
        </p:spPr>
      </p:sp>
      <p:sp>
        <p:nvSpPr>
          <p:cNvPr id="115790" name="矩形 256078"/>
          <p:cNvSpPr/>
          <p:nvPr/>
        </p:nvSpPr>
        <p:spPr>
          <a:xfrm>
            <a:off x="2271713" y="54149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15791" name="矩形 256079"/>
          <p:cNvSpPr/>
          <p:nvPr/>
        </p:nvSpPr>
        <p:spPr>
          <a:xfrm>
            <a:off x="1268413" y="5273675"/>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15792" name="直接连接符 256080"/>
          <p:cNvSpPr/>
          <p:nvPr/>
        </p:nvSpPr>
        <p:spPr>
          <a:xfrm>
            <a:off x="4343400" y="5360988"/>
            <a:ext cx="0" cy="400050"/>
          </a:xfrm>
          <a:prstGeom prst="line">
            <a:avLst/>
          </a:prstGeom>
          <a:ln w="25400" cap="flat" cmpd="sng">
            <a:solidFill>
              <a:schemeClr val="tx1"/>
            </a:solidFill>
            <a:prstDash val="solid"/>
            <a:round/>
            <a:headEnd type="triangle" w="med" len="med"/>
            <a:tailEnd type="none" w="med" len="med"/>
          </a:ln>
        </p:spPr>
      </p:sp>
      <p:sp>
        <p:nvSpPr>
          <p:cNvPr id="115793" name="矩形 256081"/>
          <p:cNvSpPr/>
          <p:nvPr/>
        </p:nvSpPr>
        <p:spPr>
          <a:xfrm>
            <a:off x="3795713" y="5781675"/>
            <a:ext cx="13938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ALUSrc</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5794" name="直接连接符 256082"/>
          <p:cNvSpPr/>
          <p:nvPr/>
        </p:nvSpPr>
        <p:spPr>
          <a:xfrm>
            <a:off x="4508500" y="4637088"/>
            <a:ext cx="508000" cy="0"/>
          </a:xfrm>
          <a:prstGeom prst="line">
            <a:avLst/>
          </a:prstGeom>
          <a:ln w="38100" cap="flat" cmpd="sng">
            <a:solidFill>
              <a:schemeClr val="accent1"/>
            </a:solidFill>
            <a:prstDash val="solid"/>
            <a:round/>
            <a:headEnd type="none" w="med" len="med"/>
            <a:tailEnd type="triangle" w="med" len="med"/>
          </a:ln>
        </p:spPr>
      </p:sp>
      <p:sp>
        <p:nvSpPr>
          <p:cNvPr id="115795" name="直接连接符 256083"/>
          <p:cNvSpPr/>
          <p:nvPr/>
        </p:nvSpPr>
        <p:spPr>
          <a:xfrm>
            <a:off x="8534400" y="4519613"/>
            <a:ext cx="0" cy="1627187"/>
          </a:xfrm>
          <a:prstGeom prst="line">
            <a:avLst/>
          </a:prstGeom>
          <a:ln w="50800" cap="flat" cmpd="sng">
            <a:solidFill>
              <a:schemeClr val="accent1"/>
            </a:solidFill>
            <a:prstDash val="solid"/>
            <a:round/>
            <a:headEnd type="none" w="med" len="med"/>
            <a:tailEnd type="none" w="med" len="med"/>
          </a:ln>
        </p:spPr>
      </p:sp>
      <p:sp>
        <p:nvSpPr>
          <p:cNvPr id="115796" name="直接连接符 256084"/>
          <p:cNvSpPr/>
          <p:nvPr/>
        </p:nvSpPr>
        <p:spPr>
          <a:xfrm>
            <a:off x="3352800" y="5862638"/>
            <a:ext cx="0" cy="471487"/>
          </a:xfrm>
          <a:prstGeom prst="line">
            <a:avLst/>
          </a:prstGeom>
          <a:ln w="25400" cap="flat" cmpd="sng">
            <a:solidFill>
              <a:schemeClr val="tx1"/>
            </a:solidFill>
            <a:prstDash val="solid"/>
            <a:round/>
            <a:headEnd type="triangle" w="med" len="med"/>
            <a:tailEnd type="none" w="med" len="med"/>
          </a:ln>
        </p:spPr>
      </p:sp>
      <p:sp>
        <p:nvSpPr>
          <p:cNvPr id="115797" name="矩形 256085"/>
          <p:cNvSpPr/>
          <p:nvPr/>
        </p:nvSpPr>
        <p:spPr>
          <a:xfrm>
            <a:off x="2347913" y="6191250"/>
            <a:ext cx="12414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ExtOp</a:t>
            </a:r>
            <a:r>
              <a:rPr lang="en-US" altLang="zh-CN" sz="1800" u="sng">
                <a:solidFill>
                  <a:schemeClr val="accent1"/>
                </a:solidFill>
                <a:latin typeface="Arial" panose="020B0604020202020204" pitchFamily="34" charset="0"/>
                <a:ea typeface="宋体" panose="02010600030101010101" pitchFamily="2" charset="-122"/>
              </a:rPr>
              <a:t> = 1</a:t>
            </a:r>
            <a:endParaRPr lang="en-US" altLang="zh-CN" sz="1800" u="sng">
              <a:solidFill>
                <a:schemeClr val="accent1"/>
              </a:solidFill>
              <a:latin typeface="Arial" panose="020B0604020202020204" pitchFamily="34" charset="0"/>
              <a:ea typeface="宋体" panose="02010600030101010101" pitchFamily="2" charset="-122"/>
            </a:endParaRPr>
          </a:p>
        </p:txBody>
      </p:sp>
      <p:grpSp>
        <p:nvGrpSpPr>
          <p:cNvPr id="115798" name="组合 256086"/>
          <p:cNvGrpSpPr/>
          <p:nvPr/>
        </p:nvGrpSpPr>
        <p:grpSpPr>
          <a:xfrm>
            <a:off x="7772400" y="3938588"/>
            <a:ext cx="304800" cy="1255712"/>
            <a:chOff x="4896" y="2481"/>
            <a:chExt cx="192" cy="791"/>
          </a:xfrm>
        </p:grpSpPr>
        <p:sp>
          <p:nvSpPr>
            <p:cNvPr id="115799" name="直接连接符 256087"/>
            <p:cNvSpPr/>
            <p:nvPr/>
          </p:nvSpPr>
          <p:spPr>
            <a:xfrm>
              <a:off x="4896" y="2481"/>
              <a:ext cx="0" cy="775"/>
            </a:xfrm>
            <a:prstGeom prst="line">
              <a:avLst/>
            </a:prstGeom>
            <a:ln w="25400" cap="flat" cmpd="sng">
              <a:solidFill>
                <a:schemeClr val="tx1"/>
              </a:solidFill>
              <a:prstDash val="solid"/>
              <a:round/>
              <a:headEnd type="none" w="med" len="med"/>
              <a:tailEnd type="none" w="med" len="med"/>
            </a:ln>
          </p:spPr>
        </p:sp>
        <p:sp>
          <p:nvSpPr>
            <p:cNvPr id="115800" name="直接连接符 256088"/>
            <p:cNvSpPr/>
            <p:nvPr/>
          </p:nvSpPr>
          <p:spPr>
            <a:xfrm>
              <a:off x="4904" y="2481"/>
              <a:ext cx="176" cy="90"/>
            </a:xfrm>
            <a:prstGeom prst="line">
              <a:avLst/>
            </a:prstGeom>
            <a:ln w="25400" cap="flat" cmpd="sng">
              <a:solidFill>
                <a:schemeClr val="tx1"/>
              </a:solidFill>
              <a:prstDash val="solid"/>
              <a:round/>
              <a:headEnd type="none" w="med" len="med"/>
              <a:tailEnd type="none" w="med" len="med"/>
            </a:ln>
          </p:spPr>
        </p:sp>
        <p:sp>
          <p:nvSpPr>
            <p:cNvPr id="115801" name="直接连接符 256089"/>
            <p:cNvSpPr/>
            <p:nvPr/>
          </p:nvSpPr>
          <p:spPr>
            <a:xfrm flipV="1">
              <a:off x="4904" y="3150"/>
              <a:ext cx="176" cy="122"/>
            </a:xfrm>
            <a:prstGeom prst="line">
              <a:avLst/>
            </a:prstGeom>
            <a:ln w="25400" cap="flat" cmpd="sng">
              <a:solidFill>
                <a:schemeClr val="tx1"/>
              </a:solidFill>
              <a:prstDash val="solid"/>
              <a:round/>
              <a:headEnd type="none" w="med" len="med"/>
              <a:tailEnd type="none" w="med" len="med"/>
            </a:ln>
          </p:spPr>
        </p:sp>
        <p:sp>
          <p:nvSpPr>
            <p:cNvPr id="115802" name="直接连接符 256090"/>
            <p:cNvSpPr/>
            <p:nvPr/>
          </p:nvSpPr>
          <p:spPr>
            <a:xfrm>
              <a:off x="5088" y="2587"/>
              <a:ext cx="0" cy="563"/>
            </a:xfrm>
            <a:prstGeom prst="line">
              <a:avLst/>
            </a:prstGeom>
            <a:ln w="25400" cap="flat" cmpd="sng">
              <a:solidFill>
                <a:schemeClr val="tx1"/>
              </a:solidFill>
              <a:prstDash val="solid"/>
              <a:round/>
              <a:headEnd type="none" w="med" len="med"/>
              <a:tailEnd type="none" w="med" len="med"/>
            </a:ln>
          </p:spPr>
        </p:sp>
      </p:grpSp>
      <p:sp>
        <p:nvSpPr>
          <p:cNvPr id="115803" name="矩形 256091"/>
          <p:cNvSpPr/>
          <p:nvPr/>
        </p:nvSpPr>
        <p:spPr>
          <a:xfrm rot="5400000">
            <a:off x="7542213" y="4471988"/>
            <a:ext cx="638175" cy="365125"/>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5804" name="直接连接符 256092"/>
          <p:cNvSpPr/>
          <p:nvPr/>
        </p:nvSpPr>
        <p:spPr>
          <a:xfrm flipV="1">
            <a:off x="7924800" y="3559175"/>
            <a:ext cx="0" cy="450850"/>
          </a:xfrm>
          <a:prstGeom prst="line">
            <a:avLst/>
          </a:prstGeom>
          <a:ln w="25400" cap="flat" cmpd="sng">
            <a:solidFill>
              <a:schemeClr val="tx1"/>
            </a:solidFill>
            <a:prstDash val="solid"/>
            <a:round/>
            <a:headEnd type="triangle" w="med" len="med"/>
            <a:tailEnd type="none" w="med" len="med"/>
          </a:ln>
        </p:spPr>
      </p:sp>
      <p:sp>
        <p:nvSpPr>
          <p:cNvPr id="115805" name="矩形 256093"/>
          <p:cNvSpPr/>
          <p:nvPr/>
        </p:nvSpPr>
        <p:spPr>
          <a:xfrm>
            <a:off x="7391400" y="3236913"/>
            <a:ext cx="17240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MemtoReg</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5806" name="直接连接符 256094"/>
          <p:cNvSpPr/>
          <p:nvPr/>
        </p:nvSpPr>
        <p:spPr>
          <a:xfrm>
            <a:off x="8102600" y="4494213"/>
            <a:ext cx="406400" cy="0"/>
          </a:xfrm>
          <a:prstGeom prst="line">
            <a:avLst/>
          </a:prstGeom>
          <a:ln w="50800" cap="flat" cmpd="sng">
            <a:solidFill>
              <a:schemeClr val="accent1"/>
            </a:solidFill>
            <a:prstDash val="solid"/>
            <a:round/>
            <a:headEnd type="none" w="med" len="med"/>
            <a:tailEnd type="none" w="med" len="med"/>
          </a:ln>
        </p:spPr>
      </p:sp>
      <p:sp>
        <p:nvSpPr>
          <p:cNvPr id="115807" name="矩形 256095"/>
          <p:cNvSpPr/>
          <p:nvPr/>
        </p:nvSpPr>
        <p:spPr>
          <a:xfrm>
            <a:off x="6022975" y="4862513"/>
            <a:ext cx="1127125" cy="112871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808" name="直接连接符 256096"/>
          <p:cNvSpPr/>
          <p:nvPr/>
        </p:nvSpPr>
        <p:spPr>
          <a:xfrm flipH="1">
            <a:off x="5397500" y="5845175"/>
            <a:ext cx="482600" cy="0"/>
          </a:xfrm>
          <a:prstGeom prst="line">
            <a:avLst/>
          </a:prstGeom>
          <a:ln w="25400" cap="flat" cmpd="sng">
            <a:solidFill>
              <a:schemeClr val="tx1"/>
            </a:solidFill>
            <a:prstDash val="solid"/>
            <a:round/>
            <a:headEnd type="none" w="med" len="med"/>
            <a:tailEnd type="none" w="med" len="med"/>
          </a:ln>
        </p:spPr>
      </p:sp>
      <p:sp>
        <p:nvSpPr>
          <p:cNvPr id="115809" name="矩形 256097"/>
          <p:cNvSpPr/>
          <p:nvPr/>
        </p:nvSpPr>
        <p:spPr>
          <a:xfrm>
            <a:off x="5291138" y="55022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5810" name="矩形 256098"/>
          <p:cNvSpPr/>
          <p:nvPr/>
        </p:nvSpPr>
        <p:spPr>
          <a:xfrm>
            <a:off x="4633913" y="5060950"/>
            <a:ext cx="942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Data In</a:t>
            </a:r>
            <a:endParaRPr lang="en-US" altLang="zh-CN" sz="1800">
              <a:latin typeface="Arial" panose="020B0604020202020204" pitchFamily="34" charset="0"/>
              <a:ea typeface="宋体" panose="02010600030101010101" pitchFamily="2" charset="-122"/>
            </a:endParaRPr>
          </a:p>
        </p:txBody>
      </p:sp>
      <p:sp>
        <p:nvSpPr>
          <p:cNvPr id="115811" name="直接连接符 256099"/>
          <p:cNvSpPr/>
          <p:nvPr/>
        </p:nvSpPr>
        <p:spPr>
          <a:xfrm>
            <a:off x="6061075" y="5768975"/>
            <a:ext cx="250825" cy="63500"/>
          </a:xfrm>
          <a:prstGeom prst="line">
            <a:avLst/>
          </a:prstGeom>
          <a:ln w="25400" cap="flat" cmpd="sng">
            <a:solidFill>
              <a:schemeClr val="tx1"/>
            </a:solidFill>
            <a:prstDash val="solid"/>
            <a:round/>
            <a:headEnd type="none" w="med" len="med"/>
            <a:tailEnd type="none" w="med" len="med"/>
          </a:ln>
        </p:spPr>
      </p:sp>
      <p:sp>
        <p:nvSpPr>
          <p:cNvPr id="115812" name="直接连接符 256100"/>
          <p:cNvSpPr/>
          <p:nvPr/>
        </p:nvSpPr>
        <p:spPr>
          <a:xfrm flipH="1">
            <a:off x="6035675" y="5857875"/>
            <a:ext cx="301625" cy="98425"/>
          </a:xfrm>
          <a:prstGeom prst="line">
            <a:avLst/>
          </a:prstGeom>
          <a:ln w="25400" cap="flat" cmpd="sng">
            <a:solidFill>
              <a:schemeClr val="tx1"/>
            </a:solidFill>
            <a:prstDash val="solid"/>
            <a:round/>
            <a:headEnd type="none" w="med" len="med"/>
            <a:tailEnd type="none" w="med" len="med"/>
          </a:ln>
        </p:spPr>
      </p:sp>
      <p:sp>
        <p:nvSpPr>
          <p:cNvPr id="115813" name="椭圆 256101"/>
          <p:cNvSpPr/>
          <p:nvPr/>
        </p:nvSpPr>
        <p:spPr>
          <a:xfrm>
            <a:off x="5870575" y="58039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814" name="矩形 256102"/>
          <p:cNvSpPr/>
          <p:nvPr/>
        </p:nvSpPr>
        <p:spPr>
          <a:xfrm>
            <a:off x="6003925" y="4845050"/>
            <a:ext cx="7778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115815" name="直接连接符 256103"/>
          <p:cNvSpPr/>
          <p:nvPr/>
        </p:nvSpPr>
        <p:spPr>
          <a:xfrm flipH="1">
            <a:off x="5016500" y="5062538"/>
            <a:ext cx="1016000" cy="0"/>
          </a:xfrm>
          <a:prstGeom prst="line">
            <a:avLst/>
          </a:prstGeom>
          <a:ln w="25400" cap="flat" cmpd="sng">
            <a:solidFill>
              <a:schemeClr val="tx1"/>
            </a:solidFill>
            <a:prstDash val="solid"/>
            <a:round/>
            <a:headEnd type="triangle" w="med" len="med"/>
            <a:tailEnd type="none" w="med" len="med"/>
          </a:ln>
        </p:spPr>
      </p:sp>
      <p:sp>
        <p:nvSpPr>
          <p:cNvPr id="115816" name="直接连接符 256104"/>
          <p:cNvSpPr/>
          <p:nvPr/>
        </p:nvSpPr>
        <p:spPr>
          <a:xfrm flipH="1">
            <a:off x="5556250" y="4999038"/>
            <a:ext cx="88900" cy="128587"/>
          </a:xfrm>
          <a:prstGeom prst="line">
            <a:avLst/>
          </a:prstGeom>
          <a:ln w="12700" cap="flat" cmpd="sng">
            <a:solidFill>
              <a:schemeClr val="tx1"/>
            </a:solidFill>
            <a:prstDash val="solid"/>
            <a:round/>
            <a:headEnd type="none" w="med" len="med"/>
            <a:tailEnd type="none" w="med" len="med"/>
          </a:ln>
        </p:spPr>
      </p:sp>
      <p:sp>
        <p:nvSpPr>
          <p:cNvPr id="115817" name="矩形 256105"/>
          <p:cNvSpPr/>
          <p:nvPr/>
        </p:nvSpPr>
        <p:spPr>
          <a:xfrm>
            <a:off x="5319713" y="5130800"/>
            <a:ext cx="3841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32</a:t>
            </a:r>
            <a:endParaRPr lang="zh-CN" altLang="en-US" b="0" dirty="0">
              <a:latin typeface="Times New Roman" panose="02020603050405020304" pitchFamily="18" charset="0"/>
              <a:ea typeface="宋体" panose="02010600030101010101" pitchFamily="2" charset="-122"/>
            </a:endParaRPr>
          </a:p>
        </p:txBody>
      </p:sp>
      <p:sp>
        <p:nvSpPr>
          <p:cNvPr id="115818" name="直接连接符 256106"/>
          <p:cNvSpPr/>
          <p:nvPr/>
        </p:nvSpPr>
        <p:spPr>
          <a:xfrm flipV="1">
            <a:off x="6324600" y="3559175"/>
            <a:ext cx="0" cy="1303338"/>
          </a:xfrm>
          <a:prstGeom prst="line">
            <a:avLst/>
          </a:prstGeom>
          <a:ln w="25400" cap="flat" cmpd="sng">
            <a:solidFill>
              <a:schemeClr val="tx1"/>
            </a:solidFill>
            <a:prstDash val="solid"/>
            <a:round/>
            <a:headEnd type="triangle" w="med" len="med"/>
            <a:tailEnd type="none" w="med" len="med"/>
          </a:ln>
        </p:spPr>
      </p:sp>
      <p:sp>
        <p:nvSpPr>
          <p:cNvPr id="115819" name="直接连接符 256107"/>
          <p:cNvSpPr/>
          <p:nvPr/>
        </p:nvSpPr>
        <p:spPr>
          <a:xfrm>
            <a:off x="6858000" y="4235450"/>
            <a:ext cx="0" cy="588963"/>
          </a:xfrm>
          <a:prstGeom prst="line">
            <a:avLst/>
          </a:prstGeom>
          <a:ln w="50800" cap="flat" cmpd="sng">
            <a:solidFill>
              <a:schemeClr val="accent1"/>
            </a:solidFill>
            <a:prstDash val="solid"/>
            <a:round/>
            <a:headEnd type="none" w="med" len="med"/>
            <a:tailEnd type="triangle" w="med" len="med"/>
          </a:ln>
        </p:spPr>
      </p:sp>
      <p:sp>
        <p:nvSpPr>
          <p:cNvPr id="115820" name="矩形 256108"/>
          <p:cNvSpPr/>
          <p:nvPr/>
        </p:nvSpPr>
        <p:spPr>
          <a:xfrm>
            <a:off x="6615113" y="4846638"/>
            <a:ext cx="5746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115821" name="矩形 256109"/>
          <p:cNvSpPr/>
          <p:nvPr/>
        </p:nvSpPr>
        <p:spPr>
          <a:xfrm>
            <a:off x="6015038" y="5202238"/>
            <a:ext cx="10572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15822" name="直接连接符 256110"/>
          <p:cNvSpPr/>
          <p:nvPr/>
        </p:nvSpPr>
        <p:spPr>
          <a:xfrm>
            <a:off x="7340600" y="5013325"/>
            <a:ext cx="406400" cy="0"/>
          </a:xfrm>
          <a:prstGeom prst="line">
            <a:avLst/>
          </a:prstGeom>
          <a:ln w="50800" cap="flat" cmpd="sng">
            <a:solidFill>
              <a:schemeClr val="accent1"/>
            </a:solidFill>
            <a:prstDash val="solid"/>
            <a:round/>
            <a:headEnd type="none" w="med" len="med"/>
            <a:tailEnd type="triangle" w="med" len="med"/>
          </a:ln>
        </p:spPr>
      </p:sp>
      <p:sp>
        <p:nvSpPr>
          <p:cNvPr id="115823" name="直接连接符 256111"/>
          <p:cNvSpPr/>
          <p:nvPr/>
        </p:nvSpPr>
        <p:spPr>
          <a:xfrm>
            <a:off x="7315200" y="5054600"/>
            <a:ext cx="0" cy="409575"/>
          </a:xfrm>
          <a:prstGeom prst="line">
            <a:avLst/>
          </a:prstGeom>
          <a:ln w="50800" cap="flat" cmpd="sng">
            <a:solidFill>
              <a:schemeClr val="accent1"/>
            </a:solidFill>
            <a:prstDash val="solid"/>
            <a:round/>
            <a:headEnd type="none" w="med" len="med"/>
            <a:tailEnd type="none" w="med" len="med"/>
          </a:ln>
        </p:spPr>
      </p:sp>
      <p:sp>
        <p:nvSpPr>
          <p:cNvPr id="115824" name="直接连接符 256112"/>
          <p:cNvSpPr/>
          <p:nvPr/>
        </p:nvSpPr>
        <p:spPr>
          <a:xfrm flipH="1">
            <a:off x="7137400" y="5489575"/>
            <a:ext cx="203200" cy="0"/>
          </a:xfrm>
          <a:prstGeom prst="line">
            <a:avLst/>
          </a:prstGeom>
          <a:ln w="50800" cap="flat" cmpd="sng">
            <a:solidFill>
              <a:schemeClr val="accent1"/>
            </a:solidFill>
            <a:prstDash val="solid"/>
            <a:round/>
            <a:headEnd type="none" w="med" len="med"/>
            <a:tailEnd type="none" w="med" len="med"/>
          </a:ln>
        </p:spPr>
      </p:sp>
      <p:sp>
        <p:nvSpPr>
          <p:cNvPr id="115825" name="直接连接符 256113"/>
          <p:cNvSpPr/>
          <p:nvPr/>
        </p:nvSpPr>
        <p:spPr>
          <a:xfrm flipH="1">
            <a:off x="7232650" y="5187950"/>
            <a:ext cx="165100" cy="193675"/>
          </a:xfrm>
          <a:prstGeom prst="line">
            <a:avLst/>
          </a:prstGeom>
          <a:ln w="12700" cap="flat" cmpd="sng">
            <a:solidFill>
              <a:schemeClr val="tx1"/>
            </a:solidFill>
            <a:prstDash val="solid"/>
            <a:round/>
            <a:headEnd type="none" w="med" len="med"/>
            <a:tailEnd type="none" w="med" len="med"/>
          </a:ln>
        </p:spPr>
      </p:sp>
      <p:sp>
        <p:nvSpPr>
          <p:cNvPr id="115826" name="矩形 256114"/>
          <p:cNvSpPr/>
          <p:nvPr/>
        </p:nvSpPr>
        <p:spPr>
          <a:xfrm>
            <a:off x="7300913" y="52593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5827" name="矩形 256115"/>
          <p:cNvSpPr/>
          <p:nvPr/>
        </p:nvSpPr>
        <p:spPr>
          <a:xfrm>
            <a:off x="6310313" y="3513138"/>
            <a:ext cx="13811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MemWr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5828" name="直接连接符 256116"/>
          <p:cNvSpPr/>
          <p:nvPr/>
        </p:nvSpPr>
        <p:spPr>
          <a:xfrm>
            <a:off x="3810000" y="4508500"/>
            <a:ext cx="0" cy="541338"/>
          </a:xfrm>
          <a:prstGeom prst="line">
            <a:avLst/>
          </a:prstGeom>
          <a:ln w="25400" cap="flat" cmpd="sng">
            <a:solidFill>
              <a:schemeClr val="tx1"/>
            </a:solidFill>
            <a:prstDash val="solid"/>
            <a:round/>
            <a:headEnd type="none" w="med" len="med"/>
            <a:tailEnd type="none" w="med" len="med"/>
          </a:ln>
        </p:spPr>
      </p:sp>
      <p:sp>
        <p:nvSpPr>
          <p:cNvPr id="115829" name="直接连接符 256117"/>
          <p:cNvSpPr/>
          <p:nvPr/>
        </p:nvSpPr>
        <p:spPr>
          <a:xfrm>
            <a:off x="3805238" y="5054600"/>
            <a:ext cx="1211262" cy="7938"/>
          </a:xfrm>
          <a:prstGeom prst="line">
            <a:avLst/>
          </a:prstGeom>
          <a:ln w="25400" cap="flat" cmpd="sng">
            <a:solidFill>
              <a:schemeClr val="tx1"/>
            </a:solidFill>
            <a:prstDash val="solid"/>
            <a:round/>
            <a:headEnd type="none" w="med" len="med"/>
            <a:tailEnd type="none" w="med" len="med"/>
          </a:ln>
        </p:spPr>
      </p:sp>
      <p:sp>
        <p:nvSpPr>
          <p:cNvPr id="115830" name="矩形 256118"/>
          <p:cNvSpPr/>
          <p:nvPr/>
        </p:nvSpPr>
        <p:spPr>
          <a:xfrm rot="5400000">
            <a:off x="5021263" y="4068763"/>
            <a:ext cx="6508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115831" name="矩形 256119"/>
          <p:cNvSpPr/>
          <p:nvPr/>
        </p:nvSpPr>
        <p:spPr>
          <a:xfrm>
            <a:off x="4575175" y="1993900"/>
            <a:ext cx="1203325" cy="873125"/>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832" name="直接连接符 256120"/>
          <p:cNvSpPr/>
          <p:nvPr/>
        </p:nvSpPr>
        <p:spPr>
          <a:xfrm flipH="1">
            <a:off x="3949700" y="2720975"/>
            <a:ext cx="482600" cy="0"/>
          </a:xfrm>
          <a:prstGeom prst="line">
            <a:avLst/>
          </a:prstGeom>
          <a:ln w="25400" cap="flat" cmpd="sng">
            <a:solidFill>
              <a:schemeClr val="tx1"/>
            </a:solidFill>
            <a:prstDash val="solid"/>
            <a:round/>
            <a:headEnd type="none" w="med" len="med"/>
            <a:tailEnd type="none" w="med" len="med"/>
          </a:ln>
        </p:spPr>
      </p:sp>
      <p:sp>
        <p:nvSpPr>
          <p:cNvPr id="115833" name="直接连接符 256121"/>
          <p:cNvSpPr/>
          <p:nvPr/>
        </p:nvSpPr>
        <p:spPr>
          <a:xfrm>
            <a:off x="4613275" y="2644775"/>
            <a:ext cx="250825" cy="63500"/>
          </a:xfrm>
          <a:prstGeom prst="line">
            <a:avLst/>
          </a:prstGeom>
          <a:ln w="25400" cap="flat" cmpd="sng">
            <a:solidFill>
              <a:schemeClr val="tx1"/>
            </a:solidFill>
            <a:prstDash val="solid"/>
            <a:round/>
            <a:headEnd type="none" w="med" len="med"/>
            <a:tailEnd type="none" w="med" len="med"/>
          </a:ln>
        </p:spPr>
      </p:sp>
      <p:sp>
        <p:nvSpPr>
          <p:cNvPr id="115834" name="直接连接符 256122"/>
          <p:cNvSpPr/>
          <p:nvPr/>
        </p:nvSpPr>
        <p:spPr>
          <a:xfrm flipH="1">
            <a:off x="4587875" y="2733675"/>
            <a:ext cx="301625" cy="98425"/>
          </a:xfrm>
          <a:prstGeom prst="line">
            <a:avLst/>
          </a:prstGeom>
          <a:ln w="25400" cap="flat" cmpd="sng">
            <a:solidFill>
              <a:schemeClr val="tx1"/>
            </a:solidFill>
            <a:prstDash val="solid"/>
            <a:round/>
            <a:headEnd type="none" w="med" len="med"/>
            <a:tailEnd type="none" w="med" len="med"/>
          </a:ln>
        </p:spPr>
      </p:sp>
      <p:sp>
        <p:nvSpPr>
          <p:cNvPr id="115835" name="椭圆 256123"/>
          <p:cNvSpPr/>
          <p:nvPr/>
        </p:nvSpPr>
        <p:spPr>
          <a:xfrm>
            <a:off x="4422775" y="26797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836" name="矩形 256124"/>
          <p:cNvSpPr/>
          <p:nvPr/>
        </p:nvSpPr>
        <p:spPr>
          <a:xfrm>
            <a:off x="4494213" y="2078038"/>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Fetch</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Unit</a:t>
            </a:r>
            <a:endParaRPr lang="en-US" altLang="zh-CN" sz="1800">
              <a:latin typeface="Arial" panose="020B0604020202020204" pitchFamily="34" charset="0"/>
              <a:ea typeface="宋体" panose="02010600030101010101" pitchFamily="2" charset="-122"/>
            </a:endParaRPr>
          </a:p>
        </p:txBody>
      </p:sp>
      <p:sp>
        <p:nvSpPr>
          <p:cNvPr id="115837" name="矩形 256125"/>
          <p:cNvSpPr/>
          <p:nvPr/>
        </p:nvSpPr>
        <p:spPr>
          <a:xfrm>
            <a:off x="3500438" y="25304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5838" name="直接连接符 256126"/>
          <p:cNvSpPr/>
          <p:nvPr/>
        </p:nvSpPr>
        <p:spPr>
          <a:xfrm flipV="1">
            <a:off x="5638800" y="2882900"/>
            <a:ext cx="0" cy="1168400"/>
          </a:xfrm>
          <a:prstGeom prst="line">
            <a:avLst/>
          </a:prstGeom>
          <a:ln w="25400" cap="flat" cmpd="sng">
            <a:solidFill>
              <a:schemeClr val="tx1"/>
            </a:solidFill>
            <a:prstDash val="solid"/>
            <a:round/>
            <a:headEnd type="none" w="med" len="med"/>
            <a:tailEnd type="triangle" w="med" len="med"/>
          </a:ln>
        </p:spPr>
      </p:sp>
      <p:sp>
        <p:nvSpPr>
          <p:cNvPr id="115839" name="直接连接符 256127"/>
          <p:cNvSpPr/>
          <p:nvPr/>
        </p:nvSpPr>
        <p:spPr>
          <a:xfrm flipH="1">
            <a:off x="5473700" y="4038600"/>
            <a:ext cx="177800" cy="0"/>
          </a:xfrm>
          <a:prstGeom prst="line">
            <a:avLst/>
          </a:prstGeom>
          <a:ln w="25400" cap="flat" cmpd="sng">
            <a:solidFill>
              <a:schemeClr val="tx1"/>
            </a:solidFill>
            <a:prstDash val="solid"/>
            <a:round/>
            <a:headEnd type="none" w="med" len="med"/>
            <a:tailEnd type="none" w="med" len="med"/>
          </a:ln>
        </p:spPr>
      </p:sp>
      <p:sp>
        <p:nvSpPr>
          <p:cNvPr id="115840" name="矩形 256128"/>
          <p:cNvSpPr/>
          <p:nvPr/>
        </p:nvSpPr>
        <p:spPr>
          <a:xfrm>
            <a:off x="5624513" y="3505200"/>
            <a:ext cx="6762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15841" name="直接连接符 256129"/>
          <p:cNvSpPr/>
          <p:nvPr/>
        </p:nvSpPr>
        <p:spPr>
          <a:xfrm>
            <a:off x="5803900" y="2133600"/>
            <a:ext cx="2489200" cy="0"/>
          </a:xfrm>
          <a:prstGeom prst="line">
            <a:avLst/>
          </a:prstGeom>
          <a:ln w="25400" cap="flat" cmpd="sng">
            <a:solidFill>
              <a:schemeClr val="tx1"/>
            </a:solidFill>
            <a:prstDash val="solid"/>
            <a:round/>
            <a:headEnd type="none" w="med" len="med"/>
            <a:tailEnd type="triangle" w="med" len="med"/>
          </a:ln>
        </p:spPr>
      </p:sp>
      <p:sp>
        <p:nvSpPr>
          <p:cNvPr id="115842" name="矩形 256130"/>
          <p:cNvSpPr/>
          <p:nvPr/>
        </p:nvSpPr>
        <p:spPr>
          <a:xfrm>
            <a:off x="5853113" y="1744663"/>
            <a:ext cx="206692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15843" name="直接连接符 256131"/>
          <p:cNvSpPr/>
          <p:nvPr/>
        </p:nvSpPr>
        <p:spPr>
          <a:xfrm>
            <a:off x="3975100" y="2438400"/>
            <a:ext cx="584200" cy="0"/>
          </a:xfrm>
          <a:prstGeom prst="line">
            <a:avLst/>
          </a:prstGeom>
          <a:ln w="25400" cap="flat" cmpd="sng">
            <a:solidFill>
              <a:schemeClr val="tx1"/>
            </a:solidFill>
            <a:prstDash val="solid"/>
            <a:round/>
            <a:headEnd type="none" w="med" len="med"/>
            <a:tailEnd type="triangle" w="med" len="med"/>
          </a:ln>
        </p:spPr>
      </p:sp>
      <p:sp>
        <p:nvSpPr>
          <p:cNvPr id="115844" name="直接连接符 256132"/>
          <p:cNvSpPr/>
          <p:nvPr/>
        </p:nvSpPr>
        <p:spPr>
          <a:xfrm>
            <a:off x="3975100" y="2133600"/>
            <a:ext cx="584200" cy="0"/>
          </a:xfrm>
          <a:prstGeom prst="line">
            <a:avLst/>
          </a:prstGeom>
          <a:ln w="25400" cap="flat" cmpd="sng">
            <a:solidFill>
              <a:schemeClr val="tx1"/>
            </a:solidFill>
            <a:prstDash val="solid"/>
            <a:round/>
            <a:headEnd type="none" w="med" len="med"/>
            <a:tailEnd type="triangle" w="med" len="med"/>
          </a:ln>
        </p:spPr>
      </p:sp>
      <p:sp>
        <p:nvSpPr>
          <p:cNvPr id="115845" name="矩形 256133"/>
          <p:cNvSpPr/>
          <p:nvPr/>
        </p:nvSpPr>
        <p:spPr>
          <a:xfrm>
            <a:off x="2852738" y="2225675"/>
            <a:ext cx="11652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5846" name="矩形 256134"/>
          <p:cNvSpPr/>
          <p:nvPr/>
        </p:nvSpPr>
        <p:spPr>
          <a:xfrm>
            <a:off x="2700338" y="1844675"/>
            <a:ext cx="13430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5847" name="矩形 256135"/>
          <p:cNvSpPr/>
          <p:nvPr/>
        </p:nvSpPr>
        <p:spPr>
          <a:xfrm>
            <a:off x="7732713" y="40386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5848" name="矩形 256136"/>
          <p:cNvSpPr/>
          <p:nvPr/>
        </p:nvSpPr>
        <p:spPr>
          <a:xfrm>
            <a:off x="7732713" y="48180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5849" name="矩形 256137"/>
          <p:cNvSpPr/>
          <p:nvPr/>
        </p:nvSpPr>
        <p:spPr>
          <a:xfrm>
            <a:off x="4151313" y="42672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5850" name="矩形 256138"/>
          <p:cNvSpPr/>
          <p:nvPr/>
        </p:nvSpPr>
        <p:spPr>
          <a:xfrm>
            <a:off x="4151313" y="50466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5851" name="矩形 256139"/>
          <p:cNvSpPr/>
          <p:nvPr/>
        </p:nvSpPr>
        <p:spPr>
          <a:xfrm>
            <a:off x="22812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5852" name="矩形 256140"/>
          <p:cNvSpPr/>
          <p:nvPr/>
        </p:nvSpPr>
        <p:spPr>
          <a:xfrm>
            <a:off x="15954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5853" name="直接连接符 256141"/>
          <p:cNvSpPr/>
          <p:nvPr/>
        </p:nvSpPr>
        <p:spPr>
          <a:xfrm>
            <a:off x="6096000" y="2146300"/>
            <a:ext cx="0" cy="889000"/>
          </a:xfrm>
          <a:prstGeom prst="line">
            <a:avLst/>
          </a:prstGeom>
          <a:ln w="25400" cap="flat" cmpd="sng">
            <a:solidFill>
              <a:schemeClr val="tx1"/>
            </a:solidFill>
            <a:prstDash val="solid"/>
            <a:round/>
            <a:headEnd type="none" w="med" len="med"/>
            <a:tailEnd type="triangle" w="med" len="med"/>
          </a:ln>
        </p:spPr>
      </p:sp>
      <p:sp>
        <p:nvSpPr>
          <p:cNvPr id="115854" name="矩形 256142"/>
          <p:cNvSpPr/>
          <p:nvPr/>
        </p:nvSpPr>
        <p:spPr>
          <a:xfrm rot="5400000">
            <a:off x="57546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&lt;21:25&gt;</a:t>
            </a:r>
            <a:endParaRPr lang="zh-CN" altLang="en-US" sz="1800" dirty="0">
              <a:latin typeface="Arial" panose="020B0604020202020204" pitchFamily="34" charset="0"/>
              <a:ea typeface="宋体" panose="02010600030101010101" pitchFamily="2" charset="-122"/>
            </a:endParaRPr>
          </a:p>
        </p:txBody>
      </p:sp>
      <p:sp>
        <p:nvSpPr>
          <p:cNvPr id="115855" name="矩形 256143"/>
          <p:cNvSpPr/>
          <p:nvPr/>
        </p:nvSpPr>
        <p:spPr>
          <a:xfrm rot="5400000">
            <a:off x="62880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&lt;16:20&gt;</a:t>
            </a:r>
            <a:endParaRPr lang="zh-CN" altLang="en-US" sz="1800" dirty="0">
              <a:latin typeface="Arial" panose="020B0604020202020204" pitchFamily="34" charset="0"/>
              <a:ea typeface="宋体" panose="02010600030101010101" pitchFamily="2" charset="-122"/>
            </a:endParaRPr>
          </a:p>
        </p:txBody>
      </p:sp>
      <p:sp>
        <p:nvSpPr>
          <p:cNvPr id="115856" name="矩形 256144"/>
          <p:cNvSpPr/>
          <p:nvPr/>
        </p:nvSpPr>
        <p:spPr>
          <a:xfrm rot="5400000">
            <a:off x="68214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&lt;11:15&gt;</a:t>
            </a:r>
            <a:endParaRPr lang="zh-CN" altLang="en-US" sz="1800" dirty="0">
              <a:latin typeface="Arial" panose="020B0604020202020204" pitchFamily="34" charset="0"/>
              <a:ea typeface="宋体" panose="02010600030101010101" pitchFamily="2" charset="-122"/>
            </a:endParaRPr>
          </a:p>
        </p:txBody>
      </p:sp>
      <p:sp>
        <p:nvSpPr>
          <p:cNvPr id="115857" name="矩形 256145"/>
          <p:cNvSpPr/>
          <p:nvPr/>
        </p:nvSpPr>
        <p:spPr>
          <a:xfrm rot="5400000">
            <a:off x="7367588" y="2408238"/>
            <a:ext cx="904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&lt;0:15&gt;</a:t>
            </a:r>
            <a:endParaRPr lang="zh-CN" altLang="en-US" sz="1800" dirty="0">
              <a:latin typeface="Arial" panose="020B0604020202020204" pitchFamily="34" charset="0"/>
              <a:ea typeface="宋体" panose="02010600030101010101" pitchFamily="2" charset="-122"/>
            </a:endParaRPr>
          </a:p>
        </p:txBody>
      </p:sp>
      <p:sp>
        <p:nvSpPr>
          <p:cNvPr id="115858" name="直接连接符 256146"/>
          <p:cNvSpPr/>
          <p:nvPr/>
        </p:nvSpPr>
        <p:spPr>
          <a:xfrm>
            <a:off x="6629400" y="2146300"/>
            <a:ext cx="0" cy="889000"/>
          </a:xfrm>
          <a:prstGeom prst="line">
            <a:avLst/>
          </a:prstGeom>
          <a:ln w="25400" cap="flat" cmpd="sng">
            <a:solidFill>
              <a:schemeClr val="tx1"/>
            </a:solidFill>
            <a:prstDash val="solid"/>
            <a:round/>
            <a:headEnd type="none" w="med" len="med"/>
            <a:tailEnd type="triangle" w="med" len="med"/>
          </a:ln>
        </p:spPr>
      </p:sp>
      <p:sp>
        <p:nvSpPr>
          <p:cNvPr id="115859" name="直接连接符 256147"/>
          <p:cNvSpPr/>
          <p:nvPr/>
        </p:nvSpPr>
        <p:spPr>
          <a:xfrm>
            <a:off x="7162800" y="2146300"/>
            <a:ext cx="0" cy="889000"/>
          </a:xfrm>
          <a:prstGeom prst="line">
            <a:avLst/>
          </a:prstGeom>
          <a:ln w="25400" cap="flat" cmpd="sng">
            <a:solidFill>
              <a:schemeClr val="tx1"/>
            </a:solidFill>
            <a:prstDash val="solid"/>
            <a:round/>
            <a:headEnd type="none" w="med" len="med"/>
            <a:tailEnd type="triangle" w="med" len="med"/>
          </a:ln>
        </p:spPr>
      </p:sp>
      <p:sp>
        <p:nvSpPr>
          <p:cNvPr id="115860" name="直接连接符 256148"/>
          <p:cNvSpPr/>
          <p:nvPr/>
        </p:nvSpPr>
        <p:spPr>
          <a:xfrm>
            <a:off x="7696200" y="2146300"/>
            <a:ext cx="0" cy="889000"/>
          </a:xfrm>
          <a:prstGeom prst="line">
            <a:avLst/>
          </a:prstGeom>
          <a:ln w="25400" cap="flat" cmpd="sng">
            <a:solidFill>
              <a:schemeClr val="tx1"/>
            </a:solidFill>
            <a:prstDash val="solid"/>
            <a:round/>
            <a:headEnd type="none" w="med" len="med"/>
            <a:tailEnd type="triangle" w="med" len="med"/>
          </a:ln>
        </p:spPr>
      </p:sp>
      <p:sp>
        <p:nvSpPr>
          <p:cNvPr id="115861" name="矩形 256149"/>
          <p:cNvSpPr/>
          <p:nvPr/>
        </p:nvSpPr>
        <p:spPr>
          <a:xfrm>
            <a:off x="7453313" y="2971800"/>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15862" name="矩形 256150"/>
          <p:cNvSpPr/>
          <p:nvPr/>
        </p:nvSpPr>
        <p:spPr>
          <a:xfrm>
            <a:off x="6919913" y="2971800"/>
            <a:ext cx="4857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15863" name="矩形 256151"/>
          <p:cNvSpPr/>
          <p:nvPr/>
        </p:nvSpPr>
        <p:spPr>
          <a:xfrm>
            <a:off x="6462713" y="29718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15864" name="矩形 256152"/>
          <p:cNvSpPr/>
          <p:nvPr/>
        </p:nvSpPr>
        <p:spPr>
          <a:xfrm>
            <a:off x="5929313" y="29718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15865" name="文本占位符 256153"/>
          <p:cNvSpPr>
            <a:spLocks noGrp="1"/>
          </p:cNvSpPr>
          <p:nvPr>
            <p:ph idx="1"/>
          </p:nvPr>
        </p:nvSpPr>
        <p:spPr>
          <a:xfrm>
            <a:off x="419100" y="1447800"/>
            <a:ext cx="8191500" cy="325438"/>
          </a:xfrm>
          <a:ln/>
        </p:spPr>
        <p:txBody>
          <a:bodyPr vert="horz" wrap="square" lIns="63500" tIns="25400" rIns="63500" bIns="25400" anchor="t" anchorCtr="0">
            <a:spAutoFit/>
          </a:bodyPr>
          <a:p>
            <a:r>
              <a:rPr lang="en-US" altLang="zh-CN" dirty="0" err="1">
                <a:ea typeface="宋体" panose="02010600030101010101" pitchFamily="2" charset="-122"/>
              </a:rPr>
              <a:t>R[rt</a:t>
            </a:r>
            <a:r>
              <a:rPr lang="en-US" altLang="zh-CN">
                <a:ea typeface="宋体" panose="02010600030101010101" pitchFamily="2" charset="-122"/>
              </a:rPr>
              <a:t>]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Data Memory {</a:t>
            </a:r>
            <a:r>
              <a:rPr lang="en-US" altLang="zh-CN" dirty="0" err="1">
                <a:ea typeface="宋体" panose="02010600030101010101" pitchFamily="2" charset="-122"/>
              </a:rPr>
              <a:t>R[rs</a:t>
            </a:r>
            <a:r>
              <a:rPr lang="en-US" altLang="zh-CN">
                <a:ea typeface="宋体" panose="02010600030101010101" pitchFamily="2" charset="-122"/>
              </a:rPr>
              <a:t>] + SignExt[imm16]}</a:t>
            </a:r>
            <a:endParaRPr lang="en-US" altLang="zh-CN">
              <a:ea typeface="宋体" panose="02010600030101010101" pitchFamily="2" charset="-122"/>
            </a:endParaRPr>
          </a:p>
        </p:txBody>
      </p:sp>
      <p:grpSp>
        <p:nvGrpSpPr>
          <p:cNvPr id="115866" name="组合 256154"/>
          <p:cNvGrpSpPr/>
          <p:nvPr/>
        </p:nvGrpSpPr>
        <p:grpSpPr>
          <a:xfrm>
            <a:off x="1749425" y="609600"/>
            <a:ext cx="5975350" cy="668338"/>
            <a:chOff x="1102" y="384"/>
            <a:chExt cx="3764" cy="421"/>
          </a:xfrm>
        </p:grpSpPr>
        <p:sp>
          <p:nvSpPr>
            <p:cNvPr id="115867" name="矩形 256155"/>
            <p:cNvSpPr/>
            <p:nvPr/>
          </p:nvSpPr>
          <p:spPr>
            <a:xfrm>
              <a:off x="1167" y="584"/>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15868" name="组合 256156"/>
            <p:cNvGrpSpPr/>
            <p:nvPr/>
          </p:nvGrpSpPr>
          <p:grpSpPr>
            <a:xfrm>
              <a:off x="1163" y="576"/>
              <a:ext cx="624" cy="229"/>
              <a:chOff x="1163" y="576"/>
              <a:chExt cx="624" cy="229"/>
            </a:xfrm>
          </p:grpSpPr>
          <p:sp>
            <p:nvSpPr>
              <p:cNvPr id="115869" name="矩形 256157"/>
              <p:cNvSpPr/>
              <p:nvPr/>
            </p:nvSpPr>
            <p:spPr>
              <a:xfrm>
                <a:off x="1163" y="580"/>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870" name="矩形 256158"/>
              <p:cNvSpPr/>
              <p:nvPr/>
            </p:nvSpPr>
            <p:spPr>
              <a:xfrm>
                <a:off x="1345" y="576"/>
                <a:ext cx="2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115871" name="组合 256159"/>
            <p:cNvGrpSpPr/>
            <p:nvPr/>
          </p:nvGrpSpPr>
          <p:grpSpPr>
            <a:xfrm>
              <a:off x="1795" y="576"/>
              <a:ext cx="580" cy="229"/>
              <a:chOff x="1795" y="576"/>
              <a:chExt cx="580" cy="229"/>
            </a:xfrm>
          </p:grpSpPr>
          <p:sp>
            <p:nvSpPr>
              <p:cNvPr id="115872" name="矩形 256160"/>
              <p:cNvSpPr/>
              <p:nvPr/>
            </p:nvSpPr>
            <p:spPr>
              <a:xfrm>
                <a:off x="1795" y="580"/>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873" name="矩形 256161"/>
              <p:cNvSpPr/>
              <p:nvPr/>
            </p:nvSpPr>
            <p:spPr>
              <a:xfrm>
                <a:off x="1960" y="576"/>
                <a:ext cx="250"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115874" name="组合 256162"/>
            <p:cNvGrpSpPr/>
            <p:nvPr/>
          </p:nvGrpSpPr>
          <p:grpSpPr>
            <a:xfrm>
              <a:off x="2383" y="576"/>
              <a:ext cx="579" cy="229"/>
              <a:chOff x="2383" y="576"/>
              <a:chExt cx="579" cy="229"/>
            </a:xfrm>
          </p:grpSpPr>
          <p:sp>
            <p:nvSpPr>
              <p:cNvPr id="115875" name="矩形 256163"/>
              <p:cNvSpPr/>
              <p:nvPr/>
            </p:nvSpPr>
            <p:spPr>
              <a:xfrm>
                <a:off x="2383" y="580"/>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876" name="矩形 256164"/>
              <p:cNvSpPr/>
              <p:nvPr/>
            </p:nvSpPr>
            <p:spPr>
              <a:xfrm>
                <a:off x="2547" y="576"/>
                <a:ext cx="21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115877" name="矩形 256165"/>
            <p:cNvSpPr/>
            <p:nvPr/>
          </p:nvSpPr>
          <p:spPr>
            <a:xfrm>
              <a:off x="2970" y="580"/>
              <a:ext cx="180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5878" name="矩形 256166"/>
            <p:cNvSpPr/>
            <p:nvPr/>
          </p:nvSpPr>
          <p:spPr>
            <a:xfrm>
              <a:off x="3473" y="576"/>
              <a:ext cx="8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115879" name="矩形 256167"/>
            <p:cNvSpPr/>
            <p:nvPr/>
          </p:nvSpPr>
          <p:spPr>
            <a:xfrm>
              <a:off x="4672" y="38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15880" name="矩形 256168"/>
            <p:cNvSpPr/>
            <p:nvPr/>
          </p:nvSpPr>
          <p:spPr>
            <a:xfrm>
              <a:off x="2774"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15881" name="矩形 256169"/>
            <p:cNvSpPr/>
            <p:nvPr/>
          </p:nvSpPr>
          <p:spPr>
            <a:xfrm>
              <a:off x="2186"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115882" name="矩形 256170"/>
            <p:cNvSpPr/>
            <p:nvPr/>
          </p:nvSpPr>
          <p:spPr>
            <a:xfrm>
              <a:off x="1598"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15883" name="矩形 256171"/>
            <p:cNvSpPr/>
            <p:nvPr/>
          </p:nvSpPr>
          <p:spPr>
            <a:xfrm>
              <a:off x="1102"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115884" name="直接连接符 256172"/>
          <p:cNvSpPr/>
          <p:nvPr/>
        </p:nvSpPr>
        <p:spPr>
          <a:xfrm flipH="1">
            <a:off x="5461000" y="4191000"/>
            <a:ext cx="1422400" cy="0"/>
          </a:xfrm>
          <a:prstGeom prst="line">
            <a:avLst/>
          </a:prstGeom>
          <a:ln w="50800" cap="flat" cmpd="sng">
            <a:solidFill>
              <a:schemeClr val="accent1"/>
            </a:solidFill>
            <a:prstDash val="solid"/>
            <a:round/>
            <a:headEnd type="none" w="med" len="med"/>
            <a:tailEnd type="none" w="med" len="med"/>
          </a:ln>
        </p:spPr>
      </p:sp>
      <p:sp>
        <p:nvSpPr>
          <p:cNvPr id="256174" name="直接连接符 256173"/>
          <p:cNvSpPr/>
          <p:nvPr/>
        </p:nvSpPr>
        <p:spPr>
          <a:xfrm>
            <a:off x="5253038" y="3284538"/>
            <a:ext cx="0" cy="482600"/>
          </a:xfrm>
          <a:prstGeom prst="line">
            <a:avLst/>
          </a:prstGeom>
          <a:ln w="25400" cap="flat" cmpd="sng">
            <a:solidFill>
              <a:srgbClr val="0000FF"/>
            </a:solidFill>
            <a:prstDash val="solid"/>
            <a:round/>
            <a:headEnd type="none" w="med" len="med"/>
            <a:tailEnd type="triangle" w="med" len="med"/>
          </a:ln>
        </p:spPr>
      </p:sp>
      <p:grpSp>
        <p:nvGrpSpPr>
          <p:cNvPr id="256175" name="组合 256174"/>
          <p:cNvGrpSpPr/>
          <p:nvPr/>
        </p:nvGrpSpPr>
        <p:grpSpPr>
          <a:xfrm>
            <a:off x="2600325" y="3251200"/>
            <a:ext cx="2413000" cy="542925"/>
            <a:chOff x="1638" y="2048"/>
            <a:chExt cx="1520" cy="342"/>
          </a:xfrm>
        </p:grpSpPr>
        <p:sp>
          <p:nvSpPr>
            <p:cNvPr id="115887" name="直接连接符 256175"/>
            <p:cNvSpPr/>
            <p:nvPr/>
          </p:nvSpPr>
          <p:spPr>
            <a:xfrm>
              <a:off x="2038" y="2390"/>
              <a:ext cx="1120" cy="0"/>
            </a:xfrm>
            <a:prstGeom prst="line">
              <a:avLst/>
            </a:prstGeom>
            <a:ln w="50800" cap="flat" cmpd="sng">
              <a:solidFill>
                <a:srgbClr val="0000FF"/>
              </a:solidFill>
              <a:prstDash val="solid"/>
              <a:round/>
              <a:headEnd type="none" w="med" len="med"/>
              <a:tailEnd type="triangle" w="med" len="med"/>
            </a:ln>
          </p:spPr>
        </p:sp>
        <p:sp>
          <p:nvSpPr>
            <p:cNvPr id="115888" name="直接连接符 256176"/>
            <p:cNvSpPr/>
            <p:nvPr/>
          </p:nvSpPr>
          <p:spPr>
            <a:xfrm>
              <a:off x="1638" y="2048"/>
              <a:ext cx="0" cy="236"/>
            </a:xfrm>
            <a:prstGeom prst="line">
              <a:avLst/>
            </a:prstGeom>
            <a:ln w="50800" cap="flat" cmpd="sng">
              <a:solidFill>
                <a:srgbClr val="0000FF"/>
              </a:solidFill>
              <a:prstDash val="solid"/>
              <a:round/>
              <a:headEnd type="none" w="med" len="med"/>
              <a:tailEnd type="none" w="med" len="med"/>
            </a:ln>
          </p:spPr>
        </p:sp>
      </p:grpSp>
      <p:grpSp>
        <p:nvGrpSpPr>
          <p:cNvPr id="256178" name="组合 256177"/>
          <p:cNvGrpSpPr/>
          <p:nvPr/>
        </p:nvGrpSpPr>
        <p:grpSpPr>
          <a:xfrm>
            <a:off x="2205038" y="2525713"/>
            <a:ext cx="166687" cy="1100137"/>
            <a:chOff x="1389" y="1591"/>
            <a:chExt cx="105" cy="693"/>
          </a:xfrm>
        </p:grpSpPr>
        <p:sp>
          <p:nvSpPr>
            <p:cNvPr id="115890" name="直接连接符 256178"/>
            <p:cNvSpPr/>
            <p:nvPr/>
          </p:nvSpPr>
          <p:spPr>
            <a:xfrm>
              <a:off x="1389" y="1914"/>
              <a:ext cx="0" cy="370"/>
            </a:xfrm>
            <a:prstGeom prst="line">
              <a:avLst/>
            </a:prstGeom>
            <a:ln w="50800" cap="flat" cmpd="sng">
              <a:solidFill>
                <a:srgbClr val="0000FF"/>
              </a:solidFill>
              <a:prstDash val="solid"/>
              <a:round/>
              <a:headEnd type="none" w="med" len="med"/>
              <a:tailEnd type="none" w="med" len="med"/>
            </a:ln>
          </p:spPr>
        </p:sp>
        <p:sp>
          <p:nvSpPr>
            <p:cNvPr id="115891" name="直接连接符 256179"/>
            <p:cNvSpPr/>
            <p:nvPr/>
          </p:nvSpPr>
          <p:spPr>
            <a:xfrm>
              <a:off x="1494" y="1591"/>
              <a:ext cx="0" cy="103"/>
            </a:xfrm>
            <a:prstGeom prst="line">
              <a:avLst/>
            </a:prstGeom>
            <a:ln w="50800" cap="flat" cmpd="sng">
              <a:solidFill>
                <a:srgbClr val="0000FF"/>
              </a:solidFill>
              <a:prstDash val="solid"/>
              <a:round/>
              <a:headEnd type="none" w="med" len="med"/>
              <a:tailEnd type="none" w="med" len="med"/>
            </a:ln>
          </p:spPr>
        </p:sp>
      </p:grpSp>
      <p:grpSp>
        <p:nvGrpSpPr>
          <p:cNvPr id="256181" name="组合 256180"/>
          <p:cNvGrpSpPr/>
          <p:nvPr/>
        </p:nvGrpSpPr>
        <p:grpSpPr>
          <a:xfrm>
            <a:off x="1049338" y="2905125"/>
            <a:ext cx="850900" cy="744538"/>
            <a:chOff x="661" y="1830"/>
            <a:chExt cx="536" cy="469"/>
          </a:xfrm>
        </p:grpSpPr>
        <p:sp>
          <p:nvSpPr>
            <p:cNvPr id="115893" name="直接连接符 256181"/>
            <p:cNvSpPr/>
            <p:nvPr/>
          </p:nvSpPr>
          <p:spPr>
            <a:xfrm flipV="1">
              <a:off x="1197" y="2149"/>
              <a:ext cx="0" cy="150"/>
            </a:xfrm>
            <a:prstGeom prst="line">
              <a:avLst/>
            </a:prstGeom>
            <a:ln w="25400" cap="flat" cmpd="sng">
              <a:solidFill>
                <a:srgbClr val="0000FF"/>
              </a:solidFill>
              <a:prstDash val="solid"/>
              <a:round/>
              <a:headEnd type="none" w="med" len="med"/>
              <a:tailEnd type="none" w="med" len="med"/>
            </a:ln>
          </p:spPr>
        </p:sp>
        <p:sp>
          <p:nvSpPr>
            <p:cNvPr id="115894" name="直接连接符 256182"/>
            <p:cNvSpPr/>
            <p:nvPr/>
          </p:nvSpPr>
          <p:spPr>
            <a:xfrm flipH="1">
              <a:off x="661" y="1830"/>
              <a:ext cx="352" cy="0"/>
            </a:xfrm>
            <a:prstGeom prst="line">
              <a:avLst/>
            </a:prstGeom>
            <a:ln w="25400" cap="flat" cmpd="sng">
              <a:solidFill>
                <a:srgbClr val="0000FF"/>
              </a:solidFill>
              <a:prstDash val="solid"/>
              <a:round/>
              <a:headEnd type="triangle" w="med" len="med"/>
              <a:tailEnd type="none" w="med" len="med"/>
            </a:ln>
          </p:spPr>
        </p:sp>
      </p:grpSp>
      <p:grpSp>
        <p:nvGrpSpPr>
          <p:cNvPr id="256184" name="组合 256183"/>
          <p:cNvGrpSpPr/>
          <p:nvPr/>
        </p:nvGrpSpPr>
        <p:grpSpPr>
          <a:xfrm>
            <a:off x="2154238" y="4632325"/>
            <a:ext cx="2871787" cy="1697038"/>
            <a:chOff x="1357" y="2918"/>
            <a:chExt cx="1809" cy="1069"/>
          </a:xfrm>
        </p:grpSpPr>
        <p:sp>
          <p:nvSpPr>
            <p:cNvPr id="115896" name="直接连接符 256184"/>
            <p:cNvSpPr/>
            <p:nvPr/>
          </p:nvSpPr>
          <p:spPr>
            <a:xfrm>
              <a:off x="2221" y="3330"/>
              <a:ext cx="400" cy="0"/>
            </a:xfrm>
            <a:prstGeom prst="line">
              <a:avLst/>
            </a:prstGeom>
            <a:ln w="50800" cap="flat" cmpd="sng">
              <a:solidFill>
                <a:srgbClr val="0000FF"/>
              </a:solidFill>
              <a:prstDash val="solid"/>
              <a:round/>
              <a:headEnd type="none" w="med" len="med"/>
              <a:tailEnd type="triangle" w="med" len="med"/>
            </a:ln>
          </p:spPr>
        </p:sp>
        <p:sp>
          <p:nvSpPr>
            <p:cNvPr id="115897" name="直接连接符 256185"/>
            <p:cNvSpPr/>
            <p:nvPr/>
          </p:nvSpPr>
          <p:spPr>
            <a:xfrm>
              <a:off x="1357" y="3410"/>
              <a:ext cx="592" cy="0"/>
            </a:xfrm>
            <a:prstGeom prst="line">
              <a:avLst/>
            </a:prstGeom>
            <a:ln w="50800" cap="flat" cmpd="sng">
              <a:solidFill>
                <a:srgbClr val="0000FF"/>
              </a:solidFill>
              <a:prstDash val="solid"/>
              <a:round/>
              <a:headEnd type="none" w="med" len="med"/>
              <a:tailEnd type="triangle" w="med" len="med"/>
            </a:ln>
          </p:spPr>
        </p:sp>
        <p:sp>
          <p:nvSpPr>
            <p:cNvPr id="115898" name="直接连接符 256186"/>
            <p:cNvSpPr/>
            <p:nvPr/>
          </p:nvSpPr>
          <p:spPr>
            <a:xfrm>
              <a:off x="2733" y="3374"/>
              <a:ext cx="0" cy="252"/>
            </a:xfrm>
            <a:prstGeom prst="line">
              <a:avLst/>
            </a:prstGeom>
            <a:ln w="25400" cap="flat" cmpd="sng">
              <a:solidFill>
                <a:srgbClr val="0000FF"/>
              </a:solidFill>
              <a:prstDash val="solid"/>
              <a:round/>
              <a:headEnd type="triangle" w="med" len="med"/>
              <a:tailEnd type="none" w="med" len="med"/>
            </a:ln>
          </p:spPr>
        </p:sp>
        <p:sp>
          <p:nvSpPr>
            <p:cNvPr id="115899" name="直接连接符 256187"/>
            <p:cNvSpPr/>
            <p:nvPr/>
          </p:nvSpPr>
          <p:spPr>
            <a:xfrm>
              <a:off x="2846" y="2918"/>
              <a:ext cx="320" cy="0"/>
            </a:xfrm>
            <a:prstGeom prst="line">
              <a:avLst/>
            </a:prstGeom>
            <a:ln w="38100" cap="flat" cmpd="sng">
              <a:solidFill>
                <a:srgbClr val="0000FF"/>
              </a:solidFill>
              <a:prstDash val="solid"/>
              <a:round/>
              <a:headEnd type="none" w="med" len="med"/>
              <a:tailEnd type="triangle" w="med" len="med"/>
            </a:ln>
          </p:spPr>
        </p:sp>
        <p:sp>
          <p:nvSpPr>
            <p:cNvPr id="115900" name="直接连接符 256188"/>
            <p:cNvSpPr/>
            <p:nvPr/>
          </p:nvSpPr>
          <p:spPr>
            <a:xfrm>
              <a:off x="2109" y="3690"/>
              <a:ext cx="0" cy="297"/>
            </a:xfrm>
            <a:prstGeom prst="line">
              <a:avLst/>
            </a:prstGeom>
            <a:ln w="25400" cap="flat" cmpd="sng">
              <a:solidFill>
                <a:srgbClr val="0000FF"/>
              </a:solidFill>
              <a:prstDash val="solid"/>
              <a:round/>
              <a:headEnd type="triangle" w="med" len="med"/>
              <a:tailEnd type="none" w="med" len="med"/>
            </a:ln>
          </p:spPr>
        </p:sp>
      </p:grpSp>
      <p:sp>
        <p:nvSpPr>
          <p:cNvPr id="256190" name="直接连接符 256189"/>
          <p:cNvSpPr/>
          <p:nvPr/>
        </p:nvSpPr>
        <p:spPr>
          <a:xfrm flipV="1">
            <a:off x="7920038" y="3554413"/>
            <a:ext cx="0" cy="450850"/>
          </a:xfrm>
          <a:prstGeom prst="line">
            <a:avLst/>
          </a:prstGeom>
          <a:ln w="25400" cap="flat" cmpd="sng">
            <a:solidFill>
              <a:srgbClr val="0000FF"/>
            </a:solidFill>
            <a:prstDash val="solid"/>
            <a:round/>
            <a:headEnd type="triangle" w="med" len="med"/>
            <a:tailEnd type="none" w="med" len="med"/>
          </a:ln>
        </p:spPr>
      </p:sp>
      <p:grpSp>
        <p:nvGrpSpPr>
          <p:cNvPr id="256191" name="组合 256190"/>
          <p:cNvGrpSpPr/>
          <p:nvPr/>
        </p:nvGrpSpPr>
        <p:grpSpPr>
          <a:xfrm>
            <a:off x="731838" y="4110038"/>
            <a:ext cx="7837487" cy="2082800"/>
            <a:chOff x="461" y="2589"/>
            <a:chExt cx="4937" cy="1312"/>
          </a:xfrm>
        </p:grpSpPr>
        <p:sp>
          <p:nvSpPr>
            <p:cNvPr id="115903" name="直接连接符 256191"/>
            <p:cNvSpPr/>
            <p:nvPr/>
          </p:nvSpPr>
          <p:spPr>
            <a:xfrm flipH="1">
              <a:off x="461" y="2605"/>
              <a:ext cx="656" cy="0"/>
            </a:xfrm>
            <a:prstGeom prst="line">
              <a:avLst/>
            </a:prstGeom>
            <a:ln w="50800" cap="flat" cmpd="sng">
              <a:solidFill>
                <a:srgbClr val="0000FF"/>
              </a:solidFill>
              <a:prstDash val="solid"/>
              <a:round/>
              <a:headEnd type="triangle" w="med" len="med"/>
              <a:tailEnd type="none" w="med" len="med"/>
            </a:ln>
          </p:spPr>
        </p:sp>
        <p:sp>
          <p:nvSpPr>
            <p:cNvPr id="115904" name="直接连接符 256192"/>
            <p:cNvSpPr/>
            <p:nvPr/>
          </p:nvSpPr>
          <p:spPr>
            <a:xfrm flipH="1">
              <a:off x="470" y="3885"/>
              <a:ext cx="4928" cy="0"/>
            </a:xfrm>
            <a:prstGeom prst="line">
              <a:avLst/>
            </a:prstGeom>
            <a:ln w="50800" cap="flat" cmpd="sng">
              <a:solidFill>
                <a:srgbClr val="0000FF"/>
              </a:solidFill>
              <a:prstDash val="solid"/>
              <a:round/>
              <a:headEnd type="none" w="med" len="med"/>
              <a:tailEnd type="none" w="med" len="med"/>
            </a:ln>
          </p:spPr>
        </p:sp>
        <p:sp>
          <p:nvSpPr>
            <p:cNvPr id="115905" name="直接连接符 256193"/>
            <p:cNvSpPr/>
            <p:nvPr/>
          </p:nvSpPr>
          <p:spPr>
            <a:xfrm flipV="1">
              <a:off x="486" y="2589"/>
              <a:ext cx="0" cy="1312"/>
            </a:xfrm>
            <a:prstGeom prst="line">
              <a:avLst/>
            </a:prstGeom>
            <a:ln w="50800" cap="flat" cmpd="sng">
              <a:solidFill>
                <a:srgbClr val="0000FF"/>
              </a:solidFill>
              <a:prstDash val="solid"/>
              <a:round/>
              <a:headEnd type="none" w="med" len="med"/>
              <a:tailEnd type="none" w="med" len="med"/>
            </a:ln>
          </p:spPr>
        </p:sp>
        <p:sp>
          <p:nvSpPr>
            <p:cNvPr id="115906" name="直接连接符 256194"/>
            <p:cNvSpPr/>
            <p:nvPr/>
          </p:nvSpPr>
          <p:spPr>
            <a:xfrm>
              <a:off x="5373" y="2844"/>
              <a:ext cx="0" cy="1025"/>
            </a:xfrm>
            <a:prstGeom prst="line">
              <a:avLst/>
            </a:prstGeom>
            <a:ln w="50800" cap="flat" cmpd="sng">
              <a:solidFill>
                <a:srgbClr val="0000FF"/>
              </a:solidFill>
              <a:prstDash val="solid"/>
              <a:round/>
              <a:headEnd type="none" w="med" len="med"/>
              <a:tailEnd type="none" w="med" len="med"/>
            </a:ln>
          </p:spPr>
        </p:sp>
        <p:sp>
          <p:nvSpPr>
            <p:cNvPr id="115907" name="直接连接符 256195"/>
            <p:cNvSpPr/>
            <p:nvPr/>
          </p:nvSpPr>
          <p:spPr>
            <a:xfrm>
              <a:off x="5101" y="2837"/>
              <a:ext cx="256" cy="0"/>
            </a:xfrm>
            <a:prstGeom prst="line">
              <a:avLst/>
            </a:prstGeom>
            <a:ln w="50800" cap="flat" cmpd="sng">
              <a:solidFill>
                <a:srgbClr val="0000FF"/>
              </a:solidFill>
              <a:prstDash val="solid"/>
              <a:round/>
              <a:headEnd type="none" w="med" len="med"/>
              <a:tailEnd type="none" w="med" len="med"/>
            </a:ln>
          </p:spPr>
        </p:sp>
      </p:grpSp>
      <p:grpSp>
        <p:nvGrpSpPr>
          <p:cNvPr id="256197" name="组合 256196"/>
          <p:cNvGrpSpPr/>
          <p:nvPr/>
        </p:nvGrpSpPr>
        <p:grpSpPr>
          <a:xfrm>
            <a:off x="7146925" y="5008563"/>
            <a:ext cx="609600" cy="476250"/>
            <a:chOff x="4502" y="3155"/>
            <a:chExt cx="384" cy="300"/>
          </a:xfrm>
        </p:grpSpPr>
        <p:sp>
          <p:nvSpPr>
            <p:cNvPr id="115909" name="直接连接符 256197"/>
            <p:cNvSpPr/>
            <p:nvPr/>
          </p:nvSpPr>
          <p:spPr>
            <a:xfrm>
              <a:off x="4630" y="3155"/>
              <a:ext cx="256" cy="0"/>
            </a:xfrm>
            <a:prstGeom prst="line">
              <a:avLst/>
            </a:prstGeom>
            <a:ln w="50800" cap="flat" cmpd="sng">
              <a:solidFill>
                <a:srgbClr val="0000FF"/>
              </a:solidFill>
              <a:prstDash val="solid"/>
              <a:round/>
              <a:headEnd type="none" w="med" len="med"/>
              <a:tailEnd type="triangle" w="med" len="med"/>
            </a:ln>
          </p:spPr>
        </p:sp>
        <p:sp>
          <p:nvSpPr>
            <p:cNvPr id="115910" name="直接连接符 256198"/>
            <p:cNvSpPr/>
            <p:nvPr/>
          </p:nvSpPr>
          <p:spPr>
            <a:xfrm>
              <a:off x="4605" y="3181"/>
              <a:ext cx="0" cy="258"/>
            </a:xfrm>
            <a:prstGeom prst="line">
              <a:avLst/>
            </a:prstGeom>
            <a:ln w="50800" cap="flat" cmpd="sng">
              <a:solidFill>
                <a:srgbClr val="0000FF"/>
              </a:solidFill>
              <a:prstDash val="solid"/>
              <a:round/>
              <a:headEnd type="none" w="med" len="med"/>
              <a:tailEnd type="none" w="med" len="med"/>
            </a:ln>
          </p:spPr>
        </p:sp>
        <p:sp>
          <p:nvSpPr>
            <p:cNvPr id="115911" name="直接连接符 256199"/>
            <p:cNvSpPr/>
            <p:nvPr/>
          </p:nvSpPr>
          <p:spPr>
            <a:xfrm flipH="1">
              <a:off x="4502" y="3455"/>
              <a:ext cx="128" cy="0"/>
            </a:xfrm>
            <a:prstGeom prst="line">
              <a:avLst/>
            </a:prstGeom>
            <a:ln w="50800" cap="flat" cmpd="sng">
              <a:solidFill>
                <a:srgbClr val="0000FF"/>
              </a:solidFill>
              <a:prstDash val="solid"/>
              <a:round/>
              <a:headEnd type="none" w="med" len="med"/>
              <a:tailEnd type="none" w="med" len="med"/>
            </a:ln>
          </p:spPr>
        </p:sp>
      </p:grpSp>
      <p:grpSp>
        <p:nvGrpSpPr>
          <p:cNvPr id="256201" name="组合 256200"/>
          <p:cNvGrpSpPr/>
          <p:nvPr/>
        </p:nvGrpSpPr>
        <p:grpSpPr>
          <a:xfrm>
            <a:off x="5470525" y="4200525"/>
            <a:ext cx="1422400" cy="619125"/>
            <a:chOff x="3446" y="2646"/>
            <a:chExt cx="896" cy="390"/>
          </a:xfrm>
        </p:grpSpPr>
        <p:sp>
          <p:nvSpPr>
            <p:cNvPr id="115913" name="直接连接符 256201"/>
            <p:cNvSpPr/>
            <p:nvPr/>
          </p:nvSpPr>
          <p:spPr>
            <a:xfrm>
              <a:off x="4326" y="2665"/>
              <a:ext cx="0" cy="371"/>
            </a:xfrm>
            <a:prstGeom prst="line">
              <a:avLst/>
            </a:prstGeom>
            <a:ln w="50800" cap="flat" cmpd="sng">
              <a:solidFill>
                <a:srgbClr val="0000FF"/>
              </a:solidFill>
              <a:prstDash val="solid"/>
              <a:round/>
              <a:headEnd type="none" w="med" len="med"/>
              <a:tailEnd type="triangle" w="med" len="med"/>
            </a:ln>
          </p:spPr>
        </p:sp>
        <p:sp>
          <p:nvSpPr>
            <p:cNvPr id="115914" name="直接连接符 256202"/>
            <p:cNvSpPr/>
            <p:nvPr/>
          </p:nvSpPr>
          <p:spPr>
            <a:xfrm flipH="1">
              <a:off x="3446" y="2646"/>
              <a:ext cx="896" cy="0"/>
            </a:xfrm>
            <a:prstGeom prst="line">
              <a:avLst/>
            </a:prstGeom>
            <a:ln w="50800" cap="flat" cmpd="sng">
              <a:solidFill>
                <a:srgbClr val="0000FF"/>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56175"/>
                                        </p:tgtEl>
                                        <p:attrNameLst>
                                          <p:attrName>style.visibility</p:attrName>
                                        </p:attrNameLst>
                                      </p:cBhvr>
                                      <p:to>
                                        <p:strVal val="visible"/>
                                      </p:to>
                                    </p:set>
                                    <p:animEffect transition="in" filter="slide(fromLeft)">
                                      <p:cBhvr>
                                        <p:cTn id="7" dur="500"/>
                                        <p:tgtEl>
                                          <p:spTgt spid="25617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56184"/>
                                        </p:tgtEl>
                                        <p:attrNameLst>
                                          <p:attrName>style.visibility</p:attrName>
                                        </p:attrNameLst>
                                      </p:cBhvr>
                                      <p:to>
                                        <p:strVal val="visible"/>
                                      </p:to>
                                    </p:set>
                                    <p:animEffect transition="in" filter="slide(fromLeft)">
                                      <p:cBhvr>
                                        <p:cTn id="12" dur="500"/>
                                        <p:tgtEl>
                                          <p:spTgt spid="25618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256174"/>
                                        </p:tgtEl>
                                        <p:attrNameLst>
                                          <p:attrName>style.visibility</p:attrName>
                                        </p:attrNameLst>
                                      </p:cBhvr>
                                      <p:to>
                                        <p:strVal val="visible"/>
                                      </p:to>
                                    </p:set>
                                    <p:animEffect transition="in" filter="slide(fromTop)">
                                      <p:cBhvr>
                                        <p:cTn id="17" dur="500"/>
                                        <p:tgtEl>
                                          <p:spTgt spid="25617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56201"/>
                                        </p:tgtEl>
                                        <p:attrNameLst>
                                          <p:attrName>style.visibility</p:attrName>
                                        </p:attrNameLst>
                                      </p:cBhvr>
                                      <p:to>
                                        <p:strVal val="visible"/>
                                      </p:to>
                                    </p:set>
                                    <p:animEffect transition="in" filter="slide(fromLeft)">
                                      <p:cBhvr>
                                        <p:cTn id="22" dur="500"/>
                                        <p:tgtEl>
                                          <p:spTgt spid="256201"/>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256197"/>
                                        </p:tgtEl>
                                        <p:attrNameLst>
                                          <p:attrName>style.visibility</p:attrName>
                                        </p:attrNameLst>
                                      </p:cBhvr>
                                      <p:to>
                                        <p:strVal val="visible"/>
                                      </p:to>
                                    </p:set>
                                    <p:animEffect transition="in" filter="slide(fromLeft)">
                                      <p:cBhvr>
                                        <p:cTn id="27" dur="500"/>
                                        <p:tgtEl>
                                          <p:spTgt spid="25619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nodeType="clickEffect">
                                  <p:stCondLst>
                                    <p:cond delay="0"/>
                                  </p:stCondLst>
                                  <p:childTnLst>
                                    <p:set>
                                      <p:cBhvr>
                                        <p:cTn id="31" dur="1" fill="hold">
                                          <p:stCondLst>
                                            <p:cond delay="0"/>
                                          </p:stCondLst>
                                        </p:cTn>
                                        <p:tgtEl>
                                          <p:spTgt spid="256190"/>
                                        </p:tgtEl>
                                        <p:attrNameLst>
                                          <p:attrName>style.visibility</p:attrName>
                                        </p:attrNameLst>
                                      </p:cBhvr>
                                      <p:to>
                                        <p:strVal val="visible"/>
                                      </p:to>
                                    </p:set>
                                    <p:animEffect transition="in" filter="slide(fromTop)">
                                      <p:cBhvr>
                                        <p:cTn id="32" dur="500"/>
                                        <p:tgtEl>
                                          <p:spTgt spid="25619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nodeType="clickEffect">
                                  <p:stCondLst>
                                    <p:cond delay="0"/>
                                  </p:stCondLst>
                                  <p:childTnLst>
                                    <p:set>
                                      <p:cBhvr>
                                        <p:cTn id="36" dur="1" fill="hold">
                                          <p:stCondLst>
                                            <p:cond delay="0"/>
                                          </p:stCondLst>
                                        </p:cTn>
                                        <p:tgtEl>
                                          <p:spTgt spid="256181"/>
                                        </p:tgtEl>
                                        <p:attrNameLst>
                                          <p:attrName>style.visibility</p:attrName>
                                        </p:attrNameLst>
                                      </p:cBhvr>
                                      <p:to>
                                        <p:strVal val="visible"/>
                                      </p:to>
                                    </p:set>
                                    <p:animEffect transition="in" filter="slide(fromTop)">
                                      <p:cBhvr>
                                        <p:cTn id="37" dur="500"/>
                                        <p:tgtEl>
                                          <p:spTgt spid="25618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nodeType="clickEffect">
                                  <p:stCondLst>
                                    <p:cond delay="0"/>
                                  </p:stCondLst>
                                  <p:childTnLst>
                                    <p:set>
                                      <p:cBhvr>
                                        <p:cTn id="41" dur="1" fill="hold">
                                          <p:stCondLst>
                                            <p:cond delay="0"/>
                                          </p:stCondLst>
                                        </p:cTn>
                                        <p:tgtEl>
                                          <p:spTgt spid="256178"/>
                                        </p:tgtEl>
                                        <p:attrNameLst>
                                          <p:attrName>style.visibility</p:attrName>
                                        </p:attrNameLst>
                                      </p:cBhvr>
                                      <p:to>
                                        <p:strVal val="visible"/>
                                      </p:to>
                                    </p:set>
                                    <p:animEffect transition="in" filter="slide(fromTop)">
                                      <p:cBhvr>
                                        <p:cTn id="42" dur="500"/>
                                        <p:tgtEl>
                                          <p:spTgt spid="25617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6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标题 258049"/>
          <p:cNvSpPr>
            <a:spLocks noGrp="1"/>
          </p:cNvSpPr>
          <p:nvPr>
            <p:ph type="title"/>
          </p:nvPr>
        </p:nvSpPr>
        <p:spPr>
          <a:xfrm>
            <a:off x="444500" y="203200"/>
            <a:ext cx="6945313" cy="422275"/>
          </a:xfrm>
          <a:ln/>
        </p:spPr>
        <p:txBody>
          <a:bodyPr vert="horz" wrap="square" lIns="63500" tIns="25400" rIns="63500" bIns="25400" anchor="t" anchorCtr="0">
            <a:spAutoFit/>
          </a:bodyPr>
          <a:p>
            <a:r>
              <a:rPr lang="en-US" altLang="zh-CN">
                <a:ea typeface="宋体" panose="02010600030101010101" pitchFamily="2" charset="-122"/>
              </a:rPr>
              <a:t>Store</a:t>
            </a:r>
            <a:r>
              <a:rPr lang="zh-CN" altLang="en-US" dirty="0">
                <a:ea typeface="宋体" panose="02010600030101010101" pitchFamily="2" charset="-122"/>
              </a:rPr>
              <a:t>指令译码后的执行过程</a:t>
            </a:r>
            <a:endParaRPr lang="en-US" altLang="zh-CN">
              <a:ea typeface="宋体" panose="02010600030101010101" pitchFamily="2" charset="-122"/>
            </a:endParaRPr>
          </a:p>
        </p:txBody>
      </p:sp>
      <p:grpSp>
        <p:nvGrpSpPr>
          <p:cNvPr id="117762" name="组合 258050"/>
          <p:cNvGrpSpPr/>
          <p:nvPr/>
        </p:nvGrpSpPr>
        <p:grpSpPr>
          <a:xfrm>
            <a:off x="5029200" y="3654425"/>
            <a:ext cx="457200" cy="1136650"/>
            <a:chOff x="3168" y="2302"/>
            <a:chExt cx="288" cy="716"/>
          </a:xfrm>
        </p:grpSpPr>
        <p:sp>
          <p:nvSpPr>
            <p:cNvPr id="117763" name="直接连接符 258051"/>
            <p:cNvSpPr/>
            <p:nvPr/>
          </p:nvSpPr>
          <p:spPr>
            <a:xfrm>
              <a:off x="3168" y="2302"/>
              <a:ext cx="0" cy="163"/>
            </a:xfrm>
            <a:prstGeom prst="line">
              <a:avLst/>
            </a:prstGeom>
            <a:ln w="25400" cap="flat" cmpd="sng">
              <a:solidFill>
                <a:schemeClr val="tx1"/>
              </a:solidFill>
              <a:prstDash val="solid"/>
              <a:round/>
              <a:headEnd type="none" w="med" len="med"/>
              <a:tailEnd type="none" w="med" len="med"/>
            </a:ln>
          </p:spPr>
        </p:sp>
        <p:sp>
          <p:nvSpPr>
            <p:cNvPr id="117764" name="直接连接符 258052"/>
            <p:cNvSpPr/>
            <p:nvPr/>
          </p:nvSpPr>
          <p:spPr>
            <a:xfrm>
              <a:off x="3176" y="2302"/>
              <a:ext cx="272" cy="163"/>
            </a:xfrm>
            <a:prstGeom prst="line">
              <a:avLst/>
            </a:prstGeom>
            <a:ln w="25400" cap="flat" cmpd="sng">
              <a:solidFill>
                <a:schemeClr val="tx1"/>
              </a:solidFill>
              <a:prstDash val="solid"/>
              <a:round/>
              <a:headEnd type="none" w="med" len="med"/>
              <a:tailEnd type="none" w="med" len="med"/>
            </a:ln>
          </p:spPr>
        </p:sp>
        <p:sp>
          <p:nvSpPr>
            <p:cNvPr id="117765" name="直接连接符 258053"/>
            <p:cNvSpPr/>
            <p:nvPr/>
          </p:nvSpPr>
          <p:spPr>
            <a:xfrm>
              <a:off x="3176" y="2481"/>
              <a:ext cx="128" cy="74"/>
            </a:xfrm>
            <a:prstGeom prst="line">
              <a:avLst/>
            </a:prstGeom>
            <a:ln w="25400" cap="flat" cmpd="sng">
              <a:solidFill>
                <a:schemeClr val="tx1"/>
              </a:solidFill>
              <a:prstDash val="solid"/>
              <a:round/>
              <a:headEnd type="none" w="med" len="med"/>
              <a:tailEnd type="none" w="med" len="med"/>
            </a:ln>
          </p:spPr>
        </p:sp>
        <p:sp>
          <p:nvSpPr>
            <p:cNvPr id="117766" name="直接连接符 258054"/>
            <p:cNvSpPr/>
            <p:nvPr/>
          </p:nvSpPr>
          <p:spPr>
            <a:xfrm>
              <a:off x="3312" y="2571"/>
              <a:ext cx="0" cy="163"/>
            </a:xfrm>
            <a:prstGeom prst="line">
              <a:avLst/>
            </a:prstGeom>
            <a:ln w="25400" cap="flat" cmpd="sng">
              <a:solidFill>
                <a:schemeClr val="tx1"/>
              </a:solidFill>
              <a:prstDash val="solid"/>
              <a:round/>
              <a:headEnd type="none" w="med" len="med"/>
              <a:tailEnd type="none" w="med" len="med"/>
            </a:ln>
          </p:spPr>
        </p:sp>
        <p:sp>
          <p:nvSpPr>
            <p:cNvPr id="117767" name="直接连接符 258055"/>
            <p:cNvSpPr/>
            <p:nvPr/>
          </p:nvSpPr>
          <p:spPr>
            <a:xfrm>
              <a:off x="3456" y="2481"/>
              <a:ext cx="0" cy="342"/>
            </a:xfrm>
            <a:prstGeom prst="line">
              <a:avLst/>
            </a:prstGeom>
            <a:ln w="25400" cap="flat" cmpd="sng">
              <a:solidFill>
                <a:schemeClr val="tx1"/>
              </a:solidFill>
              <a:prstDash val="solid"/>
              <a:round/>
              <a:headEnd type="none" w="med" len="med"/>
              <a:tailEnd type="none" w="med" len="med"/>
            </a:ln>
          </p:spPr>
        </p:sp>
        <p:sp>
          <p:nvSpPr>
            <p:cNvPr id="117768" name="直接连接符 258056"/>
            <p:cNvSpPr/>
            <p:nvPr/>
          </p:nvSpPr>
          <p:spPr>
            <a:xfrm flipV="1">
              <a:off x="3176" y="2734"/>
              <a:ext cx="128" cy="105"/>
            </a:xfrm>
            <a:prstGeom prst="line">
              <a:avLst/>
            </a:prstGeom>
            <a:ln w="25400" cap="flat" cmpd="sng">
              <a:solidFill>
                <a:schemeClr val="tx1"/>
              </a:solidFill>
              <a:prstDash val="solid"/>
              <a:round/>
              <a:headEnd type="none" w="med" len="med"/>
              <a:tailEnd type="none" w="med" len="med"/>
            </a:ln>
          </p:spPr>
        </p:sp>
        <p:sp>
          <p:nvSpPr>
            <p:cNvPr id="117769" name="直接连接符 258057"/>
            <p:cNvSpPr/>
            <p:nvPr/>
          </p:nvSpPr>
          <p:spPr>
            <a:xfrm>
              <a:off x="3168" y="2839"/>
              <a:ext cx="0" cy="163"/>
            </a:xfrm>
            <a:prstGeom prst="line">
              <a:avLst/>
            </a:prstGeom>
            <a:ln w="25400" cap="flat" cmpd="sng">
              <a:solidFill>
                <a:schemeClr val="tx1"/>
              </a:solidFill>
              <a:prstDash val="solid"/>
              <a:round/>
              <a:headEnd type="none" w="med" len="med"/>
              <a:tailEnd type="none" w="med" len="med"/>
            </a:ln>
          </p:spPr>
        </p:sp>
        <p:sp>
          <p:nvSpPr>
            <p:cNvPr id="117770" name="直接连接符 258058"/>
            <p:cNvSpPr/>
            <p:nvPr/>
          </p:nvSpPr>
          <p:spPr>
            <a:xfrm flipV="1">
              <a:off x="3176" y="2823"/>
              <a:ext cx="272" cy="195"/>
            </a:xfrm>
            <a:prstGeom prst="line">
              <a:avLst/>
            </a:prstGeom>
            <a:ln w="25400" cap="flat" cmpd="sng">
              <a:solidFill>
                <a:schemeClr val="tx1"/>
              </a:solidFill>
              <a:prstDash val="solid"/>
              <a:round/>
              <a:headEnd type="none" w="med" len="med"/>
              <a:tailEnd type="none" w="med" len="med"/>
            </a:ln>
          </p:spPr>
        </p:sp>
      </p:grpSp>
      <p:sp>
        <p:nvSpPr>
          <p:cNvPr id="117771" name="直接连接符 258059"/>
          <p:cNvSpPr/>
          <p:nvPr/>
        </p:nvSpPr>
        <p:spPr>
          <a:xfrm flipH="1">
            <a:off x="5461000" y="4191000"/>
            <a:ext cx="1422400" cy="0"/>
          </a:xfrm>
          <a:prstGeom prst="line">
            <a:avLst/>
          </a:prstGeom>
          <a:ln w="50800" cap="flat" cmpd="sng">
            <a:solidFill>
              <a:schemeClr val="accent1"/>
            </a:solidFill>
            <a:prstDash val="solid"/>
            <a:round/>
            <a:headEnd type="none" w="med" len="med"/>
            <a:tailEnd type="none" w="med" len="med"/>
          </a:ln>
        </p:spPr>
      </p:sp>
      <p:sp>
        <p:nvSpPr>
          <p:cNvPr id="117772" name="直接连接符 258060"/>
          <p:cNvSpPr/>
          <p:nvPr/>
        </p:nvSpPr>
        <p:spPr>
          <a:xfrm flipH="1">
            <a:off x="5861050" y="4146550"/>
            <a:ext cx="88900" cy="128588"/>
          </a:xfrm>
          <a:prstGeom prst="line">
            <a:avLst/>
          </a:prstGeom>
          <a:ln w="12700" cap="flat" cmpd="sng">
            <a:solidFill>
              <a:schemeClr val="tx1"/>
            </a:solidFill>
            <a:prstDash val="solid"/>
            <a:round/>
            <a:headEnd type="none" w="med" len="med"/>
            <a:tailEnd type="none" w="med" len="med"/>
          </a:ln>
        </p:spPr>
      </p:sp>
      <p:sp>
        <p:nvSpPr>
          <p:cNvPr id="117773" name="矩形 258061"/>
          <p:cNvSpPr/>
          <p:nvPr/>
        </p:nvSpPr>
        <p:spPr>
          <a:xfrm>
            <a:off x="5548313" y="42084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7774" name="直接连接符 258062"/>
          <p:cNvSpPr/>
          <p:nvPr/>
        </p:nvSpPr>
        <p:spPr>
          <a:xfrm>
            <a:off x="5257800" y="3289300"/>
            <a:ext cx="0" cy="482600"/>
          </a:xfrm>
          <a:prstGeom prst="line">
            <a:avLst/>
          </a:prstGeom>
          <a:ln w="25400" cap="flat" cmpd="sng">
            <a:solidFill>
              <a:schemeClr val="tx1"/>
            </a:solidFill>
            <a:prstDash val="solid"/>
            <a:round/>
            <a:headEnd type="none" w="med" len="med"/>
            <a:tailEnd type="triangle" w="med" len="med"/>
          </a:ln>
        </p:spPr>
      </p:sp>
      <p:sp>
        <p:nvSpPr>
          <p:cNvPr id="117775" name="矩形 258063"/>
          <p:cNvSpPr/>
          <p:nvPr/>
        </p:nvSpPr>
        <p:spPr>
          <a:xfrm>
            <a:off x="3919538" y="2951163"/>
            <a:ext cx="1647825" cy="363537"/>
          </a:xfrm>
          <a:prstGeom prst="rect">
            <a:avLst/>
          </a:prstGeom>
          <a:noFill/>
          <a:ln w="12700">
            <a:noFill/>
          </a:ln>
        </p:spPr>
        <p:txBody>
          <a:bodyPr lIns="90488" tIns="44450" rIns="90488" bIns="44450" anchor="t" anchorCtr="0">
            <a:spAutoFit/>
          </a:bodyPr>
          <a:p>
            <a:pPr algn="ctr" eaLnBrk="0" hangingPunct="0"/>
            <a:r>
              <a:rPr lang="en-US" altLang="zh-CN" sz="1800" u="sng" dirty="0" err="1">
                <a:solidFill>
                  <a:schemeClr val="accent1"/>
                </a:solidFill>
                <a:latin typeface="Arial" panose="020B0604020202020204" pitchFamily="34" charset="0"/>
                <a:ea typeface="宋体" panose="02010600030101010101" pitchFamily="2" charset="-122"/>
              </a:rPr>
              <a:t>ALUctr</a:t>
            </a:r>
            <a:r>
              <a:rPr lang="en-US" altLang="zh-CN" sz="1800" u="sng">
                <a:solidFill>
                  <a:schemeClr val="accent1"/>
                </a:solidFill>
                <a:latin typeface="Arial" panose="020B0604020202020204" pitchFamily="34" charset="0"/>
                <a:ea typeface="宋体" panose="02010600030101010101" pitchFamily="2" charset="-122"/>
              </a:rPr>
              <a:t> = Add</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7776" name="矩形 258064"/>
          <p:cNvSpPr/>
          <p:nvPr/>
        </p:nvSpPr>
        <p:spPr>
          <a:xfrm>
            <a:off x="1036638" y="46259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7777" name="矩形 258065"/>
          <p:cNvSpPr/>
          <p:nvPr/>
        </p:nvSpPr>
        <p:spPr>
          <a:xfrm>
            <a:off x="671513" y="3781425"/>
            <a:ext cx="803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117778" name="矩形 258066"/>
          <p:cNvSpPr/>
          <p:nvPr/>
        </p:nvSpPr>
        <p:spPr>
          <a:xfrm>
            <a:off x="1755775" y="3654425"/>
            <a:ext cx="1431925" cy="11303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779" name="直接连接符 258067"/>
          <p:cNvSpPr/>
          <p:nvPr/>
        </p:nvSpPr>
        <p:spPr>
          <a:xfrm>
            <a:off x="1793875" y="4560888"/>
            <a:ext cx="250825" cy="63500"/>
          </a:xfrm>
          <a:prstGeom prst="line">
            <a:avLst/>
          </a:prstGeom>
          <a:ln w="25400" cap="flat" cmpd="sng">
            <a:solidFill>
              <a:schemeClr val="tx1"/>
            </a:solidFill>
            <a:prstDash val="solid"/>
            <a:round/>
            <a:headEnd type="none" w="med" len="med"/>
            <a:tailEnd type="none" w="med" len="med"/>
          </a:ln>
        </p:spPr>
      </p:sp>
      <p:sp>
        <p:nvSpPr>
          <p:cNvPr id="117780" name="直接连接符 258068"/>
          <p:cNvSpPr/>
          <p:nvPr/>
        </p:nvSpPr>
        <p:spPr>
          <a:xfrm flipH="1">
            <a:off x="1768475" y="4649788"/>
            <a:ext cx="301625" cy="98425"/>
          </a:xfrm>
          <a:prstGeom prst="line">
            <a:avLst/>
          </a:prstGeom>
          <a:ln w="25400" cap="flat" cmpd="sng">
            <a:solidFill>
              <a:schemeClr val="tx1"/>
            </a:solidFill>
            <a:prstDash val="solid"/>
            <a:round/>
            <a:headEnd type="none" w="med" len="med"/>
            <a:tailEnd type="none" w="med" len="med"/>
          </a:ln>
        </p:spPr>
      </p:sp>
      <p:sp>
        <p:nvSpPr>
          <p:cNvPr id="117781" name="椭圆 258069"/>
          <p:cNvSpPr/>
          <p:nvPr/>
        </p:nvSpPr>
        <p:spPr>
          <a:xfrm>
            <a:off x="1603375" y="4595813"/>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782" name="矩形 258070"/>
          <p:cNvSpPr/>
          <p:nvPr/>
        </p:nvSpPr>
        <p:spPr>
          <a:xfrm>
            <a:off x="579438" y="3140075"/>
            <a:ext cx="13049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RegWr</a:t>
            </a:r>
            <a:r>
              <a:rPr lang="en-US" altLang="zh-CN" sz="1800" u="sng">
                <a:solidFill>
                  <a:schemeClr val="accent1"/>
                </a:solidFill>
                <a:latin typeface="Arial" panose="020B0604020202020204" pitchFamily="34" charset="0"/>
                <a:ea typeface="宋体" panose="02010600030101010101" pitchFamily="2" charset="-122"/>
              </a:rPr>
              <a:t> =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7783" name="直接连接符 258071"/>
          <p:cNvSpPr/>
          <p:nvPr/>
        </p:nvSpPr>
        <p:spPr>
          <a:xfrm flipH="1">
            <a:off x="749300" y="4140200"/>
            <a:ext cx="1016000" cy="0"/>
          </a:xfrm>
          <a:prstGeom prst="line">
            <a:avLst/>
          </a:prstGeom>
          <a:ln w="25400" cap="flat" cmpd="sng">
            <a:solidFill>
              <a:schemeClr val="tx1"/>
            </a:solidFill>
            <a:prstDash val="solid"/>
            <a:round/>
            <a:headEnd type="triangle" w="med" len="med"/>
            <a:tailEnd type="none" w="med" len="med"/>
          </a:ln>
        </p:spPr>
      </p:sp>
      <p:sp>
        <p:nvSpPr>
          <p:cNvPr id="117784" name="直接连接符 258072"/>
          <p:cNvSpPr/>
          <p:nvPr/>
        </p:nvSpPr>
        <p:spPr>
          <a:xfrm flipH="1">
            <a:off x="1289050" y="4075113"/>
            <a:ext cx="88900" cy="128587"/>
          </a:xfrm>
          <a:prstGeom prst="line">
            <a:avLst/>
          </a:prstGeom>
          <a:ln w="12700" cap="flat" cmpd="sng">
            <a:solidFill>
              <a:schemeClr val="tx1"/>
            </a:solidFill>
            <a:prstDash val="solid"/>
            <a:round/>
            <a:headEnd type="none" w="med" len="med"/>
            <a:tailEnd type="none" w="med" len="med"/>
          </a:ln>
        </p:spPr>
      </p:sp>
      <p:sp>
        <p:nvSpPr>
          <p:cNvPr id="117785" name="矩形 258073"/>
          <p:cNvSpPr/>
          <p:nvPr/>
        </p:nvSpPr>
        <p:spPr>
          <a:xfrm>
            <a:off x="938213" y="414972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7786" name="直接连接符 258074"/>
          <p:cNvSpPr/>
          <p:nvPr/>
        </p:nvSpPr>
        <p:spPr>
          <a:xfrm>
            <a:off x="3225800" y="3784600"/>
            <a:ext cx="1778000" cy="0"/>
          </a:xfrm>
          <a:prstGeom prst="line">
            <a:avLst/>
          </a:prstGeom>
          <a:ln w="50800" cap="flat" cmpd="sng">
            <a:solidFill>
              <a:schemeClr val="accent1"/>
            </a:solidFill>
            <a:prstDash val="solid"/>
            <a:round/>
            <a:headEnd type="none" w="med" len="med"/>
            <a:tailEnd type="triangle" w="med" len="med"/>
          </a:ln>
        </p:spPr>
      </p:sp>
      <p:sp>
        <p:nvSpPr>
          <p:cNvPr id="117787" name="直接连接符 258075"/>
          <p:cNvSpPr/>
          <p:nvPr/>
        </p:nvSpPr>
        <p:spPr>
          <a:xfrm flipH="1">
            <a:off x="4184650" y="3719513"/>
            <a:ext cx="88900" cy="130175"/>
          </a:xfrm>
          <a:prstGeom prst="line">
            <a:avLst/>
          </a:prstGeom>
          <a:ln w="12700" cap="flat" cmpd="sng">
            <a:solidFill>
              <a:schemeClr val="tx1"/>
            </a:solidFill>
            <a:prstDash val="solid"/>
            <a:round/>
            <a:headEnd type="none" w="med" len="med"/>
            <a:tailEnd type="none" w="med" len="med"/>
          </a:ln>
        </p:spPr>
      </p:sp>
      <p:sp>
        <p:nvSpPr>
          <p:cNvPr id="117788" name="矩形 258076"/>
          <p:cNvSpPr/>
          <p:nvPr/>
        </p:nvSpPr>
        <p:spPr>
          <a:xfrm>
            <a:off x="3871913" y="38528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7789" name="矩形 258077"/>
          <p:cNvSpPr/>
          <p:nvPr/>
        </p:nvSpPr>
        <p:spPr>
          <a:xfrm>
            <a:off x="3567113" y="3433763"/>
            <a:ext cx="7524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117790" name="直接连接符 258078"/>
          <p:cNvSpPr/>
          <p:nvPr/>
        </p:nvSpPr>
        <p:spPr>
          <a:xfrm flipV="1">
            <a:off x="1905000" y="3416300"/>
            <a:ext cx="0" cy="238125"/>
          </a:xfrm>
          <a:prstGeom prst="line">
            <a:avLst/>
          </a:prstGeom>
          <a:ln w="25400" cap="flat" cmpd="sng">
            <a:solidFill>
              <a:schemeClr val="tx1"/>
            </a:solidFill>
            <a:prstDash val="solid"/>
            <a:round/>
            <a:headEnd type="none" w="med" len="med"/>
            <a:tailEnd type="none" w="med" len="med"/>
          </a:ln>
        </p:spPr>
      </p:sp>
      <p:sp>
        <p:nvSpPr>
          <p:cNvPr id="117791" name="直接连接符 258079"/>
          <p:cNvSpPr/>
          <p:nvPr/>
        </p:nvSpPr>
        <p:spPr>
          <a:xfrm>
            <a:off x="3225800" y="4484688"/>
            <a:ext cx="939800" cy="0"/>
          </a:xfrm>
          <a:prstGeom prst="line">
            <a:avLst/>
          </a:prstGeom>
          <a:ln w="50800" cap="flat" cmpd="sng">
            <a:solidFill>
              <a:schemeClr val="accent1"/>
            </a:solidFill>
            <a:prstDash val="solid"/>
            <a:round/>
            <a:headEnd type="none" w="med" len="med"/>
            <a:tailEnd type="triangle" w="med" len="med"/>
          </a:ln>
        </p:spPr>
      </p:sp>
      <p:sp>
        <p:nvSpPr>
          <p:cNvPr id="117792" name="直接连接符 258080"/>
          <p:cNvSpPr/>
          <p:nvPr/>
        </p:nvSpPr>
        <p:spPr>
          <a:xfrm flipV="1">
            <a:off x="3663950" y="4337050"/>
            <a:ext cx="139700" cy="241300"/>
          </a:xfrm>
          <a:prstGeom prst="line">
            <a:avLst/>
          </a:prstGeom>
          <a:ln w="12700" cap="flat" cmpd="sng">
            <a:solidFill>
              <a:schemeClr val="tx1"/>
            </a:solidFill>
            <a:prstDash val="solid"/>
            <a:round/>
            <a:headEnd type="none" w="med" len="med"/>
            <a:tailEnd type="none" w="med" len="med"/>
          </a:ln>
        </p:spPr>
      </p:sp>
      <p:sp>
        <p:nvSpPr>
          <p:cNvPr id="117793" name="矩形 258081"/>
          <p:cNvSpPr/>
          <p:nvPr/>
        </p:nvSpPr>
        <p:spPr>
          <a:xfrm>
            <a:off x="3262313" y="448151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7794" name="矩形 258082"/>
          <p:cNvSpPr/>
          <p:nvPr/>
        </p:nvSpPr>
        <p:spPr>
          <a:xfrm>
            <a:off x="3148013" y="4095750"/>
            <a:ext cx="7524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117795" name="直接连接符 258083"/>
          <p:cNvSpPr/>
          <p:nvPr/>
        </p:nvSpPr>
        <p:spPr>
          <a:xfrm flipH="1">
            <a:off x="1130300" y="4637088"/>
            <a:ext cx="482600" cy="0"/>
          </a:xfrm>
          <a:prstGeom prst="line">
            <a:avLst/>
          </a:prstGeom>
          <a:ln w="25400" cap="flat" cmpd="sng">
            <a:solidFill>
              <a:schemeClr val="tx1"/>
            </a:solidFill>
            <a:prstDash val="solid"/>
            <a:round/>
            <a:headEnd type="none" w="med" len="med"/>
            <a:tailEnd type="none" w="med" len="med"/>
          </a:ln>
        </p:spPr>
      </p:sp>
      <p:sp>
        <p:nvSpPr>
          <p:cNvPr id="117796" name="直接连接符 258084"/>
          <p:cNvSpPr/>
          <p:nvPr/>
        </p:nvSpPr>
        <p:spPr>
          <a:xfrm>
            <a:off x="3048000" y="3241675"/>
            <a:ext cx="0" cy="374650"/>
          </a:xfrm>
          <a:prstGeom prst="line">
            <a:avLst/>
          </a:prstGeom>
          <a:ln w="50800" cap="flat" cmpd="sng">
            <a:solidFill>
              <a:schemeClr val="accent1"/>
            </a:solidFill>
            <a:prstDash val="solid"/>
            <a:round/>
            <a:headEnd type="none" w="med" len="med"/>
            <a:tailEnd type="none" w="med" len="med"/>
          </a:ln>
        </p:spPr>
      </p:sp>
      <p:sp>
        <p:nvSpPr>
          <p:cNvPr id="117797" name="直接连接符 258085"/>
          <p:cNvSpPr/>
          <p:nvPr/>
        </p:nvSpPr>
        <p:spPr>
          <a:xfrm flipV="1">
            <a:off x="2978150" y="3351213"/>
            <a:ext cx="139700" cy="155575"/>
          </a:xfrm>
          <a:prstGeom prst="line">
            <a:avLst/>
          </a:prstGeom>
          <a:ln w="12700" cap="flat" cmpd="sng">
            <a:solidFill>
              <a:schemeClr val="tx1"/>
            </a:solidFill>
            <a:prstDash val="solid"/>
            <a:round/>
            <a:headEnd type="none" w="med" len="med"/>
            <a:tailEnd type="none" w="med" len="med"/>
          </a:ln>
        </p:spPr>
      </p:sp>
      <p:sp>
        <p:nvSpPr>
          <p:cNvPr id="117798" name="矩形 258086"/>
          <p:cNvSpPr/>
          <p:nvPr/>
        </p:nvSpPr>
        <p:spPr>
          <a:xfrm>
            <a:off x="28051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7799" name="直接连接符 258087"/>
          <p:cNvSpPr/>
          <p:nvPr/>
        </p:nvSpPr>
        <p:spPr>
          <a:xfrm>
            <a:off x="2209800" y="3016250"/>
            <a:ext cx="0" cy="612775"/>
          </a:xfrm>
          <a:prstGeom prst="line">
            <a:avLst/>
          </a:prstGeom>
          <a:ln w="25400" cap="flat" cmpd="sng">
            <a:solidFill>
              <a:schemeClr val="tx1"/>
            </a:solidFill>
            <a:prstDash val="solid"/>
            <a:round/>
            <a:headEnd type="none" w="med" len="med"/>
            <a:tailEnd type="none" w="med" len="med"/>
          </a:ln>
        </p:spPr>
      </p:sp>
      <p:sp>
        <p:nvSpPr>
          <p:cNvPr id="117800" name="直接连接符 258088"/>
          <p:cNvSpPr/>
          <p:nvPr/>
        </p:nvSpPr>
        <p:spPr>
          <a:xfrm flipV="1">
            <a:off x="2139950" y="3351213"/>
            <a:ext cx="139700" cy="155575"/>
          </a:xfrm>
          <a:prstGeom prst="line">
            <a:avLst/>
          </a:prstGeom>
          <a:ln w="12700" cap="flat" cmpd="sng">
            <a:solidFill>
              <a:schemeClr val="tx1"/>
            </a:solidFill>
            <a:prstDash val="solid"/>
            <a:round/>
            <a:headEnd type="none" w="med" len="med"/>
            <a:tailEnd type="none" w="med" len="med"/>
          </a:ln>
        </p:spPr>
      </p:sp>
      <p:sp>
        <p:nvSpPr>
          <p:cNvPr id="117801" name="矩形 258089"/>
          <p:cNvSpPr/>
          <p:nvPr/>
        </p:nvSpPr>
        <p:spPr>
          <a:xfrm>
            <a:off x="1966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7802" name="直接连接符 258090"/>
          <p:cNvSpPr/>
          <p:nvPr/>
        </p:nvSpPr>
        <p:spPr>
          <a:xfrm>
            <a:off x="2590800" y="3241675"/>
            <a:ext cx="0" cy="374650"/>
          </a:xfrm>
          <a:prstGeom prst="line">
            <a:avLst/>
          </a:prstGeom>
          <a:ln w="50800" cap="flat" cmpd="sng">
            <a:solidFill>
              <a:schemeClr val="accent1"/>
            </a:solidFill>
            <a:prstDash val="solid"/>
            <a:round/>
            <a:headEnd type="none" w="med" len="med"/>
            <a:tailEnd type="none" w="med" len="med"/>
          </a:ln>
        </p:spPr>
      </p:sp>
      <p:sp>
        <p:nvSpPr>
          <p:cNvPr id="117803" name="直接连接符 258091"/>
          <p:cNvSpPr/>
          <p:nvPr/>
        </p:nvSpPr>
        <p:spPr>
          <a:xfrm flipV="1">
            <a:off x="2520950" y="3351213"/>
            <a:ext cx="139700" cy="155575"/>
          </a:xfrm>
          <a:prstGeom prst="line">
            <a:avLst/>
          </a:prstGeom>
          <a:ln w="12700" cap="flat" cmpd="sng">
            <a:solidFill>
              <a:schemeClr val="tx1"/>
            </a:solidFill>
            <a:prstDash val="solid"/>
            <a:round/>
            <a:headEnd type="none" w="med" len="med"/>
            <a:tailEnd type="none" w="med" len="med"/>
          </a:ln>
        </p:spPr>
      </p:sp>
      <p:sp>
        <p:nvSpPr>
          <p:cNvPr id="117804" name="矩形 258092"/>
          <p:cNvSpPr/>
          <p:nvPr/>
        </p:nvSpPr>
        <p:spPr>
          <a:xfrm>
            <a:off x="2347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7805" name="矩形 258093"/>
          <p:cNvSpPr/>
          <p:nvPr/>
        </p:nvSpPr>
        <p:spPr>
          <a:xfrm>
            <a:off x="1966913" y="3640138"/>
            <a:ext cx="523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117806" name="矩形 258094"/>
          <p:cNvSpPr/>
          <p:nvPr/>
        </p:nvSpPr>
        <p:spPr>
          <a:xfrm>
            <a:off x="2424113" y="3640138"/>
            <a:ext cx="4730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117807" name="矩形 258095"/>
          <p:cNvSpPr/>
          <p:nvPr/>
        </p:nvSpPr>
        <p:spPr>
          <a:xfrm>
            <a:off x="2805113" y="3640138"/>
            <a:ext cx="4857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117808" name="矩形 258096"/>
          <p:cNvSpPr/>
          <p:nvPr/>
        </p:nvSpPr>
        <p:spPr>
          <a:xfrm>
            <a:off x="1966913" y="3924300"/>
            <a:ext cx="1222375" cy="63817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pPr eaLnBrk="0" hangingPunct="0"/>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117809" name="直接连接符 258097"/>
          <p:cNvSpPr/>
          <p:nvPr/>
        </p:nvSpPr>
        <p:spPr>
          <a:xfrm flipH="1">
            <a:off x="749300" y="6172200"/>
            <a:ext cx="7797800" cy="0"/>
          </a:xfrm>
          <a:prstGeom prst="line">
            <a:avLst/>
          </a:prstGeom>
          <a:ln w="25400" cap="flat" cmpd="sng">
            <a:solidFill>
              <a:schemeClr val="tx1"/>
            </a:solidFill>
            <a:prstDash val="solid"/>
            <a:round/>
            <a:headEnd type="none" w="med" len="med"/>
            <a:tailEnd type="none" w="med" len="med"/>
          </a:ln>
        </p:spPr>
      </p:sp>
      <p:sp>
        <p:nvSpPr>
          <p:cNvPr id="117810" name="直接连接符 258098"/>
          <p:cNvSpPr/>
          <p:nvPr/>
        </p:nvSpPr>
        <p:spPr>
          <a:xfrm flipV="1">
            <a:off x="762000" y="4127500"/>
            <a:ext cx="0" cy="2057400"/>
          </a:xfrm>
          <a:prstGeom prst="line">
            <a:avLst/>
          </a:prstGeom>
          <a:ln w="25400" cap="flat" cmpd="sng">
            <a:solidFill>
              <a:schemeClr val="tx1"/>
            </a:solidFill>
            <a:prstDash val="solid"/>
            <a:round/>
            <a:headEnd type="none" w="med" len="med"/>
            <a:tailEnd type="none" w="med" len="med"/>
          </a:ln>
        </p:spPr>
      </p:sp>
      <p:sp>
        <p:nvSpPr>
          <p:cNvPr id="117811" name="矩形 258099"/>
          <p:cNvSpPr/>
          <p:nvPr/>
        </p:nvSpPr>
        <p:spPr>
          <a:xfrm>
            <a:off x="2576513" y="3000375"/>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17812" name="矩形 258100"/>
          <p:cNvSpPr/>
          <p:nvPr/>
        </p:nvSpPr>
        <p:spPr>
          <a:xfrm>
            <a:off x="2347913" y="2360613"/>
            <a:ext cx="4222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117813" name="组合 258101"/>
          <p:cNvGrpSpPr/>
          <p:nvPr/>
        </p:nvGrpSpPr>
        <p:grpSpPr>
          <a:xfrm>
            <a:off x="4191000" y="4203700"/>
            <a:ext cx="304800" cy="1227138"/>
            <a:chOff x="2640" y="2648"/>
            <a:chExt cx="192" cy="773"/>
          </a:xfrm>
        </p:grpSpPr>
        <p:sp>
          <p:nvSpPr>
            <p:cNvPr id="117814" name="直接连接符 258102"/>
            <p:cNvSpPr/>
            <p:nvPr/>
          </p:nvSpPr>
          <p:spPr>
            <a:xfrm>
              <a:off x="2640" y="2648"/>
              <a:ext cx="0" cy="757"/>
            </a:xfrm>
            <a:prstGeom prst="line">
              <a:avLst/>
            </a:prstGeom>
            <a:ln w="25400" cap="flat" cmpd="sng">
              <a:solidFill>
                <a:schemeClr val="tx1"/>
              </a:solidFill>
              <a:prstDash val="solid"/>
              <a:round/>
              <a:headEnd type="none" w="med" len="med"/>
              <a:tailEnd type="none" w="med" len="med"/>
            </a:ln>
          </p:spPr>
        </p:sp>
        <p:sp>
          <p:nvSpPr>
            <p:cNvPr id="117815" name="直接连接符 258103"/>
            <p:cNvSpPr/>
            <p:nvPr/>
          </p:nvSpPr>
          <p:spPr>
            <a:xfrm>
              <a:off x="2648" y="2648"/>
              <a:ext cx="176" cy="86"/>
            </a:xfrm>
            <a:prstGeom prst="line">
              <a:avLst/>
            </a:prstGeom>
            <a:ln w="25400" cap="flat" cmpd="sng">
              <a:solidFill>
                <a:schemeClr val="tx1"/>
              </a:solidFill>
              <a:prstDash val="solid"/>
              <a:round/>
              <a:headEnd type="none" w="med" len="med"/>
              <a:tailEnd type="none" w="med" len="med"/>
            </a:ln>
          </p:spPr>
        </p:sp>
        <p:sp>
          <p:nvSpPr>
            <p:cNvPr id="117816" name="直接连接符 258104"/>
            <p:cNvSpPr/>
            <p:nvPr/>
          </p:nvSpPr>
          <p:spPr>
            <a:xfrm flipV="1">
              <a:off x="2648" y="3303"/>
              <a:ext cx="176" cy="118"/>
            </a:xfrm>
            <a:prstGeom prst="line">
              <a:avLst/>
            </a:prstGeom>
            <a:ln w="25400" cap="flat" cmpd="sng">
              <a:solidFill>
                <a:schemeClr val="tx1"/>
              </a:solidFill>
              <a:prstDash val="solid"/>
              <a:round/>
              <a:headEnd type="none" w="med" len="med"/>
              <a:tailEnd type="none" w="med" len="med"/>
            </a:ln>
          </p:spPr>
        </p:sp>
        <p:sp>
          <p:nvSpPr>
            <p:cNvPr id="117817" name="直接连接符 258105"/>
            <p:cNvSpPr/>
            <p:nvPr/>
          </p:nvSpPr>
          <p:spPr>
            <a:xfrm>
              <a:off x="2832" y="2750"/>
              <a:ext cx="0" cy="553"/>
            </a:xfrm>
            <a:prstGeom prst="line">
              <a:avLst/>
            </a:prstGeom>
            <a:ln w="25400" cap="flat" cmpd="sng">
              <a:solidFill>
                <a:schemeClr val="tx1"/>
              </a:solidFill>
              <a:prstDash val="solid"/>
              <a:round/>
              <a:headEnd type="none" w="med" len="med"/>
              <a:tailEnd type="none" w="med" len="med"/>
            </a:ln>
          </p:spPr>
        </p:sp>
      </p:grpSp>
      <p:grpSp>
        <p:nvGrpSpPr>
          <p:cNvPr id="117818" name="组合 258106"/>
          <p:cNvGrpSpPr/>
          <p:nvPr/>
        </p:nvGrpSpPr>
        <p:grpSpPr>
          <a:xfrm>
            <a:off x="1473200" y="2754313"/>
            <a:ext cx="1168400" cy="284162"/>
            <a:chOff x="928" y="1735"/>
            <a:chExt cx="736" cy="179"/>
          </a:xfrm>
        </p:grpSpPr>
        <p:sp>
          <p:nvSpPr>
            <p:cNvPr id="117819" name="直接连接符 258107"/>
            <p:cNvSpPr/>
            <p:nvPr/>
          </p:nvSpPr>
          <p:spPr>
            <a:xfrm flipH="1">
              <a:off x="928" y="1735"/>
              <a:ext cx="736" cy="0"/>
            </a:xfrm>
            <a:prstGeom prst="line">
              <a:avLst/>
            </a:prstGeom>
            <a:ln w="25400" cap="flat" cmpd="sng">
              <a:solidFill>
                <a:schemeClr val="tx1"/>
              </a:solidFill>
              <a:prstDash val="solid"/>
              <a:round/>
              <a:headEnd type="none" w="med" len="med"/>
              <a:tailEnd type="none" w="med" len="med"/>
            </a:ln>
          </p:spPr>
        </p:sp>
        <p:sp>
          <p:nvSpPr>
            <p:cNvPr id="117820" name="直接连接符 258108"/>
            <p:cNvSpPr/>
            <p:nvPr/>
          </p:nvSpPr>
          <p:spPr>
            <a:xfrm flipH="1">
              <a:off x="1552" y="1743"/>
              <a:ext cx="112" cy="163"/>
            </a:xfrm>
            <a:prstGeom prst="line">
              <a:avLst/>
            </a:prstGeom>
            <a:ln w="25400" cap="flat" cmpd="sng">
              <a:solidFill>
                <a:schemeClr val="tx1"/>
              </a:solidFill>
              <a:prstDash val="solid"/>
              <a:round/>
              <a:headEnd type="none" w="med" len="med"/>
              <a:tailEnd type="none" w="med" len="med"/>
            </a:ln>
          </p:spPr>
        </p:sp>
        <p:sp>
          <p:nvSpPr>
            <p:cNvPr id="117821" name="直接连接符 258109"/>
            <p:cNvSpPr/>
            <p:nvPr/>
          </p:nvSpPr>
          <p:spPr>
            <a:xfrm>
              <a:off x="944" y="1743"/>
              <a:ext cx="80" cy="163"/>
            </a:xfrm>
            <a:prstGeom prst="line">
              <a:avLst/>
            </a:prstGeom>
            <a:ln w="25400" cap="flat" cmpd="sng">
              <a:solidFill>
                <a:schemeClr val="tx1"/>
              </a:solidFill>
              <a:prstDash val="solid"/>
              <a:round/>
              <a:headEnd type="none" w="med" len="med"/>
              <a:tailEnd type="none" w="med" len="med"/>
            </a:ln>
          </p:spPr>
        </p:sp>
        <p:sp>
          <p:nvSpPr>
            <p:cNvPr id="117822" name="直接连接符 258110"/>
            <p:cNvSpPr/>
            <p:nvPr/>
          </p:nvSpPr>
          <p:spPr>
            <a:xfrm flipH="1">
              <a:off x="1024" y="1914"/>
              <a:ext cx="544" cy="0"/>
            </a:xfrm>
            <a:prstGeom prst="line">
              <a:avLst/>
            </a:prstGeom>
            <a:ln w="25400" cap="flat" cmpd="sng">
              <a:solidFill>
                <a:schemeClr val="tx1"/>
              </a:solidFill>
              <a:prstDash val="solid"/>
              <a:round/>
              <a:headEnd type="none" w="med" len="med"/>
              <a:tailEnd type="none" w="med" len="med"/>
            </a:ln>
          </p:spPr>
        </p:sp>
      </p:grpSp>
      <p:sp>
        <p:nvSpPr>
          <p:cNvPr id="117823" name="矩形 258111"/>
          <p:cNvSpPr/>
          <p:nvPr/>
        </p:nvSpPr>
        <p:spPr>
          <a:xfrm>
            <a:off x="2986088" y="3000375"/>
            <a:ext cx="422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17824" name="直接连接符 258112"/>
          <p:cNvSpPr/>
          <p:nvPr/>
        </p:nvSpPr>
        <p:spPr>
          <a:xfrm>
            <a:off x="2362200" y="2517775"/>
            <a:ext cx="0" cy="188913"/>
          </a:xfrm>
          <a:prstGeom prst="line">
            <a:avLst/>
          </a:prstGeom>
          <a:ln w="25400" cap="flat" cmpd="sng">
            <a:solidFill>
              <a:schemeClr val="tx1"/>
            </a:solidFill>
            <a:prstDash val="solid"/>
            <a:round/>
            <a:headEnd type="none" w="med" len="med"/>
            <a:tailEnd type="none" w="med" len="med"/>
          </a:ln>
        </p:spPr>
      </p:sp>
      <p:sp>
        <p:nvSpPr>
          <p:cNvPr id="117825" name="直接连接符 258113"/>
          <p:cNvSpPr/>
          <p:nvPr/>
        </p:nvSpPr>
        <p:spPr>
          <a:xfrm>
            <a:off x="1752600" y="2517775"/>
            <a:ext cx="0" cy="188913"/>
          </a:xfrm>
          <a:prstGeom prst="line">
            <a:avLst/>
          </a:prstGeom>
          <a:ln w="25400" cap="flat" cmpd="sng">
            <a:solidFill>
              <a:schemeClr val="tx1"/>
            </a:solidFill>
            <a:prstDash val="solid"/>
            <a:round/>
            <a:headEnd type="none" w="med" len="med"/>
            <a:tailEnd type="none" w="med" len="med"/>
          </a:ln>
        </p:spPr>
      </p:sp>
      <p:sp>
        <p:nvSpPr>
          <p:cNvPr id="117826" name="矩形 258114"/>
          <p:cNvSpPr/>
          <p:nvPr/>
        </p:nvSpPr>
        <p:spPr>
          <a:xfrm>
            <a:off x="1738313" y="2360613"/>
            <a:ext cx="4857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17827" name="直接连接符 258115"/>
          <p:cNvSpPr/>
          <p:nvPr/>
        </p:nvSpPr>
        <p:spPr>
          <a:xfrm flipH="1">
            <a:off x="1054100" y="2895600"/>
            <a:ext cx="558800" cy="0"/>
          </a:xfrm>
          <a:prstGeom prst="line">
            <a:avLst/>
          </a:prstGeom>
          <a:ln w="25400" cap="flat" cmpd="sng">
            <a:solidFill>
              <a:schemeClr val="tx1"/>
            </a:solidFill>
            <a:prstDash val="solid"/>
            <a:round/>
            <a:headEnd type="triangle" w="med" len="med"/>
            <a:tailEnd type="none" w="med" len="med"/>
          </a:ln>
        </p:spPr>
      </p:sp>
      <p:sp>
        <p:nvSpPr>
          <p:cNvPr id="117828" name="矩形 258116"/>
          <p:cNvSpPr/>
          <p:nvPr/>
        </p:nvSpPr>
        <p:spPr>
          <a:xfrm>
            <a:off x="150813" y="2540000"/>
            <a:ext cx="1355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RegDst</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x</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7829" name="矩形 258117"/>
          <p:cNvSpPr/>
          <p:nvPr/>
        </p:nvSpPr>
        <p:spPr>
          <a:xfrm>
            <a:off x="3136900" y="48895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830" name="矩形 258118"/>
          <p:cNvSpPr/>
          <p:nvPr/>
        </p:nvSpPr>
        <p:spPr>
          <a:xfrm rot="5400000">
            <a:off x="3024188" y="5195888"/>
            <a:ext cx="5365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Ext</a:t>
            </a:r>
            <a:endParaRPr lang="en-US" altLang="zh-CN" sz="1800">
              <a:latin typeface="Arial" panose="020B0604020202020204" pitchFamily="34" charset="0"/>
              <a:ea typeface="宋体" panose="02010600030101010101" pitchFamily="2" charset="-122"/>
            </a:endParaRPr>
          </a:p>
        </p:txBody>
      </p:sp>
      <p:sp>
        <p:nvSpPr>
          <p:cNvPr id="117831" name="矩形 258119"/>
          <p:cNvSpPr/>
          <p:nvPr/>
        </p:nvSpPr>
        <p:spPr>
          <a:xfrm rot="5400000">
            <a:off x="3975100" y="4613275"/>
            <a:ext cx="638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7832" name="矩形 258120"/>
          <p:cNvSpPr/>
          <p:nvPr/>
        </p:nvSpPr>
        <p:spPr>
          <a:xfrm>
            <a:off x="1776413" y="2751138"/>
            <a:ext cx="6381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7833" name="直接连接符 258121"/>
          <p:cNvSpPr/>
          <p:nvPr/>
        </p:nvSpPr>
        <p:spPr>
          <a:xfrm>
            <a:off x="3530600" y="5276850"/>
            <a:ext cx="635000" cy="0"/>
          </a:xfrm>
          <a:prstGeom prst="line">
            <a:avLst/>
          </a:prstGeom>
          <a:ln w="50800" cap="flat" cmpd="sng">
            <a:solidFill>
              <a:schemeClr val="accent1"/>
            </a:solidFill>
            <a:prstDash val="solid"/>
            <a:round/>
            <a:headEnd type="none" w="med" len="med"/>
            <a:tailEnd type="triangle" w="med" len="med"/>
          </a:ln>
        </p:spPr>
      </p:sp>
      <p:sp>
        <p:nvSpPr>
          <p:cNvPr id="117834" name="矩形 258122"/>
          <p:cNvSpPr/>
          <p:nvPr/>
        </p:nvSpPr>
        <p:spPr>
          <a:xfrm>
            <a:off x="3509963" y="5308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7835" name="直接连接符 258123"/>
          <p:cNvSpPr/>
          <p:nvPr/>
        </p:nvSpPr>
        <p:spPr>
          <a:xfrm flipH="1">
            <a:off x="3651250" y="5211763"/>
            <a:ext cx="88900" cy="130175"/>
          </a:xfrm>
          <a:prstGeom prst="line">
            <a:avLst/>
          </a:prstGeom>
          <a:ln w="12700" cap="flat" cmpd="sng">
            <a:solidFill>
              <a:schemeClr val="tx1"/>
            </a:solidFill>
            <a:prstDash val="solid"/>
            <a:round/>
            <a:headEnd type="none" w="med" len="med"/>
            <a:tailEnd type="none" w="med" len="med"/>
          </a:ln>
        </p:spPr>
      </p:sp>
      <p:sp>
        <p:nvSpPr>
          <p:cNvPr id="117836" name="直接连接符 258124"/>
          <p:cNvSpPr/>
          <p:nvPr/>
        </p:nvSpPr>
        <p:spPr>
          <a:xfrm>
            <a:off x="2159000" y="5418138"/>
            <a:ext cx="939800" cy="0"/>
          </a:xfrm>
          <a:prstGeom prst="line">
            <a:avLst/>
          </a:prstGeom>
          <a:ln w="50800" cap="flat" cmpd="sng">
            <a:solidFill>
              <a:schemeClr val="accent1"/>
            </a:solidFill>
            <a:prstDash val="solid"/>
            <a:round/>
            <a:headEnd type="none" w="med" len="med"/>
            <a:tailEnd type="triangle" w="med" len="med"/>
          </a:ln>
        </p:spPr>
      </p:sp>
      <p:sp>
        <p:nvSpPr>
          <p:cNvPr id="117837" name="直接连接符 258125"/>
          <p:cNvSpPr/>
          <p:nvPr/>
        </p:nvSpPr>
        <p:spPr>
          <a:xfrm flipH="1">
            <a:off x="2584450" y="5354638"/>
            <a:ext cx="88900" cy="128587"/>
          </a:xfrm>
          <a:prstGeom prst="line">
            <a:avLst/>
          </a:prstGeom>
          <a:ln w="12700" cap="flat" cmpd="sng">
            <a:solidFill>
              <a:schemeClr val="tx1"/>
            </a:solidFill>
            <a:prstDash val="solid"/>
            <a:round/>
            <a:headEnd type="none" w="med" len="med"/>
            <a:tailEnd type="none" w="med" len="med"/>
          </a:ln>
        </p:spPr>
      </p:sp>
      <p:sp>
        <p:nvSpPr>
          <p:cNvPr id="117838" name="矩形 258126"/>
          <p:cNvSpPr/>
          <p:nvPr/>
        </p:nvSpPr>
        <p:spPr>
          <a:xfrm>
            <a:off x="2271713" y="54149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17839" name="矩形 258127"/>
          <p:cNvSpPr/>
          <p:nvPr/>
        </p:nvSpPr>
        <p:spPr>
          <a:xfrm>
            <a:off x="1255713" y="5273675"/>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17840" name="直接连接符 258128"/>
          <p:cNvSpPr/>
          <p:nvPr/>
        </p:nvSpPr>
        <p:spPr>
          <a:xfrm>
            <a:off x="4343400" y="5360988"/>
            <a:ext cx="0" cy="400050"/>
          </a:xfrm>
          <a:prstGeom prst="line">
            <a:avLst/>
          </a:prstGeom>
          <a:ln w="25400" cap="flat" cmpd="sng">
            <a:solidFill>
              <a:schemeClr val="tx1"/>
            </a:solidFill>
            <a:prstDash val="solid"/>
            <a:round/>
            <a:headEnd type="triangle" w="med" len="med"/>
            <a:tailEnd type="none" w="med" len="med"/>
          </a:ln>
        </p:spPr>
      </p:sp>
      <p:sp>
        <p:nvSpPr>
          <p:cNvPr id="117841" name="矩形 258129"/>
          <p:cNvSpPr/>
          <p:nvPr/>
        </p:nvSpPr>
        <p:spPr>
          <a:xfrm>
            <a:off x="3948113" y="5781675"/>
            <a:ext cx="13938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ALUSrc</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7842" name="直接连接符 258130"/>
          <p:cNvSpPr/>
          <p:nvPr/>
        </p:nvSpPr>
        <p:spPr>
          <a:xfrm>
            <a:off x="4521200" y="4637088"/>
            <a:ext cx="482600" cy="0"/>
          </a:xfrm>
          <a:prstGeom prst="line">
            <a:avLst/>
          </a:prstGeom>
          <a:ln w="50800" cap="flat" cmpd="sng">
            <a:solidFill>
              <a:schemeClr val="accent1"/>
            </a:solidFill>
            <a:prstDash val="solid"/>
            <a:round/>
            <a:headEnd type="none" w="med" len="med"/>
            <a:tailEnd type="triangle" w="med" len="med"/>
          </a:ln>
        </p:spPr>
      </p:sp>
      <p:sp>
        <p:nvSpPr>
          <p:cNvPr id="117843" name="直接连接符 258131"/>
          <p:cNvSpPr/>
          <p:nvPr/>
        </p:nvSpPr>
        <p:spPr>
          <a:xfrm>
            <a:off x="8534400" y="4506913"/>
            <a:ext cx="0" cy="1652587"/>
          </a:xfrm>
          <a:prstGeom prst="line">
            <a:avLst/>
          </a:prstGeom>
          <a:ln w="25400" cap="flat" cmpd="sng">
            <a:solidFill>
              <a:schemeClr val="tx1"/>
            </a:solidFill>
            <a:prstDash val="solid"/>
            <a:round/>
            <a:headEnd type="none" w="med" len="med"/>
            <a:tailEnd type="none" w="med" len="med"/>
          </a:ln>
        </p:spPr>
      </p:sp>
      <p:sp>
        <p:nvSpPr>
          <p:cNvPr id="117844" name="直接连接符 258132"/>
          <p:cNvSpPr/>
          <p:nvPr/>
        </p:nvSpPr>
        <p:spPr>
          <a:xfrm>
            <a:off x="3352800" y="5862638"/>
            <a:ext cx="0" cy="471487"/>
          </a:xfrm>
          <a:prstGeom prst="line">
            <a:avLst/>
          </a:prstGeom>
          <a:ln w="25400" cap="flat" cmpd="sng">
            <a:solidFill>
              <a:schemeClr val="tx1"/>
            </a:solidFill>
            <a:prstDash val="solid"/>
            <a:round/>
            <a:headEnd type="triangle" w="med" len="med"/>
            <a:tailEnd type="none" w="med" len="med"/>
          </a:ln>
        </p:spPr>
      </p:sp>
      <p:sp>
        <p:nvSpPr>
          <p:cNvPr id="117845" name="矩形 258133"/>
          <p:cNvSpPr/>
          <p:nvPr/>
        </p:nvSpPr>
        <p:spPr>
          <a:xfrm>
            <a:off x="2347913" y="6191250"/>
            <a:ext cx="1228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ExtOp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grpSp>
        <p:nvGrpSpPr>
          <p:cNvPr id="117846" name="组合 258134"/>
          <p:cNvGrpSpPr/>
          <p:nvPr/>
        </p:nvGrpSpPr>
        <p:grpSpPr>
          <a:xfrm>
            <a:off x="7772400" y="3938588"/>
            <a:ext cx="304800" cy="1255712"/>
            <a:chOff x="4896" y="2481"/>
            <a:chExt cx="192" cy="791"/>
          </a:xfrm>
        </p:grpSpPr>
        <p:sp>
          <p:nvSpPr>
            <p:cNvPr id="117847" name="直接连接符 258135"/>
            <p:cNvSpPr/>
            <p:nvPr/>
          </p:nvSpPr>
          <p:spPr>
            <a:xfrm>
              <a:off x="4896" y="2481"/>
              <a:ext cx="0" cy="775"/>
            </a:xfrm>
            <a:prstGeom prst="line">
              <a:avLst/>
            </a:prstGeom>
            <a:ln w="25400" cap="flat" cmpd="sng">
              <a:solidFill>
                <a:schemeClr val="tx1"/>
              </a:solidFill>
              <a:prstDash val="solid"/>
              <a:round/>
              <a:headEnd type="none" w="med" len="med"/>
              <a:tailEnd type="none" w="med" len="med"/>
            </a:ln>
          </p:spPr>
        </p:sp>
        <p:sp>
          <p:nvSpPr>
            <p:cNvPr id="117848" name="直接连接符 258136"/>
            <p:cNvSpPr/>
            <p:nvPr/>
          </p:nvSpPr>
          <p:spPr>
            <a:xfrm>
              <a:off x="4904" y="2481"/>
              <a:ext cx="176" cy="90"/>
            </a:xfrm>
            <a:prstGeom prst="line">
              <a:avLst/>
            </a:prstGeom>
            <a:ln w="25400" cap="flat" cmpd="sng">
              <a:solidFill>
                <a:schemeClr val="tx1"/>
              </a:solidFill>
              <a:prstDash val="solid"/>
              <a:round/>
              <a:headEnd type="none" w="med" len="med"/>
              <a:tailEnd type="none" w="med" len="med"/>
            </a:ln>
          </p:spPr>
        </p:sp>
        <p:sp>
          <p:nvSpPr>
            <p:cNvPr id="117849" name="直接连接符 258137"/>
            <p:cNvSpPr/>
            <p:nvPr/>
          </p:nvSpPr>
          <p:spPr>
            <a:xfrm flipV="1">
              <a:off x="4904" y="3150"/>
              <a:ext cx="176" cy="122"/>
            </a:xfrm>
            <a:prstGeom prst="line">
              <a:avLst/>
            </a:prstGeom>
            <a:ln w="25400" cap="flat" cmpd="sng">
              <a:solidFill>
                <a:schemeClr val="tx1"/>
              </a:solidFill>
              <a:prstDash val="solid"/>
              <a:round/>
              <a:headEnd type="none" w="med" len="med"/>
              <a:tailEnd type="none" w="med" len="med"/>
            </a:ln>
          </p:spPr>
        </p:sp>
        <p:sp>
          <p:nvSpPr>
            <p:cNvPr id="117850" name="直接连接符 258138"/>
            <p:cNvSpPr/>
            <p:nvPr/>
          </p:nvSpPr>
          <p:spPr>
            <a:xfrm>
              <a:off x="5088" y="2587"/>
              <a:ext cx="0" cy="563"/>
            </a:xfrm>
            <a:prstGeom prst="line">
              <a:avLst/>
            </a:prstGeom>
            <a:ln w="25400" cap="flat" cmpd="sng">
              <a:solidFill>
                <a:schemeClr val="tx1"/>
              </a:solidFill>
              <a:prstDash val="solid"/>
              <a:round/>
              <a:headEnd type="none" w="med" len="med"/>
              <a:tailEnd type="none" w="med" len="med"/>
            </a:ln>
          </p:spPr>
        </p:sp>
      </p:grpSp>
      <p:sp>
        <p:nvSpPr>
          <p:cNvPr id="117851" name="矩形 258139"/>
          <p:cNvSpPr/>
          <p:nvPr/>
        </p:nvSpPr>
        <p:spPr>
          <a:xfrm rot="5400000">
            <a:off x="7542213" y="4471988"/>
            <a:ext cx="638175" cy="365125"/>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7852" name="直接连接符 258140"/>
          <p:cNvSpPr/>
          <p:nvPr/>
        </p:nvSpPr>
        <p:spPr>
          <a:xfrm flipV="1">
            <a:off x="7924800" y="3559175"/>
            <a:ext cx="0" cy="450850"/>
          </a:xfrm>
          <a:prstGeom prst="line">
            <a:avLst/>
          </a:prstGeom>
          <a:ln w="25400" cap="flat" cmpd="sng">
            <a:solidFill>
              <a:schemeClr val="tx1"/>
            </a:solidFill>
            <a:prstDash val="solid"/>
            <a:round/>
            <a:headEnd type="triangle" w="med" len="med"/>
            <a:tailEnd type="none" w="med" len="med"/>
          </a:ln>
        </p:spPr>
      </p:sp>
      <p:sp>
        <p:nvSpPr>
          <p:cNvPr id="117853" name="矩形 258141"/>
          <p:cNvSpPr/>
          <p:nvPr/>
        </p:nvSpPr>
        <p:spPr>
          <a:xfrm>
            <a:off x="7318375" y="3208338"/>
            <a:ext cx="17367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MemtoReg</a:t>
            </a:r>
            <a:r>
              <a:rPr lang="en-US" altLang="zh-CN" sz="1800" u="sng">
                <a:solidFill>
                  <a:schemeClr val="accent1"/>
                </a:solidFill>
                <a:latin typeface="Arial" panose="020B0604020202020204" pitchFamily="34" charset="0"/>
                <a:ea typeface="宋体" panose="02010600030101010101" pitchFamily="2" charset="-122"/>
              </a:rPr>
              <a:t> = x</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7854" name="直接连接符 258142"/>
          <p:cNvSpPr/>
          <p:nvPr/>
        </p:nvSpPr>
        <p:spPr>
          <a:xfrm>
            <a:off x="8089900" y="4494213"/>
            <a:ext cx="431800" cy="0"/>
          </a:xfrm>
          <a:prstGeom prst="line">
            <a:avLst/>
          </a:prstGeom>
          <a:ln w="25400" cap="flat" cmpd="sng">
            <a:solidFill>
              <a:schemeClr val="tx1"/>
            </a:solidFill>
            <a:prstDash val="solid"/>
            <a:round/>
            <a:headEnd type="none" w="med" len="med"/>
            <a:tailEnd type="none" w="med" len="med"/>
          </a:ln>
        </p:spPr>
      </p:sp>
      <p:sp>
        <p:nvSpPr>
          <p:cNvPr id="117855" name="矩形 258143"/>
          <p:cNvSpPr/>
          <p:nvPr/>
        </p:nvSpPr>
        <p:spPr>
          <a:xfrm>
            <a:off x="6022975" y="4862513"/>
            <a:ext cx="1127125" cy="112871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856" name="直接连接符 258144"/>
          <p:cNvSpPr/>
          <p:nvPr/>
        </p:nvSpPr>
        <p:spPr>
          <a:xfrm flipH="1">
            <a:off x="5397500" y="5845175"/>
            <a:ext cx="482600" cy="0"/>
          </a:xfrm>
          <a:prstGeom prst="line">
            <a:avLst/>
          </a:prstGeom>
          <a:ln w="25400" cap="flat" cmpd="sng">
            <a:solidFill>
              <a:schemeClr val="tx1"/>
            </a:solidFill>
            <a:prstDash val="solid"/>
            <a:round/>
            <a:headEnd type="none" w="med" len="med"/>
            <a:tailEnd type="none" w="med" len="med"/>
          </a:ln>
        </p:spPr>
      </p:sp>
      <p:sp>
        <p:nvSpPr>
          <p:cNvPr id="117857" name="矩形 258145"/>
          <p:cNvSpPr/>
          <p:nvPr/>
        </p:nvSpPr>
        <p:spPr>
          <a:xfrm>
            <a:off x="5354638" y="55149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7858" name="矩形 258146"/>
          <p:cNvSpPr/>
          <p:nvPr/>
        </p:nvSpPr>
        <p:spPr>
          <a:xfrm>
            <a:off x="4557713" y="5060950"/>
            <a:ext cx="9302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Data</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In</a:t>
            </a:r>
            <a:endParaRPr lang="en-US" altLang="zh-CN" sz="1800">
              <a:latin typeface="Arial" panose="020B0604020202020204" pitchFamily="34" charset="0"/>
              <a:ea typeface="宋体" panose="02010600030101010101" pitchFamily="2" charset="-122"/>
            </a:endParaRPr>
          </a:p>
        </p:txBody>
      </p:sp>
      <p:sp>
        <p:nvSpPr>
          <p:cNvPr id="117859" name="直接连接符 258147"/>
          <p:cNvSpPr/>
          <p:nvPr/>
        </p:nvSpPr>
        <p:spPr>
          <a:xfrm>
            <a:off x="6061075" y="5768975"/>
            <a:ext cx="250825" cy="63500"/>
          </a:xfrm>
          <a:prstGeom prst="line">
            <a:avLst/>
          </a:prstGeom>
          <a:ln w="25400" cap="flat" cmpd="sng">
            <a:solidFill>
              <a:schemeClr val="tx1"/>
            </a:solidFill>
            <a:prstDash val="solid"/>
            <a:round/>
            <a:headEnd type="none" w="med" len="med"/>
            <a:tailEnd type="none" w="med" len="med"/>
          </a:ln>
        </p:spPr>
      </p:sp>
      <p:sp>
        <p:nvSpPr>
          <p:cNvPr id="117860" name="直接连接符 258148"/>
          <p:cNvSpPr/>
          <p:nvPr/>
        </p:nvSpPr>
        <p:spPr>
          <a:xfrm flipH="1">
            <a:off x="6035675" y="5857875"/>
            <a:ext cx="301625" cy="98425"/>
          </a:xfrm>
          <a:prstGeom prst="line">
            <a:avLst/>
          </a:prstGeom>
          <a:ln w="25400" cap="flat" cmpd="sng">
            <a:solidFill>
              <a:schemeClr val="tx1"/>
            </a:solidFill>
            <a:prstDash val="solid"/>
            <a:round/>
            <a:headEnd type="none" w="med" len="med"/>
            <a:tailEnd type="none" w="med" len="med"/>
          </a:ln>
        </p:spPr>
      </p:sp>
      <p:sp>
        <p:nvSpPr>
          <p:cNvPr id="117861" name="椭圆 258149"/>
          <p:cNvSpPr/>
          <p:nvPr/>
        </p:nvSpPr>
        <p:spPr>
          <a:xfrm>
            <a:off x="5870575" y="58039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862" name="矩形 258150"/>
          <p:cNvSpPr/>
          <p:nvPr/>
        </p:nvSpPr>
        <p:spPr>
          <a:xfrm>
            <a:off x="6003925" y="4845050"/>
            <a:ext cx="7778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117863" name="直接连接符 258151"/>
          <p:cNvSpPr/>
          <p:nvPr/>
        </p:nvSpPr>
        <p:spPr>
          <a:xfrm flipH="1">
            <a:off x="3784600" y="5029200"/>
            <a:ext cx="2260600" cy="0"/>
          </a:xfrm>
          <a:prstGeom prst="line">
            <a:avLst/>
          </a:prstGeom>
          <a:ln w="50800" cap="flat" cmpd="sng">
            <a:solidFill>
              <a:schemeClr val="accent1"/>
            </a:solidFill>
            <a:prstDash val="solid"/>
            <a:round/>
            <a:headEnd type="triangle" w="med" len="med"/>
            <a:tailEnd type="none" w="med" len="med"/>
          </a:ln>
        </p:spPr>
      </p:sp>
      <p:sp>
        <p:nvSpPr>
          <p:cNvPr id="117864" name="直接连接符 258152"/>
          <p:cNvSpPr/>
          <p:nvPr/>
        </p:nvSpPr>
        <p:spPr>
          <a:xfrm flipH="1">
            <a:off x="5403850" y="4922838"/>
            <a:ext cx="165100" cy="176212"/>
          </a:xfrm>
          <a:prstGeom prst="line">
            <a:avLst/>
          </a:prstGeom>
          <a:ln w="12700" cap="flat" cmpd="sng">
            <a:solidFill>
              <a:schemeClr val="tx1"/>
            </a:solidFill>
            <a:prstDash val="solid"/>
            <a:round/>
            <a:headEnd type="none" w="med" len="med"/>
            <a:tailEnd type="none" w="med" len="med"/>
          </a:ln>
        </p:spPr>
      </p:sp>
      <p:sp>
        <p:nvSpPr>
          <p:cNvPr id="117865" name="矩形 258153"/>
          <p:cNvSpPr/>
          <p:nvPr/>
        </p:nvSpPr>
        <p:spPr>
          <a:xfrm>
            <a:off x="5319713" y="5054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7866" name="直接连接符 258154"/>
          <p:cNvSpPr/>
          <p:nvPr/>
        </p:nvSpPr>
        <p:spPr>
          <a:xfrm flipV="1">
            <a:off x="6324600" y="3559175"/>
            <a:ext cx="0" cy="1303338"/>
          </a:xfrm>
          <a:prstGeom prst="line">
            <a:avLst/>
          </a:prstGeom>
          <a:ln w="25400" cap="flat" cmpd="sng">
            <a:solidFill>
              <a:schemeClr val="tx1"/>
            </a:solidFill>
            <a:prstDash val="solid"/>
            <a:round/>
            <a:headEnd type="triangle" w="med" len="med"/>
            <a:tailEnd type="none" w="med" len="med"/>
          </a:ln>
        </p:spPr>
      </p:sp>
      <p:sp>
        <p:nvSpPr>
          <p:cNvPr id="117867" name="直接连接符 258155"/>
          <p:cNvSpPr/>
          <p:nvPr/>
        </p:nvSpPr>
        <p:spPr>
          <a:xfrm>
            <a:off x="6858000" y="4235450"/>
            <a:ext cx="0" cy="588963"/>
          </a:xfrm>
          <a:prstGeom prst="line">
            <a:avLst/>
          </a:prstGeom>
          <a:ln w="50800" cap="flat" cmpd="sng">
            <a:solidFill>
              <a:schemeClr val="accent1"/>
            </a:solidFill>
            <a:prstDash val="solid"/>
            <a:round/>
            <a:headEnd type="none" w="med" len="med"/>
            <a:tailEnd type="triangle" w="med" len="med"/>
          </a:ln>
        </p:spPr>
      </p:sp>
      <p:sp>
        <p:nvSpPr>
          <p:cNvPr id="117868" name="矩形 258156"/>
          <p:cNvSpPr/>
          <p:nvPr/>
        </p:nvSpPr>
        <p:spPr>
          <a:xfrm>
            <a:off x="6615113" y="4846638"/>
            <a:ext cx="5746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117869" name="矩形 258157"/>
          <p:cNvSpPr/>
          <p:nvPr/>
        </p:nvSpPr>
        <p:spPr>
          <a:xfrm>
            <a:off x="6015038" y="5202238"/>
            <a:ext cx="10572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17870" name="直接连接符 258158"/>
          <p:cNvSpPr/>
          <p:nvPr/>
        </p:nvSpPr>
        <p:spPr>
          <a:xfrm>
            <a:off x="7327900" y="5013325"/>
            <a:ext cx="431800" cy="0"/>
          </a:xfrm>
          <a:prstGeom prst="line">
            <a:avLst/>
          </a:prstGeom>
          <a:ln w="25400" cap="flat" cmpd="sng">
            <a:solidFill>
              <a:schemeClr val="tx1"/>
            </a:solidFill>
            <a:prstDash val="solid"/>
            <a:round/>
            <a:headEnd type="none" w="med" len="med"/>
            <a:tailEnd type="triangle" w="med" len="med"/>
          </a:ln>
        </p:spPr>
      </p:sp>
      <p:sp>
        <p:nvSpPr>
          <p:cNvPr id="117871" name="直接连接符 258159"/>
          <p:cNvSpPr/>
          <p:nvPr/>
        </p:nvSpPr>
        <p:spPr>
          <a:xfrm>
            <a:off x="7315200" y="5041900"/>
            <a:ext cx="0" cy="434975"/>
          </a:xfrm>
          <a:prstGeom prst="line">
            <a:avLst/>
          </a:prstGeom>
          <a:ln w="25400" cap="flat" cmpd="sng">
            <a:solidFill>
              <a:schemeClr val="tx1"/>
            </a:solidFill>
            <a:prstDash val="solid"/>
            <a:round/>
            <a:headEnd type="none" w="med" len="med"/>
            <a:tailEnd type="none" w="med" len="med"/>
          </a:ln>
        </p:spPr>
      </p:sp>
      <p:sp>
        <p:nvSpPr>
          <p:cNvPr id="117872" name="直接连接符 258160"/>
          <p:cNvSpPr/>
          <p:nvPr/>
        </p:nvSpPr>
        <p:spPr>
          <a:xfrm flipH="1">
            <a:off x="7150100" y="5489575"/>
            <a:ext cx="177800" cy="0"/>
          </a:xfrm>
          <a:prstGeom prst="line">
            <a:avLst/>
          </a:prstGeom>
          <a:ln w="25400" cap="flat" cmpd="sng">
            <a:solidFill>
              <a:schemeClr val="tx1"/>
            </a:solidFill>
            <a:prstDash val="solid"/>
            <a:round/>
            <a:headEnd type="none" w="med" len="med"/>
            <a:tailEnd type="none" w="med" len="med"/>
          </a:ln>
        </p:spPr>
      </p:sp>
      <p:sp>
        <p:nvSpPr>
          <p:cNvPr id="117873" name="直接连接符 258161"/>
          <p:cNvSpPr/>
          <p:nvPr/>
        </p:nvSpPr>
        <p:spPr>
          <a:xfrm flipH="1">
            <a:off x="7385050" y="4948238"/>
            <a:ext cx="88900" cy="128587"/>
          </a:xfrm>
          <a:prstGeom prst="line">
            <a:avLst/>
          </a:prstGeom>
          <a:ln w="12700" cap="flat" cmpd="sng">
            <a:solidFill>
              <a:schemeClr val="tx1"/>
            </a:solidFill>
            <a:prstDash val="solid"/>
            <a:round/>
            <a:headEnd type="none" w="med" len="med"/>
            <a:tailEnd type="none" w="med" len="med"/>
          </a:ln>
        </p:spPr>
      </p:sp>
      <p:sp>
        <p:nvSpPr>
          <p:cNvPr id="117874" name="矩形 258162"/>
          <p:cNvSpPr/>
          <p:nvPr/>
        </p:nvSpPr>
        <p:spPr>
          <a:xfrm>
            <a:off x="7148513" y="46497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7875" name="矩形 258163"/>
          <p:cNvSpPr/>
          <p:nvPr/>
        </p:nvSpPr>
        <p:spPr>
          <a:xfrm>
            <a:off x="6297613" y="3475038"/>
            <a:ext cx="13811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MemWr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7876" name="直接连接符 258164"/>
          <p:cNvSpPr/>
          <p:nvPr/>
        </p:nvSpPr>
        <p:spPr>
          <a:xfrm>
            <a:off x="3810000" y="4521200"/>
            <a:ext cx="0" cy="482600"/>
          </a:xfrm>
          <a:prstGeom prst="line">
            <a:avLst/>
          </a:prstGeom>
          <a:ln w="50800" cap="flat" cmpd="sng">
            <a:solidFill>
              <a:schemeClr val="accent1"/>
            </a:solidFill>
            <a:prstDash val="solid"/>
            <a:round/>
            <a:headEnd type="none" w="med" len="med"/>
            <a:tailEnd type="none" w="med" len="med"/>
          </a:ln>
        </p:spPr>
      </p:sp>
      <p:sp>
        <p:nvSpPr>
          <p:cNvPr id="117877" name="矩形 258165"/>
          <p:cNvSpPr/>
          <p:nvPr/>
        </p:nvSpPr>
        <p:spPr>
          <a:xfrm rot="5400000">
            <a:off x="5021263" y="4068763"/>
            <a:ext cx="6508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117878" name="矩形 258166"/>
          <p:cNvSpPr/>
          <p:nvPr/>
        </p:nvSpPr>
        <p:spPr>
          <a:xfrm>
            <a:off x="4575175" y="1993900"/>
            <a:ext cx="1203325" cy="873125"/>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879" name="直接连接符 258167"/>
          <p:cNvSpPr/>
          <p:nvPr/>
        </p:nvSpPr>
        <p:spPr>
          <a:xfrm flipH="1">
            <a:off x="3949700" y="2720975"/>
            <a:ext cx="482600" cy="0"/>
          </a:xfrm>
          <a:prstGeom prst="line">
            <a:avLst/>
          </a:prstGeom>
          <a:ln w="25400" cap="flat" cmpd="sng">
            <a:solidFill>
              <a:schemeClr val="tx1"/>
            </a:solidFill>
            <a:prstDash val="solid"/>
            <a:round/>
            <a:headEnd type="none" w="med" len="med"/>
            <a:tailEnd type="none" w="med" len="med"/>
          </a:ln>
        </p:spPr>
      </p:sp>
      <p:sp>
        <p:nvSpPr>
          <p:cNvPr id="117880" name="直接连接符 258168"/>
          <p:cNvSpPr/>
          <p:nvPr/>
        </p:nvSpPr>
        <p:spPr>
          <a:xfrm>
            <a:off x="4613275" y="2644775"/>
            <a:ext cx="250825" cy="63500"/>
          </a:xfrm>
          <a:prstGeom prst="line">
            <a:avLst/>
          </a:prstGeom>
          <a:ln w="25400" cap="flat" cmpd="sng">
            <a:solidFill>
              <a:schemeClr val="tx1"/>
            </a:solidFill>
            <a:prstDash val="solid"/>
            <a:round/>
            <a:headEnd type="none" w="med" len="med"/>
            <a:tailEnd type="none" w="med" len="med"/>
          </a:ln>
        </p:spPr>
      </p:sp>
      <p:sp>
        <p:nvSpPr>
          <p:cNvPr id="117881" name="直接连接符 258169"/>
          <p:cNvSpPr/>
          <p:nvPr/>
        </p:nvSpPr>
        <p:spPr>
          <a:xfrm flipH="1">
            <a:off x="4587875" y="2733675"/>
            <a:ext cx="301625" cy="98425"/>
          </a:xfrm>
          <a:prstGeom prst="line">
            <a:avLst/>
          </a:prstGeom>
          <a:ln w="25400" cap="flat" cmpd="sng">
            <a:solidFill>
              <a:schemeClr val="tx1"/>
            </a:solidFill>
            <a:prstDash val="solid"/>
            <a:round/>
            <a:headEnd type="none" w="med" len="med"/>
            <a:tailEnd type="none" w="med" len="med"/>
          </a:ln>
        </p:spPr>
      </p:sp>
      <p:sp>
        <p:nvSpPr>
          <p:cNvPr id="117882" name="椭圆 258170"/>
          <p:cNvSpPr/>
          <p:nvPr/>
        </p:nvSpPr>
        <p:spPr>
          <a:xfrm>
            <a:off x="4422775" y="26797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883" name="矩形 258171"/>
          <p:cNvSpPr/>
          <p:nvPr/>
        </p:nvSpPr>
        <p:spPr>
          <a:xfrm>
            <a:off x="4494213" y="2078038"/>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Fetch</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Unit</a:t>
            </a:r>
            <a:endParaRPr lang="en-US" altLang="zh-CN" sz="1800">
              <a:latin typeface="Arial" panose="020B0604020202020204" pitchFamily="34" charset="0"/>
              <a:ea typeface="宋体" panose="02010600030101010101" pitchFamily="2" charset="-122"/>
            </a:endParaRPr>
          </a:p>
        </p:txBody>
      </p:sp>
      <p:sp>
        <p:nvSpPr>
          <p:cNvPr id="117884" name="矩形 258172"/>
          <p:cNvSpPr/>
          <p:nvPr/>
        </p:nvSpPr>
        <p:spPr>
          <a:xfrm>
            <a:off x="3500438" y="25304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7885" name="直接连接符 258173"/>
          <p:cNvSpPr/>
          <p:nvPr/>
        </p:nvSpPr>
        <p:spPr>
          <a:xfrm flipV="1">
            <a:off x="5638800" y="2882900"/>
            <a:ext cx="0" cy="1168400"/>
          </a:xfrm>
          <a:prstGeom prst="line">
            <a:avLst/>
          </a:prstGeom>
          <a:ln w="25400" cap="flat" cmpd="sng">
            <a:solidFill>
              <a:schemeClr val="tx1"/>
            </a:solidFill>
            <a:prstDash val="solid"/>
            <a:round/>
            <a:headEnd type="none" w="med" len="med"/>
            <a:tailEnd type="triangle" w="med" len="med"/>
          </a:ln>
        </p:spPr>
      </p:sp>
      <p:sp>
        <p:nvSpPr>
          <p:cNvPr id="117886" name="直接连接符 258174"/>
          <p:cNvSpPr/>
          <p:nvPr/>
        </p:nvSpPr>
        <p:spPr>
          <a:xfrm flipH="1">
            <a:off x="5473700" y="4038600"/>
            <a:ext cx="177800" cy="0"/>
          </a:xfrm>
          <a:prstGeom prst="line">
            <a:avLst/>
          </a:prstGeom>
          <a:ln w="25400" cap="flat" cmpd="sng">
            <a:solidFill>
              <a:schemeClr val="tx1"/>
            </a:solidFill>
            <a:prstDash val="solid"/>
            <a:round/>
            <a:headEnd type="none" w="med" len="med"/>
            <a:tailEnd type="none" w="med" len="med"/>
          </a:ln>
        </p:spPr>
      </p:sp>
      <p:sp>
        <p:nvSpPr>
          <p:cNvPr id="117887" name="矩形 258175"/>
          <p:cNvSpPr/>
          <p:nvPr/>
        </p:nvSpPr>
        <p:spPr>
          <a:xfrm>
            <a:off x="5624513" y="3505200"/>
            <a:ext cx="6762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17888" name="直接连接符 258176"/>
          <p:cNvSpPr/>
          <p:nvPr/>
        </p:nvSpPr>
        <p:spPr>
          <a:xfrm>
            <a:off x="5803900" y="2133600"/>
            <a:ext cx="2489200" cy="0"/>
          </a:xfrm>
          <a:prstGeom prst="line">
            <a:avLst/>
          </a:prstGeom>
          <a:ln w="25400" cap="flat" cmpd="sng">
            <a:solidFill>
              <a:schemeClr val="tx1"/>
            </a:solidFill>
            <a:prstDash val="solid"/>
            <a:round/>
            <a:headEnd type="none" w="med" len="med"/>
            <a:tailEnd type="triangle" w="med" len="med"/>
          </a:ln>
        </p:spPr>
      </p:sp>
      <p:sp>
        <p:nvSpPr>
          <p:cNvPr id="117889" name="矩形 258177"/>
          <p:cNvSpPr/>
          <p:nvPr/>
        </p:nvSpPr>
        <p:spPr>
          <a:xfrm>
            <a:off x="5853113" y="1744663"/>
            <a:ext cx="206692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17890" name="直接连接符 258178"/>
          <p:cNvSpPr/>
          <p:nvPr/>
        </p:nvSpPr>
        <p:spPr>
          <a:xfrm>
            <a:off x="3975100" y="2438400"/>
            <a:ext cx="584200" cy="0"/>
          </a:xfrm>
          <a:prstGeom prst="line">
            <a:avLst/>
          </a:prstGeom>
          <a:ln w="25400" cap="flat" cmpd="sng">
            <a:solidFill>
              <a:schemeClr val="tx1"/>
            </a:solidFill>
            <a:prstDash val="solid"/>
            <a:round/>
            <a:headEnd type="none" w="med" len="med"/>
            <a:tailEnd type="triangle" w="med" len="med"/>
          </a:ln>
        </p:spPr>
      </p:sp>
      <p:sp>
        <p:nvSpPr>
          <p:cNvPr id="117891" name="直接连接符 258179"/>
          <p:cNvSpPr/>
          <p:nvPr/>
        </p:nvSpPr>
        <p:spPr>
          <a:xfrm>
            <a:off x="3975100" y="2133600"/>
            <a:ext cx="584200" cy="0"/>
          </a:xfrm>
          <a:prstGeom prst="line">
            <a:avLst/>
          </a:prstGeom>
          <a:ln w="25400" cap="flat" cmpd="sng">
            <a:solidFill>
              <a:schemeClr val="tx1"/>
            </a:solidFill>
            <a:prstDash val="solid"/>
            <a:round/>
            <a:headEnd type="none" w="med" len="med"/>
            <a:tailEnd type="triangle" w="med" len="med"/>
          </a:ln>
        </p:spPr>
      </p:sp>
      <p:sp>
        <p:nvSpPr>
          <p:cNvPr id="117892" name="矩形 258180"/>
          <p:cNvSpPr/>
          <p:nvPr/>
        </p:nvSpPr>
        <p:spPr>
          <a:xfrm>
            <a:off x="2789238" y="2225675"/>
            <a:ext cx="11652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7893" name="矩形 258181"/>
          <p:cNvSpPr/>
          <p:nvPr/>
        </p:nvSpPr>
        <p:spPr>
          <a:xfrm>
            <a:off x="2636838" y="1844675"/>
            <a:ext cx="13557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 =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7894" name="矩形 258182"/>
          <p:cNvSpPr/>
          <p:nvPr/>
        </p:nvSpPr>
        <p:spPr>
          <a:xfrm>
            <a:off x="7732713" y="40386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7895" name="矩形 258183"/>
          <p:cNvSpPr/>
          <p:nvPr/>
        </p:nvSpPr>
        <p:spPr>
          <a:xfrm>
            <a:off x="7732713" y="48180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7896" name="矩形 258184"/>
          <p:cNvSpPr/>
          <p:nvPr/>
        </p:nvSpPr>
        <p:spPr>
          <a:xfrm>
            <a:off x="4151313" y="42672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7897" name="矩形 258185"/>
          <p:cNvSpPr/>
          <p:nvPr/>
        </p:nvSpPr>
        <p:spPr>
          <a:xfrm>
            <a:off x="4151313" y="50466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7898" name="矩形 258186"/>
          <p:cNvSpPr/>
          <p:nvPr/>
        </p:nvSpPr>
        <p:spPr>
          <a:xfrm>
            <a:off x="22812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7899" name="矩形 258187"/>
          <p:cNvSpPr/>
          <p:nvPr/>
        </p:nvSpPr>
        <p:spPr>
          <a:xfrm>
            <a:off x="15954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7900" name="直接连接符 258188"/>
          <p:cNvSpPr/>
          <p:nvPr/>
        </p:nvSpPr>
        <p:spPr>
          <a:xfrm>
            <a:off x="6096000" y="2146300"/>
            <a:ext cx="0" cy="889000"/>
          </a:xfrm>
          <a:prstGeom prst="line">
            <a:avLst/>
          </a:prstGeom>
          <a:ln w="25400" cap="flat" cmpd="sng">
            <a:solidFill>
              <a:schemeClr val="tx1"/>
            </a:solidFill>
            <a:prstDash val="solid"/>
            <a:round/>
            <a:headEnd type="none" w="med" len="med"/>
            <a:tailEnd type="triangle" w="med" len="med"/>
          </a:ln>
        </p:spPr>
      </p:sp>
      <p:sp>
        <p:nvSpPr>
          <p:cNvPr id="117901" name="矩形 258189"/>
          <p:cNvSpPr/>
          <p:nvPr/>
        </p:nvSpPr>
        <p:spPr>
          <a:xfrm rot="5400000">
            <a:off x="57546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&lt;21:25&gt;</a:t>
            </a:r>
            <a:endParaRPr lang="zh-CN" altLang="en-US" sz="1800" dirty="0">
              <a:latin typeface="Arial" panose="020B0604020202020204" pitchFamily="34" charset="0"/>
              <a:ea typeface="宋体" panose="02010600030101010101" pitchFamily="2" charset="-122"/>
            </a:endParaRPr>
          </a:p>
        </p:txBody>
      </p:sp>
      <p:sp>
        <p:nvSpPr>
          <p:cNvPr id="117902" name="矩形 258190"/>
          <p:cNvSpPr/>
          <p:nvPr/>
        </p:nvSpPr>
        <p:spPr>
          <a:xfrm rot="5400000">
            <a:off x="62880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&lt;16:20&gt;</a:t>
            </a:r>
            <a:endParaRPr lang="zh-CN" altLang="en-US" sz="1800" dirty="0">
              <a:latin typeface="Arial" panose="020B0604020202020204" pitchFamily="34" charset="0"/>
              <a:ea typeface="宋体" panose="02010600030101010101" pitchFamily="2" charset="-122"/>
            </a:endParaRPr>
          </a:p>
        </p:txBody>
      </p:sp>
      <p:sp>
        <p:nvSpPr>
          <p:cNvPr id="117903" name="矩形 258191"/>
          <p:cNvSpPr/>
          <p:nvPr/>
        </p:nvSpPr>
        <p:spPr>
          <a:xfrm rot="5400000">
            <a:off x="68214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&lt;11:15&gt;</a:t>
            </a:r>
            <a:endParaRPr lang="zh-CN" altLang="en-US" sz="1800" dirty="0">
              <a:latin typeface="Arial" panose="020B0604020202020204" pitchFamily="34" charset="0"/>
              <a:ea typeface="宋体" panose="02010600030101010101" pitchFamily="2" charset="-122"/>
            </a:endParaRPr>
          </a:p>
        </p:txBody>
      </p:sp>
      <p:sp>
        <p:nvSpPr>
          <p:cNvPr id="117904" name="矩形 258192"/>
          <p:cNvSpPr/>
          <p:nvPr/>
        </p:nvSpPr>
        <p:spPr>
          <a:xfrm rot="5400000">
            <a:off x="7367588" y="2408238"/>
            <a:ext cx="904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&lt;0:15&gt;</a:t>
            </a:r>
            <a:endParaRPr lang="zh-CN" altLang="en-US" sz="1800" dirty="0">
              <a:latin typeface="Arial" panose="020B0604020202020204" pitchFamily="34" charset="0"/>
              <a:ea typeface="宋体" panose="02010600030101010101" pitchFamily="2" charset="-122"/>
            </a:endParaRPr>
          </a:p>
        </p:txBody>
      </p:sp>
      <p:sp>
        <p:nvSpPr>
          <p:cNvPr id="117905" name="直接连接符 258193"/>
          <p:cNvSpPr/>
          <p:nvPr/>
        </p:nvSpPr>
        <p:spPr>
          <a:xfrm>
            <a:off x="6629400" y="2146300"/>
            <a:ext cx="0" cy="889000"/>
          </a:xfrm>
          <a:prstGeom prst="line">
            <a:avLst/>
          </a:prstGeom>
          <a:ln w="25400" cap="flat" cmpd="sng">
            <a:solidFill>
              <a:schemeClr val="tx1"/>
            </a:solidFill>
            <a:prstDash val="solid"/>
            <a:round/>
            <a:headEnd type="none" w="med" len="med"/>
            <a:tailEnd type="triangle" w="med" len="med"/>
          </a:ln>
        </p:spPr>
      </p:sp>
      <p:sp>
        <p:nvSpPr>
          <p:cNvPr id="117906" name="直接连接符 258194"/>
          <p:cNvSpPr/>
          <p:nvPr/>
        </p:nvSpPr>
        <p:spPr>
          <a:xfrm>
            <a:off x="7162800" y="2146300"/>
            <a:ext cx="0" cy="889000"/>
          </a:xfrm>
          <a:prstGeom prst="line">
            <a:avLst/>
          </a:prstGeom>
          <a:ln w="25400" cap="flat" cmpd="sng">
            <a:solidFill>
              <a:schemeClr val="tx1"/>
            </a:solidFill>
            <a:prstDash val="solid"/>
            <a:round/>
            <a:headEnd type="none" w="med" len="med"/>
            <a:tailEnd type="triangle" w="med" len="med"/>
          </a:ln>
        </p:spPr>
      </p:sp>
      <p:sp>
        <p:nvSpPr>
          <p:cNvPr id="117907" name="直接连接符 258195"/>
          <p:cNvSpPr/>
          <p:nvPr/>
        </p:nvSpPr>
        <p:spPr>
          <a:xfrm>
            <a:off x="7696200" y="2146300"/>
            <a:ext cx="0" cy="889000"/>
          </a:xfrm>
          <a:prstGeom prst="line">
            <a:avLst/>
          </a:prstGeom>
          <a:ln w="25400" cap="flat" cmpd="sng">
            <a:solidFill>
              <a:schemeClr val="tx1"/>
            </a:solidFill>
            <a:prstDash val="solid"/>
            <a:round/>
            <a:headEnd type="none" w="med" len="med"/>
            <a:tailEnd type="triangle" w="med" len="med"/>
          </a:ln>
        </p:spPr>
      </p:sp>
      <p:sp>
        <p:nvSpPr>
          <p:cNvPr id="117908" name="矩形 258196"/>
          <p:cNvSpPr/>
          <p:nvPr/>
        </p:nvSpPr>
        <p:spPr>
          <a:xfrm>
            <a:off x="7453313" y="2971800"/>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17909" name="矩形 258197"/>
          <p:cNvSpPr/>
          <p:nvPr/>
        </p:nvSpPr>
        <p:spPr>
          <a:xfrm>
            <a:off x="6919913" y="2971800"/>
            <a:ext cx="4857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17910" name="矩形 258198"/>
          <p:cNvSpPr/>
          <p:nvPr/>
        </p:nvSpPr>
        <p:spPr>
          <a:xfrm>
            <a:off x="6462713" y="29718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17911" name="矩形 258199"/>
          <p:cNvSpPr/>
          <p:nvPr/>
        </p:nvSpPr>
        <p:spPr>
          <a:xfrm>
            <a:off x="5929313" y="29718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17912" name="文本占位符 258200"/>
          <p:cNvSpPr>
            <a:spLocks noGrp="1"/>
          </p:cNvSpPr>
          <p:nvPr>
            <p:ph idx="1"/>
          </p:nvPr>
        </p:nvSpPr>
        <p:spPr>
          <a:xfrm>
            <a:off x="419100" y="1447800"/>
            <a:ext cx="8191500" cy="325438"/>
          </a:xfrm>
          <a:ln/>
        </p:spPr>
        <p:txBody>
          <a:bodyPr vert="horz" wrap="square" lIns="63500" tIns="25400" rIns="63500" bIns="25400" anchor="t" anchorCtr="0">
            <a:spAutoFit/>
          </a:bodyPr>
          <a:p>
            <a:r>
              <a:rPr lang="en-US" altLang="zh-CN" dirty="0" err="1">
                <a:ea typeface="宋体" panose="02010600030101010101" pitchFamily="2" charset="-122"/>
              </a:rPr>
              <a:t>M{R[rs</a:t>
            </a:r>
            <a:r>
              <a:rPr lang="en-US" altLang="zh-CN">
                <a:ea typeface="宋体" panose="02010600030101010101" pitchFamily="2" charset="-122"/>
              </a:rPr>
              <a:t>] + SignExt[imm16]}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a:t>
            </a:r>
            <a:r>
              <a:rPr lang="en-US" altLang="zh-CN" dirty="0" err="1">
                <a:ea typeface="宋体" panose="02010600030101010101" pitchFamily="2" charset="-122"/>
              </a:rPr>
              <a:t>R[rt</a:t>
            </a:r>
            <a:r>
              <a:rPr lang="en-US" altLang="zh-CN">
                <a:ea typeface="宋体" panose="02010600030101010101" pitchFamily="2" charset="-122"/>
              </a:rPr>
              <a:t>]</a:t>
            </a:r>
            <a:endParaRPr lang="en-US" altLang="zh-CN">
              <a:ea typeface="宋体" panose="02010600030101010101" pitchFamily="2" charset="-122"/>
            </a:endParaRPr>
          </a:p>
        </p:txBody>
      </p:sp>
      <p:grpSp>
        <p:nvGrpSpPr>
          <p:cNvPr id="117913" name="组合 258201"/>
          <p:cNvGrpSpPr/>
          <p:nvPr/>
        </p:nvGrpSpPr>
        <p:grpSpPr>
          <a:xfrm>
            <a:off x="1749425" y="609600"/>
            <a:ext cx="5949950" cy="668338"/>
            <a:chOff x="1102" y="384"/>
            <a:chExt cx="3748" cy="421"/>
          </a:xfrm>
        </p:grpSpPr>
        <p:sp>
          <p:nvSpPr>
            <p:cNvPr id="117914" name="矩形 258202"/>
            <p:cNvSpPr/>
            <p:nvPr/>
          </p:nvSpPr>
          <p:spPr>
            <a:xfrm>
              <a:off x="1167" y="584"/>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17915" name="组合 258203"/>
            <p:cNvGrpSpPr/>
            <p:nvPr/>
          </p:nvGrpSpPr>
          <p:grpSpPr>
            <a:xfrm>
              <a:off x="1163" y="576"/>
              <a:ext cx="624" cy="229"/>
              <a:chOff x="1163" y="576"/>
              <a:chExt cx="624" cy="229"/>
            </a:xfrm>
          </p:grpSpPr>
          <p:sp>
            <p:nvSpPr>
              <p:cNvPr id="117916" name="矩形 258204"/>
              <p:cNvSpPr/>
              <p:nvPr/>
            </p:nvSpPr>
            <p:spPr>
              <a:xfrm>
                <a:off x="1163" y="580"/>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917" name="矩形 258205"/>
              <p:cNvSpPr/>
              <p:nvPr/>
            </p:nvSpPr>
            <p:spPr>
              <a:xfrm>
                <a:off x="1345" y="576"/>
                <a:ext cx="2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117918" name="组合 258206"/>
            <p:cNvGrpSpPr/>
            <p:nvPr/>
          </p:nvGrpSpPr>
          <p:grpSpPr>
            <a:xfrm>
              <a:off x="1795" y="576"/>
              <a:ext cx="580" cy="229"/>
              <a:chOff x="1795" y="576"/>
              <a:chExt cx="580" cy="229"/>
            </a:xfrm>
          </p:grpSpPr>
          <p:sp>
            <p:nvSpPr>
              <p:cNvPr id="117919" name="矩形 258207"/>
              <p:cNvSpPr/>
              <p:nvPr/>
            </p:nvSpPr>
            <p:spPr>
              <a:xfrm>
                <a:off x="1795" y="580"/>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920" name="矩形 258208"/>
              <p:cNvSpPr/>
              <p:nvPr/>
            </p:nvSpPr>
            <p:spPr>
              <a:xfrm>
                <a:off x="1960" y="576"/>
                <a:ext cx="250"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117921" name="组合 258209"/>
            <p:cNvGrpSpPr/>
            <p:nvPr/>
          </p:nvGrpSpPr>
          <p:grpSpPr>
            <a:xfrm>
              <a:off x="2383" y="576"/>
              <a:ext cx="579" cy="229"/>
              <a:chOff x="2383" y="576"/>
              <a:chExt cx="579" cy="229"/>
            </a:xfrm>
          </p:grpSpPr>
          <p:sp>
            <p:nvSpPr>
              <p:cNvPr id="117922" name="矩形 258210"/>
              <p:cNvSpPr/>
              <p:nvPr/>
            </p:nvSpPr>
            <p:spPr>
              <a:xfrm>
                <a:off x="2383" y="580"/>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923" name="矩形 258211"/>
              <p:cNvSpPr/>
              <p:nvPr/>
            </p:nvSpPr>
            <p:spPr>
              <a:xfrm>
                <a:off x="2547" y="576"/>
                <a:ext cx="21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117924" name="矩形 258212"/>
            <p:cNvSpPr/>
            <p:nvPr/>
          </p:nvSpPr>
          <p:spPr>
            <a:xfrm>
              <a:off x="2970" y="580"/>
              <a:ext cx="180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7925" name="矩形 258213"/>
            <p:cNvSpPr/>
            <p:nvPr/>
          </p:nvSpPr>
          <p:spPr>
            <a:xfrm>
              <a:off x="3473" y="576"/>
              <a:ext cx="8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117926" name="矩形 258214"/>
            <p:cNvSpPr/>
            <p:nvPr/>
          </p:nvSpPr>
          <p:spPr>
            <a:xfrm>
              <a:off x="4672" y="384"/>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7927" name="矩形 258215"/>
            <p:cNvSpPr/>
            <p:nvPr/>
          </p:nvSpPr>
          <p:spPr>
            <a:xfrm>
              <a:off x="2774"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17928" name="矩形 258216"/>
            <p:cNvSpPr/>
            <p:nvPr/>
          </p:nvSpPr>
          <p:spPr>
            <a:xfrm>
              <a:off x="2186"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117929" name="矩形 258217"/>
            <p:cNvSpPr/>
            <p:nvPr/>
          </p:nvSpPr>
          <p:spPr>
            <a:xfrm>
              <a:off x="1598"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17930" name="矩形 258218"/>
            <p:cNvSpPr/>
            <p:nvPr/>
          </p:nvSpPr>
          <p:spPr>
            <a:xfrm>
              <a:off x="1102"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117931" name="直接连接符 258219"/>
          <p:cNvSpPr/>
          <p:nvPr/>
        </p:nvSpPr>
        <p:spPr>
          <a:xfrm>
            <a:off x="6870700" y="4191000"/>
            <a:ext cx="889000" cy="0"/>
          </a:xfrm>
          <a:prstGeom prst="line">
            <a:avLst/>
          </a:prstGeom>
          <a:ln w="25400" cap="flat" cmpd="sng">
            <a:solidFill>
              <a:schemeClr val="tx1"/>
            </a:solidFill>
            <a:prstDash val="solid"/>
            <a:round/>
            <a:headEnd type="none" w="med" len="med"/>
            <a:tailEnd type="triangle" w="med" len="med"/>
          </a:ln>
        </p:spPr>
      </p:sp>
      <p:sp>
        <p:nvSpPr>
          <p:cNvPr id="258221" name="直接连接符 258220"/>
          <p:cNvSpPr/>
          <p:nvPr/>
        </p:nvSpPr>
        <p:spPr>
          <a:xfrm>
            <a:off x="5253038" y="3284538"/>
            <a:ext cx="0" cy="482600"/>
          </a:xfrm>
          <a:prstGeom prst="line">
            <a:avLst/>
          </a:prstGeom>
          <a:ln w="25400" cap="flat" cmpd="sng">
            <a:solidFill>
              <a:srgbClr val="0000FF"/>
            </a:solidFill>
            <a:prstDash val="solid"/>
            <a:round/>
            <a:headEnd type="none" w="med" len="med"/>
            <a:tailEnd type="triangle" w="med" len="med"/>
          </a:ln>
        </p:spPr>
      </p:sp>
      <p:grpSp>
        <p:nvGrpSpPr>
          <p:cNvPr id="258222" name="组合 258221"/>
          <p:cNvGrpSpPr/>
          <p:nvPr/>
        </p:nvGrpSpPr>
        <p:grpSpPr>
          <a:xfrm>
            <a:off x="2600325" y="3236913"/>
            <a:ext cx="2413000" cy="557212"/>
            <a:chOff x="1638" y="2039"/>
            <a:chExt cx="1520" cy="351"/>
          </a:xfrm>
        </p:grpSpPr>
        <p:sp>
          <p:nvSpPr>
            <p:cNvPr id="117934" name="直接连接符 258222"/>
            <p:cNvSpPr/>
            <p:nvPr/>
          </p:nvSpPr>
          <p:spPr>
            <a:xfrm>
              <a:off x="2038" y="2390"/>
              <a:ext cx="1120" cy="0"/>
            </a:xfrm>
            <a:prstGeom prst="line">
              <a:avLst/>
            </a:prstGeom>
            <a:ln w="50800" cap="flat" cmpd="sng">
              <a:solidFill>
                <a:srgbClr val="0000FF"/>
              </a:solidFill>
              <a:prstDash val="solid"/>
              <a:round/>
              <a:headEnd type="none" w="med" len="med"/>
              <a:tailEnd type="triangle" w="med" len="med"/>
            </a:ln>
          </p:spPr>
        </p:sp>
        <p:sp>
          <p:nvSpPr>
            <p:cNvPr id="117935" name="直接连接符 258223"/>
            <p:cNvSpPr/>
            <p:nvPr/>
          </p:nvSpPr>
          <p:spPr>
            <a:xfrm>
              <a:off x="1638" y="2039"/>
              <a:ext cx="0" cy="236"/>
            </a:xfrm>
            <a:prstGeom prst="line">
              <a:avLst/>
            </a:prstGeom>
            <a:ln w="50800" cap="flat" cmpd="sng">
              <a:solidFill>
                <a:srgbClr val="0000FF"/>
              </a:solidFill>
              <a:prstDash val="solid"/>
              <a:round/>
              <a:headEnd type="none" w="med" len="med"/>
              <a:tailEnd type="none" w="med" len="med"/>
            </a:ln>
          </p:spPr>
        </p:sp>
      </p:grpSp>
      <p:grpSp>
        <p:nvGrpSpPr>
          <p:cNvPr id="258225" name="组合 258224"/>
          <p:cNvGrpSpPr/>
          <p:nvPr/>
        </p:nvGrpSpPr>
        <p:grpSpPr>
          <a:xfrm>
            <a:off x="2154238" y="4632325"/>
            <a:ext cx="2859087" cy="1697038"/>
            <a:chOff x="1357" y="2918"/>
            <a:chExt cx="1801" cy="1069"/>
          </a:xfrm>
        </p:grpSpPr>
        <p:sp>
          <p:nvSpPr>
            <p:cNvPr id="117937" name="直接连接符 258225"/>
            <p:cNvSpPr/>
            <p:nvPr/>
          </p:nvSpPr>
          <p:spPr>
            <a:xfrm>
              <a:off x="2221" y="3330"/>
              <a:ext cx="400" cy="0"/>
            </a:xfrm>
            <a:prstGeom prst="line">
              <a:avLst/>
            </a:prstGeom>
            <a:ln w="50800" cap="flat" cmpd="sng">
              <a:solidFill>
                <a:srgbClr val="0000FF"/>
              </a:solidFill>
              <a:prstDash val="solid"/>
              <a:round/>
              <a:headEnd type="none" w="med" len="med"/>
              <a:tailEnd type="triangle" w="med" len="med"/>
            </a:ln>
          </p:spPr>
        </p:sp>
        <p:sp>
          <p:nvSpPr>
            <p:cNvPr id="117938" name="直接连接符 258226"/>
            <p:cNvSpPr/>
            <p:nvPr/>
          </p:nvSpPr>
          <p:spPr>
            <a:xfrm>
              <a:off x="1357" y="3410"/>
              <a:ext cx="592" cy="0"/>
            </a:xfrm>
            <a:prstGeom prst="line">
              <a:avLst/>
            </a:prstGeom>
            <a:ln w="50800" cap="flat" cmpd="sng">
              <a:solidFill>
                <a:srgbClr val="0000FF"/>
              </a:solidFill>
              <a:prstDash val="solid"/>
              <a:round/>
              <a:headEnd type="none" w="med" len="med"/>
              <a:tailEnd type="triangle" w="med" len="med"/>
            </a:ln>
          </p:spPr>
        </p:sp>
        <p:sp>
          <p:nvSpPr>
            <p:cNvPr id="117939" name="直接连接符 258227"/>
            <p:cNvSpPr/>
            <p:nvPr/>
          </p:nvSpPr>
          <p:spPr>
            <a:xfrm>
              <a:off x="2733" y="3374"/>
              <a:ext cx="0" cy="252"/>
            </a:xfrm>
            <a:prstGeom prst="line">
              <a:avLst/>
            </a:prstGeom>
            <a:ln w="25400" cap="flat" cmpd="sng">
              <a:solidFill>
                <a:srgbClr val="0000FF"/>
              </a:solidFill>
              <a:prstDash val="solid"/>
              <a:round/>
              <a:headEnd type="triangle" w="med" len="med"/>
              <a:tailEnd type="none" w="med" len="med"/>
            </a:ln>
          </p:spPr>
        </p:sp>
        <p:sp>
          <p:nvSpPr>
            <p:cNvPr id="117940" name="直接连接符 258228"/>
            <p:cNvSpPr/>
            <p:nvPr/>
          </p:nvSpPr>
          <p:spPr>
            <a:xfrm>
              <a:off x="2854" y="2918"/>
              <a:ext cx="304" cy="0"/>
            </a:xfrm>
            <a:prstGeom prst="line">
              <a:avLst/>
            </a:prstGeom>
            <a:ln w="50800" cap="flat" cmpd="sng">
              <a:solidFill>
                <a:srgbClr val="0000FF"/>
              </a:solidFill>
              <a:prstDash val="solid"/>
              <a:round/>
              <a:headEnd type="none" w="med" len="med"/>
              <a:tailEnd type="triangle" w="med" len="med"/>
            </a:ln>
          </p:spPr>
        </p:sp>
        <p:sp>
          <p:nvSpPr>
            <p:cNvPr id="117941" name="直接连接符 258229"/>
            <p:cNvSpPr/>
            <p:nvPr/>
          </p:nvSpPr>
          <p:spPr>
            <a:xfrm>
              <a:off x="2109" y="3690"/>
              <a:ext cx="0" cy="297"/>
            </a:xfrm>
            <a:prstGeom prst="line">
              <a:avLst/>
            </a:prstGeom>
            <a:ln w="25400" cap="flat" cmpd="sng">
              <a:solidFill>
                <a:srgbClr val="0000FF"/>
              </a:solidFill>
              <a:prstDash val="solid"/>
              <a:round/>
              <a:headEnd type="triangle" w="med" len="med"/>
              <a:tailEnd type="none" w="med" len="med"/>
            </a:ln>
          </p:spPr>
        </p:sp>
      </p:grpSp>
      <p:sp>
        <p:nvSpPr>
          <p:cNvPr id="258231" name="直接连接符 258230"/>
          <p:cNvSpPr/>
          <p:nvPr/>
        </p:nvSpPr>
        <p:spPr>
          <a:xfrm flipV="1">
            <a:off x="6334125" y="3554413"/>
            <a:ext cx="0" cy="1303337"/>
          </a:xfrm>
          <a:prstGeom prst="line">
            <a:avLst/>
          </a:prstGeom>
          <a:ln w="25400" cap="flat" cmpd="sng">
            <a:solidFill>
              <a:srgbClr val="0000FF"/>
            </a:solidFill>
            <a:prstDash val="solid"/>
            <a:round/>
            <a:headEnd type="triangle" w="med" len="med"/>
            <a:tailEnd type="none" w="med" len="med"/>
          </a:ln>
        </p:spPr>
      </p:sp>
      <p:grpSp>
        <p:nvGrpSpPr>
          <p:cNvPr id="258232" name="组合 258231"/>
          <p:cNvGrpSpPr/>
          <p:nvPr/>
        </p:nvGrpSpPr>
        <p:grpSpPr>
          <a:xfrm>
            <a:off x="5470525" y="4200525"/>
            <a:ext cx="1422400" cy="619125"/>
            <a:chOff x="3446" y="2646"/>
            <a:chExt cx="896" cy="390"/>
          </a:xfrm>
        </p:grpSpPr>
        <p:sp>
          <p:nvSpPr>
            <p:cNvPr id="117944" name="直接连接符 258232"/>
            <p:cNvSpPr/>
            <p:nvPr/>
          </p:nvSpPr>
          <p:spPr>
            <a:xfrm flipH="1">
              <a:off x="3446" y="2646"/>
              <a:ext cx="896" cy="0"/>
            </a:xfrm>
            <a:prstGeom prst="line">
              <a:avLst/>
            </a:prstGeom>
            <a:ln w="50800" cap="flat" cmpd="sng">
              <a:solidFill>
                <a:srgbClr val="0000FF"/>
              </a:solidFill>
              <a:prstDash val="solid"/>
              <a:round/>
              <a:headEnd type="none" w="med" len="med"/>
              <a:tailEnd type="none" w="med" len="med"/>
            </a:ln>
          </p:spPr>
        </p:sp>
        <p:sp>
          <p:nvSpPr>
            <p:cNvPr id="117945" name="直接连接符 258233"/>
            <p:cNvSpPr/>
            <p:nvPr/>
          </p:nvSpPr>
          <p:spPr>
            <a:xfrm>
              <a:off x="4326" y="2665"/>
              <a:ext cx="0" cy="371"/>
            </a:xfrm>
            <a:prstGeom prst="line">
              <a:avLst/>
            </a:prstGeom>
            <a:ln w="50800" cap="flat" cmpd="sng">
              <a:solidFill>
                <a:srgbClr val="0000FF"/>
              </a:solidFill>
              <a:prstDash val="solid"/>
              <a:round/>
              <a:headEnd type="none" w="med" len="med"/>
              <a:tailEnd type="triangle" w="med" len="med"/>
            </a:ln>
          </p:spPr>
        </p:sp>
      </p:grpSp>
      <p:grpSp>
        <p:nvGrpSpPr>
          <p:cNvPr id="258235" name="组合 258234"/>
          <p:cNvGrpSpPr/>
          <p:nvPr/>
        </p:nvGrpSpPr>
        <p:grpSpPr>
          <a:xfrm>
            <a:off x="3043238" y="3236913"/>
            <a:ext cx="2997200" cy="1801812"/>
            <a:chOff x="1917" y="2039"/>
            <a:chExt cx="1888" cy="1135"/>
          </a:xfrm>
        </p:grpSpPr>
        <p:sp>
          <p:nvSpPr>
            <p:cNvPr id="117947" name="直接连接符 258235"/>
            <p:cNvSpPr/>
            <p:nvPr/>
          </p:nvSpPr>
          <p:spPr>
            <a:xfrm>
              <a:off x="2029" y="2822"/>
              <a:ext cx="592" cy="0"/>
            </a:xfrm>
            <a:prstGeom prst="line">
              <a:avLst/>
            </a:prstGeom>
            <a:ln w="50800" cap="flat" cmpd="sng">
              <a:solidFill>
                <a:srgbClr val="0000FF"/>
              </a:solidFill>
              <a:prstDash val="solid"/>
              <a:round/>
              <a:headEnd type="none" w="med" len="med"/>
              <a:tailEnd type="triangle" w="med" len="med"/>
            </a:ln>
          </p:spPr>
        </p:sp>
        <p:sp>
          <p:nvSpPr>
            <p:cNvPr id="117948" name="直接连接符 258236"/>
            <p:cNvSpPr/>
            <p:nvPr/>
          </p:nvSpPr>
          <p:spPr>
            <a:xfrm>
              <a:off x="1917" y="2039"/>
              <a:ext cx="0" cy="236"/>
            </a:xfrm>
            <a:prstGeom prst="line">
              <a:avLst/>
            </a:prstGeom>
            <a:ln w="50800" cap="flat" cmpd="sng">
              <a:solidFill>
                <a:srgbClr val="0000FF"/>
              </a:solidFill>
              <a:prstDash val="solid"/>
              <a:round/>
              <a:headEnd type="none" w="med" len="med"/>
              <a:tailEnd type="none" w="med" len="med"/>
            </a:ln>
          </p:spPr>
        </p:sp>
        <p:sp>
          <p:nvSpPr>
            <p:cNvPr id="117949" name="直接连接符 258237"/>
            <p:cNvSpPr/>
            <p:nvPr/>
          </p:nvSpPr>
          <p:spPr>
            <a:xfrm flipH="1">
              <a:off x="2381" y="3174"/>
              <a:ext cx="1424" cy="0"/>
            </a:xfrm>
            <a:prstGeom prst="line">
              <a:avLst/>
            </a:prstGeom>
            <a:ln w="50800" cap="flat" cmpd="sng">
              <a:solidFill>
                <a:srgbClr val="0000FF"/>
              </a:solidFill>
              <a:prstDash val="solid"/>
              <a:round/>
              <a:headEnd type="triangle" w="med" len="med"/>
              <a:tailEnd type="none" w="med" len="med"/>
            </a:ln>
          </p:spPr>
        </p:sp>
        <p:sp>
          <p:nvSpPr>
            <p:cNvPr id="117950" name="直接连接符 258238"/>
            <p:cNvSpPr/>
            <p:nvPr/>
          </p:nvSpPr>
          <p:spPr>
            <a:xfrm>
              <a:off x="2406" y="2854"/>
              <a:ext cx="0" cy="304"/>
            </a:xfrm>
            <a:prstGeom prst="line">
              <a:avLst/>
            </a:prstGeom>
            <a:ln w="50800" cap="flat" cmpd="sng">
              <a:solidFill>
                <a:srgbClr val="0000FF"/>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58222"/>
                                        </p:tgtEl>
                                        <p:attrNameLst>
                                          <p:attrName>style.visibility</p:attrName>
                                        </p:attrNameLst>
                                      </p:cBhvr>
                                      <p:to>
                                        <p:strVal val="visible"/>
                                      </p:to>
                                    </p:set>
                                    <p:animEffect transition="in" filter="slide(fromLeft)">
                                      <p:cBhvr>
                                        <p:cTn id="7" dur="500"/>
                                        <p:tgtEl>
                                          <p:spTgt spid="25822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58225"/>
                                        </p:tgtEl>
                                        <p:attrNameLst>
                                          <p:attrName>style.visibility</p:attrName>
                                        </p:attrNameLst>
                                      </p:cBhvr>
                                      <p:to>
                                        <p:strVal val="visible"/>
                                      </p:to>
                                    </p:set>
                                    <p:animEffect transition="in" filter="slide(fromLeft)">
                                      <p:cBhvr>
                                        <p:cTn id="12" dur="500"/>
                                        <p:tgtEl>
                                          <p:spTgt spid="25822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258221"/>
                                        </p:tgtEl>
                                        <p:attrNameLst>
                                          <p:attrName>style.visibility</p:attrName>
                                        </p:attrNameLst>
                                      </p:cBhvr>
                                      <p:to>
                                        <p:strVal val="visible"/>
                                      </p:to>
                                    </p:set>
                                    <p:animEffect transition="in" filter="slide(fromTop)">
                                      <p:cBhvr>
                                        <p:cTn id="17" dur="500"/>
                                        <p:tgtEl>
                                          <p:spTgt spid="25822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58232"/>
                                        </p:tgtEl>
                                        <p:attrNameLst>
                                          <p:attrName>style.visibility</p:attrName>
                                        </p:attrNameLst>
                                      </p:cBhvr>
                                      <p:to>
                                        <p:strVal val="visible"/>
                                      </p:to>
                                    </p:set>
                                    <p:animEffect transition="in" filter="slide(fromLeft)">
                                      <p:cBhvr>
                                        <p:cTn id="22" dur="500"/>
                                        <p:tgtEl>
                                          <p:spTgt spid="258232"/>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258235"/>
                                        </p:tgtEl>
                                        <p:attrNameLst>
                                          <p:attrName>style.visibility</p:attrName>
                                        </p:attrNameLst>
                                      </p:cBhvr>
                                      <p:to>
                                        <p:strVal val="visible"/>
                                      </p:to>
                                    </p:set>
                                    <p:animEffect transition="in" filter="slide(fromLeft)">
                                      <p:cBhvr>
                                        <p:cTn id="27" dur="500"/>
                                        <p:tgtEl>
                                          <p:spTgt spid="25823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nodeType="clickEffect">
                                  <p:stCondLst>
                                    <p:cond delay="0"/>
                                  </p:stCondLst>
                                  <p:childTnLst>
                                    <p:set>
                                      <p:cBhvr>
                                        <p:cTn id="31" dur="1" fill="hold">
                                          <p:stCondLst>
                                            <p:cond delay="0"/>
                                          </p:stCondLst>
                                        </p:cTn>
                                        <p:tgtEl>
                                          <p:spTgt spid="258231"/>
                                        </p:tgtEl>
                                        <p:attrNameLst>
                                          <p:attrName>style.visibility</p:attrName>
                                        </p:attrNameLst>
                                      </p:cBhvr>
                                      <p:to>
                                        <p:strVal val="visible"/>
                                      </p:to>
                                    </p:set>
                                    <p:animEffect transition="in" filter="slide(fromTop)">
                                      <p:cBhvr>
                                        <p:cTn id="32" dur="500"/>
                                        <p:tgtEl>
                                          <p:spTgt spid="258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标题 260097"/>
          <p:cNvSpPr>
            <a:spLocks noGrp="1"/>
          </p:cNvSpPr>
          <p:nvPr>
            <p:ph type="title"/>
          </p:nvPr>
        </p:nvSpPr>
        <p:spPr>
          <a:xfrm>
            <a:off x="444500" y="203200"/>
            <a:ext cx="7286625" cy="422275"/>
          </a:xfrm>
          <a:ln/>
        </p:spPr>
        <p:txBody>
          <a:bodyPr vert="horz" wrap="square" lIns="63500" tIns="25400" rIns="63500" bIns="25400" anchor="t" anchorCtr="0">
            <a:spAutoFit/>
          </a:bodyPr>
          <a:p>
            <a:r>
              <a:rPr lang="en-US" altLang="zh-CN">
                <a:ea typeface="宋体" panose="02010600030101010101" pitchFamily="2" charset="-122"/>
              </a:rPr>
              <a:t>Branch</a:t>
            </a:r>
            <a:r>
              <a:rPr lang="zh-CN" altLang="en-US" dirty="0">
                <a:ea typeface="宋体" panose="02010600030101010101" pitchFamily="2" charset="-122"/>
              </a:rPr>
              <a:t>指令译码后的执行过程</a:t>
            </a:r>
            <a:endParaRPr lang="zh-CN" altLang="en-US" dirty="0">
              <a:ea typeface="宋体" panose="02010600030101010101" pitchFamily="2" charset="-122"/>
            </a:endParaRPr>
          </a:p>
        </p:txBody>
      </p:sp>
      <p:grpSp>
        <p:nvGrpSpPr>
          <p:cNvPr id="119810" name="组合 260098"/>
          <p:cNvGrpSpPr/>
          <p:nvPr/>
        </p:nvGrpSpPr>
        <p:grpSpPr>
          <a:xfrm>
            <a:off x="5029200" y="3654425"/>
            <a:ext cx="457200" cy="1136650"/>
            <a:chOff x="3168" y="2302"/>
            <a:chExt cx="288" cy="716"/>
          </a:xfrm>
        </p:grpSpPr>
        <p:sp>
          <p:nvSpPr>
            <p:cNvPr id="119811" name="直接连接符 260099"/>
            <p:cNvSpPr/>
            <p:nvPr/>
          </p:nvSpPr>
          <p:spPr>
            <a:xfrm>
              <a:off x="3168" y="2302"/>
              <a:ext cx="0" cy="163"/>
            </a:xfrm>
            <a:prstGeom prst="line">
              <a:avLst/>
            </a:prstGeom>
            <a:ln w="25400" cap="flat" cmpd="sng">
              <a:solidFill>
                <a:schemeClr val="tx1"/>
              </a:solidFill>
              <a:prstDash val="solid"/>
              <a:round/>
              <a:headEnd type="none" w="med" len="med"/>
              <a:tailEnd type="none" w="med" len="med"/>
            </a:ln>
          </p:spPr>
        </p:sp>
        <p:sp>
          <p:nvSpPr>
            <p:cNvPr id="119812" name="直接连接符 260100"/>
            <p:cNvSpPr/>
            <p:nvPr/>
          </p:nvSpPr>
          <p:spPr>
            <a:xfrm>
              <a:off x="3176" y="2302"/>
              <a:ext cx="272" cy="163"/>
            </a:xfrm>
            <a:prstGeom prst="line">
              <a:avLst/>
            </a:prstGeom>
            <a:ln w="25400" cap="flat" cmpd="sng">
              <a:solidFill>
                <a:schemeClr val="tx1"/>
              </a:solidFill>
              <a:prstDash val="solid"/>
              <a:round/>
              <a:headEnd type="none" w="med" len="med"/>
              <a:tailEnd type="none" w="med" len="med"/>
            </a:ln>
          </p:spPr>
        </p:sp>
        <p:sp>
          <p:nvSpPr>
            <p:cNvPr id="119813" name="直接连接符 260101"/>
            <p:cNvSpPr/>
            <p:nvPr/>
          </p:nvSpPr>
          <p:spPr>
            <a:xfrm>
              <a:off x="3176" y="2481"/>
              <a:ext cx="128" cy="74"/>
            </a:xfrm>
            <a:prstGeom prst="line">
              <a:avLst/>
            </a:prstGeom>
            <a:ln w="25400" cap="flat" cmpd="sng">
              <a:solidFill>
                <a:schemeClr val="tx1"/>
              </a:solidFill>
              <a:prstDash val="solid"/>
              <a:round/>
              <a:headEnd type="none" w="med" len="med"/>
              <a:tailEnd type="none" w="med" len="med"/>
            </a:ln>
          </p:spPr>
        </p:sp>
        <p:sp>
          <p:nvSpPr>
            <p:cNvPr id="119814" name="直接连接符 260102"/>
            <p:cNvSpPr/>
            <p:nvPr/>
          </p:nvSpPr>
          <p:spPr>
            <a:xfrm>
              <a:off x="3312" y="2571"/>
              <a:ext cx="0" cy="163"/>
            </a:xfrm>
            <a:prstGeom prst="line">
              <a:avLst/>
            </a:prstGeom>
            <a:ln w="25400" cap="flat" cmpd="sng">
              <a:solidFill>
                <a:schemeClr val="tx1"/>
              </a:solidFill>
              <a:prstDash val="solid"/>
              <a:round/>
              <a:headEnd type="none" w="med" len="med"/>
              <a:tailEnd type="none" w="med" len="med"/>
            </a:ln>
          </p:spPr>
        </p:sp>
        <p:sp>
          <p:nvSpPr>
            <p:cNvPr id="119815" name="直接连接符 260103"/>
            <p:cNvSpPr/>
            <p:nvPr/>
          </p:nvSpPr>
          <p:spPr>
            <a:xfrm>
              <a:off x="3456" y="2481"/>
              <a:ext cx="0" cy="342"/>
            </a:xfrm>
            <a:prstGeom prst="line">
              <a:avLst/>
            </a:prstGeom>
            <a:ln w="25400" cap="flat" cmpd="sng">
              <a:solidFill>
                <a:schemeClr val="tx1"/>
              </a:solidFill>
              <a:prstDash val="solid"/>
              <a:round/>
              <a:headEnd type="none" w="med" len="med"/>
              <a:tailEnd type="none" w="med" len="med"/>
            </a:ln>
          </p:spPr>
        </p:sp>
        <p:sp>
          <p:nvSpPr>
            <p:cNvPr id="119816" name="直接连接符 260104"/>
            <p:cNvSpPr/>
            <p:nvPr/>
          </p:nvSpPr>
          <p:spPr>
            <a:xfrm flipV="1">
              <a:off x="3176" y="2734"/>
              <a:ext cx="128" cy="105"/>
            </a:xfrm>
            <a:prstGeom prst="line">
              <a:avLst/>
            </a:prstGeom>
            <a:ln w="25400" cap="flat" cmpd="sng">
              <a:solidFill>
                <a:schemeClr val="tx1"/>
              </a:solidFill>
              <a:prstDash val="solid"/>
              <a:round/>
              <a:headEnd type="none" w="med" len="med"/>
              <a:tailEnd type="none" w="med" len="med"/>
            </a:ln>
          </p:spPr>
        </p:sp>
        <p:sp>
          <p:nvSpPr>
            <p:cNvPr id="119817" name="直接连接符 260105"/>
            <p:cNvSpPr/>
            <p:nvPr/>
          </p:nvSpPr>
          <p:spPr>
            <a:xfrm>
              <a:off x="3168" y="2839"/>
              <a:ext cx="0" cy="163"/>
            </a:xfrm>
            <a:prstGeom prst="line">
              <a:avLst/>
            </a:prstGeom>
            <a:ln w="25400" cap="flat" cmpd="sng">
              <a:solidFill>
                <a:schemeClr val="tx1"/>
              </a:solidFill>
              <a:prstDash val="solid"/>
              <a:round/>
              <a:headEnd type="none" w="med" len="med"/>
              <a:tailEnd type="none" w="med" len="med"/>
            </a:ln>
          </p:spPr>
        </p:sp>
        <p:sp>
          <p:nvSpPr>
            <p:cNvPr id="119818" name="直接连接符 260106"/>
            <p:cNvSpPr/>
            <p:nvPr/>
          </p:nvSpPr>
          <p:spPr>
            <a:xfrm flipV="1">
              <a:off x="3176" y="2823"/>
              <a:ext cx="272" cy="195"/>
            </a:xfrm>
            <a:prstGeom prst="line">
              <a:avLst/>
            </a:prstGeom>
            <a:ln w="25400" cap="flat" cmpd="sng">
              <a:solidFill>
                <a:schemeClr val="tx1"/>
              </a:solidFill>
              <a:prstDash val="solid"/>
              <a:round/>
              <a:headEnd type="none" w="med" len="med"/>
              <a:tailEnd type="none" w="med" len="med"/>
            </a:ln>
          </p:spPr>
        </p:sp>
      </p:grpSp>
      <p:sp>
        <p:nvSpPr>
          <p:cNvPr id="119819" name="直接连接符 260107"/>
          <p:cNvSpPr/>
          <p:nvPr/>
        </p:nvSpPr>
        <p:spPr>
          <a:xfrm flipH="1">
            <a:off x="5473700" y="4210050"/>
            <a:ext cx="2311400" cy="0"/>
          </a:xfrm>
          <a:prstGeom prst="line">
            <a:avLst/>
          </a:prstGeom>
          <a:ln w="25400" cap="flat" cmpd="sng">
            <a:solidFill>
              <a:schemeClr val="tx1"/>
            </a:solidFill>
            <a:prstDash val="solid"/>
            <a:round/>
            <a:headEnd type="triangle" w="med" len="med"/>
            <a:tailEnd type="none" w="med" len="med"/>
          </a:ln>
        </p:spPr>
      </p:sp>
      <p:sp>
        <p:nvSpPr>
          <p:cNvPr id="119820" name="直接连接符 260108"/>
          <p:cNvSpPr/>
          <p:nvPr/>
        </p:nvSpPr>
        <p:spPr>
          <a:xfrm flipH="1">
            <a:off x="5861050" y="4146550"/>
            <a:ext cx="88900" cy="128588"/>
          </a:xfrm>
          <a:prstGeom prst="line">
            <a:avLst/>
          </a:prstGeom>
          <a:ln w="12700" cap="flat" cmpd="sng">
            <a:solidFill>
              <a:schemeClr val="tx1"/>
            </a:solidFill>
            <a:prstDash val="solid"/>
            <a:round/>
            <a:headEnd type="none" w="med" len="med"/>
            <a:tailEnd type="none" w="med" len="med"/>
          </a:ln>
        </p:spPr>
      </p:sp>
      <p:sp>
        <p:nvSpPr>
          <p:cNvPr id="119821" name="矩形 260109"/>
          <p:cNvSpPr/>
          <p:nvPr/>
        </p:nvSpPr>
        <p:spPr>
          <a:xfrm>
            <a:off x="5548313" y="42084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9822" name="直接连接符 260110"/>
          <p:cNvSpPr/>
          <p:nvPr/>
        </p:nvSpPr>
        <p:spPr>
          <a:xfrm>
            <a:off x="5257800" y="3289300"/>
            <a:ext cx="0" cy="482600"/>
          </a:xfrm>
          <a:prstGeom prst="line">
            <a:avLst/>
          </a:prstGeom>
          <a:ln w="25400" cap="flat" cmpd="sng">
            <a:solidFill>
              <a:schemeClr val="tx1"/>
            </a:solidFill>
            <a:prstDash val="solid"/>
            <a:round/>
            <a:headEnd type="none" w="med" len="med"/>
            <a:tailEnd type="triangle" w="med" len="med"/>
          </a:ln>
        </p:spPr>
      </p:sp>
      <p:sp>
        <p:nvSpPr>
          <p:cNvPr id="119823" name="矩形 260111"/>
          <p:cNvSpPr/>
          <p:nvPr/>
        </p:nvSpPr>
        <p:spPr>
          <a:xfrm>
            <a:off x="4130675" y="2919413"/>
            <a:ext cx="1430338" cy="638175"/>
          </a:xfrm>
          <a:prstGeom prst="rect">
            <a:avLst/>
          </a:prstGeom>
          <a:noFill/>
          <a:ln w="12700">
            <a:noFill/>
          </a:ln>
        </p:spPr>
        <p:txBody>
          <a:bodyPr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ALUctr</a:t>
            </a:r>
            <a:r>
              <a:rPr lang="en-US" altLang="zh-CN" sz="1800" u="sng">
                <a:solidFill>
                  <a:schemeClr val="accent1"/>
                </a:solidFill>
                <a:latin typeface="Arial" panose="020B0604020202020204" pitchFamily="34" charset="0"/>
                <a:ea typeface="宋体" panose="02010600030101010101" pitchFamily="2" charset="-122"/>
              </a:rPr>
              <a:t> = Sub</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9824" name="矩形 260112"/>
          <p:cNvSpPr/>
          <p:nvPr/>
        </p:nvSpPr>
        <p:spPr>
          <a:xfrm>
            <a:off x="1062038" y="43338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9825" name="矩形 260113"/>
          <p:cNvSpPr/>
          <p:nvPr/>
        </p:nvSpPr>
        <p:spPr>
          <a:xfrm>
            <a:off x="671513" y="3781425"/>
            <a:ext cx="803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119826" name="矩形 260114"/>
          <p:cNvSpPr/>
          <p:nvPr/>
        </p:nvSpPr>
        <p:spPr>
          <a:xfrm>
            <a:off x="1755775" y="3654425"/>
            <a:ext cx="1431925" cy="11303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827" name="直接连接符 260115"/>
          <p:cNvSpPr/>
          <p:nvPr/>
        </p:nvSpPr>
        <p:spPr>
          <a:xfrm>
            <a:off x="1793875" y="4560888"/>
            <a:ext cx="250825" cy="63500"/>
          </a:xfrm>
          <a:prstGeom prst="line">
            <a:avLst/>
          </a:prstGeom>
          <a:ln w="25400" cap="flat" cmpd="sng">
            <a:solidFill>
              <a:schemeClr val="tx1"/>
            </a:solidFill>
            <a:prstDash val="solid"/>
            <a:round/>
            <a:headEnd type="none" w="med" len="med"/>
            <a:tailEnd type="none" w="med" len="med"/>
          </a:ln>
        </p:spPr>
      </p:sp>
      <p:sp>
        <p:nvSpPr>
          <p:cNvPr id="119828" name="直接连接符 260116"/>
          <p:cNvSpPr/>
          <p:nvPr/>
        </p:nvSpPr>
        <p:spPr>
          <a:xfrm flipH="1">
            <a:off x="1768475" y="4649788"/>
            <a:ext cx="301625" cy="98425"/>
          </a:xfrm>
          <a:prstGeom prst="line">
            <a:avLst/>
          </a:prstGeom>
          <a:ln w="25400" cap="flat" cmpd="sng">
            <a:solidFill>
              <a:schemeClr val="tx1"/>
            </a:solidFill>
            <a:prstDash val="solid"/>
            <a:round/>
            <a:headEnd type="none" w="med" len="med"/>
            <a:tailEnd type="none" w="med" len="med"/>
          </a:ln>
        </p:spPr>
      </p:sp>
      <p:sp>
        <p:nvSpPr>
          <p:cNvPr id="119829" name="椭圆 260117"/>
          <p:cNvSpPr/>
          <p:nvPr/>
        </p:nvSpPr>
        <p:spPr>
          <a:xfrm>
            <a:off x="1603375" y="4595813"/>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830" name="矩形 260118"/>
          <p:cNvSpPr/>
          <p:nvPr/>
        </p:nvSpPr>
        <p:spPr>
          <a:xfrm>
            <a:off x="668338" y="3090863"/>
            <a:ext cx="13049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RegWr</a:t>
            </a:r>
            <a:r>
              <a:rPr lang="en-US" altLang="zh-CN" sz="1800" u="sng">
                <a:solidFill>
                  <a:schemeClr val="accent1"/>
                </a:solidFill>
                <a:latin typeface="Arial" panose="020B0604020202020204" pitchFamily="34" charset="0"/>
                <a:ea typeface="宋体" panose="02010600030101010101" pitchFamily="2" charset="-122"/>
              </a:rPr>
              <a:t> =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9831" name="直接连接符 260119"/>
          <p:cNvSpPr/>
          <p:nvPr/>
        </p:nvSpPr>
        <p:spPr>
          <a:xfrm flipH="1">
            <a:off x="749300" y="4140200"/>
            <a:ext cx="1016000" cy="0"/>
          </a:xfrm>
          <a:prstGeom prst="line">
            <a:avLst/>
          </a:prstGeom>
          <a:ln w="25400" cap="flat" cmpd="sng">
            <a:solidFill>
              <a:schemeClr val="tx1"/>
            </a:solidFill>
            <a:prstDash val="solid"/>
            <a:round/>
            <a:headEnd type="triangle" w="med" len="med"/>
            <a:tailEnd type="none" w="med" len="med"/>
          </a:ln>
        </p:spPr>
      </p:sp>
      <p:sp>
        <p:nvSpPr>
          <p:cNvPr id="119832" name="直接连接符 260120"/>
          <p:cNvSpPr/>
          <p:nvPr/>
        </p:nvSpPr>
        <p:spPr>
          <a:xfrm flipH="1">
            <a:off x="1289050" y="4075113"/>
            <a:ext cx="88900" cy="128587"/>
          </a:xfrm>
          <a:prstGeom prst="line">
            <a:avLst/>
          </a:prstGeom>
          <a:ln w="12700" cap="flat" cmpd="sng">
            <a:solidFill>
              <a:schemeClr val="tx1"/>
            </a:solidFill>
            <a:prstDash val="solid"/>
            <a:round/>
            <a:headEnd type="none" w="med" len="med"/>
            <a:tailEnd type="none" w="med" len="med"/>
          </a:ln>
        </p:spPr>
      </p:sp>
      <p:sp>
        <p:nvSpPr>
          <p:cNvPr id="119833" name="矩形 260121"/>
          <p:cNvSpPr/>
          <p:nvPr/>
        </p:nvSpPr>
        <p:spPr>
          <a:xfrm>
            <a:off x="976313" y="413702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9834" name="直接连接符 260122"/>
          <p:cNvSpPr/>
          <p:nvPr/>
        </p:nvSpPr>
        <p:spPr>
          <a:xfrm>
            <a:off x="3225800" y="3784600"/>
            <a:ext cx="1778000" cy="0"/>
          </a:xfrm>
          <a:prstGeom prst="line">
            <a:avLst/>
          </a:prstGeom>
          <a:ln w="50800" cap="flat" cmpd="sng">
            <a:solidFill>
              <a:schemeClr val="accent1"/>
            </a:solidFill>
            <a:prstDash val="solid"/>
            <a:round/>
            <a:headEnd type="none" w="med" len="med"/>
            <a:tailEnd type="triangle" w="med" len="med"/>
          </a:ln>
        </p:spPr>
      </p:sp>
      <p:sp>
        <p:nvSpPr>
          <p:cNvPr id="119835" name="直接连接符 260123"/>
          <p:cNvSpPr/>
          <p:nvPr/>
        </p:nvSpPr>
        <p:spPr>
          <a:xfrm flipH="1">
            <a:off x="4184650" y="3719513"/>
            <a:ext cx="88900" cy="130175"/>
          </a:xfrm>
          <a:prstGeom prst="line">
            <a:avLst/>
          </a:prstGeom>
          <a:ln w="12700" cap="flat" cmpd="sng">
            <a:solidFill>
              <a:schemeClr val="tx1"/>
            </a:solidFill>
            <a:prstDash val="solid"/>
            <a:round/>
            <a:headEnd type="none" w="med" len="med"/>
            <a:tailEnd type="none" w="med" len="med"/>
          </a:ln>
        </p:spPr>
      </p:sp>
      <p:sp>
        <p:nvSpPr>
          <p:cNvPr id="119836" name="矩形 260124"/>
          <p:cNvSpPr/>
          <p:nvPr/>
        </p:nvSpPr>
        <p:spPr>
          <a:xfrm>
            <a:off x="3871913" y="38528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9837" name="矩形 260125"/>
          <p:cNvSpPr/>
          <p:nvPr/>
        </p:nvSpPr>
        <p:spPr>
          <a:xfrm>
            <a:off x="3554413" y="3408363"/>
            <a:ext cx="7524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119838" name="直接连接符 260126"/>
          <p:cNvSpPr/>
          <p:nvPr/>
        </p:nvSpPr>
        <p:spPr>
          <a:xfrm flipV="1">
            <a:off x="1905000" y="3416300"/>
            <a:ext cx="0" cy="238125"/>
          </a:xfrm>
          <a:prstGeom prst="line">
            <a:avLst/>
          </a:prstGeom>
          <a:ln w="25400" cap="flat" cmpd="sng">
            <a:solidFill>
              <a:schemeClr val="tx1"/>
            </a:solidFill>
            <a:prstDash val="solid"/>
            <a:round/>
            <a:headEnd type="none" w="med" len="med"/>
            <a:tailEnd type="none" w="med" len="med"/>
          </a:ln>
        </p:spPr>
      </p:sp>
      <p:sp>
        <p:nvSpPr>
          <p:cNvPr id="119839" name="直接连接符 260127"/>
          <p:cNvSpPr/>
          <p:nvPr/>
        </p:nvSpPr>
        <p:spPr>
          <a:xfrm>
            <a:off x="3225800" y="4484688"/>
            <a:ext cx="939800" cy="0"/>
          </a:xfrm>
          <a:prstGeom prst="line">
            <a:avLst/>
          </a:prstGeom>
          <a:ln w="50800" cap="flat" cmpd="sng">
            <a:solidFill>
              <a:schemeClr val="accent1"/>
            </a:solidFill>
            <a:prstDash val="solid"/>
            <a:round/>
            <a:headEnd type="none" w="med" len="med"/>
            <a:tailEnd type="triangle" w="med" len="med"/>
          </a:ln>
        </p:spPr>
      </p:sp>
      <p:sp>
        <p:nvSpPr>
          <p:cNvPr id="119840" name="直接连接符 260128"/>
          <p:cNvSpPr/>
          <p:nvPr/>
        </p:nvSpPr>
        <p:spPr>
          <a:xfrm flipV="1">
            <a:off x="3663950" y="4337050"/>
            <a:ext cx="139700" cy="241300"/>
          </a:xfrm>
          <a:prstGeom prst="line">
            <a:avLst/>
          </a:prstGeom>
          <a:ln w="12700" cap="flat" cmpd="sng">
            <a:solidFill>
              <a:schemeClr val="tx1"/>
            </a:solidFill>
            <a:prstDash val="solid"/>
            <a:round/>
            <a:headEnd type="none" w="med" len="med"/>
            <a:tailEnd type="none" w="med" len="med"/>
          </a:ln>
        </p:spPr>
      </p:sp>
      <p:sp>
        <p:nvSpPr>
          <p:cNvPr id="119841" name="矩形 260129"/>
          <p:cNvSpPr/>
          <p:nvPr/>
        </p:nvSpPr>
        <p:spPr>
          <a:xfrm>
            <a:off x="3262313" y="448151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9842" name="矩形 260130"/>
          <p:cNvSpPr/>
          <p:nvPr/>
        </p:nvSpPr>
        <p:spPr>
          <a:xfrm>
            <a:off x="3173413" y="4108450"/>
            <a:ext cx="7524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119843" name="直接连接符 260131"/>
          <p:cNvSpPr/>
          <p:nvPr/>
        </p:nvSpPr>
        <p:spPr>
          <a:xfrm flipH="1">
            <a:off x="1130300" y="4637088"/>
            <a:ext cx="482600" cy="0"/>
          </a:xfrm>
          <a:prstGeom prst="line">
            <a:avLst/>
          </a:prstGeom>
          <a:ln w="25400" cap="flat" cmpd="sng">
            <a:solidFill>
              <a:schemeClr val="tx1"/>
            </a:solidFill>
            <a:prstDash val="solid"/>
            <a:round/>
            <a:headEnd type="none" w="med" len="med"/>
            <a:tailEnd type="none" w="med" len="med"/>
          </a:ln>
        </p:spPr>
      </p:sp>
      <p:sp>
        <p:nvSpPr>
          <p:cNvPr id="119844" name="直接连接符 260132"/>
          <p:cNvSpPr/>
          <p:nvPr/>
        </p:nvSpPr>
        <p:spPr>
          <a:xfrm>
            <a:off x="3048000" y="3241675"/>
            <a:ext cx="0" cy="374650"/>
          </a:xfrm>
          <a:prstGeom prst="line">
            <a:avLst/>
          </a:prstGeom>
          <a:ln w="50800" cap="flat" cmpd="sng">
            <a:solidFill>
              <a:schemeClr val="accent1"/>
            </a:solidFill>
            <a:prstDash val="solid"/>
            <a:round/>
            <a:headEnd type="none" w="med" len="med"/>
            <a:tailEnd type="none" w="med" len="med"/>
          </a:ln>
        </p:spPr>
      </p:sp>
      <p:sp>
        <p:nvSpPr>
          <p:cNvPr id="119845" name="直接连接符 260133"/>
          <p:cNvSpPr/>
          <p:nvPr/>
        </p:nvSpPr>
        <p:spPr>
          <a:xfrm flipV="1">
            <a:off x="2978150" y="3351213"/>
            <a:ext cx="139700" cy="155575"/>
          </a:xfrm>
          <a:prstGeom prst="line">
            <a:avLst/>
          </a:prstGeom>
          <a:ln w="12700" cap="flat" cmpd="sng">
            <a:solidFill>
              <a:schemeClr val="tx1"/>
            </a:solidFill>
            <a:prstDash val="solid"/>
            <a:round/>
            <a:headEnd type="none" w="med" len="med"/>
            <a:tailEnd type="none" w="med" len="med"/>
          </a:ln>
        </p:spPr>
      </p:sp>
      <p:sp>
        <p:nvSpPr>
          <p:cNvPr id="119846" name="矩形 260134"/>
          <p:cNvSpPr/>
          <p:nvPr/>
        </p:nvSpPr>
        <p:spPr>
          <a:xfrm>
            <a:off x="28051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9847" name="直接连接符 260135"/>
          <p:cNvSpPr/>
          <p:nvPr/>
        </p:nvSpPr>
        <p:spPr>
          <a:xfrm>
            <a:off x="2209800" y="3016250"/>
            <a:ext cx="0" cy="612775"/>
          </a:xfrm>
          <a:prstGeom prst="line">
            <a:avLst/>
          </a:prstGeom>
          <a:ln w="25400" cap="flat" cmpd="sng">
            <a:solidFill>
              <a:schemeClr val="tx1"/>
            </a:solidFill>
            <a:prstDash val="solid"/>
            <a:round/>
            <a:headEnd type="none" w="med" len="med"/>
            <a:tailEnd type="none" w="med" len="med"/>
          </a:ln>
        </p:spPr>
      </p:sp>
      <p:sp>
        <p:nvSpPr>
          <p:cNvPr id="119848" name="直接连接符 260136"/>
          <p:cNvSpPr/>
          <p:nvPr/>
        </p:nvSpPr>
        <p:spPr>
          <a:xfrm flipV="1">
            <a:off x="2139950" y="3351213"/>
            <a:ext cx="139700" cy="155575"/>
          </a:xfrm>
          <a:prstGeom prst="line">
            <a:avLst/>
          </a:prstGeom>
          <a:ln w="12700" cap="flat" cmpd="sng">
            <a:solidFill>
              <a:schemeClr val="tx1"/>
            </a:solidFill>
            <a:prstDash val="solid"/>
            <a:round/>
            <a:headEnd type="none" w="med" len="med"/>
            <a:tailEnd type="none" w="med" len="med"/>
          </a:ln>
        </p:spPr>
      </p:sp>
      <p:sp>
        <p:nvSpPr>
          <p:cNvPr id="119849" name="矩形 260137"/>
          <p:cNvSpPr/>
          <p:nvPr/>
        </p:nvSpPr>
        <p:spPr>
          <a:xfrm>
            <a:off x="1966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9850" name="直接连接符 260138"/>
          <p:cNvSpPr/>
          <p:nvPr/>
        </p:nvSpPr>
        <p:spPr>
          <a:xfrm>
            <a:off x="2590800" y="3241675"/>
            <a:ext cx="0" cy="374650"/>
          </a:xfrm>
          <a:prstGeom prst="line">
            <a:avLst/>
          </a:prstGeom>
          <a:ln w="50800" cap="flat" cmpd="sng">
            <a:solidFill>
              <a:schemeClr val="accent1"/>
            </a:solidFill>
            <a:prstDash val="solid"/>
            <a:round/>
            <a:headEnd type="none" w="med" len="med"/>
            <a:tailEnd type="none" w="med" len="med"/>
          </a:ln>
        </p:spPr>
      </p:sp>
      <p:sp>
        <p:nvSpPr>
          <p:cNvPr id="119851" name="直接连接符 260139"/>
          <p:cNvSpPr/>
          <p:nvPr/>
        </p:nvSpPr>
        <p:spPr>
          <a:xfrm flipV="1">
            <a:off x="2520950" y="3351213"/>
            <a:ext cx="139700" cy="155575"/>
          </a:xfrm>
          <a:prstGeom prst="line">
            <a:avLst/>
          </a:prstGeom>
          <a:ln w="12700" cap="flat" cmpd="sng">
            <a:solidFill>
              <a:schemeClr val="tx1"/>
            </a:solidFill>
            <a:prstDash val="solid"/>
            <a:round/>
            <a:headEnd type="none" w="med" len="med"/>
            <a:tailEnd type="none" w="med" len="med"/>
          </a:ln>
        </p:spPr>
      </p:sp>
      <p:sp>
        <p:nvSpPr>
          <p:cNvPr id="119852" name="矩形 260140"/>
          <p:cNvSpPr/>
          <p:nvPr/>
        </p:nvSpPr>
        <p:spPr>
          <a:xfrm>
            <a:off x="2347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19853" name="矩形 260141"/>
          <p:cNvSpPr/>
          <p:nvPr/>
        </p:nvSpPr>
        <p:spPr>
          <a:xfrm>
            <a:off x="1966913" y="3640138"/>
            <a:ext cx="523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119854" name="矩形 260142"/>
          <p:cNvSpPr/>
          <p:nvPr/>
        </p:nvSpPr>
        <p:spPr>
          <a:xfrm>
            <a:off x="2424113" y="3640138"/>
            <a:ext cx="4730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119855" name="矩形 260143"/>
          <p:cNvSpPr/>
          <p:nvPr/>
        </p:nvSpPr>
        <p:spPr>
          <a:xfrm>
            <a:off x="2805113" y="3640138"/>
            <a:ext cx="4857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119856" name="矩形 260144"/>
          <p:cNvSpPr/>
          <p:nvPr/>
        </p:nvSpPr>
        <p:spPr>
          <a:xfrm>
            <a:off x="1966913" y="3924300"/>
            <a:ext cx="1222375" cy="63817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pPr eaLnBrk="0" hangingPunct="0"/>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119857" name="直接连接符 260145"/>
          <p:cNvSpPr/>
          <p:nvPr/>
        </p:nvSpPr>
        <p:spPr>
          <a:xfrm flipH="1">
            <a:off x="749300" y="6172200"/>
            <a:ext cx="7797800" cy="0"/>
          </a:xfrm>
          <a:prstGeom prst="line">
            <a:avLst/>
          </a:prstGeom>
          <a:ln w="25400" cap="flat" cmpd="sng">
            <a:solidFill>
              <a:schemeClr val="tx1"/>
            </a:solidFill>
            <a:prstDash val="solid"/>
            <a:round/>
            <a:headEnd type="none" w="med" len="med"/>
            <a:tailEnd type="none" w="med" len="med"/>
          </a:ln>
        </p:spPr>
      </p:sp>
      <p:sp>
        <p:nvSpPr>
          <p:cNvPr id="119858" name="直接连接符 260146"/>
          <p:cNvSpPr/>
          <p:nvPr/>
        </p:nvSpPr>
        <p:spPr>
          <a:xfrm flipV="1">
            <a:off x="762000" y="4127500"/>
            <a:ext cx="0" cy="2057400"/>
          </a:xfrm>
          <a:prstGeom prst="line">
            <a:avLst/>
          </a:prstGeom>
          <a:ln w="25400" cap="flat" cmpd="sng">
            <a:solidFill>
              <a:schemeClr val="tx1"/>
            </a:solidFill>
            <a:prstDash val="solid"/>
            <a:round/>
            <a:headEnd type="none" w="med" len="med"/>
            <a:tailEnd type="none" w="med" len="med"/>
          </a:ln>
        </p:spPr>
      </p:sp>
      <p:sp>
        <p:nvSpPr>
          <p:cNvPr id="119859" name="矩形 260147"/>
          <p:cNvSpPr/>
          <p:nvPr/>
        </p:nvSpPr>
        <p:spPr>
          <a:xfrm>
            <a:off x="2576513" y="3000375"/>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19860" name="矩形 260148"/>
          <p:cNvSpPr/>
          <p:nvPr/>
        </p:nvSpPr>
        <p:spPr>
          <a:xfrm>
            <a:off x="2347913" y="2360613"/>
            <a:ext cx="4222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119861" name="组合 260149"/>
          <p:cNvGrpSpPr/>
          <p:nvPr/>
        </p:nvGrpSpPr>
        <p:grpSpPr>
          <a:xfrm>
            <a:off x="4191000" y="4203700"/>
            <a:ext cx="304800" cy="1227138"/>
            <a:chOff x="2640" y="2648"/>
            <a:chExt cx="192" cy="773"/>
          </a:xfrm>
        </p:grpSpPr>
        <p:sp>
          <p:nvSpPr>
            <p:cNvPr id="119862" name="直接连接符 260150"/>
            <p:cNvSpPr/>
            <p:nvPr/>
          </p:nvSpPr>
          <p:spPr>
            <a:xfrm>
              <a:off x="2640" y="2648"/>
              <a:ext cx="0" cy="757"/>
            </a:xfrm>
            <a:prstGeom prst="line">
              <a:avLst/>
            </a:prstGeom>
            <a:ln w="25400" cap="flat" cmpd="sng">
              <a:solidFill>
                <a:schemeClr val="tx1"/>
              </a:solidFill>
              <a:prstDash val="solid"/>
              <a:round/>
              <a:headEnd type="none" w="med" len="med"/>
              <a:tailEnd type="none" w="med" len="med"/>
            </a:ln>
          </p:spPr>
        </p:sp>
        <p:sp>
          <p:nvSpPr>
            <p:cNvPr id="119863" name="直接连接符 260151"/>
            <p:cNvSpPr/>
            <p:nvPr/>
          </p:nvSpPr>
          <p:spPr>
            <a:xfrm>
              <a:off x="2648" y="2648"/>
              <a:ext cx="176" cy="86"/>
            </a:xfrm>
            <a:prstGeom prst="line">
              <a:avLst/>
            </a:prstGeom>
            <a:ln w="25400" cap="flat" cmpd="sng">
              <a:solidFill>
                <a:schemeClr val="tx1"/>
              </a:solidFill>
              <a:prstDash val="solid"/>
              <a:round/>
              <a:headEnd type="none" w="med" len="med"/>
              <a:tailEnd type="none" w="med" len="med"/>
            </a:ln>
          </p:spPr>
        </p:sp>
        <p:sp>
          <p:nvSpPr>
            <p:cNvPr id="119864" name="直接连接符 260152"/>
            <p:cNvSpPr/>
            <p:nvPr/>
          </p:nvSpPr>
          <p:spPr>
            <a:xfrm flipV="1">
              <a:off x="2648" y="3303"/>
              <a:ext cx="176" cy="118"/>
            </a:xfrm>
            <a:prstGeom prst="line">
              <a:avLst/>
            </a:prstGeom>
            <a:ln w="25400" cap="flat" cmpd="sng">
              <a:solidFill>
                <a:schemeClr val="tx1"/>
              </a:solidFill>
              <a:prstDash val="solid"/>
              <a:round/>
              <a:headEnd type="none" w="med" len="med"/>
              <a:tailEnd type="none" w="med" len="med"/>
            </a:ln>
          </p:spPr>
        </p:sp>
        <p:sp>
          <p:nvSpPr>
            <p:cNvPr id="119865" name="直接连接符 260153"/>
            <p:cNvSpPr/>
            <p:nvPr/>
          </p:nvSpPr>
          <p:spPr>
            <a:xfrm>
              <a:off x="2832" y="2750"/>
              <a:ext cx="0" cy="553"/>
            </a:xfrm>
            <a:prstGeom prst="line">
              <a:avLst/>
            </a:prstGeom>
            <a:ln w="25400" cap="flat" cmpd="sng">
              <a:solidFill>
                <a:schemeClr val="tx1"/>
              </a:solidFill>
              <a:prstDash val="solid"/>
              <a:round/>
              <a:headEnd type="none" w="med" len="med"/>
              <a:tailEnd type="none" w="med" len="med"/>
            </a:ln>
          </p:spPr>
        </p:sp>
      </p:grpSp>
      <p:grpSp>
        <p:nvGrpSpPr>
          <p:cNvPr id="119866" name="组合 260154"/>
          <p:cNvGrpSpPr/>
          <p:nvPr/>
        </p:nvGrpSpPr>
        <p:grpSpPr>
          <a:xfrm>
            <a:off x="1473200" y="2754313"/>
            <a:ext cx="1168400" cy="284162"/>
            <a:chOff x="928" y="1735"/>
            <a:chExt cx="736" cy="179"/>
          </a:xfrm>
        </p:grpSpPr>
        <p:sp>
          <p:nvSpPr>
            <p:cNvPr id="119867" name="直接连接符 260155"/>
            <p:cNvSpPr/>
            <p:nvPr/>
          </p:nvSpPr>
          <p:spPr>
            <a:xfrm flipH="1">
              <a:off x="928" y="1735"/>
              <a:ext cx="736" cy="0"/>
            </a:xfrm>
            <a:prstGeom prst="line">
              <a:avLst/>
            </a:prstGeom>
            <a:ln w="25400" cap="flat" cmpd="sng">
              <a:solidFill>
                <a:schemeClr val="tx1"/>
              </a:solidFill>
              <a:prstDash val="solid"/>
              <a:round/>
              <a:headEnd type="none" w="med" len="med"/>
              <a:tailEnd type="none" w="med" len="med"/>
            </a:ln>
          </p:spPr>
        </p:sp>
        <p:sp>
          <p:nvSpPr>
            <p:cNvPr id="119868" name="直接连接符 260156"/>
            <p:cNvSpPr/>
            <p:nvPr/>
          </p:nvSpPr>
          <p:spPr>
            <a:xfrm flipH="1">
              <a:off x="1552" y="1743"/>
              <a:ext cx="112" cy="163"/>
            </a:xfrm>
            <a:prstGeom prst="line">
              <a:avLst/>
            </a:prstGeom>
            <a:ln w="25400" cap="flat" cmpd="sng">
              <a:solidFill>
                <a:schemeClr val="tx1"/>
              </a:solidFill>
              <a:prstDash val="solid"/>
              <a:round/>
              <a:headEnd type="none" w="med" len="med"/>
              <a:tailEnd type="none" w="med" len="med"/>
            </a:ln>
          </p:spPr>
        </p:sp>
        <p:sp>
          <p:nvSpPr>
            <p:cNvPr id="119869" name="直接连接符 260157"/>
            <p:cNvSpPr/>
            <p:nvPr/>
          </p:nvSpPr>
          <p:spPr>
            <a:xfrm>
              <a:off x="944" y="1743"/>
              <a:ext cx="80" cy="163"/>
            </a:xfrm>
            <a:prstGeom prst="line">
              <a:avLst/>
            </a:prstGeom>
            <a:ln w="25400" cap="flat" cmpd="sng">
              <a:solidFill>
                <a:schemeClr val="tx1"/>
              </a:solidFill>
              <a:prstDash val="solid"/>
              <a:round/>
              <a:headEnd type="none" w="med" len="med"/>
              <a:tailEnd type="none" w="med" len="med"/>
            </a:ln>
          </p:spPr>
        </p:sp>
        <p:sp>
          <p:nvSpPr>
            <p:cNvPr id="119870" name="直接连接符 260158"/>
            <p:cNvSpPr/>
            <p:nvPr/>
          </p:nvSpPr>
          <p:spPr>
            <a:xfrm flipH="1">
              <a:off x="1024" y="1914"/>
              <a:ext cx="544" cy="0"/>
            </a:xfrm>
            <a:prstGeom prst="line">
              <a:avLst/>
            </a:prstGeom>
            <a:ln w="25400" cap="flat" cmpd="sng">
              <a:solidFill>
                <a:schemeClr val="tx1"/>
              </a:solidFill>
              <a:prstDash val="solid"/>
              <a:round/>
              <a:headEnd type="none" w="med" len="med"/>
              <a:tailEnd type="none" w="med" len="med"/>
            </a:ln>
          </p:spPr>
        </p:sp>
      </p:grpSp>
      <p:sp>
        <p:nvSpPr>
          <p:cNvPr id="119871" name="矩形 260159"/>
          <p:cNvSpPr/>
          <p:nvPr/>
        </p:nvSpPr>
        <p:spPr>
          <a:xfrm>
            <a:off x="2986088" y="3000375"/>
            <a:ext cx="422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19872" name="直接连接符 260160"/>
          <p:cNvSpPr/>
          <p:nvPr/>
        </p:nvSpPr>
        <p:spPr>
          <a:xfrm>
            <a:off x="2362200" y="2517775"/>
            <a:ext cx="0" cy="188913"/>
          </a:xfrm>
          <a:prstGeom prst="line">
            <a:avLst/>
          </a:prstGeom>
          <a:ln w="25400" cap="flat" cmpd="sng">
            <a:solidFill>
              <a:schemeClr val="tx1"/>
            </a:solidFill>
            <a:prstDash val="solid"/>
            <a:round/>
            <a:headEnd type="none" w="med" len="med"/>
            <a:tailEnd type="none" w="med" len="med"/>
          </a:ln>
        </p:spPr>
      </p:sp>
      <p:sp>
        <p:nvSpPr>
          <p:cNvPr id="119873" name="直接连接符 260161"/>
          <p:cNvSpPr/>
          <p:nvPr/>
        </p:nvSpPr>
        <p:spPr>
          <a:xfrm>
            <a:off x="1752600" y="2517775"/>
            <a:ext cx="0" cy="188913"/>
          </a:xfrm>
          <a:prstGeom prst="line">
            <a:avLst/>
          </a:prstGeom>
          <a:ln w="25400" cap="flat" cmpd="sng">
            <a:solidFill>
              <a:schemeClr val="tx1"/>
            </a:solidFill>
            <a:prstDash val="solid"/>
            <a:round/>
            <a:headEnd type="none" w="med" len="med"/>
            <a:tailEnd type="none" w="med" len="med"/>
          </a:ln>
        </p:spPr>
      </p:sp>
      <p:sp>
        <p:nvSpPr>
          <p:cNvPr id="119874" name="矩形 260162"/>
          <p:cNvSpPr/>
          <p:nvPr/>
        </p:nvSpPr>
        <p:spPr>
          <a:xfrm>
            <a:off x="1738313" y="2360613"/>
            <a:ext cx="4857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19875" name="直接连接符 260163"/>
          <p:cNvSpPr/>
          <p:nvPr/>
        </p:nvSpPr>
        <p:spPr>
          <a:xfrm flipH="1">
            <a:off x="1054100" y="2895600"/>
            <a:ext cx="558800" cy="0"/>
          </a:xfrm>
          <a:prstGeom prst="line">
            <a:avLst/>
          </a:prstGeom>
          <a:ln w="25400" cap="flat" cmpd="sng">
            <a:solidFill>
              <a:schemeClr val="tx1"/>
            </a:solidFill>
            <a:prstDash val="solid"/>
            <a:round/>
            <a:headEnd type="triangle" w="med" len="med"/>
            <a:tailEnd type="none" w="med" len="med"/>
          </a:ln>
        </p:spPr>
      </p:sp>
      <p:sp>
        <p:nvSpPr>
          <p:cNvPr id="119876" name="矩形 260164"/>
          <p:cNvSpPr/>
          <p:nvPr/>
        </p:nvSpPr>
        <p:spPr>
          <a:xfrm>
            <a:off x="112713" y="2555875"/>
            <a:ext cx="13684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RegDst</a:t>
            </a:r>
            <a:r>
              <a:rPr lang="en-US" altLang="zh-CN" sz="1800" u="sng">
                <a:solidFill>
                  <a:schemeClr val="accent1"/>
                </a:solidFill>
                <a:latin typeface="Arial" panose="020B0604020202020204" pitchFamily="34" charset="0"/>
                <a:ea typeface="宋体" panose="02010600030101010101" pitchFamily="2" charset="-122"/>
              </a:rPr>
              <a:t> = x</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9877" name="矩形 260165"/>
          <p:cNvSpPr/>
          <p:nvPr/>
        </p:nvSpPr>
        <p:spPr>
          <a:xfrm>
            <a:off x="3136900" y="48895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878" name="矩形 260166"/>
          <p:cNvSpPr/>
          <p:nvPr/>
        </p:nvSpPr>
        <p:spPr>
          <a:xfrm rot="5400000">
            <a:off x="3011488" y="4979988"/>
            <a:ext cx="5365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Ext</a:t>
            </a:r>
            <a:endParaRPr lang="en-US" altLang="zh-CN">
              <a:latin typeface="Times New Roman" panose="02020603050405020304" pitchFamily="18" charset="0"/>
              <a:ea typeface="宋体" panose="02010600030101010101" pitchFamily="2" charset="-122"/>
            </a:endParaRPr>
          </a:p>
        </p:txBody>
      </p:sp>
      <p:sp>
        <p:nvSpPr>
          <p:cNvPr id="119879" name="矩形 260167"/>
          <p:cNvSpPr/>
          <p:nvPr/>
        </p:nvSpPr>
        <p:spPr>
          <a:xfrm rot="5400000">
            <a:off x="3975100" y="4613275"/>
            <a:ext cx="638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9880" name="矩形 260168"/>
          <p:cNvSpPr/>
          <p:nvPr/>
        </p:nvSpPr>
        <p:spPr>
          <a:xfrm>
            <a:off x="1776413" y="2751138"/>
            <a:ext cx="6381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9881" name="直接连接符 260169"/>
          <p:cNvSpPr/>
          <p:nvPr/>
        </p:nvSpPr>
        <p:spPr>
          <a:xfrm>
            <a:off x="3517900" y="5276850"/>
            <a:ext cx="660400" cy="0"/>
          </a:xfrm>
          <a:prstGeom prst="line">
            <a:avLst/>
          </a:prstGeom>
          <a:ln w="25400" cap="flat" cmpd="sng">
            <a:solidFill>
              <a:schemeClr val="tx1"/>
            </a:solidFill>
            <a:prstDash val="solid"/>
            <a:round/>
            <a:headEnd type="none" w="med" len="med"/>
            <a:tailEnd type="triangle" w="med" len="med"/>
          </a:ln>
        </p:spPr>
      </p:sp>
      <p:sp>
        <p:nvSpPr>
          <p:cNvPr id="119882" name="矩形 260170"/>
          <p:cNvSpPr/>
          <p:nvPr/>
        </p:nvSpPr>
        <p:spPr>
          <a:xfrm>
            <a:off x="3509963" y="5308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9883" name="直接连接符 260171"/>
          <p:cNvSpPr/>
          <p:nvPr/>
        </p:nvSpPr>
        <p:spPr>
          <a:xfrm flipH="1">
            <a:off x="3803650" y="5211763"/>
            <a:ext cx="88900" cy="130175"/>
          </a:xfrm>
          <a:prstGeom prst="line">
            <a:avLst/>
          </a:prstGeom>
          <a:ln w="12700" cap="flat" cmpd="sng">
            <a:solidFill>
              <a:schemeClr val="tx1"/>
            </a:solidFill>
            <a:prstDash val="solid"/>
            <a:round/>
            <a:headEnd type="none" w="med" len="med"/>
            <a:tailEnd type="none" w="med" len="med"/>
          </a:ln>
        </p:spPr>
      </p:sp>
      <p:sp>
        <p:nvSpPr>
          <p:cNvPr id="119884" name="直接连接符 260172"/>
          <p:cNvSpPr/>
          <p:nvPr/>
        </p:nvSpPr>
        <p:spPr>
          <a:xfrm>
            <a:off x="2146300" y="5418138"/>
            <a:ext cx="965200" cy="0"/>
          </a:xfrm>
          <a:prstGeom prst="line">
            <a:avLst/>
          </a:prstGeom>
          <a:ln w="25400" cap="flat" cmpd="sng">
            <a:solidFill>
              <a:schemeClr val="tx1"/>
            </a:solidFill>
            <a:prstDash val="solid"/>
            <a:round/>
            <a:headEnd type="none" w="med" len="med"/>
            <a:tailEnd type="triangle" w="med" len="med"/>
          </a:ln>
        </p:spPr>
      </p:sp>
      <p:sp>
        <p:nvSpPr>
          <p:cNvPr id="119885" name="直接连接符 260173"/>
          <p:cNvSpPr/>
          <p:nvPr/>
        </p:nvSpPr>
        <p:spPr>
          <a:xfrm flipH="1">
            <a:off x="2584450" y="5354638"/>
            <a:ext cx="88900" cy="128587"/>
          </a:xfrm>
          <a:prstGeom prst="line">
            <a:avLst/>
          </a:prstGeom>
          <a:ln w="12700" cap="flat" cmpd="sng">
            <a:solidFill>
              <a:schemeClr val="tx1"/>
            </a:solidFill>
            <a:prstDash val="solid"/>
            <a:round/>
            <a:headEnd type="none" w="med" len="med"/>
            <a:tailEnd type="none" w="med" len="med"/>
          </a:ln>
        </p:spPr>
      </p:sp>
      <p:sp>
        <p:nvSpPr>
          <p:cNvPr id="119886" name="矩形 260174"/>
          <p:cNvSpPr/>
          <p:nvPr/>
        </p:nvSpPr>
        <p:spPr>
          <a:xfrm>
            <a:off x="2271713" y="54149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19887" name="矩形 260175"/>
          <p:cNvSpPr/>
          <p:nvPr/>
        </p:nvSpPr>
        <p:spPr>
          <a:xfrm>
            <a:off x="1433513" y="5273675"/>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19888" name="直接连接符 260176"/>
          <p:cNvSpPr/>
          <p:nvPr/>
        </p:nvSpPr>
        <p:spPr>
          <a:xfrm>
            <a:off x="4343400" y="5360988"/>
            <a:ext cx="0" cy="400050"/>
          </a:xfrm>
          <a:prstGeom prst="line">
            <a:avLst/>
          </a:prstGeom>
          <a:ln w="25400" cap="flat" cmpd="sng">
            <a:solidFill>
              <a:schemeClr val="tx1"/>
            </a:solidFill>
            <a:prstDash val="solid"/>
            <a:round/>
            <a:headEnd type="triangle" w="med" len="med"/>
            <a:tailEnd type="none" w="med" len="med"/>
          </a:ln>
        </p:spPr>
      </p:sp>
      <p:sp>
        <p:nvSpPr>
          <p:cNvPr id="119889" name="矩形 260177"/>
          <p:cNvSpPr/>
          <p:nvPr/>
        </p:nvSpPr>
        <p:spPr>
          <a:xfrm>
            <a:off x="3795713" y="5781675"/>
            <a:ext cx="13938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ALUSrc</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9890" name="直接连接符 260178"/>
          <p:cNvSpPr/>
          <p:nvPr/>
        </p:nvSpPr>
        <p:spPr>
          <a:xfrm>
            <a:off x="4521200" y="4637088"/>
            <a:ext cx="482600" cy="0"/>
          </a:xfrm>
          <a:prstGeom prst="line">
            <a:avLst/>
          </a:prstGeom>
          <a:ln w="50800" cap="flat" cmpd="sng">
            <a:solidFill>
              <a:schemeClr val="accent1"/>
            </a:solidFill>
            <a:prstDash val="solid"/>
            <a:round/>
            <a:headEnd type="none" w="med" len="med"/>
            <a:tailEnd type="triangle" w="med" len="med"/>
          </a:ln>
        </p:spPr>
      </p:sp>
      <p:sp>
        <p:nvSpPr>
          <p:cNvPr id="119891" name="直接连接符 260179"/>
          <p:cNvSpPr/>
          <p:nvPr/>
        </p:nvSpPr>
        <p:spPr>
          <a:xfrm>
            <a:off x="8534400" y="4506913"/>
            <a:ext cx="0" cy="1652587"/>
          </a:xfrm>
          <a:prstGeom prst="line">
            <a:avLst/>
          </a:prstGeom>
          <a:ln w="25400" cap="flat" cmpd="sng">
            <a:solidFill>
              <a:schemeClr val="tx1"/>
            </a:solidFill>
            <a:prstDash val="solid"/>
            <a:round/>
            <a:headEnd type="none" w="med" len="med"/>
            <a:tailEnd type="none" w="med" len="med"/>
          </a:ln>
        </p:spPr>
      </p:sp>
      <p:sp>
        <p:nvSpPr>
          <p:cNvPr id="119892" name="直接连接符 260180"/>
          <p:cNvSpPr/>
          <p:nvPr/>
        </p:nvSpPr>
        <p:spPr>
          <a:xfrm>
            <a:off x="3352800" y="5862638"/>
            <a:ext cx="0" cy="471487"/>
          </a:xfrm>
          <a:prstGeom prst="line">
            <a:avLst/>
          </a:prstGeom>
          <a:ln w="25400" cap="flat" cmpd="sng">
            <a:solidFill>
              <a:schemeClr val="tx1"/>
            </a:solidFill>
            <a:prstDash val="solid"/>
            <a:round/>
            <a:headEnd type="triangle" w="med" len="med"/>
            <a:tailEnd type="none" w="med" len="med"/>
          </a:ln>
        </p:spPr>
      </p:sp>
      <p:sp>
        <p:nvSpPr>
          <p:cNvPr id="119893" name="矩形 260181"/>
          <p:cNvSpPr/>
          <p:nvPr/>
        </p:nvSpPr>
        <p:spPr>
          <a:xfrm>
            <a:off x="2347913" y="6191250"/>
            <a:ext cx="1228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ExtOp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x</a:t>
            </a:r>
            <a:endParaRPr lang="en-US" altLang="zh-CN" sz="1800" u="sng">
              <a:solidFill>
                <a:schemeClr val="accent1"/>
              </a:solidFill>
              <a:latin typeface="Arial" panose="020B0604020202020204" pitchFamily="34" charset="0"/>
              <a:ea typeface="宋体" panose="02010600030101010101" pitchFamily="2" charset="-122"/>
            </a:endParaRPr>
          </a:p>
        </p:txBody>
      </p:sp>
      <p:grpSp>
        <p:nvGrpSpPr>
          <p:cNvPr id="119894" name="组合 260182"/>
          <p:cNvGrpSpPr/>
          <p:nvPr/>
        </p:nvGrpSpPr>
        <p:grpSpPr>
          <a:xfrm>
            <a:off x="7772400" y="3938588"/>
            <a:ext cx="304800" cy="1255712"/>
            <a:chOff x="4896" y="2481"/>
            <a:chExt cx="192" cy="791"/>
          </a:xfrm>
        </p:grpSpPr>
        <p:sp>
          <p:nvSpPr>
            <p:cNvPr id="119895" name="直接连接符 260183"/>
            <p:cNvSpPr/>
            <p:nvPr/>
          </p:nvSpPr>
          <p:spPr>
            <a:xfrm>
              <a:off x="4896" y="2481"/>
              <a:ext cx="0" cy="775"/>
            </a:xfrm>
            <a:prstGeom prst="line">
              <a:avLst/>
            </a:prstGeom>
            <a:ln w="25400" cap="flat" cmpd="sng">
              <a:solidFill>
                <a:schemeClr val="tx1"/>
              </a:solidFill>
              <a:prstDash val="solid"/>
              <a:round/>
              <a:headEnd type="none" w="med" len="med"/>
              <a:tailEnd type="none" w="med" len="med"/>
            </a:ln>
          </p:spPr>
        </p:sp>
        <p:sp>
          <p:nvSpPr>
            <p:cNvPr id="119896" name="直接连接符 260184"/>
            <p:cNvSpPr/>
            <p:nvPr/>
          </p:nvSpPr>
          <p:spPr>
            <a:xfrm>
              <a:off x="4904" y="2481"/>
              <a:ext cx="176" cy="90"/>
            </a:xfrm>
            <a:prstGeom prst="line">
              <a:avLst/>
            </a:prstGeom>
            <a:ln w="25400" cap="flat" cmpd="sng">
              <a:solidFill>
                <a:schemeClr val="tx1"/>
              </a:solidFill>
              <a:prstDash val="solid"/>
              <a:round/>
              <a:headEnd type="none" w="med" len="med"/>
              <a:tailEnd type="none" w="med" len="med"/>
            </a:ln>
          </p:spPr>
        </p:sp>
        <p:sp>
          <p:nvSpPr>
            <p:cNvPr id="119897" name="直接连接符 260185"/>
            <p:cNvSpPr/>
            <p:nvPr/>
          </p:nvSpPr>
          <p:spPr>
            <a:xfrm flipV="1">
              <a:off x="4904" y="3150"/>
              <a:ext cx="176" cy="122"/>
            </a:xfrm>
            <a:prstGeom prst="line">
              <a:avLst/>
            </a:prstGeom>
            <a:ln w="25400" cap="flat" cmpd="sng">
              <a:solidFill>
                <a:schemeClr val="tx1"/>
              </a:solidFill>
              <a:prstDash val="solid"/>
              <a:round/>
              <a:headEnd type="none" w="med" len="med"/>
              <a:tailEnd type="none" w="med" len="med"/>
            </a:ln>
          </p:spPr>
        </p:sp>
        <p:sp>
          <p:nvSpPr>
            <p:cNvPr id="119898" name="直接连接符 260186"/>
            <p:cNvSpPr/>
            <p:nvPr/>
          </p:nvSpPr>
          <p:spPr>
            <a:xfrm>
              <a:off x="5088" y="2587"/>
              <a:ext cx="0" cy="563"/>
            </a:xfrm>
            <a:prstGeom prst="line">
              <a:avLst/>
            </a:prstGeom>
            <a:ln w="25400" cap="flat" cmpd="sng">
              <a:solidFill>
                <a:schemeClr val="tx1"/>
              </a:solidFill>
              <a:prstDash val="solid"/>
              <a:round/>
              <a:headEnd type="none" w="med" len="med"/>
              <a:tailEnd type="none" w="med" len="med"/>
            </a:ln>
          </p:spPr>
        </p:sp>
      </p:grpSp>
      <p:sp>
        <p:nvSpPr>
          <p:cNvPr id="119899" name="矩形 260187"/>
          <p:cNvSpPr/>
          <p:nvPr/>
        </p:nvSpPr>
        <p:spPr>
          <a:xfrm rot="5400000">
            <a:off x="7542213" y="4471988"/>
            <a:ext cx="638175" cy="365125"/>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19900" name="直接连接符 260188"/>
          <p:cNvSpPr/>
          <p:nvPr/>
        </p:nvSpPr>
        <p:spPr>
          <a:xfrm flipV="1">
            <a:off x="7924800" y="3559175"/>
            <a:ext cx="0" cy="450850"/>
          </a:xfrm>
          <a:prstGeom prst="line">
            <a:avLst/>
          </a:prstGeom>
          <a:ln w="25400" cap="flat" cmpd="sng">
            <a:solidFill>
              <a:schemeClr val="tx1"/>
            </a:solidFill>
            <a:prstDash val="solid"/>
            <a:round/>
            <a:headEnd type="triangle" w="med" len="med"/>
            <a:tailEnd type="none" w="med" len="med"/>
          </a:ln>
        </p:spPr>
      </p:sp>
      <p:sp>
        <p:nvSpPr>
          <p:cNvPr id="119901" name="矩形 260189"/>
          <p:cNvSpPr/>
          <p:nvPr/>
        </p:nvSpPr>
        <p:spPr>
          <a:xfrm>
            <a:off x="7250113" y="3208338"/>
            <a:ext cx="17367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MemtoReg</a:t>
            </a:r>
            <a:r>
              <a:rPr lang="en-US" altLang="zh-CN" sz="1800" u="sng">
                <a:solidFill>
                  <a:schemeClr val="accent1"/>
                </a:solidFill>
                <a:latin typeface="Arial" panose="020B0604020202020204" pitchFamily="34" charset="0"/>
                <a:ea typeface="宋体" panose="02010600030101010101" pitchFamily="2" charset="-122"/>
              </a:rPr>
              <a:t> = x</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9902" name="直接连接符 260190"/>
          <p:cNvSpPr/>
          <p:nvPr/>
        </p:nvSpPr>
        <p:spPr>
          <a:xfrm>
            <a:off x="8089900" y="4494213"/>
            <a:ext cx="431800" cy="0"/>
          </a:xfrm>
          <a:prstGeom prst="line">
            <a:avLst/>
          </a:prstGeom>
          <a:ln w="25400" cap="flat" cmpd="sng">
            <a:solidFill>
              <a:schemeClr val="tx1"/>
            </a:solidFill>
            <a:prstDash val="solid"/>
            <a:round/>
            <a:headEnd type="none" w="med" len="med"/>
            <a:tailEnd type="none" w="med" len="med"/>
          </a:ln>
        </p:spPr>
      </p:sp>
      <p:sp>
        <p:nvSpPr>
          <p:cNvPr id="119903" name="矩形 260191"/>
          <p:cNvSpPr/>
          <p:nvPr/>
        </p:nvSpPr>
        <p:spPr>
          <a:xfrm>
            <a:off x="6022975" y="4862513"/>
            <a:ext cx="1127125" cy="112871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904" name="直接连接符 260192"/>
          <p:cNvSpPr/>
          <p:nvPr/>
        </p:nvSpPr>
        <p:spPr>
          <a:xfrm flipH="1">
            <a:off x="5397500" y="5845175"/>
            <a:ext cx="482600" cy="0"/>
          </a:xfrm>
          <a:prstGeom prst="line">
            <a:avLst/>
          </a:prstGeom>
          <a:ln w="25400" cap="flat" cmpd="sng">
            <a:solidFill>
              <a:schemeClr val="tx1"/>
            </a:solidFill>
            <a:prstDash val="solid"/>
            <a:round/>
            <a:headEnd type="none" w="med" len="med"/>
            <a:tailEnd type="none" w="med" len="med"/>
          </a:ln>
        </p:spPr>
      </p:sp>
      <p:sp>
        <p:nvSpPr>
          <p:cNvPr id="119905" name="矩形 260193"/>
          <p:cNvSpPr/>
          <p:nvPr/>
        </p:nvSpPr>
        <p:spPr>
          <a:xfrm>
            <a:off x="5329238" y="55276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9906" name="矩形 260194"/>
          <p:cNvSpPr/>
          <p:nvPr/>
        </p:nvSpPr>
        <p:spPr>
          <a:xfrm>
            <a:off x="4633913" y="5060950"/>
            <a:ext cx="942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Data In</a:t>
            </a:r>
            <a:endParaRPr lang="en-US" altLang="zh-CN" sz="1800">
              <a:latin typeface="Arial" panose="020B0604020202020204" pitchFamily="34" charset="0"/>
              <a:ea typeface="宋体" panose="02010600030101010101" pitchFamily="2" charset="-122"/>
            </a:endParaRPr>
          </a:p>
        </p:txBody>
      </p:sp>
      <p:sp>
        <p:nvSpPr>
          <p:cNvPr id="119907" name="直接连接符 260195"/>
          <p:cNvSpPr/>
          <p:nvPr/>
        </p:nvSpPr>
        <p:spPr>
          <a:xfrm>
            <a:off x="6061075" y="5768975"/>
            <a:ext cx="250825" cy="63500"/>
          </a:xfrm>
          <a:prstGeom prst="line">
            <a:avLst/>
          </a:prstGeom>
          <a:ln w="25400" cap="flat" cmpd="sng">
            <a:solidFill>
              <a:schemeClr val="tx1"/>
            </a:solidFill>
            <a:prstDash val="solid"/>
            <a:round/>
            <a:headEnd type="none" w="med" len="med"/>
            <a:tailEnd type="none" w="med" len="med"/>
          </a:ln>
        </p:spPr>
      </p:sp>
      <p:sp>
        <p:nvSpPr>
          <p:cNvPr id="119908" name="直接连接符 260196"/>
          <p:cNvSpPr/>
          <p:nvPr/>
        </p:nvSpPr>
        <p:spPr>
          <a:xfrm flipH="1">
            <a:off x="6035675" y="5857875"/>
            <a:ext cx="301625" cy="98425"/>
          </a:xfrm>
          <a:prstGeom prst="line">
            <a:avLst/>
          </a:prstGeom>
          <a:ln w="25400" cap="flat" cmpd="sng">
            <a:solidFill>
              <a:schemeClr val="tx1"/>
            </a:solidFill>
            <a:prstDash val="solid"/>
            <a:round/>
            <a:headEnd type="none" w="med" len="med"/>
            <a:tailEnd type="none" w="med" len="med"/>
          </a:ln>
        </p:spPr>
      </p:sp>
      <p:sp>
        <p:nvSpPr>
          <p:cNvPr id="119909" name="椭圆 260197"/>
          <p:cNvSpPr/>
          <p:nvPr/>
        </p:nvSpPr>
        <p:spPr>
          <a:xfrm>
            <a:off x="5870575" y="58039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910" name="矩形 260198"/>
          <p:cNvSpPr/>
          <p:nvPr/>
        </p:nvSpPr>
        <p:spPr>
          <a:xfrm>
            <a:off x="6003925" y="4845050"/>
            <a:ext cx="7778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119911" name="直接连接符 260199"/>
          <p:cNvSpPr/>
          <p:nvPr/>
        </p:nvSpPr>
        <p:spPr>
          <a:xfrm flipH="1">
            <a:off x="5016500" y="5062538"/>
            <a:ext cx="1016000" cy="0"/>
          </a:xfrm>
          <a:prstGeom prst="line">
            <a:avLst/>
          </a:prstGeom>
          <a:ln w="25400" cap="flat" cmpd="sng">
            <a:solidFill>
              <a:schemeClr val="tx1"/>
            </a:solidFill>
            <a:prstDash val="solid"/>
            <a:round/>
            <a:headEnd type="triangle" w="med" len="med"/>
            <a:tailEnd type="none" w="med" len="med"/>
          </a:ln>
        </p:spPr>
      </p:sp>
      <p:sp>
        <p:nvSpPr>
          <p:cNvPr id="119912" name="直接连接符 260200"/>
          <p:cNvSpPr/>
          <p:nvPr/>
        </p:nvSpPr>
        <p:spPr>
          <a:xfrm flipH="1">
            <a:off x="5556250" y="4999038"/>
            <a:ext cx="88900" cy="128587"/>
          </a:xfrm>
          <a:prstGeom prst="line">
            <a:avLst/>
          </a:prstGeom>
          <a:ln w="12700" cap="flat" cmpd="sng">
            <a:solidFill>
              <a:schemeClr val="tx1"/>
            </a:solidFill>
            <a:prstDash val="solid"/>
            <a:round/>
            <a:headEnd type="none" w="med" len="med"/>
            <a:tailEnd type="none" w="med" len="med"/>
          </a:ln>
        </p:spPr>
      </p:sp>
      <p:sp>
        <p:nvSpPr>
          <p:cNvPr id="119913" name="矩形 260201"/>
          <p:cNvSpPr/>
          <p:nvPr/>
        </p:nvSpPr>
        <p:spPr>
          <a:xfrm>
            <a:off x="5319713" y="51308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9914" name="直接连接符 260202"/>
          <p:cNvSpPr/>
          <p:nvPr/>
        </p:nvSpPr>
        <p:spPr>
          <a:xfrm flipV="1">
            <a:off x="6324600" y="3559175"/>
            <a:ext cx="0" cy="1303338"/>
          </a:xfrm>
          <a:prstGeom prst="line">
            <a:avLst/>
          </a:prstGeom>
          <a:ln w="25400" cap="flat" cmpd="sng">
            <a:solidFill>
              <a:schemeClr val="tx1"/>
            </a:solidFill>
            <a:prstDash val="solid"/>
            <a:round/>
            <a:headEnd type="triangle" w="med" len="med"/>
            <a:tailEnd type="none" w="med" len="med"/>
          </a:ln>
        </p:spPr>
      </p:sp>
      <p:sp>
        <p:nvSpPr>
          <p:cNvPr id="119915" name="直接连接符 260203"/>
          <p:cNvSpPr/>
          <p:nvPr/>
        </p:nvSpPr>
        <p:spPr>
          <a:xfrm>
            <a:off x="6858000" y="4222750"/>
            <a:ext cx="0" cy="614363"/>
          </a:xfrm>
          <a:prstGeom prst="line">
            <a:avLst/>
          </a:prstGeom>
          <a:ln w="25400" cap="flat" cmpd="sng">
            <a:solidFill>
              <a:schemeClr val="tx1"/>
            </a:solidFill>
            <a:prstDash val="solid"/>
            <a:round/>
            <a:headEnd type="none" w="med" len="med"/>
            <a:tailEnd type="triangle" w="med" len="med"/>
          </a:ln>
        </p:spPr>
      </p:sp>
      <p:sp>
        <p:nvSpPr>
          <p:cNvPr id="119916" name="矩形 260204"/>
          <p:cNvSpPr/>
          <p:nvPr/>
        </p:nvSpPr>
        <p:spPr>
          <a:xfrm>
            <a:off x="6615113" y="4846638"/>
            <a:ext cx="5746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119917" name="矩形 260205"/>
          <p:cNvSpPr/>
          <p:nvPr/>
        </p:nvSpPr>
        <p:spPr>
          <a:xfrm>
            <a:off x="6015038" y="5202238"/>
            <a:ext cx="10572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19918" name="直接连接符 260206"/>
          <p:cNvSpPr/>
          <p:nvPr/>
        </p:nvSpPr>
        <p:spPr>
          <a:xfrm>
            <a:off x="7327900" y="5013325"/>
            <a:ext cx="431800" cy="0"/>
          </a:xfrm>
          <a:prstGeom prst="line">
            <a:avLst/>
          </a:prstGeom>
          <a:ln w="25400" cap="flat" cmpd="sng">
            <a:solidFill>
              <a:schemeClr val="tx1"/>
            </a:solidFill>
            <a:prstDash val="solid"/>
            <a:round/>
            <a:headEnd type="none" w="med" len="med"/>
            <a:tailEnd type="triangle" w="med" len="med"/>
          </a:ln>
        </p:spPr>
      </p:sp>
      <p:sp>
        <p:nvSpPr>
          <p:cNvPr id="119919" name="直接连接符 260207"/>
          <p:cNvSpPr/>
          <p:nvPr/>
        </p:nvSpPr>
        <p:spPr>
          <a:xfrm>
            <a:off x="7315200" y="5041900"/>
            <a:ext cx="0" cy="434975"/>
          </a:xfrm>
          <a:prstGeom prst="line">
            <a:avLst/>
          </a:prstGeom>
          <a:ln w="25400" cap="flat" cmpd="sng">
            <a:solidFill>
              <a:schemeClr val="tx1"/>
            </a:solidFill>
            <a:prstDash val="solid"/>
            <a:round/>
            <a:headEnd type="none" w="med" len="med"/>
            <a:tailEnd type="none" w="med" len="med"/>
          </a:ln>
        </p:spPr>
      </p:sp>
      <p:sp>
        <p:nvSpPr>
          <p:cNvPr id="119920" name="直接连接符 260208"/>
          <p:cNvSpPr/>
          <p:nvPr/>
        </p:nvSpPr>
        <p:spPr>
          <a:xfrm flipH="1">
            <a:off x="7150100" y="5489575"/>
            <a:ext cx="177800" cy="0"/>
          </a:xfrm>
          <a:prstGeom prst="line">
            <a:avLst/>
          </a:prstGeom>
          <a:ln w="25400" cap="flat" cmpd="sng">
            <a:solidFill>
              <a:schemeClr val="tx1"/>
            </a:solidFill>
            <a:prstDash val="solid"/>
            <a:round/>
            <a:headEnd type="none" w="med" len="med"/>
            <a:tailEnd type="none" w="med" len="med"/>
          </a:ln>
        </p:spPr>
      </p:sp>
      <p:sp>
        <p:nvSpPr>
          <p:cNvPr id="119921" name="直接连接符 260209"/>
          <p:cNvSpPr/>
          <p:nvPr/>
        </p:nvSpPr>
        <p:spPr>
          <a:xfrm flipH="1">
            <a:off x="7385050" y="4948238"/>
            <a:ext cx="88900" cy="128587"/>
          </a:xfrm>
          <a:prstGeom prst="line">
            <a:avLst/>
          </a:prstGeom>
          <a:ln w="12700" cap="flat" cmpd="sng">
            <a:solidFill>
              <a:schemeClr val="tx1"/>
            </a:solidFill>
            <a:prstDash val="solid"/>
            <a:round/>
            <a:headEnd type="none" w="med" len="med"/>
            <a:tailEnd type="none" w="med" len="med"/>
          </a:ln>
        </p:spPr>
      </p:sp>
      <p:sp>
        <p:nvSpPr>
          <p:cNvPr id="119922" name="矩形 260210"/>
          <p:cNvSpPr/>
          <p:nvPr/>
        </p:nvSpPr>
        <p:spPr>
          <a:xfrm>
            <a:off x="7148513" y="46497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19923" name="矩形 260211"/>
          <p:cNvSpPr/>
          <p:nvPr/>
        </p:nvSpPr>
        <p:spPr>
          <a:xfrm>
            <a:off x="6310313" y="3513138"/>
            <a:ext cx="13811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MemWr</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9924" name="直接连接符 260212"/>
          <p:cNvSpPr/>
          <p:nvPr/>
        </p:nvSpPr>
        <p:spPr>
          <a:xfrm>
            <a:off x="3810000" y="4508500"/>
            <a:ext cx="0" cy="541338"/>
          </a:xfrm>
          <a:prstGeom prst="line">
            <a:avLst/>
          </a:prstGeom>
          <a:ln w="25400" cap="flat" cmpd="sng">
            <a:solidFill>
              <a:schemeClr val="tx1"/>
            </a:solidFill>
            <a:prstDash val="solid"/>
            <a:round/>
            <a:headEnd type="none" w="med" len="med"/>
            <a:tailEnd type="none" w="med" len="med"/>
          </a:ln>
        </p:spPr>
      </p:sp>
      <p:sp>
        <p:nvSpPr>
          <p:cNvPr id="119925" name="直接连接符 260213"/>
          <p:cNvSpPr/>
          <p:nvPr/>
        </p:nvSpPr>
        <p:spPr>
          <a:xfrm>
            <a:off x="3805238" y="5054600"/>
            <a:ext cx="1211262" cy="7938"/>
          </a:xfrm>
          <a:prstGeom prst="line">
            <a:avLst/>
          </a:prstGeom>
          <a:ln w="25400" cap="flat" cmpd="sng">
            <a:solidFill>
              <a:schemeClr val="tx1"/>
            </a:solidFill>
            <a:prstDash val="solid"/>
            <a:round/>
            <a:headEnd type="none" w="med" len="med"/>
            <a:tailEnd type="none" w="med" len="med"/>
          </a:ln>
        </p:spPr>
      </p:sp>
      <p:sp>
        <p:nvSpPr>
          <p:cNvPr id="119926" name="矩形 260214"/>
          <p:cNvSpPr/>
          <p:nvPr/>
        </p:nvSpPr>
        <p:spPr>
          <a:xfrm rot="5400000">
            <a:off x="5021263" y="4068763"/>
            <a:ext cx="6508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119927" name="矩形 260215"/>
          <p:cNvSpPr/>
          <p:nvPr/>
        </p:nvSpPr>
        <p:spPr>
          <a:xfrm>
            <a:off x="4575175" y="1993900"/>
            <a:ext cx="1203325" cy="873125"/>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928" name="直接连接符 260216"/>
          <p:cNvSpPr/>
          <p:nvPr/>
        </p:nvSpPr>
        <p:spPr>
          <a:xfrm flipH="1">
            <a:off x="3949700" y="2720975"/>
            <a:ext cx="482600" cy="0"/>
          </a:xfrm>
          <a:prstGeom prst="line">
            <a:avLst/>
          </a:prstGeom>
          <a:ln w="25400" cap="flat" cmpd="sng">
            <a:solidFill>
              <a:schemeClr val="tx1"/>
            </a:solidFill>
            <a:prstDash val="solid"/>
            <a:round/>
            <a:headEnd type="none" w="med" len="med"/>
            <a:tailEnd type="none" w="med" len="med"/>
          </a:ln>
        </p:spPr>
      </p:sp>
      <p:sp>
        <p:nvSpPr>
          <p:cNvPr id="119929" name="直接连接符 260217"/>
          <p:cNvSpPr/>
          <p:nvPr/>
        </p:nvSpPr>
        <p:spPr>
          <a:xfrm>
            <a:off x="4613275" y="2644775"/>
            <a:ext cx="250825" cy="63500"/>
          </a:xfrm>
          <a:prstGeom prst="line">
            <a:avLst/>
          </a:prstGeom>
          <a:ln w="25400" cap="flat" cmpd="sng">
            <a:solidFill>
              <a:schemeClr val="tx1"/>
            </a:solidFill>
            <a:prstDash val="solid"/>
            <a:round/>
            <a:headEnd type="none" w="med" len="med"/>
            <a:tailEnd type="none" w="med" len="med"/>
          </a:ln>
        </p:spPr>
      </p:sp>
      <p:sp>
        <p:nvSpPr>
          <p:cNvPr id="119930" name="直接连接符 260218"/>
          <p:cNvSpPr/>
          <p:nvPr/>
        </p:nvSpPr>
        <p:spPr>
          <a:xfrm flipH="1">
            <a:off x="4587875" y="2733675"/>
            <a:ext cx="301625" cy="98425"/>
          </a:xfrm>
          <a:prstGeom prst="line">
            <a:avLst/>
          </a:prstGeom>
          <a:ln w="25400" cap="flat" cmpd="sng">
            <a:solidFill>
              <a:schemeClr val="tx1"/>
            </a:solidFill>
            <a:prstDash val="solid"/>
            <a:round/>
            <a:headEnd type="none" w="med" len="med"/>
            <a:tailEnd type="none" w="med" len="med"/>
          </a:ln>
        </p:spPr>
      </p:sp>
      <p:sp>
        <p:nvSpPr>
          <p:cNvPr id="119931" name="椭圆 260219"/>
          <p:cNvSpPr/>
          <p:nvPr/>
        </p:nvSpPr>
        <p:spPr>
          <a:xfrm>
            <a:off x="4422775" y="26797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932" name="矩形 260220"/>
          <p:cNvSpPr/>
          <p:nvPr/>
        </p:nvSpPr>
        <p:spPr>
          <a:xfrm>
            <a:off x="4494213" y="2078038"/>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Fetch</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Unit</a:t>
            </a:r>
            <a:endParaRPr lang="en-US" altLang="zh-CN" sz="1800">
              <a:latin typeface="Arial" panose="020B0604020202020204" pitchFamily="34" charset="0"/>
              <a:ea typeface="宋体" panose="02010600030101010101" pitchFamily="2" charset="-122"/>
            </a:endParaRPr>
          </a:p>
        </p:txBody>
      </p:sp>
      <p:sp>
        <p:nvSpPr>
          <p:cNvPr id="119933" name="矩形 260221"/>
          <p:cNvSpPr/>
          <p:nvPr/>
        </p:nvSpPr>
        <p:spPr>
          <a:xfrm>
            <a:off x="3500438" y="25304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19934" name="直接连接符 260222"/>
          <p:cNvSpPr/>
          <p:nvPr/>
        </p:nvSpPr>
        <p:spPr>
          <a:xfrm flipV="1">
            <a:off x="5638800" y="2870200"/>
            <a:ext cx="0" cy="1193800"/>
          </a:xfrm>
          <a:prstGeom prst="line">
            <a:avLst/>
          </a:prstGeom>
          <a:ln w="50800" cap="flat" cmpd="sng">
            <a:solidFill>
              <a:schemeClr val="accent1"/>
            </a:solidFill>
            <a:prstDash val="solid"/>
            <a:round/>
            <a:headEnd type="none" w="med" len="med"/>
            <a:tailEnd type="triangle" w="med" len="med"/>
          </a:ln>
        </p:spPr>
      </p:sp>
      <p:sp>
        <p:nvSpPr>
          <p:cNvPr id="119935" name="直接连接符 260223"/>
          <p:cNvSpPr/>
          <p:nvPr/>
        </p:nvSpPr>
        <p:spPr>
          <a:xfrm flipH="1">
            <a:off x="5461000" y="4038600"/>
            <a:ext cx="203200" cy="0"/>
          </a:xfrm>
          <a:prstGeom prst="line">
            <a:avLst/>
          </a:prstGeom>
          <a:ln w="50800" cap="flat" cmpd="sng">
            <a:solidFill>
              <a:schemeClr val="accent1"/>
            </a:solidFill>
            <a:prstDash val="solid"/>
            <a:round/>
            <a:headEnd type="none" w="med" len="med"/>
            <a:tailEnd type="none" w="med" len="med"/>
          </a:ln>
        </p:spPr>
      </p:sp>
      <p:sp>
        <p:nvSpPr>
          <p:cNvPr id="119936" name="矩形 260224"/>
          <p:cNvSpPr/>
          <p:nvPr/>
        </p:nvSpPr>
        <p:spPr>
          <a:xfrm>
            <a:off x="5624513" y="3505200"/>
            <a:ext cx="6762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19937" name="直接连接符 260225"/>
          <p:cNvSpPr/>
          <p:nvPr/>
        </p:nvSpPr>
        <p:spPr>
          <a:xfrm>
            <a:off x="5803900" y="2133600"/>
            <a:ext cx="2489200" cy="0"/>
          </a:xfrm>
          <a:prstGeom prst="line">
            <a:avLst/>
          </a:prstGeom>
          <a:ln w="25400" cap="flat" cmpd="sng">
            <a:solidFill>
              <a:schemeClr val="tx1"/>
            </a:solidFill>
            <a:prstDash val="solid"/>
            <a:round/>
            <a:headEnd type="none" w="med" len="med"/>
            <a:tailEnd type="triangle" w="med" len="med"/>
          </a:ln>
        </p:spPr>
      </p:sp>
      <p:sp>
        <p:nvSpPr>
          <p:cNvPr id="119938" name="矩形 260226"/>
          <p:cNvSpPr/>
          <p:nvPr/>
        </p:nvSpPr>
        <p:spPr>
          <a:xfrm>
            <a:off x="5853113" y="1744663"/>
            <a:ext cx="206692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19939" name="直接连接符 260227"/>
          <p:cNvSpPr/>
          <p:nvPr/>
        </p:nvSpPr>
        <p:spPr>
          <a:xfrm>
            <a:off x="3975100" y="2438400"/>
            <a:ext cx="584200" cy="0"/>
          </a:xfrm>
          <a:prstGeom prst="line">
            <a:avLst/>
          </a:prstGeom>
          <a:ln w="25400" cap="flat" cmpd="sng">
            <a:solidFill>
              <a:schemeClr val="tx1"/>
            </a:solidFill>
            <a:prstDash val="solid"/>
            <a:round/>
            <a:headEnd type="none" w="med" len="med"/>
            <a:tailEnd type="triangle" w="med" len="med"/>
          </a:ln>
        </p:spPr>
      </p:sp>
      <p:sp>
        <p:nvSpPr>
          <p:cNvPr id="119940" name="直接连接符 260228"/>
          <p:cNvSpPr/>
          <p:nvPr/>
        </p:nvSpPr>
        <p:spPr>
          <a:xfrm>
            <a:off x="3975100" y="2133600"/>
            <a:ext cx="584200" cy="0"/>
          </a:xfrm>
          <a:prstGeom prst="line">
            <a:avLst/>
          </a:prstGeom>
          <a:ln w="25400" cap="flat" cmpd="sng">
            <a:solidFill>
              <a:schemeClr val="tx1"/>
            </a:solidFill>
            <a:prstDash val="solid"/>
            <a:round/>
            <a:headEnd type="none" w="med" len="med"/>
            <a:tailEnd type="triangle" w="med" len="med"/>
          </a:ln>
        </p:spPr>
      </p:sp>
      <p:sp>
        <p:nvSpPr>
          <p:cNvPr id="119941" name="矩形 260229"/>
          <p:cNvSpPr/>
          <p:nvPr/>
        </p:nvSpPr>
        <p:spPr>
          <a:xfrm>
            <a:off x="2789238" y="2225675"/>
            <a:ext cx="11779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 =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9942" name="矩形 260230"/>
          <p:cNvSpPr/>
          <p:nvPr/>
        </p:nvSpPr>
        <p:spPr>
          <a:xfrm>
            <a:off x="2636838" y="1844675"/>
            <a:ext cx="13557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 =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19943" name="矩形 260231"/>
          <p:cNvSpPr/>
          <p:nvPr/>
        </p:nvSpPr>
        <p:spPr>
          <a:xfrm>
            <a:off x="7732713" y="40386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9944" name="矩形 260232"/>
          <p:cNvSpPr/>
          <p:nvPr/>
        </p:nvSpPr>
        <p:spPr>
          <a:xfrm>
            <a:off x="7732713" y="48180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9945" name="矩形 260233"/>
          <p:cNvSpPr/>
          <p:nvPr/>
        </p:nvSpPr>
        <p:spPr>
          <a:xfrm>
            <a:off x="4151313" y="42672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9946" name="矩形 260234"/>
          <p:cNvSpPr/>
          <p:nvPr/>
        </p:nvSpPr>
        <p:spPr>
          <a:xfrm>
            <a:off x="4151313" y="50466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9947" name="矩形 260235"/>
          <p:cNvSpPr/>
          <p:nvPr/>
        </p:nvSpPr>
        <p:spPr>
          <a:xfrm>
            <a:off x="22812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19948" name="矩形 260236"/>
          <p:cNvSpPr/>
          <p:nvPr/>
        </p:nvSpPr>
        <p:spPr>
          <a:xfrm>
            <a:off x="15954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19949" name="直接连接符 260237"/>
          <p:cNvSpPr/>
          <p:nvPr/>
        </p:nvSpPr>
        <p:spPr>
          <a:xfrm>
            <a:off x="6096000" y="2146300"/>
            <a:ext cx="0" cy="889000"/>
          </a:xfrm>
          <a:prstGeom prst="line">
            <a:avLst/>
          </a:prstGeom>
          <a:ln w="25400" cap="flat" cmpd="sng">
            <a:solidFill>
              <a:schemeClr val="tx1"/>
            </a:solidFill>
            <a:prstDash val="solid"/>
            <a:round/>
            <a:headEnd type="none" w="med" len="med"/>
            <a:tailEnd type="triangle" w="med" len="med"/>
          </a:ln>
        </p:spPr>
      </p:sp>
      <p:sp>
        <p:nvSpPr>
          <p:cNvPr id="119950" name="矩形 260238"/>
          <p:cNvSpPr/>
          <p:nvPr/>
        </p:nvSpPr>
        <p:spPr>
          <a:xfrm rot="5400000">
            <a:off x="57546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&lt;21:25&gt;</a:t>
            </a:r>
            <a:endParaRPr lang="zh-CN" altLang="en-US" sz="1800" dirty="0">
              <a:latin typeface="Arial" panose="020B0604020202020204" pitchFamily="34" charset="0"/>
              <a:ea typeface="宋体" panose="02010600030101010101" pitchFamily="2" charset="-122"/>
            </a:endParaRPr>
          </a:p>
        </p:txBody>
      </p:sp>
      <p:sp>
        <p:nvSpPr>
          <p:cNvPr id="119951" name="矩形 260239"/>
          <p:cNvSpPr/>
          <p:nvPr/>
        </p:nvSpPr>
        <p:spPr>
          <a:xfrm rot="5400000">
            <a:off x="62880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&lt;16:20&gt;</a:t>
            </a:r>
            <a:endParaRPr lang="zh-CN" altLang="en-US" sz="1800" dirty="0">
              <a:latin typeface="Arial" panose="020B0604020202020204" pitchFamily="34" charset="0"/>
              <a:ea typeface="宋体" panose="02010600030101010101" pitchFamily="2" charset="-122"/>
            </a:endParaRPr>
          </a:p>
        </p:txBody>
      </p:sp>
      <p:sp>
        <p:nvSpPr>
          <p:cNvPr id="119952" name="矩形 260240"/>
          <p:cNvSpPr/>
          <p:nvPr/>
        </p:nvSpPr>
        <p:spPr>
          <a:xfrm rot="5400000">
            <a:off x="68214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&lt;11:15&gt;</a:t>
            </a:r>
            <a:endParaRPr lang="zh-CN" altLang="en-US" sz="1800" dirty="0">
              <a:latin typeface="Arial" panose="020B0604020202020204" pitchFamily="34" charset="0"/>
              <a:ea typeface="宋体" panose="02010600030101010101" pitchFamily="2" charset="-122"/>
            </a:endParaRPr>
          </a:p>
        </p:txBody>
      </p:sp>
      <p:sp>
        <p:nvSpPr>
          <p:cNvPr id="119953" name="矩形 260241"/>
          <p:cNvSpPr/>
          <p:nvPr/>
        </p:nvSpPr>
        <p:spPr>
          <a:xfrm rot="5400000">
            <a:off x="7367588" y="2408238"/>
            <a:ext cx="904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&lt;0:15&gt;</a:t>
            </a:r>
            <a:endParaRPr lang="zh-CN" altLang="en-US" sz="1800" dirty="0">
              <a:latin typeface="Arial" panose="020B0604020202020204" pitchFamily="34" charset="0"/>
              <a:ea typeface="宋体" panose="02010600030101010101" pitchFamily="2" charset="-122"/>
            </a:endParaRPr>
          </a:p>
        </p:txBody>
      </p:sp>
      <p:sp>
        <p:nvSpPr>
          <p:cNvPr id="119954" name="直接连接符 260242"/>
          <p:cNvSpPr/>
          <p:nvPr/>
        </p:nvSpPr>
        <p:spPr>
          <a:xfrm>
            <a:off x="6629400" y="2146300"/>
            <a:ext cx="0" cy="889000"/>
          </a:xfrm>
          <a:prstGeom prst="line">
            <a:avLst/>
          </a:prstGeom>
          <a:ln w="25400" cap="flat" cmpd="sng">
            <a:solidFill>
              <a:schemeClr val="tx1"/>
            </a:solidFill>
            <a:prstDash val="solid"/>
            <a:round/>
            <a:headEnd type="none" w="med" len="med"/>
            <a:tailEnd type="triangle" w="med" len="med"/>
          </a:ln>
        </p:spPr>
      </p:sp>
      <p:sp>
        <p:nvSpPr>
          <p:cNvPr id="119955" name="直接连接符 260243"/>
          <p:cNvSpPr/>
          <p:nvPr/>
        </p:nvSpPr>
        <p:spPr>
          <a:xfrm>
            <a:off x="7162800" y="2146300"/>
            <a:ext cx="0" cy="889000"/>
          </a:xfrm>
          <a:prstGeom prst="line">
            <a:avLst/>
          </a:prstGeom>
          <a:ln w="25400" cap="flat" cmpd="sng">
            <a:solidFill>
              <a:schemeClr val="tx1"/>
            </a:solidFill>
            <a:prstDash val="solid"/>
            <a:round/>
            <a:headEnd type="none" w="med" len="med"/>
            <a:tailEnd type="triangle" w="med" len="med"/>
          </a:ln>
        </p:spPr>
      </p:sp>
      <p:sp>
        <p:nvSpPr>
          <p:cNvPr id="119956" name="直接连接符 260244"/>
          <p:cNvSpPr/>
          <p:nvPr/>
        </p:nvSpPr>
        <p:spPr>
          <a:xfrm>
            <a:off x="7696200" y="2146300"/>
            <a:ext cx="0" cy="889000"/>
          </a:xfrm>
          <a:prstGeom prst="line">
            <a:avLst/>
          </a:prstGeom>
          <a:ln w="25400" cap="flat" cmpd="sng">
            <a:solidFill>
              <a:schemeClr val="tx1"/>
            </a:solidFill>
            <a:prstDash val="solid"/>
            <a:round/>
            <a:headEnd type="none" w="med" len="med"/>
            <a:tailEnd type="triangle" w="med" len="med"/>
          </a:ln>
        </p:spPr>
      </p:sp>
      <p:sp>
        <p:nvSpPr>
          <p:cNvPr id="119957" name="矩形 260245"/>
          <p:cNvSpPr/>
          <p:nvPr/>
        </p:nvSpPr>
        <p:spPr>
          <a:xfrm>
            <a:off x="7453313" y="2971800"/>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19958" name="矩形 260246"/>
          <p:cNvSpPr/>
          <p:nvPr/>
        </p:nvSpPr>
        <p:spPr>
          <a:xfrm>
            <a:off x="6919913" y="2971800"/>
            <a:ext cx="4857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19959" name="矩形 260247"/>
          <p:cNvSpPr/>
          <p:nvPr/>
        </p:nvSpPr>
        <p:spPr>
          <a:xfrm>
            <a:off x="6462713" y="29718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19960" name="矩形 260248"/>
          <p:cNvSpPr/>
          <p:nvPr/>
        </p:nvSpPr>
        <p:spPr>
          <a:xfrm>
            <a:off x="5929313" y="29718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19961" name="文本占位符 260249"/>
          <p:cNvSpPr>
            <a:spLocks noGrp="1"/>
          </p:cNvSpPr>
          <p:nvPr>
            <p:ph idx="1"/>
          </p:nvPr>
        </p:nvSpPr>
        <p:spPr>
          <a:xfrm>
            <a:off x="419100" y="1447800"/>
            <a:ext cx="8191500" cy="325438"/>
          </a:xfrm>
          <a:ln/>
        </p:spPr>
        <p:txBody>
          <a:bodyPr vert="horz" wrap="square" lIns="63500" tIns="25400" rIns="63500" bIns="25400" anchor="t" anchorCtr="0">
            <a:spAutoFit/>
          </a:bodyPr>
          <a:p>
            <a:r>
              <a:rPr lang="en-US" altLang="zh-CN">
                <a:ea typeface="宋体" panose="02010600030101010101" pitchFamily="2" charset="-122"/>
              </a:rPr>
              <a:t>if  (</a:t>
            </a:r>
            <a:r>
              <a:rPr lang="en-US" altLang="zh-CN" dirty="0" err="1">
                <a:ea typeface="宋体" panose="02010600030101010101" pitchFamily="2" charset="-122"/>
              </a:rPr>
              <a:t>R[rs</a:t>
            </a:r>
            <a:r>
              <a:rPr lang="en-US" altLang="zh-CN">
                <a:ea typeface="宋体" panose="02010600030101010101" pitchFamily="2" charset="-122"/>
              </a:rPr>
              <a:t>] - </a:t>
            </a:r>
            <a:r>
              <a:rPr lang="en-US" altLang="zh-CN" dirty="0" err="1">
                <a:ea typeface="宋体" panose="02010600030101010101" pitchFamily="2" charset="-122"/>
              </a:rPr>
              <a:t>R[rt</a:t>
            </a:r>
            <a:r>
              <a:rPr lang="en-US" altLang="zh-CN">
                <a:ea typeface="宋体" panose="02010600030101010101" pitchFamily="2" charset="-122"/>
              </a:rPr>
              <a:t>]  ==  0)   then  Zero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1 ;  else  Zero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0</a:t>
            </a:r>
            <a:endParaRPr lang="en-US" altLang="zh-CN">
              <a:ea typeface="宋体" panose="02010600030101010101" pitchFamily="2" charset="-122"/>
            </a:endParaRPr>
          </a:p>
        </p:txBody>
      </p:sp>
      <p:grpSp>
        <p:nvGrpSpPr>
          <p:cNvPr id="119962" name="组合 260250"/>
          <p:cNvGrpSpPr/>
          <p:nvPr/>
        </p:nvGrpSpPr>
        <p:grpSpPr>
          <a:xfrm>
            <a:off x="1749425" y="609600"/>
            <a:ext cx="5975350" cy="668338"/>
            <a:chOff x="1102" y="384"/>
            <a:chExt cx="3764" cy="421"/>
          </a:xfrm>
        </p:grpSpPr>
        <p:sp>
          <p:nvSpPr>
            <p:cNvPr id="119963" name="矩形 260251"/>
            <p:cNvSpPr/>
            <p:nvPr/>
          </p:nvSpPr>
          <p:spPr>
            <a:xfrm>
              <a:off x="1167" y="584"/>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19964" name="组合 260252"/>
            <p:cNvGrpSpPr/>
            <p:nvPr/>
          </p:nvGrpSpPr>
          <p:grpSpPr>
            <a:xfrm>
              <a:off x="1163" y="576"/>
              <a:ext cx="624" cy="229"/>
              <a:chOff x="1163" y="576"/>
              <a:chExt cx="624" cy="229"/>
            </a:xfrm>
          </p:grpSpPr>
          <p:sp>
            <p:nvSpPr>
              <p:cNvPr id="119965" name="矩形 260253"/>
              <p:cNvSpPr/>
              <p:nvPr/>
            </p:nvSpPr>
            <p:spPr>
              <a:xfrm>
                <a:off x="1163" y="580"/>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966" name="矩形 260254"/>
              <p:cNvSpPr/>
              <p:nvPr/>
            </p:nvSpPr>
            <p:spPr>
              <a:xfrm>
                <a:off x="1345" y="576"/>
                <a:ext cx="2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119967" name="组合 260255"/>
            <p:cNvGrpSpPr/>
            <p:nvPr/>
          </p:nvGrpSpPr>
          <p:grpSpPr>
            <a:xfrm>
              <a:off x="1795" y="576"/>
              <a:ext cx="580" cy="229"/>
              <a:chOff x="1795" y="576"/>
              <a:chExt cx="580" cy="229"/>
            </a:xfrm>
          </p:grpSpPr>
          <p:sp>
            <p:nvSpPr>
              <p:cNvPr id="119968" name="矩形 260256"/>
              <p:cNvSpPr/>
              <p:nvPr/>
            </p:nvSpPr>
            <p:spPr>
              <a:xfrm>
                <a:off x="1795" y="580"/>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969" name="矩形 260257"/>
              <p:cNvSpPr/>
              <p:nvPr/>
            </p:nvSpPr>
            <p:spPr>
              <a:xfrm>
                <a:off x="1960" y="576"/>
                <a:ext cx="250"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119970" name="组合 260258"/>
            <p:cNvGrpSpPr/>
            <p:nvPr/>
          </p:nvGrpSpPr>
          <p:grpSpPr>
            <a:xfrm>
              <a:off x="2383" y="576"/>
              <a:ext cx="579" cy="229"/>
              <a:chOff x="2383" y="576"/>
              <a:chExt cx="579" cy="229"/>
            </a:xfrm>
          </p:grpSpPr>
          <p:sp>
            <p:nvSpPr>
              <p:cNvPr id="119971" name="矩形 260259"/>
              <p:cNvSpPr/>
              <p:nvPr/>
            </p:nvSpPr>
            <p:spPr>
              <a:xfrm>
                <a:off x="2383" y="580"/>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972" name="矩形 260260"/>
              <p:cNvSpPr/>
              <p:nvPr/>
            </p:nvSpPr>
            <p:spPr>
              <a:xfrm>
                <a:off x="2547" y="576"/>
                <a:ext cx="21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119973" name="矩形 260261"/>
            <p:cNvSpPr/>
            <p:nvPr/>
          </p:nvSpPr>
          <p:spPr>
            <a:xfrm>
              <a:off x="2970" y="580"/>
              <a:ext cx="180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19974" name="矩形 260262"/>
            <p:cNvSpPr/>
            <p:nvPr/>
          </p:nvSpPr>
          <p:spPr>
            <a:xfrm>
              <a:off x="3473" y="576"/>
              <a:ext cx="8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119975" name="矩形 260263"/>
            <p:cNvSpPr/>
            <p:nvPr/>
          </p:nvSpPr>
          <p:spPr>
            <a:xfrm>
              <a:off x="4672" y="38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19976" name="矩形 260264"/>
            <p:cNvSpPr/>
            <p:nvPr/>
          </p:nvSpPr>
          <p:spPr>
            <a:xfrm>
              <a:off x="2774"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19977" name="矩形 260265"/>
            <p:cNvSpPr/>
            <p:nvPr/>
          </p:nvSpPr>
          <p:spPr>
            <a:xfrm>
              <a:off x="2186"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119978" name="矩形 260266"/>
            <p:cNvSpPr/>
            <p:nvPr/>
          </p:nvSpPr>
          <p:spPr>
            <a:xfrm>
              <a:off x="1598"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19979" name="矩形 260267"/>
            <p:cNvSpPr/>
            <p:nvPr/>
          </p:nvSpPr>
          <p:spPr>
            <a:xfrm>
              <a:off x="1102" y="384"/>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grpSp>
        <p:nvGrpSpPr>
          <p:cNvPr id="260269" name="组合 260268"/>
          <p:cNvGrpSpPr/>
          <p:nvPr/>
        </p:nvGrpSpPr>
        <p:grpSpPr>
          <a:xfrm>
            <a:off x="2600325" y="3236913"/>
            <a:ext cx="442913" cy="374650"/>
            <a:chOff x="1638" y="2039"/>
            <a:chExt cx="279" cy="236"/>
          </a:xfrm>
        </p:grpSpPr>
        <p:sp>
          <p:nvSpPr>
            <p:cNvPr id="119981" name="直接连接符 260269"/>
            <p:cNvSpPr/>
            <p:nvPr/>
          </p:nvSpPr>
          <p:spPr>
            <a:xfrm>
              <a:off x="1917" y="2039"/>
              <a:ext cx="0" cy="236"/>
            </a:xfrm>
            <a:prstGeom prst="line">
              <a:avLst/>
            </a:prstGeom>
            <a:ln w="50800" cap="flat" cmpd="sng">
              <a:solidFill>
                <a:srgbClr val="0000FF"/>
              </a:solidFill>
              <a:prstDash val="solid"/>
              <a:round/>
              <a:headEnd type="none" w="med" len="med"/>
              <a:tailEnd type="none" w="med" len="med"/>
            </a:ln>
          </p:spPr>
        </p:sp>
        <p:sp>
          <p:nvSpPr>
            <p:cNvPr id="119982" name="直接连接符 260270"/>
            <p:cNvSpPr/>
            <p:nvPr/>
          </p:nvSpPr>
          <p:spPr>
            <a:xfrm>
              <a:off x="1638" y="2039"/>
              <a:ext cx="0" cy="236"/>
            </a:xfrm>
            <a:prstGeom prst="line">
              <a:avLst/>
            </a:prstGeom>
            <a:ln w="50800" cap="flat" cmpd="sng">
              <a:solidFill>
                <a:srgbClr val="0000FF"/>
              </a:solidFill>
              <a:prstDash val="solid"/>
              <a:round/>
              <a:headEnd type="none" w="med" len="med"/>
              <a:tailEnd type="none" w="med" len="med"/>
            </a:ln>
          </p:spPr>
        </p:sp>
      </p:grpSp>
      <p:grpSp>
        <p:nvGrpSpPr>
          <p:cNvPr id="260272" name="组合 260271"/>
          <p:cNvGrpSpPr/>
          <p:nvPr/>
        </p:nvGrpSpPr>
        <p:grpSpPr>
          <a:xfrm>
            <a:off x="3221038" y="3794125"/>
            <a:ext cx="1792287" cy="1962150"/>
            <a:chOff x="2029" y="2390"/>
            <a:chExt cx="1129" cy="1236"/>
          </a:xfrm>
        </p:grpSpPr>
        <p:sp>
          <p:nvSpPr>
            <p:cNvPr id="119984" name="直接连接符 260272"/>
            <p:cNvSpPr/>
            <p:nvPr/>
          </p:nvSpPr>
          <p:spPr>
            <a:xfrm>
              <a:off x="2038" y="2390"/>
              <a:ext cx="1120" cy="0"/>
            </a:xfrm>
            <a:prstGeom prst="line">
              <a:avLst/>
            </a:prstGeom>
            <a:ln w="50800" cap="flat" cmpd="sng">
              <a:solidFill>
                <a:srgbClr val="0000FF"/>
              </a:solidFill>
              <a:prstDash val="solid"/>
              <a:round/>
              <a:headEnd type="none" w="med" len="med"/>
              <a:tailEnd type="triangle" w="med" len="med"/>
            </a:ln>
          </p:spPr>
        </p:sp>
        <p:sp>
          <p:nvSpPr>
            <p:cNvPr id="119985" name="直接连接符 260273"/>
            <p:cNvSpPr/>
            <p:nvPr/>
          </p:nvSpPr>
          <p:spPr>
            <a:xfrm>
              <a:off x="2029" y="2822"/>
              <a:ext cx="592" cy="0"/>
            </a:xfrm>
            <a:prstGeom prst="line">
              <a:avLst/>
            </a:prstGeom>
            <a:ln w="50800" cap="flat" cmpd="sng">
              <a:solidFill>
                <a:srgbClr val="0000FF"/>
              </a:solidFill>
              <a:prstDash val="solid"/>
              <a:round/>
              <a:headEnd type="none" w="med" len="med"/>
              <a:tailEnd type="triangle" w="med" len="med"/>
            </a:ln>
          </p:spPr>
        </p:sp>
        <p:sp>
          <p:nvSpPr>
            <p:cNvPr id="119986" name="直接连接符 260274"/>
            <p:cNvSpPr/>
            <p:nvPr/>
          </p:nvSpPr>
          <p:spPr>
            <a:xfrm>
              <a:off x="2733" y="3374"/>
              <a:ext cx="0" cy="252"/>
            </a:xfrm>
            <a:prstGeom prst="line">
              <a:avLst/>
            </a:prstGeom>
            <a:ln w="25400" cap="flat" cmpd="sng">
              <a:solidFill>
                <a:srgbClr val="0000FF"/>
              </a:solidFill>
              <a:prstDash val="solid"/>
              <a:round/>
              <a:headEnd type="triangle" w="med" len="med"/>
              <a:tailEnd type="none" w="med" len="med"/>
            </a:ln>
          </p:spPr>
        </p:sp>
        <p:sp>
          <p:nvSpPr>
            <p:cNvPr id="119987" name="直接连接符 260275"/>
            <p:cNvSpPr/>
            <p:nvPr/>
          </p:nvSpPr>
          <p:spPr>
            <a:xfrm>
              <a:off x="2854" y="2918"/>
              <a:ext cx="304" cy="0"/>
            </a:xfrm>
            <a:prstGeom prst="line">
              <a:avLst/>
            </a:prstGeom>
            <a:ln w="50800" cap="flat" cmpd="sng">
              <a:solidFill>
                <a:srgbClr val="0000FF"/>
              </a:solidFill>
              <a:prstDash val="solid"/>
              <a:round/>
              <a:headEnd type="none" w="med" len="med"/>
              <a:tailEnd type="triangle" w="med" len="med"/>
            </a:ln>
          </p:spPr>
        </p:sp>
      </p:grpSp>
      <p:sp>
        <p:nvSpPr>
          <p:cNvPr id="260277" name="直接连接符 260276"/>
          <p:cNvSpPr/>
          <p:nvPr/>
        </p:nvSpPr>
        <p:spPr>
          <a:xfrm>
            <a:off x="3970338" y="2128838"/>
            <a:ext cx="584200" cy="0"/>
          </a:xfrm>
          <a:prstGeom prst="line">
            <a:avLst/>
          </a:prstGeom>
          <a:ln w="25400" cap="flat" cmpd="sng">
            <a:solidFill>
              <a:srgbClr val="0000FF"/>
            </a:solidFill>
            <a:prstDash val="solid"/>
            <a:round/>
            <a:headEnd type="none" w="med" len="med"/>
            <a:tailEnd type="triangle" w="med" len="med"/>
          </a:ln>
        </p:spPr>
      </p:sp>
      <p:grpSp>
        <p:nvGrpSpPr>
          <p:cNvPr id="260278" name="组合 260277"/>
          <p:cNvGrpSpPr/>
          <p:nvPr/>
        </p:nvGrpSpPr>
        <p:grpSpPr>
          <a:xfrm>
            <a:off x="5454650" y="2879725"/>
            <a:ext cx="203200" cy="1193800"/>
            <a:chOff x="3446" y="1814"/>
            <a:chExt cx="128" cy="752"/>
          </a:xfrm>
        </p:grpSpPr>
        <p:sp>
          <p:nvSpPr>
            <p:cNvPr id="119990" name="直接连接符 260278"/>
            <p:cNvSpPr/>
            <p:nvPr/>
          </p:nvSpPr>
          <p:spPr>
            <a:xfrm flipV="1">
              <a:off x="3558" y="1814"/>
              <a:ext cx="0" cy="752"/>
            </a:xfrm>
            <a:prstGeom prst="line">
              <a:avLst/>
            </a:prstGeom>
            <a:ln w="50800" cap="flat" cmpd="sng">
              <a:solidFill>
                <a:srgbClr val="0000FF"/>
              </a:solidFill>
              <a:prstDash val="solid"/>
              <a:round/>
              <a:headEnd type="none" w="med" len="med"/>
              <a:tailEnd type="triangle" w="med" len="med"/>
            </a:ln>
          </p:spPr>
        </p:sp>
        <p:sp>
          <p:nvSpPr>
            <p:cNvPr id="119991" name="直接连接符 260279"/>
            <p:cNvSpPr/>
            <p:nvPr/>
          </p:nvSpPr>
          <p:spPr>
            <a:xfrm flipH="1">
              <a:off x="3446" y="2541"/>
              <a:ext cx="128" cy="0"/>
            </a:xfrm>
            <a:prstGeom prst="line">
              <a:avLst/>
            </a:prstGeom>
            <a:ln w="50800" cap="flat" cmpd="sng">
              <a:solidFill>
                <a:srgbClr val="0000FF"/>
              </a:solidFill>
              <a:prstDash val="solid"/>
              <a:round/>
              <a:headEnd type="none" w="med" len="med"/>
              <a:tailEnd type="none" w="med" len="med"/>
            </a:ln>
          </p:spPr>
        </p:sp>
      </p:grpSp>
      <p:sp>
        <p:nvSpPr>
          <p:cNvPr id="260281" name="直接连接符 260280"/>
          <p:cNvSpPr/>
          <p:nvPr/>
        </p:nvSpPr>
        <p:spPr>
          <a:xfrm>
            <a:off x="5253038" y="3284538"/>
            <a:ext cx="0" cy="482600"/>
          </a:xfrm>
          <a:prstGeom prst="line">
            <a:avLst/>
          </a:prstGeom>
          <a:ln w="25400" cap="flat" cmpd="sng">
            <a:solidFill>
              <a:srgbClr val="0000FF"/>
            </a:solidFill>
            <a:prstDash val="solid"/>
            <a:round/>
            <a:headEnd type="non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260269"/>
                                        </p:tgtEl>
                                        <p:attrNameLst>
                                          <p:attrName>style.visibility</p:attrName>
                                        </p:attrNameLst>
                                      </p:cBhvr>
                                      <p:to>
                                        <p:strVal val="visible"/>
                                      </p:to>
                                    </p:set>
                                    <p:animEffect transition="in" filter="slide(fromTop)">
                                      <p:cBhvr>
                                        <p:cTn id="7" dur="500"/>
                                        <p:tgtEl>
                                          <p:spTgt spid="26026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60272"/>
                                        </p:tgtEl>
                                        <p:attrNameLst>
                                          <p:attrName>style.visibility</p:attrName>
                                        </p:attrNameLst>
                                      </p:cBhvr>
                                      <p:to>
                                        <p:strVal val="visible"/>
                                      </p:to>
                                    </p:set>
                                    <p:animEffect transition="in" filter="slide(fromLeft)">
                                      <p:cBhvr>
                                        <p:cTn id="12" dur="500"/>
                                        <p:tgtEl>
                                          <p:spTgt spid="26027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260281"/>
                                        </p:tgtEl>
                                        <p:attrNameLst>
                                          <p:attrName>style.visibility</p:attrName>
                                        </p:attrNameLst>
                                      </p:cBhvr>
                                      <p:to>
                                        <p:strVal val="visible"/>
                                      </p:to>
                                    </p:set>
                                    <p:animEffect transition="in" filter="slide(fromTop)">
                                      <p:cBhvr>
                                        <p:cTn id="17" dur="500"/>
                                        <p:tgtEl>
                                          <p:spTgt spid="26028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60278"/>
                                        </p:tgtEl>
                                        <p:attrNameLst>
                                          <p:attrName>style.visibility</p:attrName>
                                        </p:attrNameLst>
                                      </p:cBhvr>
                                      <p:to>
                                        <p:strVal val="visible"/>
                                      </p:to>
                                    </p:set>
                                    <p:animEffect transition="in" filter="slide(fromBottom)">
                                      <p:cBhvr>
                                        <p:cTn id="22" dur="500"/>
                                        <p:tgtEl>
                                          <p:spTgt spid="26027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260277"/>
                                        </p:tgtEl>
                                        <p:attrNameLst>
                                          <p:attrName>style.visibility</p:attrName>
                                        </p:attrNameLst>
                                      </p:cBhvr>
                                      <p:to>
                                        <p:strVal val="visible"/>
                                      </p:to>
                                    </p:set>
                                    <p:animEffect transition="in" filter="slide(fromLeft)">
                                      <p:cBhvr>
                                        <p:cTn id="27" dur="500"/>
                                        <p:tgtEl>
                                          <p:spTgt spid="260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标题 262145"/>
          <p:cNvSpPr>
            <a:spLocks noGrp="1"/>
          </p:cNvSpPr>
          <p:nvPr>
            <p:ph type="title"/>
          </p:nvPr>
        </p:nvSpPr>
        <p:spPr>
          <a:xfrm>
            <a:off x="-66675" y="203200"/>
            <a:ext cx="9123363" cy="531813"/>
          </a:xfrm>
          <a:ln/>
        </p:spPr>
        <p:txBody>
          <a:bodyPr vert="horz" wrap="square" lIns="63500" tIns="25400" rIns="63500" bIns="25400" anchor="t" anchorCtr="0">
            <a:spAutoFit/>
          </a:bodyPr>
          <a:p>
            <a:r>
              <a:rPr lang="en-US" altLang="zh-CN">
                <a:ea typeface="宋体" panose="02010600030101010101" pitchFamily="2" charset="-122"/>
              </a:rPr>
              <a:t>Branch</a:t>
            </a:r>
            <a:r>
              <a:rPr lang="zh-CN" altLang="en-US" dirty="0">
                <a:ea typeface="宋体" panose="02010600030101010101" pitchFamily="2" charset="-122"/>
              </a:rPr>
              <a:t>指令最后阶段取指部件中的动作</a:t>
            </a:r>
            <a:endParaRPr lang="zh-CN" altLang="en-US" dirty="0">
              <a:ea typeface="宋体" panose="02010600030101010101" pitchFamily="2" charset="-122"/>
            </a:endParaRPr>
          </a:p>
        </p:txBody>
      </p:sp>
      <p:sp>
        <p:nvSpPr>
          <p:cNvPr id="121858" name="直接连接符 262146"/>
          <p:cNvSpPr/>
          <p:nvPr/>
        </p:nvSpPr>
        <p:spPr>
          <a:xfrm>
            <a:off x="1660525" y="3581400"/>
            <a:ext cx="904875" cy="0"/>
          </a:xfrm>
          <a:prstGeom prst="line">
            <a:avLst/>
          </a:prstGeom>
          <a:ln w="50800" cap="flat" cmpd="sng">
            <a:solidFill>
              <a:schemeClr val="accent1"/>
            </a:solidFill>
            <a:prstDash val="solid"/>
            <a:round/>
            <a:headEnd type="none" w="med" len="med"/>
            <a:tailEnd type="triangle" w="med" len="med"/>
          </a:ln>
        </p:spPr>
      </p:sp>
      <p:sp>
        <p:nvSpPr>
          <p:cNvPr id="121859" name="直接连接符 262147"/>
          <p:cNvSpPr/>
          <p:nvPr/>
        </p:nvSpPr>
        <p:spPr>
          <a:xfrm flipH="1">
            <a:off x="2051050" y="3516313"/>
            <a:ext cx="88900" cy="131762"/>
          </a:xfrm>
          <a:prstGeom prst="line">
            <a:avLst/>
          </a:prstGeom>
          <a:ln w="12700" cap="flat" cmpd="sng">
            <a:solidFill>
              <a:schemeClr val="tx1"/>
            </a:solidFill>
            <a:prstDash val="solid"/>
            <a:round/>
            <a:headEnd type="none" w="med" len="med"/>
            <a:tailEnd type="none" w="med" len="med"/>
          </a:ln>
        </p:spPr>
      </p:sp>
      <p:sp>
        <p:nvSpPr>
          <p:cNvPr id="121860" name="矩形 262148"/>
          <p:cNvSpPr/>
          <p:nvPr/>
        </p:nvSpPr>
        <p:spPr>
          <a:xfrm>
            <a:off x="1814513" y="36512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1861" name="直接连接符 262149"/>
          <p:cNvSpPr/>
          <p:nvPr/>
        </p:nvSpPr>
        <p:spPr>
          <a:xfrm>
            <a:off x="3213100" y="3810000"/>
            <a:ext cx="1574800" cy="0"/>
          </a:xfrm>
          <a:prstGeom prst="line">
            <a:avLst/>
          </a:prstGeom>
          <a:ln w="25400" cap="flat" cmpd="sng">
            <a:solidFill>
              <a:schemeClr val="tx1"/>
            </a:solidFill>
            <a:prstDash val="solid"/>
            <a:round/>
            <a:headEnd type="none" w="med" len="med"/>
            <a:tailEnd type="triangle" w="med" len="med"/>
          </a:ln>
        </p:spPr>
      </p:sp>
      <p:sp>
        <p:nvSpPr>
          <p:cNvPr id="121862" name="直接连接符 262150"/>
          <p:cNvSpPr/>
          <p:nvPr/>
        </p:nvSpPr>
        <p:spPr>
          <a:xfrm flipH="1">
            <a:off x="4337050" y="3740150"/>
            <a:ext cx="88900" cy="166688"/>
          </a:xfrm>
          <a:prstGeom prst="line">
            <a:avLst/>
          </a:prstGeom>
          <a:ln w="12700" cap="flat" cmpd="sng">
            <a:solidFill>
              <a:schemeClr val="tx1"/>
            </a:solidFill>
            <a:prstDash val="solid"/>
            <a:round/>
            <a:headEnd type="none" w="med" len="med"/>
            <a:tailEnd type="none" w="med" len="med"/>
          </a:ln>
        </p:spPr>
      </p:sp>
      <p:sp>
        <p:nvSpPr>
          <p:cNvPr id="121863" name="矩形 262151"/>
          <p:cNvSpPr/>
          <p:nvPr/>
        </p:nvSpPr>
        <p:spPr>
          <a:xfrm>
            <a:off x="4176713" y="39147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1864" name="矩形 262152"/>
          <p:cNvSpPr/>
          <p:nvPr/>
        </p:nvSpPr>
        <p:spPr>
          <a:xfrm rot="5400000">
            <a:off x="2243138" y="5110163"/>
            <a:ext cx="1031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SignExt</a:t>
            </a:r>
            <a:endParaRPr lang="en-US" altLang="zh-CN" sz="1800">
              <a:latin typeface="Arial" panose="020B0604020202020204" pitchFamily="34" charset="0"/>
              <a:ea typeface="宋体" panose="02010600030101010101" pitchFamily="2" charset="-122"/>
            </a:endParaRPr>
          </a:p>
        </p:txBody>
      </p:sp>
      <p:sp>
        <p:nvSpPr>
          <p:cNvPr id="121865" name="直接连接符 262153"/>
          <p:cNvSpPr/>
          <p:nvPr/>
        </p:nvSpPr>
        <p:spPr>
          <a:xfrm>
            <a:off x="4140200" y="4643438"/>
            <a:ext cx="635000" cy="0"/>
          </a:xfrm>
          <a:prstGeom prst="line">
            <a:avLst/>
          </a:prstGeom>
          <a:ln w="50800" cap="flat" cmpd="sng">
            <a:solidFill>
              <a:schemeClr val="accent1"/>
            </a:solidFill>
            <a:prstDash val="solid"/>
            <a:round/>
            <a:headEnd type="none" w="med" len="med"/>
            <a:tailEnd type="triangle" w="med" len="med"/>
          </a:ln>
        </p:spPr>
      </p:sp>
      <p:sp>
        <p:nvSpPr>
          <p:cNvPr id="121866" name="矩形 262154"/>
          <p:cNvSpPr/>
          <p:nvPr/>
        </p:nvSpPr>
        <p:spPr>
          <a:xfrm>
            <a:off x="4195763" y="47545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1867" name="直接连接符 262155"/>
          <p:cNvSpPr/>
          <p:nvPr/>
        </p:nvSpPr>
        <p:spPr>
          <a:xfrm flipH="1">
            <a:off x="4337050" y="4578350"/>
            <a:ext cx="88900" cy="139700"/>
          </a:xfrm>
          <a:prstGeom prst="line">
            <a:avLst/>
          </a:prstGeom>
          <a:ln w="12700" cap="flat" cmpd="sng">
            <a:solidFill>
              <a:schemeClr val="tx1"/>
            </a:solidFill>
            <a:prstDash val="solid"/>
            <a:round/>
            <a:headEnd type="none" w="med" len="med"/>
            <a:tailEnd type="none" w="med" len="med"/>
          </a:ln>
        </p:spPr>
      </p:sp>
      <p:sp>
        <p:nvSpPr>
          <p:cNvPr id="121868" name="直接连接符 262156"/>
          <p:cNvSpPr/>
          <p:nvPr/>
        </p:nvSpPr>
        <p:spPr>
          <a:xfrm>
            <a:off x="1930400" y="5334000"/>
            <a:ext cx="635000" cy="0"/>
          </a:xfrm>
          <a:prstGeom prst="line">
            <a:avLst/>
          </a:prstGeom>
          <a:ln w="50800" cap="flat" cmpd="sng">
            <a:solidFill>
              <a:schemeClr val="accent1"/>
            </a:solidFill>
            <a:prstDash val="solid"/>
            <a:round/>
            <a:headEnd type="none" w="med" len="med"/>
            <a:tailEnd type="triangle" w="med" len="med"/>
          </a:ln>
        </p:spPr>
      </p:sp>
      <p:sp>
        <p:nvSpPr>
          <p:cNvPr id="121869" name="直接连接符 262157"/>
          <p:cNvSpPr/>
          <p:nvPr/>
        </p:nvSpPr>
        <p:spPr>
          <a:xfrm flipH="1">
            <a:off x="2127250" y="5251450"/>
            <a:ext cx="88900" cy="133350"/>
          </a:xfrm>
          <a:prstGeom prst="line">
            <a:avLst/>
          </a:prstGeom>
          <a:ln w="12700" cap="flat" cmpd="sng">
            <a:solidFill>
              <a:schemeClr val="tx1"/>
            </a:solidFill>
            <a:prstDash val="solid"/>
            <a:round/>
            <a:headEnd type="none" w="med" len="med"/>
            <a:tailEnd type="none" w="med" len="med"/>
          </a:ln>
        </p:spPr>
      </p:sp>
      <p:sp>
        <p:nvSpPr>
          <p:cNvPr id="121870" name="矩形 262158"/>
          <p:cNvSpPr/>
          <p:nvPr/>
        </p:nvSpPr>
        <p:spPr>
          <a:xfrm>
            <a:off x="1992313" y="4986338"/>
            <a:ext cx="434975" cy="363537"/>
          </a:xfrm>
          <a:prstGeom prst="rect">
            <a:avLst/>
          </a:prstGeom>
          <a:noFill/>
          <a:ln w="12700">
            <a:noFill/>
          </a:ln>
        </p:spPr>
        <p:txBody>
          <a:bodyPr wrap="none" lIns="90488" tIns="44450" rIns="90488" bIns="44450" anchor="t" anchorCtr="0">
            <a:spAutoFit/>
          </a:bodyPr>
          <a:p>
            <a:pPr eaLnBrk="0" hangingPunct="0"/>
            <a:r>
              <a:rPr lang="zh-CN" altLang="en-US" sz="1800" b="0" dirty="0">
                <a:latin typeface="Arial" panose="020B0604020202020204" pitchFamily="34" charset="0"/>
                <a:ea typeface="宋体" panose="02010600030101010101" pitchFamily="2" charset="-122"/>
              </a:rPr>
              <a:t>16</a:t>
            </a:r>
            <a:endParaRPr lang="zh-CN" altLang="en-US" sz="1800" b="0" dirty="0">
              <a:latin typeface="Arial" panose="020B0604020202020204" pitchFamily="34" charset="0"/>
              <a:ea typeface="宋体" panose="02010600030101010101" pitchFamily="2" charset="-122"/>
            </a:endParaRPr>
          </a:p>
        </p:txBody>
      </p:sp>
      <p:sp>
        <p:nvSpPr>
          <p:cNvPr id="121871" name="矩形 262159"/>
          <p:cNvSpPr/>
          <p:nvPr/>
        </p:nvSpPr>
        <p:spPr>
          <a:xfrm>
            <a:off x="950913" y="5145088"/>
            <a:ext cx="9048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21872" name="直接连接符 262160"/>
          <p:cNvSpPr/>
          <p:nvPr/>
        </p:nvSpPr>
        <p:spPr>
          <a:xfrm>
            <a:off x="2082800" y="4449763"/>
            <a:ext cx="482600" cy="0"/>
          </a:xfrm>
          <a:prstGeom prst="line">
            <a:avLst/>
          </a:prstGeom>
          <a:ln w="50800" cap="flat" cmpd="sng">
            <a:solidFill>
              <a:schemeClr val="accent1"/>
            </a:solidFill>
            <a:prstDash val="solid"/>
            <a:round/>
            <a:headEnd type="none" w="med" len="med"/>
            <a:tailEnd type="triangle" w="med" len="med"/>
          </a:ln>
        </p:spPr>
      </p:sp>
      <p:sp>
        <p:nvSpPr>
          <p:cNvPr id="121873" name="矩形 262161"/>
          <p:cNvSpPr/>
          <p:nvPr/>
        </p:nvSpPr>
        <p:spPr>
          <a:xfrm>
            <a:off x="2603500" y="48133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21874" name="组合 262162"/>
          <p:cNvGrpSpPr/>
          <p:nvPr/>
        </p:nvGrpSpPr>
        <p:grpSpPr>
          <a:xfrm>
            <a:off x="4729163" y="3563938"/>
            <a:ext cx="376237" cy="1325562"/>
            <a:chOff x="2979" y="2245"/>
            <a:chExt cx="237" cy="835"/>
          </a:xfrm>
        </p:grpSpPr>
        <p:grpSp>
          <p:nvGrpSpPr>
            <p:cNvPr id="121875" name="组合 262163"/>
            <p:cNvGrpSpPr/>
            <p:nvPr/>
          </p:nvGrpSpPr>
          <p:grpSpPr>
            <a:xfrm>
              <a:off x="3024" y="2245"/>
              <a:ext cx="192" cy="835"/>
              <a:chOff x="3024" y="2245"/>
              <a:chExt cx="192" cy="835"/>
            </a:xfrm>
          </p:grpSpPr>
          <p:sp>
            <p:nvSpPr>
              <p:cNvPr id="121876" name="直接连接符 262164"/>
              <p:cNvSpPr/>
              <p:nvPr/>
            </p:nvSpPr>
            <p:spPr>
              <a:xfrm>
                <a:off x="3024" y="2245"/>
                <a:ext cx="0" cy="819"/>
              </a:xfrm>
              <a:prstGeom prst="line">
                <a:avLst/>
              </a:prstGeom>
              <a:ln w="25400" cap="flat" cmpd="sng">
                <a:solidFill>
                  <a:schemeClr val="tx1"/>
                </a:solidFill>
                <a:prstDash val="solid"/>
                <a:round/>
                <a:headEnd type="none" w="med" len="med"/>
                <a:tailEnd type="none" w="med" len="med"/>
              </a:ln>
            </p:spPr>
          </p:sp>
          <p:sp>
            <p:nvSpPr>
              <p:cNvPr id="121877" name="直接连接符 262165"/>
              <p:cNvSpPr/>
              <p:nvPr/>
            </p:nvSpPr>
            <p:spPr>
              <a:xfrm>
                <a:off x="3032" y="2245"/>
                <a:ext cx="176" cy="95"/>
              </a:xfrm>
              <a:prstGeom prst="line">
                <a:avLst/>
              </a:prstGeom>
              <a:ln w="25400" cap="flat" cmpd="sng">
                <a:solidFill>
                  <a:schemeClr val="tx1"/>
                </a:solidFill>
                <a:prstDash val="solid"/>
                <a:round/>
                <a:headEnd type="none" w="med" len="med"/>
                <a:tailEnd type="none" w="med" len="med"/>
              </a:ln>
            </p:spPr>
          </p:sp>
          <p:sp>
            <p:nvSpPr>
              <p:cNvPr id="121878" name="直接连接符 262166"/>
              <p:cNvSpPr/>
              <p:nvPr/>
            </p:nvSpPr>
            <p:spPr>
              <a:xfrm flipV="1">
                <a:off x="3032" y="2953"/>
                <a:ext cx="176" cy="127"/>
              </a:xfrm>
              <a:prstGeom prst="line">
                <a:avLst/>
              </a:prstGeom>
              <a:ln w="25400" cap="flat" cmpd="sng">
                <a:solidFill>
                  <a:schemeClr val="tx1"/>
                </a:solidFill>
                <a:prstDash val="solid"/>
                <a:round/>
                <a:headEnd type="none" w="med" len="med"/>
                <a:tailEnd type="none" w="med" len="med"/>
              </a:ln>
            </p:spPr>
          </p:sp>
          <p:sp>
            <p:nvSpPr>
              <p:cNvPr id="121879" name="直接连接符 262167"/>
              <p:cNvSpPr/>
              <p:nvPr/>
            </p:nvSpPr>
            <p:spPr>
              <a:xfrm>
                <a:off x="3216" y="2356"/>
                <a:ext cx="0" cy="597"/>
              </a:xfrm>
              <a:prstGeom prst="line">
                <a:avLst/>
              </a:prstGeom>
              <a:ln w="25400" cap="flat" cmpd="sng">
                <a:solidFill>
                  <a:schemeClr val="tx1"/>
                </a:solidFill>
                <a:prstDash val="solid"/>
                <a:round/>
                <a:headEnd type="none" w="med" len="med"/>
                <a:tailEnd type="none" w="med" len="med"/>
              </a:ln>
            </p:spPr>
          </p:sp>
        </p:grpSp>
        <p:sp>
          <p:nvSpPr>
            <p:cNvPr id="121880" name="矩形 262168"/>
            <p:cNvSpPr/>
            <p:nvPr/>
          </p:nvSpPr>
          <p:spPr>
            <a:xfrm rot="5400000">
              <a:off x="2888" y="2562"/>
              <a:ext cx="402"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21881" name="矩形 262169"/>
            <p:cNvSpPr/>
            <p:nvPr/>
          </p:nvSpPr>
          <p:spPr>
            <a:xfrm>
              <a:off x="3015" y="2325"/>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21882" name="矩形 262170"/>
            <p:cNvSpPr/>
            <p:nvPr/>
          </p:nvSpPr>
          <p:spPr>
            <a:xfrm>
              <a:off x="3015" y="2795"/>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grpSp>
      <p:grpSp>
        <p:nvGrpSpPr>
          <p:cNvPr id="121883" name="组合 262171"/>
          <p:cNvGrpSpPr/>
          <p:nvPr/>
        </p:nvGrpSpPr>
        <p:grpSpPr>
          <a:xfrm>
            <a:off x="2590800" y="3449638"/>
            <a:ext cx="476250" cy="1157287"/>
            <a:chOff x="1632" y="2173"/>
            <a:chExt cx="300" cy="729"/>
          </a:xfrm>
        </p:grpSpPr>
        <p:grpSp>
          <p:nvGrpSpPr>
            <p:cNvPr id="121884" name="组合 262172"/>
            <p:cNvGrpSpPr/>
            <p:nvPr/>
          </p:nvGrpSpPr>
          <p:grpSpPr>
            <a:xfrm>
              <a:off x="1632" y="2173"/>
              <a:ext cx="288" cy="729"/>
              <a:chOff x="1632" y="2173"/>
              <a:chExt cx="288" cy="729"/>
            </a:xfrm>
          </p:grpSpPr>
          <p:sp>
            <p:nvSpPr>
              <p:cNvPr id="121885" name="直接连接符 262173"/>
              <p:cNvSpPr/>
              <p:nvPr/>
            </p:nvSpPr>
            <p:spPr>
              <a:xfrm>
                <a:off x="1632" y="2173"/>
                <a:ext cx="0" cy="166"/>
              </a:xfrm>
              <a:prstGeom prst="line">
                <a:avLst/>
              </a:prstGeom>
              <a:ln w="25400" cap="flat" cmpd="sng">
                <a:solidFill>
                  <a:schemeClr val="tx1"/>
                </a:solidFill>
                <a:prstDash val="solid"/>
                <a:round/>
                <a:headEnd type="none" w="med" len="med"/>
                <a:tailEnd type="none" w="med" len="med"/>
              </a:ln>
            </p:spPr>
          </p:sp>
          <p:sp>
            <p:nvSpPr>
              <p:cNvPr id="121886" name="直接连接符 262174"/>
              <p:cNvSpPr/>
              <p:nvPr/>
            </p:nvSpPr>
            <p:spPr>
              <a:xfrm>
                <a:off x="1640" y="2173"/>
                <a:ext cx="272" cy="166"/>
              </a:xfrm>
              <a:prstGeom prst="line">
                <a:avLst/>
              </a:prstGeom>
              <a:ln w="25400" cap="flat" cmpd="sng">
                <a:solidFill>
                  <a:schemeClr val="tx1"/>
                </a:solidFill>
                <a:prstDash val="solid"/>
                <a:round/>
                <a:headEnd type="none" w="med" len="med"/>
                <a:tailEnd type="none" w="med" len="med"/>
              </a:ln>
            </p:spPr>
          </p:sp>
          <p:sp>
            <p:nvSpPr>
              <p:cNvPr id="121887" name="直接连接符 262175"/>
              <p:cNvSpPr/>
              <p:nvPr/>
            </p:nvSpPr>
            <p:spPr>
              <a:xfrm>
                <a:off x="1640" y="2355"/>
                <a:ext cx="128" cy="76"/>
              </a:xfrm>
              <a:prstGeom prst="line">
                <a:avLst/>
              </a:prstGeom>
              <a:ln w="25400" cap="flat" cmpd="sng">
                <a:solidFill>
                  <a:schemeClr val="tx1"/>
                </a:solidFill>
                <a:prstDash val="solid"/>
                <a:round/>
                <a:headEnd type="none" w="med" len="med"/>
                <a:tailEnd type="none" w="med" len="med"/>
              </a:ln>
            </p:spPr>
          </p:sp>
          <p:sp>
            <p:nvSpPr>
              <p:cNvPr id="121888" name="直接连接符 262176"/>
              <p:cNvSpPr/>
              <p:nvPr/>
            </p:nvSpPr>
            <p:spPr>
              <a:xfrm>
                <a:off x="1776" y="2447"/>
                <a:ext cx="0" cy="166"/>
              </a:xfrm>
              <a:prstGeom prst="line">
                <a:avLst/>
              </a:prstGeom>
              <a:ln w="25400" cap="flat" cmpd="sng">
                <a:solidFill>
                  <a:schemeClr val="tx1"/>
                </a:solidFill>
                <a:prstDash val="solid"/>
                <a:round/>
                <a:headEnd type="none" w="med" len="med"/>
                <a:tailEnd type="none" w="med" len="med"/>
              </a:ln>
            </p:spPr>
          </p:sp>
          <p:sp>
            <p:nvSpPr>
              <p:cNvPr id="121889" name="直接连接符 262177"/>
              <p:cNvSpPr/>
              <p:nvPr/>
            </p:nvSpPr>
            <p:spPr>
              <a:xfrm>
                <a:off x="1920" y="2355"/>
                <a:ext cx="0" cy="349"/>
              </a:xfrm>
              <a:prstGeom prst="line">
                <a:avLst/>
              </a:prstGeom>
              <a:ln w="25400" cap="flat" cmpd="sng">
                <a:solidFill>
                  <a:schemeClr val="tx1"/>
                </a:solidFill>
                <a:prstDash val="solid"/>
                <a:round/>
                <a:headEnd type="none" w="med" len="med"/>
                <a:tailEnd type="none" w="med" len="med"/>
              </a:ln>
            </p:spPr>
          </p:sp>
          <p:sp>
            <p:nvSpPr>
              <p:cNvPr id="121890" name="直接连接符 262178"/>
              <p:cNvSpPr/>
              <p:nvPr/>
            </p:nvSpPr>
            <p:spPr>
              <a:xfrm flipV="1">
                <a:off x="1640" y="2613"/>
                <a:ext cx="128" cy="107"/>
              </a:xfrm>
              <a:prstGeom prst="line">
                <a:avLst/>
              </a:prstGeom>
              <a:ln w="25400" cap="flat" cmpd="sng">
                <a:solidFill>
                  <a:schemeClr val="tx1"/>
                </a:solidFill>
                <a:prstDash val="solid"/>
                <a:round/>
                <a:headEnd type="none" w="med" len="med"/>
                <a:tailEnd type="none" w="med" len="med"/>
              </a:ln>
            </p:spPr>
          </p:sp>
          <p:sp>
            <p:nvSpPr>
              <p:cNvPr id="121891" name="直接连接符 262179"/>
              <p:cNvSpPr/>
              <p:nvPr/>
            </p:nvSpPr>
            <p:spPr>
              <a:xfrm>
                <a:off x="1632" y="2720"/>
                <a:ext cx="0" cy="166"/>
              </a:xfrm>
              <a:prstGeom prst="line">
                <a:avLst/>
              </a:prstGeom>
              <a:ln w="25400" cap="flat" cmpd="sng">
                <a:solidFill>
                  <a:schemeClr val="tx1"/>
                </a:solidFill>
                <a:prstDash val="solid"/>
                <a:round/>
                <a:headEnd type="none" w="med" len="med"/>
                <a:tailEnd type="none" w="med" len="med"/>
              </a:ln>
            </p:spPr>
          </p:sp>
          <p:sp>
            <p:nvSpPr>
              <p:cNvPr id="121892" name="直接连接符 262180"/>
              <p:cNvSpPr/>
              <p:nvPr/>
            </p:nvSpPr>
            <p:spPr>
              <a:xfrm flipV="1">
                <a:off x="1640" y="2704"/>
                <a:ext cx="272" cy="198"/>
              </a:xfrm>
              <a:prstGeom prst="line">
                <a:avLst/>
              </a:prstGeom>
              <a:ln w="25400" cap="flat" cmpd="sng">
                <a:solidFill>
                  <a:schemeClr val="tx1"/>
                </a:solidFill>
                <a:prstDash val="solid"/>
                <a:round/>
                <a:headEnd type="none" w="med" len="med"/>
                <a:tailEnd type="none" w="med" len="med"/>
              </a:ln>
            </p:spPr>
          </p:sp>
        </p:grpSp>
        <p:sp>
          <p:nvSpPr>
            <p:cNvPr id="121893" name="矩形 262181"/>
            <p:cNvSpPr/>
            <p:nvPr/>
          </p:nvSpPr>
          <p:spPr>
            <a:xfrm rot="5400000">
              <a:off x="1548" y="2456"/>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grpSp>
      <p:sp>
        <p:nvSpPr>
          <p:cNvPr id="121894" name="矩形 262182"/>
          <p:cNvSpPr/>
          <p:nvPr/>
        </p:nvSpPr>
        <p:spPr>
          <a:xfrm>
            <a:off x="1814513" y="4114800"/>
            <a:ext cx="5365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grpSp>
        <p:nvGrpSpPr>
          <p:cNvPr id="121895" name="组合 262183"/>
          <p:cNvGrpSpPr/>
          <p:nvPr/>
        </p:nvGrpSpPr>
        <p:grpSpPr>
          <a:xfrm>
            <a:off x="1308100" y="2984500"/>
            <a:ext cx="585788" cy="2103438"/>
            <a:chOff x="824" y="1880"/>
            <a:chExt cx="369" cy="1325"/>
          </a:xfrm>
        </p:grpSpPr>
        <p:sp>
          <p:nvSpPr>
            <p:cNvPr id="121896" name="矩形 262184"/>
            <p:cNvSpPr/>
            <p:nvPr/>
          </p:nvSpPr>
          <p:spPr>
            <a:xfrm>
              <a:off x="872" y="1880"/>
              <a:ext cx="176" cy="75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1897" name="椭圆 262185"/>
            <p:cNvSpPr/>
            <p:nvPr/>
          </p:nvSpPr>
          <p:spPr>
            <a:xfrm>
              <a:off x="920" y="2648"/>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1898" name="直接连接符 262186"/>
            <p:cNvSpPr/>
            <p:nvPr/>
          </p:nvSpPr>
          <p:spPr>
            <a:xfrm>
              <a:off x="960" y="2744"/>
              <a:ext cx="0" cy="224"/>
            </a:xfrm>
            <a:prstGeom prst="line">
              <a:avLst/>
            </a:prstGeom>
            <a:ln w="25400" cap="flat" cmpd="sng">
              <a:solidFill>
                <a:schemeClr val="tx1"/>
              </a:solidFill>
              <a:prstDash val="solid"/>
              <a:round/>
              <a:headEnd type="none" w="med" len="med"/>
              <a:tailEnd type="none" w="med" len="med"/>
            </a:ln>
          </p:spPr>
        </p:sp>
        <p:sp>
          <p:nvSpPr>
            <p:cNvPr id="121899" name="矩形 262187"/>
            <p:cNvSpPr/>
            <p:nvPr/>
          </p:nvSpPr>
          <p:spPr>
            <a:xfrm rot="5400000">
              <a:off x="777" y="2208"/>
              <a:ext cx="31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121900" name="矩形 262188"/>
            <p:cNvSpPr/>
            <p:nvPr/>
          </p:nvSpPr>
          <p:spPr>
            <a:xfrm>
              <a:off x="855" y="2976"/>
              <a:ext cx="338" cy="229"/>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grpSp>
      <p:grpSp>
        <p:nvGrpSpPr>
          <p:cNvPr id="121901" name="组合 262189"/>
          <p:cNvGrpSpPr/>
          <p:nvPr/>
        </p:nvGrpSpPr>
        <p:grpSpPr>
          <a:xfrm>
            <a:off x="3657600" y="4059238"/>
            <a:ext cx="476250" cy="1157287"/>
            <a:chOff x="2304" y="2557"/>
            <a:chExt cx="300" cy="729"/>
          </a:xfrm>
        </p:grpSpPr>
        <p:grpSp>
          <p:nvGrpSpPr>
            <p:cNvPr id="121902" name="组合 262190"/>
            <p:cNvGrpSpPr/>
            <p:nvPr/>
          </p:nvGrpSpPr>
          <p:grpSpPr>
            <a:xfrm>
              <a:off x="2304" y="2557"/>
              <a:ext cx="288" cy="729"/>
              <a:chOff x="2304" y="2557"/>
              <a:chExt cx="288" cy="729"/>
            </a:xfrm>
          </p:grpSpPr>
          <p:sp>
            <p:nvSpPr>
              <p:cNvPr id="121903" name="直接连接符 262191"/>
              <p:cNvSpPr/>
              <p:nvPr/>
            </p:nvSpPr>
            <p:spPr>
              <a:xfrm>
                <a:off x="2304" y="2557"/>
                <a:ext cx="0" cy="166"/>
              </a:xfrm>
              <a:prstGeom prst="line">
                <a:avLst/>
              </a:prstGeom>
              <a:ln w="25400" cap="flat" cmpd="sng">
                <a:solidFill>
                  <a:schemeClr val="tx1"/>
                </a:solidFill>
                <a:prstDash val="solid"/>
                <a:round/>
                <a:headEnd type="none" w="med" len="med"/>
                <a:tailEnd type="none" w="med" len="med"/>
              </a:ln>
            </p:spPr>
          </p:sp>
          <p:sp>
            <p:nvSpPr>
              <p:cNvPr id="121904" name="直接连接符 262192"/>
              <p:cNvSpPr/>
              <p:nvPr/>
            </p:nvSpPr>
            <p:spPr>
              <a:xfrm>
                <a:off x="2312" y="2557"/>
                <a:ext cx="272" cy="166"/>
              </a:xfrm>
              <a:prstGeom prst="line">
                <a:avLst/>
              </a:prstGeom>
              <a:ln w="25400" cap="flat" cmpd="sng">
                <a:solidFill>
                  <a:schemeClr val="tx1"/>
                </a:solidFill>
                <a:prstDash val="solid"/>
                <a:round/>
                <a:headEnd type="none" w="med" len="med"/>
                <a:tailEnd type="none" w="med" len="med"/>
              </a:ln>
            </p:spPr>
          </p:sp>
          <p:sp>
            <p:nvSpPr>
              <p:cNvPr id="121905" name="直接连接符 262193"/>
              <p:cNvSpPr/>
              <p:nvPr/>
            </p:nvSpPr>
            <p:spPr>
              <a:xfrm>
                <a:off x="2312" y="2739"/>
                <a:ext cx="128" cy="76"/>
              </a:xfrm>
              <a:prstGeom prst="line">
                <a:avLst/>
              </a:prstGeom>
              <a:ln w="25400" cap="flat" cmpd="sng">
                <a:solidFill>
                  <a:schemeClr val="tx1"/>
                </a:solidFill>
                <a:prstDash val="solid"/>
                <a:round/>
                <a:headEnd type="none" w="med" len="med"/>
                <a:tailEnd type="none" w="med" len="med"/>
              </a:ln>
            </p:spPr>
          </p:sp>
          <p:sp>
            <p:nvSpPr>
              <p:cNvPr id="121906" name="直接连接符 262194"/>
              <p:cNvSpPr/>
              <p:nvPr/>
            </p:nvSpPr>
            <p:spPr>
              <a:xfrm>
                <a:off x="2448" y="2831"/>
                <a:ext cx="0" cy="166"/>
              </a:xfrm>
              <a:prstGeom prst="line">
                <a:avLst/>
              </a:prstGeom>
              <a:ln w="25400" cap="flat" cmpd="sng">
                <a:solidFill>
                  <a:schemeClr val="tx1"/>
                </a:solidFill>
                <a:prstDash val="solid"/>
                <a:round/>
                <a:headEnd type="none" w="med" len="med"/>
                <a:tailEnd type="none" w="med" len="med"/>
              </a:ln>
            </p:spPr>
          </p:sp>
          <p:sp>
            <p:nvSpPr>
              <p:cNvPr id="121907" name="直接连接符 262195"/>
              <p:cNvSpPr/>
              <p:nvPr/>
            </p:nvSpPr>
            <p:spPr>
              <a:xfrm>
                <a:off x="2592" y="2739"/>
                <a:ext cx="0" cy="349"/>
              </a:xfrm>
              <a:prstGeom prst="line">
                <a:avLst/>
              </a:prstGeom>
              <a:ln w="25400" cap="flat" cmpd="sng">
                <a:solidFill>
                  <a:schemeClr val="tx1"/>
                </a:solidFill>
                <a:prstDash val="solid"/>
                <a:round/>
                <a:headEnd type="none" w="med" len="med"/>
                <a:tailEnd type="none" w="med" len="med"/>
              </a:ln>
            </p:spPr>
          </p:sp>
          <p:sp>
            <p:nvSpPr>
              <p:cNvPr id="121908" name="直接连接符 262196"/>
              <p:cNvSpPr/>
              <p:nvPr/>
            </p:nvSpPr>
            <p:spPr>
              <a:xfrm flipV="1">
                <a:off x="2312" y="2997"/>
                <a:ext cx="128" cy="107"/>
              </a:xfrm>
              <a:prstGeom prst="line">
                <a:avLst/>
              </a:prstGeom>
              <a:ln w="25400" cap="flat" cmpd="sng">
                <a:solidFill>
                  <a:schemeClr val="tx1"/>
                </a:solidFill>
                <a:prstDash val="solid"/>
                <a:round/>
                <a:headEnd type="none" w="med" len="med"/>
                <a:tailEnd type="none" w="med" len="med"/>
              </a:ln>
            </p:spPr>
          </p:sp>
          <p:sp>
            <p:nvSpPr>
              <p:cNvPr id="121909" name="直接连接符 262197"/>
              <p:cNvSpPr/>
              <p:nvPr/>
            </p:nvSpPr>
            <p:spPr>
              <a:xfrm>
                <a:off x="2304" y="3104"/>
                <a:ext cx="0" cy="166"/>
              </a:xfrm>
              <a:prstGeom prst="line">
                <a:avLst/>
              </a:prstGeom>
              <a:ln w="25400" cap="flat" cmpd="sng">
                <a:solidFill>
                  <a:schemeClr val="tx1"/>
                </a:solidFill>
                <a:prstDash val="solid"/>
                <a:round/>
                <a:headEnd type="none" w="med" len="med"/>
                <a:tailEnd type="none" w="med" len="med"/>
              </a:ln>
            </p:spPr>
          </p:sp>
          <p:sp>
            <p:nvSpPr>
              <p:cNvPr id="121910" name="直接连接符 262198"/>
              <p:cNvSpPr/>
              <p:nvPr/>
            </p:nvSpPr>
            <p:spPr>
              <a:xfrm flipV="1">
                <a:off x="2312" y="3088"/>
                <a:ext cx="272" cy="198"/>
              </a:xfrm>
              <a:prstGeom prst="line">
                <a:avLst/>
              </a:prstGeom>
              <a:ln w="25400" cap="flat" cmpd="sng">
                <a:solidFill>
                  <a:schemeClr val="tx1"/>
                </a:solidFill>
                <a:prstDash val="solid"/>
                <a:round/>
                <a:headEnd type="none" w="med" len="med"/>
                <a:tailEnd type="none" w="med" len="med"/>
              </a:ln>
            </p:spPr>
          </p:sp>
        </p:grpSp>
        <p:sp>
          <p:nvSpPr>
            <p:cNvPr id="121911" name="矩形 262199"/>
            <p:cNvSpPr/>
            <p:nvPr/>
          </p:nvSpPr>
          <p:spPr>
            <a:xfrm rot="5400000">
              <a:off x="2220" y="2840"/>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grpSp>
      <p:sp>
        <p:nvSpPr>
          <p:cNvPr id="121912" name="直接连接符 262200"/>
          <p:cNvSpPr/>
          <p:nvPr/>
        </p:nvSpPr>
        <p:spPr>
          <a:xfrm>
            <a:off x="2955925" y="5100638"/>
            <a:ext cx="676275" cy="0"/>
          </a:xfrm>
          <a:prstGeom prst="line">
            <a:avLst/>
          </a:prstGeom>
          <a:ln w="50800" cap="flat" cmpd="sng">
            <a:solidFill>
              <a:schemeClr val="accent1"/>
            </a:solidFill>
            <a:prstDash val="solid"/>
            <a:round/>
            <a:headEnd type="none" w="med" len="med"/>
            <a:tailEnd type="triangle" w="med" len="med"/>
          </a:ln>
        </p:spPr>
      </p:sp>
      <p:sp>
        <p:nvSpPr>
          <p:cNvPr id="121913" name="矩形 262201"/>
          <p:cNvSpPr/>
          <p:nvPr/>
        </p:nvSpPr>
        <p:spPr>
          <a:xfrm>
            <a:off x="2976563" y="51355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1914" name="直接连接符 262202"/>
          <p:cNvSpPr/>
          <p:nvPr/>
        </p:nvSpPr>
        <p:spPr>
          <a:xfrm flipH="1">
            <a:off x="3194050" y="5035550"/>
            <a:ext cx="88900" cy="139700"/>
          </a:xfrm>
          <a:prstGeom prst="line">
            <a:avLst/>
          </a:prstGeom>
          <a:ln w="12700" cap="flat" cmpd="sng">
            <a:solidFill>
              <a:schemeClr val="tx1"/>
            </a:solidFill>
            <a:prstDash val="solid"/>
            <a:round/>
            <a:headEnd type="none" w="med" len="med"/>
            <a:tailEnd type="none" w="med" len="med"/>
          </a:ln>
        </p:spPr>
      </p:sp>
      <p:grpSp>
        <p:nvGrpSpPr>
          <p:cNvPr id="121915" name="组合 262203"/>
          <p:cNvGrpSpPr/>
          <p:nvPr/>
        </p:nvGrpSpPr>
        <p:grpSpPr>
          <a:xfrm>
            <a:off x="4799013" y="5087938"/>
            <a:ext cx="385762" cy="385762"/>
            <a:chOff x="3023" y="3205"/>
            <a:chExt cx="243" cy="243"/>
          </a:xfrm>
        </p:grpSpPr>
        <p:sp>
          <p:nvSpPr>
            <p:cNvPr id="121916" name="任意多边形 262204"/>
            <p:cNvSpPr/>
            <p:nvPr/>
          </p:nvSpPr>
          <p:spPr>
            <a:xfrm rot="-5400000">
              <a:off x="3031" y="3189"/>
              <a:ext cx="91" cy="115"/>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21917" name="任意多边形 262205"/>
            <p:cNvSpPr/>
            <p:nvPr/>
          </p:nvSpPr>
          <p:spPr>
            <a:xfrm rot="5400000">
              <a:off x="3159" y="3189"/>
              <a:ext cx="91" cy="115"/>
            </a:xfrm>
            <a:custGeom>
              <a:avLst/>
              <a:gdLst/>
              <a:ahLst/>
              <a:cxnLst>
                <a:cxn ang="180">
                  <a:pos x="0" y="21411"/>
                </a:cxn>
                <a:cxn ang="270">
                  <a:pos x="21362" y="0"/>
                </a:cxn>
                <a:cxn ang="90">
                  <a:pos x="21599" y="21599"/>
                </a:cxn>
              </a:cxnLst>
              <a:pathLst>
                <a:path w="21599" h="21599" fill="none">
                  <a:moveTo>
                    <a:pt x="0" y="21411"/>
                  </a:moveTo>
                  <a:cubicBezTo>
                    <a:pt x="101" y="9647"/>
                    <a:pt x="9605" y="127"/>
                    <a:pt x="21361" y="0"/>
                  </a:cubicBezTo>
                </a:path>
                <a:path w="21599" h="21599" stroke="0">
                  <a:moveTo>
                    <a:pt x="0" y="21411"/>
                  </a:moveTo>
                  <a:cubicBezTo>
                    <a:pt x="101" y="9647"/>
                    <a:pt x="9605" y="127"/>
                    <a:pt x="21361" y="0"/>
                  </a:cubicBezTo>
                  <a:lnTo>
                    <a:pt x="21599"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21918" name="直接连接符 262206"/>
            <p:cNvSpPr/>
            <p:nvPr/>
          </p:nvSpPr>
          <p:spPr>
            <a:xfrm>
              <a:off x="3024" y="3303"/>
              <a:ext cx="0" cy="137"/>
            </a:xfrm>
            <a:prstGeom prst="line">
              <a:avLst/>
            </a:prstGeom>
            <a:ln w="25400" cap="flat" cmpd="sng">
              <a:solidFill>
                <a:schemeClr val="tx1"/>
              </a:solidFill>
              <a:prstDash val="solid"/>
              <a:round/>
              <a:headEnd type="none" w="med" len="med"/>
              <a:tailEnd type="none" w="med" len="med"/>
            </a:ln>
          </p:spPr>
        </p:sp>
        <p:sp>
          <p:nvSpPr>
            <p:cNvPr id="121919" name="直接连接符 262207"/>
            <p:cNvSpPr/>
            <p:nvPr/>
          </p:nvSpPr>
          <p:spPr>
            <a:xfrm>
              <a:off x="3032" y="3448"/>
              <a:ext cx="224" cy="0"/>
            </a:xfrm>
            <a:prstGeom prst="line">
              <a:avLst/>
            </a:prstGeom>
            <a:ln w="25400" cap="flat" cmpd="sng">
              <a:solidFill>
                <a:schemeClr val="tx1"/>
              </a:solidFill>
              <a:prstDash val="solid"/>
              <a:round/>
              <a:headEnd type="none" w="med" len="med"/>
              <a:tailEnd type="none" w="med" len="med"/>
            </a:ln>
          </p:spPr>
        </p:sp>
        <p:sp>
          <p:nvSpPr>
            <p:cNvPr id="121920" name="直接连接符 262208"/>
            <p:cNvSpPr/>
            <p:nvPr/>
          </p:nvSpPr>
          <p:spPr>
            <a:xfrm>
              <a:off x="3264" y="3303"/>
              <a:ext cx="0" cy="137"/>
            </a:xfrm>
            <a:prstGeom prst="line">
              <a:avLst/>
            </a:prstGeom>
            <a:ln w="25400" cap="flat" cmpd="sng">
              <a:solidFill>
                <a:schemeClr val="tx1"/>
              </a:solidFill>
              <a:prstDash val="solid"/>
              <a:round/>
              <a:headEnd type="none" w="med" len="med"/>
              <a:tailEnd type="none" w="med" len="med"/>
            </a:ln>
          </p:spPr>
        </p:sp>
      </p:grpSp>
      <p:sp>
        <p:nvSpPr>
          <p:cNvPr id="121921" name="直接连接符 262209"/>
          <p:cNvSpPr/>
          <p:nvPr/>
        </p:nvSpPr>
        <p:spPr>
          <a:xfrm flipV="1">
            <a:off x="4991100" y="4789488"/>
            <a:ext cx="0" cy="293687"/>
          </a:xfrm>
          <a:prstGeom prst="line">
            <a:avLst/>
          </a:prstGeom>
          <a:ln w="25400" cap="flat" cmpd="sng">
            <a:solidFill>
              <a:schemeClr val="tx1"/>
            </a:solidFill>
            <a:prstDash val="solid"/>
            <a:round/>
            <a:headEnd type="none" w="med" len="med"/>
            <a:tailEnd type="none" w="med" len="med"/>
          </a:ln>
        </p:spPr>
      </p:sp>
      <p:sp>
        <p:nvSpPr>
          <p:cNvPr id="121922" name="直接连接符 262210"/>
          <p:cNvSpPr/>
          <p:nvPr/>
        </p:nvSpPr>
        <p:spPr>
          <a:xfrm>
            <a:off x="4876800" y="5499100"/>
            <a:ext cx="0" cy="355600"/>
          </a:xfrm>
          <a:prstGeom prst="line">
            <a:avLst/>
          </a:prstGeom>
          <a:ln w="25400" cap="flat" cmpd="sng">
            <a:solidFill>
              <a:schemeClr val="tx1"/>
            </a:solidFill>
            <a:prstDash val="solid"/>
            <a:round/>
            <a:headEnd type="none" w="med" len="med"/>
            <a:tailEnd type="none" w="med" len="med"/>
          </a:ln>
        </p:spPr>
      </p:sp>
      <p:sp>
        <p:nvSpPr>
          <p:cNvPr id="121923" name="直接连接符 262211"/>
          <p:cNvSpPr/>
          <p:nvPr/>
        </p:nvSpPr>
        <p:spPr>
          <a:xfrm>
            <a:off x="5105400" y="5499100"/>
            <a:ext cx="0" cy="660400"/>
          </a:xfrm>
          <a:prstGeom prst="line">
            <a:avLst/>
          </a:prstGeom>
          <a:ln w="25400" cap="flat" cmpd="sng">
            <a:solidFill>
              <a:schemeClr val="tx1"/>
            </a:solidFill>
            <a:prstDash val="solid"/>
            <a:round/>
            <a:headEnd type="none" w="med" len="med"/>
            <a:tailEnd type="none" w="med" len="med"/>
          </a:ln>
        </p:spPr>
      </p:sp>
      <p:sp>
        <p:nvSpPr>
          <p:cNvPr id="121924" name="直接连接符 262212"/>
          <p:cNvSpPr/>
          <p:nvPr/>
        </p:nvSpPr>
        <p:spPr>
          <a:xfrm>
            <a:off x="6183313" y="3429000"/>
            <a:ext cx="192087" cy="0"/>
          </a:xfrm>
          <a:prstGeom prst="line">
            <a:avLst/>
          </a:prstGeom>
          <a:ln w="50800" cap="flat" cmpd="sng">
            <a:solidFill>
              <a:schemeClr val="accent1"/>
            </a:solidFill>
            <a:prstDash val="solid"/>
            <a:round/>
            <a:headEnd type="none" w="med" len="med"/>
            <a:tailEnd type="none" w="med" len="med"/>
          </a:ln>
        </p:spPr>
      </p:sp>
      <p:sp>
        <p:nvSpPr>
          <p:cNvPr id="121925" name="直接连接符 262213"/>
          <p:cNvSpPr/>
          <p:nvPr/>
        </p:nvSpPr>
        <p:spPr>
          <a:xfrm flipV="1">
            <a:off x="6400800" y="1879600"/>
            <a:ext cx="0" cy="1574800"/>
          </a:xfrm>
          <a:prstGeom prst="line">
            <a:avLst/>
          </a:prstGeom>
          <a:ln w="50800" cap="flat" cmpd="sng">
            <a:solidFill>
              <a:schemeClr val="accent1"/>
            </a:solidFill>
            <a:prstDash val="solid"/>
            <a:round/>
            <a:headEnd type="none" w="med" len="med"/>
            <a:tailEnd type="none" w="med" len="med"/>
          </a:ln>
        </p:spPr>
      </p:sp>
      <p:sp>
        <p:nvSpPr>
          <p:cNvPr id="121926" name="直接连接符 262214"/>
          <p:cNvSpPr/>
          <p:nvPr/>
        </p:nvSpPr>
        <p:spPr>
          <a:xfrm flipH="1">
            <a:off x="736600" y="1905000"/>
            <a:ext cx="5689600" cy="0"/>
          </a:xfrm>
          <a:prstGeom prst="line">
            <a:avLst/>
          </a:prstGeom>
          <a:ln w="50800" cap="flat" cmpd="sng">
            <a:solidFill>
              <a:schemeClr val="accent1"/>
            </a:solidFill>
            <a:prstDash val="solid"/>
            <a:round/>
            <a:headEnd type="none" w="med" len="med"/>
            <a:tailEnd type="none" w="med" len="med"/>
          </a:ln>
        </p:spPr>
      </p:sp>
      <p:sp>
        <p:nvSpPr>
          <p:cNvPr id="121927" name="直接连接符 262215"/>
          <p:cNvSpPr/>
          <p:nvPr/>
        </p:nvSpPr>
        <p:spPr>
          <a:xfrm>
            <a:off x="762000" y="1885950"/>
            <a:ext cx="0" cy="1701800"/>
          </a:xfrm>
          <a:prstGeom prst="line">
            <a:avLst/>
          </a:prstGeom>
          <a:ln w="50800" cap="flat" cmpd="sng">
            <a:solidFill>
              <a:schemeClr val="accent1"/>
            </a:solidFill>
            <a:prstDash val="solid"/>
            <a:round/>
            <a:headEnd type="none" w="med" len="med"/>
            <a:tailEnd type="none" w="med" len="med"/>
          </a:ln>
        </p:spPr>
      </p:sp>
      <p:sp>
        <p:nvSpPr>
          <p:cNvPr id="121928" name="直接连接符 262216"/>
          <p:cNvSpPr/>
          <p:nvPr/>
        </p:nvSpPr>
        <p:spPr>
          <a:xfrm>
            <a:off x="787400" y="3567113"/>
            <a:ext cx="581025" cy="0"/>
          </a:xfrm>
          <a:prstGeom prst="line">
            <a:avLst/>
          </a:prstGeom>
          <a:ln w="50800" cap="flat" cmpd="sng">
            <a:solidFill>
              <a:schemeClr val="accent1"/>
            </a:solidFill>
            <a:prstDash val="solid"/>
            <a:round/>
            <a:headEnd type="none" w="med" len="med"/>
            <a:tailEnd type="triangle" w="med" len="med"/>
          </a:ln>
        </p:spPr>
      </p:sp>
      <p:sp>
        <p:nvSpPr>
          <p:cNvPr id="121929" name="直接连接符 262217"/>
          <p:cNvSpPr/>
          <p:nvPr/>
        </p:nvSpPr>
        <p:spPr>
          <a:xfrm flipH="1">
            <a:off x="4032250" y="1835150"/>
            <a:ext cx="88900" cy="166688"/>
          </a:xfrm>
          <a:prstGeom prst="line">
            <a:avLst/>
          </a:prstGeom>
          <a:ln w="12700" cap="flat" cmpd="sng">
            <a:solidFill>
              <a:schemeClr val="tx1"/>
            </a:solidFill>
            <a:prstDash val="solid"/>
            <a:round/>
            <a:headEnd type="none" w="med" len="med"/>
            <a:tailEnd type="none" w="med" len="med"/>
          </a:ln>
        </p:spPr>
      </p:sp>
      <p:sp>
        <p:nvSpPr>
          <p:cNvPr id="121930" name="矩形 262218"/>
          <p:cNvSpPr/>
          <p:nvPr/>
        </p:nvSpPr>
        <p:spPr>
          <a:xfrm>
            <a:off x="3719513" y="19335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1931" name="矩形 262219"/>
          <p:cNvSpPr/>
          <p:nvPr/>
        </p:nvSpPr>
        <p:spPr>
          <a:xfrm>
            <a:off x="3719513" y="5867400"/>
            <a:ext cx="13557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 =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1932" name="矩形 262220"/>
          <p:cNvSpPr/>
          <p:nvPr/>
        </p:nvSpPr>
        <p:spPr>
          <a:xfrm>
            <a:off x="5091113" y="5943600"/>
            <a:ext cx="106362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 = 1</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21933" name="直接连接符 262221"/>
          <p:cNvSpPr/>
          <p:nvPr/>
        </p:nvSpPr>
        <p:spPr>
          <a:xfrm>
            <a:off x="6565900" y="2590800"/>
            <a:ext cx="584200" cy="0"/>
          </a:xfrm>
          <a:prstGeom prst="line">
            <a:avLst/>
          </a:prstGeom>
          <a:ln w="25400" cap="flat" cmpd="sng">
            <a:solidFill>
              <a:schemeClr val="tx1"/>
            </a:solidFill>
            <a:prstDash val="solid"/>
            <a:round/>
            <a:headEnd type="none" w="med" len="med"/>
            <a:tailEnd type="triangle" w="med" len="med"/>
          </a:ln>
        </p:spPr>
      </p:sp>
      <p:sp>
        <p:nvSpPr>
          <p:cNvPr id="121934" name="矩形 262222"/>
          <p:cNvSpPr/>
          <p:nvPr/>
        </p:nvSpPr>
        <p:spPr>
          <a:xfrm>
            <a:off x="6462713" y="2590800"/>
            <a:ext cx="6635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endParaRPr lang="zh-CN" altLang="en-US" sz="1800" dirty="0">
              <a:latin typeface="Arial" panose="020B0604020202020204" pitchFamily="34" charset="0"/>
              <a:ea typeface="宋体" panose="02010600030101010101" pitchFamily="2" charset="-122"/>
            </a:endParaRPr>
          </a:p>
        </p:txBody>
      </p:sp>
      <p:sp>
        <p:nvSpPr>
          <p:cNvPr id="121935" name="矩形 262223"/>
          <p:cNvSpPr/>
          <p:nvPr/>
        </p:nvSpPr>
        <p:spPr>
          <a:xfrm>
            <a:off x="7165975" y="2146300"/>
            <a:ext cx="1355725" cy="1270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1936" name="矩形 262224"/>
          <p:cNvSpPr/>
          <p:nvPr/>
        </p:nvSpPr>
        <p:spPr>
          <a:xfrm>
            <a:off x="7127875" y="2133600"/>
            <a:ext cx="1438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&lt;31:2&gt;</a:t>
            </a:r>
            <a:endParaRPr lang="en-US" altLang="zh-CN" sz="1800">
              <a:latin typeface="Arial" panose="020B0604020202020204" pitchFamily="34" charset="0"/>
              <a:ea typeface="宋体" panose="02010600030101010101" pitchFamily="2" charset="-122"/>
            </a:endParaRPr>
          </a:p>
        </p:txBody>
      </p:sp>
      <p:sp>
        <p:nvSpPr>
          <p:cNvPr id="121937" name="矩形 262225"/>
          <p:cNvSpPr/>
          <p:nvPr/>
        </p:nvSpPr>
        <p:spPr>
          <a:xfrm>
            <a:off x="7212013" y="2819400"/>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21938" name="矩形 262226"/>
          <p:cNvSpPr/>
          <p:nvPr/>
        </p:nvSpPr>
        <p:spPr>
          <a:xfrm>
            <a:off x="7127875" y="2438400"/>
            <a:ext cx="129222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1939" name="直接连接符 262227"/>
          <p:cNvSpPr/>
          <p:nvPr/>
        </p:nvSpPr>
        <p:spPr>
          <a:xfrm>
            <a:off x="7848600" y="3441700"/>
            <a:ext cx="0" cy="1041400"/>
          </a:xfrm>
          <a:prstGeom prst="line">
            <a:avLst/>
          </a:prstGeom>
          <a:ln w="25400" cap="flat" cmpd="sng">
            <a:solidFill>
              <a:schemeClr val="tx1"/>
            </a:solidFill>
            <a:prstDash val="solid"/>
            <a:round/>
            <a:headEnd type="none" w="med" len="med"/>
            <a:tailEnd type="triangle" w="med" len="med"/>
          </a:ln>
        </p:spPr>
      </p:sp>
      <p:sp>
        <p:nvSpPr>
          <p:cNvPr id="121940" name="直接连接符 262228"/>
          <p:cNvSpPr/>
          <p:nvPr/>
        </p:nvSpPr>
        <p:spPr>
          <a:xfrm flipV="1">
            <a:off x="7778750" y="3803650"/>
            <a:ext cx="139700" cy="165100"/>
          </a:xfrm>
          <a:prstGeom prst="line">
            <a:avLst/>
          </a:prstGeom>
          <a:ln w="12700" cap="flat" cmpd="sng">
            <a:solidFill>
              <a:schemeClr val="tx1"/>
            </a:solidFill>
            <a:prstDash val="solid"/>
            <a:round/>
            <a:headEnd type="none" w="med" len="med"/>
            <a:tailEnd type="none" w="med" len="med"/>
          </a:ln>
        </p:spPr>
      </p:sp>
      <p:sp>
        <p:nvSpPr>
          <p:cNvPr id="121941" name="矩形 262229"/>
          <p:cNvSpPr/>
          <p:nvPr/>
        </p:nvSpPr>
        <p:spPr>
          <a:xfrm>
            <a:off x="7910513" y="3657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21942" name="直接连接符 262230"/>
          <p:cNvSpPr/>
          <p:nvPr/>
        </p:nvSpPr>
        <p:spPr>
          <a:xfrm>
            <a:off x="3209925" y="4191000"/>
            <a:ext cx="450850" cy="0"/>
          </a:xfrm>
          <a:prstGeom prst="line">
            <a:avLst/>
          </a:prstGeom>
          <a:ln w="50800" cap="flat" cmpd="sng">
            <a:solidFill>
              <a:schemeClr val="accent1"/>
            </a:solidFill>
            <a:prstDash val="solid"/>
            <a:round/>
            <a:headEnd type="none" w="med" len="med"/>
            <a:tailEnd type="triangle" w="med" len="med"/>
          </a:ln>
        </p:spPr>
      </p:sp>
      <p:sp>
        <p:nvSpPr>
          <p:cNvPr id="121943" name="直接连接符 262231"/>
          <p:cNvSpPr/>
          <p:nvPr/>
        </p:nvSpPr>
        <p:spPr>
          <a:xfrm flipV="1">
            <a:off x="3228975" y="3784600"/>
            <a:ext cx="0" cy="431800"/>
          </a:xfrm>
          <a:prstGeom prst="line">
            <a:avLst/>
          </a:prstGeom>
          <a:ln w="50800" cap="flat" cmpd="sng">
            <a:solidFill>
              <a:schemeClr val="accent1"/>
            </a:solidFill>
            <a:prstDash val="solid"/>
            <a:round/>
            <a:headEnd type="none" w="med" len="med"/>
            <a:tailEnd type="none" w="med" len="med"/>
          </a:ln>
        </p:spPr>
      </p:sp>
      <p:grpSp>
        <p:nvGrpSpPr>
          <p:cNvPr id="121944" name="组合 262232"/>
          <p:cNvGrpSpPr/>
          <p:nvPr/>
        </p:nvGrpSpPr>
        <p:grpSpPr>
          <a:xfrm>
            <a:off x="5795963" y="2649538"/>
            <a:ext cx="376237" cy="1325562"/>
            <a:chOff x="3651" y="1669"/>
            <a:chExt cx="237" cy="835"/>
          </a:xfrm>
        </p:grpSpPr>
        <p:grpSp>
          <p:nvGrpSpPr>
            <p:cNvPr id="121945" name="组合 262233"/>
            <p:cNvGrpSpPr/>
            <p:nvPr/>
          </p:nvGrpSpPr>
          <p:grpSpPr>
            <a:xfrm>
              <a:off x="3696" y="1669"/>
              <a:ext cx="192" cy="835"/>
              <a:chOff x="3696" y="1669"/>
              <a:chExt cx="192" cy="835"/>
            </a:xfrm>
          </p:grpSpPr>
          <p:sp>
            <p:nvSpPr>
              <p:cNvPr id="121946" name="直接连接符 262234"/>
              <p:cNvSpPr/>
              <p:nvPr/>
            </p:nvSpPr>
            <p:spPr>
              <a:xfrm>
                <a:off x="3696" y="1669"/>
                <a:ext cx="0" cy="819"/>
              </a:xfrm>
              <a:prstGeom prst="line">
                <a:avLst/>
              </a:prstGeom>
              <a:ln w="25400" cap="flat" cmpd="sng">
                <a:solidFill>
                  <a:schemeClr val="tx1"/>
                </a:solidFill>
                <a:prstDash val="solid"/>
                <a:round/>
                <a:headEnd type="none" w="med" len="med"/>
                <a:tailEnd type="none" w="med" len="med"/>
              </a:ln>
            </p:spPr>
          </p:sp>
          <p:sp>
            <p:nvSpPr>
              <p:cNvPr id="121947" name="直接连接符 262235"/>
              <p:cNvSpPr/>
              <p:nvPr/>
            </p:nvSpPr>
            <p:spPr>
              <a:xfrm>
                <a:off x="3704" y="1669"/>
                <a:ext cx="176" cy="95"/>
              </a:xfrm>
              <a:prstGeom prst="line">
                <a:avLst/>
              </a:prstGeom>
              <a:ln w="25400" cap="flat" cmpd="sng">
                <a:solidFill>
                  <a:schemeClr val="tx1"/>
                </a:solidFill>
                <a:prstDash val="solid"/>
                <a:round/>
                <a:headEnd type="none" w="med" len="med"/>
                <a:tailEnd type="none" w="med" len="med"/>
              </a:ln>
            </p:spPr>
          </p:sp>
          <p:sp>
            <p:nvSpPr>
              <p:cNvPr id="121948" name="直接连接符 262236"/>
              <p:cNvSpPr/>
              <p:nvPr/>
            </p:nvSpPr>
            <p:spPr>
              <a:xfrm flipV="1">
                <a:off x="3704" y="2377"/>
                <a:ext cx="176" cy="127"/>
              </a:xfrm>
              <a:prstGeom prst="line">
                <a:avLst/>
              </a:prstGeom>
              <a:ln w="25400" cap="flat" cmpd="sng">
                <a:solidFill>
                  <a:schemeClr val="tx1"/>
                </a:solidFill>
                <a:prstDash val="solid"/>
                <a:round/>
                <a:headEnd type="none" w="med" len="med"/>
                <a:tailEnd type="none" w="med" len="med"/>
              </a:ln>
            </p:spPr>
          </p:sp>
          <p:sp>
            <p:nvSpPr>
              <p:cNvPr id="121949" name="直接连接符 262237"/>
              <p:cNvSpPr/>
              <p:nvPr/>
            </p:nvSpPr>
            <p:spPr>
              <a:xfrm>
                <a:off x="3888" y="1780"/>
                <a:ext cx="0" cy="597"/>
              </a:xfrm>
              <a:prstGeom prst="line">
                <a:avLst/>
              </a:prstGeom>
              <a:ln w="25400" cap="flat" cmpd="sng">
                <a:solidFill>
                  <a:schemeClr val="tx1"/>
                </a:solidFill>
                <a:prstDash val="solid"/>
                <a:round/>
                <a:headEnd type="none" w="med" len="med"/>
                <a:tailEnd type="none" w="med" len="med"/>
              </a:ln>
            </p:spPr>
          </p:sp>
        </p:grpSp>
        <p:sp>
          <p:nvSpPr>
            <p:cNvPr id="121950" name="矩形 262238"/>
            <p:cNvSpPr/>
            <p:nvPr/>
          </p:nvSpPr>
          <p:spPr>
            <a:xfrm rot="5400000">
              <a:off x="3560" y="1986"/>
              <a:ext cx="402"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21951" name="矩形 262239"/>
            <p:cNvSpPr/>
            <p:nvPr/>
          </p:nvSpPr>
          <p:spPr>
            <a:xfrm>
              <a:off x="3687" y="1749"/>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21952" name="矩形 262240"/>
            <p:cNvSpPr/>
            <p:nvPr/>
          </p:nvSpPr>
          <p:spPr>
            <a:xfrm>
              <a:off x="3687" y="2219"/>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grpSp>
      <p:sp>
        <p:nvSpPr>
          <p:cNvPr id="121953" name="直接连接符 262241"/>
          <p:cNvSpPr/>
          <p:nvPr/>
        </p:nvSpPr>
        <p:spPr>
          <a:xfrm>
            <a:off x="3594100" y="3124200"/>
            <a:ext cx="812800" cy="0"/>
          </a:xfrm>
          <a:prstGeom prst="line">
            <a:avLst/>
          </a:prstGeom>
          <a:ln w="25400" cap="flat" cmpd="sng">
            <a:solidFill>
              <a:schemeClr val="tx1"/>
            </a:solidFill>
            <a:prstDash val="solid"/>
            <a:round/>
            <a:headEnd type="none" w="med" len="med"/>
            <a:tailEnd type="triangle" w="med" len="med"/>
          </a:ln>
        </p:spPr>
      </p:sp>
      <p:sp>
        <p:nvSpPr>
          <p:cNvPr id="121954" name="直接连接符 262242"/>
          <p:cNvSpPr/>
          <p:nvPr/>
        </p:nvSpPr>
        <p:spPr>
          <a:xfrm flipH="1">
            <a:off x="3879850" y="3059113"/>
            <a:ext cx="88900" cy="131762"/>
          </a:xfrm>
          <a:prstGeom prst="line">
            <a:avLst/>
          </a:prstGeom>
          <a:ln w="12700" cap="flat" cmpd="sng">
            <a:solidFill>
              <a:schemeClr val="tx1"/>
            </a:solidFill>
            <a:prstDash val="solid"/>
            <a:round/>
            <a:headEnd type="none" w="med" len="med"/>
            <a:tailEnd type="none" w="med" len="med"/>
          </a:ln>
        </p:spPr>
      </p:sp>
      <p:sp>
        <p:nvSpPr>
          <p:cNvPr id="121955" name="矩形 262243"/>
          <p:cNvSpPr/>
          <p:nvPr/>
        </p:nvSpPr>
        <p:spPr>
          <a:xfrm>
            <a:off x="3567113" y="31178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21956" name="直接连接符 262244"/>
          <p:cNvSpPr/>
          <p:nvPr/>
        </p:nvSpPr>
        <p:spPr>
          <a:xfrm>
            <a:off x="1917700" y="2667000"/>
            <a:ext cx="2489200" cy="0"/>
          </a:xfrm>
          <a:prstGeom prst="line">
            <a:avLst/>
          </a:prstGeom>
          <a:ln w="25400" cap="flat" cmpd="sng">
            <a:solidFill>
              <a:schemeClr val="tx1"/>
            </a:solidFill>
            <a:prstDash val="solid"/>
            <a:round/>
            <a:headEnd type="none" w="med" len="med"/>
            <a:tailEnd type="triangle" w="med" len="med"/>
          </a:ln>
        </p:spPr>
      </p:sp>
      <p:sp>
        <p:nvSpPr>
          <p:cNvPr id="121957" name="直接连接符 262245"/>
          <p:cNvSpPr/>
          <p:nvPr/>
        </p:nvSpPr>
        <p:spPr>
          <a:xfrm flipH="1">
            <a:off x="3879850" y="2601913"/>
            <a:ext cx="88900" cy="131762"/>
          </a:xfrm>
          <a:prstGeom prst="line">
            <a:avLst/>
          </a:prstGeom>
          <a:ln w="12700" cap="flat" cmpd="sng">
            <a:solidFill>
              <a:schemeClr val="tx1"/>
            </a:solidFill>
            <a:prstDash val="solid"/>
            <a:round/>
            <a:headEnd type="none" w="med" len="med"/>
            <a:tailEnd type="none" w="med" len="med"/>
          </a:ln>
        </p:spPr>
      </p:sp>
      <p:sp>
        <p:nvSpPr>
          <p:cNvPr id="121958" name="矩形 262246"/>
          <p:cNvSpPr/>
          <p:nvPr/>
        </p:nvSpPr>
        <p:spPr>
          <a:xfrm>
            <a:off x="3643313" y="2660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4</a:t>
            </a:r>
            <a:endParaRPr lang="zh-CN" altLang="en-US" sz="1800" dirty="0">
              <a:latin typeface="Arial" panose="020B0604020202020204" pitchFamily="34" charset="0"/>
              <a:ea typeface="宋体" panose="02010600030101010101" pitchFamily="2" charset="-122"/>
            </a:endParaRPr>
          </a:p>
        </p:txBody>
      </p:sp>
      <p:sp>
        <p:nvSpPr>
          <p:cNvPr id="121959" name="直接连接符 262247"/>
          <p:cNvSpPr/>
          <p:nvPr/>
        </p:nvSpPr>
        <p:spPr>
          <a:xfrm flipV="1">
            <a:off x="1905000" y="2273300"/>
            <a:ext cx="0" cy="1320800"/>
          </a:xfrm>
          <a:prstGeom prst="line">
            <a:avLst/>
          </a:prstGeom>
          <a:ln w="25400" cap="flat" cmpd="sng">
            <a:solidFill>
              <a:schemeClr val="tx1"/>
            </a:solidFill>
            <a:prstDash val="solid"/>
            <a:round/>
            <a:headEnd type="none" w="med" len="med"/>
            <a:tailEnd type="none" w="med" len="med"/>
          </a:ln>
        </p:spPr>
      </p:sp>
      <p:sp>
        <p:nvSpPr>
          <p:cNvPr id="121960" name="矩形 262248"/>
          <p:cNvSpPr/>
          <p:nvPr/>
        </p:nvSpPr>
        <p:spPr>
          <a:xfrm>
            <a:off x="2500313" y="2362200"/>
            <a:ext cx="13493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PC&lt;31:28&gt;</a:t>
            </a:r>
            <a:endParaRPr lang="en-US" altLang="zh-CN" sz="1800">
              <a:latin typeface="Arial" panose="020B0604020202020204" pitchFamily="34" charset="0"/>
              <a:ea typeface="宋体" panose="02010600030101010101" pitchFamily="2" charset="-122"/>
            </a:endParaRPr>
          </a:p>
        </p:txBody>
      </p:sp>
      <p:sp>
        <p:nvSpPr>
          <p:cNvPr id="121961" name="矩形 262249"/>
          <p:cNvSpPr/>
          <p:nvPr/>
        </p:nvSpPr>
        <p:spPr>
          <a:xfrm>
            <a:off x="2525713" y="2667000"/>
            <a:ext cx="8794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Target</a:t>
            </a:r>
            <a:endParaRPr lang="en-US" altLang="zh-CN" sz="1800">
              <a:latin typeface="Arial" panose="020B0604020202020204" pitchFamily="34" charset="0"/>
              <a:ea typeface="宋体" panose="02010600030101010101" pitchFamily="2" charset="-122"/>
            </a:endParaRPr>
          </a:p>
        </p:txBody>
      </p:sp>
      <p:sp>
        <p:nvSpPr>
          <p:cNvPr id="121962" name="直接连接符 262250"/>
          <p:cNvSpPr/>
          <p:nvPr/>
        </p:nvSpPr>
        <p:spPr>
          <a:xfrm>
            <a:off x="4419600" y="2679700"/>
            <a:ext cx="0" cy="431800"/>
          </a:xfrm>
          <a:prstGeom prst="line">
            <a:avLst/>
          </a:prstGeom>
          <a:ln w="25400" cap="flat" cmpd="sng">
            <a:solidFill>
              <a:schemeClr val="tx1"/>
            </a:solidFill>
            <a:prstDash val="solid"/>
            <a:round/>
            <a:headEnd type="none" w="med" len="med"/>
            <a:tailEnd type="none" w="med" len="med"/>
          </a:ln>
        </p:spPr>
      </p:sp>
      <p:sp>
        <p:nvSpPr>
          <p:cNvPr id="121963" name="直接连接符 262251"/>
          <p:cNvSpPr/>
          <p:nvPr/>
        </p:nvSpPr>
        <p:spPr>
          <a:xfrm>
            <a:off x="4432300" y="2895600"/>
            <a:ext cx="1422400" cy="0"/>
          </a:xfrm>
          <a:prstGeom prst="line">
            <a:avLst/>
          </a:prstGeom>
          <a:ln w="25400" cap="flat" cmpd="sng">
            <a:solidFill>
              <a:schemeClr val="tx1"/>
            </a:solidFill>
            <a:prstDash val="solid"/>
            <a:round/>
            <a:headEnd type="none" w="med" len="med"/>
            <a:tailEnd type="triangle" w="med" len="med"/>
          </a:ln>
        </p:spPr>
      </p:sp>
      <p:sp>
        <p:nvSpPr>
          <p:cNvPr id="121964" name="直接连接符 262252"/>
          <p:cNvSpPr/>
          <p:nvPr/>
        </p:nvSpPr>
        <p:spPr>
          <a:xfrm>
            <a:off x="5394325" y="3733800"/>
            <a:ext cx="447675" cy="0"/>
          </a:xfrm>
          <a:prstGeom prst="line">
            <a:avLst/>
          </a:prstGeom>
          <a:ln w="50800" cap="flat" cmpd="sng">
            <a:solidFill>
              <a:schemeClr val="accent1"/>
            </a:solidFill>
            <a:prstDash val="solid"/>
            <a:round/>
            <a:headEnd type="none" w="med" len="med"/>
            <a:tailEnd type="triangle" w="med" len="med"/>
          </a:ln>
        </p:spPr>
      </p:sp>
      <p:sp>
        <p:nvSpPr>
          <p:cNvPr id="121965" name="直接连接符 262253"/>
          <p:cNvSpPr/>
          <p:nvPr/>
        </p:nvSpPr>
        <p:spPr>
          <a:xfrm>
            <a:off x="5130800" y="4191000"/>
            <a:ext cx="298450" cy="0"/>
          </a:xfrm>
          <a:prstGeom prst="line">
            <a:avLst/>
          </a:prstGeom>
          <a:ln w="50800" cap="flat" cmpd="sng">
            <a:solidFill>
              <a:schemeClr val="accent1"/>
            </a:solidFill>
            <a:prstDash val="solid"/>
            <a:round/>
            <a:headEnd type="none" w="med" len="med"/>
            <a:tailEnd type="none" w="med" len="med"/>
          </a:ln>
        </p:spPr>
      </p:sp>
      <p:sp>
        <p:nvSpPr>
          <p:cNvPr id="121966" name="直接连接符 262254"/>
          <p:cNvSpPr/>
          <p:nvPr/>
        </p:nvSpPr>
        <p:spPr>
          <a:xfrm flipV="1">
            <a:off x="5410200" y="3708400"/>
            <a:ext cx="0" cy="508000"/>
          </a:xfrm>
          <a:prstGeom prst="line">
            <a:avLst/>
          </a:prstGeom>
          <a:ln w="50800" cap="flat" cmpd="sng">
            <a:solidFill>
              <a:schemeClr val="accent1"/>
            </a:solidFill>
            <a:prstDash val="solid"/>
            <a:round/>
            <a:headEnd type="none" w="med" len="med"/>
            <a:tailEnd type="none" w="med" len="med"/>
          </a:ln>
        </p:spPr>
      </p:sp>
      <p:sp>
        <p:nvSpPr>
          <p:cNvPr id="121967" name="直接连接符 262255"/>
          <p:cNvSpPr/>
          <p:nvPr/>
        </p:nvSpPr>
        <p:spPr>
          <a:xfrm flipH="1">
            <a:off x="5022850" y="2825750"/>
            <a:ext cx="88900" cy="166688"/>
          </a:xfrm>
          <a:prstGeom prst="line">
            <a:avLst/>
          </a:prstGeom>
          <a:ln w="12700" cap="flat" cmpd="sng">
            <a:solidFill>
              <a:schemeClr val="tx1"/>
            </a:solidFill>
            <a:prstDash val="solid"/>
            <a:round/>
            <a:headEnd type="none" w="med" len="med"/>
            <a:tailEnd type="none" w="med" len="med"/>
          </a:ln>
        </p:spPr>
      </p:sp>
      <p:sp>
        <p:nvSpPr>
          <p:cNvPr id="121968" name="矩形 262256"/>
          <p:cNvSpPr/>
          <p:nvPr/>
        </p:nvSpPr>
        <p:spPr>
          <a:xfrm>
            <a:off x="4710113" y="29241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1969" name="直接连接符 262257"/>
          <p:cNvSpPr/>
          <p:nvPr/>
        </p:nvSpPr>
        <p:spPr>
          <a:xfrm flipV="1">
            <a:off x="6019800" y="3873500"/>
            <a:ext cx="0" cy="482600"/>
          </a:xfrm>
          <a:prstGeom prst="line">
            <a:avLst/>
          </a:prstGeom>
          <a:ln w="25400" cap="flat" cmpd="sng">
            <a:solidFill>
              <a:schemeClr val="tx1"/>
            </a:solidFill>
            <a:prstDash val="solid"/>
            <a:round/>
            <a:headEnd type="none" w="med" len="med"/>
            <a:tailEnd type="triangle" w="med" len="med"/>
          </a:ln>
        </p:spPr>
      </p:sp>
      <p:sp>
        <p:nvSpPr>
          <p:cNvPr id="121970" name="矩形 262258"/>
          <p:cNvSpPr/>
          <p:nvPr/>
        </p:nvSpPr>
        <p:spPr>
          <a:xfrm>
            <a:off x="5624513" y="4343400"/>
            <a:ext cx="11652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1971" name="矩形 262259"/>
          <p:cNvSpPr/>
          <p:nvPr/>
        </p:nvSpPr>
        <p:spPr>
          <a:xfrm>
            <a:off x="315913" y="5486400"/>
            <a:ext cx="20669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Instruction&lt;15:0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1972" name="矩形 262260"/>
          <p:cNvSpPr/>
          <p:nvPr/>
        </p:nvSpPr>
        <p:spPr>
          <a:xfrm>
            <a:off x="7072313" y="4419600"/>
            <a:ext cx="20669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1973" name="直接连接符 262261"/>
          <p:cNvSpPr/>
          <p:nvPr/>
        </p:nvSpPr>
        <p:spPr>
          <a:xfrm>
            <a:off x="1917700" y="2286000"/>
            <a:ext cx="5232400" cy="0"/>
          </a:xfrm>
          <a:prstGeom prst="line">
            <a:avLst/>
          </a:prstGeom>
          <a:ln w="25400" cap="flat" cmpd="sng">
            <a:solidFill>
              <a:schemeClr val="tx1"/>
            </a:solidFill>
            <a:prstDash val="solid"/>
            <a:round/>
            <a:headEnd type="none" w="med" len="med"/>
            <a:tailEnd type="triangle" w="med" len="med"/>
          </a:ln>
        </p:spPr>
      </p:sp>
      <p:sp>
        <p:nvSpPr>
          <p:cNvPr id="121974" name="直接连接符 262262"/>
          <p:cNvSpPr/>
          <p:nvPr/>
        </p:nvSpPr>
        <p:spPr>
          <a:xfrm flipH="1">
            <a:off x="5099050" y="2216150"/>
            <a:ext cx="88900" cy="166688"/>
          </a:xfrm>
          <a:prstGeom prst="line">
            <a:avLst/>
          </a:prstGeom>
          <a:ln w="12700" cap="flat" cmpd="sng">
            <a:solidFill>
              <a:schemeClr val="tx1"/>
            </a:solidFill>
            <a:prstDash val="solid"/>
            <a:round/>
            <a:headEnd type="none" w="med" len="med"/>
            <a:tailEnd type="none" w="med" len="med"/>
          </a:ln>
        </p:spPr>
      </p:sp>
      <p:sp>
        <p:nvSpPr>
          <p:cNvPr id="121975" name="矩形 262263"/>
          <p:cNvSpPr/>
          <p:nvPr/>
        </p:nvSpPr>
        <p:spPr>
          <a:xfrm>
            <a:off x="4786313" y="23145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a:t>
            </a:r>
            <a:r>
              <a:rPr lang="en-US" altLang="zh-CN" sz="1800">
                <a:latin typeface="Arial" panose="020B0604020202020204" pitchFamily="34" charset="0"/>
                <a:ea typeface="宋体" panose="02010600030101010101" pitchFamily="2" charset="-122"/>
              </a:rPr>
              <a:t>0</a:t>
            </a:r>
            <a:endParaRPr lang="en-US" altLang="zh-CN" sz="1800">
              <a:latin typeface="Arial" panose="020B0604020202020204" pitchFamily="34" charset="0"/>
              <a:ea typeface="宋体" panose="02010600030101010101" pitchFamily="2" charset="-122"/>
            </a:endParaRPr>
          </a:p>
        </p:txBody>
      </p:sp>
      <p:sp>
        <p:nvSpPr>
          <p:cNvPr id="121976" name="矩形 262264"/>
          <p:cNvSpPr/>
          <p:nvPr/>
        </p:nvSpPr>
        <p:spPr>
          <a:xfrm>
            <a:off x="1674813" y="2933700"/>
            <a:ext cx="20669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Instruction&lt;25:0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1977" name="文本占位符 262265"/>
          <p:cNvSpPr>
            <a:spLocks noGrp="1"/>
          </p:cNvSpPr>
          <p:nvPr>
            <p:ph idx="1"/>
          </p:nvPr>
        </p:nvSpPr>
        <p:spPr>
          <a:xfrm>
            <a:off x="419100" y="1371600"/>
            <a:ext cx="8535988" cy="325438"/>
          </a:xfrm>
          <a:ln/>
        </p:spPr>
        <p:txBody>
          <a:bodyPr vert="horz" wrap="square" lIns="63500" tIns="25400" rIns="63500" bIns="25400" anchor="t" anchorCtr="0">
            <a:spAutoFit/>
          </a:bodyPr>
          <a:p>
            <a:r>
              <a:rPr lang="en-US" altLang="zh-CN">
                <a:ea typeface="宋体" panose="02010600030101010101" pitchFamily="2" charset="-122"/>
              </a:rPr>
              <a:t>if  (Zero == 1)   then  PC = </a:t>
            </a:r>
            <a:r>
              <a:rPr lang="en-US" altLang="zh-CN" dirty="0" err="1">
                <a:ea typeface="宋体" panose="02010600030101010101" pitchFamily="2" charset="-122"/>
              </a:rPr>
              <a:t>PC</a:t>
            </a:r>
            <a:r>
              <a:rPr lang="en-US" altLang="zh-CN">
                <a:ea typeface="宋体" panose="02010600030101010101" pitchFamily="2" charset="-122"/>
              </a:rPr>
              <a:t> + 4 + SignExt[imm16]*4 ;  else  PC = </a:t>
            </a:r>
            <a:r>
              <a:rPr lang="en-US" altLang="zh-CN" dirty="0" err="1">
                <a:ea typeface="宋体" panose="02010600030101010101" pitchFamily="2" charset="-122"/>
              </a:rPr>
              <a:t>PC</a:t>
            </a:r>
            <a:r>
              <a:rPr lang="en-US" altLang="zh-CN">
                <a:ea typeface="宋体" panose="02010600030101010101" pitchFamily="2" charset="-122"/>
              </a:rPr>
              <a:t> + 4</a:t>
            </a:r>
            <a:endParaRPr lang="en-US" altLang="zh-CN">
              <a:ea typeface="宋体" panose="02010600030101010101" pitchFamily="2" charset="-122"/>
            </a:endParaRPr>
          </a:p>
        </p:txBody>
      </p:sp>
      <p:sp>
        <p:nvSpPr>
          <p:cNvPr id="121978" name="矩形 262266"/>
          <p:cNvSpPr/>
          <p:nvPr/>
        </p:nvSpPr>
        <p:spPr>
          <a:xfrm>
            <a:off x="1852613" y="850900"/>
            <a:ext cx="5713412" cy="2794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21979" name="组合 262267"/>
          <p:cNvGrpSpPr/>
          <p:nvPr/>
        </p:nvGrpSpPr>
        <p:grpSpPr>
          <a:xfrm>
            <a:off x="1846263" y="838200"/>
            <a:ext cx="990600" cy="363538"/>
            <a:chOff x="1163" y="528"/>
            <a:chExt cx="624" cy="229"/>
          </a:xfrm>
        </p:grpSpPr>
        <p:sp>
          <p:nvSpPr>
            <p:cNvPr id="121980" name="矩形 262268"/>
            <p:cNvSpPr/>
            <p:nvPr/>
          </p:nvSpPr>
          <p:spPr>
            <a:xfrm>
              <a:off x="1163" y="532"/>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1981" name="矩形 262269"/>
            <p:cNvSpPr/>
            <p:nvPr/>
          </p:nvSpPr>
          <p:spPr>
            <a:xfrm>
              <a:off x="1345" y="528"/>
              <a:ext cx="2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121982" name="组合 262270"/>
          <p:cNvGrpSpPr/>
          <p:nvPr/>
        </p:nvGrpSpPr>
        <p:grpSpPr>
          <a:xfrm>
            <a:off x="2849563" y="838200"/>
            <a:ext cx="920750" cy="363538"/>
            <a:chOff x="1795" y="528"/>
            <a:chExt cx="580" cy="229"/>
          </a:xfrm>
        </p:grpSpPr>
        <p:sp>
          <p:nvSpPr>
            <p:cNvPr id="121983" name="矩形 262271"/>
            <p:cNvSpPr/>
            <p:nvPr/>
          </p:nvSpPr>
          <p:spPr>
            <a:xfrm>
              <a:off x="1795" y="532"/>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1984" name="矩形 262272"/>
            <p:cNvSpPr/>
            <p:nvPr/>
          </p:nvSpPr>
          <p:spPr>
            <a:xfrm>
              <a:off x="1960" y="528"/>
              <a:ext cx="250"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121985" name="组合 262273"/>
          <p:cNvGrpSpPr/>
          <p:nvPr/>
        </p:nvGrpSpPr>
        <p:grpSpPr>
          <a:xfrm>
            <a:off x="3768725" y="838200"/>
            <a:ext cx="933450" cy="363538"/>
            <a:chOff x="2383" y="528"/>
            <a:chExt cx="579" cy="229"/>
          </a:xfrm>
        </p:grpSpPr>
        <p:sp>
          <p:nvSpPr>
            <p:cNvPr id="121986" name="矩形 262274"/>
            <p:cNvSpPr/>
            <p:nvPr/>
          </p:nvSpPr>
          <p:spPr>
            <a:xfrm>
              <a:off x="2383" y="532"/>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1987" name="矩形 262275"/>
            <p:cNvSpPr/>
            <p:nvPr/>
          </p:nvSpPr>
          <p:spPr>
            <a:xfrm>
              <a:off x="2547" y="528"/>
              <a:ext cx="215"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sp>
        <p:nvSpPr>
          <p:cNvPr id="121988" name="矩形 262276"/>
          <p:cNvSpPr/>
          <p:nvPr/>
        </p:nvSpPr>
        <p:spPr>
          <a:xfrm>
            <a:off x="4714875" y="844550"/>
            <a:ext cx="2857500" cy="292100"/>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1989" name="矩形 262277"/>
          <p:cNvSpPr/>
          <p:nvPr/>
        </p:nvSpPr>
        <p:spPr>
          <a:xfrm>
            <a:off x="5513388" y="838200"/>
            <a:ext cx="13112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immediate</a:t>
            </a:r>
            <a:endParaRPr lang="en-US" altLang="zh-CN" sz="1800">
              <a:latin typeface="Arial" panose="020B0604020202020204" pitchFamily="34" charset="0"/>
              <a:ea typeface="宋体" panose="02010600030101010101" pitchFamily="2" charset="-122"/>
            </a:endParaRPr>
          </a:p>
        </p:txBody>
      </p:sp>
      <p:sp>
        <p:nvSpPr>
          <p:cNvPr id="121990" name="矩形 262278"/>
          <p:cNvSpPr/>
          <p:nvPr/>
        </p:nvSpPr>
        <p:spPr>
          <a:xfrm>
            <a:off x="7416800" y="533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21991" name="矩形 262279"/>
          <p:cNvSpPr/>
          <p:nvPr/>
        </p:nvSpPr>
        <p:spPr>
          <a:xfrm>
            <a:off x="4403725" y="5334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21992" name="矩形 262280"/>
          <p:cNvSpPr/>
          <p:nvPr/>
        </p:nvSpPr>
        <p:spPr>
          <a:xfrm>
            <a:off x="3470275" y="5334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121993" name="矩形 262281"/>
          <p:cNvSpPr/>
          <p:nvPr/>
        </p:nvSpPr>
        <p:spPr>
          <a:xfrm>
            <a:off x="2536825" y="5334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21994" name="矩形 262282"/>
          <p:cNvSpPr/>
          <p:nvPr/>
        </p:nvSpPr>
        <p:spPr>
          <a:xfrm>
            <a:off x="1749425" y="5334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sp>
        <p:nvSpPr>
          <p:cNvPr id="121995" name="直接连接符 262283"/>
          <p:cNvSpPr/>
          <p:nvPr/>
        </p:nvSpPr>
        <p:spPr>
          <a:xfrm flipH="1">
            <a:off x="3051175" y="3810000"/>
            <a:ext cx="203200" cy="0"/>
          </a:xfrm>
          <a:prstGeom prst="line">
            <a:avLst/>
          </a:prstGeom>
          <a:ln w="50800" cap="flat" cmpd="sng">
            <a:solidFill>
              <a:schemeClr val="accent1"/>
            </a:solidFill>
            <a:prstDash val="solid"/>
            <a:round/>
            <a:headEnd type="none" w="med" len="med"/>
            <a:tailEnd type="none" w="med" len="med"/>
          </a:ln>
        </p:spPr>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标题 264193"/>
          <p:cNvSpPr>
            <a:spLocks noGrp="1"/>
          </p:cNvSpPr>
          <p:nvPr>
            <p:ph type="title"/>
          </p:nvPr>
        </p:nvSpPr>
        <p:spPr>
          <a:xfrm>
            <a:off x="385763" y="115888"/>
            <a:ext cx="6629400" cy="531812"/>
          </a:xfrm>
          <a:ln/>
        </p:spPr>
        <p:txBody>
          <a:bodyPr vert="horz" wrap="square" lIns="63500" tIns="25400" rIns="63500" bIns="25400" anchor="t" anchorCtr="0">
            <a:spAutoFit/>
          </a:bodyPr>
          <a:p>
            <a:r>
              <a:rPr lang="en-US" altLang="zh-CN">
                <a:ea typeface="宋体" panose="02010600030101010101" pitchFamily="2" charset="-122"/>
              </a:rPr>
              <a:t>Jump</a:t>
            </a:r>
            <a:r>
              <a:rPr lang="zh-CN" altLang="en-US" dirty="0">
                <a:ea typeface="宋体" panose="02010600030101010101" pitchFamily="2" charset="-122"/>
              </a:rPr>
              <a:t>指令译码后的执行过程</a:t>
            </a:r>
            <a:endParaRPr lang="en-US" altLang="zh-CN">
              <a:ea typeface="宋体" panose="02010600030101010101" pitchFamily="2" charset="-122"/>
            </a:endParaRPr>
          </a:p>
        </p:txBody>
      </p:sp>
      <p:grpSp>
        <p:nvGrpSpPr>
          <p:cNvPr id="123906" name="组合 264194"/>
          <p:cNvGrpSpPr/>
          <p:nvPr/>
        </p:nvGrpSpPr>
        <p:grpSpPr>
          <a:xfrm>
            <a:off x="5029200" y="3854450"/>
            <a:ext cx="457200" cy="1136650"/>
            <a:chOff x="3168" y="2302"/>
            <a:chExt cx="288" cy="716"/>
          </a:xfrm>
        </p:grpSpPr>
        <p:sp>
          <p:nvSpPr>
            <p:cNvPr id="123907" name="直接连接符 264195"/>
            <p:cNvSpPr/>
            <p:nvPr/>
          </p:nvSpPr>
          <p:spPr>
            <a:xfrm>
              <a:off x="3168" y="2302"/>
              <a:ext cx="0" cy="163"/>
            </a:xfrm>
            <a:prstGeom prst="line">
              <a:avLst/>
            </a:prstGeom>
            <a:ln w="25400" cap="flat" cmpd="sng">
              <a:solidFill>
                <a:schemeClr val="tx1"/>
              </a:solidFill>
              <a:prstDash val="solid"/>
              <a:round/>
              <a:headEnd type="none" w="med" len="med"/>
              <a:tailEnd type="none" w="med" len="med"/>
            </a:ln>
          </p:spPr>
        </p:sp>
        <p:sp>
          <p:nvSpPr>
            <p:cNvPr id="123908" name="直接连接符 264196"/>
            <p:cNvSpPr/>
            <p:nvPr/>
          </p:nvSpPr>
          <p:spPr>
            <a:xfrm>
              <a:off x="3176" y="2302"/>
              <a:ext cx="272" cy="163"/>
            </a:xfrm>
            <a:prstGeom prst="line">
              <a:avLst/>
            </a:prstGeom>
            <a:ln w="25400" cap="flat" cmpd="sng">
              <a:solidFill>
                <a:schemeClr val="tx1"/>
              </a:solidFill>
              <a:prstDash val="solid"/>
              <a:round/>
              <a:headEnd type="none" w="med" len="med"/>
              <a:tailEnd type="none" w="med" len="med"/>
            </a:ln>
          </p:spPr>
        </p:sp>
        <p:sp>
          <p:nvSpPr>
            <p:cNvPr id="123909" name="直接连接符 264197"/>
            <p:cNvSpPr/>
            <p:nvPr/>
          </p:nvSpPr>
          <p:spPr>
            <a:xfrm>
              <a:off x="3176" y="2481"/>
              <a:ext cx="128" cy="74"/>
            </a:xfrm>
            <a:prstGeom prst="line">
              <a:avLst/>
            </a:prstGeom>
            <a:ln w="25400" cap="flat" cmpd="sng">
              <a:solidFill>
                <a:schemeClr val="tx1"/>
              </a:solidFill>
              <a:prstDash val="solid"/>
              <a:round/>
              <a:headEnd type="none" w="med" len="med"/>
              <a:tailEnd type="none" w="med" len="med"/>
            </a:ln>
          </p:spPr>
        </p:sp>
        <p:sp>
          <p:nvSpPr>
            <p:cNvPr id="123910" name="直接连接符 264198"/>
            <p:cNvSpPr/>
            <p:nvPr/>
          </p:nvSpPr>
          <p:spPr>
            <a:xfrm>
              <a:off x="3312" y="2571"/>
              <a:ext cx="0" cy="163"/>
            </a:xfrm>
            <a:prstGeom prst="line">
              <a:avLst/>
            </a:prstGeom>
            <a:ln w="25400" cap="flat" cmpd="sng">
              <a:solidFill>
                <a:schemeClr val="tx1"/>
              </a:solidFill>
              <a:prstDash val="solid"/>
              <a:round/>
              <a:headEnd type="none" w="med" len="med"/>
              <a:tailEnd type="none" w="med" len="med"/>
            </a:ln>
          </p:spPr>
        </p:sp>
        <p:sp>
          <p:nvSpPr>
            <p:cNvPr id="123911" name="直接连接符 264199"/>
            <p:cNvSpPr/>
            <p:nvPr/>
          </p:nvSpPr>
          <p:spPr>
            <a:xfrm>
              <a:off x="3456" y="2481"/>
              <a:ext cx="0" cy="342"/>
            </a:xfrm>
            <a:prstGeom prst="line">
              <a:avLst/>
            </a:prstGeom>
            <a:ln w="25400" cap="flat" cmpd="sng">
              <a:solidFill>
                <a:schemeClr val="tx1"/>
              </a:solidFill>
              <a:prstDash val="solid"/>
              <a:round/>
              <a:headEnd type="none" w="med" len="med"/>
              <a:tailEnd type="none" w="med" len="med"/>
            </a:ln>
          </p:spPr>
        </p:sp>
        <p:sp>
          <p:nvSpPr>
            <p:cNvPr id="123912" name="直接连接符 264200"/>
            <p:cNvSpPr/>
            <p:nvPr/>
          </p:nvSpPr>
          <p:spPr>
            <a:xfrm flipV="1">
              <a:off x="3176" y="2734"/>
              <a:ext cx="128" cy="105"/>
            </a:xfrm>
            <a:prstGeom prst="line">
              <a:avLst/>
            </a:prstGeom>
            <a:ln w="25400" cap="flat" cmpd="sng">
              <a:solidFill>
                <a:schemeClr val="tx1"/>
              </a:solidFill>
              <a:prstDash val="solid"/>
              <a:round/>
              <a:headEnd type="none" w="med" len="med"/>
              <a:tailEnd type="none" w="med" len="med"/>
            </a:ln>
          </p:spPr>
        </p:sp>
        <p:sp>
          <p:nvSpPr>
            <p:cNvPr id="123913" name="直接连接符 264201"/>
            <p:cNvSpPr/>
            <p:nvPr/>
          </p:nvSpPr>
          <p:spPr>
            <a:xfrm>
              <a:off x="3168" y="2839"/>
              <a:ext cx="0" cy="163"/>
            </a:xfrm>
            <a:prstGeom prst="line">
              <a:avLst/>
            </a:prstGeom>
            <a:ln w="25400" cap="flat" cmpd="sng">
              <a:solidFill>
                <a:schemeClr val="tx1"/>
              </a:solidFill>
              <a:prstDash val="solid"/>
              <a:round/>
              <a:headEnd type="none" w="med" len="med"/>
              <a:tailEnd type="none" w="med" len="med"/>
            </a:ln>
          </p:spPr>
        </p:sp>
        <p:sp>
          <p:nvSpPr>
            <p:cNvPr id="123914" name="直接连接符 264202"/>
            <p:cNvSpPr/>
            <p:nvPr/>
          </p:nvSpPr>
          <p:spPr>
            <a:xfrm flipV="1">
              <a:off x="3176" y="2823"/>
              <a:ext cx="272" cy="195"/>
            </a:xfrm>
            <a:prstGeom prst="line">
              <a:avLst/>
            </a:prstGeom>
            <a:ln w="25400" cap="flat" cmpd="sng">
              <a:solidFill>
                <a:schemeClr val="tx1"/>
              </a:solidFill>
              <a:prstDash val="solid"/>
              <a:round/>
              <a:headEnd type="none" w="med" len="med"/>
              <a:tailEnd type="none" w="med" len="med"/>
            </a:ln>
          </p:spPr>
        </p:sp>
      </p:grpSp>
      <p:sp>
        <p:nvSpPr>
          <p:cNvPr id="123915" name="直接连接符 264203"/>
          <p:cNvSpPr/>
          <p:nvPr/>
        </p:nvSpPr>
        <p:spPr>
          <a:xfrm flipH="1">
            <a:off x="5473700" y="4410075"/>
            <a:ext cx="2311400" cy="0"/>
          </a:xfrm>
          <a:prstGeom prst="line">
            <a:avLst/>
          </a:prstGeom>
          <a:ln w="25400" cap="flat" cmpd="sng">
            <a:solidFill>
              <a:schemeClr val="tx1"/>
            </a:solidFill>
            <a:prstDash val="solid"/>
            <a:round/>
            <a:headEnd type="triangle" w="med" len="med"/>
            <a:tailEnd type="none" w="med" len="med"/>
          </a:ln>
        </p:spPr>
      </p:sp>
      <p:sp>
        <p:nvSpPr>
          <p:cNvPr id="123916" name="直接连接符 264204"/>
          <p:cNvSpPr/>
          <p:nvPr/>
        </p:nvSpPr>
        <p:spPr>
          <a:xfrm flipH="1">
            <a:off x="5861050" y="4346575"/>
            <a:ext cx="88900" cy="128588"/>
          </a:xfrm>
          <a:prstGeom prst="line">
            <a:avLst/>
          </a:prstGeom>
          <a:ln w="12700" cap="flat" cmpd="sng">
            <a:solidFill>
              <a:schemeClr val="tx1"/>
            </a:solidFill>
            <a:prstDash val="solid"/>
            <a:round/>
            <a:headEnd type="none" w="med" len="med"/>
            <a:tailEnd type="none" w="med" len="med"/>
          </a:ln>
        </p:spPr>
      </p:sp>
      <p:sp>
        <p:nvSpPr>
          <p:cNvPr id="123917" name="矩形 264205"/>
          <p:cNvSpPr/>
          <p:nvPr/>
        </p:nvSpPr>
        <p:spPr>
          <a:xfrm>
            <a:off x="5548313" y="44084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23918" name="直接连接符 264206"/>
          <p:cNvSpPr/>
          <p:nvPr/>
        </p:nvSpPr>
        <p:spPr>
          <a:xfrm>
            <a:off x="5257800" y="3489325"/>
            <a:ext cx="0" cy="482600"/>
          </a:xfrm>
          <a:prstGeom prst="line">
            <a:avLst/>
          </a:prstGeom>
          <a:ln w="25400" cap="flat" cmpd="sng">
            <a:solidFill>
              <a:schemeClr val="tx1"/>
            </a:solidFill>
            <a:prstDash val="solid"/>
            <a:round/>
            <a:headEnd type="none" w="med" len="med"/>
            <a:tailEnd type="triangle" w="med" len="med"/>
          </a:ln>
        </p:spPr>
      </p:sp>
      <p:sp>
        <p:nvSpPr>
          <p:cNvPr id="123919" name="矩形 264207"/>
          <p:cNvSpPr/>
          <p:nvPr/>
        </p:nvSpPr>
        <p:spPr>
          <a:xfrm>
            <a:off x="4192588" y="3195638"/>
            <a:ext cx="1546225" cy="363537"/>
          </a:xfrm>
          <a:prstGeom prst="rect">
            <a:avLst/>
          </a:prstGeom>
          <a:noFill/>
          <a:ln w="12700">
            <a:noFill/>
          </a:ln>
        </p:spPr>
        <p:txBody>
          <a:bodyPr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ALUctr</a:t>
            </a:r>
            <a:r>
              <a:rPr lang="en-US" altLang="zh-CN" sz="1800" u="sng">
                <a:solidFill>
                  <a:schemeClr val="accent1"/>
                </a:solidFill>
                <a:latin typeface="Arial" panose="020B0604020202020204" pitchFamily="34" charset="0"/>
                <a:ea typeface="宋体" panose="02010600030101010101" pitchFamily="2" charset="-122"/>
              </a:rPr>
              <a:t> = x</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3920" name="矩形 264208"/>
          <p:cNvSpPr/>
          <p:nvPr/>
        </p:nvSpPr>
        <p:spPr>
          <a:xfrm>
            <a:off x="960438" y="4787900"/>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23921" name="矩形 264209"/>
          <p:cNvSpPr/>
          <p:nvPr/>
        </p:nvSpPr>
        <p:spPr>
          <a:xfrm>
            <a:off x="671513" y="3981450"/>
            <a:ext cx="803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123922" name="矩形 264210"/>
          <p:cNvSpPr/>
          <p:nvPr/>
        </p:nvSpPr>
        <p:spPr>
          <a:xfrm>
            <a:off x="1755775" y="3854450"/>
            <a:ext cx="1431925" cy="11303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3923" name="直接连接符 264211"/>
          <p:cNvSpPr/>
          <p:nvPr/>
        </p:nvSpPr>
        <p:spPr>
          <a:xfrm>
            <a:off x="1793875" y="4760913"/>
            <a:ext cx="250825" cy="63500"/>
          </a:xfrm>
          <a:prstGeom prst="line">
            <a:avLst/>
          </a:prstGeom>
          <a:ln w="25400" cap="flat" cmpd="sng">
            <a:solidFill>
              <a:schemeClr val="tx1"/>
            </a:solidFill>
            <a:prstDash val="solid"/>
            <a:round/>
            <a:headEnd type="none" w="med" len="med"/>
            <a:tailEnd type="none" w="med" len="med"/>
          </a:ln>
        </p:spPr>
      </p:sp>
      <p:sp>
        <p:nvSpPr>
          <p:cNvPr id="123924" name="直接连接符 264212"/>
          <p:cNvSpPr/>
          <p:nvPr/>
        </p:nvSpPr>
        <p:spPr>
          <a:xfrm flipH="1">
            <a:off x="1768475" y="4849813"/>
            <a:ext cx="301625" cy="98425"/>
          </a:xfrm>
          <a:prstGeom prst="line">
            <a:avLst/>
          </a:prstGeom>
          <a:ln w="25400" cap="flat" cmpd="sng">
            <a:solidFill>
              <a:schemeClr val="tx1"/>
            </a:solidFill>
            <a:prstDash val="solid"/>
            <a:round/>
            <a:headEnd type="none" w="med" len="med"/>
            <a:tailEnd type="none" w="med" len="med"/>
          </a:ln>
        </p:spPr>
      </p:sp>
      <p:sp>
        <p:nvSpPr>
          <p:cNvPr id="123925" name="椭圆 264213"/>
          <p:cNvSpPr/>
          <p:nvPr/>
        </p:nvSpPr>
        <p:spPr>
          <a:xfrm>
            <a:off x="1603375" y="4795838"/>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64215" name="矩形 264214"/>
          <p:cNvSpPr/>
          <p:nvPr/>
        </p:nvSpPr>
        <p:spPr>
          <a:xfrm>
            <a:off x="669925" y="3302000"/>
            <a:ext cx="12922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RegWr</a:t>
            </a:r>
            <a:r>
              <a:rPr lang="en-US" altLang="zh-CN" u="sng">
                <a:solidFill>
                  <a:srgbClr val="A50021"/>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3927" name="直接连接符 264215"/>
          <p:cNvSpPr/>
          <p:nvPr/>
        </p:nvSpPr>
        <p:spPr>
          <a:xfrm flipH="1">
            <a:off x="749300" y="4340225"/>
            <a:ext cx="1016000" cy="0"/>
          </a:xfrm>
          <a:prstGeom prst="line">
            <a:avLst/>
          </a:prstGeom>
          <a:ln w="25400" cap="flat" cmpd="sng">
            <a:solidFill>
              <a:schemeClr val="tx1"/>
            </a:solidFill>
            <a:prstDash val="solid"/>
            <a:round/>
            <a:headEnd type="triangle" w="med" len="med"/>
            <a:tailEnd type="none" w="med" len="med"/>
          </a:ln>
        </p:spPr>
      </p:sp>
      <p:sp>
        <p:nvSpPr>
          <p:cNvPr id="123928" name="直接连接符 264216"/>
          <p:cNvSpPr/>
          <p:nvPr/>
        </p:nvSpPr>
        <p:spPr>
          <a:xfrm flipH="1">
            <a:off x="1289050" y="4275138"/>
            <a:ext cx="88900" cy="128587"/>
          </a:xfrm>
          <a:prstGeom prst="line">
            <a:avLst/>
          </a:prstGeom>
          <a:ln w="12700" cap="flat" cmpd="sng">
            <a:solidFill>
              <a:schemeClr val="tx1"/>
            </a:solidFill>
            <a:prstDash val="solid"/>
            <a:round/>
            <a:headEnd type="none" w="med" len="med"/>
            <a:tailEnd type="none" w="med" len="med"/>
          </a:ln>
        </p:spPr>
      </p:sp>
      <p:sp>
        <p:nvSpPr>
          <p:cNvPr id="123929" name="矩形 264217"/>
          <p:cNvSpPr/>
          <p:nvPr/>
        </p:nvSpPr>
        <p:spPr>
          <a:xfrm>
            <a:off x="976313" y="43370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23930" name="直接连接符 264218"/>
          <p:cNvSpPr/>
          <p:nvPr/>
        </p:nvSpPr>
        <p:spPr>
          <a:xfrm>
            <a:off x="3213100" y="3984625"/>
            <a:ext cx="1803400" cy="0"/>
          </a:xfrm>
          <a:prstGeom prst="line">
            <a:avLst/>
          </a:prstGeom>
          <a:ln w="25400" cap="flat" cmpd="sng">
            <a:solidFill>
              <a:schemeClr val="tx1"/>
            </a:solidFill>
            <a:prstDash val="solid"/>
            <a:round/>
            <a:headEnd type="none" w="med" len="med"/>
            <a:tailEnd type="triangle" w="med" len="med"/>
          </a:ln>
        </p:spPr>
      </p:sp>
      <p:sp>
        <p:nvSpPr>
          <p:cNvPr id="123931" name="直接连接符 264219"/>
          <p:cNvSpPr/>
          <p:nvPr/>
        </p:nvSpPr>
        <p:spPr>
          <a:xfrm flipH="1">
            <a:off x="4184650" y="3919538"/>
            <a:ext cx="88900" cy="130175"/>
          </a:xfrm>
          <a:prstGeom prst="line">
            <a:avLst/>
          </a:prstGeom>
          <a:ln w="12700" cap="flat" cmpd="sng">
            <a:solidFill>
              <a:schemeClr val="tx1"/>
            </a:solidFill>
            <a:prstDash val="solid"/>
            <a:round/>
            <a:headEnd type="none" w="med" len="med"/>
            <a:tailEnd type="none" w="med" len="med"/>
          </a:ln>
        </p:spPr>
      </p:sp>
      <p:sp>
        <p:nvSpPr>
          <p:cNvPr id="123932" name="矩形 264220"/>
          <p:cNvSpPr/>
          <p:nvPr/>
        </p:nvSpPr>
        <p:spPr>
          <a:xfrm>
            <a:off x="3871913" y="40528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23933" name="矩形 264221"/>
          <p:cNvSpPr/>
          <p:nvPr/>
        </p:nvSpPr>
        <p:spPr>
          <a:xfrm>
            <a:off x="3567113" y="3697288"/>
            <a:ext cx="7524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123934" name="直接连接符 264222"/>
          <p:cNvSpPr/>
          <p:nvPr/>
        </p:nvSpPr>
        <p:spPr>
          <a:xfrm flipV="1">
            <a:off x="1905000" y="3616325"/>
            <a:ext cx="0" cy="238125"/>
          </a:xfrm>
          <a:prstGeom prst="line">
            <a:avLst/>
          </a:prstGeom>
          <a:ln w="25400" cap="flat" cmpd="sng">
            <a:solidFill>
              <a:schemeClr val="tx1"/>
            </a:solidFill>
            <a:prstDash val="solid"/>
            <a:round/>
            <a:headEnd type="none" w="med" len="med"/>
            <a:tailEnd type="none" w="med" len="med"/>
          </a:ln>
        </p:spPr>
      </p:sp>
      <p:sp>
        <p:nvSpPr>
          <p:cNvPr id="123935" name="直接连接符 264223"/>
          <p:cNvSpPr/>
          <p:nvPr/>
        </p:nvSpPr>
        <p:spPr>
          <a:xfrm>
            <a:off x="3213100" y="4684713"/>
            <a:ext cx="965200" cy="0"/>
          </a:xfrm>
          <a:prstGeom prst="line">
            <a:avLst/>
          </a:prstGeom>
          <a:ln w="25400" cap="flat" cmpd="sng">
            <a:solidFill>
              <a:schemeClr val="tx1"/>
            </a:solidFill>
            <a:prstDash val="solid"/>
            <a:round/>
            <a:headEnd type="none" w="med" len="med"/>
            <a:tailEnd type="triangle" w="med" len="med"/>
          </a:ln>
        </p:spPr>
      </p:sp>
      <p:sp>
        <p:nvSpPr>
          <p:cNvPr id="123936" name="直接连接符 264224"/>
          <p:cNvSpPr/>
          <p:nvPr/>
        </p:nvSpPr>
        <p:spPr>
          <a:xfrm flipV="1">
            <a:off x="3663950" y="4537075"/>
            <a:ext cx="139700" cy="241300"/>
          </a:xfrm>
          <a:prstGeom prst="line">
            <a:avLst/>
          </a:prstGeom>
          <a:ln w="12700" cap="flat" cmpd="sng">
            <a:solidFill>
              <a:schemeClr val="tx1"/>
            </a:solidFill>
            <a:prstDash val="solid"/>
            <a:round/>
            <a:headEnd type="none" w="med" len="med"/>
            <a:tailEnd type="none" w="med" len="med"/>
          </a:ln>
        </p:spPr>
      </p:sp>
      <p:sp>
        <p:nvSpPr>
          <p:cNvPr id="123937" name="矩形 264225"/>
          <p:cNvSpPr/>
          <p:nvPr/>
        </p:nvSpPr>
        <p:spPr>
          <a:xfrm>
            <a:off x="3262313" y="468153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23938" name="矩形 264226"/>
          <p:cNvSpPr/>
          <p:nvPr/>
        </p:nvSpPr>
        <p:spPr>
          <a:xfrm>
            <a:off x="3173413" y="4333875"/>
            <a:ext cx="7524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123939" name="直接连接符 264227"/>
          <p:cNvSpPr/>
          <p:nvPr/>
        </p:nvSpPr>
        <p:spPr>
          <a:xfrm flipH="1">
            <a:off x="1130300" y="4837113"/>
            <a:ext cx="482600" cy="0"/>
          </a:xfrm>
          <a:prstGeom prst="line">
            <a:avLst/>
          </a:prstGeom>
          <a:ln w="25400" cap="flat" cmpd="sng">
            <a:solidFill>
              <a:schemeClr val="tx1"/>
            </a:solidFill>
            <a:prstDash val="solid"/>
            <a:round/>
            <a:headEnd type="none" w="med" len="med"/>
            <a:tailEnd type="none" w="med" len="med"/>
          </a:ln>
        </p:spPr>
      </p:sp>
      <p:sp>
        <p:nvSpPr>
          <p:cNvPr id="123940" name="直接连接符 264228"/>
          <p:cNvSpPr/>
          <p:nvPr/>
        </p:nvSpPr>
        <p:spPr>
          <a:xfrm>
            <a:off x="3048000" y="3429000"/>
            <a:ext cx="0" cy="400050"/>
          </a:xfrm>
          <a:prstGeom prst="line">
            <a:avLst/>
          </a:prstGeom>
          <a:ln w="25400" cap="flat" cmpd="sng">
            <a:solidFill>
              <a:schemeClr val="tx1"/>
            </a:solidFill>
            <a:prstDash val="solid"/>
            <a:round/>
            <a:headEnd type="none" w="med" len="med"/>
            <a:tailEnd type="none" w="med" len="med"/>
          </a:ln>
        </p:spPr>
      </p:sp>
      <p:sp>
        <p:nvSpPr>
          <p:cNvPr id="123941" name="直接连接符 264229"/>
          <p:cNvSpPr/>
          <p:nvPr/>
        </p:nvSpPr>
        <p:spPr>
          <a:xfrm flipV="1">
            <a:off x="2978150" y="3551238"/>
            <a:ext cx="139700" cy="155575"/>
          </a:xfrm>
          <a:prstGeom prst="line">
            <a:avLst/>
          </a:prstGeom>
          <a:ln w="12700" cap="flat" cmpd="sng">
            <a:solidFill>
              <a:schemeClr val="tx1"/>
            </a:solidFill>
            <a:prstDash val="solid"/>
            <a:round/>
            <a:headEnd type="none" w="med" len="med"/>
            <a:tailEnd type="none" w="med" len="med"/>
          </a:ln>
        </p:spPr>
      </p:sp>
      <p:sp>
        <p:nvSpPr>
          <p:cNvPr id="123942" name="矩形 264230"/>
          <p:cNvSpPr/>
          <p:nvPr/>
        </p:nvSpPr>
        <p:spPr>
          <a:xfrm>
            <a:off x="2805113" y="3413125"/>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23943" name="直接连接符 264231"/>
          <p:cNvSpPr/>
          <p:nvPr/>
        </p:nvSpPr>
        <p:spPr>
          <a:xfrm>
            <a:off x="2209800" y="3216275"/>
            <a:ext cx="0" cy="612775"/>
          </a:xfrm>
          <a:prstGeom prst="line">
            <a:avLst/>
          </a:prstGeom>
          <a:ln w="25400" cap="flat" cmpd="sng">
            <a:solidFill>
              <a:schemeClr val="tx1"/>
            </a:solidFill>
            <a:prstDash val="solid"/>
            <a:round/>
            <a:headEnd type="none" w="med" len="med"/>
            <a:tailEnd type="none" w="med" len="med"/>
          </a:ln>
        </p:spPr>
      </p:sp>
      <p:sp>
        <p:nvSpPr>
          <p:cNvPr id="123944" name="直接连接符 264232"/>
          <p:cNvSpPr/>
          <p:nvPr/>
        </p:nvSpPr>
        <p:spPr>
          <a:xfrm flipV="1">
            <a:off x="2139950" y="3551238"/>
            <a:ext cx="139700" cy="155575"/>
          </a:xfrm>
          <a:prstGeom prst="line">
            <a:avLst/>
          </a:prstGeom>
          <a:ln w="12700" cap="flat" cmpd="sng">
            <a:solidFill>
              <a:schemeClr val="tx1"/>
            </a:solidFill>
            <a:prstDash val="solid"/>
            <a:round/>
            <a:headEnd type="none" w="med" len="med"/>
            <a:tailEnd type="none" w="med" len="med"/>
          </a:ln>
        </p:spPr>
      </p:sp>
      <p:sp>
        <p:nvSpPr>
          <p:cNvPr id="123945" name="矩形 264233"/>
          <p:cNvSpPr/>
          <p:nvPr/>
        </p:nvSpPr>
        <p:spPr>
          <a:xfrm>
            <a:off x="1966913" y="3413125"/>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23946" name="直接连接符 264234"/>
          <p:cNvSpPr/>
          <p:nvPr/>
        </p:nvSpPr>
        <p:spPr>
          <a:xfrm>
            <a:off x="2590800" y="3429000"/>
            <a:ext cx="0" cy="400050"/>
          </a:xfrm>
          <a:prstGeom prst="line">
            <a:avLst/>
          </a:prstGeom>
          <a:ln w="25400" cap="flat" cmpd="sng">
            <a:solidFill>
              <a:schemeClr val="tx1"/>
            </a:solidFill>
            <a:prstDash val="solid"/>
            <a:round/>
            <a:headEnd type="none" w="med" len="med"/>
            <a:tailEnd type="none" w="med" len="med"/>
          </a:ln>
        </p:spPr>
      </p:sp>
      <p:sp>
        <p:nvSpPr>
          <p:cNvPr id="123947" name="直接连接符 264235"/>
          <p:cNvSpPr/>
          <p:nvPr/>
        </p:nvSpPr>
        <p:spPr>
          <a:xfrm flipV="1">
            <a:off x="2520950" y="3551238"/>
            <a:ext cx="139700" cy="155575"/>
          </a:xfrm>
          <a:prstGeom prst="line">
            <a:avLst/>
          </a:prstGeom>
          <a:ln w="12700" cap="flat" cmpd="sng">
            <a:solidFill>
              <a:schemeClr val="tx1"/>
            </a:solidFill>
            <a:prstDash val="solid"/>
            <a:round/>
            <a:headEnd type="none" w="med" len="med"/>
            <a:tailEnd type="none" w="med" len="med"/>
          </a:ln>
        </p:spPr>
      </p:sp>
      <p:sp>
        <p:nvSpPr>
          <p:cNvPr id="123948" name="矩形 264236"/>
          <p:cNvSpPr/>
          <p:nvPr/>
        </p:nvSpPr>
        <p:spPr>
          <a:xfrm>
            <a:off x="2347913" y="3413125"/>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23949" name="矩形 264237"/>
          <p:cNvSpPr/>
          <p:nvPr/>
        </p:nvSpPr>
        <p:spPr>
          <a:xfrm>
            <a:off x="1966913" y="3840163"/>
            <a:ext cx="523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123950" name="矩形 264238"/>
          <p:cNvSpPr/>
          <p:nvPr/>
        </p:nvSpPr>
        <p:spPr>
          <a:xfrm>
            <a:off x="2424113" y="3840163"/>
            <a:ext cx="4730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123951" name="矩形 264239"/>
          <p:cNvSpPr/>
          <p:nvPr/>
        </p:nvSpPr>
        <p:spPr>
          <a:xfrm>
            <a:off x="2805113" y="3840163"/>
            <a:ext cx="4857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123952" name="矩形 264240"/>
          <p:cNvSpPr/>
          <p:nvPr/>
        </p:nvSpPr>
        <p:spPr>
          <a:xfrm>
            <a:off x="1966913" y="4124325"/>
            <a:ext cx="1222375" cy="63817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 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pPr eaLnBrk="0" hangingPunct="0"/>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123953" name="直接连接符 264241"/>
          <p:cNvSpPr/>
          <p:nvPr/>
        </p:nvSpPr>
        <p:spPr>
          <a:xfrm flipH="1">
            <a:off x="749300" y="6372225"/>
            <a:ext cx="7797800" cy="0"/>
          </a:xfrm>
          <a:prstGeom prst="line">
            <a:avLst/>
          </a:prstGeom>
          <a:ln w="25400" cap="flat" cmpd="sng">
            <a:solidFill>
              <a:schemeClr val="tx1"/>
            </a:solidFill>
            <a:prstDash val="solid"/>
            <a:round/>
            <a:headEnd type="none" w="med" len="med"/>
            <a:tailEnd type="none" w="med" len="med"/>
          </a:ln>
        </p:spPr>
      </p:sp>
      <p:sp>
        <p:nvSpPr>
          <p:cNvPr id="123954" name="直接连接符 264242"/>
          <p:cNvSpPr/>
          <p:nvPr/>
        </p:nvSpPr>
        <p:spPr>
          <a:xfrm flipV="1">
            <a:off x="762000" y="4327525"/>
            <a:ext cx="0" cy="2057400"/>
          </a:xfrm>
          <a:prstGeom prst="line">
            <a:avLst/>
          </a:prstGeom>
          <a:ln w="25400" cap="flat" cmpd="sng">
            <a:solidFill>
              <a:schemeClr val="tx1"/>
            </a:solidFill>
            <a:prstDash val="solid"/>
            <a:round/>
            <a:headEnd type="none" w="med" len="med"/>
            <a:tailEnd type="none" w="med" len="med"/>
          </a:ln>
        </p:spPr>
      </p:sp>
      <p:sp>
        <p:nvSpPr>
          <p:cNvPr id="123955" name="矩形 264243"/>
          <p:cNvSpPr/>
          <p:nvPr/>
        </p:nvSpPr>
        <p:spPr>
          <a:xfrm>
            <a:off x="2576513" y="32004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23956" name="矩形 264244"/>
          <p:cNvSpPr/>
          <p:nvPr/>
        </p:nvSpPr>
        <p:spPr>
          <a:xfrm>
            <a:off x="2347913" y="2560638"/>
            <a:ext cx="4222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123957" name="组合 264245"/>
          <p:cNvGrpSpPr/>
          <p:nvPr/>
        </p:nvGrpSpPr>
        <p:grpSpPr>
          <a:xfrm>
            <a:off x="4191000" y="4403725"/>
            <a:ext cx="304800" cy="1227138"/>
            <a:chOff x="2640" y="2648"/>
            <a:chExt cx="192" cy="773"/>
          </a:xfrm>
        </p:grpSpPr>
        <p:sp>
          <p:nvSpPr>
            <p:cNvPr id="123958" name="直接连接符 264246"/>
            <p:cNvSpPr/>
            <p:nvPr/>
          </p:nvSpPr>
          <p:spPr>
            <a:xfrm>
              <a:off x="2640" y="2648"/>
              <a:ext cx="0" cy="757"/>
            </a:xfrm>
            <a:prstGeom prst="line">
              <a:avLst/>
            </a:prstGeom>
            <a:ln w="25400" cap="flat" cmpd="sng">
              <a:solidFill>
                <a:schemeClr val="tx1"/>
              </a:solidFill>
              <a:prstDash val="solid"/>
              <a:round/>
              <a:headEnd type="none" w="med" len="med"/>
              <a:tailEnd type="none" w="med" len="med"/>
            </a:ln>
          </p:spPr>
        </p:sp>
        <p:sp>
          <p:nvSpPr>
            <p:cNvPr id="123959" name="直接连接符 264247"/>
            <p:cNvSpPr/>
            <p:nvPr/>
          </p:nvSpPr>
          <p:spPr>
            <a:xfrm>
              <a:off x="2648" y="2648"/>
              <a:ext cx="176" cy="86"/>
            </a:xfrm>
            <a:prstGeom prst="line">
              <a:avLst/>
            </a:prstGeom>
            <a:ln w="25400" cap="flat" cmpd="sng">
              <a:solidFill>
                <a:schemeClr val="tx1"/>
              </a:solidFill>
              <a:prstDash val="solid"/>
              <a:round/>
              <a:headEnd type="none" w="med" len="med"/>
              <a:tailEnd type="none" w="med" len="med"/>
            </a:ln>
          </p:spPr>
        </p:sp>
        <p:sp>
          <p:nvSpPr>
            <p:cNvPr id="123960" name="直接连接符 264248"/>
            <p:cNvSpPr/>
            <p:nvPr/>
          </p:nvSpPr>
          <p:spPr>
            <a:xfrm flipV="1">
              <a:off x="2648" y="3303"/>
              <a:ext cx="176" cy="118"/>
            </a:xfrm>
            <a:prstGeom prst="line">
              <a:avLst/>
            </a:prstGeom>
            <a:ln w="25400" cap="flat" cmpd="sng">
              <a:solidFill>
                <a:schemeClr val="tx1"/>
              </a:solidFill>
              <a:prstDash val="solid"/>
              <a:round/>
              <a:headEnd type="none" w="med" len="med"/>
              <a:tailEnd type="none" w="med" len="med"/>
            </a:ln>
          </p:spPr>
        </p:sp>
        <p:sp>
          <p:nvSpPr>
            <p:cNvPr id="123961" name="直接连接符 264249"/>
            <p:cNvSpPr/>
            <p:nvPr/>
          </p:nvSpPr>
          <p:spPr>
            <a:xfrm>
              <a:off x="2832" y="2750"/>
              <a:ext cx="0" cy="553"/>
            </a:xfrm>
            <a:prstGeom prst="line">
              <a:avLst/>
            </a:prstGeom>
            <a:ln w="25400" cap="flat" cmpd="sng">
              <a:solidFill>
                <a:schemeClr val="tx1"/>
              </a:solidFill>
              <a:prstDash val="solid"/>
              <a:round/>
              <a:headEnd type="none" w="med" len="med"/>
              <a:tailEnd type="none" w="med" len="med"/>
            </a:ln>
          </p:spPr>
        </p:sp>
      </p:grpSp>
      <p:grpSp>
        <p:nvGrpSpPr>
          <p:cNvPr id="123962" name="组合 264250"/>
          <p:cNvGrpSpPr/>
          <p:nvPr/>
        </p:nvGrpSpPr>
        <p:grpSpPr>
          <a:xfrm>
            <a:off x="1473200" y="2954338"/>
            <a:ext cx="1168400" cy="284162"/>
            <a:chOff x="928" y="1735"/>
            <a:chExt cx="736" cy="179"/>
          </a:xfrm>
        </p:grpSpPr>
        <p:sp>
          <p:nvSpPr>
            <p:cNvPr id="123963" name="直接连接符 264251"/>
            <p:cNvSpPr/>
            <p:nvPr/>
          </p:nvSpPr>
          <p:spPr>
            <a:xfrm flipH="1">
              <a:off x="928" y="1735"/>
              <a:ext cx="736" cy="0"/>
            </a:xfrm>
            <a:prstGeom prst="line">
              <a:avLst/>
            </a:prstGeom>
            <a:ln w="25400" cap="flat" cmpd="sng">
              <a:solidFill>
                <a:schemeClr val="tx1"/>
              </a:solidFill>
              <a:prstDash val="solid"/>
              <a:round/>
              <a:headEnd type="none" w="med" len="med"/>
              <a:tailEnd type="none" w="med" len="med"/>
            </a:ln>
          </p:spPr>
        </p:sp>
        <p:sp>
          <p:nvSpPr>
            <p:cNvPr id="123964" name="直接连接符 264252"/>
            <p:cNvSpPr/>
            <p:nvPr/>
          </p:nvSpPr>
          <p:spPr>
            <a:xfrm flipH="1">
              <a:off x="1552" y="1743"/>
              <a:ext cx="112" cy="163"/>
            </a:xfrm>
            <a:prstGeom prst="line">
              <a:avLst/>
            </a:prstGeom>
            <a:ln w="25400" cap="flat" cmpd="sng">
              <a:solidFill>
                <a:schemeClr val="tx1"/>
              </a:solidFill>
              <a:prstDash val="solid"/>
              <a:round/>
              <a:headEnd type="none" w="med" len="med"/>
              <a:tailEnd type="none" w="med" len="med"/>
            </a:ln>
          </p:spPr>
        </p:sp>
        <p:sp>
          <p:nvSpPr>
            <p:cNvPr id="123965" name="直接连接符 264253"/>
            <p:cNvSpPr/>
            <p:nvPr/>
          </p:nvSpPr>
          <p:spPr>
            <a:xfrm>
              <a:off x="944" y="1743"/>
              <a:ext cx="80" cy="163"/>
            </a:xfrm>
            <a:prstGeom prst="line">
              <a:avLst/>
            </a:prstGeom>
            <a:ln w="25400" cap="flat" cmpd="sng">
              <a:solidFill>
                <a:schemeClr val="tx1"/>
              </a:solidFill>
              <a:prstDash val="solid"/>
              <a:round/>
              <a:headEnd type="none" w="med" len="med"/>
              <a:tailEnd type="none" w="med" len="med"/>
            </a:ln>
          </p:spPr>
        </p:sp>
        <p:sp>
          <p:nvSpPr>
            <p:cNvPr id="123966" name="直接连接符 264254"/>
            <p:cNvSpPr/>
            <p:nvPr/>
          </p:nvSpPr>
          <p:spPr>
            <a:xfrm flipH="1">
              <a:off x="1024" y="1914"/>
              <a:ext cx="544" cy="0"/>
            </a:xfrm>
            <a:prstGeom prst="line">
              <a:avLst/>
            </a:prstGeom>
            <a:ln w="25400" cap="flat" cmpd="sng">
              <a:solidFill>
                <a:schemeClr val="tx1"/>
              </a:solidFill>
              <a:prstDash val="solid"/>
              <a:round/>
              <a:headEnd type="none" w="med" len="med"/>
              <a:tailEnd type="none" w="med" len="med"/>
            </a:ln>
          </p:spPr>
        </p:sp>
      </p:grpSp>
      <p:sp>
        <p:nvSpPr>
          <p:cNvPr id="123967" name="矩形 264255"/>
          <p:cNvSpPr/>
          <p:nvPr/>
        </p:nvSpPr>
        <p:spPr>
          <a:xfrm>
            <a:off x="2986088" y="3200400"/>
            <a:ext cx="422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23968" name="直接连接符 264256"/>
          <p:cNvSpPr/>
          <p:nvPr/>
        </p:nvSpPr>
        <p:spPr>
          <a:xfrm>
            <a:off x="2362200" y="2717800"/>
            <a:ext cx="0" cy="188913"/>
          </a:xfrm>
          <a:prstGeom prst="line">
            <a:avLst/>
          </a:prstGeom>
          <a:ln w="25400" cap="flat" cmpd="sng">
            <a:solidFill>
              <a:schemeClr val="tx1"/>
            </a:solidFill>
            <a:prstDash val="solid"/>
            <a:round/>
            <a:headEnd type="none" w="med" len="med"/>
            <a:tailEnd type="none" w="med" len="med"/>
          </a:ln>
        </p:spPr>
      </p:sp>
      <p:sp>
        <p:nvSpPr>
          <p:cNvPr id="123969" name="直接连接符 264257"/>
          <p:cNvSpPr/>
          <p:nvPr/>
        </p:nvSpPr>
        <p:spPr>
          <a:xfrm>
            <a:off x="1752600" y="2717800"/>
            <a:ext cx="0" cy="188913"/>
          </a:xfrm>
          <a:prstGeom prst="line">
            <a:avLst/>
          </a:prstGeom>
          <a:ln w="25400" cap="flat" cmpd="sng">
            <a:solidFill>
              <a:schemeClr val="tx1"/>
            </a:solidFill>
            <a:prstDash val="solid"/>
            <a:round/>
            <a:headEnd type="none" w="med" len="med"/>
            <a:tailEnd type="none" w="med" len="med"/>
          </a:ln>
        </p:spPr>
      </p:sp>
      <p:sp>
        <p:nvSpPr>
          <p:cNvPr id="123970" name="矩形 264258"/>
          <p:cNvSpPr/>
          <p:nvPr/>
        </p:nvSpPr>
        <p:spPr>
          <a:xfrm>
            <a:off x="1738313" y="2560638"/>
            <a:ext cx="4857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23971" name="直接连接符 264259"/>
          <p:cNvSpPr/>
          <p:nvPr/>
        </p:nvSpPr>
        <p:spPr>
          <a:xfrm flipH="1">
            <a:off x="1054100" y="3095625"/>
            <a:ext cx="558800" cy="0"/>
          </a:xfrm>
          <a:prstGeom prst="line">
            <a:avLst/>
          </a:prstGeom>
          <a:ln w="25400" cap="flat" cmpd="sng">
            <a:solidFill>
              <a:schemeClr val="tx1"/>
            </a:solidFill>
            <a:prstDash val="solid"/>
            <a:round/>
            <a:headEnd type="triangle" w="med" len="med"/>
            <a:tailEnd type="none" w="med" len="med"/>
          </a:ln>
        </p:spPr>
      </p:sp>
      <p:sp>
        <p:nvSpPr>
          <p:cNvPr id="123972" name="矩形 264260"/>
          <p:cNvSpPr/>
          <p:nvPr/>
        </p:nvSpPr>
        <p:spPr>
          <a:xfrm>
            <a:off x="138113" y="2717800"/>
            <a:ext cx="13684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RegDst</a:t>
            </a:r>
            <a:r>
              <a:rPr lang="en-US" altLang="zh-CN" sz="1800" u="sng">
                <a:solidFill>
                  <a:schemeClr val="accent1"/>
                </a:solidFill>
                <a:latin typeface="Arial" panose="020B0604020202020204" pitchFamily="34" charset="0"/>
                <a:ea typeface="宋体" panose="02010600030101010101" pitchFamily="2" charset="-122"/>
              </a:rPr>
              <a:t> = x</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3973" name="矩形 264261"/>
          <p:cNvSpPr/>
          <p:nvPr/>
        </p:nvSpPr>
        <p:spPr>
          <a:xfrm>
            <a:off x="3136900" y="5089525"/>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3974" name="矩形 264262"/>
          <p:cNvSpPr/>
          <p:nvPr/>
        </p:nvSpPr>
        <p:spPr>
          <a:xfrm rot="5400000">
            <a:off x="3011488" y="5357813"/>
            <a:ext cx="5365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Ext</a:t>
            </a:r>
            <a:endParaRPr lang="en-US" altLang="zh-CN" sz="1800">
              <a:latin typeface="Arial" panose="020B0604020202020204" pitchFamily="34" charset="0"/>
              <a:ea typeface="宋体" panose="02010600030101010101" pitchFamily="2" charset="-122"/>
            </a:endParaRPr>
          </a:p>
        </p:txBody>
      </p:sp>
      <p:sp>
        <p:nvSpPr>
          <p:cNvPr id="123975" name="矩形 264263"/>
          <p:cNvSpPr/>
          <p:nvPr/>
        </p:nvSpPr>
        <p:spPr>
          <a:xfrm rot="5400000">
            <a:off x="3975100" y="4813300"/>
            <a:ext cx="638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23976" name="矩形 264264"/>
          <p:cNvSpPr/>
          <p:nvPr/>
        </p:nvSpPr>
        <p:spPr>
          <a:xfrm>
            <a:off x="1776413" y="2951163"/>
            <a:ext cx="6381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23977" name="直接连接符 264265"/>
          <p:cNvSpPr/>
          <p:nvPr/>
        </p:nvSpPr>
        <p:spPr>
          <a:xfrm>
            <a:off x="3517900" y="5476875"/>
            <a:ext cx="660400" cy="0"/>
          </a:xfrm>
          <a:prstGeom prst="line">
            <a:avLst/>
          </a:prstGeom>
          <a:ln w="25400" cap="flat" cmpd="sng">
            <a:solidFill>
              <a:schemeClr val="tx1"/>
            </a:solidFill>
            <a:prstDash val="solid"/>
            <a:round/>
            <a:headEnd type="none" w="med" len="med"/>
            <a:tailEnd type="triangle" w="med" len="med"/>
          </a:ln>
        </p:spPr>
      </p:sp>
      <p:sp>
        <p:nvSpPr>
          <p:cNvPr id="123978" name="矩形 264266"/>
          <p:cNvSpPr/>
          <p:nvPr/>
        </p:nvSpPr>
        <p:spPr>
          <a:xfrm>
            <a:off x="3509963" y="550862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23979" name="直接连接符 264267"/>
          <p:cNvSpPr/>
          <p:nvPr/>
        </p:nvSpPr>
        <p:spPr>
          <a:xfrm flipH="1">
            <a:off x="3803650" y="5411788"/>
            <a:ext cx="88900" cy="130175"/>
          </a:xfrm>
          <a:prstGeom prst="line">
            <a:avLst/>
          </a:prstGeom>
          <a:ln w="12700" cap="flat" cmpd="sng">
            <a:solidFill>
              <a:schemeClr val="tx1"/>
            </a:solidFill>
            <a:prstDash val="solid"/>
            <a:round/>
            <a:headEnd type="none" w="med" len="med"/>
            <a:tailEnd type="none" w="med" len="med"/>
          </a:ln>
        </p:spPr>
      </p:sp>
      <p:sp>
        <p:nvSpPr>
          <p:cNvPr id="123980" name="直接连接符 264268"/>
          <p:cNvSpPr/>
          <p:nvPr/>
        </p:nvSpPr>
        <p:spPr>
          <a:xfrm>
            <a:off x="2146300" y="5618163"/>
            <a:ext cx="965200" cy="0"/>
          </a:xfrm>
          <a:prstGeom prst="line">
            <a:avLst/>
          </a:prstGeom>
          <a:ln w="25400" cap="flat" cmpd="sng">
            <a:solidFill>
              <a:schemeClr val="tx1"/>
            </a:solidFill>
            <a:prstDash val="solid"/>
            <a:round/>
            <a:headEnd type="none" w="med" len="med"/>
            <a:tailEnd type="triangle" w="med" len="med"/>
          </a:ln>
        </p:spPr>
      </p:sp>
      <p:sp>
        <p:nvSpPr>
          <p:cNvPr id="123981" name="直接连接符 264269"/>
          <p:cNvSpPr/>
          <p:nvPr/>
        </p:nvSpPr>
        <p:spPr>
          <a:xfrm flipH="1">
            <a:off x="2584450" y="5554663"/>
            <a:ext cx="88900" cy="128587"/>
          </a:xfrm>
          <a:prstGeom prst="line">
            <a:avLst/>
          </a:prstGeom>
          <a:ln w="12700" cap="flat" cmpd="sng">
            <a:solidFill>
              <a:schemeClr val="tx1"/>
            </a:solidFill>
            <a:prstDash val="solid"/>
            <a:round/>
            <a:headEnd type="none" w="med" len="med"/>
            <a:tailEnd type="none" w="med" len="med"/>
          </a:ln>
        </p:spPr>
      </p:sp>
      <p:sp>
        <p:nvSpPr>
          <p:cNvPr id="123982" name="矩形 264270"/>
          <p:cNvSpPr/>
          <p:nvPr/>
        </p:nvSpPr>
        <p:spPr>
          <a:xfrm>
            <a:off x="2271713" y="56149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23983" name="矩形 264271"/>
          <p:cNvSpPr/>
          <p:nvPr/>
        </p:nvSpPr>
        <p:spPr>
          <a:xfrm>
            <a:off x="1433513" y="5473700"/>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23984" name="直接连接符 264272"/>
          <p:cNvSpPr/>
          <p:nvPr/>
        </p:nvSpPr>
        <p:spPr>
          <a:xfrm>
            <a:off x="4343400" y="5561013"/>
            <a:ext cx="0" cy="400050"/>
          </a:xfrm>
          <a:prstGeom prst="line">
            <a:avLst/>
          </a:prstGeom>
          <a:ln w="25400" cap="flat" cmpd="sng">
            <a:solidFill>
              <a:schemeClr val="tx1"/>
            </a:solidFill>
            <a:prstDash val="solid"/>
            <a:round/>
            <a:headEnd type="triangle" w="med" len="med"/>
            <a:tailEnd type="none" w="med" len="med"/>
          </a:ln>
        </p:spPr>
      </p:sp>
      <p:sp>
        <p:nvSpPr>
          <p:cNvPr id="123985" name="矩形 264273"/>
          <p:cNvSpPr/>
          <p:nvPr/>
        </p:nvSpPr>
        <p:spPr>
          <a:xfrm>
            <a:off x="3948113" y="5981700"/>
            <a:ext cx="14065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ALUSrc</a:t>
            </a:r>
            <a:r>
              <a:rPr lang="en-US" altLang="zh-CN" sz="1800" u="sng">
                <a:solidFill>
                  <a:schemeClr val="accent1"/>
                </a:solidFill>
                <a:latin typeface="Arial" panose="020B0604020202020204" pitchFamily="34" charset="0"/>
                <a:ea typeface="宋体" panose="02010600030101010101" pitchFamily="2" charset="-122"/>
              </a:rPr>
              <a:t> = x</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3986" name="直接连接符 264274"/>
          <p:cNvSpPr/>
          <p:nvPr/>
        </p:nvSpPr>
        <p:spPr>
          <a:xfrm>
            <a:off x="4508500" y="4837113"/>
            <a:ext cx="508000" cy="0"/>
          </a:xfrm>
          <a:prstGeom prst="line">
            <a:avLst/>
          </a:prstGeom>
          <a:ln w="25400" cap="flat" cmpd="sng">
            <a:solidFill>
              <a:schemeClr val="tx1"/>
            </a:solidFill>
            <a:prstDash val="solid"/>
            <a:round/>
            <a:headEnd type="none" w="med" len="med"/>
            <a:tailEnd type="triangle" w="med" len="med"/>
          </a:ln>
        </p:spPr>
      </p:sp>
      <p:sp>
        <p:nvSpPr>
          <p:cNvPr id="123987" name="直接连接符 264275"/>
          <p:cNvSpPr/>
          <p:nvPr/>
        </p:nvSpPr>
        <p:spPr>
          <a:xfrm>
            <a:off x="8534400" y="4706938"/>
            <a:ext cx="0" cy="1652587"/>
          </a:xfrm>
          <a:prstGeom prst="line">
            <a:avLst/>
          </a:prstGeom>
          <a:ln w="25400" cap="flat" cmpd="sng">
            <a:solidFill>
              <a:schemeClr val="tx1"/>
            </a:solidFill>
            <a:prstDash val="solid"/>
            <a:round/>
            <a:headEnd type="none" w="med" len="med"/>
            <a:tailEnd type="none" w="med" len="med"/>
          </a:ln>
        </p:spPr>
      </p:sp>
      <p:sp>
        <p:nvSpPr>
          <p:cNvPr id="123988" name="直接连接符 264276"/>
          <p:cNvSpPr/>
          <p:nvPr/>
        </p:nvSpPr>
        <p:spPr>
          <a:xfrm>
            <a:off x="3352800" y="6062663"/>
            <a:ext cx="0" cy="471487"/>
          </a:xfrm>
          <a:prstGeom prst="line">
            <a:avLst/>
          </a:prstGeom>
          <a:ln w="25400" cap="flat" cmpd="sng">
            <a:solidFill>
              <a:schemeClr val="tx1"/>
            </a:solidFill>
            <a:prstDash val="solid"/>
            <a:round/>
            <a:headEnd type="triangle" w="med" len="med"/>
            <a:tailEnd type="none" w="med" len="med"/>
          </a:ln>
        </p:spPr>
      </p:sp>
      <p:sp>
        <p:nvSpPr>
          <p:cNvPr id="123989" name="矩形 264277"/>
          <p:cNvSpPr/>
          <p:nvPr/>
        </p:nvSpPr>
        <p:spPr>
          <a:xfrm>
            <a:off x="2474913" y="6454775"/>
            <a:ext cx="1228725" cy="363538"/>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ExtOp</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x</a:t>
            </a:r>
            <a:endParaRPr lang="en-US" altLang="zh-CN" sz="1800" u="sng">
              <a:solidFill>
                <a:schemeClr val="accent1"/>
              </a:solidFill>
              <a:latin typeface="Arial" panose="020B0604020202020204" pitchFamily="34" charset="0"/>
              <a:ea typeface="宋体" panose="02010600030101010101" pitchFamily="2" charset="-122"/>
            </a:endParaRPr>
          </a:p>
        </p:txBody>
      </p:sp>
      <p:grpSp>
        <p:nvGrpSpPr>
          <p:cNvPr id="123990" name="组合 264278"/>
          <p:cNvGrpSpPr/>
          <p:nvPr/>
        </p:nvGrpSpPr>
        <p:grpSpPr>
          <a:xfrm>
            <a:off x="7772400" y="4138613"/>
            <a:ext cx="304800" cy="1255712"/>
            <a:chOff x="4896" y="2481"/>
            <a:chExt cx="192" cy="791"/>
          </a:xfrm>
        </p:grpSpPr>
        <p:sp>
          <p:nvSpPr>
            <p:cNvPr id="123991" name="直接连接符 264279"/>
            <p:cNvSpPr/>
            <p:nvPr/>
          </p:nvSpPr>
          <p:spPr>
            <a:xfrm>
              <a:off x="4896" y="2481"/>
              <a:ext cx="0" cy="775"/>
            </a:xfrm>
            <a:prstGeom prst="line">
              <a:avLst/>
            </a:prstGeom>
            <a:ln w="25400" cap="flat" cmpd="sng">
              <a:solidFill>
                <a:schemeClr val="tx1"/>
              </a:solidFill>
              <a:prstDash val="solid"/>
              <a:round/>
              <a:headEnd type="none" w="med" len="med"/>
              <a:tailEnd type="none" w="med" len="med"/>
            </a:ln>
          </p:spPr>
        </p:sp>
        <p:sp>
          <p:nvSpPr>
            <p:cNvPr id="123992" name="直接连接符 264280"/>
            <p:cNvSpPr/>
            <p:nvPr/>
          </p:nvSpPr>
          <p:spPr>
            <a:xfrm>
              <a:off x="4904" y="2481"/>
              <a:ext cx="176" cy="90"/>
            </a:xfrm>
            <a:prstGeom prst="line">
              <a:avLst/>
            </a:prstGeom>
            <a:ln w="25400" cap="flat" cmpd="sng">
              <a:solidFill>
                <a:schemeClr val="tx1"/>
              </a:solidFill>
              <a:prstDash val="solid"/>
              <a:round/>
              <a:headEnd type="none" w="med" len="med"/>
              <a:tailEnd type="none" w="med" len="med"/>
            </a:ln>
          </p:spPr>
        </p:sp>
        <p:sp>
          <p:nvSpPr>
            <p:cNvPr id="123993" name="直接连接符 264281"/>
            <p:cNvSpPr/>
            <p:nvPr/>
          </p:nvSpPr>
          <p:spPr>
            <a:xfrm flipV="1">
              <a:off x="4904" y="3150"/>
              <a:ext cx="176" cy="122"/>
            </a:xfrm>
            <a:prstGeom prst="line">
              <a:avLst/>
            </a:prstGeom>
            <a:ln w="25400" cap="flat" cmpd="sng">
              <a:solidFill>
                <a:schemeClr val="tx1"/>
              </a:solidFill>
              <a:prstDash val="solid"/>
              <a:round/>
              <a:headEnd type="none" w="med" len="med"/>
              <a:tailEnd type="none" w="med" len="med"/>
            </a:ln>
          </p:spPr>
        </p:sp>
        <p:sp>
          <p:nvSpPr>
            <p:cNvPr id="123994" name="直接连接符 264282"/>
            <p:cNvSpPr/>
            <p:nvPr/>
          </p:nvSpPr>
          <p:spPr>
            <a:xfrm>
              <a:off x="5088" y="2587"/>
              <a:ext cx="0" cy="563"/>
            </a:xfrm>
            <a:prstGeom prst="line">
              <a:avLst/>
            </a:prstGeom>
            <a:ln w="25400" cap="flat" cmpd="sng">
              <a:solidFill>
                <a:schemeClr val="tx1"/>
              </a:solidFill>
              <a:prstDash val="solid"/>
              <a:round/>
              <a:headEnd type="none" w="med" len="med"/>
              <a:tailEnd type="none" w="med" len="med"/>
            </a:ln>
          </p:spPr>
        </p:sp>
      </p:grpSp>
      <p:sp>
        <p:nvSpPr>
          <p:cNvPr id="123995" name="矩形 264283"/>
          <p:cNvSpPr/>
          <p:nvPr/>
        </p:nvSpPr>
        <p:spPr>
          <a:xfrm rot="5400000">
            <a:off x="7542213" y="4672013"/>
            <a:ext cx="638175" cy="365125"/>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23996" name="直接连接符 264284"/>
          <p:cNvSpPr/>
          <p:nvPr/>
        </p:nvSpPr>
        <p:spPr>
          <a:xfrm flipV="1">
            <a:off x="7924800" y="3759200"/>
            <a:ext cx="0" cy="450850"/>
          </a:xfrm>
          <a:prstGeom prst="line">
            <a:avLst/>
          </a:prstGeom>
          <a:ln w="25400" cap="flat" cmpd="sng">
            <a:solidFill>
              <a:schemeClr val="tx1"/>
            </a:solidFill>
            <a:prstDash val="solid"/>
            <a:round/>
            <a:headEnd type="triangle" w="med" len="med"/>
            <a:tailEnd type="none" w="med" len="med"/>
          </a:ln>
        </p:spPr>
      </p:sp>
      <p:sp>
        <p:nvSpPr>
          <p:cNvPr id="123997" name="矩形 264285"/>
          <p:cNvSpPr/>
          <p:nvPr/>
        </p:nvSpPr>
        <p:spPr>
          <a:xfrm>
            <a:off x="7237413" y="3433763"/>
            <a:ext cx="1724025" cy="363537"/>
          </a:xfrm>
          <a:prstGeom prst="rect">
            <a:avLst/>
          </a:prstGeom>
          <a:noFill/>
          <a:ln w="12700">
            <a:noFill/>
          </a:ln>
        </p:spPr>
        <p:txBody>
          <a:bodyPr wrap="none"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MemtoReg</a:t>
            </a:r>
            <a:r>
              <a:rPr lang="en-US" altLang="zh-CN" u="sng">
                <a:solidFill>
                  <a:srgbClr val="339933"/>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x</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3998" name="直接连接符 264286"/>
          <p:cNvSpPr/>
          <p:nvPr/>
        </p:nvSpPr>
        <p:spPr>
          <a:xfrm>
            <a:off x="8089900" y="4694238"/>
            <a:ext cx="431800" cy="0"/>
          </a:xfrm>
          <a:prstGeom prst="line">
            <a:avLst/>
          </a:prstGeom>
          <a:ln w="25400" cap="flat" cmpd="sng">
            <a:solidFill>
              <a:schemeClr val="tx1"/>
            </a:solidFill>
            <a:prstDash val="solid"/>
            <a:round/>
            <a:headEnd type="none" w="med" len="med"/>
            <a:tailEnd type="none" w="med" len="med"/>
          </a:ln>
        </p:spPr>
      </p:sp>
      <p:sp>
        <p:nvSpPr>
          <p:cNvPr id="123999" name="矩形 264287"/>
          <p:cNvSpPr/>
          <p:nvPr/>
        </p:nvSpPr>
        <p:spPr>
          <a:xfrm>
            <a:off x="6022975" y="5062538"/>
            <a:ext cx="1127125" cy="112871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4000" name="直接连接符 264288"/>
          <p:cNvSpPr/>
          <p:nvPr/>
        </p:nvSpPr>
        <p:spPr>
          <a:xfrm flipH="1">
            <a:off x="5397500" y="6045200"/>
            <a:ext cx="482600" cy="0"/>
          </a:xfrm>
          <a:prstGeom prst="line">
            <a:avLst/>
          </a:prstGeom>
          <a:ln w="25400" cap="flat" cmpd="sng">
            <a:solidFill>
              <a:schemeClr val="tx1"/>
            </a:solidFill>
            <a:prstDash val="solid"/>
            <a:round/>
            <a:headEnd type="none" w="med" len="med"/>
            <a:tailEnd type="none" w="med" len="med"/>
          </a:ln>
        </p:spPr>
      </p:sp>
      <p:sp>
        <p:nvSpPr>
          <p:cNvPr id="124001" name="矩形 264289"/>
          <p:cNvSpPr/>
          <p:nvPr/>
        </p:nvSpPr>
        <p:spPr>
          <a:xfrm>
            <a:off x="5329238" y="5727700"/>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24002" name="矩形 264290"/>
          <p:cNvSpPr/>
          <p:nvPr/>
        </p:nvSpPr>
        <p:spPr>
          <a:xfrm>
            <a:off x="4633913" y="5260975"/>
            <a:ext cx="9302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Data</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In</a:t>
            </a:r>
            <a:endParaRPr lang="en-US" altLang="zh-CN" sz="1800">
              <a:latin typeface="Arial" panose="020B0604020202020204" pitchFamily="34" charset="0"/>
              <a:ea typeface="宋体" panose="02010600030101010101" pitchFamily="2" charset="-122"/>
            </a:endParaRPr>
          </a:p>
        </p:txBody>
      </p:sp>
      <p:sp>
        <p:nvSpPr>
          <p:cNvPr id="124003" name="直接连接符 264291"/>
          <p:cNvSpPr/>
          <p:nvPr/>
        </p:nvSpPr>
        <p:spPr>
          <a:xfrm>
            <a:off x="6061075" y="5969000"/>
            <a:ext cx="250825" cy="63500"/>
          </a:xfrm>
          <a:prstGeom prst="line">
            <a:avLst/>
          </a:prstGeom>
          <a:ln w="25400" cap="flat" cmpd="sng">
            <a:solidFill>
              <a:schemeClr val="tx1"/>
            </a:solidFill>
            <a:prstDash val="solid"/>
            <a:round/>
            <a:headEnd type="none" w="med" len="med"/>
            <a:tailEnd type="none" w="med" len="med"/>
          </a:ln>
        </p:spPr>
      </p:sp>
      <p:sp>
        <p:nvSpPr>
          <p:cNvPr id="124004" name="直接连接符 264292"/>
          <p:cNvSpPr/>
          <p:nvPr/>
        </p:nvSpPr>
        <p:spPr>
          <a:xfrm flipH="1">
            <a:off x="6035675" y="6057900"/>
            <a:ext cx="301625" cy="98425"/>
          </a:xfrm>
          <a:prstGeom prst="line">
            <a:avLst/>
          </a:prstGeom>
          <a:ln w="25400" cap="flat" cmpd="sng">
            <a:solidFill>
              <a:schemeClr val="tx1"/>
            </a:solidFill>
            <a:prstDash val="solid"/>
            <a:round/>
            <a:headEnd type="none" w="med" len="med"/>
            <a:tailEnd type="none" w="med" len="med"/>
          </a:ln>
        </p:spPr>
      </p:sp>
      <p:sp>
        <p:nvSpPr>
          <p:cNvPr id="124005" name="椭圆 264293"/>
          <p:cNvSpPr/>
          <p:nvPr/>
        </p:nvSpPr>
        <p:spPr>
          <a:xfrm>
            <a:off x="5870575" y="6003925"/>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4006" name="矩形 264294"/>
          <p:cNvSpPr/>
          <p:nvPr/>
        </p:nvSpPr>
        <p:spPr>
          <a:xfrm>
            <a:off x="6003925" y="5045075"/>
            <a:ext cx="7778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124007" name="直接连接符 264295"/>
          <p:cNvSpPr/>
          <p:nvPr/>
        </p:nvSpPr>
        <p:spPr>
          <a:xfrm flipH="1">
            <a:off x="5016500" y="5262563"/>
            <a:ext cx="1016000" cy="0"/>
          </a:xfrm>
          <a:prstGeom prst="line">
            <a:avLst/>
          </a:prstGeom>
          <a:ln w="25400" cap="flat" cmpd="sng">
            <a:solidFill>
              <a:schemeClr val="tx1"/>
            </a:solidFill>
            <a:prstDash val="solid"/>
            <a:round/>
            <a:headEnd type="triangle" w="med" len="med"/>
            <a:tailEnd type="none" w="med" len="med"/>
          </a:ln>
        </p:spPr>
      </p:sp>
      <p:sp>
        <p:nvSpPr>
          <p:cNvPr id="124008" name="直接连接符 264296"/>
          <p:cNvSpPr/>
          <p:nvPr/>
        </p:nvSpPr>
        <p:spPr>
          <a:xfrm flipH="1">
            <a:off x="5556250" y="5199063"/>
            <a:ext cx="88900" cy="128587"/>
          </a:xfrm>
          <a:prstGeom prst="line">
            <a:avLst/>
          </a:prstGeom>
          <a:ln w="12700" cap="flat" cmpd="sng">
            <a:solidFill>
              <a:schemeClr val="tx1"/>
            </a:solidFill>
            <a:prstDash val="solid"/>
            <a:round/>
            <a:headEnd type="none" w="med" len="med"/>
            <a:tailEnd type="none" w="med" len="med"/>
          </a:ln>
        </p:spPr>
      </p:sp>
      <p:sp>
        <p:nvSpPr>
          <p:cNvPr id="124009" name="矩形 264297"/>
          <p:cNvSpPr/>
          <p:nvPr/>
        </p:nvSpPr>
        <p:spPr>
          <a:xfrm>
            <a:off x="5319713" y="533082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24010" name="直接连接符 264298"/>
          <p:cNvSpPr/>
          <p:nvPr/>
        </p:nvSpPr>
        <p:spPr>
          <a:xfrm flipV="1">
            <a:off x="6324600" y="3759200"/>
            <a:ext cx="0" cy="1303338"/>
          </a:xfrm>
          <a:prstGeom prst="line">
            <a:avLst/>
          </a:prstGeom>
          <a:ln w="25400" cap="flat" cmpd="sng">
            <a:solidFill>
              <a:schemeClr val="tx1"/>
            </a:solidFill>
            <a:prstDash val="solid"/>
            <a:round/>
            <a:headEnd type="triangle" w="med" len="med"/>
            <a:tailEnd type="none" w="med" len="med"/>
          </a:ln>
        </p:spPr>
      </p:sp>
      <p:sp>
        <p:nvSpPr>
          <p:cNvPr id="124011" name="直接连接符 264299"/>
          <p:cNvSpPr/>
          <p:nvPr/>
        </p:nvSpPr>
        <p:spPr>
          <a:xfrm>
            <a:off x="6858000" y="4422775"/>
            <a:ext cx="0" cy="614363"/>
          </a:xfrm>
          <a:prstGeom prst="line">
            <a:avLst/>
          </a:prstGeom>
          <a:ln w="25400" cap="flat" cmpd="sng">
            <a:solidFill>
              <a:schemeClr val="tx1"/>
            </a:solidFill>
            <a:prstDash val="solid"/>
            <a:round/>
            <a:headEnd type="none" w="med" len="med"/>
            <a:tailEnd type="triangle" w="med" len="med"/>
          </a:ln>
        </p:spPr>
      </p:sp>
      <p:sp>
        <p:nvSpPr>
          <p:cNvPr id="124012" name="矩形 264300"/>
          <p:cNvSpPr/>
          <p:nvPr/>
        </p:nvSpPr>
        <p:spPr>
          <a:xfrm>
            <a:off x="6615113" y="5046663"/>
            <a:ext cx="5746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124013" name="矩形 264301"/>
          <p:cNvSpPr/>
          <p:nvPr/>
        </p:nvSpPr>
        <p:spPr>
          <a:xfrm>
            <a:off x="6015038" y="5402263"/>
            <a:ext cx="10572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24014" name="直接连接符 264302"/>
          <p:cNvSpPr/>
          <p:nvPr/>
        </p:nvSpPr>
        <p:spPr>
          <a:xfrm>
            <a:off x="7327900" y="5213350"/>
            <a:ext cx="431800" cy="0"/>
          </a:xfrm>
          <a:prstGeom prst="line">
            <a:avLst/>
          </a:prstGeom>
          <a:ln w="25400" cap="flat" cmpd="sng">
            <a:solidFill>
              <a:schemeClr val="tx1"/>
            </a:solidFill>
            <a:prstDash val="solid"/>
            <a:round/>
            <a:headEnd type="none" w="med" len="med"/>
            <a:tailEnd type="triangle" w="med" len="med"/>
          </a:ln>
        </p:spPr>
      </p:sp>
      <p:sp>
        <p:nvSpPr>
          <p:cNvPr id="124015" name="直接连接符 264303"/>
          <p:cNvSpPr/>
          <p:nvPr/>
        </p:nvSpPr>
        <p:spPr>
          <a:xfrm>
            <a:off x="7315200" y="5241925"/>
            <a:ext cx="0" cy="434975"/>
          </a:xfrm>
          <a:prstGeom prst="line">
            <a:avLst/>
          </a:prstGeom>
          <a:ln w="25400" cap="flat" cmpd="sng">
            <a:solidFill>
              <a:schemeClr val="tx1"/>
            </a:solidFill>
            <a:prstDash val="solid"/>
            <a:round/>
            <a:headEnd type="none" w="med" len="med"/>
            <a:tailEnd type="none" w="med" len="med"/>
          </a:ln>
        </p:spPr>
      </p:sp>
      <p:sp>
        <p:nvSpPr>
          <p:cNvPr id="124016" name="直接连接符 264304"/>
          <p:cNvSpPr/>
          <p:nvPr/>
        </p:nvSpPr>
        <p:spPr>
          <a:xfrm flipH="1">
            <a:off x="7150100" y="5689600"/>
            <a:ext cx="177800" cy="0"/>
          </a:xfrm>
          <a:prstGeom prst="line">
            <a:avLst/>
          </a:prstGeom>
          <a:ln w="25400" cap="flat" cmpd="sng">
            <a:solidFill>
              <a:schemeClr val="tx1"/>
            </a:solidFill>
            <a:prstDash val="solid"/>
            <a:round/>
            <a:headEnd type="none" w="med" len="med"/>
            <a:tailEnd type="none" w="med" len="med"/>
          </a:ln>
        </p:spPr>
      </p:sp>
      <p:sp>
        <p:nvSpPr>
          <p:cNvPr id="124017" name="直接连接符 264305"/>
          <p:cNvSpPr/>
          <p:nvPr/>
        </p:nvSpPr>
        <p:spPr>
          <a:xfrm flipH="1">
            <a:off x="7385050" y="5148263"/>
            <a:ext cx="88900" cy="128587"/>
          </a:xfrm>
          <a:prstGeom prst="line">
            <a:avLst/>
          </a:prstGeom>
          <a:ln w="12700" cap="flat" cmpd="sng">
            <a:solidFill>
              <a:schemeClr val="tx1"/>
            </a:solidFill>
            <a:prstDash val="solid"/>
            <a:round/>
            <a:headEnd type="none" w="med" len="med"/>
            <a:tailEnd type="none" w="med" len="med"/>
          </a:ln>
        </p:spPr>
      </p:sp>
      <p:sp>
        <p:nvSpPr>
          <p:cNvPr id="124018" name="矩形 264306"/>
          <p:cNvSpPr/>
          <p:nvPr/>
        </p:nvSpPr>
        <p:spPr>
          <a:xfrm>
            <a:off x="7148513" y="484981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264308" name="矩形 264307"/>
          <p:cNvSpPr/>
          <p:nvPr/>
        </p:nvSpPr>
        <p:spPr>
          <a:xfrm>
            <a:off x="6310313" y="3713163"/>
            <a:ext cx="1393825" cy="363537"/>
          </a:xfrm>
          <a:prstGeom prst="rect">
            <a:avLst/>
          </a:prstGeom>
          <a:noFill/>
          <a:ln w="12700">
            <a:noFill/>
          </a:ln>
        </p:spPr>
        <p:txBody>
          <a:bodyPr lIns="90488" tIns="44450" rIns="90488" bIns="44450" anchor="t" anchorCtr="0">
            <a:spAutoFit/>
          </a:bodyPr>
          <a:p>
            <a:pPr eaLnBrk="0" hangingPunct="0"/>
            <a:r>
              <a:rPr lang="en-US" altLang="zh-CN" sz="1800" u="sng" dirty="0" err="1">
                <a:solidFill>
                  <a:schemeClr val="accent1"/>
                </a:solidFill>
                <a:latin typeface="Arial" panose="020B0604020202020204" pitchFamily="34" charset="0"/>
                <a:ea typeface="宋体" panose="02010600030101010101" pitchFamily="2" charset="-122"/>
              </a:rPr>
              <a:t>MemWr</a:t>
            </a:r>
            <a:r>
              <a:rPr lang="en-US" altLang="zh-CN" sz="1800" u="sng">
                <a:solidFill>
                  <a:schemeClr val="accent1"/>
                </a:solidFill>
                <a:latin typeface="Arial" panose="020B0604020202020204" pitchFamily="34" charset="0"/>
                <a:ea typeface="宋体" panose="02010600030101010101" pitchFamily="2" charset="-122"/>
              </a:rPr>
              <a:t> =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4020" name="直接连接符 264308"/>
          <p:cNvSpPr/>
          <p:nvPr/>
        </p:nvSpPr>
        <p:spPr>
          <a:xfrm>
            <a:off x="3810000" y="4708525"/>
            <a:ext cx="0" cy="541338"/>
          </a:xfrm>
          <a:prstGeom prst="line">
            <a:avLst/>
          </a:prstGeom>
          <a:ln w="25400" cap="flat" cmpd="sng">
            <a:solidFill>
              <a:schemeClr val="tx1"/>
            </a:solidFill>
            <a:prstDash val="solid"/>
            <a:round/>
            <a:headEnd type="none" w="med" len="med"/>
            <a:tailEnd type="none" w="med" len="med"/>
          </a:ln>
        </p:spPr>
      </p:sp>
      <p:sp>
        <p:nvSpPr>
          <p:cNvPr id="124021" name="直接连接符 264309"/>
          <p:cNvSpPr/>
          <p:nvPr/>
        </p:nvSpPr>
        <p:spPr>
          <a:xfrm>
            <a:off x="3805238" y="5254625"/>
            <a:ext cx="1211262" cy="7938"/>
          </a:xfrm>
          <a:prstGeom prst="line">
            <a:avLst/>
          </a:prstGeom>
          <a:ln w="25400" cap="flat" cmpd="sng">
            <a:solidFill>
              <a:schemeClr val="tx1"/>
            </a:solidFill>
            <a:prstDash val="solid"/>
            <a:round/>
            <a:headEnd type="none" w="med" len="med"/>
            <a:tailEnd type="none" w="med" len="med"/>
          </a:ln>
        </p:spPr>
      </p:sp>
      <p:sp>
        <p:nvSpPr>
          <p:cNvPr id="124022" name="矩形 264310"/>
          <p:cNvSpPr/>
          <p:nvPr/>
        </p:nvSpPr>
        <p:spPr>
          <a:xfrm rot="5400000">
            <a:off x="5021263" y="4268788"/>
            <a:ext cx="6508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124023" name="矩形 264311"/>
          <p:cNvSpPr/>
          <p:nvPr/>
        </p:nvSpPr>
        <p:spPr>
          <a:xfrm>
            <a:off x="4575175" y="2193925"/>
            <a:ext cx="1203325" cy="873125"/>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4024" name="直接连接符 264312"/>
          <p:cNvSpPr/>
          <p:nvPr/>
        </p:nvSpPr>
        <p:spPr>
          <a:xfrm flipH="1">
            <a:off x="3949700" y="2921000"/>
            <a:ext cx="482600" cy="0"/>
          </a:xfrm>
          <a:prstGeom prst="line">
            <a:avLst/>
          </a:prstGeom>
          <a:ln w="25400" cap="flat" cmpd="sng">
            <a:solidFill>
              <a:schemeClr val="tx1"/>
            </a:solidFill>
            <a:prstDash val="solid"/>
            <a:round/>
            <a:headEnd type="none" w="med" len="med"/>
            <a:tailEnd type="none" w="med" len="med"/>
          </a:ln>
        </p:spPr>
      </p:sp>
      <p:sp>
        <p:nvSpPr>
          <p:cNvPr id="124025" name="直接连接符 264313"/>
          <p:cNvSpPr/>
          <p:nvPr/>
        </p:nvSpPr>
        <p:spPr>
          <a:xfrm>
            <a:off x="4613275" y="2844800"/>
            <a:ext cx="250825" cy="63500"/>
          </a:xfrm>
          <a:prstGeom prst="line">
            <a:avLst/>
          </a:prstGeom>
          <a:ln w="25400" cap="flat" cmpd="sng">
            <a:solidFill>
              <a:schemeClr val="tx1"/>
            </a:solidFill>
            <a:prstDash val="solid"/>
            <a:round/>
            <a:headEnd type="none" w="med" len="med"/>
            <a:tailEnd type="none" w="med" len="med"/>
          </a:ln>
        </p:spPr>
      </p:sp>
      <p:sp>
        <p:nvSpPr>
          <p:cNvPr id="124026" name="直接连接符 264314"/>
          <p:cNvSpPr/>
          <p:nvPr/>
        </p:nvSpPr>
        <p:spPr>
          <a:xfrm flipH="1">
            <a:off x="4587875" y="2933700"/>
            <a:ext cx="301625" cy="98425"/>
          </a:xfrm>
          <a:prstGeom prst="line">
            <a:avLst/>
          </a:prstGeom>
          <a:ln w="25400" cap="flat" cmpd="sng">
            <a:solidFill>
              <a:schemeClr val="tx1"/>
            </a:solidFill>
            <a:prstDash val="solid"/>
            <a:round/>
            <a:headEnd type="none" w="med" len="med"/>
            <a:tailEnd type="none" w="med" len="med"/>
          </a:ln>
        </p:spPr>
      </p:sp>
      <p:sp>
        <p:nvSpPr>
          <p:cNvPr id="124027" name="椭圆 264315"/>
          <p:cNvSpPr/>
          <p:nvPr/>
        </p:nvSpPr>
        <p:spPr>
          <a:xfrm>
            <a:off x="4422775" y="2879725"/>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4028" name="矩形 264316"/>
          <p:cNvSpPr/>
          <p:nvPr/>
        </p:nvSpPr>
        <p:spPr>
          <a:xfrm>
            <a:off x="4494213" y="2278063"/>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solidFill>
                  <a:schemeClr val="accent2"/>
                </a:solidFill>
                <a:latin typeface="Arial" panose="020B0604020202020204" pitchFamily="34" charset="0"/>
                <a:ea typeface="宋体" panose="02010600030101010101" pitchFamily="2" charset="-122"/>
              </a:rPr>
              <a:t>Instruction</a:t>
            </a:r>
            <a:endParaRPr lang="en-US" altLang="zh-CN" sz="1800">
              <a:solidFill>
                <a:schemeClr val="accent2"/>
              </a:solidFill>
              <a:latin typeface="Arial" panose="020B0604020202020204" pitchFamily="34" charset="0"/>
              <a:ea typeface="宋体" panose="02010600030101010101" pitchFamily="2" charset="-122"/>
            </a:endParaRPr>
          </a:p>
          <a:p>
            <a:pPr algn="ctr" eaLnBrk="0" hangingPunct="0"/>
            <a:r>
              <a:rPr lang="en-US" altLang="zh-CN" sz="1800">
                <a:solidFill>
                  <a:schemeClr val="accent2"/>
                </a:solidFill>
                <a:latin typeface="Arial" panose="020B0604020202020204" pitchFamily="34" charset="0"/>
                <a:ea typeface="宋体" panose="02010600030101010101" pitchFamily="2" charset="-122"/>
              </a:rPr>
              <a:t>Fetch</a:t>
            </a:r>
            <a:r>
              <a:rPr lang="en-US" altLang="zh-CN">
                <a:solidFill>
                  <a:srgbClr val="0000FF"/>
                </a:solidFill>
                <a:latin typeface="Times New Roman" panose="02020603050405020304" pitchFamily="18" charset="0"/>
                <a:ea typeface="宋体" panose="02010600030101010101" pitchFamily="2" charset="-122"/>
              </a:rPr>
              <a:t> </a:t>
            </a:r>
            <a:r>
              <a:rPr lang="en-US" altLang="zh-CN" sz="1800">
                <a:solidFill>
                  <a:schemeClr val="accent2"/>
                </a:solidFill>
                <a:latin typeface="Arial" panose="020B0604020202020204" pitchFamily="34" charset="0"/>
                <a:ea typeface="宋体" panose="02010600030101010101" pitchFamily="2" charset="-122"/>
              </a:rPr>
              <a:t>Unit</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24029" name="矩形 264317"/>
          <p:cNvSpPr/>
          <p:nvPr/>
        </p:nvSpPr>
        <p:spPr>
          <a:xfrm>
            <a:off x="3500438" y="2730500"/>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24030" name="直接连接符 264318"/>
          <p:cNvSpPr/>
          <p:nvPr/>
        </p:nvSpPr>
        <p:spPr>
          <a:xfrm flipV="1">
            <a:off x="5638800" y="3082925"/>
            <a:ext cx="0" cy="1168400"/>
          </a:xfrm>
          <a:prstGeom prst="line">
            <a:avLst/>
          </a:prstGeom>
          <a:ln w="25400" cap="flat" cmpd="sng">
            <a:solidFill>
              <a:schemeClr val="tx1"/>
            </a:solidFill>
            <a:prstDash val="solid"/>
            <a:round/>
            <a:headEnd type="none" w="med" len="med"/>
            <a:tailEnd type="triangle" w="med" len="med"/>
          </a:ln>
        </p:spPr>
      </p:sp>
      <p:sp>
        <p:nvSpPr>
          <p:cNvPr id="124031" name="直接连接符 264319"/>
          <p:cNvSpPr/>
          <p:nvPr/>
        </p:nvSpPr>
        <p:spPr>
          <a:xfrm flipH="1">
            <a:off x="5473700" y="4238625"/>
            <a:ext cx="177800" cy="0"/>
          </a:xfrm>
          <a:prstGeom prst="line">
            <a:avLst/>
          </a:prstGeom>
          <a:ln w="25400" cap="flat" cmpd="sng">
            <a:solidFill>
              <a:schemeClr val="tx1"/>
            </a:solidFill>
            <a:prstDash val="solid"/>
            <a:round/>
            <a:headEnd type="none" w="med" len="med"/>
            <a:tailEnd type="none" w="med" len="med"/>
          </a:ln>
        </p:spPr>
      </p:sp>
      <p:sp>
        <p:nvSpPr>
          <p:cNvPr id="124032" name="矩形 264320"/>
          <p:cNvSpPr/>
          <p:nvPr/>
        </p:nvSpPr>
        <p:spPr>
          <a:xfrm>
            <a:off x="5624513" y="3705225"/>
            <a:ext cx="6762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24033" name="直接连接符 264321"/>
          <p:cNvSpPr/>
          <p:nvPr/>
        </p:nvSpPr>
        <p:spPr>
          <a:xfrm>
            <a:off x="5803900" y="2333625"/>
            <a:ext cx="2489200" cy="0"/>
          </a:xfrm>
          <a:prstGeom prst="line">
            <a:avLst/>
          </a:prstGeom>
          <a:ln w="25400" cap="flat" cmpd="sng">
            <a:solidFill>
              <a:schemeClr val="tx1"/>
            </a:solidFill>
            <a:prstDash val="solid"/>
            <a:round/>
            <a:headEnd type="none" w="med" len="med"/>
            <a:tailEnd type="triangle" w="med" len="med"/>
          </a:ln>
        </p:spPr>
      </p:sp>
      <p:sp>
        <p:nvSpPr>
          <p:cNvPr id="124034" name="矩形 264322"/>
          <p:cNvSpPr/>
          <p:nvPr/>
        </p:nvSpPr>
        <p:spPr>
          <a:xfrm>
            <a:off x="5853113" y="1944688"/>
            <a:ext cx="206692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4035" name="直接连接符 264323"/>
          <p:cNvSpPr/>
          <p:nvPr/>
        </p:nvSpPr>
        <p:spPr>
          <a:xfrm>
            <a:off x="3975100" y="2638425"/>
            <a:ext cx="584200" cy="0"/>
          </a:xfrm>
          <a:prstGeom prst="line">
            <a:avLst/>
          </a:prstGeom>
          <a:ln w="25400" cap="flat" cmpd="sng">
            <a:solidFill>
              <a:schemeClr val="accent1"/>
            </a:solidFill>
            <a:prstDash val="solid"/>
            <a:round/>
            <a:headEnd type="none" w="med" len="med"/>
            <a:tailEnd type="triangle" w="med" len="med"/>
          </a:ln>
        </p:spPr>
      </p:sp>
      <p:sp>
        <p:nvSpPr>
          <p:cNvPr id="124036" name="直接连接符 264324"/>
          <p:cNvSpPr/>
          <p:nvPr/>
        </p:nvSpPr>
        <p:spPr>
          <a:xfrm>
            <a:off x="3975100" y="2333625"/>
            <a:ext cx="584200" cy="0"/>
          </a:xfrm>
          <a:prstGeom prst="line">
            <a:avLst/>
          </a:prstGeom>
          <a:ln w="25400" cap="flat" cmpd="sng">
            <a:solidFill>
              <a:schemeClr val="tx1"/>
            </a:solidFill>
            <a:prstDash val="solid"/>
            <a:round/>
            <a:headEnd type="none" w="med" len="med"/>
            <a:tailEnd type="triangle" w="med" len="med"/>
          </a:ln>
        </p:spPr>
      </p:sp>
      <p:sp>
        <p:nvSpPr>
          <p:cNvPr id="124037" name="矩形 264325"/>
          <p:cNvSpPr/>
          <p:nvPr/>
        </p:nvSpPr>
        <p:spPr>
          <a:xfrm>
            <a:off x="2865438" y="2425700"/>
            <a:ext cx="11652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a:t>
            </a:r>
            <a:r>
              <a:rPr lang="en-US" altLang="zh-CN" u="sng">
                <a:solidFill>
                  <a:srgbClr val="A50021"/>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4038" name="矩形 264326"/>
          <p:cNvSpPr/>
          <p:nvPr/>
        </p:nvSpPr>
        <p:spPr>
          <a:xfrm>
            <a:off x="2713038" y="2044700"/>
            <a:ext cx="13430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a:t>
            </a:r>
            <a:r>
              <a:rPr lang="en-US" altLang="zh-CN" u="sng">
                <a:solidFill>
                  <a:srgbClr val="0000FF"/>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 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4039" name="矩形 264327"/>
          <p:cNvSpPr/>
          <p:nvPr/>
        </p:nvSpPr>
        <p:spPr>
          <a:xfrm>
            <a:off x="7732713" y="4238625"/>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24040" name="矩形 264328"/>
          <p:cNvSpPr/>
          <p:nvPr/>
        </p:nvSpPr>
        <p:spPr>
          <a:xfrm>
            <a:off x="7732713" y="5018088"/>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24041" name="矩形 264329"/>
          <p:cNvSpPr/>
          <p:nvPr/>
        </p:nvSpPr>
        <p:spPr>
          <a:xfrm>
            <a:off x="4151313" y="4467225"/>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24042" name="矩形 264330"/>
          <p:cNvSpPr/>
          <p:nvPr/>
        </p:nvSpPr>
        <p:spPr>
          <a:xfrm>
            <a:off x="4151313" y="5246688"/>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24043" name="矩形 264331"/>
          <p:cNvSpPr/>
          <p:nvPr/>
        </p:nvSpPr>
        <p:spPr>
          <a:xfrm>
            <a:off x="2281238" y="2917825"/>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24044" name="矩形 264332"/>
          <p:cNvSpPr/>
          <p:nvPr/>
        </p:nvSpPr>
        <p:spPr>
          <a:xfrm>
            <a:off x="1595438" y="2917825"/>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24045" name="直接连接符 264333"/>
          <p:cNvSpPr/>
          <p:nvPr/>
        </p:nvSpPr>
        <p:spPr>
          <a:xfrm>
            <a:off x="6096000" y="2346325"/>
            <a:ext cx="0" cy="889000"/>
          </a:xfrm>
          <a:prstGeom prst="line">
            <a:avLst/>
          </a:prstGeom>
          <a:ln w="25400" cap="flat" cmpd="sng">
            <a:solidFill>
              <a:schemeClr val="tx1"/>
            </a:solidFill>
            <a:prstDash val="solid"/>
            <a:round/>
            <a:headEnd type="none" w="med" len="med"/>
            <a:tailEnd type="triangle" w="med" len="med"/>
          </a:ln>
        </p:spPr>
      </p:sp>
      <p:sp>
        <p:nvSpPr>
          <p:cNvPr id="124046" name="矩形 264334"/>
          <p:cNvSpPr/>
          <p:nvPr/>
        </p:nvSpPr>
        <p:spPr>
          <a:xfrm rot="5400000">
            <a:off x="5754688" y="2620963"/>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&lt;21:25&gt;</a:t>
            </a:r>
            <a:endParaRPr lang="zh-CN" altLang="en-US" sz="1800" dirty="0">
              <a:latin typeface="Arial" panose="020B0604020202020204" pitchFamily="34" charset="0"/>
              <a:ea typeface="宋体" panose="02010600030101010101" pitchFamily="2" charset="-122"/>
            </a:endParaRPr>
          </a:p>
        </p:txBody>
      </p:sp>
      <p:sp>
        <p:nvSpPr>
          <p:cNvPr id="124047" name="矩形 264335"/>
          <p:cNvSpPr/>
          <p:nvPr/>
        </p:nvSpPr>
        <p:spPr>
          <a:xfrm rot="5400000">
            <a:off x="6288088" y="2620963"/>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&lt;16:20&gt;</a:t>
            </a:r>
            <a:endParaRPr lang="zh-CN" altLang="en-US" sz="1800" dirty="0">
              <a:latin typeface="Arial" panose="020B0604020202020204" pitchFamily="34" charset="0"/>
              <a:ea typeface="宋体" panose="02010600030101010101" pitchFamily="2" charset="-122"/>
            </a:endParaRPr>
          </a:p>
        </p:txBody>
      </p:sp>
      <p:sp>
        <p:nvSpPr>
          <p:cNvPr id="124048" name="矩形 264336"/>
          <p:cNvSpPr/>
          <p:nvPr/>
        </p:nvSpPr>
        <p:spPr>
          <a:xfrm rot="5400000">
            <a:off x="6821488" y="2620963"/>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&lt;11:15&gt;</a:t>
            </a:r>
            <a:endParaRPr lang="zh-CN" altLang="en-US" sz="1800" dirty="0">
              <a:latin typeface="Arial" panose="020B0604020202020204" pitchFamily="34" charset="0"/>
              <a:ea typeface="宋体" panose="02010600030101010101" pitchFamily="2" charset="-122"/>
            </a:endParaRPr>
          </a:p>
        </p:txBody>
      </p:sp>
      <p:sp>
        <p:nvSpPr>
          <p:cNvPr id="124049" name="矩形 264337"/>
          <p:cNvSpPr/>
          <p:nvPr/>
        </p:nvSpPr>
        <p:spPr>
          <a:xfrm rot="5400000">
            <a:off x="7367588" y="2608263"/>
            <a:ext cx="904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&lt;0:15&gt;</a:t>
            </a:r>
            <a:endParaRPr lang="zh-CN" altLang="en-US" sz="1800" dirty="0">
              <a:latin typeface="Arial" panose="020B0604020202020204" pitchFamily="34" charset="0"/>
              <a:ea typeface="宋体" panose="02010600030101010101" pitchFamily="2" charset="-122"/>
            </a:endParaRPr>
          </a:p>
        </p:txBody>
      </p:sp>
      <p:sp>
        <p:nvSpPr>
          <p:cNvPr id="124050" name="直接连接符 264338"/>
          <p:cNvSpPr/>
          <p:nvPr/>
        </p:nvSpPr>
        <p:spPr>
          <a:xfrm>
            <a:off x="6629400" y="2346325"/>
            <a:ext cx="0" cy="889000"/>
          </a:xfrm>
          <a:prstGeom prst="line">
            <a:avLst/>
          </a:prstGeom>
          <a:ln w="25400" cap="flat" cmpd="sng">
            <a:solidFill>
              <a:schemeClr val="tx1"/>
            </a:solidFill>
            <a:prstDash val="solid"/>
            <a:round/>
            <a:headEnd type="none" w="med" len="med"/>
            <a:tailEnd type="triangle" w="med" len="med"/>
          </a:ln>
        </p:spPr>
      </p:sp>
      <p:sp>
        <p:nvSpPr>
          <p:cNvPr id="124051" name="直接连接符 264339"/>
          <p:cNvSpPr/>
          <p:nvPr/>
        </p:nvSpPr>
        <p:spPr>
          <a:xfrm>
            <a:off x="7162800" y="2346325"/>
            <a:ext cx="0" cy="889000"/>
          </a:xfrm>
          <a:prstGeom prst="line">
            <a:avLst/>
          </a:prstGeom>
          <a:ln w="25400" cap="flat" cmpd="sng">
            <a:solidFill>
              <a:schemeClr val="tx1"/>
            </a:solidFill>
            <a:prstDash val="solid"/>
            <a:round/>
            <a:headEnd type="none" w="med" len="med"/>
            <a:tailEnd type="triangle" w="med" len="med"/>
          </a:ln>
        </p:spPr>
      </p:sp>
      <p:sp>
        <p:nvSpPr>
          <p:cNvPr id="124052" name="直接连接符 264340"/>
          <p:cNvSpPr/>
          <p:nvPr/>
        </p:nvSpPr>
        <p:spPr>
          <a:xfrm>
            <a:off x="7696200" y="2346325"/>
            <a:ext cx="0" cy="889000"/>
          </a:xfrm>
          <a:prstGeom prst="line">
            <a:avLst/>
          </a:prstGeom>
          <a:ln w="25400" cap="flat" cmpd="sng">
            <a:solidFill>
              <a:schemeClr val="tx1"/>
            </a:solidFill>
            <a:prstDash val="solid"/>
            <a:round/>
            <a:headEnd type="none" w="med" len="med"/>
            <a:tailEnd type="triangle" w="med" len="med"/>
          </a:ln>
        </p:spPr>
      </p:sp>
      <p:sp>
        <p:nvSpPr>
          <p:cNvPr id="124053" name="矩形 264341"/>
          <p:cNvSpPr/>
          <p:nvPr/>
        </p:nvSpPr>
        <p:spPr>
          <a:xfrm>
            <a:off x="7453313" y="3171825"/>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24054" name="矩形 264342"/>
          <p:cNvSpPr/>
          <p:nvPr/>
        </p:nvSpPr>
        <p:spPr>
          <a:xfrm>
            <a:off x="6919913" y="3171825"/>
            <a:ext cx="4857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24055" name="矩形 264343"/>
          <p:cNvSpPr/>
          <p:nvPr/>
        </p:nvSpPr>
        <p:spPr>
          <a:xfrm>
            <a:off x="6462713" y="3171825"/>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24056" name="矩形 264344"/>
          <p:cNvSpPr/>
          <p:nvPr/>
        </p:nvSpPr>
        <p:spPr>
          <a:xfrm>
            <a:off x="5929313" y="3171825"/>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264346" name="内容占位符 264345"/>
          <p:cNvSpPr>
            <a:spLocks noGrp="1"/>
          </p:cNvSpPr>
          <p:nvPr>
            <p:ph idx="1"/>
          </p:nvPr>
        </p:nvSpPr>
        <p:spPr>
          <a:xfrm>
            <a:off x="214313" y="1243013"/>
            <a:ext cx="8320087" cy="366712"/>
          </a:xfrm>
          <a:ln/>
        </p:spPr>
        <p:txBody>
          <a:bodyPr vert="horz" wrap="square" lIns="63500" tIns="25400" rIns="63500" bIns="25400" anchor="t" anchorCtr="0">
            <a:spAutoFit/>
          </a:bodyPr>
          <a:p>
            <a:pPr>
              <a:lnSpc>
                <a:spcPct val="115000"/>
              </a:lnSpc>
            </a:pPr>
            <a:r>
              <a:rPr lang="en-US" altLang="zh-CN">
                <a:solidFill>
                  <a:srgbClr val="0000FF"/>
                </a:solidFill>
                <a:ea typeface="宋体" panose="02010600030101010101" pitchFamily="2" charset="-122"/>
              </a:rPr>
              <a:t>IFU</a:t>
            </a:r>
            <a:r>
              <a:rPr lang="zh-CN" altLang="en-US" dirty="0">
                <a:solidFill>
                  <a:srgbClr val="0000FF"/>
                </a:solidFill>
                <a:ea typeface="宋体" panose="02010600030101010101" pitchFamily="2" charset="-122"/>
              </a:rPr>
              <a:t>中目标地址送</a:t>
            </a:r>
            <a:r>
              <a:rPr lang="en-US" altLang="zh-CN">
                <a:solidFill>
                  <a:srgbClr val="0000FF"/>
                </a:solidFill>
                <a:ea typeface="宋体" panose="02010600030101010101" pitchFamily="2" charset="-122"/>
              </a:rPr>
              <a:t>PC</a:t>
            </a:r>
            <a:r>
              <a:rPr lang="zh-CN" altLang="en-US" dirty="0">
                <a:solidFill>
                  <a:srgbClr val="0000FF"/>
                </a:solidFill>
                <a:ea typeface="宋体" panose="02010600030101010101" pitchFamily="2" charset="-122"/>
              </a:rPr>
              <a:t>，其他什么都不做（只要保证存储部件不发生写的动作） </a:t>
            </a:r>
            <a:endParaRPr lang="zh-CN" altLang="en-US" dirty="0">
              <a:solidFill>
                <a:srgbClr val="0000FF"/>
              </a:solidFill>
              <a:ea typeface="宋体" panose="02010600030101010101" pitchFamily="2" charset="-122"/>
            </a:endParaRPr>
          </a:p>
        </p:txBody>
      </p:sp>
      <p:grpSp>
        <p:nvGrpSpPr>
          <p:cNvPr id="124058" name="组合 264346"/>
          <p:cNvGrpSpPr/>
          <p:nvPr/>
        </p:nvGrpSpPr>
        <p:grpSpPr>
          <a:xfrm>
            <a:off x="1585913" y="533400"/>
            <a:ext cx="6327775" cy="668338"/>
            <a:chOff x="999" y="336"/>
            <a:chExt cx="3986" cy="421"/>
          </a:xfrm>
        </p:grpSpPr>
        <p:sp>
          <p:nvSpPr>
            <p:cNvPr id="124059" name="矩形 264347"/>
            <p:cNvSpPr/>
            <p:nvPr/>
          </p:nvSpPr>
          <p:spPr>
            <a:xfrm>
              <a:off x="1064" y="536"/>
              <a:ext cx="382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24060" name="组合 264348"/>
            <p:cNvGrpSpPr/>
            <p:nvPr/>
          </p:nvGrpSpPr>
          <p:grpSpPr>
            <a:xfrm>
              <a:off x="1060" y="528"/>
              <a:ext cx="664" cy="229"/>
              <a:chOff x="1060" y="528"/>
              <a:chExt cx="664" cy="229"/>
            </a:xfrm>
          </p:grpSpPr>
          <p:sp>
            <p:nvSpPr>
              <p:cNvPr id="124061" name="矩形 264349"/>
              <p:cNvSpPr/>
              <p:nvPr/>
            </p:nvSpPr>
            <p:spPr>
              <a:xfrm>
                <a:off x="1060" y="532"/>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4062" name="矩形 264350"/>
              <p:cNvSpPr/>
              <p:nvPr/>
            </p:nvSpPr>
            <p:spPr>
              <a:xfrm>
                <a:off x="1257" y="528"/>
                <a:ext cx="2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124063" name="矩形 264351"/>
            <p:cNvSpPr/>
            <p:nvPr/>
          </p:nvSpPr>
          <p:spPr>
            <a:xfrm>
              <a:off x="1732" y="532"/>
              <a:ext cx="316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4064" name="矩形 264352"/>
            <p:cNvSpPr/>
            <p:nvPr/>
          </p:nvSpPr>
          <p:spPr>
            <a:xfrm>
              <a:off x="2738" y="528"/>
              <a:ext cx="110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target address</a:t>
              </a:r>
              <a:endParaRPr lang="en-US" altLang="zh-CN" sz="1800">
                <a:latin typeface="Arial" panose="020B0604020202020204" pitchFamily="34" charset="0"/>
                <a:ea typeface="宋体" panose="02010600030101010101" pitchFamily="2" charset="-122"/>
              </a:endParaRPr>
            </a:p>
          </p:txBody>
        </p:sp>
        <p:sp>
          <p:nvSpPr>
            <p:cNvPr id="124065" name="矩形 264353"/>
            <p:cNvSpPr/>
            <p:nvPr/>
          </p:nvSpPr>
          <p:spPr>
            <a:xfrm>
              <a:off x="4791" y="336"/>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24066" name="矩形 264354"/>
            <p:cNvSpPr/>
            <p:nvPr/>
          </p:nvSpPr>
          <p:spPr>
            <a:xfrm>
              <a:off x="1527" y="336"/>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24067" name="矩形 264355"/>
            <p:cNvSpPr/>
            <p:nvPr/>
          </p:nvSpPr>
          <p:spPr>
            <a:xfrm>
              <a:off x="999" y="336"/>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264357" name="文本框 264356"/>
          <p:cNvSpPr txBox="1"/>
          <p:nvPr/>
        </p:nvSpPr>
        <p:spPr>
          <a:xfrm>
            <a:off x="346075" y="1639888"/>
            <a:ext cx="3509963" cy="366712"/>
          </a:xfrm>
          <a:prstGeom prst="rect">
            <a:avLst/>
          </a:prstGeom>
          <a:noFill/>
          <a:ln w="50800">
            <a:noFill/>
          </a:ln>
        </p:spPr>
        <p:txBody>
          <a:bodyPr anchor="t" anchorCtr="0">
            <a:spAutoFit/>
          </a:bodyPr>
          <a:p>
            <a:pPr eaLnBrk="0" hangingPunct="0">
              <a:spcBef>
                <a:spcPct val="50000"/>
              </a:spcBef>
            </a:pPr>
            <a:r>
              <a:rPr lang="zh-CN" altLang="en-US" sz="1800" dirty="0">
                <a:latin typeface="Times New Roman" panose="02020603050405020304" pitchFamily="18" charset="0"/>
                <a:ea typeface="宋体" panose="02010600030101010101" pitchFamily="2" charset="-122"/>
              </a:rPr>
              <a:t>如何保证存储部件不发生写？</a:t>
            </a:r>
            <a:endParaRPr lang="zh-CN" altLang="en-US" sz="18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4346">
                                            <p:txEl>
                                              <p:charRg st="0" end="38"/>
                                            </p:txEl>
                                          </p:spTgt>
                                        </p:tgtEl>
                                        <p:attrNameLst>
                                          <p:attrName>style.visibility</p:attrName>
                                        </p:attrNameLst>
                                      </p:cBhvr>
                                      <p:to>
                                        <p:strVal val="visible"/>
                                      </p:to>
                                    </p:set>
                                    <p:animEffect transition="in" filter="blinds(horizontal)">
                                      <p:cBhvr>
                                        <p:cTn id="7" dur="500"/>
                                        <p:tgtEl>
                                          <p:spTgt spid="264346">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4357"/>
                                        </p:tgtEl>
                                        <p:attrNameLst>
                                          <p:attrName>style.visibility</p:attrName>
                                        </p:attrNameLst>
                                      </p:cBhvr>
                                      <p:to>
                                        <p:strVal val="visible"/>
                                      </p:to>
                                    </p:set>
                                    <p:animEffect transition="in" filter="blinds(horizontal)">
                                      <p:cBhvr>
                                        <p:cTn id="12" dur="500"/>
                                        <p:tgtEl>
                                          <p:spTgt spid="26435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4215"/>
                                        </p:tgtEl>
                                        <p:attrNameLst>
                                          <p:attrName>style.visibility</p:attrName>
                                        </p:attrNameLst>
                                      </p:cBhvr>
                                      <p:to>
                                        <p:strVal val="visible"/>
                                      </p:to>
                                    </p:set>
                                    <p:animEffect transition="in" filter="blinds(horizontal)">
                                      <p:cBhvr>
                                        <p:cTn id="17" dur="500"/>
                                        <p:tgtEl>
                                          <p:spTgt spid="2642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4308"/>
                                        </p:tgtEl>
                                        <p:attrNameLst>
                                          <p:attrName>style.visibility</p:attrName>
                                        </p:attrNameLst>
                                      </p:cBhvr>
                                      <p:to>
                                        <p:strVal val="visible"/>
                                      </p:to>
                                    </p:set>
                                    <p:animEffect transition="in" filter="blinds(horizontal)">
                                      <p:cBhvr>
                                        <p:cTn id="22" dur="500"/>
                                        <p:tgtEl>
                                          <p:spTgt spid="264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15" grpId="0"/>
      <p:bldP spid="264308" grpId="0"/>
      <p:bldP spid="264346" grpId="0" build="p"/>
      <p:bldP spid="26435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标题 266241"/>
          <p:cNvSpPr>
            <a:spLocks noGrp="1"/>
          </p:cNvSpPr>
          <p:nvPr>
            <p:ph type="title"/>
          </p:nvPr>
        </p:nvSpPr>
        <p:spPr>
          <a:xfrm>
            <a:off x="444500" y="203200"/>
            <a:ext cx="6318250" cy="422275"/>
          </a:xfrm>
          <a:ln/>
        </p:spPr>
        <p:txBody>
          <a:bodyPr vert="horz" wrap="square" lIns="63500" tIns="25400" rIns="63500" bIns="25400" anchor="t" anchorCtr="0">
            <a:spAutoFit/>
          </a:bodyPr>
          <a:p>
            <a:r>
              <a:rPr lang="en-US" altLang="zh-CN">
                <a:ea typeface="宋体" panose="02010600030101010101" pitchFamily="2" charset="-122"/>
              </a:rPr>
              <a:t>Jump</a:t>
            </a:r>
            <a:r>
              <a:rPr lang="zh-CN" altLang="en-US" dirty="0">
                <a:ea typeface="宋体" panose="02010600030101010101" pitchFamily="2" charset="-122"/>
              </a:rPr>
              <a:t>指令结束前</a:t>
            </a:r>
            <a:r>
              <a:rPr lang="en-US" altLang="zh-CN">
                <a:ea typeface="宋体" panose="02010600030101010101" pitchFamily="2" charset="-122"/>
              </a:rPr>
              <a:t>IFU</a:t>
            </a:r>
            <a:r>
              <a:rPr lang="zh-CN" altLang="en-US" dirty="0">
                <a:ea typeface="宋体" panose="02010600030101010101" pitchFamily="2" charset="-122"/>
              </a:rPr>
              <a:t>中的动作</a:t>
            </a:r>
            <a:endParaRPr lang="zh-CN" altLang="en-US" dirty="0">
              <a:ea typeface="宋体" panose="02010600030101010101" pitchFamily="2" charset="-122"/>
            </a:endParaRPr>
          </a:p>
        </p:txBody>
      </p:sp>
      <p:sp>
        <p:nvSpPr>
          <p:cNvPr id="125954" name="直接连接符 266242"/>
          <p:cNvSpPr/>
          <p:nvPr/>
        </p:nvSpPr>
        <p:spPr>
          <a:xfrm>
            <a:off x="1917700" y="3581400"/>
            <a:ext cx="660400" cy="0"/>
          </a:xfrm>
          <a:prstGeom prst="line">
            <a:avLst/>
          </a:prstGeom>
          <a:ln w="25400" cap="flat" cmpd="sng">
            <a:solidFill>
              <a:schemeClr val="tx1"/>
            </a:solidFill>
            <a:prstDash val="solid"/>
            <a:round/>
            <a:headEnd type="none" w="med" len="med"/>
            <a:tailEnd type="triangle" w="med" len="med"/>
          </a:ln>
        </p:spPr>
      </p:sp>
      <p:sp>
        <p:nvSpPr>
          <p:cNvPr id="125955" name="直接连接符 266243"/>
          <p:cNvSpPr/>
          <p:nvPr/>
        </p:nvSpPr>
        <p:spPr>
          <a:xfrm flipH="1">
            <a:off x="2051050" y="3516313"/>
            <a:ext cx="88900" cy="131762"/>
          </a:xfrm>
          <a:prstGeom prst="line">
            <a:avLst/>
          </a:prstGeom>
          <a:ln w="12700" cap="flat" cmpd="sng">
            <a:solidFill>
              <a:schemeClr val="tx1"/>
            </a:solidFill>
            <a:prstDash val="solid"/>
            <a:round/>
            <a:headEnd type="none" w="med" len="med"/>
            <a:tailEnd type="none" w="med" len="med"/>
          </a:ln>
        </p:spPr>
      </p:sp>
      <p:sp>
        <p:nvSpPr>
          <p:cNvPr id="125956" name="矩形 266244"/>
          <p:cNvSpPr/>
          <p:nvPr/>
        </p:nvSpPr>
        <p:spPr>
          <a:xfrm>
            <a:off x="1814513" y="36512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5957" name="直接连接符 266245"/>
          <p:cNvSpPr/>
          <p:nvPr/>
        </p:nvSpPr>
        <p:spPr>
          <a:xfrm>
            <a:off x="3060700" y="3810000"/>
            <a:ext cx="1727200" cy="0"/>
          </a:xfrm>
          <a:prstGeom prst="line">
            <a:avLst/>
          </a:prstGeom>
          <a:ln w="25400" cap="flat" cmpd="sng">
            <a:solidFill>
              <a:schemeClr val="tx1"/>
            </a:solidFill>
            <a:prstDash val="solid"/>
            <a:round/>
            <a:headEnd type="none" w="med" len="med"/>
            <a:tailEnd type="triangle" w="med" len="med"/>
          </a:ln>
        </p:spPr>
      </p:sp>
      <p:sp>
        <p:nvSpPr>
          <p:cNvPr id="125958" name="直接连接符 266246"/>
          <p:cNvSpPr/>
          <p:nvPr/>
        </p:nvSpPr>
        <p:spPr>
          <a:xfrm flipH="1">
            <a:off x="4337050" y="3740150"/>
            <a:ext cx="88900" cy="166688"/>
          </a:xfrm>
          <a:prstGeom prst="line">
            <a:avLst/>
          </a:prstGeom>
          <a:ln w="12700" cap="flat" cmpd="sng">
            <a:solidFill>
              <a:schemeClr val="tx1"/>
            </a:solidFill>
            <a:prstDash val="solid"/>
            <a:round/>
            <a:headEnd type="none" w="med" len="med"/>
            <a:tailEnd type="none" w="med" len="med"/>
          </a:ln>
        </p:spPr>
      </p:sp>
      <p:sp>
        <p:nvSpPr>
          <p:cNvPr id="125959" name="矩形 266247"/>
          <p:cNvSpPr/>
          <p:nvPr/>
        </p:nvSpPr>
        <p:spPr>
          <a:xfrm>
            <a:off x="4176713" y="39147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5960" name="矩形 266248"/>
          <p:cNvSpPr/>
          <p:nvPr/>
        </p:nvSpPr>
        <p:spPr>
          <a:xfrm rot="5400000">
            <a:off x="2243138" y="5173663"/>
            <a:ext cx="1031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SignExt</a:t>
            </a:r>
            <a:endParaRPr lang="en-US" altLang="zh-CN" sz="1800">
              <a:latin typeface="Arial" panose="020B0604020202020204" pitchFamily="34" charset="0"/>
              <a:ea typeface="宋体" panose="02010600030101010101" pitchFamily="2" charset="-122"/>
            </a:endParaRPr>
          </a:p>
        </p:txBody>
      </p:sp>
      <p:sp>
        <p:nvSpPr>
          <p:cNvPr id="125961" name="直接连接符 266249"/>
          <p:cNvSpPr/>
          <p:nvPr/>
        </p:nvSpPr>
        <p:spPr>
          <a:xfrm>
            <a:off x="4127500" y="4643438"/>
            <a:ext cx="660400" cy="0"/>
          </a:xfrm>
          <a:prstGeom prst="line">
            <a:avLst/>
          </a:prstGeom>
          <a:ln w="25400" cap="flat" cmpd="sng">
            <a:solidFill>
              <a:schemeClr val="tx1"/>
            </a:solidFill>
            <a:prstDash val="solid"/>
            <a:round/>
            <a:headEnd type="none" w="med" len="med"/>
            <a:tailEnd type="triangle" w="med" len="med"/>
          </a:ln>
        </p:spPr>
      </p:sp>
      <p:sp>
        <p:nvSpPr>
          <p:cNvPr id="125962" name="矩形 266250"/>
          <p:cNvSpPr/>
          <p:nvPr/>
        </p:nvSpPr>
        <p:spPr>
          <a:xfrm>
            <a:off x="4195763" y="47545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5963" name="直接连接符 266251"/>
          <p:cNvSpPr/>
          <p:nvPr/>
        </p:nvSpPr>
        <p:spPr>
          <a:xfrm flipH="1">
            <a:off x="4337050" y="4578350"/>
            <a:ext cx="88900" cy="139700"/>
          </a:xfrm>
          <a:prstGeom prst="line">
            <a:avLst/>
          </a:prstGeom>
          <a:ln w="12700" cap="flat" cmpd="sng">
            <a:solidFill>
              <a:schemeClr val="tx1"/>
            </a:solidFill>
            <a:prstDash val="solid"/>
            <a:round/>
            <a:headEnd type="none" w="med" len="med"/>
            <a:tailEnd type="none" w="med" len="med"/>
          </a:ln>
        </p:spPr>
      </p:sp>
      <p:sp>
        <p:nvSpPr>
          <p:cNvPr id="125964" name="直接连接符 266252"/>
          <p:cNvSpPr/>
          <p:nvPr/>
        </p:nvSpPr>
        <p:spPr>
          <a:xfrm>
            <a:off x="1917700" y="5334000"/>
            <a:ext cx="660400" cy="0"/>
          </a:xfrm>
          <a:prstGeom prst="line">
            <a:avLst/>
          </a:prstGeom>
          <a:ln w="25400" cap="flat" cmpd="sng">
            <a:solidFill>
              <a:schemeClr val="tx1"/>
            </a:solidFill>
            <a:prstDash val="solid"/>
            <a:round/>
            <a:headEnd type="none" w="med" len="med"/>
            <a:tailEnd type="triangle" w="med" len="med"/>
          </a:ln>
        </p:spPr>
      </p:sp>
      <p:sp>
        <p:nvSpPr>
          <p:cNvPr id="125965" name="直接连接符 266253"/>
          <p:cNvSpPr/>
          <p:nvPr/>
        </p:nvSpPr>
        <p:spPr>
          <a:xfrm flipH="1">
            <a:off x="2127250" y="5251450"/>
            <a:ext cx="88900" cy="133350"/>
          </a:xfrm>
          <a:prstGeom prst="line">
            <a:avLst/>
          </a:prstGeom>
          <a:ln w="12700" cap="flat" cmpd="sng">
            <a:solidFill>
              <a:schemeClr val="tx1"/>
            </a:solidFill>
            <a:prstDash val="solid"/>
            <a:round/>
            <a:headEnd type="none" w="med" len="med"/>
            <a:tailEnd type="none" w="med" len="med"/>
          </a:ln>
        </p:spPr>
      </p:sp>
      <p:sp>
        <p:nvSpPr>
          <p:cNvPr id="125966" name="矩形 266254"/>
          <p:cNvSpPr/>
          <p:nvPr/>
        </p:nvSpPr>
        <p:spPr>
          <a:xfrm>
            <a:off x="1814513" y="531653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25967" name="矩形 266255"/>
          <p:cNvSpPr/>
          <p:nvPr/>
        </p:nvSpPr>
        <p:spPr>
          <a:xfrm>
            <a:off x="950913" y="5145088"/>
            <a:ext cx="9048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25968" name="直接连接符 266256"/>
          <p:cNvSpPr/>
          <p:nvPr/>
        </p:nvSpPr>
        <p:spPr>
          <a:xfrm>
            <a:off x="2070100" y="4449763"/>
            <a:ext cx="508000" cy="0"/>
          </a:xfrm>
          <a:prstGeom prst="line">
            <a:avLst/>
          </a:prstGeom>
          <a:ln w="25400" cap="flat" cmpd="sng">
            <a:solidFill>
              <a:schemeClr val="tx1"/>
            </a:solidFill>
            <a:prstDash val="solid"/>
            <a:round/>
            <a:headEnd type="none" w="med" len="med"/>
            <a:tailEnd type="triangle" w="med" len="med"/>
          </a:ln>
        </p:spPr>
      </p:sp>
      <p:sp>
        <p:nvSpPr>
          <p:cNvPr id="125969" name="矩形 266257"/>
          <p:cNvSpPr/>
          <p:nvPr/>
        </p:nvSpPr>
        <p:spPr>
          <a:xfrm>
            <a:off x="2603500" y="4813300"/>
            <a:ext cx="355600" cy="10541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25970" name="组合 266258"/>
          <p:cNvGrpSpPr/>
          <p:nvPr/>
        </p:nvGrpSpPr>
        <p:grpSpPr>
          <a:xfrm>
            <a:off x="4729163" y="3563938"/>
            <a:ext cx="376237" cy="1325562"/>
            <a:chOff x="2979" y="2245"/>
            <a:chExt cx="237" cy="835"/>
          </a:xfrm>
        </p:grpSpPr>
        <p:grpSp>
          <p:nvGrpSpPr>
            <p:cNvPr id="125971" name="组合 266259"/>
            <p:cNvGrpSpPr/>
            <p:nvPr/>
          </p:nvGrpSpPr>
          <p:grpSpPr>
            <a:xfrm>
              <a:off x="3024" y="2245"/>
              <a:ext cx="192" cy="835"/>
              <a:chOff x="3024" y="2245"/>
              <a:chExt cx="192" cy="835"/>
            </a:xfrm>
          </p:grpSpPr>
          <p:sp>
            <p:nvSpPr>
              <p:cNvPr id="125972" name="直接连接符 266260"/>
              <p:cNvSpPr/>
              <p:nvPr/>
            </p:nvSpPr>
            <p:spPr>
              <a:xfrm>
                <a:off x="3024" y="2245"/>
                <a:ext cx="0" cy="819"/>
              </a:xfrm>
              <a:prstGeom prst="line">
                <a:avLst/>
              </a:prstGeom>
              <a:ln w="25400" cap="flat" cmpd="sng">
                <a:solidFill>
                  <a:schemeClr val="tx1"/>
                </a:solidFill>
                <a:prstDash val="solid"/>
                <a:round/>
                <a:headEnd type="none" w="med" len="med"/>
                <a:tailEnd type="none" w="med" len="med"/>
              </a:ln>
            </p:spPr>
          </p:sp>
          <p:sp>
            <p:nvSpPr>
              <p:cNvPr id="125973" name="直接连接符 266261"/>
              <p:cNvSpPr/>
              <p:nvPr/>
            </p:nvSpPr>
            <p:spPr>
              <a:xfrm>
                <a:off x="3032" y="2245"/>
                <a:ext cx="176" cy="95"/>
              </a:xfrm>
              <a:prstGeom prst="line">
                <a:avLst/>
              </a:prstGeom>
              <a:ln w="25400" cap="flat" cmpd="sng">
                <a:solidFill>
                  <a:schemeClr val="tx1"/>
                </a:solidFill>
                <a:prstDash val="solid"/>
                <a:round/>
                <a:headEnd type="none" w="med" len="med"/>
                <a:tailEnd type="none" w="med" len="med"/>
              </a:ln>
            </p:spPr>
          </p:sp>
          <p:sp>
            <p:nvSpPr>
              <p:cNvPr id="125974" name="直接连接符 266262"/>
              <p:cNvSpPr/>
              <p:nvPr/>
            </p:nvSpPr>
            <p:spPr>
              <a:xfrm flipV="1">
                <a:off x="3032" y="2953"/>
                <a:ext cx="176" cy="127"/>
              </a:xfrm>
              <a:prstGeom prst="line">
                <a:avLst/>
              </a:prstGeom>
              <a:ln w="25400" cap="flat" cmpd="sng">
                <a:solidFill>
                  <a:schemeClr val="tx1"/>
                </a:solidFill>
                <a:prstDash val="solid"/>
                <a:round/>
                <a:headEnd type="none" w="med" len="med"/>
                <a:tailEnd type="none" w="med" len="med"/>
              </a:ln>
            </p:spPr>
          </p:sp>
          <p:sp>
            <p:nvSpPr>
              <p:cNvPr id="125975" name="直接连接符 266263"/>
              <p:cNvSpPr/>
              <p:nvPr/>
            </p:nvSpPr>
            <p:spPr>
              <a:xfrm>
                <a:off x="3216" y="2356"/>
                <a:ext cx="0" cy="597"/>
              </a:xfrm>
              <a:prstGeom prst="line">
                <a:avLst/>
              </a:prstGeom>
              <a:ln w="25400" cap="flat" cmpd="sng">
                <a:solidFill>
                  <a:schemeClr val="tx1"/>
                </a:solidFill>
                <a:prstDash val="solid"/>
                <a:round/>
                <a:headEnd type="none" w="med" len="med"/>
                <a:tailEnd type="none" w="med" len="med"/>
              </a:ln>
            </p:spPr>
          </p:sp>
        </p:grpSp>
        <p:sp>
          <p:nvSpPr>
            <p:cNvPr id="125976" name="矩形 266264"/>
            <p:cNvSpPr/>
            <p:nvPr/>
          </p:nvSpPr>
          <p:spPr>
            <a:xfrm rot="5400000">
              <a:off x="2888" y="2562"/>
              <a:ext cx="402"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25977" name="矩形 266265"/>
            <p:cNvSpPr/>
            <p:nvPr/>
          </p:nvSpPr>
          <p:spPr>
            <a:xfrm>
              <a:off x="3015" y="2325"/>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25978" name="矩形 266266"/>
            <p:cNvSpPr/>
            <p:nvPr/>
          </p:nvSpPr>
          <p:spPr>
            <a:xfrm>
              <a:off x="3015" y="2795"/>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grpSp>
      <p:grpSp>
        <p:nvGrpSpPr>
          <p:cNvPr id="125979" name="组合 266267"/>
          <p:cNvGrpSpPr/>
          <p:nvPr/>
        </p:nvGrpSpPr>
        <p:grpSpPr>
          <a:xfrm>
            <a:off x="2590800" y="3449638"/>
            <a:ext cx="476250" cy="1157287"/>
            <a:chOff x="1632" y="2173"/>
            <a:chExt cx="300" cy="729"/>
          </a:xfrm>
        </p:grpSpPr>
        <p:grpSp>
          <p:nvGrpSpPr>
            <p:cNvPr id="125980" name="组合 266268"/>
            <p:cNvGrpSpPr/>
            <p:nvPr/>
          </p:nvGrpSpPr>
          <p:grpSpPr>
            <a:xfrm>
              <a:off x="1632" y="2173"/>
              <a:ext cx="288" cy="729"/>
              <a:chOff x="1632" y="2173"/>
              <a:chExt cx="288" cy="729"/>
            </a:xfrm>
          </p:grpSpPr>
          <p:sp>
            <p:nvSpPr>
              <p:cNvPr id="125981" name="直接连接符 266269"/>
              <p:cNvSpPr/>
              <p:nvPr/>
            </p:nvSpPr>
            <p:spPr>
              <a:xfrm>
                <a:off x="1632" y="2173"/>
                <a:ext cx="0" cy="166"/>
              </a:xfrm>
              <a:prstGeom prst="line">
                <a:avLst/>
              </a:prstGeom>
              <a:ln w="25400" cap="flat" cmpd="sng">
                <a:solidFill>
                  <a:schemeClr val="tx1"/>
                </a:solidFill>
                <a:prstDash val="solid"/>
                <a:round/>
                <a:headEnd type="none" w="med" len="med"/>
                <a:tailEnd type="none" w="med" len="med"/>
              </a:ln>
            </p:spPr>
          </p:sp>
          <p:sp>
            <p:nvSpPr>
              <p:cNvPr id="125982" name="直接连接符 266270"/>
              <p:cNvSpPr/>
              <p:nvPr/>
            </p:nvSpPr>
            <p:spPr>
              <a:xfrm>
                <a:off x="1640" y="2173"/>
                <a:ext cx="272" cy="166"/>
              </a:xfrm>
              <a:prstGeom prst="line">
                <a:avLst/>
              </a:prstGeom>
              <a:ln w="25400" cap="flat" cmpd="sng">
                <a:solidFill>
                  <a:schemeClr val="tx1"/>
                </a:solidFill>
                <a:prstDash val="solid"/>
                <a:round/>
                <a:headEnd type="none" w="med" len="med"/>
                <a:tailEnd type="none" w="med" len="med"/>
              </a:ln>
            </p:spPr>
          </p:sp>
          <p:sp>
            <p:nvSpPr>
              <p:cNvPr id="125983" name="直接连接符 266271"/>
              <p:cNvSpPr/>
              <p:nvPr/>
            </p:nvSpPr>
            <p:spPr>
              <a:xfrm>
                <a:off x="1640" y="2355"/>
                <a:ext cx="128" cy="76"/>
              </a:xfrm>
              <a:prstGeom prst="line">
                <a:avLst/>
              </a:prstGeom>
              <a:ln w="25400" cap="flat" cmpd="sng">
                <a:solidFill>
                  <a:schemeClr val="tx1"/>
                </a:solidFill>
                <a:prstDash val="solid"/>
                <a:round/>
                <a:headEnd type="none" w="med" len="med"/>
                <a:tailEnd type="none" w="med" len="med"/>
              </a:ln>
            </p:spPr>
          </p:sp>
          <p:sp>
            <p:nvSpPr>
              <p:cNvPr id="125984" name="直接连接符 266272"/>
              <p:cNvSpPr/>
              <p:nvPr/>
            </p:nvSpPr>
            <p:spPr>
              <a:xfrm>
                <a:off x="1776" y="2447"/>
                <a:ext cx="0" cy="166"/>
              </a:xfrm>
              <a:prstGeom prst="line">
                <a:avLst/>
              </a:prstGeom>
              <a:ln w="25400" cap="flat" cmpd="sng">
                <a:solidFill>
                  <a:schemeClr val="tx1"/>
                </a:solidFill>
                <a:prstDash val="solid"/>
                <a:round/>
                <a:headEnd type="none" w="med" len="med"/>
                <a:tailEnd type="none" w="med" len="med"/>
              </a:ln>
            </p:spPr>
          </p:sp>
          <p:sp>
            <p:nvSpPr>
              <p:cNvPr id="125985" name="直接连接符 266273"/>
              <p:cNvSpPr/>
              <p:nvPr/>
            </p:nvSpPr>
            <p:spPr>
              <a:xfrm>
                <a:off x="1920" y="2355"/>
                <a:ext cx="0" cy="349"/>
              </a:xfrm>
              <a:prstGeom prst="line">
                <a:avLst/>
              </a:prstGeom>
              <a:ln w="25400" cap="flat" cmpd="sng">
                <a:solidFill>
                  <a:schemeClr val="tx1"/>
                </a:solidFill>
                <a:prstDash val="solid"/>
                <a:round/>
                <a:headEnd type="none" w="med" len="med"/>
                <a:tailEnd type="none" w="med" len="med"/>
              </a:ln>
            </p:spPr>
          </p:sp>
          <p:sp>
            <p:nvSpPr>
              <p:cNvPr id="125986" name="直接连接符 266274"/>
              <p:cNvSpPr/>
              <p:nvPr/>
            </p:nvSpPr>
            <p:spPr>
              <a:xfrm flipV="1">
                <a:off x="1640" y="2613"/>
                <a:ext cx="128" cy="107"/>
              </a:xfrm>
              <a:prstGeom prst="line">
                <a:avLst/>
              </a:prstGeom>
              <a:ln w="25400" cap="flat" cmpd="sng">
                <a:solidFill>
                  <a:schemeClr val="tx1"/>
                </a:solidFill>
                <a:prstDash val="solid"/>
                <a:round/>
                <a:headEnd type="none" w="med" len="med"/>
                <a:tailEnd type="none" w="med" len="med"/>
              </a:ln>
            </p:spPr>
          </p:sp>
          <p:sp>
            <p:nvSpPr>
              <p:cNvPr id="125987" name="直接连接符 266275"/>
              <p:cNvSpPr/>
              <p:nvPr/>
            </p:nvSpPr>
            <p:spPr>
              <a:xfrm>
                <a:off x="1632" y="2720"/>
                <a:ext cx="0" cy="166"/>
              </a:xfrm>
              <a:prstGeom prst="line">
                <a:avLst/>
              </a:prstGeom>
              <a:ln w="25400" cap="flat" cmpd="sng">
                <a:solidFill>
                  <a:schemeClr val="tx1"/>
                </a:solidFill>
                <a:prstDash val="solid"/>
                <a:round/>
                <a:headEnd type="none" w="med" len="med"/>
                <a:tailEnd type="none" w="med" len="med"/>
              </a:ln>
            </p:spPr>
          </p:sp>
          <p:sp>
            <p:nvSpPr>
              <p:cNvPr id="125988" name="直接连接符 266276"/>
              <p:cNvSpPr/>
              <p:nvPr/>
            </p:nvSpPr>
            <p:spPr>
              <a:xfrm flipV="1">
                <a:off x="1640" y="2704"/>
                <a:ext cx="272" cy="198"/>
              </a:xfrm>
              <a:prstGeom prst="line">
                <a:avLst/>
              </a:prstGeom>
              <a:ln w="25400" cap="flat" cmpd="sng">
                <a:solidFill>
                  <a:schemeClr val="tx1"/>
                </a:solidFill>
                <a:prstDash val="solid"/>
                <a:round/>
                <a:headEnd type="none" w="med" len="med"/>
                <a:tailEnd type="none" w="med" len="med"/>
              </a:ln>
            </p:spPr>
          </p:sp>
        </p:grpSp>
        <p:sp>
          <p:nvSpPr>
            <p:cNvPr id="125989" name="矩形 266277"/>
            <p:cNvSpPr/>
            <p:nvPr/>
          </p:nvSpPr>
          <p:spPr>
            <a:xfrm rot="5400000">
              <a:off x="1548" y="2456"/>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grpSp>
      <p:sp>
        <p:nvSpPr>
          <p:cNvPr id="125990" name="矩形 266278"/>
          <p:cNvSpPr/>
          <p:nvPr/>
        </p:nvSpPr>
        <p:spPr>
          <a:xfrm>
            <a:off x="1814513" y="4114800"/>
            <a:ext cx="5365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grpSp>
        <p:nvGrpSpPr>
          <p:cNvPr id="125991" name="组合 266279"/>
          <p:cNvGrpSpPr/>
          <p:nvPr/>
        </p:nvGrpSpPr>
        <p:grpSpPr>
          <a:xfrm>
            <a:off x="1308100" y="2984500"/>
            <a:ext cx="585788" cy="2103438"/>
            <a:chOff x="824" y="1880"/>
            <a:chExt cx="369" cy="1325"/>
          </a:xfrm>
        </p:grpSpPr>
        <p:sp>
          <p:nvSpPr>
            <p:cNvPr id="125992" name="矩形 266280"/>
            <p:cNvSpPr/>
            <p:nvPr/>
          </p:nvSpPr>
          <p:spPr>
            <a:xfrm>
              <a:off x="872" y="1880"/>
              <a:ext cx="176" cy="75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5993" name="椭圆 266281"/>
            <p:cNvSpPr/>
            <p:nvPr/>
          </p:nvSpPr>
          <p:spPr>
            <a:xfrm>
              <a:off x="920" y="2648"/>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5994" name="直接连接符 266282"/>
            <p:cNvSpPr/>
            <p:nvPr/>
          </p:nvSpPr>
          <p:spPr>
            <a:xfrm>
              <a:off x="960" y="2744"/>
              <a:ext cx="0" cy="224"/>
            </a:xfrm>
            <a:prstGeom prst="line">
              <a:avLst/>
            </a:prstGeom>
            <a:ln w="25400" cap="flat" cmpd="sng">
              <a:solidFill>
                <a:schemeClr val="tx1"/>
              </a:solidFill>
              <a:prstDash val="solid"/>
              <a:round/>
              <a:headEnd type="none" w="med" len="med"/>
              <a:tailEnd type="none" w="med" len="med"/>
            </a:ln>
          </p:spPr>
        </p:sp>
        <p:sp>
          <p:nvSpPr>
            <p:cNvPr id="125995" name="矩形 266283"/>
            <p:cNvSpPr/>
            <p:nvPr/>
          </p:nvSpPr>
          <p:spPr>
            <a:xfrm rot="5400000">
              <a:off x="777" y="2208"/>
              <a:ext cx="31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125996" name="矩形 266284"/>
            <p:cNvSpPr/>
            <p:nvPr/>
          </p:nvSpPr>
          <p:spPr>
            <a:xfrm>
              <a:off x="855" y="2976"/>
              <a:ext cx="33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grpSp>
      <p:grpSp>
        <p:nvGrpSpPr>
          <p:cNvPr id="125997" name="组合 266285"/>
          <p:cNvGrpSpPr/>
          <p:nvPr/>
        </p:nvGrpSpPr>
        <p:grpSpPr>
          <a:xfrm>
            <a:off x="3657600" y="4059238"/>
            <a:ext cx="476250" cy="1157287"/>
            <a:chOff x="2304" y="2557"/>
            <a:chExt cx="300" cy="729"/>
          </a:xfrm>
        </p:grpSpPr>
        <p:grpSp>
          <p:nvGrpSpPr>
            <p:cNvPr id="125998" name="组合 266286"/>
            <p:cNvGrpSpPr/>
            <p:nvPr/>
          </p:nvGrpSpPr>
          <p:grpSpPr>
            <a:xfrm>
              <a:off x="2304" y="2557"/>
              <a:ext cx="288" cy="729"/>
              <a:chOff x="2304" y="2557"/>
              <a:chExt cx="288" cy="729"/>
            </a:xfrm>
          </p:grpSpPr>
          <p:sp>
            <p:nvSpPr>
              <p:cNvPr id="125999" name="直接连接符 266287"/>
              <p:cNvSpPr/>
              <p:nvPr/>
            </p:nvSpPr>
            <p:spPr>
              <a:xfrm>
                <a:off x="2304" y="2557"/>
                <a:ext cx="0" cy="166"/>
              </a:xfrm>
              <a:prstGeom prst="line">
                <a:avLst/>
              </a:prstGeom>
              <a:ln w="25400" cap="flat" cmpd="sng">
                <a:solidFill>
                  <a:schemeClr val="tx1"/>
                </a:solidFill>
                <a:prstDash val="solid"/>
                <a:round/>
                <a:headEnd type="none" w="med" len="med"/>
                <a:tailEnd type="none" w="med" len="med"/>
              </a:ln>
            </p:spPr>
          </p:sp>
          <p:sp>
            <p:nvSpPr>
              <p:cNvPr id="126000" name="直接连接符 266288"/>
              <p:cNvSpPr/>
              <p:nvPr/>
            </p:nvSpPr>
            <p:spPr>
              <a:xfrm>
                <a:off x="2312" y="2557"/>
                <a:ext cx="272" cy="166"/>
              </a:xfrm>
              <a:prstGeom prst="line">
                <a:avLst/>
              </a:prstGeom>
              <a:ln w="25400" cap="flat" cmpd="sng">
                <a:solidFill>
                  <a:schemeClr val="tx1"/>
                </a:solidFill>
                <a:prstDash val="solid"/>
                <a:round/>
                <a:headEnd type="none" w="med" len="med"/>
                <a:tailEnd type="none" w="med" len="med"/>
              </a:ln>
            </p:spPr>
          </p:sp>
          <p:sp>
            <p:nvSpPr>
              <p:cNvPr id="126001" name="直接连接符 266289"/>
              <p:cNvSpPr/>
              <p:nvPr/>
            </p:nvSpPr>
            <p:spPr>
              <a:xfrm>
                <a:off x="2312" y="2739"/>
                <a:ext cx="128" cy="76"/>
              </a:xfrm>
              <a:prstGeom prst="line">
                <a:avLst/>
              </a:prstGeom>
              <a:ln w="25400" cap="flat" cmpd="sng">
                <a:solidFill>
                  <a:schemeClr val="tx1"/>
                </a:solidFill>
                <a:prstDash val="solid"/>
                <a:round/>
                <a:headEnd type="none" w="med" len="med"/>
                <a:tailEnd type="none" w="med" len="med"/>
              </a:ln>
            </p:spPr>
          </p:sp>
          <p:sp>
            <p:nvSpPr>
              <p:cNvPr id="126002" name="直接连接符 266290"/>
              <p:cNvSpPr/>
              <p:nvPr/>
            </p:nvSpPr>
            <p:spPr>
              <a:xfrm>
                <a:off x="2448" y="2831"/>
                <a:ext cx="0" cy="166"/>
              </a:xfrm>
              <a:prstGeom prst="line">
                <a:avLst/>
              </a:prstGeom>
              <a:ln w="25400" cap="flat" cmpd="sng">
                <a:solidFill>
                  <a:schemeClr val="tx1"/>
                </a:solidFill>
                <a:prstDash val="solid"/>
                <a:round/>
                <a:headEnd type="none" w="med" len="med"/>
                <a:tailEnd type="none" w="med" len="med"/>
              </a:ln>
            </p:spPr>
          </p:sp>
          <p:sp>
            <p:nvSpPr>
              <p:cNvPr id="126003" name="直接连接符 266291"/>
              <p:cNvSpPr/>
              <p:nvPr/>
            </p:nvSpPr>
            <p:spPr>
              <a:xfrm>
                <a:off x="2592" y="2739"/>
                <a:ext cx="0" cy="349"/>
              </a:xfrm>
              <a:prstGeom prst="line">
                <a:avLst/>
              </a:prstGeom>
              <a:ln w="25400" cap="flat" cmpd="sng">
                <a:solidFill>
                  <a:schemeClr val="tx1"/>
                </a:solidFill>
                <a:prstDash val="solid"/>
                <a:round/>
                <a:headEnd type="none" w="med" len="med"/>
                <a:tailEnd type="none" w="med" len="med"/>
              </a:ln>
            </p:spPr>
          </p:sp>
          <p:sp>
            <p:nvSpPr>
              <p:cNvPr id="126004" name="直接连接符 266292"/>
              <p:cNvSpPr/>
              <p:nvPr/>
            </p:nvSpPr>
            <p:spPr>
              <a:xfrm flipV="1">
                <a:off x="2312" y="2997"/>
                <a:ext cx="128" cy="107"/>
              </a:xfrm>
              <a:prstGeom prst="line">
                <a:avLst/>
              </a:prstGeom>
              <a:ln w="25400" cap="flat" cmpd="sng">
                <a:solidFill>
                  <a:schemeClr val="tx1"/>
                </a:solidFill>
                <a:prstDash val="solid"/>
                <a:round/>
                <a:headEnd type="none" w="med" len="med"/>
                <a:tailEnd type="none" w="med" len="med"/>
              </a:ln>
            </p:spPr>
          </p:sp>
          <p:sp>
            <p:nvSpPr>
              <p:cNvPr id="126005" name="直接连接符 266293"/>
              <p:cNvSpPr/>
              <p:nvPr/>
            </p:nvSpPr>
            <p:spPr>
              <a:xfrm>
                <a:off x="2304" y="3104"/>
                <a:ext cx="0" cy="166"/>
              </a:xfrm>
              <a:prstGeom prst="line">
                <a:avLst/>
              </a:prstGeom>
              <a:ln w="25400" cap="flat" cmpd="sng">
                <a:solidFill>
                  <a:schemeClr val="tx1"/>
                </a:solidFill>
                <a:prstDash val="solid"/>
                <a:round/>
                <a:headEnd type="none" w="med" len="med"/>
                <a:tailEnd type="none" w="med" len="med"/>
              </a:ln>
            </p:spPr>
          </p:sp>
          <p:sp>
            <p:nvSpPr>
              <p:cNvPr id="126006" name="直接连接符 266294"/>
              <p:cNvSpPr/>
              <p:nvPr/>
            </p:nvSpPr>
            <p:spPr>
              <a:xfrm flipV="1">
                <a:off x="2312" y="3088"/>
                <a:ext cx="272" cy="198"/>
              </a:xfrm>
              <a:prstGeom prst="line">
                <a:avLst/>
              </a:prstGeom>
              <a:ln w="25400" cap="flat" cmpd="sng">
                <a:solidFill>
                  <a:schemeClr val="tx1"/>
                </a:solidFill>
                <a:prstDash val="solid"/>
                <a:round/>
                <a:headEnd type="none" w="med" len="med"/>
                <a:tailEnd type="none" w="med" len="med"/>
              </a:ln>
            </p:spPr>
          </p:sp>
        </p:grpSp>
        <p:sp>
          <p:nvSpPr>
            <p:cNvPr id="126007" name="矩形 266295"/>
            <p:cNvSpPr/>
            <p:nvPr/>
          </p:nvSpPr>
          <p:spPr>
            <a:xfrm rot="5400000">
              <a:off x="2220" y="2840"/>
              <a:ext cx="53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Adder</a:t>
              </a:r>
              <a:endParaRPr lang="en-US" altLang="zh-CN" sz="1800">
                <a:latin typeface="Arial" panose="020B0604020202020204" pitchFamily="34" charset="0"/>
                <a:ea typeface="宋体" panose="02010600030101010101" pitchFamily="2" charset="-122"/>
              </a:endParaRPr>
            </a:p>
          </p:txBody>
        </p:sp>
      </p:grpSp>
      <p:sp>
        <p:nvSpPr>
          <p:cNvPr id="126008" name="直接连接符 266296"/>
          <p:cNvSpPr/>
          <p:nvPr/>
        </p:nvSpPr>
        <p:spPr>
          <a:xfrm>
            <a:off x="2984500" y="5100638"/>
            <a:ext cx="660400" cy="0"/>
          </a:xfrm>
          <a:prstGeom prst="line">
            <a:avLst/>
          </a:prstGeom>
          <a:ln w="25400" cap="flat" cmpd="sng">
            <a:solidFill>
              <a:schemeClr val="tx1"/>
            </a:solidFill>
            <a:prstDash val="solid"/>
            <a:round/>
            <a:headEnd type="none" w="med" len="med"/>
            <a:tailEnd type="triangle" w="med" len="med"/>
          </a:ln>
        </p:spPr>
      </p:sp>
      <p:sp>
        <p:nvSpPr>
          <p:cNvPr id="126009" name="矩形 266297"/>
          <p:cNvSpPr/>
          <p:nvPr/>
        </p:nvSpPr>
        <p:spPr>
          <a:xfrm>
            <a:off x="2976563" y="51355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6010" name="直接连接符 266298"/>
          <p:cNvSpPr/>
          <p:nvPr/>
        </p:nvSpPr>
        <p:spPr>
          <a:xfrm flipH="1">
            <a:off x="3194050" y="5035550"/>
            <a:ext cx="88900" cy="139700"/>
          </a:xfrm>
          <a:prstGeom prst="line">
            <a:avLst/>
          </a:prstGeom>
          <a:ln w="12700" cap="flat" cmpd="sng">
            <a:solidFill>
              <a:schemeClr val="tx1"/>
            </a:solidFill>
            <a:prstDash val="solid"/>
            <a:round/>
            <a:headEnd type="none" w="med" len="med"/>
            <a:tailEnd type="none" w="med" len="med"/>
          </a:ln>
        </p:spPr>
      </p:sp>
      <p:grpSp>
        <p:nvGrpSpPr>
          <p:cNvPr id="126011" name="组合 266299"/>
          <p:cNvGrpSpPr/>
          <p:nvPr/>
        </p:nvGrpSpPr>
        <p:grpSpPr>
          <a:xfrm>
            <a:off x="4799013" y="5087938"/>
            <a:ext cx="385762" cy="385762"/>
            <a:chOff x="3023" y="3205"/>
            <a:chExt cx="243" cy="243"/>
          </a:xfrm>
        </p:grpSpPr>
        <p:sp>
          <p:nvSpPr>
            <p:cNvPr id="126012" name="任意多边形 266300"/>
            <p:cNvSpPr/>
            <p:nvPr/>
          </p:nvSpPr>
          <p:spPr>
            <a:xfrm rot="-5400000">
              <a:off x="3031" y="3189"/>
              <a:ext cx="91" cy="115"/>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26013" name="任意多边形 266301"/>
            <p:cNvSpPr/>
            <p:nvPr/>
          </p:nvSpPr>
          <p:spPr>
            <a:xfrm rot="5400000">
              <a:off x="3159" y="3189"/>
              <a:ext cx="91" cy="115"/>
            </a:xfrm>
            <a:custGeom>
              <a:avLst/>
              <a:gdLst/>
              <a:ahLst/>
              <a:cxnLst>
                <a:cxn ang="180">
                  <a:pos x="0" y="21411"/>
                </a:cxn>
                <a:cxn ang="270">
                  <a:pos x="21362" y="0"/>
                </a:cxn>
                <a:cxn ang="90">
                  <a:pos x="21599" y="21599"/>
                </a:cxn>
              </a:cxnLst>
              <a:pathLst>
                <a:path w="21599" h="21599" fill="none">
                  <a:moveTo>
                    <a:pt x="0" y="21411"/>
                  </a:moveTo>
                  <a:cubicBezTo>
                    <a:pt x="101" y="9647"/>
                    <a:pt x="9605" y="127"/>
                    <a:pt x="21361" y="0"/>
                  </a:cubicBezTo>
                </a:path>
                <a:path w="21599" h="21599" stroke="0">
                  <a:moveTo>
                    <a:pt x="0" y="21411"/>
                  </a:moveTo>
                  <a:cubicBezTo>
                    <a:pt x="101" y="9647"/>
                    <a:pt x="9605" y="127"/>
                    <a:pt x="21361" y="0"/>
                  </a:cubicBezTo>
                  <a:lnTo>
                    <a:pt x="21599"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26014" name="直接连接符 266302"/>
            <p:cNvSpPr/>
            <p:nvPr/>
          </p:nvSpPr>
          <p:spPr>
            <a:xfrm>
              <a:off x="3024" y="3303"/>
              <a:ext cx="0" cy="137"/>
            </a:xfrm>
            <a:prstGeom prst="line">
              <a:avLst/>
            </a:prstGeom>
            <a:ln w="25400" cap="flat" cmpd="sng">
              <a:solidFill>
                <a:schemeClr val="tx1"/>
              </a:solidFill>
              <a:prstDash val="solid"/>
              <a:round/>
              <a:headEnd type="none" w="med" len="med"/>
              <a:tailEnd type="none" w="med" len="med"/>
            </a:ln>
          </p:spPr>
        </p:sp>
        <p:sp>
          <p:nvSpPr>
            <p:cNvPr id="126015" name="直接连接符 266303"/>
            <p:cNvSpPr/>
            <p:nvPr/>
          </p:nvSpPr>
          <p:spPr>
            <a:xfrm>
              <a:off x="3032" y="3448"/>
              <a:ext cx="224" cy="0"/>
            </a:xfrm>
            <a:prstGeom prst="line">
              <a:avLst/>
            </a:prstGeom>
            <a:ln w="25400" cap="flat" cmpd="sng">
              <a:solidFill>
                <a:schemeClr val="tx1"/>
              </a:solidFill>
              <a:prstDash val="solid"/>
              <a:round/>
              <a:headEnd type="none" w="med" len="med"/>
              <a:tailEnd type="none" w="med" len="med"/>
            </a:ln>
          </p:spPr>
        </p:sp>
        <p:sp>
          <p:nvSpPr>
            <p:cNvPr id="126016" name="直接连接符 266304"/>
            <p:cNvSpPr/>
            <p:nvPr/>
          </p:nvSpPr>
          <p:spPr>
            <a:xfrm>
              <a:off x="3264" y="3303"/>
              <a:ext cx="0" cy="137"/>
            </a:xfrm>
            <a:prstGeom prst="line">
              <a:avLst/>
            </a:prstGeom>
            <a:ln w="25400" cap="flat" cmpd="sng">
              <a:solidFill>
                <a:schemeClr val="tx1"/>
              </a:solidFill>
              <a:prstDash val="solid"/>
              <a:round/>
              <a:headEnd type="none" w="med" len="med"/>
              <a:tailEnd type="none" w="med" len="med"/>
            </a:ln>
          </p:spPr>
        </p:sp>
      </p:grpSp>
      <p:sp>
        <p:nvSpPr>
          <p:cNvPr id="126017" name="直接连接符 266305"/>
          <p:cNvSpPr/>
          <p:nvPr/>
        </p:nvSpPr>
        <p:spPr>
          <a:xfrm flipV="1">
            <a:off x="4991100" y="4789488"/>
            <a:ext cx="0" cy="293687"/>
          </a:xfrm>
          <a:prstGeom prst="line">
            <a:avLst/>
          </a:prstGeom>
          <a:ln w="25400" cap="flat" cmpd="sng">
            <a:solidFill>
              <a:schemeClr val="tx1"/>
            </a:solidFill>
            <a:prstDash val="solid"/>
            <a:round/>
            <a:headEnd type="none" w="med" len="med"/>
            <a:tailEnd type="none" w="med" len="med"/>
          </a:ln>
        </p:spPr>
      </p:sp>
      <p:sp>
        <p:nvSpPr>
          <p:cNvPr id="126018" name="直接连接符 266306"/>
          <p:cNvSpPr/>
          <p:nvPr/>
        </p:nvSpPr>
        <p:spPr>
          <a:xfrm>
            <a:off x="4876800" y="5499100"/>
            <a:ext cx="0" cy="355600"/>
          </a:xfrm>
          <a:prstGeom prst="line">
            <a:avLst/>
          </a:prstGeom>
          <a:ln w="25400" cap="flat" cmpd="sng">
            <a:solidFill>
              <a:schemeClr val="tx1"/>
            </a:solidFill>
            <a:prstDash val="solid"/>
            <a:round/>
            <a:headEnd type="none" w="med" len="med"/>
            <a:tailEnd type="none" w="med" len="med"/>
          </a:ln>
        </p:spPr>
      </p:sp>
      <p:sp>
        <p:nvSpPr>
          <p:cNvPr id="126019" name="直接连接符 266307"/>
          <p:cNvSpPr/>
          <p:nvPr/>
        </p:nvSpPr>
        <p:spPr>
          <a:xfrm>
            <a:off x="5105400" y="5499100"/>
            <a:ext cx="0" cy="660400"/>
          </a:xfrm>
          <a:prstGeom prst="line">
            <a:avLst/>
          </a:prstGeom>
          <a:ln w="25400" cap="flat" cmpd="sng">
            <a:solidFill>
              <a:schemeClr val="tx1"/>
            </a:solidFill>
            <a:prstDash val="solid"/>
            <a:round/>
            <a:headEnd type="none" w="med" len="med"/>
            <a:tailEnd type="none" w="med" len="med"/>
          </a:ln>
        </p:spPr>
      </p:sp>
      <p:sp>
        <p:nvSpPr>
          <p:cNvPr id="126020" name="直接连接符 266308"/>
          <p:cNvSpPr/>
          <p:nvPr/>
        </p:nvSpPr>
        <p:spPr>
          <a:xfrm>
            <a:off x="6197600" y="3429000"/>
            <a:ext cx="177800" cy="0"/>
          </a:xfrm>
          <a:prstGeom prst="line">
            <a:avLst/>
          </a:prstGeom>
          <a:ln w="50800" cap="flat" cmpd="sng">
            <a:solidFill>
              <a:schemeClr val="accent1"/>
            </a:solidFill>
            <a:prstDash val="solid"/>
            <a:round/>
            <a:headEnd type="none" w="med" len="med"/>
            <a:tailEnd type="none" w="med" len="med"/>
          </a:ln>
        </p:spPr>
      </p:sp>
      <p:sp>
        <p:nvSpPr>
          <p:cNvPr id="126021" name="直接连接符 266309"/>
          <p:cNvSpPr/>
          <p:nvPr/>
        </p:nvSpPr>
        <p:spPr>
          <a:xfrm flipV="1">
            <a:off x="6400800" y="1879600"/>
            <a:ext cx="0" cy="1574800"/>
          </a:xfrm>
          <a:prstGeom prst="line">
            <a:avLst/>
          </a:prstGeom>
          <a:ln w="50800" cap="flat" cmpd="sng">
            <a:solidFill>
              <a:schemeClr val="accent1"/>
            </a:solidFill>
            <a:prstDash val="solid"/>
            <a:round/>
            <a:headEnd type="none" w="med" len="med"/>
            <a:tailEnd type="none" w="med" len="med"/>
          </a:ln>
        </p:spPr>
      </p:sp>
      <p:sp>
        <p:nvSpPr>
          <p:cNvPr id="126022" name="直接连接符 266310"/>
          <p:cNvSpPr/>
          <p:nvPr/>
        </p:nvSpPr>
        <p:spPr>
          <a:xfrm flipH="1">
            <a:off x="736600" y="1905000"/>
            <a:ext cx="5689600" cy="0"/>
          </a:xfrm>
          <a:prstGeom prst="line">
            <a:avLst/>
          </a:prstGeom>
          <a:ln w="50800" cap="flat" cmpd="sng">
            <a:solidFill>
              <a:schemeClr val="accent1"/>
            </a:solidFill>
            <a:prstDash val="solid"/>
            <a:round/>
            <a:headEnd type="none" w="med" len="med"/>
            <a:tailEnd type="none" w="med" len="med"/>
          </a:ln>
        </p:spPr>
      </p:sp>
      <p:sp>
        <p:nvSpPr>
          <p:cNvPr id="126023" name="直接连接符 266311"/>
          <p:cNvSpPr/>
          <p:nvPr/>
        </p:nvSpPr>
        <p:spPr>
          <a:xfrm>
            <a:off x="762000" y="1930400"/>
            <a:ext cx="0" cy="1625600"/>
          </a:xfrm>
          <a:prstGeom prst="line">
            <a:avLst/>
          </a:prstGeom>
          <a:ln w="50800" cap="flat" cmpd="sng">
            <a:solidFill>
              <a:schemeClr val="accent1"/>
            </a:solidFill>
            <a:prstDash val="solid"/>
            <a:round/>
            <a:headEnd type="none" w="med" len="med"/>
            <a:tailEnd type="none" w="med" len="med"/>
          </a:ln>
        </p:spPr>
      </p:sp>
      <p:sp>
        <p:nvSpPr>
          <p:cNvPr id="126024" name="直接连接符 266312"/>
          <p:cNvSpPr/>
          <p:nvPr/>
        </p:nvSpPr>
        <p:spPr>
          <a:xfrm>
            <a:off x="787400" y="3581400"/>
            <a:ext cx="558800" cy="0"/>
          </a:xfrm>
          <a:prstGeom prst="line">
            <a:avLst/>
          </a:prstGeom>
          <a:ln w="50800" cap="flat" cmpd="sng">
            <a:solidFill>
              <a:schemeClr val="accent1"/>
            </a:solidFill>
            <a:prstDash val="solid"/>
            <a:round/>
            <a:headEnd type="none" w="med" len="med"/>
            <a:tailEnd type="triangle" w="med" len="med"/>
          </a:ln>
        </p:spPr>
      </p:sp>
      <p:sp>
        <p:nvSpPr>
          <p:cNvPr id="126025" name="直接连接符 266313"/>
          <p:cNvSpPr/>
          <p:nvPr/>
        </p:nvSpPr>
        <p:spPr>
          <a:xfrm flipH="1">
            <a:off x="4032250" y="1835150"/>
            <a:ext cx="88900" cy="166688"/>
          </a:xfrm>
          <a:prstGeom prst="line">
            <a:avLst/>
          </a:prstGeom>
          <a:ln w="12700" cap="flat" cmpd="sng">
            <a:solidFill>
              <a:schemeClr val="tx1"/>
            </a:solidFill>
            <a:prstDash val="solid"/>
            <a:round/>
            <a:headEnd type="none" w="med" len="med"/>
            <a:tailEnd type="none" w="med" len="med"/>
          </a:ln>
        </p:spPr>
      </p:sp>
      <p:sp>
        <p:nvSpPr>
          <p:cNvPr id="126026" name="矩形 266314"/>
          <p:cNvSpPr/>
          <p:nvPr/>
        </p:nvSpPr>
        <p:spPr>
          <a:xfrm>
            <a:off x="3719513" y="19335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6027" name="矩形 266315"/>
          <p:cNvSpPr/>
          <p:nvPr/>
        </p:nvSpPr>
        <p:spPr>
          <a:xfrm>
            <a:off x="3711575" y="5816600"/>
            <a:ext cx="13430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Branch =</a:t>
            </a:r>
            <a:r>
              <a:rPr lang="en-US" altLang="zh-CN" u="sng">
                <a:solidFill>
                  <a:schemeClr val="accent2"/>
                </a:solidFill>
                <a:latin typeface="Times New Roman" panose="02020603050405020304" pitchFamily="18" charset="0"/>
                <a:ea typeface="宋体" panose="02010600030101010101" pitchFamily="2" charset="-122"/>
              </a:rPr>
              <a:t> </a:t>
            </a:r>
            <a:r>
              <a:rPr lang="en-US" altLang="zh-CN" sz="1800" u="sng">
                <a:solidFill>
                  <a:schemeClr val="accent1"/>
                </a:solidFill>
                <a:latin typeface="Arial" panose="020B0604020202020204" pitchFamily="34" charset="0"/>
                <a:ea typeface="宋体" panose="02010600030101010101" pitchFamily="2" charset="-122"/>
              </a:rPr>
              <a:t>0</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6028" name="矩形 266316"/>
          <p:cNvSpPr/>
          <p:nvPr/>
        </p:nvSpPr>
        <p:spPr>
          <a:xfrm>
            <a:off x="5091113" y="5943600"/>
            <a:ext cx="106362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 = x</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26029" name="直接连接符 266317"/>
          <p:cNvSpPr/>
          <p:nvPr/>
        </p:nvSpPr>
        <p:spPr>
          <a:xfrm>
            <a:off x="6565900" y="2590800"/>
            <a:ext cx="584200" cy="0"/>
          </a:xfrm>
          <a:prstGeom prst="line">
            <a:avLst/>
          </a:prstGeom>
          <a:ln w="25400" cap="flat" cmpd="sng">
            <a:solidFill>
              <a:schemeClr val="tx1"/>
            </a:solidFill>
            <a:prstDash val="solid"/>
            <a:round/>
            <a:headEnd type="none" w="med" len="med"/>
            <a:tailEnd type="triangle" w="med" len="med"/>
          </a:ln>
        </p:spPr>
      </p:sp>
      <p:sp>
        <p:nvSpPr>
          <p:cNvPr id="126030" name="矩形 266318"/>
          <p:cNvSpPr/>
          <p:nvPr/>
        </p:nvSpPr>
        <p:spPr>
          <a:xfrm>
            <a:off x="6462713" y="2590800"/>
            <a:ext cx="6635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endParaRPr lang="zh-CN" altLang="en-US" sz="1800" dirty="0">
              <a:latin typeface="Arial" panose="020B0604020202020204" pitchFamily="34" charset="0"/>
              <a:ea typeface="宋体" panose="02010600030101010101" pitchFamily="2" charset="-122"/>
            </a:endParaRPr>
          </a:p>
        </p:txBody>
      </p:sp>
      <p:sp>
        <p:nvSpPr>
          <p:cNvPr id="126031" name="矩形 266319"/>
          <p:cNvSpPr/>
          <p:nvPr/>
        </p:nvSpPr>
        <p:spPr>
          <a:xfrm>
            <a:off x="7165975" y="2146300"/>
            <a:ext cx="1355725" cy="1270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6032" name="矩形 266320"/>
          <p:cNvSpPr/>
          <p:nvPr/>
        </p:nvSpPr>
        <p:spPr>
          <a:xfrm>
            <a:off x="7127875" y="2133600"/>
            <a:ext cx="1438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&lt;31:2&gt;</a:t>
            </a:r>
            <a:endParaRPr lang="en-US" altLang="zh-CN" sz="1800">
              <a:latin typeface="Arial" panose="020B0604020202020204" pitchFamily="34" charset="0"/>
              <a:ea typeface="宋体" panose="02010600030101010101" pitchFamily="2" charset="-122"/>
            </a:endParaRPr>
          </a:p>
        </p:txBody>
      </p:sp>
      <p:sp>
        <p:nvSpPr>
          <p:cNvPr id="126033" name="矩形 266321"/>
          <p:cNvSpPr/>
          <p:nvPr/>
        </p:nvSpPr>
        <p:spPr>
          <a:xfrm>
            <a:off x="7212013" y="2819400"/>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26034" name="矩形 266322"/>
          <p:cNvSpPr/>
          <p:nvPr/>
        </p:nvSpPr>
        <p:spPr>
          <a:xfrm>
            <a:off x="7127875" y="2438400"/>
            <a:ext cx="129222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Addr</a:t>
            </a:r>
            <a:r>
              <a:rPr lang="en-US" altLang="zh-CN" sz="1800">
                <a:latin typeface="Arial" panose="020B0604020202020204" pitchFamily="34" charset="0"/>
                <a:ea typeface="宋体" panose="02010600030101010101" pitchFamily="2" charset="-122"/>
              </a:rPr>
              <a:t>&lt;1:0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6035" name="直接连接符 266323"/>
          <p:cNvSpPr/>
          <p:nvPr/>
        </p:nvSpPr>
        <p:spPr>
          <a:xfrm>
            <a:off x="7848600" y="3441700"/>
            <a:ext cx="0" cy="1041400"/>
          </a:xfrm>
          <a:prstGeom prst="line">
            <a:avLst/>
          </a:prstGeom>
          <a:ln w="25400" cap="flat" cmpd="sng">
            <a:solidFill>
              <a:schemeClr val="tx1"/>
            </a:solidFill>
            <a:prstDash val="solid"/>
            <a:round/>
            <a:headEnd type="none" w="med" len="med"/>
            <a:tailEnd type="triangle" w="med" len="med"/>
          </a:ln>
        </p:spPr>
      </p:sp>
      <p:sp>
        <p:nvSpPr>
          <p:cNvPr id="126036" name="直接连接符 266324"/>
          <p:cNvSpPr/>
          <p:nvPr/>
        </p:nvSpPr>
        <p:spPr>
          <a:xfrm flipV="1">
            <a:off x="7778750" y="3803650"/>
            <a:ext cx="139700" cy="165100"/>
          </a:xfrm>
          <a:prstGeom prst="line">
            <a:avLst/>
          </a:prstGeom>
          <a:ln w="12700" cap="flat" cmpd="sng">
            <a:solidFill>
              <a:schemeClr val="tx1"/>
            </a:solidFill>
            <a:prstDash val="solid"/>
            <a:round/>
            <a:headEnd type="none" w="med" len="med"/>
            <a:tailEnd type="none" w="med" len="med"/>
          </a:ln>
        </p:spPr>
      </p:sp>
      <p:sp>
        <p:nvSpPr>
          <p:cNvPr id="126037" name="矩形 266325"/>
          <p:cNvSpPr/>
          <p:nvPr/>
        </p:nvSpPr>
        <p:spPr>
          <a:xfrm>
            <a:off x="7910513" y="3657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26038" name="直接连接符 266326"/>
          <p:cNvSpPr/>
          <p:nvPr/>
        </p:nvSpPr>
        <p:spPr>
          <a:xfrm>
            <a:off x="3213100" y="4191000"/>
            <a:ext cx="431800" cy="0"/>
          </a:xfrm>
          <a:prstGeom prst="line">
            <a:avLst/>
          </a:prstGeom>
          <a:ln w="25400" cap="flat" cmpd="sng">
            <a:solidFill>
              <a:schemeClr val="tx1"/>
            </a:solidFill>
            <a:prstDash val="solid"/>
            <a:round/>
            <a:headEnd type="none" w="med" len="med"/>
            <a:tailEnd type="triangle" w="med" len="med"/>
          </a:ln>
        </p:spPr>
      </p:sp>
      <p:sp>
        <p:nvSpPr>
          <p:cNvPr id="126039" name="直接连接符 266327"/>
          <p:cNvSpPr/>
          <p:nvPr/>
        </p:nvSpPr>
        <p:spPr>
          <a:xfrm flipV="1">
            <a:off x="3200400" y="3797300"/>
            <a:ext cx="0" cy="406400"/>
          </a:xfrm>
          <a:prstGeom prst="line">
            <a:avLst/>
          </a:prstGeom>
          <a:ln w="25400" cap="flat" cmpd="sng">
            <a:solidFill>
              <a:schemeClr val="tx1"/>
            </a:solidFill>
            <a:prstDash val="solid"/>
            <a:round/>
            <a:headEnd type="none" w="med" len="med"/>
            <a:tailEnd type="none" w="med" len="med"/>
          </a:ln>
        </p:spPr>
      </p:sp>
      <p:grpSp>
        <p:nvGrpSpPr>
          <p:cNvPr id="126040" name="组合 266328"/>
          <p:cNvGrpSpPr/>
          <p:nvPr/>
        </p:nvGrpSpPr>
        <p:grpSpPr>
          <a:xfrm>
            <a:off x="5795963" y="2649538"/>
            <a:ext cx="376237" cy="1325562"/>
            <a:chOff x="3651" y="1669"/>
            <a:chExt cx="237" cy="835"/>
          </a:xfrm>
        </p:grpSpPr>
        <p:grpSp>
          <p:nvGrpSpPr>
            <p:cNvPr id="126041" name="组合 266329"/>
            <p:cNvGrpSpPr/>
            <p:nvPr/>
          </p:nvGrpSpPr>
          <p:grpSpPr>
            <a:xfrm>
              <a:off x="3696" y="1669"/>
              <a:ext cx="192" cy="835"/>
              <a:chOff x="3696" y="1669"/>
              <a:chExt cx="192" cy="835"/>
            </a:xfrm>
          </p:grpSpPr>
          <p:sp>
            <p:nvSpPr>
              <p:cNvPr id="126042" name="直接连接符 266330"/>
              <p:cNvSpPr/>
              <p:nvPr/>
            </p:nvSpPr>
            <p:spPr>
              <a:xfrm>
                <a:off x="3696" y="1669"/>
                <a:ext cx="0" cy="819"/>
              </a:xfrm>
              <a:prstGeom prst="line">
                <a:avLst/>
              </a:prstGeom>
              <a:ln w="25400" cap="flat" cmpd="sng">
                <a:solidFill>
                  <a:schemeClr val="tx1"/>
                </a:solidFill>
                <a:prstDash val="solid"/>
                <a:round/>
                <a:headEnd type="none" w="med" len="med"/>
                <a:tailEnd type="none" w="med" len="med"/>
              </a:ln>
            </p:spPr>
          </p:sp>
          <p:sp>
            <p:nvSpPr>
              <p:cNvPr id="126043" name="直接连接符 266331"/>
              <p:cNvSpPr/>
              <p:nvPr/>
            </p:nvSpPr>
            <p:spPr>
              <a:xfrm>
                <a:off x="3704" y="1669"/>
                <a:ext cx="176" cy="95"/>
              </a:xfrm>
              <a:prstGeom prst="line">
                <a:avLst/>
              </a:prstGeom>
              <a:ln w="25400" cap="flat" cmpd="sng">
                <a:solidFill>
                  <a:schemeClr val="tx1"/>
                </a:solidFill>
                <a:prstDash val="solid"/>
                <a:round/>
                <a:headEnd type="none" w="med" len="med"/>
                <a:tailEnd type="none" w="med" len="med"/>
              </a:ln>
            </p:spPr>
          </p:sp>
          <p:sp>
            <p:nvSpPr>
              <p:cNvPr id="126044" name="直接连接符 266332"/>
              <p:cNvSpPr/>
              <p:nvPr/>
            </p:nvSpPr>
            <p:spPr>
              <a:xfrm flipV="1">
                <a:off x="3704" y="2377"/>
                <a:ext cx="176" cy="127"/>
              </a:xfrm>
              <a:prstGeom prst="line">
                <a:avLst/>
              </a:prstGeom>
              <a:ln w="25400" cap="flat" cmpd="sng">
                <a:solidFill>
                  <a:schemeClr val="tx1"/>
                </a:solidFill>
                <a:prstDash val="solid"/>
                <a:round/>
                <a:headEnd type="none" w="med" len="med"/>
                <a:tailEnd type="none" w="med" len="med"/>
              </a:ln>
            </p:spPr>
          </p:sp>
          <p:sp>
            <p:nvSpPr>
              <p:cNvPr id="126045" name="直接连接符 266333"/>
              <p:cNvSpPr/>
              <p:nvPr/>
            </p:nvSpPr>
            <p:spPr>
              <a:xfrm>
                <a:off x="3888" y="1780"/>
                <a:ext cx="0" cy="597"/>
              </a:xfrm>
              <a:prstGeom prst="line">
                <a:avLst/>
              </a:prstGeom>
              <a:ln w="25400" cap="flat" cmpd="sng">
                <a:solidFill>
                  <a:schemeClr val="tx1"/>
                </a:solidFill>
                <a:prstDash val="solid"/>
                <a:round/>
                <a:headEnd type="none" w="med" len="med"/>
                <a:tailEnd type="none" w="med" len="med"/>
              </a:ln>
            </p:spPr>
          </p:sp>
        </p:grpSp>
        <p:sp>
          <p:nvSpPr>
            <p:cNvPr id="126046" name="矩形 266334"/>
            <p:cNvSpPr/>
            <p:nvPr/>
          </p:nvSpPr>
          <p:spPr>
            <a:xfrm rot="5400000">
              <a:off x="3560" y="1986"/>
              <a:ext cx="402"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26047" name="矩形 266335"/>
            <p:cNvSpPr/>
            <p:nvPr/>
          </p:nvSpPr>
          <p:spPr>
            <a:xfrm>
              <a:off x="3687" y="1749"/>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26048" name="矩形 266336"/>
            <p:cNvSpPr/>
            <p:nvPr/>
          </p:nvSpPr>
          <p:spPr>
            <a:xfrm>
              <a:off x="3687" y="2219"/>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grpSp>
      <p:sp>
        <p:nvSpPr>
          <p:cNvPr id="126049" name="直接连接符 266337"/>
          <p:cNvSpPr/>
          <p:nvPr/>
        </p:nvSpPr>
        <p:spPr>
          <a:xfrm>
            <a:off x="3606800" y="3124200"/>
            <a:ext cx="787400" cy="0"/>
          </a:xfrm>
          <a:prstGeom prst="line">
            <a:avLst/>
          </a:prstGeom>
          <a:ln w="50800" cap="flat" cmpd="sng">
            <a:solidFill>
              <a:schemeClr val="accent1"/>
            </a:solidFill>
            <a:prstDash val="solid"/>
            <a:round/>
            <a:headEnd type="none" w="med" len="med"/>
            <a:tailEnd type="triangle" w="med" len="med"/>
          </a:ln>
        </p:spPr>
      </p:sp>
      <p:sp>
        <p:nvSpPr>
          <p:cNvPr id="126050" name="直接连接符 266338"/>
          <p:cNvSpPr/>
          <p:nvPr/>
        </p:nvSpPr>
        <p:spPr>
          <a:xfrm flipH="1">
            <a:off x="3879850" y="3059113"/>
            <a:ext cx="88900" cy="131762"/>
          </a:xfrm>
          <a:prstGeom prst="line">
            <a:avLst/>
          </a:prstGeom>
          <a:ln w="12700" cap="flat" cmpd="sng">
            <a:solidFill>
              <a:schemeClr val="tx1"/>
            </a:solidFill>
            <a:prstDash val="solid"/>
            <a:round/>
            <a:headEnd type="none" w="med" len="med"/>
            <a:tailEnd type="none" w="med" len="med"/>
          </a:ln>
        </p:spPr>
      </p:sp>
      <p:sp>
        <p:nvSpPr>
          <p:cNvPr id="126051" name="矩形 266339"/>
          <p:cNvSpPr/>
          <p:nvPr/>
        </p:nvSpPr>
        <p:spPr>
          <a:xfrm>
            <a:off x="3567113" y="311785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26052" name="直接连接符 266340"/>
          <p:cNvSpPr/>
          <p:nvPr/>
        </p:nvSpPr>
        <p:spPr>
          <a:xfrm>
            <a:off x="1930400" y="2667000"/>
            <a:ext cx="2463800" cy="0"/>
          </a:xfrm>
          <a:prstGeom prst="line">
            <a:avLst/>
          </a:prstGeom>
          <a:ln w="50800" cap="flat" cmpd="sng">
            <a:solidFill>
              <a:schemeClr val="accent1"/>
            </a:solidFill>
            <a:prstDash val="solid"/>
            <a:round/>
            <a:headEnd type="none" w="med" len="med"/>
            <a:tailEnd type="triangle" w="med" len="med"/>
          </a:ln>
        </p:spPr>
      </p:sp>
      <p:sp>
        <p:nvSpPr>
          <p:cNvPr id="126053" name="直接连接符 266341"/>
          <p:cNvSpPr/>
          <p:nvPr/>
        </p:nvSpPr>
        <p:spPr>
          <a:xfrm flipH="1">
            <a:off x="3879850" y="2601913"/>
            <a:ext cx="88900" cy="131762"/>
          </a:xfrm>
          <a:prstGeom prst="line">
            <a:avLst/>
          </a:prstGeom>
          <a:ln w="12700" cap="flat" cmpd="sng">
            <a:solidFill>
              <a:schemeClr val="tx1"/>
            </a:solidFill>
            <a:prstDash val="solid"/>
            <a:round/>
            <a:headEnd type="none" w="med" len="med"/>
            <a:tailEnd type="none" w="med" len="med"/>
          </a:ln>
        </p:spPr>
      </p:sp>
      <p:sp>
        <p:nvSpPr>
          <p:cNvPr id="126054" name="矩形 266342"/>
          <p:cNvSpPr/>
          <p:nvPr/>
        </p:nvSpPr>
        <p:spPr>
          <a:xfrm>
            <a:off x="3643313" y="2660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4</a:t>
            </a:r>
            <a:endParaRPr lang="zh-CN" altLang="en-US" sz="1800" dirty="0">
              <a:latin typeface="Arial" panose="020B0604020202020204" pitchFamily="34" charset="0"/>
              <a:ea typeface="宋体" panose="02010600030101010101" pitchFamily="2" charset="-122"/>
            </a:endParaRPr>
          </a:p>
        </p:txBody>
      </p:sp>
      <p:sp>
        <p:nvSpPr>
          <p:cNvPr id="126055" name="直接连接符 266343"/>
          <p:cNvSpPr/>
          <p:nvPr/>
        </p:nvSpPr>
        <p:spPr>
          <a:xfrm flipV="1">
            <a:off x="1905000" y="2641600"/>
            <a:ext cx="0" cy="965200"/>
          </a:xfrm>
          <a:prstGeom prst="line">
            <a:avLst/>
          </a:prstGeom>
          <a:ln w="50800" cap="flat" cmpd="sng">
            <a:solidFill>
              <a:schemeClr val="accent1"/>
            </a:solidFill>
            <a:prstDash val="solid"/>
            <a:round/>
            <a:headEnd type="none" w="med" len="med"/>
            <a:tailEnd type="none" w="med" len="med"/>
          </a:ln>
        </p:spPr>
      </p:sp>
      <p:sp>
        <p:nvSpPr>
          <p:cNvPr id="126056" name="矩形 266344"/>
          <p:cNvSpPr/>
          <p:nvPr/>
        </p:nvSpPr>
        <p:spPr>
          <a:xfrm>
            <a:off x="2500313" y="2362200"/>
            <a:ext cx="13303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PC&lt;31:28</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6057" name="矩形 266345"/>
          <p:cNvSpPr/>
          <p:nvPr/>
        </p:nvSpPr>
        <p:spPr>
          <a:xfrm>
            <a:off x="2551113" y="2654300"/>
            <a:ext cx="8794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Target</a:t>
            </a:r>
            <a:endParaRPr lang="en-US" altLang="zh-CN" sz="1800">
              <a:latin typeface="Arial" panose="020B0604020202020204" pitchFamily="34" charset="0"/>
              <a:ea typeface="宋体" panose="02010600030101010101" pitchFamily="2" charset="-122"/>
            </a:endParaRPr>
          </a:p>
        </p:txBody>
      </p:sp>
      <p:sp>
        <p:nvSpPr>
          <p:cNvPr id="126058" name="直接连接符 266346"/>
          <p:cNvSpPr/>
          <p:nvPr/>
        </p:nvSpPr>
        <p:spPr>
          <a:xfrm>
            <a:off x="4419600" y="2646363"/>
            <a:ext cx="0" cy="514350"/>
          </a:xfrm>
          <a:prstGeom prst="line">
            <a:avLst/>
          </a:prstGeom>
          <a:ln w="50800" cap="flat" cmpd="sng">
            <a:solidFill>
              <a:schemeClr val="accent1"/>
            </a:solidFill>
            <a:prstDash val="solid"/>
            <a:round/>
            <a:headEnd type="none" w="med" len="med"/>
            <a:tailEnd type="none" w="med" len="med"/>
          </a:ln>
        </p:spPr>
      </p:sp>
      <p:sp>
        <p:nvSpPr>
          <p:cNvPr id="126059" name="直接连接符 266347"/>
          <p:cNvSpPr/>
          <p:nvPr/>
        </p:nvSpPr>
        <p:spPr>
          <a:xfrm>
            <a:off x="4445000" y="2895600"/>
            <a:ext cx="1397000" cy="0"/>
          </a:xfrm>
          <a:prstGeom prst="line">
            <a:avLst/>
          </a:prstGeom>
          <a:ln w="50800" cap="flat" cmpd="sng">
            <a:solidFill>
              <a:schemeClr val="accent1"/>
            </a:solidFill>
            <a:prstDash val="solid"/>
            <a:round/>
            <a:headEnd type="none" w="med" len="med"/>
            <a:tailEnd type="triangle" w="med" len="med"/>
          </a:ln>
        </p:spPr>
      </p:sp>
      <p:sp>
        <p:nvSpPr>
          <p:cNvPr id="126060" name="直接连接符 266348"/>
          <p:cNvSpPr/>
          <p:nvPr/>
        </p:nvSpPr>
        <p:spPr>
          <a:xfrm>
            <a:off x="5422900" y="3733800"/>
            <a:ext cx="431800" cy="0"/>
          </a:xfrm>
          <a:prstGeom prst="line">
            <a:avLst/>
          </a:prstGeom>
          <a:ln w="25400" cap="flat" cmpd="sng">
            <a:solidFill>
              <a:schemeClr val="tx1"/>
            </a:solidFill>
            <a:prstDash val="solid"/>
            <a:round/>
            <a:headEnd type="none" w="med" len="med"/>
            <a:tailEnd type="triangle" w="med" len="med"/>
          </a:ln>
        </p:spPr>
      </p:sp>
      <p:sp>
        <p:nvSpPr>
          <p:cNvPr id="126061" name="直接连接符 266349"/>
          <p:cNvSpPr/>
          <p:nvPr/>
        </p:nvSpPr>
        <p:spPr>
          <a:xfrm>
            <a:off x="5118100" y="4191000"/>
            <a:ext cx="279400" cy="0"/>
          </a:xfrm>
          <a:prstGeom prst="line">
            <a:avLst/>
          </a:prstGeom>
          <a:ln w="25400" cap="flat" cmpd="sng">
            <a:solidFill>
              <a:schemeClr val="tx1"/>
            </a:solidFill>
            <a:prstDash val="solid"/>
            <a:round/>
            <a:headEnd type="none" w="med" len="med"/>
            <a:tailEnd type="none" w="med" len="med"/>
          </a:ln>
        </p:spPr>
      </p:sp>
      <p:sp>
        <p:nvSpPr>
          <p:cNvPr id="126062" name="直接连接符 266350"/>
          <p:cNvSpPr/>
          <p:nvPr/>
        </p:nvSpPr>
        <p:spPr>
          <a:xfrm flipV="1">
            <a:off x="5410200" y="3721100"/>
            <a:ext cx="0" cy="482600"/>
          </a:xfrm>
          <a:prstGeom prst="line">
            <a:avLst/>
          </a:prstGeom>
          <a:ln w="25400" cap="flat" cmpd="sng">
            <a:solidFill>
              <a:schemeClr val="tx1"/>
            </a:solidFill>
            <a:prstDash val="solid"/>
            <a:round/>
            <a:headEnd type="none" w="med" len="med"/>
            <a:tailEnd type="none" w="med" len="med"/>
          </a:ln>
        </p:spPr>
      </p:sp>
      <p:sp>
        <p:nvSpPr>
          <p:cNvPr id="126063" name="直接连接符 266351"/>
          <p:cNvSpPr/>
          <p:nvPr/>
        </p:nvSpPr>
        <p:spPr>
          <a:xfrm flipH="1">
            <a:off x="5022850" y="2825750"/>
            <a:ext cx="88900" cy="166688"/>
          </a:xfrm>
          <a:prstGeom prst="line">
            <a:avLst/>
          </a:prstGeom>
          <a:ln w="12700" cap="flat" cmpd="sng">
            <a:solidFill>
              <a:schemeClr val="tx1"/>
            </a:solidFill>
            <a:prstDash val="solid"/>
            <a:round/>
            <a:headEnd type="none" w="med" len="med"/>
            <a:tailEnd type="none" w="med" len="med"/>
          </a:ln>
        </p:spPr>
      </p:sp>
      <p:sp>
        <p:nvSpPr>
          <p:cNvPr id="126064" name="矩形 266352"/>
          <p:cNvSpPr/>
          <p:nvPr/>
        </p:nvSpPr>
        <p:spPr>
          <a:xfrm>
            <a:off x="4710113" y="29241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6065" name="文本占位符 266353"/>
          <p:cNvSpPr>
            <a:spLocks noGrp="1"/>
          </p:cNvSpPr>
          <p:nvPr>
            <p:ph idx="1"/>
          </p:nvPr>
        </p:nvSpPr>
        <p:spPr>
          <a:xfrm>
            <a:off x="419100" y="1371600"/>
            <a:ext cx="8191500" cy="325438"/>
          </a:xfrm>
          <a:ln/>
        </p:spPr>
        <p:txBody>
          <a:bodyPr vert="horz" wrap="square" lIns="63500" tIns="25400" rIns="63500" bIns="25400" anchor="t" anchorCtr="0">
            <a:spAutoFit/>
          </a:bodyPr>
          <a:p>
            <a:r>
              <a:rPr lang="en-US" altLang="zh-CN">
                <a:ea typeface="宋体" panose="02010600030101010101" pitchFamily="2" charset="-122"/>
              </a:rPr>
              <a:t>PC </a:t>
            </a:r>
            <a:r>
              <a:rPr lang="en-US" altLang="zh-CN">
                <a:ea typeface="宋体" panose="02010600030101010101" pitchFamily="2" charset="-122"/>
                <a:sym typeface="Wingdings" panose="05000000000000000000" pitchFamily="2" charset="2"/>
              </a:rPr>
              <a:t>←</a:t>
            </a:r>
            <a:r>
              <a:rPr lang="en-US" altLang="zh-CN">
                <a:ea typeface="宋体" panose="02010600030101010101" pitchFamily="2" charset="-122"/>
              </a:rPr>
              <a:t> PC&lt;31:29&gt;  </a:t>
            </a:r>
            <a:r>
              <a:rPr lang="en-US" altLang="zh-CN" dirty="0" err="1">
                <a:ea typeface="宋体" panose="02010600030101010101" pitchFamily="2" charset="-122"/>
              </a:rPr>
              <a:t>concat</a:t>
            </a:r>
            <a:r>
              <a:rPr lang="en-US" altLang="zh-CN">
                <a:ea typeface="宋体" panose="02010600030101010101" pitchFamily="2" charset="-122"/>
              </a:rPr>
              <a:t>  target&lt;25:0&gt;  </a:t>
            </a:r>
            <a:r>
              <a:rPr lang="en-US" altLang="zh-CN" dirty="0" err="1">
                <a:ea typeface="宋体" panose="02010600030101010101" pitchFamily="2" charset="-122"/>
              </a:rPr>
              <a:t>concat</a:t>
            </a:r>
            <a:r>
              <a:rPr lang="en-US" altLang="zh-CN">
                <a:ea typeface="宋体" panose="02010600030101010101" pitchFamily="2" charset="-122"/>
              </a:rPr>
              <a:t>  “00”</a:t>
            </a:r>
            <a:endParaRPr lang="en-US" altLang="zh-CN">
              <a:ea typeface="宋体" panose="02010600030101010101" pitchFamily="2" charset="-122"/>
            </a:endParaRPr>
          </a:p>
        </p:txBody>
      </p:sp>
      <p:sp>
        <p:nvSpPr>
          <p:cNvPr id="126066" name="直接连接符 266354"/>
          <p:cNvSpPr/>
          <p:nvPr/>
        </p:nvSpPr>
        <p:spPr>
          <a:xfrm flipV="1">
            <a:off x="6019800" y="3873500"/>
            <a:ext cx="0" cy="482600"/>
          </a:xfrm>
          <a:prstGeom prst="line">
            <a:avLst/>
          </a:prstGeom>
          <a:ln w="25400" cap="flat" cmpd="sng">
            <a:solidFill>
              <a:schemeClr val="tx1"/>
            </a:solidFill>
            <a:prstDash val="solid"/>
            <a:round/>
            <a:headEnd type="none" w="med" len="med"/>
            <a:tailEnd type="triangle" w="med" len="med"/>
          </a:ln>
        </p:spPr>
      </p:sp>
      <p:sp>
        <p:nvSpPr>
          <p:cNvPr id="126067" name="矩形 266355"/>
          <p:cNvSpPr/>
          <p:nvPr/>
        </p:nvSpPr>
        <p:spPr>
          <a:xfrm>
            <a:off x="5624513" y="4343400"/>
            <a:ext cx="1177925" cy="363538"/>
          </a:xfrm>
          <a:prstGeom prst="rect">
            <a:avLst/>
          </a:prstGeom>
          <a:noFill/>
          <a:ln w="12700">
            <a:noFill/>
          </a:ln>
        </p:spPr>
        <p:txBody>
          <a:bodyPr wrap="none" lIns="90488" tIns="44450" rIns="90488" bIns="44450" anchor="t" anchorCtr="0">
            <a:spAutoFit/>
          </a:bodyPr>
          <a:p>
            <a:pPr eaLnBrk="0" hangingPunct="0"/>
            <a:r>
              <a:rPr lang="en-US" altLang="zh-CN" sz="1800" u="sng">
                <a:solidFill>
                  <a:schemeClr val="accent1"/>
                </a:solidFill>
                <a:latin typeface="Arial" panose="020B0604020202020204" pitchFamily="34" charset="0"/>
                <a:ea typeface="宋体" panose="02010600030101010101" pitchFamily="2" charset="-122"/>
              </a:rPr>
              <a:t>Jump = 1</a:t>
            </a:r>
            <a:endParaRPr lang="en-US" altLang="zh-CN" sz="1800" u="sng">
              <a:solidFill>
                <a:schemeClr val="accent1"/>
              </a:solidFill>
              <a:latin typeface="Arial" panose="020B0604020202020204" pitchFamily="34" charset="0"/>
              <a:ea typeface="宋体" panose="02010600030101010101" pitchFamily="2" charset="-122"/>
            </a:endParaRPr>
          </a:p>
        </p:txBody>
      </p:sp>
      <p:sp>
        <p:nvSpPr>
          <p:cNvPr id="126068" name="矩形 266356"/>
          <p:cNvSpPr/>
          <p:nvPr/>
        </p:nvSpPr>
        <p:spPr>
          <a:xfrm>
            <a:off x="366713" y="5626100"/>
            <a:ext cx="2066925" cy="363538"/>
          </a:xfrm>
          <a:prstGeom prst="rect">
            <a:avLst/>
          </a:prstGeom>
          <a:noFill/>
          <a:ln w="12700">
            <a:noFill/>
          </a:ln>
        </p:spPr>
        <p:txBody>
          <a:bodyPr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Instruction&lt;15:0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6069" name="矩形 266357"/>
          <p:cNvSpPr/>
          <p:nvPr/>
        </p:nvSpPr>
        <p:spPr>
          <a:xfrm>
            <a:off x="7072313" y="4419600"/>
            <a:ext cx="20669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26070" name="直接连接符 266358"/>
          <p:cNvSpPr/>
          <p:nvPr/>
        </p:nvSpPr>
        <p:spPr>
          <a:xfrm>
            <a:off x="1917700" y="2286000"/>
            <a:ext cx="5232400" cy="0"/>
          </a:xfrm>
          <a:prstGeom prst="line">
            <a:avLst/>
          </a:prstGeom>
          <a:ln w="25400" cap="flat" cmpd="sng">
            <a:solidFill>
              <a:schemeClr val="tx1"/>
            </a:solidFill>
            <a:prstDash val="solid"/>
            <a:round/>
            <a:headEnd type="none" w="med" len="med"/>
            <a:tailEnd type="triangle" w="med" len="med"/>
          </a:ln>
        </p:spPr>
      </p:sp>
      <p:sp>
        <p:nvSpPr>
          <p:cNvPr id="126071" name="直接连接符 266359"/>
          <p:cNvSpPr/>
          <p:nvPr/>
        </p:nvSpPr>
        <p:spPr>
          <a:xfrm flipH="1">
            <a:off x="5099050" y="2216150"/>
            <a:ext cx="88900" cy="166688"/>
          </a:xfrm>
          <a:prstGeom prst="line">
            <a:avLst/>
          </a:prstGeom>
          <a:ln w="12700" cap="flat" cmpd="sng">
            <a:solidFill>
              <a:schemeClr val="tx1"/>
            </a:solidFill>
            <a:prstDash val="solid"/>
            <a:round/>
            <a:headEnd type="none" w="med" len="med"/>
            <a:tailEnd type="none" w="med" len="med"/>
          </a:ln>
        </p:spPr>
      </p:sp>
      <p:sp>
        <p:nvSpPr>
          <p:cNvPr id="126072" name="矩形 266360"/>
          <p:cNvSpPr/>
          <p:nvPr/>
        </p:nvSpPr>
        <p:spPr>
          <a:xfrm>
            <a:off x="4786313" y="231457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30</a:t>
            </a:r>
            <a:endParaRPr lang="zh-CN" altLang="en-US" sz="1800" dirty="0">
              <a:latin typeface="Arial" panose="020B0604020202020204" pitchFamily="34" charset="0"/>
              <a:ea typeface="宋体" panose="02010600030101010101" pitchFamily="2" charset="-122"/>
            </a:endParaRPr>
          </a:p>
        </p:txBody>
      </p:sp>
      <p:sp>
        <p:nvSpPr>
          <p:cNvPr id="126073" name="矩形 266361"/>
          <p:cNvSpPr/>
          <p:nvPr/>
        </p:nvSpPr>
        <p:spPr>
          <a:xfrm>
            <a:off x="1687513" y="2971800"/>
            <a:ext cx="2085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Instruction&lt;25:0&gt;</a:t>
            </a:r>
            <a:endParaRPr lang="en-US" altLang="zh-CN" sz="1800">
              <a:latin typeface="Arial" panose="020B0604020202020204" pitchFamily="34" charset="0"/>
              <a:ea typeface="宋体" panose="02010600030101010101" pitchFamily="2" charset="-122"/>
            </a:endParaRPr>
          </a:p>
        </p:txBody>
      </p:sp>
      <p:grpSp>
        <p:nvGrpSpPr>
          <p:cNvPr id="126074" name="组合 266362"/>
          <p:cNvGrpSpPr/>
          <p:nvPr/>
        </p:nvGrpSpPr>
        <p:grpSpPr>
          <a:xfrm>
            <a:off x="1585913" y="533400"/>
            <a:ext cx="6327775" cy="668338"/>
            <a:chOff x="999" y="336"/>
            <a:chExt cx="3986" cy="421"/>
          </a:xfrm>
        </p:grpSpPr>
        <p:sp>
          <p:nvSpPr>
            <p:cNvPr id="126075" name="矩形 266363"/>
            <p:cNvSpPr/>
            <p:nvPr/>
          </p:nvSpPr>
          <p:spPr>
            <a:xfrm>
              <a:off x="1064" y="536"/>
              <a:ext cx="382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26076" name="组合 266364"/>
            <p:cNvGrpSpPr/>
            <p:nvPr/>
          </p:nvGrpSpPr>
          <p:grpSpPr>
            <a:xfrm>
              <a:off x="1060" y="528"/>
              <a:ext cx="664" cy="229"/>
              <a:chOff x="1060" y="528"/>
              <a:chExt cx="664" cy="229"/>
            </a:xfrm>
          </p:grpSpPr>
          <p:sp>
            <p:nvSpPr>
              <p:cNvPr id="126077" name="矩形 266365"/>
              <p:cNvSpPr/>
              <p:nvPr/>
            </p:nvSpPr>
            <p:spPr>
              <a:xfrm>
                <a:off x="1060" y="532"/>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6078" name="矩形 266366"/>
              <p:cNvSpPr/>
              <p:nvPr/>
            </p:nvSpPr>
            <p:spPr>
              <a:xfrm>
                <a:off x="1257" y="528"/>
                <a:ext cx="29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sp>
          <p:nvSpPr>
            <p:cNvPr id="126079" name="矩形 266367"/>
            <p:cNvSpPr/>
            <p:nvPr/>
          </p:nvSpPr>
          <p:spPr>
            <a:xfrm>
              <a:off x="1732" y="532"/>
              <a:ext cx="316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6080" name="矩形 266368"/>
            <p:cNvSpPr/>
            <p:nvPr/>
          </p:nvSpPr>
          <p:spPr>
            <a:xfrm>
              <a:off x="2738" y="528"/>
              <a:ext cx="109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126081" name="矩形 266369"/>
            <p:cNvSpPr/>
            <p:nvPr/>
          </p:nvSpPr>
          <p:spPr>
            <a:xfrm>
              <a:off x="4791" y="336"/>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26082" name="矩形 266370"/>
            <p:cNvSpPr/>
            <p:nvPr/>
          </p:nvSpPr>
          <p:spPr>
            <a:xfrm>
              <a:off x="1527" y="336"/>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26083" name="矩形 266371"/>
            <p:cNvSpPr/>
            <p:nvPr/>
          </p:nvSpPr>
          <p:spPr>
            <a:xfrm>
              <a:off x="999" y="336"/>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126084" name="直接连接符 266372"/>
          <p:cNvSpPr/>
          <p:nvPr/>
        </p:nvSpPr>
        <p:spPr>
          <a:xfrm>
            <a:off x="1701800" y="3581400"/>
            <a:ext cx="177800" cy="0"/>
          </a:xfrm>
          <a:prstGeom prst="line">
            <a:avLst/>
          </a:prstGeom>
          <a:ln w="50800" cap="flat" cmpd="sng">
            <a:solidFill>
              <a:schemeClr val="accent1"/>
            </a:solidFill>
            <a:prstDash val="solid"/>
            <a:round/>
            <a:headEnd type="none" w="med" len="med"/>
            <a:tailEnd type="none" w="med" len="med"/>
          </a:ln>
        </p:spPr>
      </p:sp>
      <p:sp>
        <p:nvSpPr>
          <p:cNvPr id="126085" name="直接连接符 266373"/>
          <p:cNvSpPr/>
          <p:nvPr/>
        </p:nvSpPr>
        <p:spPr>
          <a:xfrm>
            <a:off x="1905000" y="2298700"/>
            <a:ext cx="0" cy="355600"/>
          </a:xfrm>
          <a:prstGeom prst="line">
            <a:avLst/>
          </a:prstGeom>
          <a:ln w="25400" cap="flat" cmpd="sng">
            <a:solidFill>
              <a:schemeClr val="tx1"/>
            </a:solidFill>
            <a:prstDash val="solid"/>
            <a:round/>
            <a:headEnd type="none" w="med" len="med"/>
            <a:tailEnd type="none" w="med" len="med"/>
          </a:ln>
        </p:spPr>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标题 268289"/>
          <p:cNvSpPr>
            <a:spLocks noGrp="1"/>
          </p:cNvSpPr>
          <p:nvPr>
            <p:ph type="title"/>
          </p:nvPr>
        </p:nvSpPr>
        <p:spPr>
          <a:xfrm>
            <a:off x="233363" y="228600"/>
            <a:ext cx="8539162" cy="425450"/>
          </a:xfrm>
          <a:ln/>
        </p:spPr>
        <p:txBody>
          <a:bodyPr vert="horz" wrap="square" lIns="63500" tIns="25400" rIns="63500" bIns="25400" anchor="t" anchorCtr="0">
            <a:spAutoFit/>
          </a:bodyPr>
          <a:p>
            <a:r>
              <a:rPr lang="zh-CN" altLang="en-US" sz="2800" dirty="0">
                <a:ea typeface="宋体" panose="02010600030101010101" pitchFamily="2" charset="-122"/>
              </a:rPr>
              <a:t>综合分析结果，得到如下指令与控制信号的关系表</a:t>
            </a:r>
            <a:endParaRPr lang="zh-CN" altLang="en-US" sz="2800" dirty="0">
              <a:ea typeface="宋体" panose="02010600030101010101" pitchFamily="2" charset="-122"/>
            </a:endParaRPr>
          </a:p>
        </p:txBody>
      </p:sp>
      <p:grpSp>
        <p:nvGrpSpPr>
          <p:cNvPr id="128002" name="组合 268290"/>
          <p:cNvGrpSpPr/>
          <p:nvPr/>
        </p:nvGrpSpPr>
        <p:grpSpPr>
          <a:xfrm>
            <a:off x="1066800" y="1511300"/>
            <a:ext cx="6858000" cy="3105150"/>
            <a:chOff x="672" y="952"/>
            <a:chExt cx="4320" cy="1956"/>
          </a:xfrm>
        </p:grpSpPr>
        <p:grpSp>
          <p:nvGrpSpPr>
            <p:cNvPr id="128003" name="组合 268291"/>
            <p:cNvGrpSpPr/>
            <p:nvPr/>
          </p:nvGrpSpPr>
          <p:grpSpPr>
            <a:xfrm>
              <a:off x="672" y="952"/>
              <a:ext cx="4320" cy="1946"/>
              <a:chOff x="672" y="952"/>
              <a:chExt cx="4320" cy="1946"/>
            </a:xfrm>
          </p:grpSpPr>
          <p:sp>
            <p:nvSpPr>
              <p:cNvPr id="128004" name="矩形 268292"/>
              <p:cNvSpPr/>
              <p:nvPr/>
            </p:nvSpPr>
            <p:spPr>
              <a:xfrm>
                <a:off x="1719" y="960"/>
                <a:ext cx="34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28005" name="矩形 268293"/>
              <p:cNvSpPr/>
              <p:nvPr/>
            </p:nvSpPr>
            <p:spPr>
              <a:xfrm>
                <a:off x="2199" y="960"/>
                <a:ext cx="34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sub</a:t>
                </a:r>
                <a:endParaRPr lang="en-US" altLang="zh-CN">
                  <a:latin typeface="Arial" panose="020B0604020202020204" pitchFamily="34" charset="0"/>
                  <a:ea typeface="宋体" panose="02010600030101010101" pitchFamily="2" charset="-122"/>
                </a:endParaRPr>
              </a:p>
            </p:txBody>
          </p:sp>
          <p:sp>
            <p:nvSpPr>
              <p:cNvPr id="128006" name="矩形 268294"/>
              <p:cNvSpPr/>
              <p:nvPr/>
            </p:nvSpPr>
            <p:spPr>
              <a:xfrm>
                <a:off x="2679" y="960"/>
                <a:ext cx="278"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ori</a:t>
                </a:r>
                <a:endParaRPr lang="en-US" altLang="zh-CN">
                  <a:latin typeface="Arial" panose="020B0604020202020204" pitchFamily="34" charset="0"/>
                  <a:ea typeface="宋体" panose="02010600030101010101" pitchFamily="2" charset="-122"/>
                </a:endParaRPr>
              </a:p>
            </p:txBody>
          </p:sp>
          <p:sp>
            <p:nvSpPr>
              <p:cNvPr id="128007" name="矩形 268295"/>
              <p:cNvSpPr/>
              <p:nvPr/>
            </p:nvSpPr>
            <p:spPr>
              <a:xfrm>
                <a:off x="3159" y="960"/>
                <a:ext cx="250"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lw</a:t>
                </a:r>
                <a:endParaRPr lang="en-US" altLang="zh-CN">
                  <a:latin typeface="Arial" panose="020B0604020202020204" pitchFamily="34" charset="0"/>
                  <a:ea typeface="宋体" panose="02010600030101010101" pitchFamily="2" charset="-122"/>
                </a:endParaRPr>
              </a:p>
            </p:txBody>
          </p:sp>
          <p:sp>
            <p:nvSpPr>
              <p:cNvPr id="128008" name="矩形 268296"/>
              <p:cNvSpPr/>
              <p:nvPr/>
            </p:nvSpPr>
            <p:spPr>
              <a:xfrm>
                <a:off x="3639" y="960"/>
                <a:ext cx="28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sw</a:t>
                </a:r>
                <a:endParaRPr lang="en-US" altLang="zh-CN">
                  <a:latin typeface="Arial" panose="020B0604020202020204" pitchFamily="34" charset="0"/>
                  <a:ea typeface="宋体" panose="02010600030101010101" pitchFamily="2" charset="-122"/>
                </a:endParaRPr>
              </a:p>
            </p:txBody>
          </p:sp>
          <p:sp>
            <p:nvSpPr>
              <p:cNvPr id="128009" name="矩形 268297"/>
              <p:cNvSpPr/>
              <p:nvPr/>
            </p:nvSpPr>
            <p:spPr>
              <a:xfrm>
                <a:off x="4119" y="960"/>
                <a:ext cx="341"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beq</a:t>
                </a:r>
                <a:endParaRPr lang="en-US" altLang="zh-CN">
                  <a:latin typeface="Arial" panose="020B0604020202020204" pitchFamily="34" charset="0"/>
                  <a:ea typeface="宋体" panose="02010600030101010101" pitchFamily="2" charset="-122"/>
                </a:endParaRPr>
              </a:p>
            </p:txBody>
          </p:sp>
          <p:sp>
            <p:nvSpPr>
              <p:cNvPr id="128010" name="矩形 268298"/>
              <p:cNvSpPr/>
              <p:nvPr/>
            </p:nvSpPr>
            <p:spPr>
              <a:xfrm>
                <a:off x="4551" y="960"/>
                <a:ext cx="42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jump</a:t>
                </a:r>
                <a:endParaRPr lang="en-US" altLang="zh-CN">
                  <a:latin typeface="Arial" panose="020B0604020202020204" pitchFamily="34" charset="0"/>
                  <a:ea typeface="宋体" panose="02010600030101010101" pitchFamily="2" charset="-122"/>
                </a:endParaRPr>
              </a:p>
            </p:txBody>
          </p:sp>
          <p:sp>
            <p:nvSpPr>
              <p:cNvPr id="128011" name="矩形 268299"/>
              <p:cNvSpPr/>
              <p:nvPr/>
            </p:nvSpPr>
            <p:spPr>
              <a:xfrm>
                <a:off x="759" y="1152"/>
                <a:ext cx="561"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RegDst</a:t>
                </a:r>
                <a:endParaRPr lang="en-US" altLang="zh-CN">
                  <a:latin typeface="Arial" panose="020B0604020202020204" pitchFamily="34" charset="0"/>
                  <a:ea typeface="宋体" panose="02010600030101010101" pitchFamily="2" charset="-122"/>
                </a:endParaRPr>
              </a:p>
            </p:txBody>
          </p:sp>
          <p:sp>
            <p:nvSpPr>
              <p:cNvPr id="128012" name="矩形 268300"/>
              <p:cNvSpPr/>
              <p:nvPr/>
            </p:nvSpPr>
            <p:spPr>
              <a:xfrm>
                <a:off x="759" y="1344"/>
                <a:ext cx="582"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ALUSrc</a:t>
                </a:r>
                <a:endParaRPr lang="en-US" altLang="zh-CN">
                  <a:latin typeface="Arial" panose="020B0604020202020204" pitchFamily="34" charset="0"/>
                  <a:ea typeface="宋体" panose="02010600030101010101" pitchFamily="2" charset="-122"/>
                </a:endParaRPr>
              </a:p>
            </p:txBody>
          </p:sp>
          <p:sp>
            <p:nvSpPr>
              <p:cNvPr id="128013" name="矩形 268301"/>
              <p:cNvSpPr/>
              <p:nvPr/>
            </p:nvSpPr>
            <p:spPr>
              <a:xfrm>
                <a:off x="759" y="1536"/>
                <a:ext cx="768"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MemtoReg</a:t>
                </a:r>
                <a:endParaRPr lang="en-US" altLang="zh-CN">
                  <a:latin typeface="Arial" panose="020B0604020202020204" pitchFamily="34" charset="0"/>
                  <a:ea typeface="宋体" panose="02010600030101010101" pitchFamily="2" charset="-122"/>
                </a:endParaRPr>
              </a:p>
            </p:txBody>
          </p:sp>
          <p:sp>
            <p:nvSpPr>
              <p:cNvPr id="128014" name="矩形 268302"/>
              <p:cNvSpPr/>
              <p:nvPr/>
            </p:nvSpPr>
            <p:spPr>
              <a:xfrm>
                <a:off x="759" y="1728"/>
                <a:ext cx="676"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RegWrite</a:t>
                </a:r>
                <a:endParaRPr lang="en-US" altLang="zh-CN">
                  <a:latin typeface="Arial" panose="020B0604020202020204" pitchFamily="34" charset="0"/>
                  <a:ea typeface="宋体" panose="02010600030101010101" pitchFamily="2" charset="-122"/>
                </a:endParaRPr>
              </a:p>
            </p:txBody>
          </p:sp>
          <p:sp>
            <p:nvSpPr>
              <p:cNvPr id="128015" name="矩形 268303"/>
              <p:cNvSpPr/>
              <p:nvPr/>
            </p:nvSpPr>
            <p:spPr>
              <a:xfrm>
                <a:off x="759" y="1920"/>
                <a:ext cx="727"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MemWrite</a:t>
                </a:r>
                <a:endParaRPr lang="en-US" altLang="zh-CN">
                  <a:latin typeface="Arial" panose="020B0604020202020204" pitchFamily="34" charset="0"/>
                  <a:ea typeface="宋体" panose="02010600030101010101" pitchFamily="2" charset="-122"/>
                </a:endParaRPr>
              </a:p>
            </p:txBody>
          </p:sp>
          <p:sp>
            <p:nvSpPr>
              <p:cNvPr id="128016" name="矩形 268304"/>
              <p:cNvSpPr/>
              <p:nvPr/>
            </p:nvSpPr>
            <p:spPr>
              <a:xfrm>
                <a:off x="759" y="2112"/>
                <a:ext cx="554"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Branch</a:t>
                </a:r>
                <a:endParaRPr lang="en-US" altLang="zh-CN">
                  <a:latin typeface="Arial" panose="020B0604020202020204" pitchFamily="34" charset="0"/>
                  <a:ea typeface="宋体" panose="02010600030101010101" pitchFamily="2" charset="-122"/>
                </a:endParaRPr>
              </a:p>
            </p:txBody>
          </p:sp>
          <p:sp>
            <p:nvSpPr>
              <p:cNvPr id="128017" name="矩形 268305"/>
              <p:cNvSpPr/>
              <p:nvPr/>
            </p:nvSpPr>
            <p:spPr>
              <a:xfrm>
                <a:off x="759" y="2304"/>
                <a:ext cx="45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Jump</a:t>
                </a:r>
                <a:endParaRPr lang="en-US" altLang="zh-CN">
                  <a:latin typeface="Arial" panose="020B0604020202020204" pitchFamily="34" charset="0"/>
                  <a:ea typeface="宋体" panose="02010600030101010101" pitchFamily="2" charset="-122"/>
                </a:endParaRPr>
              </a:p>
            </p:txBody>
          </p:sp>
          <p:sp>
            <p:nvSpPr>
              <p:cNvPr id="128018" name="矩形 268306"/>
              <p:cNvSpPr/>
              <p:nvPr/>
            </p:nvSpPr>
            <p:spPr>
              <a:xfrm>
                <a:off x="759" y="2496"/>
                <a:ext cx="491"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ExtOp</a:t>
                </a:r>
                <a:endParaRPr lang="en-US" altLang="zh-CN">
                  <a:latin typeface="Arial" panose="020B0604020202020204" pitchFamily="34" charset="0"/>
                  <a:ea typeface="宋体" panose="02010600030101010101" pitchFamily="2" charset="-122"/>
                </a:endParaRPr>
              </a:p>
            </p:txBody>
          </p:sp>
          <p:sp>
            <p:nvSpPr>
              <p:cNvPr id="128019" name="矩形 268307"/>
              <p:cNvSpPr/>
              <p:nvPr/>
            </p:nvSpPr>
            <p:spPr>
              <a:xfrm>
                <a:off x="759" y="2688"/>
                <a:ext cx="873"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ALUctr</a:t>
                </a:r>
                <a:r>
                  <a:rPr lang="en-US" altLang="zh-CN">
                    <a:latin typeface="Arial" panose="020B0604020202020204" pitchFamily="34" charset="0"/>
                    <a:ea typeface="宋体" panose="02010600030101010101" pitchFamily="2" charset="-122"/>
                  </a:rPr>
                  <a:t>&lt;2:0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28020" name="直接连接符 268308"/>
              <p:cNvSpPr/>
              <p:nvPr/>
            </p:nvSpPr>
            <p:spPr>
              <a:xfrm>
                <a:off x="680" y="1344"/>
                <a:ext cx="4304" cy="0"/>
              </a:xfrm>
              <a:prstGeom prst="line">
                <a:avLst/>
              </a:prstGeom>
              <a:ln w="25400" cap="flat" cmpd="sng">
                <a:solidFill>
                  <a:schemeClr val="tx1"/>
                </a:solidFill>
                <a:prstDash val="solid"/>
                <a:round/>
                <a:headEnd type="none" w="med" len="med"/>
                <a:tailEnd type="none" w="med" len="med"/>
              </a:ln>
            </p:spPr>
          </p:sp>
          <p:sp>
            <p:nvSpPr>
              <p:cNvPr id="128021" name="直接连接符 268309"/>
              <p:cNvSpPr/>
              <p:nvPr/>
            </p:nvSpPr>
            <p:spPr>
              <a:xfrm>
                <a:off x="680" y="1536"/>
                <a:ext cx="4304" cy="0"/>
              </a:xfrm>
              <a:prstGeom prst="line">
                <a:avLst/>
              </a:prstGeom>
              <a:ln w="25400" cap="flat" cmpd="sng">
                <a:solidFill>
                  <a:schemeClr val="tx1"/>
                </a:solidFill>
                <a:prstDash val="solid"/>
                <a:round/>
                <a:headEnd type="none" w="med" len="med"/>
                <a:tailEnd type="none" w="med" len="med"/>
              </a:ln>
            </p:spPr>
          </p:sp>
          <p:sp>
            <p:nvSpPr>
              <p:cNvPr id="128022" name="直接连接符 268310"/>
              <p:cNvSpPr/>
              <p:nvPr/>
            </p:nvSpPr>
            <p:spPr>
              <a:xfrm>
                <a:off x="680" y="1728"/>
                <a:ext cx="4304" cy="0"/>
              </a:xfrm>
              <a:prstGeom prst="line">
                <a:avLst/>
              </a:prstGeom>
              <a:ln w="25400" cap="flat" cmpd="sng">
                <a:solidFill>
                  <a:schemeClr val="tx1"/>
                </a:solidFill>
                <a:prstDash val="solid"/>
                <a:round/>
                <a:headEnd type="none" w="med" len="med"/>
                <a:tailEnd type="none" w="med" len="med"/>
              </a:ln>
            </p:spPr>
          </p:sp>
          <p:sp>
            <p:nvSpPr>
              <p:cNvPr id="128023" name="直接连接符 268311"/>
              <p:cNvSpPr/>
              <p:nvPr/>
            </p:nvSpPr>
            <p:spPr>
              <a:xfrm>
                <a:off x="680" y="1920"/>
                <a:ext cx="4304" cy="0"/>
              </a:xfrm>
              <a:prstGeom prst="line">
                <a:avLst/>
              </a:prstGeom>
              <a:ln w="25400" cap="flat" cmpd="sng">
                <a:solidFill>
                  <a:schemeClr val="tx1"/>
                </a:solidFill>
                <a:prstDash val="solid"/>
                <a:round/>
                <a:headEnd type="none" w="med" len="med"/>
                <a:tailEnd type="none" w="med" len="med"/>
              </a:ln>
            </p:spPr>
          </p:sp>
          <p:sp>
            <p:nvSpPr>
              <p:cNvPr id="128024" name="直接连接符 268312"/>
              <p:cNvSpPr/>
              <p:nvPr/>
            </p:nvSpPr>
            <p:spPr>
              <a:xfrm>
                <a:off x="680" y="2112"/>
                <a:ext cx="4304" cy="0"/>
              </a:xfrm>
              <a:prstGeom prst="line">
                <a:avLst/>
              </a:prstGeom>
              <a:ln w="25400" cap="flat" cmpd="sng">
                <a:solidFill>
                  <a:schemeClr val="tx1"/>
                </a:solidFill>
                <a:prstDash val="solid"/>
                <a:round/>
                <a:headEnd type="none" w="med" len="med"/>
                <a:tailEnd type="none" w="med" len="med"/>
              </a:ln>
            </p:spPr>
          </p:sp>
          <p:sp>
            <p:nvSpPr>
              <p:cNvPr id="128025" name="直接连接符 268313"/>
              <p:cNvSpPr/>
              <p:nvPr/>
            </p:nvSpPr>
            <p:spPr>
              <a:xfrm>
                <a:off x="680" y="2304"/>
                <a:ext cx="4304" cy="0"/>
              </a:xfrm>
              <a:prstGeom prst="line">
                <a:avLst/>
              </a:prstGeom>
              <a:ln w="25400" cap="flat" cmpd="sng">
                <a:solidFill>
                  <a:schemeClr val="tx1"/>
                </a:solidFill>
                <a:prstDash val="solid"/>
                <a:round/>
                <a:headEnd type="none" w="med" len="med"/>
                <a:tailEnd type="none" w="med" len="med"/>
              </a:ln>
            </p:spPr>
          </p:sp>
          <p:sp>
            <p:nvSpPr>
              <p:cNvPr id="128026" name="直接连接符 268314"/>
              <p:cNvSpPr/>
              <p:nvPr/>
            </p:nvSpPr>
            <p:spPr>
              <a:xfrm>
                <a:off x="680" y="2496"/>
                <a:ext cx="4304" cy="0"/>
              </a:xfrm>
              <a:prstGeom prst="line">
                <a:avLst/>
              </a:prstGeom>
              <a:ln w="25400" cap="flat" cmpd="sng">
                <a:solidFill>
                  <a:schemeClr val="tx1"/>
                </a:solidFill>
                <a:prstDash val="solid"/>
                <a:round/>
                <a:headEnd type="none" w="med" len="med"/>
                <a:tailEnd type="none" w="med" len="med"/>
              </a:ln>
            </p:spPr>
          </p:sp>
          <p:sp>
            <p:nvSpPr>
              <p:cNvPr id="128027" name="直接连接符 268315"/>
              <p:cNvSpPr/>
              <p:nvPr/>
            </p:nvSpPr>
            <p:spPr>
              <a:xfrm>
                <a:off x="680" y="2688"/>
                <a:ext cx="4304" cy="0"/>
              </a:xfrm>
              <a:prstGeom prst="line">
                <a:avLst/>
              </a:prstGeom>
              <a:ln w="25400" cap="flat" cmpd="sng">
                <a:solidFill>
                  <a:schemeClr val="tx1"/>
                </a:solidFill>
                <a:prstDash val="solid"/>
                <a:round/>
                <a:headEnd type="none" w="med" len="med"/>
                <a:tailEnd type="none" w="med" len="med"/>
              </a:ln>
            </p:spPr>
          </p:sp>
          <p:sp>
            <p:nvSpPr>
              <p:cNvPr id="128028" name="直接连接符 268316"/>
              <p:cNvSpPr/>
              <p:nvPr/>
            </p:nvSpPr>
            <p:spPr>
              <a:xfrm>
                <a:off x="680" y="1152"/>
                <a:ext cx="4304" cy="0"/>
              </a:xfrm>
              <a:prstGeom prst="line">
                <a:avLst/>
              </a:prstGeom>
              <a:ln w="25400" cap="flat" cmpd="sng">
                <a:solidFill>
                  <a:schemeClr val="tx1"/>
                </a:solidFill>
                <a:prstDash val="solid"/>
                <a:round/>
                <a:headEnd type="none" w="med" len="med"/>
                <a:tailEnd type="none" w="med" len="med"/>
              </a:ln>
            </p:spPr>
          </p:sp>
          <p:sp>
            <p:nvSpPr>
              <p:cNvPr id="128029" name="直接连接符 268317"/>
              <p:cNvSpPr/>
              <p:nvPr/>
            </p:nvSpPr>
            <p:spPr>
              <a:xfrm>
                <a:off x="680" y="2880"/>
                <a:ext cx="4304" cy="0"/>
              </a:xfrm>
              <a:prstGeom prst="line">
                <a:avLst/>
              </a:prstGeom>
              <a:ln w="25400" cap="flat" cmpd="sng">
                <a:solidFill>
                  <a:schemeClr val="tx1"/>
                </a:solidFill>
                <a:prstDash val="solid"/>
                <a:round/>
                <a:headEnd type="none" w="med" len="med"/>
                <a:tailEnd type="none" w="med" len="med"/>
              </a:ln>
            </p:spPr>
          </p:sp>
          <p:sp>
            <p:nvSpPr>
              <p:cNvPr id="128030" name="直接连接符 268318"/>
              <p:cNvSpPr/>
              <p:nvPr/>
            </p:nvSpPr>
            <p:spPr>
              <a:xfrm flipV="1">
                <a:off x="1632" y="952"/>
                <a:ext cx="0" cy="1936"/>
              </a:xfrm>
              <a:prstGeom prst="line">
                <a:avLst/>
              </a:prstGeom>
              <a:ln w="25400" cap="flat" cmpd="sng">
                <a:solidFill>
                  <a:schemeClr val="tx1"/>
                </a:solidFill>
                <a:prstDash val="solid"/>
                <a:round/>
                <a:headEnd type="none" w="med" len="med"/>
                <a:tailEnd type="none" w="med" len="med"/>
              </a:ln>
            </p:spPr>
          </p:sp>
          <p:sp>
            <p:nvSpPr>
              <p:cNvPr id="128031" name="直接连接符 268319"/>
              <p:cNvSpPr/>
              <p:nvPr/>
            </p:nvSpPr>
            <p:spPr>
              <a:xfrm>
                <a:off x="680" y="960"/>
                <a:ext cx="4304" cy="0"/>
              </a:xfrm>
              <a:prstGeom prst="line">
                <a:avLst/>
              </a:prstGeom>
              <a:ln w="25400" cap="flat" cmpd="sng">
                <a:solidFill>
                  <a:schemeClr val="tx1"/>
                </a:solidFill>
                <a:prstDash val="solid"/>
                <a:round/>
                <a:headEnd type="none" w="med" len="med"/>
                <a:tailEnd type="none" w="med" len="med"/>
              </a:ln>
            </p:spPr>
          </p:sp>
          <p:sp>
            <p:nvSpPr>
              <p:cNvPr id="128032" name="直接连接符 268320"/>
              <p:cNvSpPr/>
              <p:nvPr/>
            </p:nvSpPr>
            <p:spPr>
              <a:xfrm flipV="1">
                <a:off x="2112" y="952"/>
                <a:ext cx="0" cy="1936"/>
              </a:xfrm>
              <a:prstGeom prst="line">
                <a:avLst/>
              </a:prstGeom>
              <a:ln w="25400" cap="flat" cmpd="sng">
                <a:solidFill>
                  <a:schemeClr val="tx1"/>
                </a:solidFill>
                <a:prstDash val="solid"/>
                <a:round/>
                <a:headEnd type="none" w="med" len="med"/>
                <a:tailEnd type="none" w="med" len="med"/>
              </a:ln>
            </p:spPr>
          </p:sp>
          <p:sp>
            <p:nvSpPr>
              <p:cNvPr id="128033" name="直接连接符 268321"/>
              <p:cNvSpPr/>
              <p:nvPr/>
            </p:nvSpPr>
            <p:spPr>
              <a:xfrm flipV="1">
                <a:off x="2592" y="952"/>
                <a:ext cx="0" cy="1936"/>
              </a:xfrm>
              <a:prstGeom prst="line">
                <a:avLst/>
              </a:prstGeom>
              <a:ln w="25400" cap="flat" cmpd="sng">
                <a:solidFill>
                  <a:schemeClr val="tx1"/>
                </a:solidFill>
                <a:prstDash val="solid"/>
                <a:round/>
                <a:headEnd type="none" w="med" len="med"/>
                <a:tailEnd type="none" w="med" len="med"/>
              </a:ln>
            </p:spPr>
          </p:sp>
          <p:sp>
            <p:nvSpPr>
              <p:cNvPr id="128034" name="直接连接符 268322"/>
              <p:cNvSpPr/>
              <p:nvPr/>
            </p:nvSpPr>
            <p:spPr>
              <a:xfrm flipV="1">
                <a:off x="3072" y="952"/>
                <a:ext cx="0" cy="1936"/>
              </a:xfrm>
              <a:prstGeom prst="line">
                <a:avLst/>
              </a:prstGeom>
              <a:ln w="25400" cap="flat" cmpd="sng">
                <a:solidFill>
                  <a:schemeClr val="tx1"/>
                </a:solidFill>
                <a:prstDash val="solid"/>
                <a:round/>
                <a:headEnd type="none" w="med" len="med"/>
                <a:tailEnd type="none" w="med" len="med"/>
              </a:ln>
            </p:spPr>
          </p:sp>
          <p:sp>
            <p:nvSpPr>
              <p:cNvPr id="128035" name="直接连接符 268323"/>
              <p:cNvSpPr/>
              <p:nvPr/>
            </p:nvSpPr>
            <p:spPr>
              <a:xfrm flipV="1">
                <a:off x="3552" y="952"/>
                <a:ext cx="0" cy="1936"/>
              </a:xfrm>
              <a:prstGeom prst="line">
                <a:avLst/>
              </a:prstGeom>
              <a:ln w="25400" cap="flat" cmpd="sng">
                <a:solidFill>
                  <a:schemeClr val="tx1"/>
                </a:solidFill>
                <a:prstDash val="solid"/>
                <a:round/>
                <a:headEnd type="none" w="med" len="med"/>
                <a:tailEnd type="none" w="med" len="med"/>
              </a:ln>
            </p:spPr>
          </p:sp>
          <p:sp>
            <p:nvSpPr>
              <p:cNvPr id="128036" name="直接连接符 268324"/>
              <p:cNvSpPr/>
              <p:nvPr/>
            </p:nvSpPr>
            <p:spPr>
              <a:xfrm flipV="1">
                <a:off x="4032" y="952"/>
                <a:ext cx="0" cy="1936"/>
              </a:xfrm>
              <a:prstGeom prst="line">
                <a:avLst/>
              </a:prstGeom>
              <a:ln w="25400" cap="flat" cmpd="sng">
                <a:solidFill>
                  <a:schemeClr val="tx1"/>
                </a:solidFill>
                <a:prstDash val="solid"/>
                <a:round/>
                <a:headEnd type="none" w="med" len="med"/>
                <a:tailEnd type="none" w="med" len="med"/>
              </a:ln>
            </p:spPr>
          </p:sp>
          <p:sp>
            <p:nvSpPr>
              <p:cNvPr id="128037" name="直接连接符 268325"/>
              <p:cNvSpPr/>
              <p:nvPr/>
            </p:nvSpPr>
            <p:spPr>
              <a:xfrm flipV="1">
                <a:off x="4512" y="952"/>
                <a:ext cx="0" cy="1936"/>
              </a:xfrm>
              <a:prstGeom prst="line">
                <a:avLst/>
              </a:prstGeom>
              <a:ln w="25400" cap="flat" cmpd="sng">
                <a:solidFill>
                  <a:schemeClr val="tx1"/>
                </a:solidFill>
                <a:prstDash val="solid"/>
                <a:round/>
                <a:headEnd type="none" w="med" len="med"/>
                <a:tailEnd type="none" w="med" len="med"/>
              </a:ln>
            </p:spPr>
          </p:sp>
          <p:sp>
            <p:nvSpPr>
              <p:cNvPr id="128038" name="直接连接符 268326"/>
              <p:cNvSpPr/>
              <p:nvPr/>
            </p:nvSpPr>
            <p:spPr>
              <a:xfrm flipV="1">
                <a:off x="4992" y="952"/>
                <a:ext cx="0" cy="1936"/>
              </a:xfrm>
              <a:prstGeom prst="line">
                <a:avLst/>
              </a:prstGeom>
              <a:ln w="25400" cap="flat" cmpd="sng">
                <a:solidFill>
                  <a:schemeClr val="tx1"/>
                </a:solidFill>
                <a:prstDash val="solid"/>
                <a:round/>
                <a:headEnd type="none" w="med" len="med"/>
                <a:tailEnd type="none" w="med" len="med"/>
              </a:ln>
            </p:spPr>
          </p:sp>
          <p:sp>
            <p:nvSpPr>
              <p:cNvPr id="128039" name="直接连接符 268327"/>
              <p:cNvSpPr/>
              <p:nvPr/>
            </p:nvSpPr>
            <p:spPr>
              <a:xfrm flipV="1">
                <a:off x="672" y="952"/>
                <a:ext cx="0" cy="1936"/>
              </a:xfrm>
              <a:prstGeom prst="line">
                <a:avLst/>
              </a:prstGeom>
              <a:ln w="25400" cap="flat" cmpd="sng">
                <a:solidFill>
                  <a:schemeClr val="tx1"/>
                </a:solidFill>
                <a:prstDash val="solid"/>
                <a:round/>
                <a:headEnd type="none" w="med" len="med"/>
                <a:tailEnd type="none" w="med" len="med"/>
              </a:ln>
            </p:spPr>
          </p:sp>
        </p:grpSp>
        <p:sp>
          <p:nvSpPr>
            <p:cNvPr id="128040" name="矩形 268328"/>
            <p:cNvSpPr/>
            <p:nvPr/>
          </p:nvSpPr>
          <p:spPr>
            <a:xfrm>
              <a:off x="1767" y="115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41" name="矩形 268329"/>
            <p:cNvSpPr/>
            <p:nvPr/>
          </p:nvSpPr>
          <p:spPr>
            <a:xfrm>
              <a:off x="1767" y="134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42" name="矩形 268330"/>
            <p:cNvSpPr/>
            <p:nvPr/>
          </p:nvSpPr>
          <p:spPr>
            <a:xfrm>
              <a:off x="1767" y="153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43" name="矩形 268331"/>
            <p:cNvSpPr/>
            <p:nvPr/>
          </p:nvSpPr>
          <p:spPr>
            <a:xfrm>
              <a:off x="1767" y="172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44" name="矩形 268332"/>
            <p:cNvSpPr/>
            <p:nvPr/>
          </p:nvSpPr>
          <p:spPr>
            <a:xfrm>
              <a:off x="176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45" name="矩形 268333"/>
            <p:cNvSpPr/>
            <p:nvPr/>
          </p:nvSpPr>
          <p:spPr>
            <a:xfrm>
              <a:off x="1767"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46" name="矩形 268334"/>
            <p:cNvSpPr/>
            <p:nvPr/>
          </p:nvSpPr>
          <p:spPr>
            <a:xfrm>
              <a:off x="176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47" name="矩形 268335"/>
            <p:cNvSpPr/>
            <p:nvPr/>
          </p:nvSpPr>
          <p:spPr>
            <a:xfrm>
              <a:off x="1767" y="249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48" name="矩形 268336"/>
            <p:cNvSpPr/>
            <p:nvPr/>
          </p:nvSpPr>
          <p:spPr>
            <a:xfrm>
              <a:off x="1719" y="2688"/>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28049" name="矩形 268337"/>
            <p:cNvSpPr/>
            <p:nvPr/>
          </p:nvSpPr>
          <p:spPr>
            <a:xfrm>
              <a:off x="2247" y="115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50" name="矩形 268338"/>
            <p:cNvSpPr/>
            <p:nvPr/>
          </p:nvSpPr>
          <p:spPr>
            <a:xfrm>
              <a:off x="2247" y="134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51" name="矩形 268339"/>
            <p:cNvSpPr/>
            <p:nvPr/>
          </p:nvSpPr>
          <p:spPr>
            <a:xfrm>
              <a:off x="2247" y="153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52" name="矩形 268340"/>
            <p:cNvSpPr/>
            <p:nvPr/>
          </p:nvSpPr>
          <p:spPr>
            <a:xfrm>
              <a:off x="2247" y="172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53" name="矩形 268341"/>
            <p:cNvSpPr/>
            <p:nvPr/>
          </p:nvSpPr>
          <p:spPr>
            <a:xfrm>
              <a:off x="224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54" name="矩形 268342"/>
            <p:cNvSpPr/>
            <p:nvPr/>
          </p:nvSpPr>
          <p:spPr>
            <a:xfrm>
              <a:off x="2247"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55" name="矩形 268343"/>
            <p:cNvSpPr/>
            <p:nvPr/>
          </p:nvSpPr>
          <p:spPr>
            <a:xfrm>
              <a:off x="224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56" name="矩形 268344"/>
            <p:cNvSpPr/>
            <p:nvPr/>
          </p:nvSpPr>
          <p:spPr>
            <a:xfrm>
              <a:off x="2247" y="249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57" name="矩形 268345"/>
            <p:cNvSpPr/>
            <p:nvPr/>
          </p:nvSpPr>
          <p:spPr>
            <a:xfrm>
              <a:off x="2082" y="2688"/>
              <a:ext cx="448"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Subtr</a:t>
              </a:r>
              <a:endParaRPr lang="en-US" altLang="zh-CN">
                <a:latin typeface="Arial" panose="020B0604020202020204" pitchFamily="34" charset="0"/>
                <a:ea typeface="宋体" panose="02010600030101010101" pitchFamily="2" charset="-122"/>
              </a:endParaRPr>
            </a:p>
          </p:txBody>
        </p:sp>
        <p:sp>
          <p:nvSpPr>
            <p:cNvPr id="128058" name="矩形 268346"/>
            <p:cNvSpPr/>
            <p:nvPr/>
          </p:nvSpPr>
          <p:spPr>
            <a:xfrm>
              <a:off x="2727" y="115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59" name="矩形 268347"/>
            <p:cNvSpPr/>
            <p:nvPr/>
          </p:nvSpPr>
          <p:spPr>
            <a:xfrm>
              <a:off x="2727" y="134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60" name="矩形 268348"/>
            <p:cNvSpPr/>
            <p:nvPr/>
          </p:nvSpPr>
          <p:spPr>
            <a:xfrm>
              <a:off x="2727" y="153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61" name="矩形 268349"/>
            <p:cNvSpPr/>
            <p:nvPr/>
          </p:nvSpPr>
          <p:spPr>
            <a:xfrm>
              <a:off x="2727" y="172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62" name="矩形 268350"/>
            <p:cNvSpPr/>
            <p:nvPr/>
          </p:nvSpPr>
          <p:spPr>
            <a:xfrm>
              <a:off x="272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63" name="矩形 268351"/>
            <p:cNvSpPr/>
            <p:nvPr/>
          </p:nvSpPr>
          <p:spPr>
            <a:xfrm>
              <a:off x="2727"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64" name="矩形 268352"/>
            <p:cNvSpPr/>
            <p:nvPr/>
          </p:nvSpPr>
          <p:spPr>
            <a:xfrm>
              <a:off x="272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65" name="矩形 268353"/>
            <p:cNvSpPr/>
            <p:nvPr/>
          </p:nvSpPr>
          <p:spPr>
            <a:xfrm>
              <a:off x="2727"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66" name="矩形 268354"/>
            <p:cNvSpPr/>
            <p:nvPr/>
          </p:nvSpPr>
          <p:spPr>
            <a:xfrm>
              <a:off x="2679" y="2688"/>
              <a:ext cx="264"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Or</a:t>
              </a:r>
              <a:endParaRPr lang="en-US" altLang="zh-CN">
                <a:latin typeface="Arial" panose="020B0604020202020204" pitchFamily="34" charset="0"/>
                <a:ea typeface="宋体" panose="02010600030101010101" pitchFamily="2" charset="-122"/>
              </a:endParaRPr>
            </a:p>
          </p:txBody>
        </p:sp>
        <p:sp>
          <p:nvSpPr>
            <p:cNvPr id="128067" name="矩形 268355"/>
            <p:cNvSpPr/>
            <p:nvPr/>
          </p:nvSpPr>
          <p:spPr>
            <a:xfrm>
              <a:off x="3207" y="115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68" name="矩形 268356"/>
            <p:cNvSpPr/>
            <p:nvPr/>
          </p:nvSpPr>
          <p:spPr>
            <a:xfrm>
              <a:off x="3207" y="134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69" name="矩形 268357"/>
            <p:cNvSpPr/>
            <p:nvPr/>
          </p:nvSpPr>
          <p:spPr>
            <a:xfrm>
              <a:off x="3207" y="153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70" name="矩形 268358"/>
            <p:cNvSpPr/>
            <p:nvPr/>
          </p:nvSpPr>
          <p:spPr>
            <a:xfrm>
              <a:off x="3207" y="172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71" name="矩形 268359"/>
            <p:cNvSpPr/>
            <p:nvPr/>
          </p:nvSpPr>
          <p:spPr>
            <a:xfrm>
              <a:off x="320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72" name="矩形 268360"/>
            <p:cNvSpPr/>
            <p:nvPr/>
          </p:nvSpPr>
          <p:spPr>
            <a:xfrm>
              <a:off x="3207"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73" name="矩形 268361"/>
            <p:cNvSpPr/>
            <p:nvPr/>
          </p:nvSpPr>
          <p:spPr>
            <a:xfrm>
              <a:off x="320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74" name="矩形 268362"/>
            <p:cNvSpPr/>
            <p:nvPr/>
          </p:nvSpPr>
          <p:spPr>
            <a:xfrm>
              <a:off x="3207"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75" name="矩形 268363"/>
            <p:cNvSpPr/>
            <p:nvPr/>
          </p:nvSpPr>
          <p:spPr>
            <a:xfrm>
              <a:off x="3159" y="2688"/>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28076" name="矩形 268364"/>
            <p:cNvSpPr/>
            <p:nvPr/>
          </p:nvSpPr>
          <p:spPr>
            <a:xfrm>
              <a:off x="3687" y="115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77" name="矩形 268365"/>
            <p:cNvSpPr/>
            <p:nvPr/>
          </p:nvSpPr>
          <p:spPr>
            <a:xfrm>
              <a:off x="3687" y="134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78" name="矩形 268366"/>
            <p:cNvSpPr/>
            <p:nvPr/>
          </p:nvSpPr>
          <p:spPr>
            <a:xfrm>
              <a:off x="3687" y="153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79" name="矩形 268367"/>
            <p:cNvSpPr/>
            <p:nvPr/>
          </p:nvSpPr>
          <p:spPr>
            <a:xfrm>
              <a:off x="3687" y="172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80" name="矩形 268368"/>
            <p:cNvSpPr/>
            <p:nvPr/>
          </p:nvSpPr>
          <p:spPr>
            <a:xfrm>
              <a:off x="368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81" name="矩形 268369"/>
            <p:cNvSpPr/>
            <p:nvPr/>
          </p:nvSpPr>
          <p:spPr>
            <a:xfrm>
              <a:off x="3687"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82" name="矩形 268370"/>
            <p:cNvSpPr/>
            <p:nvPr/>
          </p:nvSpPr>
          <p:spPr>
            <a:xfrm>
              <a:off x="368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83" name="矩形 268371"/>
            <p:cNvSpPr/>
            <p:nvPr/>
          </p:nvSpPr>
          <p:spPr>
            <a:xfrm>
              <a:off x="3687"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84" name="矩形 268372"/>
            <p:cNvSpPr/>
            <p:nvPr/>
          </p:nvSpPr>
          <p:spPr>
            <a:xfrm>
              <a:off x="3639" y="2688"/>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28085" name="矩形 268373"/>
            <p:cNvSpPr/>
            <p:nvPr/>
          </p:nvSpPr>
          <p:spPr>
            <a:xfrm>
              <a:off x="4167" y="115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86" name="矩形 268374"/>
            <p:cNvSpPr/>
            <p:nvPr/>
          </p:nvSpPr>
          <p:spPr>
            <a:xfrm>
              <a:off x="4167" y="134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87" name="矩形 268375"/>
            <p:cNvSpPr/>
            <p:nvPr/>
          </p:nvSpPr>
          <p:spPr>
            <a:xfrm>
              <a:off x="4167" y="153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88" name="矩形 268376"/>
            <p:cNvSpPr/>
            <p:nvPr/>
          </p:nvSpPr>
          <p:spPr>
            <a:xfrm>
              <a:off x="4167" y="172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89" name="矩形 268377"/>
            <p:cNvSpPr/>
            <p:nvPr/>
          </p:nvSpPr>
          <p:spPr>
            <a:xfrm>
              <a:off x="416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90" name="矩形 268378"/>
            <p:cNvSpPr/>
            <p:nvPr/>
          </p:nvSpPr>
          <p:spPr>
            <a:xfrm>
              <a:off x="4167"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091" name="矩形 268379"/>
            <p:cNvSpPr/>
            <p:nvPr/>
          </p:nvSpPr>
          <p:spPr>
            <a:xfrm>
              <a:off x="416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92" name="矩形 268380"/>
            <p:cNvSpPr/>
            <p:nvPr/>
          </p:nvSpPr>
          <p:spPr>
            <a:xfrm>
              <a:off x="4167" y="249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93" name="矩形 268381"/>
            <p:cNvSpPr/>
            <p:nvPr/>
          </p:nvSpPr>
          <p:spPr>
            <a:xfrm>
              <a:off x="4001" y="2698"/>
              <a:ext cx="448"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Subtr</a:t>
              </a:r>
              <a:endParaRPr lang="en-US" altLang="zh-CN">
                <a:latin typeface="Arial" panose="020B0604020202020204" pitchFamily="34" charset="0"/>
                <a:ea typeface="宋体" panose="02010600030101010101" pitchFamily="2" charset="-122"/>
              </a:endParaRPr>
            </a:p>
          </p:txBody>
        </p:sp>
        <p:sp>
          <p:nvSpPr>
            <p:cNvPr id="128094" name="矩形 268382"/>
            <p:cNvSpPr/>
            <p:nvPr/>
          </p:nvSpPr>
          <p:spPr>
            <a:xfrm>
              <a:off x="4647" y="115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95" name="矩形 268383"/>
            <p:cNvSpPr/>
            <p:nvPr/>
          </p:nvSpPr>
          <p:spPr>
            <a:xfrm>
              <a:off x="4647" y="134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96" name="矩形 268384"/>
            <p:cNvSpPr/>
            <p:nvPr/>
          </p:nvSpPr>
          <p:spPr>
            <a:xfrm>
              <a:off x="4647" y="153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097" name="矩形 268385"/>
            <p:cNvSpPr/>
            <p:nvPr/>
          </p:nvSpPr>
          <p:spPr>
            <a:xfrm>
              <a:off x="4647" y="172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98" name="矩形 268386"/>
            <p:cNvSpPr/>
            <p:nvPr/>
          </p:nvSpPr>
          <p:spPr>
            <a:xfrm>
              <a:off x="464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099" name="矩形 268387"/>
            <p:cNvSpPr/>
            <p:nvPr/>
          </p:nvSpPr>
          <p:spPr>
            <a:xfrm>
              <a:off x="4647"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100" name="矩形 268388"/>
            <p:cNvSpPr/>
            <p:nvPr/>
          </p:nvSpPr>
          <p:spPr>
            <a:xfrm>
              <a:off x="464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28101" name="矩形 268389"/>
            <p:cNvSpPr/>
            <p:nvPr/>
          </p:nvSpPr>
          <p:spPr>
            <a:xfrm>
              <a:off x="4647" y="249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28102" name="矩形 268390"/>
            <p:cNvSpPr/>
            <p:nvPr/>
          </p:nvSpPr>
          <p:spPr>
            <a:xfrm>
              <a:off x="4599" y="2688"/>
              <a:ext cx="327"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xxx</a:t>
              </a:r>
              <a:endParaRPr lang="en-US" altLang="zh-CN">
                <a:latin typeface="Arial" panose="020B0604020202020204" pitchFamily="34" charset="0"/>
                <a:ea typeface="宋体" panose="02010600030101010101" pitchFamily="2" charset="-122"/>
              </a:endParaRPr>
            </a:p>
          </p:txBody>
        </p:sp>
      </p:grpSp>
      <p:sp>
        <p:nvSpPr>
          <p:cNvPr id="128103" name="直接连接符 268391"/>
          <p:cNvSpPr/>
          <p:nvPr/>
        </p:nvSpPr>
        <p:spPr>
          <a:xfrm>
            <a:off x="2603500" y="1219200"/>
            <a:ext cx="5308600" cy="0"/>
          </a:xfrm>
          <a:prstGeom prst="line">
            <a:avLst/>
          </a:prstGeom>
          <a:ln w="25400" cap="flat" cmpd="sng">
            <a:solidFill>
              <a:schemeClr val="tx1"/>
            </a:solidFill>
            <a:prstDash val="solid"/>
            <a:round/>
            <a:headEnd type="none" w="med" len="med"/>
            <a:tailEnd type="none" w="med" len="med"/>
          </a:ln>
        </p:spPr>
      </p:sp>
      <p:grpSp>
        <p:nvGrpSpPr>
          <p:cNvPr id="128104" name="组合 268392"/>
          <p:cNvGrpSpPr/>
          <p:nvPr/>
        </p:nvGrpSpPr>
        <p:grpSpPr>
          <a:xfrm>
            <a:off x="1377950" y="6096000"/>
            <a:ext cx="6083300" cy="333375"/>
            <a:chOff x="868" y="3840"/>
            <a:chExt cx="3832" cy="210"/>
          </a:xfrm>
        </p:grpSpPr>
        <p:sp>
          <p:nvSpPr>
            <p:cNvPr id="128105" name="矩形 268393"/>
            <p:cNvSpPr/>
            <p:nvPr/>
          </p:nvSpPr>
          <p:spPr>
            <a:xfrm>
              <a:off x="872" y="3848"/>
              <a:ext cx="382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28106" name="组合 268394"/>
            <p:cNvGrpSpPr/>
            <p:nvPr/>
          </p:nvGrpSpPr>
          <p:grpSpPr>
            <a:xfrm>
              <a:off x="868" y="3840"/>
              <a:ext cx="664" cy="210"/>
              <a:chOff x="868" y="3840"/>
              <a:chExt cx="664" cy="210"/>
            </a:xfrm>
          </p:grpSpPr>
          <p:sp>
            <p:nvSpPr>
              <p:cNvPr id="128107" name="矩形 268395"/>
              <p:cNvSpPr/>
              <p:nvPr/>
            </p:nvSpPr>
            <p:spPr>
              <a:xfrm>
                <a:off x="868" y="3844"/>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08" name="矩形 268396"/>
              <p:cNvSpPr/>
              <p:nvPr/>
            </p:nvSpPr>
            <p:spPr>
              <a:xfrm>
                <a:off x="1065" y="3840"/>
                <a:ext cx="27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op</a:t>
                </a:r>
                <a:endParaRPr lang="en-US" altLang="zh-CN">
                  <a:latin typeface="Arial" panose="020B0604020202020204" pitchFamily="34" charset="0"/>
                  <a:ea typeface="宋体" panose="02010600030101010101" pitchFamily="2" charset="-122"/>
                </a:endParaRPr>
              </a:p>
            </p:txBody>
          </p:sp>
        </p:grpSp>
        <p:sp>
          <p:nvSpPr>
            <p:cNvPr id="128109" name="矩形 268397"/>
            <p:cNvSpPr/>
            <p:nvPr/>
          </p:nvSpPr>
          <p:spPr>
            <a:xfrm>
              <a:off x="1540" y="3844"/>
              <a:ext cx="316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10" name="矩形 268398"/>
            <p:cNvSpPr/>
            <p:nvPr/>
          </p:nvSpPr>
          <p:spPr>
            <a:xfrm>
              <a:off x="2546" y="3840"/>
              <a:ext cx="99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target</a:t>
              </a:r>
              <a:r>
                <a:rPr lang="en-US" altLang="zh-CN">
                  <a:latin typeface="Times New Roman" panose="02020603050405020304" pitchFamily="18" charset="0"/>
                  <a:ea typeface="宋体" panose="02010600030101010101" pitchFamily="2" charset="-122"/>
                </a:rPr>
                <a:t> </a:t>
              </a:r>
              <a:r>
                <a:rPr lang="en-US" altLang="zh-CN">
                  <a:latin typeface="Arial" panose="020B0604020202020204" pitchFamily="34" charset="0"/>
                  <a:ea typeface="宋体" panose="02010600030101010101" pitchFamily="2" charset="-122"/>
                </a:rPr>
                <a:t>address</a:t>
              </a:r>
              <a:endParaRPr lang="en-US" altLang="zh-CN">
                <a:latin typeface="Arial" panose="020B0604020202020204" pitchFamily="34" charset="0"/>
                <a:ea typeface="宋体" panose="02010600030101010101" pitchFamily="2" charset="-122"/>
              </a:endParaRPr>
            </a:p>
          </p:txBody>
        </p:sp>
      </p:grpSp>
      <p:grpSp>
        <p:nvGrpSpPr>
          <p:cNvPr id="128111" name="组合 268399"/>
          <p:cNvGrpSpPr/>
          <p:nvPr/>
        </p:nvGrpSpPr>
        <p:grpSpPr>
          <a:xfrm>
            <a:off x="1281113" y="4876800"/>
            <a:ext cx="6313487" cy="638175"/>
            <a:chOff x="807" y="3072"/>
            <a:chExt cx="3977" cy="402"/>
          </a:xfrm>
        </p:grpSpPr>
        <p:grpSp>
          <p:nvGrpSpPr>
            <p:cNvPr id="128112" name="组合 268400"/>
            <p:cNvGrpSpPr/>
            <p:nvPr/>
          </p:nvGrpSpPr>
          <p:grpSpPr>
            <a:xfrm>
              <a:off x="868" y="3264"/>
              <a:ext cx="3832" cy="210"/>
              <a:chOff x="868" y="3264"/>
              <a:chExt cx="3832" cy="210"/>
            </a:xfrm>
          </p:grpSpPr>
          <p:sp>
            <p:nvSpPr>
              <p:cNvPr id="128113" name="矩形 268401"/>
              <p:cNvSpPr/>
              <p:nvPr/>
            </p:nvSpPr>
            <p:spPr>
              <a:xfrm>
                <a:off x="872" y="3272"/>
                <a:ext cx="382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28114" name="组合 268402"/>
              <p:cNvGrpSpPr/>
              <p:nvPr/>
            </p:nvGrpSpPr>
            <p:grpSpPr>
              <a:xfrm>
                <a:off x="868" y="3264"/>
                <a:ext cx="3832" cy="210"/>
                <a:chOff x="868" y="3264"/>
                <a:chExt cx="3832" cy="210"/>
              </a:xfrm>
            </p:grpSpPr>
            <p:grpSp>
              <p:nvGrpSpPr>
                <p:cNvPr id="128115" name="组合 268403"/>
                <p:cNvGrpSpPr/>
                <p:nvPr/>
              </p:nvGrpSpPr>
              <p:grpSpPr>
                <a:xfrm>
                  <a:off x="868" y="3264"/>
                  <a:ext cx="664" cy="210"/>
                  <a:chOff x="868" y="3264"/>
                  <a:chExt cx="664" cy="210"/>
                </a:xfrm>
              </p:grpSpPr>
              <p:sp>
                <p:nvSpPr>
                  <p:cNvPr id="128116" name="矩形 268404"/>
                  <p:cNvSpPr/>
                  <p:nvPr/>
                </p:nvSpPr>
                <p:spPr>
                  <a:xfrm>
                    <a:off x="868" y="3268"/>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17" name="矩形 268405"/>
                  <p:cNvSpPr/>
                  <p:nvPr/>
                </p:nvSpPr>
                <p:spPr>
                  <a:xfrm>
                    <a:off x="1065" y="3264"/>
                    <a:ext cx="27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op</a:t>
                    </a:r>
                    <a:endParaRPr lang="en-US" altLang="zh-CN">
                      <a:latin typeface="Arial" panose="020B0604020202020204" pitchFamily="34" charset="0"/>
                      <a:ea typeface="宋体" panose="02010600030101010101" pitchFamily="2" charset="-122"/>
                    </a:endParaRPr>
                  </a:p>
                </p:txBody>
              </p:sp>
            </p:grpSp>
            <p:grpSp>
              <p:nvGrpSpPr>
                <p:cNvPr id="128118" name="组合 268406"/>
                <p:cNvGrpSpPr/>
                <p:nvPr/>
              </p:nvGrpSpPr>
              <p:grpSpPr>
                <a:xfrm>
                  <a:off x="1540" y="3264"/>
                  <a:ext cx="616" cy="210"/>
                  <a:chOff x="1540" y="3264"/>
                  <a:chExt cx="616" cy="210"/>
                </a:xfrm>
              </p:grpSpPr>
              <p:sp>
                <p:nvSpPr>
                  <p:cNvPr id="128119" name="矩形 268407"/>
                  <p:cNvSpPr/>
                  <p:nvPr/>
                </p:nvSpPr>
                <p:spPr>
                  <a:xfrm>
                    <a:off x="1540" y="3268"/>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20" name="矩形 268408"/>
                  <p:cNvSpPr/>
                  <p:nvPr/>
                </p:nvSpPr>
                <p:spPr>
                  <a:xfrm>
                    <a:off x="1719" y="3264"/>
                    <a:ext cx="23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rs</a:t>
                    </a:r>
                    <a:endParaRPr lang="en-US" altLang="zh-CN">
                      <a:latin typeface="Arial" panose="020B0604020202020204" pitchFamily="34" charset="0"/>
                      <a:ea typeface="宋体" panose="02010600030101010101" pitchFamily="2" charset="-122"/>
                    </a:endParaRPr>
                  </a:p>
                </p:txBody>
              </p:sp>
            </p:grpSp>
            <p:grpSp>
              <p:nvGrpSpPr>
                <p:cNvPr id="128121" name="组合 268409"/>
                <p:cNvGrpSpPr/>
                <p:nvPr/>
              </p:nvGrpSpPr>
              <p:grpSpPr>
                <a:xfrm>
                  <a:off x="2164" y="3264"/>
                  <a:ext cx="616" cy="210"/>
                  <a:chOff x="2164" y="3264"/>
                  <a:chExt cx="616" cy="210"/>
                </a:xfrm>
              </p:grpSpPr>
              <p:sp>
                <p:nvSpPr>
                  <p:cNvPr id="128122" name="矩形 268410"/>
                  <p:cNvSpPr/>
                  <p:nvPr/>
                </p:nvSpPr>
                <p:spPr>
                  <a:xfrm>
                    <a:off x="2164" y="3268"/>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23" name="矩形 268411"/>
                  <p:cNvSpPr/>
                  <p:nvPr/>
                </p:nvSpPr>
                <p:spPr>
                  <a:xfrm>
                    <a:off x="2343" y="3264"/>
                    <a:ext cx="207"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rt</a:t>
                    </a:r>
                    <a:endParaRPr lang="en-US" altLang="zh-CN">
                      <a:latin typeface="Arial" panose="020B0604020202020204" pitchFamily="34" charset="0"/>
                      <a:ea typeface="宋体" panose="02010600030101010101" pitchFamily="2" charset="-122"/>
                    </a:endParaRPr>
                  </a:p>
                </p:txBody>
              </p:sp>
            </p:grpSp>
            <p:grpSp>
              <p:nvGrpSpPr>
                <p:cNvPr id="128124" name="组合 268412"/>
                <p:cNvGrpSpPr/>
                <p:nvPr/>
              </p:nvGrpSpPr>
              <p:grpSpPr>
                <a:xfrm>
                  <a:off x="2788" y="3264"/>
                  <a:ext cx="616" cy="210"/>
                  <a:chOff x="2788" y="3264"/>
                  <a:chExt cx="616" cy="210"/>
                </a:xfrm>
              </p:grpSpPr>
              <p:sp>
                <p:nvSpPr>
                  <p:cNvPr id="128125" name="矩形 268413"/>
                  <p:cNvSpPr/>
                  <p:nvPr/>
                </p:nvSpPr>
                <p:spPr>
                  <a:xfrm>
                    <a:off x="2788" y="3268"/>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26" name="矩形 268414"/>
                  <p:cNvSpPr/>
                  <p:nvPr/>
                </p:nvSpPr>
                <p:spPr>
                  <a:xfrm>
                    <a:off x="2967" y="3264"/>
                    <a:ext cx="24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rd</a:t>
                    </a:r>
                    <a:endParaRPr lang="en-US" altLang="zh-CN">
                      <a:latin typeface="Arial" panose="020B0604020202020204" pitchFamily="34" charset="0"/>
                      <a:ea typeface="宋体" panose="02010600030101010101" pitchFamily="2" charset="-122"/>
                    </a:endParaRPr>
                  </a:p>
                </p:txBody>
              </p:sp>
            </p:grpSp>
            <p:grpSp>
              <p:nvGrpSpPr>
                <p:cNvPr id="128127" name="组合 268415"/>
                <p:cNvGrpSpPr/>
                <p:nvPr/>
              </p:nvGrpSpPr>
              <p:grpSpPr>
                <a:xfrm>
                  <a:off x="3412" y="3264"/>
                  <a:ext cx="616" cy="210"/>
                  <a:chOff x="3412" y="3264"/>
                  <a:chExt cx="616" cy="210"/>
                </a:xfrm>
              </p:grpSpPr>
              <p:sp>
                <p:nvSpPr>
                  <p:cNvPr id="128128" name="矩形 268416"/>
                  <p:cNvSpPr/>
                  <p:nvPr/>
                </p:nvSpPr>
                <p:spPr>
                  <a:xfrm>
                    <a:off x="3412" y="3268"/>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29" name="矩形 268417"/>
                  <p:cNvSpPr/>
                  <p:nvPr/>
                </p:nvSpPr>
                <p:spPr>
                  <a:xfrm>
                    <a:off x="3495" y="3264"/>
                    <a:ext cx="491"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shamt</a:t>
                    </a:r>
                    <a:endParaRPr lang="en-US" altLang="zh-CN">
                      <a:latin typeface="Arial" panose="020B0604020202020204" pitchFamily="34" charset="0"/>
                      <a:ea typeface="宋体" panose="02010600030101010101" pitchFamily="2" charset="-122"/>
                    </a:endParaRPr>
                  </a:p>
                </p:txBody>
              </p:sp>
            </p:grpSp>
            <p:grpSp>
              <p:nvGrpSpPr>
                <p:cNvPr id="128130" name="组合 268418"/>
                <p:cNvGrpSpPr/>
                <p:nvPr/>
              </p:nvGrpSpPr>
              <p:grpSpPr>
                <a:xfrm>
                  <a:off x="4036" y="3264"/>
                  <a:ext cx="664" cy="210"/>
                  <a:chOff x="4036" y="3264"/>
                  <a:chExt cx="664" cy="210"/>
                </a:xfrm>
              </p:grpSpPr>
              <p:sp>
                <p:nvSpPr>
                  <p:cNvPr id="128131" name="矩形 268419"/>
                  <p:cNvSpPr/>
                  <p:nvPr/>
                </p:nvSpPr>
                <p:spPr>
                  <a:xfrm>
                    <a:off x="4036" y="3268"/>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32" name="矩形 268420"/>
                  <p:cNvSpPr/>
                  <p:nvPr/>
                </p:nvSpPr>
                <p:spPr>
                  <a:xfrm>
                    <a:off x="4233" y="3264"/>
                    <a:ext cx="384"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func</a:t>
                    </a:r>
                    <a:endParaRPr lang="en-US" altLang="zh-CN">
                      <a:latin typeface="Arial" panose="020B0604020202020204" pitchFamily="34" charset="0"/>
                      <a:ea typeface="宋体" panose="02010600030101010101" pitchFamily="2" charset="-122"/>
                    </a:endParaRPr>
                  </a:p>
                </p:txBody>
              </p:sp>
            </p:grpSp>
          </p:grpSp>
        </p:grpSp>
        <p:sp>
          <p:nvSpPr>
            <p:cNvPr id="128133" name="矩形 268421"/>
            <p:cNvSpPr/>
            <p:nvPr/>
          </p:nvSpPr>
          <p:spPr>
            <a:xfrm>
              <a:off x="4599"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28134" name="矩形 268422"/>
            <p:cNvSpPr/>
            <p:nvPr/>
          </p:nvSpPr>
          <p:spPr>
            <a:xfrm>
              <a:off x="3879"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6</a:t>
              </a:r>
              <a:endParaRPr lang="zh-CN" altLang="en-US" dirty="0">
                <a:latin typeface="Arial" panose="020B0604020202020204" pitchFamily="34" charset="0"/>
                <a:ea typeface="宋体" panose="02010600030101010101" pitchFamily="2" charset="-122"/>
              </a:endParaRPr>
            </a:p>
          </p:txBody>
        </p:sp>
        <p:sp>
          <p:nvSpPr>
            <p:cNvPr id="128135" name="矩形 268423"/>
            <p:cNvSpPr/>
            <p:nvPr/>
          </p:nvSpPr>
          <p:spPr>
            <a:xfrm>
              <a:off x="3207" y="307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11</a:t>
              </a:r>
              <a:endParaRPr lang="zh-CN" altLang="en-US" dirty="0">
                <a:latin typeface="Arial" panose="020B0604020202020204" pitchFamily="34" charset="0"/>
                <a:ea typeface="宋体" panose="02010600030101010101" pitchFamily="2" charset="-122"/>
              </a:endParaRPr>
            </a:p>
          </p:txBody>
        </p:sp>
        <p:sp>
          <p:nvSpPr>
            <p:cNvPr id="128136" name="矩形 268424"/>
            <p:cNvSpPr/>
            <p:nvPr/>
          </p:nvSpPr>
          <p:spPr>
            <a:xfrm>
              <a:off x="2583" y="307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16</a:t>
              </a:r>
              <a:endParaRPr lang="zh-CN" altLang="en-US" dirty="0">
                <a:latin typeface="Arial" panose="020B0604020202020204" pitchFamily="34" charset="0"/>
                <a:ea typeface="宋体" panose="02010600030101010101" pitchFamily="2" charset="-122"/>
              </a:endParaRPr>
            </a:p>
          </p:txBody>
        </p:sp>
        <p:sp>
          <p:nvSpPr>
            <p:cNvPr id="128137" name="矩形 268425"/>
            <p:cNvSpPr/>
            <p:nvPr/>
          </p:nvSpPr>
          <p:spPr>
            <a:xfrm>
              <a:off x="1959" y="307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21</a:t>
              </a:r>
              <a:endParaRPr lang="zh-CN" altLang="en-US" dirty="0">
                <a:latin typeface="Arial" panose="020B0604020202020204" pitchFamily="34" charset="0"/>
                <a:ea typeface="宋体" panose="02010600030101010101" pitchFamily="2" charset="-122"/>
              </a:endParaRPr>
            </a:p>
          </p:txBody>
        </p:sp>
        <p:sp>
          <p:nvSpPr>
            <p:cNvPr id="128138" name="矩形 268426"/>
            <p:cNvSpPr/>
            <p:nvPr/>
          </p:nvSpPr>
          <p:spPr>
            <a:xfrm>
              <a:off x="1335" y="307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26</a:t>
              </a:r>
              <a:endParaRPr lang="zh-CN" altLang="en-US" dirty="0">
                <a:latin typeface="Arial" panose="020B0604020202020204" pitchFamily="34" charset="0"/>
                <a:ea typeface="宋体" panose="02010600030101010101" pitchFamily="2" charset="-122"/>
              </a:endParaRPr>
            </a:p>
          </p:txBody>
        </p:sp>
        <p:sp>
          <p:nvSpPr>
            <p:cNvPr id="128139" name="矩形 268427"/>
            <p:cNvSpPr/>
            <p:nvPr/>
          </p:nvSpPr>
          <p:spPr>
            <a:xfrm>
              <a:off x="807" y="307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31</a:t>
              </a:r>
              <a:endParaRPr lang="zh-CN" altLang="en-US" dirty="0">
                <a:latin typeface="Arial" panose="020B0604020202020204" pitchFamily="34" charset="0"/>
                <a:ea typeface="宋体" panose="02010600030101010101" pitchFamily="2" charset="-122"/>
              </a:endParaRPr>
            </a:p>
          </p:txBody>
        </p:sp>
      </p:grpSp>
      <p:grpSp>
        <p:nvGrpSpPr>
          <p:cNvPr id="128140" name="组合 268428"/>
          <p:cNvGrpSpPr/>
          <p:nvPr/>
        </p:nvGrpSpPr>
        <p:grpSpPr>
          <a:xfrm>
            <a:off x="1377950" y="5621338"/>
            <a:ext cx="6083300" cy="350837"/>
            <a:chOff x="868" y="3541"/>
            <a:chExt cx="3832" cy="221"/>
          </a:xfrm>
        </p:grpSpPr>
        <p:sp>
          <p:nvSpPr>
            <p:cNvPr id="128141" name="矩形 268429"/>
            <p:cNvSpPr/>
            <p:nvPr/>
          </p:nvSpPr>
          <p:spPr>
            <a:xfrm>
              <a:off x="872" y="3560"/>
              <a:ext cx="382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28142" name="组合 268430"/>
            <p:cNvGrpSpPr/>
            <p:nvPr/>
          </p:nvGrpSpPr>
          <p:grpSpPr>
            <a:xfrm>
              <a:off x="868" y="3552"/>
              <a:ext cx="664" cy="210"/>
              <a:chOff x="868" y="3552"/>
              <a:chExt cx="664" cy="210"/>
            </a:xfrm>
          </p:grpSpPr>
          <p:sp>
            <p:nvSpPr>
              <p:cNvPr id="128143" name="矩形 268431"/>
              <p:cNvSpPr/>
              <p:nvPr/>
            </p:nvSpPr>
            <p:spPr>
              <a:xfrm>
                <a:off x="868" y="3556"/>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44" name="矩形 268432"/>
              <p:cNvSpPr/>
              <p:nvPr/>
            </p:nvSpPr>
            <p:spPr>
              <a:xfrm>
                <a:off x="1065" y="3552"/>
                <a:ext cx="27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op</a:t>
                </a:r>
                <a:endParaRPr lang="en-US" altLang="zh-CN">
                  <a:latin typeface="Arial" panose="020B0604020202020204" pitchFamily="34" charset="0"/>
                  <a:ea typeface="宋体" panose="02010600030101010101" pitchFamily="2" charset="-122"/>
                </a:endParaRPr>
              </a:p>
            </p:txBody>
          </p:sp>
        </p:grpSp>
        <p:grpSp>
          <p:nvGrpSpPr>
            <p:cNvPr id="128145" name="组合 268433"/>
            <p:cNvGrpSpPr/>
            <p:nvPr/>
          </p:nvGrpSpPr>
          <p:grpSpPr>
            <a:xfrm>
              <a:off x="1540" y="3552"/>
              <a:ext cx="616" cy="210"/>
              <a:chOff x="1540" y="3552"/>
              <a:chExt cx="616" cy="210"/>
            </a:xfrm>
          </p:grpSpPr>
          <p:sp>
            <p:nvSpPr>
              <p:cNvPr id="128146" name="矩形 268434"/>
              <p:cNvSpPr/>
              <p:nvPr/>
            </p:nvSpPr>
            <p:spPr>
              <a:xfrm>
                <a:off x="1540" y="3556"/>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47" name="矩形 268435"/>
              <p:cNvSpPr/>
              <p:nvPr/>
            </p:nvSpPr>
            <p:spPr>
              <a:xfrm>
                <a:off x="1719" y="3552"/>
                <a:ext cx="23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rs</a:t>
                </a:r>
                <a:endParaRPr lang="en-US" altLang="zh-CN">
                  <a:latin typeface="Arial" panose="020B0604020202020204" pitchFamily="34" charset="0"/>
                  <a:ea typeface="宋体" panose="02010600030101010101" pitchFamily="2" charset="-122"/>
                </a:endParaRPr>
              </a:p>
            </p:txBody>
          </p:sp>
        </p:grpSp>
        <p:grpSp>
          <p:nvGrpSpPr>
            <p:cNvPr id="128148" name="组合 268436"/>
            <p:cNvGrpSpPr/>
            <p:nvPr/>
          </p:nvGrpSpPr>
          <p:grpSpPr>
            <a:xfrm>
              <a:off x="2164" y="3552"/>
              <a:ext cx="616" cy="210"/>
              <a:chOff x="2164" y="3552"/>
              <a:chExt cx="616" cy="210"/>
            </a:xfrm>
          </p:grpSpPr>
          <p:sp>
            <p:nvSpPr>
              <p:cNvPr id="128149" name="矩形 268437"/>
              <p:cNvSpPr/>
              <p:nvPr/>
            </p:nvSpPr>
            <p:spPr>
              <a:xfrm>
                <a:off x="2164" y="3556"/>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50" name="矩形 268438"/>
              <p:cNvSpPr/>
              <p:nvPr/>
            </p:nvSpPr>
            <p:spPr>
              <a:xfrm>
                <a:off x="2343" y="3552"/>
                <a:ext cx="207"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rt</a:t>
                </a:r>
                <a:endParaRPr lang="en-US" altLang="zh-CN">
                  <a:latin typeface="Arial" panose="020B0604020202020204" pitchFamily="34" charset="0"/>
                  <a:ea typeface="宋体" panose="02010600030101010101" pitchFamily="2" charset="-122"/>
                </a:endParaRPr>
              </a:p>
            </p:txBody>
          </p:sp>
        </p:grpSp>
        <p:sp>
          <p:nvSpPr>
            <p:cNvPr id="128151" name="矩形 268439"/>
            <p:cNvSpPr/>
            <p:nvPr/>
          </p:nvSpPr>
          <p:spPr>
            <a:xfrm>
              <a:off x="2788" y="3556"/>
              <a:ext cx="1912"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28152" name="矩形 268440"/>
            <p:cNvSpPr/>
            <p:nvPr/>
          </p:nvSpPr>
          <p:spPr>
            <a:xfrm>
              <a:off x="3367" y="3541"/>
              <a:ext cx="748"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immediate</a:t>
              </a:r>
              <a:endParaRPr lang="en-US" altLang="zh-CN">
                <a:latin typeface="Arial" panose="020B0604020202020204" pitchFamily="34" charset="0"/>
                <a:ea typeface="宋体" panose="02010600030101010101" pitchFamily="2" charset="-122"/>
              </a:endParaRPr>
            </a:p>
          </p:txBody>
        </p:sp>
      </p:grpSp>
      <p:sp>
        <p:nvSpPr>
          <p:cNvPr id="128153" name="矩形 268441"/>
          <p:cNvSpPr/>
          <p:nvPr/>
        </p:nvSpPr>
        <p:spPr>
          <a:xfrm>
            <a:off x="519113" y="5181600"/>
            <a:ext cx="812800"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R-type</a:t>
            </a:r>
            <a:endParaRPr lang="en-US" altLang="zh-CN">
              <a:latin typeface="Arial" panose="020B0604020202020204" pitchFamily="34" charset="0"/>
              <a:ea typeface="宋体" panose="02010600030101010101" pitchFamily="2" charset="-122"/>
            </a:endParaRPr>
          </a:p>
        </p:txBody>
      </p:sp>
      <p:sp>
        <p:nvSpPr>
          <p:cNvPr id="128154" name="矩形 268442"/>
          <p:cNvSpPr/>
          <p:nvPr/>
        </p:nvSpPr>
        <p:spPr>
          <a:xfrm>
            <a:off x="595313" y="5638800"/>
            <a:ext cx="723900"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I-type</a:t>
            </a:r>
            <a:endParaRPr lang="en-US" altLang="zh-CN">
              <a:latin typeface="Arial" panose="020B0604020202020204" pitchFamily="34" charset="0"/>
              <a:ea typeface="宋体" panose="02010600030101010101" pitchFamily="2" charset="-122"/>
            </a:endParaRPr>
          </a:p>
        </p:txBody>
      </p:sp>
      <p:sp>
        <p:nvSpPr>
          <p:cNvPr id="128155" name="矩形 268443"/>
          <p:cNvSpPr/>
          <p:nvPr/>
        </p:nvSpPr>
        <p:spPr>
          <a:xfrm>
            <a:off x="595313" y="6096000"/>
            <a:ext cx="779462"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J-type</a:t>
            </a:r>
            <a:endParaRPr lang="en-US" altLang="zh-CN">
              <a:latin typeface="Arial" panose="020B0604020202020204" pitchFamily="34" charset="0"/>
              <a:ea typeface="宋体" panose="02010600030101010101" pitchFamily="2" charset="-122"/>
            </a:endParaRPr>
          </a:p>
        </p:txBody>
      </p:sp>
      <p:sp>
        <p:nvSpPr>
          <p:cNvPr id="128156" name="矩形 268444"/>
          <p:cNvSpPr/>
          <p:nvPr/>
        </p:nvSpPr>
        <p:spPr>
          <a:xfrm>
            <a:off x="7529513" y="5181600"/>
            <a:ext cx="1016000"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 sub</a:t>
            </a:r>
            <a:endParaRPr lang="en-US" altLang="zh-CN">
              <a:latin typeface="Arial" panose="020B0604020202020204" pitchFamily="34" charset="0"/>
              <a:ea typeface="宋体" panose="02010600030101010101" pitchFamily="2" charset="-122"/>
            </a:endParaRPr>
          </a:p>
        </p:txBody>
      </p:sp>
      <p:sp>
        <p:nvSpPr>
          <p:cNvPr id="128157" name="矩形 268445"/>
          <p:cNvSpPr/>
          <p:nvPr/>
        </p:nvSpPr>
        <p:spPr>
          <a:xfrm>
            <a:off x="7529513" y="5638800"/>
            <a:ext cx="1631950"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ori</a:t>
            </a:r>
            <a:r>
              <a:rPr lang="en-US" altLang="zh-CN">
                <a:latin typeface="Arial" panose="020B0604020202020204" pitchFamily="34" charset="0"/>
                <a:ea typeface="宋体" panose="02010600030101010101" pitchFamily="2" charset="-122"/>
              </a:rPr>
              <a:t>, </a:t>
            </a:r>
            <a:r>
              <a:rPr lang="en-US" altLang="zh-CN" dirty="0" err="1">
                <a:latin typeface="Arial" panose="020B0604020202020204" pitchFamily="34" charset="0"/>
                <a:ea typeface="宋体" panose="02010600030101010101" pitchFamily="2" charset="-122"/>
              </a:rPr>
              <a:t>lw</a:t>
            </a:r>
            <a:r>
              <a:rPr lang="en-US" altLang="zh-CN">
                <a:latin typeface="Arial" panose="020B0604020202020204" pitchFamily="34" charset="0"/>
                <a:ea typeface="宋体" panose="02010600030101010101" pitchFamily="2" charset="-122"/>
              </a:rPr>
              <a:t>, </a:t>
            </a:r>
            <a:r>
              <a:rPr lang="en-US" altLang="zh-CN" dirty="0" err="1">
                <a:latin typeface="Arial" panose="020B0604020202020204" pitchFamily="34" charset="0"/>
                <a:ea typeface="宋体" panose="02010600030101010101" pitchFamily="2" charset="-122"/>
              </a:rPr>
              <a:t>sw</a:t>
            </a:r>
            <a:r>
              <a:rPr lang="en-US" altLang="zh-CN">
                <a:latin typeface="Arial" panose="020B0604020202020204" pitchFamily="34" charset="0"/>
                <a:ea typeface="宋体" panose="02010600030101010101" pitchFamily="2" charset="-122"/>
              </a:rPr>
              <a:t>, </a:t>
            </a:r>
            <a:r>
              <a:rPr lang="en-US" altLang="zh-CN" dirty="0" err="1">
                <a:latin typeface="Arial" panose="020B0604020202020204" pitchFamily="34" charset="0"/>
                <a:ea typeface="宋体" panose="02010600030101010101" pitchFamily="2" charset="-122"/>
              </a:rPr>
              <a:t>beq</a:t>
            </a:r>
            <a:endParaRPr lang="en-US" altLang="zh-CN">
              <a:latin typeface="Arial" panose="020B0604020202020204" pitchFamily="34" charset="0"/>
              <a:ea typeface="宋体" panose="02010600030101010101" pitchFamily="2" charset="-122"/>
            </a:endParaRPr>
          </a:p>
        </p:txBody>
      </p:sp>
      <p:sp>
        <p:nvSpPr>
          <p:cNvPr id="128158" name="矩形 268446"/>
          <p:cNvSpPr/>
          <p:nvPr/>
        </p:nvSpPr>
        <p:spPr>
          <a:xfrm>
            <a:off x="7529513" y="6096000"/>
            <a:ext cx="666750"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jump</a:t>
            </a:r>
            <a:endParaRPr lang="en-US" altLang="zh-CN">
              <a:latin typeface="Arial" panose="020B0604020202020204" pitchFamily="34" charset="0"/>
              <a:ea typeface="宋体" panose="02010600030101010101" pitchFamily="2" charset="-122"/>
            </a:endParaRPr>
          </a:p>
        </p:txBody>
      </p:sp>
      <p:sp>
        <p:nvSpPr>
          <p:cNvPr id="128159" name="矩形 268447"/>
          <p:cNvSpPr/>
          <p:nvPr/>
        </p:nvSpPr>
        <p:spPr>
          <a:xfrm>
            <a:off x="2043113" y="914400"/>
            <a:ext cx="609600"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func</a:t>
            </a:r>
            <a:endParaRPr lang="en-US" altLang="zh-CN">
              <a:latin typeface="Arial" panose="020B0604020202020204" pitchFamily="34" charset="0"/>
              <a:ea typeface="宋体" panose="02010600030101010101" pitchFamily="2" charset="-122"/>
            </a:endParaRPr>
          </a:p>
        </p:txBody>
      </p:sp>
      <p:sp>
        <p:nvSpPr>
          <p:cNvPr id="128160" name="矩形 268448"/>
          <p:cNvSpPr/>
          <p:nvPr/>
        </p:nvSpPr>
        <p:spPr>
          <a:xfrm>
            <a:off x="2195513" y="1219200"/>
            <a:ext cx="428625"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op</a:t>
            </a:r>
            <a:endParaRPr lang="en-US" altLang="zh-CN">
              <a:latin typeface="Arial" panose="020B0604020202020204" pitchFamily="34" charset="0"/>
              <a:ea typeface="宋体" panose="02010600030101010101" pitchFamily="2" charset="-122"/>
            </a:endParaRPr>
          </a:p>
        </p:txBody>
      </p:sp>
      <p:sp>
        <p:nvSpPr>
          <p:cNvPr id="128161" name="矩形 268449"/>
          <p:cNvSpPr/>
          <p:nvPr/>
        </p:nvSpPr>
        <p:spPr>
          <a:xfrm>
            <a:off x="2513013" y="1219200"/>
            <a:ext cx="91440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00 0000</a:t>
            </a:r>
            <a:endParaRPr lang="zh-CN" altLang="en-US" dirty="0">
              <a:latin typeface="Arial" panose="020B0604020202020204" pitchFamily="34" charset="0"/>
              <a:ea typeface="宋体" panose="02010600030101010101" pitchFamily="2" charset="-122"/>
            </a:endParaRPr>
          </a:p>
        </p:txBody>
      </p:sp>
      <p:sp>
        <p:nvSpPr>
          <p:cNvPr id="128162" name="矩形 268450"/>
          <p:cNvSpPr/>
          <p:nvPr/>
        </p:nvSpPr>
        <p:spPr>
          <a:xfrm>
            <a:off x="3275013" y="1219200"/>
            <a:ext cx="90805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0000</a:t>
            </a:r>
            <a:endParaRPr lang="zh-CN" altLang="en-US" dirty="0">
              <a:latin typeface="Arial" panose="020B0604020202020204" pitchFamily="34" charset="0"/>
              <a:ea typeface="宋体" panose="02010600030101010101" pitchFamily="2" charset="-122"/>
            </a:endParaRPr>
          </a:p>
        </p:txBody>
      </p:sp>
      <p:sp>
        <p:nvSpPr>
          <p:cNvPr id="128163" name="矩形 268451"/>
          <p:cNvSpPr/>
          <p:nvPr/>
        </p:nvSpPr>
        <p:spPr>
          <a:xfrm>
            <a:off x="4037013" y="1219200"/>
            <a:ext cx="90805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1101</a:t>
            </a:r>
            <a:endParaRPr lang="zh-CN" altLang="en-US" dirty="0">
              <a:latin typeface="Arial" panose="020B0604020202020204" pitchFamily="34" charset="0"/>
              <a:ea typeface="宋体" panose="02010600030101010101" pitchFamily="2" charset="-122"/>
            </a:endParaRPr>
          </a:p>
        </p:txBody>
      </p:sp>
      <p:sp>
        <p:nvSpPr>
          <p:cNvPr id="128164" name="矩形 268452"/>
          <p:cNvSpPr/>
          <p:nvPr/>
        </p:nvSpPr>
        <p:spPr>
          <a:xfrm>
            <a:off x="4799013" y="1219200"/>
            <a:ext cx="91440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10 0011</a:t>
            </a:r>
            <a:endParaRPr lang="zh-CN" altLang="en-US" dirty="0">
              <a:latin typeface="Arial" panose="020B0604020202020204" pitchFamily="34" charset="0"/>
              <a:ea typeface="宋体" panose="02010600030101010101" pitchFamily="2" charset="-122"/>
            </a:endParaRPr>
          </a:p>
        </p:txBody>
      </p:sp>
      <p:sp>
        <p:nvSpPr>
          <p:cNvPr id="128165" name="矩形 268453"/>
          <p:cNvSpPr/>
          <p:nvPr/>
        </p:nvSpPr>
        <p:spPr>
          <a:xfrm>
            <a:off x="5561013" y="1219200"/>
            <a:ext cx="91440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10 1011</a:t>
            </a:r>
            <a:endParaRPr lang="zh-CN" altLang="en-US" dirty="0">
              <a:latin typeface="Arial" panose="020B0604020202020204" pitchFamily="34" charset="0"/>
              <a:ea typeface="宋体" panose="02010600030101010101" pitchFamily="2" charset="-122"/>
            </a:endParaRPr>
          </a:p>
        </p:txBody>
      </p:sp>
      <p:sp>
        <p:nvSpPr>
          <p:cNvPr id="128166" name="矩形 268454"/>
          <p:cNvSpPr/>
          <p:nvPr/>
        </p:nvSpPr>
        <p:spPr>
          <a:xfrm>
            <a:off x="6323013" y="1219200"/>
            <a:ext cx="91440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00 0100</a:t>
            </a:r>
            <a:endParaRPr lang="zh-CN" altLang="en-US" dirty="0">
              <a:latin typeface="Arial" panose="020B0604020202020204" pitchFamily="34" charset="0"/>
              <a:ea typeface="宋体" panose="02010600030101010101" pitchFamily="2" charset="-122"/>
            </a:endParaRPr>
          </a:p>
        </p:txBody>
      </p:sp>
      <p:sp>
        <p:nvSpPr>
          <p:cNvPr id="128167" name="矩形 268455"/>
          <p:cNvSpPr/>
          <p:nvPr/>
        </p:nvSpPr>
        <p:spPr>
          <a:xfrm>
            <a:off x="7085013" y="1219200"/>
            <a:ext cx="90805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0010</a:t>
            </a:r>
            <a:endParaRPr lang="zh-CN" altLang="en-US" dirty="0">
              <a:latin typeface="Arial" panose="020B0604020202020204" pitchFamily="34" charset="0"/>
              <a:ea typeface="宋体" panose="02010600030101010101" pitchFamily="2" charset="-122"/>
            </a:endParaRPr>
          </a:p>
        </p:txBody>
      </p:sp>
      <p:sp>
        <p:nvSpPr>
          <p:cNvPr id="128168" name="直接连接符 268456"/>
          <p:cNvSpPr/>
          <p:nvPr/>
        </p:nvSpPr>
        <p:spPr>
          <a:xfrm flipV="1">
            <a:off x="2590800" y="901700"/>
            <a:ext cx="0" cy="635000"/>
          </a:xfrm>
          <a:prstGeom prst="line">
            <a:avLst/>
          </a:prstGeom>
          <a:ln w="25400" cap="flat" cmpd="sng">
            <a:solidFill>
              <a:schemeClr val="tx1"/>
            </a:solidFill>
            <a:prstDash val="solid"/>
            <a:round/>
            <a:headEnd type="none" w="med" len="med"/>
            <a:tailEnd type="none" w="med" len="med"/>
          </a:ln>
        </p:spPr>
      </p:sp>
      <p:sp>
        <p:nvSpPr>
          <p:cNvPr id="128169" name="直接连接符 268457"/>
          <p:cNvSpPr/>
          <p:nvPr/>
        </p:nvSpPr>
        <p:spPr>
          <a:xfrm>
            <a:off x="2603500" y="914400"/>
            <a:ext cx="5308600" cy="0"/>
          </a:xfrm>
          <a:prstGeom prst="line">
            <a:avLst/>
          </a:prstGeom>
          <a:ln w="25400" cap="flat" cmpd="sng">
            <a:solidFill>
              <a:schemeClr val="tx1"/>
            </a:solidFill>
            <a:prstDash val="solid"/>
            <a:round/>
            <a:headEnd type="none" w="med" len="med"/>
            <a:tailEnd type="none" w="med" len="med"/>
          </a:ln>
        </p:spPr>
      </p:sp>
      <p:sp>
        <p:nvSpPr>
          <p:cNvPr id="128170" name="直接连接符 268458"/>
          <p:cNvSpPr/>
          <p:nvPr/>
        </p:nvSpPr>
        <p:spPr>
          <a:xfrm flipV="1">
            <a:off x="3352800" y="901700"/>
            <a:ext cx="0" cy="635000"/>
          </a:xfrm>
          <a:prstGeom prst="line">
            <a:avLst/>
          </a:prstGeom>
          <a:ln w="25400" cap="flat" cmpd="sng">
            <a:solidFill>
              <a:schemeClr val="tx1"/>
            </a:solidFill>
            <a:prstDash val="solid"/>
            <a:round/>
            <a:headEnd type="none" w="med" len="med"/>
            <a:tailEnd type="none" w="med" len="med"/>
          </a:ln>
        </p:spPr>
      </p:sp>
      <p:sp>
        <p:nvSpPr>
          <p:cNvPr id="128171" name="直接连接符 268459"/>
          <p:cNvSpPr/>
          <p:nvPr/>
        </p:nvSpPr>
        <p:spPr>
          <a:xfrm flipV="1">
            <a:off x="4114800" y="901700"/>
            <a:ext cx="0" cy="635000"/>
          </a:xfrm>
          <a:prstGeom prst="line">
            <a:avLst/>
          </a:prstGeom>
          <a:ln w="25400" cap="flat" cmpd="sng">
            <a:solidFill>
              <a:schemeClr val="tx1"/>
            </a:solidFill>
            <a:prstDash val="solid"/>
            <a:round/>
            <a:headEnd type="none" w="med" len="med"/>
            <a:tailEnd type="none" w="med" len="med"/>
          </a:ln>
        </p:spPr>
      </p:sp>
      <p:sp>
        <p:nvSpPr>
          <p:cNvPr id="128172" name="直接连接符 268460"/>
          <p:cNvSpPr/>
          <p:nvPr/>
        </p:nvSpPr>
        <p:spPr>
          <a:xfrm flipV="1">
            <a:off x="4876800" y="1206500"/>
            <a:ext cx="0" cy="330200"/>
          </a:xfrm>
          <a:prstGeom prst="line">
            <a:avLst/>
          </a:prstGeom>
          <a:ln w="25400" cap="flat" cmpd="sng">
            <a:solidFill>
              <a:schemeClr val="tx1"/>
            </a:solidFill>
            <a:prstDash val="solid"/>
            <a:round/>
            <a:headEnd type="none" w="med" len="med"/>
            <a:tailEnd type="none" w="med" len="med"/>
          </a:ln>
        </p:spPr>
      </p:sp>
      <p:sp>
        <p:nvSpPr>
          <p:cNvPr id="128173" name="直接连接符 268461"/>
          <p:cNvSpPr/>
          <p:nvPr/>
        </p:nvSpPr>
        <p:spPr>
          <a:xfrm flipV="1">
            <a:off x="5638800" y="1206500"/>
            <a:ext cx="0" cy="330200"/>
          </a:xfrm>
          <a:prstGeom prst="line">
            <a:avLst/>
          </a:prstGeom>
          <a:ln w="25400" cap="flat" cmpd="sng">
            <a:solidFill>
              <a:schemeClr val="tx1"/>
            </a:solidFill>
            <a:prstDash val="solid"/>
            <a:round/>
            <a:headEnd type="none" w="med" len="med"/>
            <a:tailEnd type="none" w="med" len="med"/>
          </a:ln>
        </p:spPr>
      </p:sp>
      <p:sp>
        <p:nvSpPr>
          <p:cNvPr id="128174" name="直接连接符 268462"/>
          <p:cNvSpPr/>
          <p:nvPr/>
        </p:nvSpPr>
        <p:spPr>
          <a:xfrm flipV="1">
            <a:off x="6400800" y="1206500"/>
            <a:ext cx="0" cy="330200"/>
          </a:xfrm>
          <a:prstGeom prst="line">
            <a:avLst/>
          </a:prstGeom>
          <a:ln w="25400" cap="flat" cmpd="sng">
            <a:solidFill>
              <a:schemeClr val="tx1"/>
            </a:solidFill>
            <a:prstDash val="solid"/>
            <a:round/>
            <a:headEnd type="none" w="med" len="med"/>
            <a:tailEnd type="none" w="med" len="med"/>
          </a:ln>
        </p:spPr>
      </p:sp>
      <p:sp>
        <p:nvSpPr>
          <p:cNvPr id="128175" name="直接连接符 268463"/>
          <p:cNvSpPr/>
          <p:nvPr/>
        </p:nvSpPr>
        <p:spPr>
          <a:xfrm flipV="1">
            <a:off x="7162800" y="1206500"/>
            <a:ext cx="0" cy="330200"/>
          </a:xfrm>
          <a:prstGeom prst="line">
            <a:avLst/>
          </a:prstGeom>
          <a:ln w="25400" cap="flat" cmpd="sng">
            <a:solidFill>
              <a:schemeClr val="tx1"/>
            </a:solidFill>
            <a:prstDash val="solid"/>
            <a:round/>
            <a:headEnd type="none" w="med" len="med"/>
            <a:tailEnd type="none" w="med" len="med"/>
          </a:ln>
        </p:spPr>
      </p:sp>
      <p:sp>
        <p:nvSpPr>
          <p:cNvPr id="128176" name="直接连接符 268464"/>
          <p:cNvSpPr/>
          <p:nvPr/>
        </p:nvSpPr>
        <p:spPr>
          <a:xfrm flipV="1">
            <a:off x="7924800" y="901700"/>
            <a:ext cx="0" cy="635000"/>
          </a:xfrm>
          <a:prstGeom prst="line">
            <a:avLst/>
          </a:prstGeom>
          <a:ln w="25400" cap="flat" cmpd="sng">
            <a:solidFill>
              <a:schemeClr val="tx1"/>
            </a:solidFill>
            <a:prstDash val="solid"/>
            <a:round/>
            <a:headEnd type="none" w="med" len="med"/>
            <a:tailEnd type="none" w="med" len="med"/>
          </a:ln>
        </p:spPr>
      </p:sp>
      <p:sp>
        <p:nvSpPr>
          <p:cNvPr id="128177" name="直接连接符 268465"/>
          <p:cNvSpPr/>
          <p:nvPr/>
        </p:nvSpPr>
        <p:spPr>
          <a:xfrm>
            <a:off x="1155700" y="1066800"/>
            <a:ext cx="889000" cy="0"/>
          </a:xfrm>
          <a:prstGeom prst="line">
            <a:avLst/>
          </a:prstGeom>
          <a:ln w="25400" cap="flat" cmpd="sng">
            <a:solidFill>
              <a:schemeClr val="tx1"/>
            </a:solidFill>
            <a:prstDash val="solid"/>
            <a:round/>
            <a:headEnd type="none" w="med" len="med"/>
            <a:tailEnd type="triangle" w="med" len="med"/>
          </a:ln>
        </p:spPr>
      </p:sp>
      <p:sp>
        <p:nvSpPr>
          <p:cNvPr id="128178" name="矩形 268466"/>
          <p:cNvSpPr/>
          <p:nvPr/>
        </p:nvSpPr>
        <p:spPr>
          <a:xfrm>
            <a:off x="2513013" y="914400"/>
            <a:ext cx="91440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10 0000</a:t>
            </a:r>
            <a:endParaRPr lang="zh-CN" altLang="en-US" dirty="0">
              <a:latin typeface="Arial" panose="020B0604020202020204" pitchFamily="34" charset="0"/>
              <a:ea typeface="宋体" panose="02010600030101010101" pitchFamily="2" charset="-122"/>
            </a:endParaRPr>
          </a:p>
        </p:txBody>
      </p:sp>
      <p:sp>
        <p:nvSpPr>
          <p:cNvPr id="128179" name="直接连接符 268467"/>
          <p:cNvSpPr/>
          <p:nvPr/>
        </p:nvSpPr>
        <p:spPr>
          <a:xfrm>
            <a:off x="1524000" y="1079500"/>
            <a:ext cx="0" cy="307975"/>
          </a:xfrm>
          <a:prstGeom prst="line">
            <a:avLst/>
          </a:prstGeom>
          <a:ln w="25400" cap="flat" cmpd="sng">
            <a:solidFill>
              <a:schemeClr val="tx1"/>
            </a:solidFill>
            <a:prstDash val="solid"/>
            <a:round/>
            <a:headEnd type="none" w="med" len="med"/>
            <a:tailEnd type="none" w="med" len="med"/>
          </a:ln>
        </p:spPr>
      </p:sp>
      <p:sp>
        <p:nvSpPr>
          <p:cNvPr id="128180" name="直接连接符 268468"/>
          <p:cNvSpPr/>
          <p:nvPr/>
        </p:nvSpPr>
        <p:spPr>
          <a:xfrm>
            <a:off x="1536700" y="1371600"/>
            <a:ext cx="660400" cy="0"/>
          </a:xfrm>
          <a:prstGeom prst="line">
            <a:avLst/>
          </a:prstGeom>
          <a:ln w="25400" cap="flat" cmpd="sng">
            <a:solidFill>
              <a:schemeClr val="tx1"/>
            </a:solidFill>
            <a:prstDash val="solid"/>
            <a:round/>
            <a:headEnd type="none" w="med" len="med"/>
            <a:tailEnd type="triangle" w="med" len="med"/>
          </a:ln>
        </p:spPr>
      </p:sp>
      <p:sp>
        <p:nvSpPr>
          <p:cNvPr id="128181" name="矩形 268469"/>
          <p:cNvSpPr/>
          <p:nvPr/>
        </p:nvSpPr>
        <p:spPr>
          <a:xfrm>
            <a:off x="3275013" y="914400"/>
            <a:ext cx="908050"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0010</a:t>
            </a:r>
            <a:endParaRPr lang="zh-CN" altLang="en-US" dirty="0">
              <a:latin typeface="Arial" panose="020B0604020202020204" pitchFamily="34" charset="0"/>
              <a:ea typeface="宋体" panose="02010600030101010101" pitchFamily="2" charset="-122"/>
            </a:endParaRPr>
          </a:p>
        </p:txBody>
      </p:sp>
      <p:sp>
        <p:nvSpPr>
          <p:cNvPr id="128182" name="矩形 268470"/>
          <p:cNvSpPr/>
          <p:nvPr/>
        </p:nvSpPr>
        <p:spPr>
          <a:xfrm>
            <a:off x="5091113" y="914400"/>
            <a:ext cx="1831975"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We Don’t Care :-)</a:t>
            </a:r>
            <a:endParaRPr lang="en-US" altLang="zh-CN">
              <a:latin typeface="Arial" panose="020B0604020202020204" pitchFamily="34" charset="0"/>
              <a:ea typeface="宋体" panose="02010600030101010101" pitchFamily="2"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标题 270337"/>
          <p:cNvSpPr>
            <a:spLocks noGrp="1"/>
          </p:cNvSpPr>
          <p:nvPr>
            <p:ph type="title"/>
          </p:nvPr>
        </p:nvSpPr>
        <p:spPr>
          <a:xfrm>
            <a:off x="800100" y="228600"/>
            <a:ext cx="6923088" cy="531813"/>
          </a:xfrm>
          <a:ln/>
        </p:spPr>
        <p:txBody>
          <a:bodyPr vert="horz" wrap="square" lIns="63500" tIns="25400" rIns="63500" bIns="25400" anchor="t" anchorCtr="0">
            <a:spAutoFit/>
          </a:bodyPr>
          <a:p>
            <a:r>
              <a:rPr lang="zh-CN" altLang="en-US" dirty="0">
                <a:ea typeface="宋体" panose="02010600030101010101" pitchFamily="2" charset="-122"/>
              </a:rPr>
              <a:t>主控制单元和</a:t>
            </a:r>
            <a:r>
              <a:rPr lang="en-US" altLang="zh-CN">
                <a:ea typeface="宋体" panose="02010600030101010101" pitchFamily="2" charset="-122"/>
              </a:rPr>
              <a:t>ALU</a:t>
            </a:r>
            <a:r>
              <a:rPr lang="zh-CN" altLang="en-US" dirty="0">
                <a:ea typeface="宋体" panose="02010600030101010101" pitchFamily="2" charset="-122"/>
              </a:rPr>
              <a:t>局部控制单元</a:t>
            </a:r>
            <a:endParaRPr lang="zh-CN" altLang="en-US" dirty="0">
              <a:ea typeface="宋体" panose="02010600030101010101" pitchFamily="2" charset="-122"/>
            </a:endParaRPr>
          </a:p>
        </p:txBody>
      </p:sp>
      <p:grpSp>
        <p:nvGrpSpPr>
          <p:cNvPr id="130050" name="组合 270338"/>
          <p:cNvGrpSpPr/>
          <p:nvPr/>
        </p:nvGrpSpPr>
        <p:grpSpPr>
          <a:xfrm>
            <a:off x="447675" y="1120775"/>
            <a:ext cx="7499350" cy="3409950"/>
            <a:chOff x="624" y="472"/>
            <a:chExt cx="4359" cy="2148"/>
          </a:xfrm>
        </p:grpSpPr>
        <p:sp>
          <p:nvSpPr>
            <p:cNvPr id="130051" name="矩形 270339"/>
            <p:cNvSpPr/>
            <p:nvPr/>
          </p:nvSpPr>
          <p:spPr>
            <a:xfrm>
              <a:off x="1815" y="672"/>
              <a:ext cx="473"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R-type</a:t>
              </a:r>
              <a:endParaRPr lang="en-US" altLang="zh-CN">
                <a:latin typeface="Arial" panose="020B0604020202020204" pitchFamily="34" charset="0"/>
                <a:ea typeface="宋体" panose="02010600030101010101" pitchFamily="2" charset="-122"/>
              </a:endParaRPr>
            </a:p>
          </p:txBody>
        </p:sp>
        <p:sp>
          <p:nvSpPr>
            <p:cNvPr id="130052" name="矩形 270340"/>
            <p:cNvSpPr/>
            <p:nvPr/>
          </p:nvSpPr>
          <p:spPr>
            <a:xfrm>
              <a:off x="2631" y="672"/>
              <a:ext cx="256"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ori</a:t>
              </a:r>
              <a:endParaRPr lang="en-US" altLang="zh-CN">
                <a:latin typeface="Arial" panose="020B0604020202020204" pitchFamily="34" charset="0"/>
                <a:ea typeface="宋体" panose="02010600030101010101" pitchFamily="2" charset="-122"/>
              </a:endParaRPr>
            </a:p>
          </p:txBody>
        </p:sp>
        <p:sp>
          <p:nvSpPr>
            <p:cNvPr id="130053" name="矩形 270341"/>
            <p:cNvSpPr/>
            <p:nvPr/>
          </p:nvSpPr>
          <p:spPr>
            <a:xfrm>
              <a:off x="3111" y="672"/>
              <a:ext cx="230"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lw</a:t>
              </a:r>
              <a:endParaRPr lang="en-US" altLang="zh-CN">
                <a:latin typeface="Arial" panose="020B0604020202020204" pitchFamily="34" charset="0"/>
                <a:ea typeface="宋体" panose="02010600030101010101" pitchFamily="2" charset="-122"/>
              </a:endParaRPr>
            </a:p>
          </p:txBody>
        </p:sp>
        <p:sp>
          <p:nvSpPr>
            <p:cNvPr id="130054" name="矩形 270342"/>
            <p:cNvSpPr/>
            <p:nvPr/>
          </p:nvSpPr>
          <p:spPr>
            <a:xfrm>
              <a:off x="3591" y="672"/>
              <a:ext cx="263"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sw</a:t>
              </a:r>
              <a:endParaRPr lang="en-US" altLang="zh-CN">
                <a:latin typeface="Arial" panose="020B0604020202020204" pitchFamily="34" charset="0"/>
                <a:ea typeface="宋体" panose="02010600030101010101" pitchFamily="2" charset="-122"/>
              </a:endParaRPr>
            </a:p>
          </p:txBody>
        </p:sp>
        <p:sp>
          <p:nvSpPr>
            <p:cNvPr id="130055" name="矩形 270343"/>
            <p:cNvSpPr/>
            <p:nvPr/>
          </p:nvSpPr>
          <p:spPr>
            <a:xfrm>
              <a:off x="4071" y="672"/>
              <a:ext cx="31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beq</a:t>
              </a:r>
              <a:endParaRPr lang="en-US" altLang="zh-CN">
                <a:latin typeface="Arial" panose="020B0604020202020204" pitchFamily="34" charset="0"/>
                <a:ea typeface="宋体" panose="02010600030101010101" pitchFamily="2" charset="-122"/>
              </a:endParaRPr>
            </a:p>
          </p:txBody>
        </p:sp>
        <p:sp>
          <p:nvSpPr>
            <p:cNvPr id="130056" name="矩形 270344"/>
            <p:cNvSpPr/>
            <p:nvPr/>
          </p:nvSpPr>
          <p:spPr>
            <a:xfrm>
              <a:off x="4503" y="672"/>
              <a:ext cx="388"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jump</a:t>
              </a:r>
              <a:endParaRPr lang="en-US" altLang="zh-CN">
                <a:latin typeface="Arial" panose="020B0604020202020204" pitchFamily="34" charset="0"/>
                <a:ea typeface="宋体" panose="02010600030101010101" pitchFamily="2" charset="-122"/>
              </a:endParaRPr>
            </a:p>
          </p:txBody>
        </p:sp>
        <p:sp>
          <p:nvSpPr>
            <p:cNvPr id="130057" name="矩形 270345"/>
            <p:cNvSpPr/>
            <p:nvPr/>
          </p:nvSpPr>
          <p:spPr>
            <a:xfrm>
              <a:off x="711" y="864"/>
              <a:ext cx="517"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RegDst</a:t>
              </a:r>
              <a:endParaRPr lang="en-US" altLang="zh-CN">
                <a:latin typeface="Arial" panose="020B0604020202020204" pitchFamily="34" charset="0"/>
                <a:ea typeface="宋体" panose="02010600030101010101" pitchFamily="2" charset="-122"/>
              </a:endParaRPr>
            </a:p>
          </p:txBody>
        </p:sp>
        <p:sp>
          <p:nvSpPr>
            <p:cNvPr id="130058" name="矩形 270346"/>
            <p:cNvSpPr/>
            <p:nvPr/>
          </p:nvSpPr>
          <p:spPr>
            <a:xfrm>
              <a:off x="711" y="1056"/>
              <a:ext cx="537"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ALUSrc</a:t>
              </a:r>
              <a:endParaRPr lang="en-US" altLang="zh-CN">
                <a:latin typeface="Arial" panose="020B0604020202020204" pitchFamily="34" charset="0"/>
                <a:ea typeface="宋体" panose="02010600030101010101" pitchFamily="2" charset="-122"/>
              </a:endParaRPr>
            </a:p>
          </p:txBody>
        </p:sp>
        <p:sp>
          <p:nvSpPr>
            <p:cNvPr id="130059" name="矩形 270347"/>
            <p:cNvSpPr/>
            <p:nvPr/>
          </p:nvSpPr>
          <p:spPr>
            <a:xfrm>
              <a:off x="711" y="1248"/>
              <a:ext cx="708"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MemtoReg</a:t>
              </a:r>
              <a:endParaRPr lang="en-US" altLang="zh-CN">
                <a:latin typeface="Arial" panose="020B0604020202020204" pitchFamily="34" charset="0"/>
                <a:ea typeface="宋体" panose="02010600030101010101" pitchFamily="2" charset="-122"/>
              </a:endParaRPr>
            </a:p>
          </p:txBody>
        </p:sp>
        <p:sp>
          <p:nvSpPr>
            <p:cNvPr id="130060" name="矩形 270348"/>
            <p:cNvSpPr/>
            <p:nvPr/>
          </p:nvSpPr>
          <p:spPr>
            <a:xfrm>
              <a:off x="711" y="1440"/>
              <a:ext cx="624"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RegWrite</a:t>
              </a:r>
              <a:endParaRPr lang="en-US" altLang="zh-CN">
                <a:latin typeface="Arial" panose="020B0604020202020204" pitchFamily="34" charset="0"/>
                <a:ea typeface="宋体" panose="02010600030101010101" pitchFamily="2" charset="-122"/>
              </a:endParaRPr>
            </a:p>
          </p:txBody>
        </p:sp>
        <p:sp>
          <p:nvSpPr>
            <p:cNvPr id="130061" name="矩形 270349"/>
            <p:cNvSpPr/>
            <p:nvPr/>
          </p:nvSpPr>
          <p:spPr>
            <a:xfrm>
              <a:off x="711" y="1632"/>
              <a:ext cx="671"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MemWrite</a:t>
              </a:r>
              <a:endParaRPr lang="en-US" altLang="zh-CN">
                <a:latin typeface="Arial" panose="020B0604020202020204" pitchFamily="34" charset="0"/>
                <a:ea typeface="宋体" panose="02010600030101010101" pitchFamily="2" charset="-122"/>
              </a:endParaRPr>
            </a:p>
          </p:txBody>
        </p:sp>
        <p:sp>
          <p:nvSpPr>
            <p:cNvPr id="130062" name="矩形 270350"/>
            <p:cNvSpPr/>
            <p:nvPr/>
          </p:nvSpPr>
          <p:spPr>
            <a:xfrm>
              <a:off x="711" y="1824"/>
              <a:ext cx="51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Branch</a:t>
              </a:r>
              <a:endParaRPr lang="en-US" altLang="zh-CN">
                <a:latin typeface="Arial" panose="020B0604020202020204" pitchFamily="34" charset="0"/>
                <a:ea typeface="宋体" panose="02010600030101010101" pitchFamily="2" charset="-122"/>
              </a:endParaRPr>
            </a:p>
          </p:txBody>
        </p:sp>
        <p:sp>
          <p:nvSpPr>
            <p:cNvPr id="130063" name="矩形 270351"/>
            <p:cNvSpPr/>
            <p:nvPr/>
          </p:nvSpPr>
          <p:spPr>
            <a:xfrm>
              <a:off x="711" y="2016"/>
              <a:ext cx="42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Jump</a:t>
              </a:r>
              <a:endParaRPr lang="en-US" altLang="zh-CN">
                <a:latin typeface="Arial" panose="020B0604020202020204" pitchFamily="34" charset="0"/>
                <a:ea typeface="宋体" panose="02010600030101010101" pitchFamily="2" charset="-122"/>
              </a:endParaRPr>
            </a:p>
          </p:txBody>
        </p:sp>
        <p:sp>
          <p:nvSpPr>
            <p:cNvPr id="130064" name="矩形 270352"/>
            <p:cNvSpPr/>
            <p:nvPr/>
          </p:nvSpPr>
          <p:spPr>
            <a:xfrm>
              <a:off x="711" y="2208"/>
              <a:ext cx="453"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ExtOp</a:t>
              </a:r>
              <a:endParaRPr lang="en-US" altLang="zh-CN">
                <a:latin typeface="Arial" panose="020B0604020202020204" pitchFamily="34" charset="0"/>
                <a:ea typeface="宋体" panose="02010600030101010101" pitchFamily="2" charset="-122"/>
              </a:endParaRPr>
            </a:p>
          </p:txBody>
        </p:sp>
        <p:sp>
          <p:nvSpPr>
            <p:cNvPr id="130065" name="矩形 270353"/>
            <p:cNvSpPr/>
            <p:nvPr/>
          </p:nvSpPr>
          <p:spPr>
            <a:xfrm>
              <a:off x="711" y="2400"/>
              <a:ext cx="970" cy="210"/>
            </a:xfrm>
            <a:prstGeom prst="rect">
              <a:avLst/>
            </a:prstGeom>
            <a:noFill/>
            <a:ln w="12700">
              <a:noFill/>
            </a:ln>
          </p:spPr>
          <p:txBody>
            <a:bodyPr lIns="90488" tIns="44450" rIns="90488" bIns="44450" anchor="t" anchorCtr="0">
              <a:spAutoFit/>
            </a:bodyPr>
            <a:p>
              <a:pPr eaLnBrk="0" hangingPunct="0"/>
              <a:r>
                <a:rPr lang="en-US" altLang="zh-CN" dirty="0" err="1">
                  <a:solidFill>
                    <a:srgbClr val="0000FF"/>
                  </a:solidFill>
                  <a:latin typeface="Arial" panose="020B0604020202020204" pitchFamily="34" charset="0"/>
                  <a:ea typeface="宋体" panose="02010600030101010101" pitchFamily="2" charset="-122"/>
                </a:rPr>
                <a:t>ALUctr</a:t>
              </a:r>
              <a:endParaRPr lang="en-US" altLang="zh-CN">
                <a:solidFill>
                  <a:srgbClr val="0000FF"/>
                </a:solidFill>
                <a:latin typeface="Arial" panose="020B0604020202020204" pitchFamily="34" charset="0"/>
                <a:ea typeface="宋体" panose="02010600030101010101" pitchFamily="2" charset="-122"/>
              </a:endParaRPr>
            </a:p>
          </p:txBody>
        </p:sp>
        <p:sp>
          <p:nvSpPr>
            <p:cNvPr id="130066" name="直接连接符 270354"/>
            <p:cNvSpPr/>
            <p:nvPr/>
          </p:nvSpPr>
          <p:spPr>
            <a:xfrm>
              <a:off x="632" y="1056"/>
              <a:ext cx="4304" cy="0"/>
            </a:xfrm>
            <a:prstGeom prst="line">
              <a:avLst/>
            </a:prstGeom>
            <a:ln w="25400" cap="flat" cmpd="sng">
              <a:solidFill>
                <a:schemeClr val="tx1"/>
              </a:solidFill>
              <a:prstDash val="solid"/>
              <a:round/>
              <a:headEnd type="none" w="med" len="med"/>
              <a:tailEnd type="none" w="med" len="med"/>
            </a:ln>
          </p:spPr>
        </p:sp>
        <p:sp>
          <p:nvSpPr>
            <p:cNvPr id="130067" name="直接连接符 270355"/>
            <p:cNvSpPr/>
            <p:nvPr/>
          </p:nvSpPr>
          <p:spPr>
            <a:xfrm>
              <a:off x="632" y="1248"/>
              <a:ext cx="4304" cy="0"/>
            </a:xfrm>
            <a:prstGeom prst="line">
              <a:avLst/>
            </a:prstGeom>
            <a:ln w="25400" cap="flat" cmpd="sng">
              <a:solidFill>
                <a:schemeClr val="tx1"/>
              </a:solidFill>
              <a:prstDash val="solid"/>
              <a:round/>
              <a:headEnd type="none" w="med" len="med"/>
              <a:tailEnd type="none" w="med" len="med"/>
            </a:ln>
          </p:spPr>
        </p:sp>
        <p:sp>
          <p:nvSpPr>
            <p:cNvPr id="130068" name="直接连接符 270356"/>
            <p:cNvSpPr/>
            <p:nvPr/>
          </p:nvSpPr>
          <p:spPr>
            <a:xfrm>
              <a:off x="632" y="1440"/>
              <a:ext cx="4304" cy="0"/>
            </a:xfrm>
            <a:prstGeom prst="line">
              <a:avLst/>
            </a:prstGeom>
            <a:ln w="25400" cap="flat" cmpd="sng">
              <a:solidFill>
                <a:schemeClr val="tx1"/>
              </a:solidFill>
              <a:prstDash val="solid"/>
              <a:round/>
              <a:headEnd type="none" w="med" len="med"/>
              <a:tailEnd type="none" w="med" len="med"/>
            </a:ln>
          </p:spPr>
        </p:sp>
        <p:sp>
          <p:nvSpPr>
            <p:cNvPr id="130069" name="直接连接符 270357"/>
            <p:cNvSpPr/>
            <p:nvPr/>
          </p:nvSpPr>
          <p:spPr>
            <a:xfrm>
              <a:off x="632" y="1632"/>
              <a:ext cx="4304" cy="0"/>
            </a:xfrm>
            <a:prstGeom prst="line">
              <a:avLst/>
            </a:prstGeom>
            <a:ln w="25400" cap="flat" cmpd="sng">
              <a:solidFill>
                <a:schemeClr val="tx1"/>
              </a:solidFill>
              <a:prstDash val="solid"/>
              <a:round/>
              <a:headEnd type="none" w="med" len="med"/>
              <a:tailEnd type="none" w="med" len="med"/>
            </a:ln>
          </p:spPr>
        </p:sp>
        <p:sp>
          <p:nvSpPr>
            <p:cNvPr id="130070" name="直接连接符 270358"/>
            <p:cNvSpPr/>
            <p:nvPr/>
          </p:nvSpPr>
          <p:spPr>
            <a:xfrm>
              <a:off x="632" y="1824"/>
              <a:ext cx="4304" cy="0"/>
            </a:xfrm>
            <a:prstGeom prst="line">
              <a:avLst/>
            </a:prstGeom>
            <a:ln w="25400" cap="flat" cmpd="sng">
              <a:solidFill>
                <a:schemeClr val="tx1"/>
              </a:solidFill>
              <a:prstDash val="solid"/>
              <a:round/>
              <a:headEnd type="none" w="med" len="med"/>
              <a:tailEnd type="none" w="med" len="med"/>
            </a:ln>
          </p:spPr>
        </p:sp>
        <p:sp>
          <p:nvSpPr>
            <p:cNvPr id="130071" name="直接连接符 270359"/>
            <p:cNvSpPr/>
            <p:nvPr/>
          </p:nvSpPr>
          <p:spPr>
            <a:xfrm>
              <a:off x="632" y="2016"/>
              <a:ext cx="4304" cy="0"/>
            </a:xfrm>
            <a:prstGeom prst="line">
              <a:avLst/>
            </a:prstGeom>
            <a:ln w="25400" cap="flat" cmpd="sng">
              <a:solidFill>
                <a:schemeClr val="tx1"/>
              </a:solidFill>
              <a:prstDash val="solid"/>
              <a:round/>
              <a:headEnd type="none" w="med" len="med"/>
              <a:tailEnd type="none" w="med" len="med"/>
            </a:ln>
          </p:spPr>
        </p:sp>
        <p:sp>
          <p:nvSpPr>
            <p:cNvPr id="130072" name="直接连接符 270360"/>
            <p:cNvSpPr/>
            <p:nvPr/>
          </p:nvSpPr>
          <p:spPr>
            <a:xfrm>
              <a:off x="632" y="2208"/>
              <a:ext cx="4304" cy="0"/>
            </a:xfrm>
            <a:prstGeom prst="line">
              <a:avLst/>
            </a:prstGeom>
            <a:ln w="25400" cap="flat" cmpd="sng">
              <a:solidFill>
                <a:schemeClr val="tx1"/>
              </a:solidFill>
              <a:prstDash val="solid"/>
              <a:round/>
              <a:headEnd type="none" w="med" len="med"/>
              <a:tailEnd type="none" w="med" len="med"/>
            </a:ln>
          </p:spPr>
        </p:sp>
        <p:sp>
          <p:nvSpPr>
            <p:cNvPr id="130073" name="直接连接符 270361"/>
            <p:cNvSpPr/>
            <p:nvPr/>
          </p:nvSpPr>
          <p:spPr>
            <a:xfrm>
              <a:off x="632" y="2400"/>
              <a:ext cx="4304" cy="0"/>
            </a:xfrm>
            <a:prstGeom prst="line">
              <a:avLst/>
            </a:prstGeom>
            <a:ln w="25400" cap="flat" cmpd="sng">
              <a:solidFill>
                <a:schemeClr val="tx1"/>
              </a:solidFill>
              <a:prstDash val="solid"/>
              <a:round/>
              <a:headEnd type="none" w="med" len="med"/>
              <a:tailEnd type="none" w="med" len="med"/>
            </a:ln>
          </p:spPr>
        </p:sp>
        <p:sp>
          <p:nvSpPr>
            <p:cNvPr id="130074" name="直接连接符 270362"/>
            <p:cNvSpPr/>
            <p:nvPr/>
          </p:nvSpPr>
          <p:spPr>
            <a:xfrm>
              <a:off x="632" y="864"/>
              <a:ext cx="4304" cy="0"/>
            </a:xfrm>
            <a:prstGeom prst="line">
              <a:avLst/>
            </a:prstGeom>
            <a:ln w="25400" cap="flat" cmpd="sng">
              <a:solidFill>
                <a:schemeClr val="tx1"/>
              </a:solidFill>
              <a:prstDash val="solid"/>
              <a:round/>
              <a:headEnd type="none" w="med" len="med"/>
              <a:tailEnd type="none" w="med" len="med"/>
            </a:ln>
          </p:spPr>
        </p:sp>
        <p:sp>
          <p:nvSpPr>
            <p:cNvPr id="130075" name="直接连接符 270363"/>
            <p:cNvSpPr/>
            <p:nvPr/>
          </p:nvSpPr>
          <p:spPr>
            <a:xfrm>
              <a:off x="632" y="2592"/>
              <a:ext cx="4304" cy="0"/>
            </a:xfrm>
            <a:prstGeom prst="line">
              <a:avLst/>
            </a:prstGeom>
            <a:ln w="25400" cap="flat" cmpd="sng">
              <a:solidFill>
                <a:schemeClr val="tx1"/>
              </a:solidFill>
              <a:prstDash val="solid"/>
              <a:round/>
              <a:headEnd type="none" w="med" len="med"/>
              <a:tailEnd type="none" w="med" len="med"/>
            </a:ln>
          </p:spPr>
        </p:sp>
        <p:sp>
          <p:nvSpPr>
            <p:cNvPr id="130076" name="直接连接符 270364"/>
            <p:cNvSpPr/>
            <p:nvPr/>
          </p:nvSpPr>
          <p:spPr>
            <a:xfrm flipV="1">
              <a:off x="1584" y="664"/>
              <a:ext cx="0" cy="1936"/>
            </a:xfrm>
            <a:prstGeom prst="line">
              <a:avLst/>
            </a:prstGeom>
            <a:ln w="25400" cap="flat" cmpd="sng">
              <a:solidFill>
                <a:schemeClr val="tx1"/>
              </a:solidFill>
              <a:prstDash val="solid"/>
              <a:round/>
              <a:headEnd type="none" w="med" len="med"/>
              <a:tailEnd type="none" w="med" len="med"/>
            </a:ln>
          </p:spPr>
        </p:sp>
        <p:sp>
          <p:nvSpPr>
            <p:cNvPr id="130077" name="直接连接符 270365"/>
            <p:cNvSpPr/>
            <p:nvPr/>
          </p:nvSpPr>
          <p:spPr>
            <a:xfrm>
              <a:off x="632" y="672"/>
              <a:ext cx="4304" cy="0"/>
            </a:xfrm>
            <a:prstGeom prst="line">
              <a:avLst/>
            </a:prstGeom>
            <a:ln w="25400" cap="flat" cmpd="sng">
              <a:solidFill>
                <a:schemeClr val="tx1"/>
              </a:solidFill>
              <a:prstDash val="solid"/>
              <a:round/>
              <a:headEnd type="none" w="med" len="med"/>
              <a:tailEnd type="none" w="med" len="med"/>
            </a:ln>
          </p:spPr>
        </p:sp>
        <p:sp>
          <p:nvSpPr>
            <p:cNvPr id="130078" name="直接连接符 270366"/>
            <p:cNvSpPr/>
            <p:nvPr/>
          </p:nvSpPr>
          <p:spPr>
            <a:xfrm flipV="1">
              <a:off x="2544" y="664"/>
              <a:ext cx="0" cy="1936"/>
            </a:xfrm>
            <a:prstGeom prst="line">
              <a:avLst/>
            </a:prstGeom>
            <a:ln w="25400" cap="flat" cmpd="sng">
              <a:solidFill>
                <a:schemeClr val="tx1"/>
              </a:solidFill>
              <a:prstDash val="solid"/>
              <a:round/>
              <a:headEnd type="none" w="med" len="med"/>
              <a:tailEnd type="none" w="med" len="med"/>
            </a:ln>
          </p:spPr>
        </p:sp>
        <p:sp>
          <p:nvSpPr>
            <p:cNvPr id="130079" name="直接连接符 270367"/>
            <p:cNvSpPr/>
            <p:nvPr/>
          </p:nvSpPr>
          <p:spPr>
            <a:xfrm flipV="1">
              <a:off x="3024" y="664"/>
              <a:ext cx="0" cy="1936"/>
            </a:xfrm>
            <a:prstGeom prst="line">
              <a:avLst/>
            </a:prstGeom>
            <a:ln w="25400" cap="flat" cmpd="sng">
              <a:solidFill>
                <a:schemeClr val="tx1"/>
              </a:solidFill>
              <a:prstDash val="solid"/>
              <a:round/>
              <a:headEnd type="none" w="med" len="med"/>
              <a:tailEnd type="none" w="med" len="med"/>
            </a:ln>
          </p:spPr>
        </p:sp>
        <p:sp>
          <p:nvSpPr>
            <p:cNvPr id="130080" name="直接连接符 270368"/>
            <p:cNvSpPr/>
            <p:nvPr/>
          </p:nvSpPr>
          <p:spPr>
            <a:xfrm flipV="1">
              <a:off x="3504" y="664"/>
              <a:ext cx="0" cy="1936"/>
            </a:xfrm>
            <a:prstGeom prst="line">
              <a:avLst/>
            </a:prstGeom>
            <a:ln w="25400" cap="flat" cmpd="sng">
              <a:solidFill>
                <a:schemeClr val="tx1"/>
              </a:solidFill>
              <a:prstDash val="solid"/>
              <a:round/>
              <a:headEnd type="none" w="med" len="med"/>
              <a:tailEnd type="none" w="med" len="med"/>
            </a:ln>
          </p:spPr>
        </p:sp>
        <p:sp>
          <p:nvSpPr>
            <p:cNvPr id="130081" name="直接连接符 270369"/>
            <p:cNvSpPr/>
            <p:nvPr/>
          </p:nvSpPr>
          <p:spPr>
            <a:xfrm flipV="1">
              <a:off x="3984" y="664"/>
              <a:ext cx="0" cy="1936"/>
            </a:xfrm>
            <a:prstGeom prst="line">
              <a:avLst/>
            </a:prstGeom>
            <a:ln w="25400" cap="flat" cmpd="sng">
              <a:solidFill>
                <a:schemeClr val="tx1"/>
              </a:solidFill>
              <a:prstDash val="solid"/>
              <a:round/>
              <a:headEnd type="none" w="med" len="med"/>
              <a:tailEnd type="none" w="med" len="med"/>
            </a:ln>
          </p:spPr>
        </p:sp>
        <p:sp>
          <p:nvSpPr>
            <p:cNvPr id="130082" name="直接连接符 270370"/>
            <p:cNvSpPr/>
            <p:nvPr/>
          </p:nvSpPr>
          <p:spPr>
            <a:xfrm flipV="1">
              <a:off x="4464" y="664"/>
              <a:ext cx="0" cy="1936"/>
            </a:xfrm>
            <a:prstGeom prst="line">
              <a:avLst/>
            </a:prstGeom>
            <a:ln w="25400" cap="flat" cmpd="sng">
              <a:solidFill>
                <a:schemeClr val="tx1"/>
              </a:solidFill>
              <a:prstDash val="solid"/>
              <a:round/>
              <a:headEnd type="none" w="med" len="med"/>
              <a:tailEnd type="none" w="med" len="med"/>
            </a:ln>
          </p:spPr>
        </p:sp>
        <p:sp>
          <p:nvSpPr>
            <p:cNvPr id="130083" name="直接连接符 270371"/>
            <p:cNvSpPr/>
            <p:nvPr/>
          </p:nvSpPr>
          <p:spPr>
            <a:xfrm flipV="1">
              <a:off x="4944" y="664"/>
              <a:ext cx="0" cy="1936"/>
            </a:xfrm>
            <a:prstGeom prst="line">
              <a:avLst/>
            </a:prstGeom>
            <a:ln w="25400" cap="flat" cmpd="sng">
              <a:solidFill>
                <a:schemeClr val="tx1"/>
              </a:solidFill>
              <a:prstDash val="solid"/>
              <a:round/>
              <a:headEnd type="none" w="med" len="med"/>
              <a:tailEnd type="none" w="med" len="med"/>
            </a:ln>
          </p:spPr>
        </p:sp>
        <p:sp>
          <p:nvSpPr>
            <p:cNvPr id="130084" name="直接连接符 270372"/>
            <p:cNvSpPr/>
            <p:nvPr/>
          </p:nvSpPr>
          <p:spPr>
            <a:xfrm flipV="1">
              <a:off x="624" y="664"/>
              <a:ext cx="0" cy="1936"/>
            </a:xfrm>
            <a:prstGeom prst="line">
              <a:avLst/>
            </a:prstGeom>
            <a:ln w="25400" cap="flat" cmpd="sng">
              <a:solidFill>
                <a:schemeClr val="tx1"/>
              </a:solidFill>
              <a:prstDash val="solid"/>
              <a:round/>
              <a:headEnd type="none" w="med" len="med"/>
              <a:tailEnd type="none" w="med" len="med"/>
            </a:ln>
          </p:spPr>
        </p:sp>
        <p:sp>
          <p:nvSpPr>
            <p:cNvPr id="130085" name="矩形 270373"/>
            <p:cNvSpPr/>
            <p:nvPr/>
          </p:nvSpPr>
          <p:spPr>
            <a:xfrm>
              <a:off x="1959" y="864"/>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086" name="矩形 270374"/>
            <p:cNvSpPr/>
            <p:nvPr/>
          </p:nvSpPr>
          <p:spPr>
            <a:xfrm>
              <a:off x="1959" y="1056"/>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087" name="矩形 270375"/>
            <p:cNvSpPr/>
            <p:nvPr/>
          </p:nvSpPr>
          <p:spPr>
            <a:xfrm>
              <a:off x="1959" y="1248"/>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088" name="矩形 270376"/>
            <p:cNvSpPr/>
            <p:nvPr/>
          </p:nvSpPr>
          <p:spPr>
            <a:xfrm>
              <a:off x="1959" y="1440"/>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089" name="矩形 270377"/>
            <p:cNvSpPr/>
            <p:nvPr/>
          </p:nvSpPr>
          <p:spPr>
            <a:xfrm>
              <a:off x="1959" y="1632"/>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090" name="矩形 270378"/>
            <p:cNvSpPr/>
            <p:nvPr/>
          </p:nvSpPr>
          <p:spPr>
            <a:xfrm>
              <a:off x="1959" y="1824"/>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091" name="矩形 270379"/>
            <p:cNvSpPr/>
            <p:nvPr/>
          </p:nvSpPr>
          <p:spPr>
            <a:xfrm>
              <a:off x="1959" y="2016"/>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092" name="矩形 270380"/>
            <p:cNvSpPr/>
            <p:nvPr/>
          </p:nvSpPr>
          <p:spPr>
            <a:xfrm>
              <a:off x="1959" y="2208"/>
              <a:ext cx="17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093" name="矩形 270381"/>
            <p:cNvSpPr/>
            <p:nvPr/>
          </p:nvSpPr>
          <p:spPr>
            <a:xfrm>
              <a:off x="1794" y="2400"/>
              <a:ext cx="675"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Add/</a:t>
              </a:r>
              <a:r>
                <a:rPr lang="en-US" altLang="zh-CN" dirty="0" err="1">
                  <a:solidFill>
                    <a:srgbClr val="0000FF"/>
                  </a:solidFill>
                  <a:latin typeface="Arial" panose="020B0604020202020204" pitchFamily="34" charset="0"/>
                  <a:ea typeface="宋体" panose="02010600030101010101" pitchFamily="2" charset="-122"/>
                </a:rPr>
                <a:t>Subtr</a:t>
              </a:r>
              <a:endParaRPr lang="en-US" altLang="zh-CN">
                <a:solidFill>
                  <a:srgbClr val="0000FF"/>
                </a:solidFill>
                <a:latin typeface="Arial" panose="020B0604020202020204" pitchFamily="34" charset="0"/>
                <a:ea typeface="宋体" panose="02010600030101010101" pitchFamily="2" charset="-122"/>
              </a:endParaRPr>
            </a:p>
          </p:txBody>
        </p:sp>
        <p:sp>
          <p:nvSpPr>
            <p:cNvPr id="130094" name="矩形 270382"/>
            <p:cNvSpPr/>
            <p:nvPr/>
          </p:nvSpPr>
          <p:spPr>
            <a:xfrm>
              <a:off x="2679" y="864"/>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095" name="矩形 270383"/>
            <p:cNvSpPr/>
            <p:nvPr/>
          </p:nvSpPr>
          <p:spPr>
            <a:xfrm>
              <a:off x="2679" y="1056"/>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096" name="矩形 270384"/>
            <p:cNvSpPr/>
            <p:nvPr/>
          </p:nvSpPr>
          <p:spPr>
            <a:xfrm>
              <a:off x="2679" y="1248"/>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097" name="矩形 270385"/>
            <p:cNvSpPr/>
            <p:nvPr/>
          </p:nvSpPr>
          <p:spPr>
            <a:xfrm>
              <a:off x="2679" y="1440"/>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098" name="矩形 270386"/>
            <p:cNvSpPr/>
            <p:nvPr/>
          </p:nvSpPr>
          <p:spPr>
            <a:xfrm>
              <a:off x="2679" y="1632"/>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099" name="矩形 270387"/>
            <p:cNvSpPr/>
            <p:nvPr/>
          </p:nvSpPr>
          <p:spPr>
            <a:xfrm>
              <a:off x="2679" y="1824"/>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00" name="矩形 270388"/>
            <p:cNvSpPr/>
            <p:nvPr/>
          </p:nvSpPr>
          <p:spPr>
            <a:xfrm>
              <a:off x="2679" y="2016"/>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01" name="矩形 270389"/>
            <p:cNvSpPr/>
            <p:nvPr/>
          </p:nvSpPr>
          <p:spPr>
            <a:xfrm>
              <a:off x="2679" y="2208"/>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02" name="矩形 270390"/>
            <p:cNvSpPr/>
            <p:nvPr/>
          </p:nvSpPr>
          <p:spPr>
            <a:xfrm>
              <a:off x="2631" y="2400"/>
              <a:ext cx="244"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Or</a:t>
              </a:r>
              <a:endParaRPr lang="en-US" altLang="zh-CN">
                <a:solidFill>
                  <a:srgbClr val="0000FF"/>
                </a:solidFill>
                <a:latin typeface="Arial" panose="020B0604020202020204" pitchFamily="34" charset="0"/>
                <a:ea typeface="宋体" panose="02010600030101010101" pitchFamily="2" charset="-122"/>
              </a:endParaRPr>
            </a:p>
          </p:txBody>
        </p:sp>
        <p:sp>
          <p:nvSpPr>
            <p:cNvPr id="130103" name="矩形 270391"/>
            <p:cNvSpPr/>
            <p:nvPr/>
          </p:nvSpPr>
          <p:spPr>
            <a:xfrm>
              <a:off x="3159" y="864"/>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04" name="矩形 270392"/>
            <p:cNvSpPr/>
            <p:nvPr/>
          </p:nvSpPr>
          <p:spPr>
            <a:xfrm>
              <a:off x="3159" y="1056"/>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05" name="矩形 270393"/>
            <p:cNvSpPr/>
            <p:nvPr/>
          </p:nvSpPr>
          <p:spPr>
            <a:xfrm>
              <a:off x="3159" y="1248"/>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06" name="矩形 270394"/>
            <p:cNvSpPr/>
            <p:nvPr/>
          </p:nvSpPr>
          <p:spPr>
            <a:xfrm>
              <a:off x="3159" y="1440"/>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07" name="矩形 270395"/>
            <p:cNvSpPr/>
            <p:nvPr/>
          </p:nvSpPr>
          <p:spPr>
            <a:xfrm>
              <a:off x="3159" y="1632"/>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08" name="矩形 270396"/>
            <p:cNvSpPr/>
            <p:nvPr/>
          </p:nvSpPr>
          <p:spPr>
            <a:xfrm>
              <a:off x="3159" y="1824"/>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09" name="矩形 270397"/>
            <p:cNvSpPr/>
            <p:nvPr/>
          </p:nvSpPr>
          <p:spPr>
            <a:xfrm>
              <a:off x="3159" y="2016"/>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10" name="矩形 270398"/>
            <p:cNvSpPr/>
            <p:nvPr/>
          </p:nvSpPr>
          <p:spPr>
            <a:xfrm>
              <a:off x="3159" y="2208"/>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11" name="矩形 270399"/>
            <p:cNvSpPr/>
            <p:nvPr/>
          </p:nvSpPr>
          <p:spPr>
            <a:xfrm>
              <a:off x="3111" y="2400"/>
              <a:ext cx="334"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Add</a:t>
              </a:r>
              <a:endParaRPr lang="en-US" altLang="zh-CN">
                <a:solidFill>
                  <a:srgbClr val="0000FF"/>
                </a:solidFill>
                <a:latin typeface="Arial" panose="020B0604020202020204" pitchFamily="34" charset="0"/>
                <a:ea typeface="宋体" panose="02010600030101010101" pitchFamily="2" charset="-122"/>
              </a:endParaRPr>
            </a:p>
          </p:txBody>
        </p:sp>
        <p:sp>
          <p:nvSpPr>
            <p:cNvPr id="130112" name="矩形 270400"/>
            <p:cNvSpPr/>
            <p:nvPr/>
          </p:nvSpPr>
          <p:spPr>
            <a:xfrm>
              <a:off x="3639" y="864"/>
              <a:ext cx="17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13" name="矩形 270401"/>
            <p:cNvSpPr/>
            <p:nvPr/>
          </p:nvSpPr>
          <p:spPr>
            <a:xfrm>
              <a:off x="3639" y="1056"/>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14" name="矩形 270402"/>
            <p:cNvSpPr/>
            <p:nvPr/>
          </p:nvSpPr>
          <p:spPr>
            <a:xfrm>
              <a:off x="3639" y="1248"/>
              <a:ext cx="17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15" name="矩形 270403"/>
            <p:cNvSpPr/>
            <p:nvPr/>
          </p:nvSpPr>
          <p:spPr>
            <a:xfrm>
              <a:off x="3639" y="1440"/>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16" name="矩形 270404"/>
            <p:cNvSpPr/>
            <p:nvPr/>
          </p:nvSpPr>
          <p:spPr>
            <a:xfrm>
              <a:off x="3639" y="1632"/>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17" name="矩形 270405"/>
            <p:cNvSpPr/>
            <p:nvPr/>
          </p:nvSpPr>
          <p:spPr>
            <a:xfrm>
              <a:off x="3639" y="1824"/>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18" name="矩形 270406"/>
            <p:cNvSpPr/>
            <p:nvPr/>
          </p:nvSpPr>
          <p:spPr>
            <a:xfrm>
              <a:off x="3639" y="2016"/>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19" name="矩形 270407"/>
            <p:cNvSpPr/>
            <p:nvPr/>
          </p:nvSpPr>
          <p:spPr>
            <a:xfrm>
              <a:off x="3639" y="2208"/>
              <a:ext cx="170"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20" name="矩形 270408"/>
            <p:cNvSpPr/>
            <p:nvPr/>
          </p:nvSpPr>
          <p:spPr>
            <a:xfrm>
              <a:off x="3591" y="2400"/>
              <a:ext cx="334"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Add</a:t>
              </a:r>
              <a:endParaRPr lang="en-US" altLang="zh-CN">
                <a:solidFill>
                  <a:srgbClr val="0000FF"/>
                </a:solidFill>
                <a:latin typeface="Arial" panose="020B0604020202020204" pitchFamily="34" charset="0"/>
                <a:ea typeface="宋体" panose="02010600030101010101" pitchFamily="2" charset="-122"/>
              </a:endParaRPr>
            </a:p>
          </p:txBody>
        </p:sp>
        <p:sp>
          <p:nvSpPr>
            <p:cNvPr id="130121" name="矩形 270409"/>
            <p:cNvSpPr/>
            <p:nvPr/>
          </p:nvSpPr>
          <p:spPr>
            <a:xfrm>
              <a:off x="4119" y="864"/>
              <a:ext cx="17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22" name="矩形 270410"/>
            <p:cNvSpPr/>
            <p:nvPr/>
          </p:nvSpPr>
          <p:spPr>
            <a:xfrm>
              <a:off x="4119" y="1056"/>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23" name="矩形 270411"/>
            <p:cNvSpPr/>
            <p:nvPr/>
          </p:nvSpPr>
          <p:spPr>
            <a:xfrm>
              <a:off x="4119" y="1248"/>
              <a:ext cx="17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24" name="矩形 270412"/>
            <p:cNvSpPr/>
            <p:nvPr/>
          </p:nvSpPr>
          <p:spPr>
            <a:xfrm>
              <a:off x="4119" y="1440"/>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25" name="矩形 270413"/>
            <p:cNvSpPr/>
            <p:nvPr/>
          </p:nvSpPr>
          <p:spPr>
            <a:xfrm>
              <a:off x="4119" y="1632"/>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26" name="矩形 270414"/>
            <p:cNvSpPr/>
            <p:nvPr/>
          </p:nvSpPr>
          <p:spPr>
            <a:xfrm>
              <a:off x="4119" y="1824"/>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27" name="矩形 270415"/>
            <p:cNvSpPr/>
            <p:nvPr/>
          </p:nvSpPr>
          <p:spPr>
            <a:xfrm>
              <a:off x="4119" y="2016"/>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28" name="矩形 270416"/>
            <p:cNvSpPr/>
            <p:nvPr/>
          </p:nvSpPr>
          <p:spPr>
            <a:xfrm>
              <a:off x="4119" y="2208"/>
              <a:ext cx="17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29" name="矩形 270417"/>
            <p:cNvSpPr/>
            <p:nvPr/>
          </p:nvSpPr>
          <p:spPr>
            <a:xfrm>
              <a:off x="3953" y="2410"/>
              <a:ext cx="414" cy="210"/>
            </a:xfrm>
            <a:prstGeom prst="rect">
              <a:avLst/>
            </a:prstGeom>
            <a:noFill/>
            <a:ln w="12700">
              <a:noFill/>
            </a:ln>
          </p:spPr>
          <p:txBody>
            <a:bodyPr wrap="none" lIns="90488" tIns="44450" rIns="90488" bIns="44450" anchor="t" anchorCtr="0">
              <a:spAutoFit/>
            </a:bodyPr>
            <a:p>
              <a:pPr eaLnBrk="0" hangingPunct="0"/>
              <a:r>
                <a:rPr lang="en-US" altLang="zh-CN" dirty="0" err="1">
                  <a:solidFill>
                    <a:srgbClr val="0000FF"/>
                  </a:solidFill>
                  <a:latin typeface="Arial" panose="020B0604020202020204" pitchFamily="34" charset="0"/>
                  <a:ea typeface="宋体" panose="02010600030101010101" pitchFamily="2" charset="-122"/>
                </a:rPr>
                <a:t>Subtr</a:t>
              </a:r>
              <a:endParaRPr lang="en-US" altLang="zh-CN">
                <a:solidFill>
                  <a:srgbClr val="0000FF"/>
                </a:solidFill>
                <a:latin typeface="Arial" panose="020B0604020202020204" pitchFamily="34" charset="0"/>
                <a:ea typeface="宋体" panose="02010600030101010101" pitchFamily="2" charset="-122"/>
              </a:endParaRPr>
            </a:p>
          </p:txBody>
        </p:sp>
        <p:sp>
          <p:nvSpPr>
            <p:cNvPr id="130130" name="矩形 270418"/>
            <p:cNvSpPr/>
            <p:nvPr/>
          </p:nvSpPr>
          <p:spPr>
            <a:xfrm>
              <a:off x="4599" y="864"/>
              <a:ext cx="17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31" name="矩形 270419"/>
            <p:cNvSpPr/>
            <p:nvPr/>
          </p:nvSpPr>
          <p:spPr>
            <a:xfrm>
              <a:off x="4599" y="1056"/>
              <a:ext cx="17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32" name="矩形 270420"/>
            <p:cNvSpPr/>
            <p:nvPr/>
          </p:nvSpPr>
          <p:spPr>
            <a:xfrm>
              <a:off x="4599" y="1248"/>
              <a:ext cx="17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33" name="矩形 270421"/>
            <p:cNvSpPr/>
            <p:nvPr/>
          </p:nvSpPr>
          <p:spPr>
            <a:xfrm>
              <a:off x="4599" y="1440"/>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34" name="矩形 270422"/>
            <p:cNvSpPr/>
            <p:nvPr/>
          </p:nvSpPr>
          <p:spPr>
            <a:xfrm>
              <a:off x="4599" y="1632"/>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35" name="矩形 270423"/>
            <p:cNvSpPr/>
            <p:nvPr/>
          </p:nvSpPr>
          <p:spPr>
            <a:xfrm>
              <a:off x="4599" y="1824"/>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0136" name="矩形 270424"/>
            <p:cNvSpPr/>
            <p:nvPr/>
          </p:nvSpPr>
          <p:spPr>
            <a:xfrm>
              <a:off x="4599" y="2016"/>
              <a:ext cx="171"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0137" name="矩形 270425"/>
            <p:cNvSpPr/>
            <p:nvPr/>
          </p:nvSpPr>
          <p:spPr>
            <a:xfrm>
              <a:off x="4599" y="2208"/>
              <a:ext cx="17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0138" name="矩形 270426"/>
            <p:cNvSpPr/>
            <p:nvPr/>
          </p:nvSpPr>
          <p:spPr>
            <a:xfrm>
              <a:off x="4551" y="2400"/>
              <a:ext cx="302"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xxx</a:t>
              </a:r>
              <a:endParaRPr lang="en-US" altLang="zh-CN">
                <a:solidFill>
                  <a:srgbClr val="0000FF"/>
                </a:solidFill>
                <a:latin typeface="Arial" panose="020B0604020202020204" pitchFamily="34" charset="0"/>
                <a:ea typeface="宋体" panose="02010600030101010101" pitchFamily="2" charset="-122"/>
              </a:endParaRPr>
            </a:p>
          </p:txBody>
        </p:sp>
        <p:sp>
          <p:nvSpPr>
            <p:cNvPr id="130139" name="直接连接符 270427"/>
            <p:cNvSpPr/>
            <p:nvPr/>
          </p:nvSpPr>
          <p:spPr>
            <a:xfrm>
              <a:off x="1592" y="480"/>
              <a:ext cx="3344" cy="0"/>
            </a:xfrm>
            <a:prstGeom prst="line">
              <a:avLst/>
            </a:prstGeom>
            <a:ln w="25400" cap="flat" cmpd="sng">
              <a:solidFill>
                <a:schemeClr val="tx1"/>
              </a:solidFill>
              <a:prstDash val="solid"/>
              <a:round/>
              <a:headEnd type="none" w="med" len="med"/>
              <a:tailEnd type="none" w="med" len="med"/>
            </a:ln>
          </p:spPr>
        </p:sp>
        <p:sp>
          <p:nvSpPr>
            <p:cNvPr id="130140" name="矩形 270428"/>
            <p:cNvSpPr/>
            <p:nvPr/>
          </p:nvSpPr>
          <p:spPr>
            <a:xfrm>
              <a:off x="1335" y="480"/>
              <a:ext cx="25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op</a:t>
              </a:r>
              <a:endParaRPr lang="en-US" altLang="zh-CN">
                <a:latin typeface="Arial" panose="020B0604020202020204" pitchFamily="34" charset="0"/>
                <a:ea typeface="宋体" panose="02010600030101010101" pitchFamily="2" charset="-122"/>
              </a:endParaRPr>
            </a:p>
          </p:txBody>
        </p:sp>
        <p:sp>
          <p:nvSpPr>
            <p:cNvPr id="130141" name="矩形 270429"/>
            <p:cNvSpPr/>
            <p:nvPr/>
          </p:nvSpPr>
          <p:spPr>
            <a:xfrm>
              <a:off x="1815" y="480"/>
              <a:ext cx="528"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0000</a:t>
              </a:r>
              <a:endParaRPr lang="zh-CN" altLang="en-US" dirty="0">
                <a:latin typeface="Arial" panose="020B0604020202020204" pitchFamily="34" charset="0"/>
                <a:ea typeface="宋体" panose="02010600030101010101" pitchFamily="2" charset="-122"/>
              </a:endParaRPr>
            </a:p>
          </p:txBody>
        </p:sp>
        <p:sp>
          <p:nvSpPr>
            <p:cNvPr id="130142" name="矩形 270430"/>
            <p:cNvSpPr/>
            <p:nvPr/>
          </p:nvSpPr>
          <p:spPr>
            <a:xfrm>
              <a:off x="2535" y="480"/>
              <a:ext cx="549" cy="210"/>
            </a:xfrm>
            <a:prstGeom prst="rect">
              <a:avLst/>
            </a:prstGeom>
            <a:noFill/>
            <a:ln w="12700">
              <a:noFill/>
            </a:ln>
          </p:spPr>
          <p:txBody>
            <a:bodyPr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1101</a:t>
              </a:r>
              <a:endParaRPr lang="zh-CN" altLang="en-US" dirty="0">
                <a:latin typeface="Arial" panose="020B0604020202020204" pitchFamily="34" charset="0"/>
                <a:ea typeface="宋体" panose="02010600030101010101" pitchFamily="2" charset="-122"/>
              </a:endParaRPr>
            </a:p>
          </p:txBody>
        </p:sp>
        <p:sp>
          <p:nvSpPr>
            <p:cNvPr id="130143" name="矩形 270431"/>
            <p:cNvSpPr/>
            <p:nvPr/>
          </p:nvSpPr>
          <p:spPr>
            <a:xfrm>
              <a:off x="3015" y="480"/>
              <a:ext cx="528"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0011</a:t>
              </a:r>
              <a:endParaRPr lang="zh-CN" altLang="en-US" dirty="0">
                <a:latin typeface="Arial" panose="020B0604020202020204" pitchFamily="34" charset="0"/>
                <a:ea typeface="宋体" panose="02010600030101010101" pitchFamily="2" charset="-122"/>
              </a:endParaRPr>
            </a:p>
          </p:txBody>
        </p:sp>
        <p:sp>
          <p:nvSpPr>
            <p:cNvPr id="130144" name="矩形 270432"/>
            <p:cNvSpPr/>
            <p:nvPr/>
          </p:nvSpPr>
          <p:spPr>
            <a:xfrm>
              <a:off x="3495" y="480"/>
              <a:ext cx="527"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1011</a:t>
              </a:r>
              <a:endParaRPr lang="zh-CN" altLang="en-US" dirty="0">
                <a:latin typeface="Arial" panose="020B0604020202020204" pitchFamily="34" charset="0"/>
                <a:ea typeface="宋体" panose="02010600030101010101" pitchFamily="2" charset="-122"/>
              </a:endParaRPr>
            </a:p>
          </p:txBody>
        </p:sp>
        <p:sp>
          <p:nvSpPr>
            <p:cNvPr id="130145" name="矩形 270433"/>
            <p:cNvSpPr/>
            <p:nvPr/>
          </p:nvSpPr>
          <p:spPr>
            <a:xfrm>
              <a:off x="3975" y="480"/>
              <a:ext cx="528"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0100</a:t>
              </a:r>
              <a:endParaRPr lang="zh-CN" altLang="en-US" dirty="0">
                <a:latin typeface="Arial" panose="020B0604020202020204" pitchFamily="34" charset="0"/>
                <a:ea typeface="宋体" panose="02010600030101010101" pitchFamily="2" charset="-122"/>
              </a:endParaRPr>
            </a:p>
          </p:txBody>
        </p:sp>
        <p:sp>
          <p:nvSpPr>
            <p:cNvPr id="130146" name="矩形 270434"/>
            <p:cNvSpPr/>
            <p:nvPr/>
          </p:nvSpPr>
          <p:spPr>
            <a:xfrm>
              <a:off x="4455" y="480"/>
              <a:ext cx="528"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0010</a:t>
              </a:r>
              <a:endParaRPr lang="zh-CN" altLang="en-US" dirty="0">
                <a:latin typeface="Arial" panose="020B0604020202020204" pitchFamily="34" charset="0"/>
                <a:ea typeface="宋体" panose="02010600030101010101" pitchFamily="2" charset="-122"/>
              </a:endParaRPr>
            </a:p>
          </p:txBody>
        </p:sp>
        <p:sp>
          <p:nvSpPr>
            <p:cNvPr id="130147" name="直接连接符 270435"/>
            <p:cNvSpPr/>
            <p:nvPr/>
          </p:nvSpPr>
          <p:spPr>
            <a:xfrm flipV="1">
              <a:off x="3024" y="472"/>
              <a:ext cx="0" cy="208"/>
            </a:xfrm>
            <a:prstGeom prst="line">
              <a:avLst/>
            </a:prstGeom>
            <a:ln w="25400" cap="flat" cmpd="sng">
              <a:solidFill>
                <a:schemeClr val="tx1"/>
              </a:solidFill>
              <a:prstDash val="solid"/>
              <a:round/>
              <a:headEnd type="none" w="med" len="med"/>
              <a:tailEnd type="none" w="med" len="med"/>
            </a:ln>
          </p:spPr>
        </p:sp>
        <p:sp>
          <p:nvSpPr>
            <p:cNvPr id="130148" name="直接连接符 270436"/>
            <p:cNvSpPr/>
            <p:nvPr/>
          </p:nvSpPr>
          <p:spPr>
            <a:xfrm flipV="1">
              <a:off x="3504" y="472"/>
              <a:ext cx="0" cy="208"/>
            </a:xfrm>
            <a:prstGeom prst="line">
              <a:avLst/>
            </a:prstGeom>
            <a:ln w="25400" cap="flat" cmpd="sng">
              <a:solidFill>
                <a:schemeClr val="tx1"/>
              </a:solidFill>
              <a:prstDash val="solid"/>
              <a:round/>
              <a:headEnd type="none" w="med" len="med"/>
              <a:tailEnd type="none" w="med" len="med"/>
            </a:ln>
          </p:spPr>
        </p:sp>
        <p:sp>
          <p:nvSpPr>
            <p:cNvPr id="130149" name="直接连接符 270437"/>
            <p:cNvSpPr/>
            <p:nvPr/>
          </p:nvSpPr>
          <p:spPr>
            <a:xfrm flipV="1">
              <a:off x="3984" y="472"/>
              <a:ext cx="0" cy="208"/>
            </a:xfrm>
            <a:prstGeom prst="line">
              <a:avLst/>
            </a:prstGeom>
            <a:ln w="25400" cap="flat" cmpd="sng">
              <a:solidFill>
                <a:schemeClr val="tx1"/>
              </a:solidFill>
              <a:prstDash val="solid"/>
              <a:round/>
              <a:headEnd type="none" w="med" len="med"/>
              <a:tailEnd type="none" w="med" len="med"/>
            </a:ln>
          </p:spPr>
        </p:sp>
        <p:sp>
          <p:nvSpPr>
            <p:cNvPr id="130150" name="直接连接符 270438"/>
            <p:cNvSpPr/>
            <p:nvPr/>
          </p:nvSpPr>
          <p:spPr>
            <a:xfrm flipV="1">
              <a:off x="4464" y="472"/>
              <a:ext cx="0" cy="208"/>
            </a:xfrm>
            <a:prstGeom prst="line">
              <a:avLst/>
            </a:prstGeom>
            <a:ln w="25400" cap="flat" cmpd="sng">
              <a:solidFill>
                <a:schemeClr val="tx1"/>
              </a:solidFill>
              <a:prstDash val="solid"/>
              <a:round/>
              <a:headEnd type="none" w="med" len="med"/>
              <a:tailEnd type="none" w="med" len="med"/>
            </a:ln>
          </p:spPr>
        </p:sp>
        <p:sp>
          <p:nvSpPr>
            <p:cNvPr id="130151" name="直接连接符 270439"/>
            <p:cNvSpPr/>
            <p:nvPr/>
          </p:nvSpPr>
          <p:spPr>
            <a:xfrm flipV="1">
              <a:off x="4944" y="472"/>
              <a:ext cx="0" cy="208"/>
            </a:xfrm>
            <a:prstGeom prst="line">
              <a:avLst/>
            </a:prstGeom>
            <a:ln w="25400" cap="flat" cmpd="sng">
              <a:solidFill>
                <a:schemeClr val="tx1"/>
              </a:solidFill>
              <a:prstDash val="solid"/>
              <a:round/>
              <a:headEnd type="none" w="med" len="med"/>
              <a:tailEnd type="none" w="med" len="med"/>
            </a:ln>
          </p:spPr>
        </p:sp>
        <p:sp>
          <p:nvSpPr>
            <p:cNvPr id="130152" name="直接连接符 270440"/>
            <p:cNvSpPr/>
            <p:nvPr/>
          </p:nvSpPr>
          <p:spPr>
            <a:xfrm flipV="1">
              <a:off x="1584" y="472"/>
              <a:ext cx="0" cy="208"/>
            </a:xfrm>
            <a:prstGeom prst="line">
              <a:avLst/>
            </a:prstGeom>
            <a:ln w="25400" cap="flat" cmpd="sng">
              <a:solidFill>
                <a:schemeClr val="tx1"/>
              </a:solidFill>
              <a:prstDash val="solid"/>
              <a:round/>
              <a:headEnd type="none" w="med" len="med"/>
              <a:tailEnd type="none" w="med" len="med"/>
            </a:ln>
          </p:spPr>
        </p:sp>
        <p:sp>
          <p:nvSpPr>
            <p:cNvPr id="130153" name="直接连接符 270441"/>
            <p:cNvSpPr/>
            <p:nvPr/>
          </p:nvSpPr>
          <p:spPr>
            <a:xfrm flipV="1">
              <a:off x="2544" y="472"/>
              <a:ext cx="0" cy="208"/>
            </a:xfrm>
            <a:prstGeom prst="line">
              <a:avLst/>
            </a:prstGeom>
            <a:ln w="25400" cap="flat" cmpd="sng">
              <a:solidFill>
                <a:schemeClr val="tx1"/>
              </a:solidFill>
              <a:prstDash val="solid"/>
              <a:round/>
              <a:headEnd type="none" w="med" len="med"/>
              <a:tailEnd type="none" w="med" len="med"/>
            </a:ln>
          </p:spPr>
        </p:sp>
      </p:grpSp>
      <p:grpSp>
        <p:nvGrpSpPr>
          <p:cNvPr id="270479" name="组合 270478"/>
          <p:cNvGrpSpPr/>
          <p:nvPr/>
        </p:nvGrpSpPr>
        <p:grpSpPr>
          <a:xfrm>
            <a:off x="1662113" y="4629150"/>
            <a:ext cx="5829300" cy="1865313"/>
            <a:chOff x="1047" y="3015"/>
            <a:chExt cx="3672" cy="1175"/>
          </a:xfrm>
        </p:grpSpPr>
        <p:sp>
          <p:nvSpPr>
            <p:cNvPr id="130155" name="矩形 270453"/>
            <p:cNvSpPr/>
            <p:nvPr/>
          </p:nvSpPr>
          <p:spPr>
            <a:xfrm>
              <a:off x="2535" y="3015"/>
              <a:ext cx="384"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func</a:t>
              </a:r>
              <a:endParaRPr lang="en-US" altLang="zh-CN">
                <a:latin typeface="Arial" panose="020B0604020202020204" pitchFamily="34" charset="0"/>
                <a:ea typeface="宋体" panose="02010600030101010101" pitchFamily="2" charset="-122"/>
              </a:endParaRPr>
            </a:p>
          </p:txBody>
        </p:sp>
        <p:grpSp>
          <p:nvGrpSpPr>
            <p:cNvPr id="130156" name="组合 270474"/>
            <p:cNvGrpSpPr/>
            <p:nvPr/>
          </p:nvGrpSpPr>
          <p:grpSpPr>
            <a:xfrm>
              <a:off x="1047" y="3111"/>
              <a:ext cx="3672" cy="1079"/>
              <a:chOff x="1047" y="2976"/>
              <a:chExt cx="3672" cy="1079"/>
            </a:xfrm>
          </p:grpSpPr>
          <p:sp>
            <p:nvSpPr>
              <p:cNvPr id="130157" name="矩形 270442"/>
              <p:cNvSpPr/>
              <p:nvPr/>
            </p:nvSpPr>
            <p:spPr>
              <a:xfrm>
                <a:off x="1688" y="2984"/>
                <a:ext cx="608" cy="608"/>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0158" name="矩形 270443"/>
              <p:cNvSpPr/>
              <p:nvPr/>
            </p:nvSpPr>
            <p:spPr>
              <a:xfrm>
                <a:off x="1705" y="3106"/>
                <a:ext cx="569" cy="364"/>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Main</a:t>
                </a:r>
                <a:endParaRPr lang="en-US" altLang="zh-CN">
                  <a:latin typeface="Arial" panose="020B0604020202020204" pitchFamily="34" charset="0"/>
                  <a:ea typeface="宋体" panose="02010600030101010101" pitchFamily="2" charset="-122"/>
                </a:endParaRPr>
              </a:p>
              <a:p>
                <a:pPr algn="ctr" eaLnBrk="0" hangingPunct="0"/>
                <a:r>
                  <a:rPr lang="en-US" altLang="zh-CN">
                    <a:latin typeface="Arial" panose="020B0604020202020204" pitchFamily="34" charset="0"/>
                    <a:ea typeface="宋体" panose="02010600030101010101" pitchFamily="2" charset="-122"/>
                  </a:rPr>
                  <a:t>Control</a:t>
                </a:r>
                <a:endParaRPr lang="en-US" altLang="zh-CN">
                  <a:latin typeface="Arial" panose="020B0604020202020204" pitchFamily="34" charset="0"/>
                  <a:ea typeface="宋体" panose="02010600030101010101" pitchFamily="2" charset="-122"/>
                </a:endParaRPr>
              </a:p>
            </p:txBody>
          </p:sp>
          <p:sp>
            <p:nvSpPr>
              <p:cNvPr id="130159" name="直接连接符 270444"/>
              <p:cNvSpPr/>
              <p:nvPr/>
            </p:nvSpPr>
            <p:spPr>
              <a:xfrm>
                <a:off x="1112" y="3264"/>
                <a:ext cx="560" cy="0"/>
              </a:xfrm>
              <a:prstGeom prst="line">
                <a:avLst/>
              </a:prstGeom>
              <a:ln w="25400" cap="flat" cmpd="sng">
                <a:solidFill>
                  <a:schemeClr val="tx1"/>
                </a:solidFill>
                <a:prstDash val="solid"/>
                <a:round/>
                <a:headEnd type="none" w="med" len="med"/>
                <a:tailEnd type="triangle" w="med" len="med"/>
              </a:ln>
            </p:spPr>
          </p:sp>
          <p:sp>
            <p:nvSpPr>
              <p:cNvPr id="130160" name="直接连接符 270445"/>
              <p:cNvSpPr/>
              <p:nvPr/>
            </p:nvSpPr>
            <p:spPr>
              <a:xfrm flipH="1">
                <a:off x="1340" y="3172"/>
                <a:ext cx="104" cy="184"/>
              </a:xfrm>
              <a:prstGeom prst="line">
                <a:avLst/>
              </a:prstGeom>
              <a:ln w="12700" cap="flat" cmpd="sng">
                <a:solidFill>
                  <a:schemeClr val="tx1"/>
                </a:solidFill>
                <a:prstDash val="solid"/>
                <a:round/>
                <a:headEnd type="none" w="med" len="med"/>
                <a:tailEnd type="none" w="med" len="med"/>
              </a:ln>
            </p:spPr>
          </p:sp>
          <p:sp>
            <p:nvSpPr>
              <p:cNvPr id="130161" name="矩形 270446"/>
              <p:cNvSpPr/>
              <p:nvPr/>
            </p:nvSpPr>
            <p:spPr>
              <a:xfrm>
                <a:off x="1047" y="3072"/>
                <a:ext cx="27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op</a:t>
                </a:r>
                <a:endParaRPr lang="en-US" altLang="zh-CN">
                  <a:latin typeface="Arial" panose="020B0604020202020204" pitchFamily="34" charset="0"/>
                  <a:ea typeface="宋体" panose="02010600030101010101" pitchFamily="2" charset="-122"/>
                </a:endParaRPr>
              </a:p>
            </p:txBody>
          </p:sp>
          <p:sp>
            <p:nvSpPr>
              <p:cNvPr id="130162" name="矩形 270447"/>
              <p:cNvSpPr/>
              <p:nvPr/>
            </p:nvSpPr>
            <p:spPr>
              <a:xfrm>
                <a:off x="1191" y="3264"/>
                <a:ext cx="178" cy="210"/>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6</a:t>
                </a:r>
                <a:endParaRPr lang="zh-CN" altLang="en-US" dirty="0">
                  <a:latin typeface="Times New Roman" panose="02020603050405020304" pitchFamily="18" charset="0"/>
                  <a:ea typeface="宋体" panose="02010600030101010101" pitchFamily="2" charset="-122"/>
                </a:endParaRPr>
              </a:p>
            </p:txBody>
          </p:sp>
          <p:grpSp>
            <p:nvGrpSpPr>
              <p:cNvPr id="130163" name="组合 270448"/>
              <p:cNvGrpSpPr/>
              <p:nvPr/>
            </p:nvGrpSpPr>
            <p:grpSpPr>
              <a:xfrm>
                <a:off x="3176" y="2984"/>
                <a:ext cx="608" cy="560"/>
                <a:chOff x="3176" y="2984"/>
                <a:chExt cx="608" cy="560"/>
              </a:xfrm>
            </p:grpSpPr>
            <p:sp>
              <p:nvSpPr>
                <p:cNvPr id="130164" name="矩形 270449"/>
                <p:cNvSpPr/>
                <p:nvPr/>
              </p:nvSpPr>
              <p:spPr>
                <a:xfrm>
                  <a:off x="3176" y="2984"/>
                  <a:ext cx="608" cy="56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0165" name="矩形 270450"/>
                <p:cNvSpPr/>
                <p:nvPr/>
              </p:nvSpPr>
              <p:spPr>
                <a:xfrm>
                  <a:off x="3193" y="3024"/>
                  <a:ext cx="569" cy="518"/>
                </a:xfrm>
                <a:prstGeom prst="rect">
                  <a:avLst/>
                </a:prstGeom>
                <a:noFill/>
                <a:ln w="12700">
                  <a:noFill/>
                </a:ln>
              </p:spPr>
              <p:txBody>
                <a:bodyPr wrap="none" lIns="90488" tIns="44450" rIns="90488" bIns="44450" anchor="t" anchorCtr="0">
                  <a:spAutoFit/>
                </a:bodyPr>
                <a:p>
                  <a:pPr algn="ctr" eaLnBrk="0" hangingPunct="0"/>
                  <a:r>
                    <a:rPr lang="en-US" altLang="zh-CN">
                      <a:solidFill>
                        <a:srgbClr val="0000FF"/>
                      </a:solidFill>
                      <a:latin typeface="Arial" panose="020B0604020202020204" pitchFamily="34" charset="0"/>
                      <a:ea typeface="宋体" panose="02010600030101010101" pitchFamily="2" charset="-122"/>
                    </a:rPr>
                    <a:t>ALU</a:t>
                  </a:r>
                  <a:endParaRPr lang="en-US" altLang="zh-CN">
                    <a:solidFill>
                      <a:srgbClr val="0000FF"/>
                    </a:solidFill>
                    <a:latin typeface="Arial" panose="020B0604020202020204" pitchFamily="34" charset="0"/>
                    <a:ea typeface="宋体" panose="02010600030101010101" pitchFamily="2" charset="-122"/>
                  </a:endParaRPr>
                </a:p>
                <a:p>
                  <a:pPr algn="ctr" eaLnBrk="0" hangingPunct="0"/>
                  <a:r>
                    <a:rPr lang="en-US" altLang="zh-CN">
                      <a:solidFill>
                        <a:srgbClr val="0000FF"/>
                      </a:solidFill>
                      <a:latin typeface="Arial" panose="020B0604020202020204" pitchFamily="34" charset="0"/>
                      <a:ea typeface="宋体" panose="02010600030101010101" pitchFamily="2" charset="-122"/>
                    </a:rPr>
                    <a:t>Control</a:t>
                  </a:r>
                  <a:endParaRPr lang="en-US" altLang="zh-CN">
                    <a:solidFill>
                      <a:srgbClr val="0000FF"/>
                    </a:solidFill>
                    <a:latin typeface="Arial" panose="020B0604020202020204" pitchFamily="34" charset="0"/>
                    <a:ea typeface="宋体" panose="02010600030101010101" pitchFamily="2" charset="-122"/>
                  </a:endParaRPr>
                </a:p>
                <a:p>
                  <a:pPr algn="ctr" eaLnBrk="0" hangingPunct="0"/>
                  <a:r>
                    <a:rPr lang="en-US" altLang="zh-CN">
                      <a:solidFill>
                        <a:srgbClr val="0000FF"/>
                      </a:solidFill>
                      <a:latin typeface="Times New Roman" panose="02020603050405020304" pitchFamily="18" charset="0"/>
                      <a:ea typeface="宋体" panose="02010600030101010101" pitchFamily="2" charset="-122"/>
                    </a:rPr>
                    <a:t>(</a:t>
                  </a:r>
                  <a:r>
                    <a:rPr lang="en-US" altLang="zh-CN">
                      <a:solidFill>
                        <a:srgbClr val="0000FF"/>
                      </a:solidFill>
                      <a:latin typeface="Arial" panose="020B0604020202020204" pitchFamily="34" charset="0"/>
                      <a:ea typeface="宋体" panose="02010600030101010101" pitchFamily="2" charset="-122"/>
                    </a:rPr>
                    <a:t>Local</a:t>
                  </a:r>
                  <a:r>
                    <a:rPr lang="en-US" altLang="zh-CN">
                      <a:solidFill>
                        <a:srgbClr val="0000FF"/>
                      </a:solidFill>
                      <a:latin typeface="Times New Roman" panose="02020603050405020304" pitchFamily="18" charset="0"/>
                      <a:ea typeface="宋体" panose="02010600030101010101" pitchFamily="2" charset="-122"/>
                    </a:rPr>
                    <a:t>)</a:t>
                  </a:r>
                  <a:endParaRPr lang="en-US" altLang="zh-CN">
                    <a:solidFill>
                      <a:srgbClr val="0000FF"/>
                    </a:solidFill>
                    <a:latin typeface="Times New Roman" panose="02020603050405020304" pitchFamily="18" charset="0"/>
                    <a:ea typeface="宋体" panose="02010600030101010101" pitchFamily="2" charset="-122"/>
                  </a:endParaRPr>
                </a:p>
              </p:txBody>
            </p:sp>
          </p:grpSp>
          <p:sp>
            <p:nvSpPr>
              <p:cNvPr id="130166" name="直接连接符 270451"/>
              <p:cNvSpPr/>
              <p:nvPr/>
            </p:nvSpPr>
            <p:spPr>
              <a:xfrm>
                <a:off x="2312" y="3408"/>
                <a:ext cx="848" cy="0"/>
              </a:xfrm>
              <a:prstGeom prst="line">
                <a:avLst/>
              </a:prstGeom>
              <a:ln w="25400" cap="flat" cmpd="sng">
                <a:solidFill>
                  <a:schemeClr val="tx1"/>
                </a:solidFill>
                <a:prstDash val="solid"/>
                <a:round/>
                <a:headEnd type="none" w="med" len="med"/>
                <a:tailEnd type="triangle" w="med" len="med"/>
              </a:ln>
            </p:spPr>
          </p:sp>
          <p:sp>
            <p:nvSpPr>
              <p:cNvPr id="130167" name="直接连接符 270452"/>
              <p:cNvSpPr/>
              <p:nvPr/>
            </p:nvSpPr>
            <p:spPr>
              <a:xfrm flipH="1">
                <a:off x="2828" y="3316"/>
                <a:ext cx="104" cy="184"/>
              </a:xfrm>
              <a:prstGeom prst="line">
                <a:avLst/>
              </a:prstGeom>
              <a:ln w="12700" cap="flat" cmpd="sng">
                <a:solidFill>
                  <a:schemeClr val="tx1"/>
                </a:solidFill>
                <a:prstDash val="solid"/>
                <a:round/>
                <a:headEnd type="none" w="med" len="med"/>
                <a:tailEnd type="none" w="med" len="med"/>
              </a:ln>
            </p:spPr>
          </p:sp>
          <p:sp>
            <p:nvSpPr>
              <p:cNvPr id="130168" name="矩形 270454"/>
              <p:cNvSpPr/>
              <p:nvPr/>
            </p:nvSpPr>
            <p:spPr>
              <a:xfrm>
                <a:off x="2679" y="3408"/>
                <a:ext cx="359" cy="210"/>
              </a:xfrm>
              <a:prstGeom prst="rect">
                <a:avLst/>
              </a:prstGeom>
              <a:noFill/>
              <a:ln w="12700">
                <a:noFill/>
              </a:ln>
            </p:spPr>
            <p:txBody>
              <a:bodyPr wrap="none" lIns="90488" tIns="44450" rIns="90488" bIns="44450" anchor="t" anchorCtr="0">
                <a:spAutoFit/>
              </a:bodyPr>
              <a:p>
                <a:pPr eaLnBrk="0" hangingPunct="0"/>
                <a:r>
                  <a:rPr lang="en-US" altLang="zh-CN">
                    <a:solidFill>
                      <a:srgbClr val="FF0000"/>
                    </a:solidFill>
                    <a:latin typeface="Arial" panose="020B0604020202020204" pitchFamily="34" charset="0"/>
                    <a:ea typeface="宋体" panose="02010600030101010101" pitchFamily="2" charset="-122"/>
                  </a:rPr>
                  <a:t>N=?</a:t>
                </a:r>
                <a:endParaRPr lang="en-US" altLang="zh-CN">
                  <a:solidFill>
                    <a:srgbClr val="FF0000"/>
                  </a:solidFill>
                  <a:latin typeface="Arial" panose="020B0604020202020204" pitchFamily="34" charset="0"/>
                  <a:ea typeface="宋体" panose="02010600030101010101" pitchFamily="2" charset="-122"/>
                </a:endParaRPr>
              </a:p>
            </p:txBody>
          </p:sp>
          <p:sp>
            <p:nvSpPr>
              <p:cNvPr id="130169" name="直接连接符 270455"/>
              <p:cNvSpPr/>
              <p:nvPr/>
            </p:nvSpPr>
            <p:spPr>
              <a:xfrm flipH="1">
                <a:off x="2828" y="2980"/>
                <a:ext cx="104" cy="184"/>
              </a:xfrm>
              <a:prstGeom prst="line">
                <a:avLst/>
              </a:prstGeom>
              <a:ln w="12700" cap="flat" cmpd="sng">
                <a:solidFill>
                  <a:schemeClr val="tx1"/>
                </a:solidFill>
                <a:prstDash val="solid"/>
                <a:round/>
                <a:headEnd type="none" w="med" len="med"/>
                <a:tailEnd type="none" w="med" len="med"/>
              </a:ln>
            </p:spPr>
          </p:sp>
          <p:sp>
            <p:nvSpPr>
              <p:cNvPr id="130170" name="矩形 270456"/>
              <p:cNvSpPr/>
              <p:nvPr/>
            </p:nvSpPr>
            <p:spPr>
              <a:xfrm>
                <a:off x="2679" y="3072"/>
                <a:ext cx="178" cy="210"/>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6</a:t>
                </a:r>
                <a:endParaRPr lang="zh-CN" altLang="en-US" dirty="0">
                  <a:latin typeface="Times New Roman" panose="02020603050405020304" pitchFamily="18" charset="0"/>
                  <a:ea typeface="宋体" panose="02010600030101010101" pitchFamily="2" charset="-122"/>
                </a:endParaRPr>
              </a:p>
            </p:txBody>
          </p:sp>
          <p:sp>
            <p:nvSpPr>
              <p:cNvPr id="130171" name="矩形 270457"/>
              <p:cNvSpPr/>
              <p:nvPr/>
            </p:nvSpPr>
            <p:spPr>
              <a:xfrm>
                <a:off x="2343" y="3216"/>
                <a:ext cx="532"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ALUop</a:t>
                </a:r>
                <a:endParaRPr lang="en-US" altLang="zh-CN">
                  <a:latin typeface="Arial" panose="020B0604020202020204" pitchFamily="34" charset="0"/>
                  <a:ea typeface="宋体" panose="02010600030101010101" pitchFamily="2" charset="-122"/>
                </a:endParaRPr>
              </a:p>
            </p:txBody>
          </p:sp>
          <p:sp>
            <p:nvSpPr>
              <p:cNvPr id="130172" name="直接连接符 270458"/>
              <p:cNvSpPr/>
              <p:nvPr/>
            </p:nvSpPr>
            <p:spPr>
              <a:xfrm flipH="1">
                <a:off x="2536" y="3072"/>
                <a:ext cx="640" cy="0"/>
              </a:xfrm>
              <a:prstGeom prst="line">
                <a:avLst/>
              </a:prstGeom>
              <a:ln w="25400" cap="flat" cmpd="sng">
                <a:solidFill>
                  <a:schemeClr val="tx1"/>
                </a:solidFill>
                <a:prstDash val="solid"/>
                <a:round/>
                <a:headEnd type="triangle" w="med" len="med"/>
                <a:tailEnd type="none" w="med" len="med"/>
              </a:ln>
            </p:spPr>
          </p:sp>
          <p:sp>
            <p:nvSpPr>
              <p:cNvPr id="130173" name="矩形 270459"/>
              <p:cNvSpPr/>
              <p:nvPr/>
            </p:nvSpPr>
            <p:spPr>
              <a:xfrm>
                <a:off x="3879" y="2976"/>
                <a:ext cx="540"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ALUctr</a:t>
                </a:r>
                <a:endParaRPr lang="en-US" altLang="zh-CN">
                  <a:latin typeface="Arial" panose="020B0604020202020204" pitchFamily="34" charset="0"/>
                  <a:ea typeface="宋体" panose="02010600030101010101" pitchFamily="2" charset="-122"/>
                </a:endParaRPr>
              </a:p>
            </p:txBody>
          </p:sp>
          <p:sp>
            <p:nvSpPr>
              <p:cNvPr id="130174" name="直接连接符 270460"/>
              <p:cNvSpPr/>
              <p:nvPr/>
            </p:nvSpPr>
            <p:spPr>
              <a:xfrm flipH="1">
                <a:off x="4316" y="3076"/>
                <a:ext cx="104" cy="184"/>
              </a:xfrm>
              <a:prstGeom prst="line">
                <a:avLst/>
              </a:prstGeom>
              <a:ln w="12700" cap="flat" cmpd="sng">
                <a:solidFill>
                  <a:schemeClr val="tx1"/>
                </a:solidFill>
                <a:prstDash val="solid"/>
                <a:round/>
                <a:headEnd type="none" w="med" len="med"/>
                <a:tailEnd type="none" w="med" len="med"/>
              </a:ln>
            </p:spPr>
          </p:sp>
          <p:sp>
            <p:nvSpPr>
              <p:cNvPr id="130175" name="直接连接符 270461"/>
              <p:cNvSpPr/>
              <p:nvPr/>
            </p:nvSpPr>
            <p:spPr>
              <a:xfrm flipH="1">
                <a:off x="3784" y="3168"/>
                <a:ext cx="784" cy="0"/>
              </a:xfrm>
              <a:prstGeom prst="line">
                <a:avLst/>
              </a:prstGeom>
              <a:ln w="25400" cap="flat" cmpd="sng">
                <a:solidFill>
                  <a:schemeClr val="tx1"/>
                </a:solidFill>
                <a:prstDash val="solid"/>
                <a:round/>
                <a:headEnd type="none" w="med" len="med"/>
                <a:tailEnd type="none" w="med" len="med"/>
              </a:ln>
            </p:spPr>
          </p:sp>
          <p:sp>
            <p:nvSpPr>
              <p:cNvPr id="130176" name="矩形 270462"/>
              <p:cNvSpPr/>
              <p:nvPr/>
            </p:nvSpPr>
            <p:spPr>
              <a:xfrm>
                <a:off x="4167" y="3168"/>
                <a:ext cx="178"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3</a:t>
                </a:r>
                <a:endParaRPr lang="zh-CN" altLang="en-US" b="0" dirty="0">
                  <a:latin typeface="Times New Roman" panose="02020603050405020304" pitchFamily="18" charset="0"/>
                  <a:ea typeface="宋体" panose="02010600030101010101" pitchFamily="2" charset="-122"/>
                </a:endParaRPr>
              </a:p>
            </p:txBody>
          </p:sp>
          <p:grpSp>
            <p:nvGrpSpPr>
              <p:cNvPr id="130177" name="组合 270463"/>
              <p:cNvGrpSpPr/>
              <p:nvPr/>
            </p:nvGrpSpPr>
            <p:grpSpPr>
              <a:xfrm>
                <a:off x="4416" y="3367"/>
                <a:ext cx="288" cy="688"/>
                <a:chOff x="4416" y="3367"/>
                <a:chExt cx="288" cy="688"/>
              </a:xfrm>
            </p:grpSpPr>
            <p:sp>
              <p:nvSpPr>
                <p:cNvPr id="130178" name="直接连接符 270464"/>
                <p:cNvSpPr/>
                <p:nvPr/>
              </p:nvSpPr>
              <p:spPr>
                <a:xfrm>
                  <a:off x="4416" y="3367"/>
                  <a:ext cx="0" cy="156"/>
                </a:xfrm>
                <a:prstGeom prst="line">
                  <a:avLst/>
                </a:prstGeom>
                <a:ln w="25400" cap="flat" cmpd="sng">
                  <a:solidFill>
                    <a:schemeClr val="tx1"/>
                  </a:solidFill>
                  <a:prstDash val="solid"/>
                  <a:round/>
                  <a:headEnd type="none" w="med" len="med"/>
                  <a:tailEnd type="none" w="med" len="med"/>
                </a:ln>
              </p:spPr>
            </p:sp>
            <p:sp>
              <p:nvSpPr>
                <p:cNvPr id="130179" name="直接连接符 270465"/>
                <p:cNvSpPr/>
                <p:nvPr/>
              </p:nvSpPr>
              <p:spPr>
                <a:xfrm>
                  <a:off x="4424" y="3367"/>
                  <a:ext cx="272" cy="156"/>
                </a:xfrm>
                <a:prstGeom prst="line">
                  <a:avLst/>
                </a:prstGeom>
                <a:ln w="25400" cap="flat" cmpd="sng">
                  <a:solidFill>
                    <a:schemeClr val="tx1"/>
                  </a:solidFill>
                  <a:prstDash val="solid"/>
                  <a:round/>
                  <a:headEnd type="none" w="med" len="med"/>
                  <a:tailEnd type="none" w="med" len="med"/>
                </a:ln>
              </p:spPr>
            </p:sp>
            <p:sp>
              <p:nvSpPr>
                <p:cNvPr id="130180" name="直接连接符 270466"/>
                <p:cNvSpPr/>
                <p:nvPr/>
              </p:nvSpPr>
              <p:spPr>
                <a:xfrm>
                  <a:off x="4424" y="3539"/>
                  <a:ext cx="128" cy="70"/>
                </a:xfrm>
                <a:prstGeom prst="line">
                  <a:avLst/>
                </a:prstGeom>
                <a:ln w="25400" cap="flat" cmpd="sng">
                  <a:solidFill>
                    <a:schemeClr val="tx1"/>
                  </a:solidFill>
                  <a:prstDash val="solid"/>
                  <a:round/>
                  <a:headEnd type="none" w="med" len="med"/>
                  <a:tailEnd type="none" w="med" len="med"/>
                </a:ln>
              </p:spPr>
            </p:sp>
            <p:sp>
              <p:nvSpPr>
                <p:cNvPr id="130181" name="直接连接符 270467"/>
                <p:cNvSpPr/>
                <p:nvPr/>
              </p:nvSpPr>
              <p:spPr>
                <a:xfrm>
                  <a:off x="4560" y="3625"/>
                  <a:ext cx="0" cy="156"/>
                </a:xfrm>
                <a:prstGeom prst="line">
                  <a:avLst/>
                </a:prstGeom>
                <a:ln w="25400" cap="flat" cmpd="sng">
                  <a:solidFill>
                    <a:schemeClr val="tx1"/>
                  </a:solidFill>
                  <a:prstDash val="solid"/>
                  <a:round/>
                  <a:headEnd type="none" w="med" len="med"/>
                  <a:tailEnd type="none" w="med" len="med"/>
                </a:ln>
              </p:spPr>
            </p:sp>
            <p:sp>
              <p:nvSpPr>
                <p:cNvPr id="130182" name="直接连接符 270468"/>
                <p:cNvSpPr/>
                <p:nvPr/>
              </p:nvSpPr>
              <p:spPr>
                <a:xfrm>
                  <a:off x="4704" y="3539"/>
                  <a:ext cx="0" cy="328"/>
                </a:xfrm>
                <a:prstGeom prst="line">
                  <a:avLst/>
                </a:prstGeom>
                <a:ln w="25400" cap="flat" cmpd="sng">
                  <a:solidFill>
                    <a:schemeClr val="tx1"/>
                  </a:solidFill>
                  <a:prstDash val="solid"/>
                  <a:round/>
                  <a:headEnd type="none" w="med" len="med"/>
                  <a:tailEnd type="none" w="med" len="med"/>
                </a:ln>
              </p:spPr>
            </p:sp>
            <p:sp>
              <p:nvSpPr>
                <p:cNvPr id="130183" name="直接连接符 270469"/>
                <p:cNvSpPr/>
                <p:nvPr/>
              </p:nvSpPr>
              <p:spPr>
                <a:xfrm flipV="1">
                  <a:off x="4424" y="3781"/>
                  <a:ext cx="128" cy="102"/>
                </a:xfrm>
                <a:prstGeom prst="line">
                  <a:avLst/>
                </a:prstGeom>
                <a:ln w="25400" cap="flat" cmpd="sng">
                  <a:solidFill>
                    <a:schemeClr val="tx1"/>
                  </a:solidFill>
                  <a:prstDash val="solid"/>
                  <a:round/>
                  <a:headEnd type="none" w="med" len="med"/>
                  <a:tailEnd type="none" w="med" len="med"/>
                </a:ln>
              </p:spPr>
            </p:sp>
            <p:sp>
              <p:nvSpPr>
                <p:cNvPr id="130184" name="直接连接符 270470"/>
                <p:cNvSpPr/>
                <p:nvPr/>
              </p:nvSpPr>
              <p:spPr>
                <a:xfrm>
                  <a:off x="4416" y="3883"/>
                  <a:ext cx="0" cy="156"/>
                </a:xfrm>
                <a:prstGeom prst="line">
                  <a:avLst/>
                </a:prstGeom>
                <a:ln w="25400" cap="flat" cmpd="sng">
                  <a:solidFill>
                    <a:schemeClr val="tx1"/>
                  </a:solidFill>
                  <a:prstDash val="solid"/>
                  <a:round/>
                  <a:headEnd type="none" w="med" len="med"/>
                  <a:tailEnd type="none" w="med" len="med"/>
                </a:ln>
              </p:spPr>
            </p:sp>
            <p:sp>
              <p:nvSpPr>
                <p:cNvPr id="130185" name="直接连接符 270471"/>
                <p:cNvSpPr/>
                <p:nvPr/>
              </p:nvSpPr>
              <p:spPr>
                <a:xfrm flipV="1">
                  <a:off x="4424" y="3867"/>
                  <a:ext cx="272" cy="188"/>
                </a:xfrm>
                <a:prstGeom prst="line">
                  <a:avLst/>
                </a:prstGeom>
                <a:ln w="25400" cap="flat" cmpd="sng">
                  <a:solidFill>
                    <a:schemeClr val="tx1"/>
                  </a:solidFill>
                  <a:prstDash val="solid"/>
                  <a:round/>
                  <a:headEnd type="none" w="med" len="med"/>
                  <a:tailEnd type="none" w="med" len="med"/>
                </a:ln>
              </p:spPr>
            </p:sp>
          </p:grpSp>
          <p:sp>
            <p:nvSpPr>
              <p:cNvPr id="130186" name="直接连接符 270472"/>
              <p:cNvSpPr/>
              <p:nvPr/>
            </p:nvSpPr>
            <p:spPr>
              <a:xfrm>
                <a:off x="4551" y="3167"/>
                <a:ext cx="9" cy="270"/>
              </a:xfrm>
              <a:prstGeom prst="line">
                <a:avLst/>
              </a:prstGeom>
              <a:ln w="25400" cap="flat" cmpd="sng">
                <a:solidFill>
                  <a:schemeClr val="tx1"/>
                </a:solidFill>
                <a:prstDash val="solid"/>
                <a:round/>
                <a:headEnd type="none" w="med" len="med"/>
                <a:tailEnd type="triangle" w="med" len="med"/>
              </a:ln>
            </p:spPr>
          </p:sp>
          <p:sp>
            <p:nvSpPr>
              <p:cNvPr id="130187" name="矩形 270473"/>
              <p:cNvSpPr/>
              <p:nvPr/>
            </p:nvSpPr>
            <p:spPr>
              <a:xfrm rot="5400000">
                <a:off x="4426" y="3607"/>
                <a:ext cx="376"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ALU</a:t>
                </a:r>
                <a:endParaRPr lang="en-US" altLang="zh-CN">
                  <a:latin typeface="Arial" panose="020B0604020202020204" pitchFamily="34" charset="0"/>
                  <a:ea typeface="宋体" panose="02010600030101010101" pitchFamily="2" charset="-122"/>
                </a:endParaRPr>
              </a:p>
            </p:txBody>
          </p:sp>
        </p:grpSp>
      </p:grpSp>
      <p:sp>
        <p:nvSpPr>
          <p:cNvPr id="130188" name="文本框 270475"/>
          <p:cNvSpPr txBox="1"/>
          <p:nvPr/>
        </p:nvSpPr>
        <p:spPr>
          <a:xfrm>
            <a:off x="363538" y="696913"/>
            <a:ext cx="8564562" cy="366712"/>
          </a:xfrm>
          <a:prstGeom prst="rect">
            <a:avLst/>
          </a:prstGeom>
          <a:noFill/>
          <a:ln w="50800">
            <a:noFill/>
          </a:ln>
        </p:spPr>
        <p:txBody>
          <a:bodyPr anchor="t" anchorCtr="0">
            <a:spAutoFit/>
          </a:bodyPr>
          <a:p>
            <a:pPr eaLnBrk="0" hangingPunct="0">
              <a:spcBef>
                <a:spcPct val="50000"/>
              </a:spcBef>
            </a:pPr>
            <a:r>
              <a:rPr lang="en-US" altLang="zh-CN" sz="1800">
                <a:latin typeface="Arial" panose="020B0604020202020204" pitchFamily="34" charset="0"/>
                <a:ea typeface="宋体" panose="02010600030101010101" pitchFamily="2" charset="-122"/>
              </a:rPr>
              <a:t>MIPS</a:t>
            </a:r>
            <a:r>
              <a:rPr lang="zh-CN" altLang="en-US" sz="1800" dirty="0">
                <a:latin typeface="Arial" panose="020B0604020202020204" pitchFamily="34" charset="0"/>
                <a:ea typeface="宋体" panose="02010600030101010101" pitchFamily="2" charset="-122"/>
              </a:rPr>
              <a:t>指令格式中指示操作性质的字段有两个：</a:t>
            </a:r>
            <a:r>
              <a:rPr lang="en-US" altLang="zh-CN" sz="1800">
                <a:latin typeface="Arial" panose="020B0604020202020204" pitchFamily="34" charset="0"/>
                <a:ea typeface="宋体" panose="02010600030101010101" pitchFamily="2" charset="-122"/>
              </a:rPr>
              <a:t>op(</a:t>
            </a:r>
            <a:r>
              <a:rPr lang="zh-CN" altLang="en-US" sz="1800" dirty="0">
                <a:latin typeface="Arial" panose="020B0604020202020204" pitchFamily="34" charset="0"/>
                <a:ea typeface="宋体" panose="02010600030101010101" pitchFamily="2" charset="-122"/>
              </a:rPr>
              <a:t>主控</a:t>
            </a:r>
            <a:r>
              <a:rPr lang="en-US" altLang="zh-CN" sz="1800">
                <a:latin typeface="Arial" panose="020B0604020202020204" pitchFamily="34"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和 </a:t>
            </a:r>
            <a:r>
              <a:rPr lang="en-US" altLang="zh-CN" sz="1800" dirty="0" err="1">
                <a:latin typeface="Arial" panose="020B0604020202020204" pitchFamily="34" charset="0"/>
                <a:ea typeface="宋体" panose="02010600030101010101" pitchFamily="2" charset="-122"/>
              </a:rPr>
              <a:t>func</a:t>
            </a:r>
            <a:r>
              <a:rPr lang="zh-CN" altLang="en-US" sz="1800" dirty="0">
                <a:latin typeface="Arial" panose="020B0604020202020204" pitchFamily="34" charset="0"/>
                <a:ea typeface="宋体" panose="02010600030101010101" pitchFamily="2" charset="-122"/>
              </a:rPr>
              <a:t>（</a:t>
            </a:r>
            <a:r>
              <a:rPr lang="en-US" altLang="zh-CN" sz="1800">
                <a:latin typeface="Arial" panose="020B0604020202020204" pitchFamily="34" charset="0"/>
                <a:ea typeface="宋体" panose="02010600030101010101" pitchFamily="2" charset="-122"/>
              </a:rPr>
              <a:t>ALU</a:t>
            </a:r>
            <a:r>
              <a:rPr lang="zh-CN" altLang="en-US" sz="1800" dirty="0">
                <a:latin typeface="Arial" panose="020B0604020202020204" pitchFamily="34" charset="0"/>
                <a:ea typeface="宋体" panose="02010600030101010101" pitchFamily="2" charset="-122"/>
              </a:rPr>
              <a:t>局控）。</a:t>
            </a:r>
            <a:endParaRPr lang="zh-CN" altLang="en-US" sz="1800" dirty="0">
              <a:latin typeface="Arial" panose="020B0604020202020204" pitchFamily="34" charset="0"/>
              <a:ea typeface="宋体" panose="02010600030101010101" pitchFamily="2" charset="-122"/>
            </a:endParaRPr>
          </a:p>
        </p:txBody>
      </p:sp>
      <p:sp>
        <p:nvSpPr>
          <p:cNvPr id="270477" name="文本框 270476"/>
          <p:cNvSpPr txBox="1"/>
          <p:nvPr/>
        </p:nvSpPr>
        <p:spPr>
          <a:xfrm>
            <a:off x="7623175" y="4725988"/>
            <a:ext cx="1304925" cy="2014537"/>
          </a:xfrm>
          <a:prstGeom prst="rect">
            <a:avLst/>
          </a:prstGeom>
          <a:noFill/>
          <a:ln w="50800">
            <a:noFill/>
          </a:ln>
        </p:spPr>
        <p:txBody>
          <a:bodyPr anchor="t" anchorCtr="0">
            <a:spAutoFit/>
          </a:bodyPr>
          <a:p>
            <a:pPr eaLnBrk="0" hangingPunct="0">
              <a:spcBef>
                <a:spcPct val="50000"/>
              </a:spcBef>
            </a:pPr>
            <a:r>
              <a:rPr lang="en-US" altLang="zh-CN" sz="1800" dirty="0" err="1">
                <a:latin typeface="Arial" panose="020B0604020202020204" pitchFamily="34" charset="0"/>
                <a:ea typeface="宋体" panose="02010600030101010101" pitchFamily="2" charset="-122"/>
              </a:rPr>
              <a:t>ALUctr</a:t>
            </a:r>
            <a:r>
              <a:rPr lang="zh-CN" altLang="en-US" sz="1800" dirty="0">
                <a:latin typeface="Arial" panose="020B0604020202020204" pitchFamily="34" charset="0"/>
                <a:ea typeface="宋体" panose="02010600030101010101" pitchFamily="2" charset="-122"/>
              </a:rPr>
              <a:t>的值取决于</a:t>
            </a:r>
            <a:r>
              <a:rPr lang="en-US" altLang="zh-CN" sz="1800" dirty="0" err="1">
                <a:latin typeface="Arial" panose="020B0604020202020204" pitchFamily="34" charset="0"/>
                <a:ea typeface="宋体" panose="02010600030101010101" pitchFamily="2" charset="-122"/>
              </a:rPr>
              <a:t>ALUop</a:t>
            </a:r>
            <a:r>
              <a:rPr lang="zh-CN" altLang="en-US" sz="1800" dirty="0">
                <a:latin typeface="Arial" panose="020B0604020202020204" pitchFamily="34" charset="0"/>
                <a:ea typeface="宋体" panose="02010600030101010101" pitchFamily="2" charset="-122"/>
              </a:rPr>
              <a:t>和</a:t>
            </a:r>
            <a:r>
              <a:rPr lang="en-US" altLang="zh-CN" sz="1800" dirty="0" err="1">
                <a:latin typeface="Arial" panose="020B0604020202020204" pitchFamily="34" charset="0"/>
                <a:ea typeface="宋体" panose="02010600030101010101" pitchFamily="2" charset="-122"/>
              </a:rPr>
              <a:t>func</a:t>
            </a:r>
            <a:r>
              <a:rPr lang="zh-CN" altLang="en-US" sz="1800" dirty="0">
                <a:latin typeface="Arial" panose="020B0604020202020204" pitchFamily="34" charset="0"/>
                <a:ea typeface="宋体" panose="02010600030101010101" pitchFamily="2" charset="-122"/>
              </a:rPr>
              <a:t>，其他控制信号仅取决于</a:t>
            </a:r>
            <a:r>
              <a:rPr lang="en-US" altLang="zh-CN" sz="1800">
                <a:latin typeface="Arial" panose="020B0604020202020204" pitchFamily="34" charset="0"/>
                <a:ea typeface="宋体" panose="02010600030101010101" pitchFamily="2" charset="-122"/>
              </a:rPr>
              <a:t>op</a:t>
            </a:r>
            <a:r>
              <a:rPr lang="zh-CN" altLang="en-US" sz="1800" dirty="0">
                <a:latin typeface="Arial" panose="020B0604020202020204" pitchFamily="34" charset="0"/>
                <a:ea typeface="宋体" panose="02010600030101010101" pitchFamily="2" charset="-122"/>
              </a:rPr>
              <a:t>。</a:t>
            </a:r>
            <a:endParaRPr lang="zh-CN" altLang="en-US" sz="1800" dirty="0">
              <a:latin typeface="Arial" panose="020B0604020202020204" pitchFamily="34" charset="0"/>
              <a:ea typeface="宋体" panose="02010600030101010101" pitchFamily="2" charset="-122"/>
            </a:endParaRPr>
          </a:p>
        </p:txBody>
      </p:sp>
      <p:sp>
        <p:nvSpPr>
          <p:cNvPr id="270478" name="文本框 270477"/>
          <p:cNvSpPr txBox="1"/>
          <p:nvPr/>
        </p:nvSpPr>
        <p:spPr>
          <a:xfrm>
            <a:off x="412750" y="5940425"/>
            <a:ext cx="5505450" cy="396875"/>
          </a:xfrm>
          <a:prstGeom prst="rect">
            <a:avLst/>
          </a:prstGeom>
          <a:noFill/>
          <a:ln w="50800">
            <a:noFill/>
          </a:ln>
        </p:spPr>
        <p:txBody>
          <a:bodyPr anchor="t" anchorCtr="0">
            <a:spAutoFit/>
          </a:bodyPr>
          <a:p>
            <a:pPr eaLnBrk="0" hangingPunct="0">
              <a:spcBef>
                <a:spcPct val="50000"/>
              </a:spcBef>
            </a:pPr>
            <a:r>
              <a:rPr lang="en-US" altLang="zh-CN" sz="2000" b="0" dirty="0" err="1">
                <a:solidFill>
                  <a:schemeClr val="accent2"/>
                </a:solidFill>
                <a:latin typeface="Arial" panose="020B0604020202020204" pitchFamily="34" charset="0"/>
                <a:ea typeface="黑体" panose="02010609060101010101" pitchFamily="49" charset="-122"/>
              </a:rPr>
              <a:t>ALUop</a:t>
            </a:r>
            <a:r>
              <a:rPr lang="zh-CN" altLang="en-US" sz="2000" b="0" dirty="0">
                <a:solidFill>
                  <a:schemeClr val="accent2"/>
                </a:solidFill>
                <a:latin typeface="Arial" panose="020B0604020202020204" pitchFamily="34" charset="0"/>
                <a:ea typeface="黑体" panose="02010609060101010101" pitchFamily="49" charset="-122"/>
              </a:rPr>
              <a:t>有</a:t>
            </a:r>
            <a:r>
              <a:rPr lang="en-US" altLang="zh-CN" sz="2000" b="0">
                <a:solidFill>
                  <a:schemeClr val="accent2"/>
                </a:solidFill>
                <a:latin typeface="Arial" panose="020B0604020202020204" pitchFamily="34" charset="0"/>
                <a:ea typeface="黑体" panose="02010609060101010101" pitchFamily="49" charset="-122"/>
              </a:rPr>
              <a:t>5</a:t>
            </a:r>
            <a:r>
              <a:rPr lang="zh-CN" altLang="en-US" sz="2000" b="0" dirty="0">
                <a:solidFill>
                  <a:schemeClr val="accent2"/>
                </a:solidFill>
                <a:latin typeface="Arial" panose="020B0604020202020204" pitchFamily="34" charset="0"/>
                <a:ea typeface="黑体" panose="02010609060101010101" pitchFamily="49" charset="-122"/>
              </a:rPr>
              <a:t>种情况，</a:t>
            </a:r>
            <a:r>
              <a:rPr lang="en-US" altLang="zh-CN" sz="2000" b="0">
                <a:solidFill>
                  <a:schemeClr val="accent2"/>
                </a:solidFill>
                <a:latin typeface="Arial" panose="020B0604020202020204" pitchFamily="34" charset="0"/>
                <a:ea typeface="黑体" panose="02010609060101010101" pitchFamily="49" charset="-122"/>
              </a:rPr>
              <a:t>N</a:t>
            </a:r>
            <a:r>
              <a:rPr lang="zh-CN" altLang="en-US" sz="2000" b="0" dirty="0">
                <a:solidFill>
                  <a:schemeClr val="accent2"/>
                </a:solidFill>
                <a:latin typeface="Arial" panose="020B0604020202020204" pitchFamily="34" charset="0"/>
                <a:ea typeface="黑体" panose="02010609060101010101" pitchFamily="49" charset="-122"/>
              </a:rPr>
              <a:t>至少应为</a:t>
            </a:r>
            <a:r>
              <a:rPr lang="en-US" altLang="zh-CN" sz="2000" b="0">
                <a:solidFill>
                  <a:schemeClr val="accent2"/>
                </a:solidFill>
                <a:latin typeface="Arial" panose="020B0604020202020204" pitchFamily="34" charset="0"/>
                <a:ea typeface="黑体" panose="02010609060101010101" pitchFamily="49" charset="-122"/>
              </a:rPr>
              <a:t>3</a:t>
            </a:r>
            <a:r>
              <a:rPr lang="zh-CN" altLang="en-US" sz="2000" b="0" dirty="0">
                <a:solidFill>
                  <a:schemeClr val="accent2"/>
                </a:solidFill>
                <a:latin typeface="Arial" panose="020B0604020202020204" pitchFamily="34" charset="0"/>
                <a:ea typeface="黑体" panose="02010609060101010101" pitchFamily="49" charset="-122"/>
              </a:rPr>
              <a:t>！哪</a:t>
            </a:r>
            <a:r>
              <a:rPr lang="en-US" altLang="zh-CN" sz="2000" b="0">
                <a:solidFill>
                  <a:schemeClr val="accent2"/>
                </a:solidFill>
                <a:latin typeface="Arial" panose="020B0604020202020204" pitchFamily="34" charset="0"/>
                <a:ea typeface="黑体" panose="02010609060101010101" pitchFamily="49" charset="-122"/>
              </a:rPr>
              <a:t>5</a:t>
            </a:r>
            <a:r>
              <a:rPr lang="zh-CN" altLang="en-US" sz="2000" b="0" dirty="0">
                <a:solidFill>
                  <a:schemeClr val="accent2"/>
                </a:solidFill>
                <a:latin typeface="Arial" panose="020B0604020202020204" pitchFamily="34" charset="0"/>
                <a:ea typeface="黑体" panose="02010609060101010101" pitchFamily="49" charset="-122"/>
              </a:rPr>
              <a:t>种？</a:t>
            </a:r>
            <a:endParaRPr lang="zh-CN" altLang="en-US" sz="2000" b="0" dirty="0">
              <a:solidFill>
                <a:schemeClr val="accent2"/>
              </a:solidFill>
              <a:latin typeface="Arial" panose="020B0604020202020204" pitchFamily="34" charset="0"/>
              <a:ea typeface="黑体" panose="02010609060101010101" pitchFamily="49" charset="-122"/>
            </a:endParaRPr>
          </a:p>
        </p:txBody>
      </p:sp>
      <p:sp>
        <p:nvSpPr>
          <p:cNvPr id="270480" name="文本框 270479"/>
          <p:cNvSpPr txBox="1"/>
          <p:nvPr/>
        </p:nvSpPr>
        <p:spPr>
          <a:xfrm>
            <a:off x="2000250" y="6305550"/>
            <a:ext cx="3648075" cy="396875"/>
          </a:xfrm>
          <a:prstGeom prst="rect">
            <a:avLst/>
          </a:prstGeom>
          <a:noFill/>
          <a:ln w="50800">
            <a:noFill/>
          </a:ln>
        </p:spPr>
        <p:txBody>
          <a:bodyPr anchor="t" anchorCtr="0">
            <a:spAutoFit/>
          </a:bodyPr>
          <a:p>
            <a:pPr eaLnBrk="0" hangingPunct="0">
              <a:spcBef>
                <a:spcPct val="50000"/>
              </a:spcBef>
            </a:pPr>
            <a:r>
              <a:rPr lang="en-US" altLang="zh-CN" sz="2000">
                <a:latin typeface="Arial" panose="020B0604020202020204" pitchFamily="34" charset="0"/>
                <a:ea typeface="宋体" panose="02010600030101010101" pitchFamily="2" charset="-122"/>
              </a:rPr>
              <a:t>R</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I-</a:t>
            </a:r>
            <a:r>
              <a:rPr lang="en-US" altLang="zh-CN" sz="2000" dirty="0" err="1">
                <a:latin typeface="Arial" panose="020B0604020202020204" pitchFamily="34" charset="0"/>
                <a:ea typeface="宋体" panose="02010600030101010101" pitchFamily="2" charset="-122"/>
              </a:rPr>
              <a:t>ori</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I-</a:t>
            </a:r>
            <a:r>
              <a:rPr lang="en-US" altLang="zh-CN" sz="2000" dirty="0" err="1">
                <a:latin typeface="Arial" panose="020B0604020202020204" pitchFamily="34" charset="0"/>
                <a:ea typeface="宋体" panose="02010600030101010101" pitchFamily="2" charset="-122"/>
              </a:rPr>
              <a:t>lw/sw</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I-</a:t>
            </a:r>
            <a:r>
              <a:rPr lang="en-US" altLang="zh-CN" sz="2000" dirty="0" err="1">
                <a:latin typeface="Arial" panose="020B0604020202020204" pitchFamily="34" charset="0"/>
                <a:ea typeface="宋体" panose="02010600030101010101" pitchFamily="2" charset="-122"/>
              </a:rPr>
              <a:t>beq</a:t>
            </a:r>
            <a:r>
              <a:rPr lang="zh-CN" altLang="en-US" sz="2000" dirty="0">
                <a:latin typeface="Arial" panose="020B0604020202020204" pitchFamily="34" charset="0"/>
                <a:ea typeface="宋体" panose="02010600030101010101" pitchFamily="2" charset="-122"/>
              </a:rPr>
              <a:t>、</a:t>
            </a:r>
            <a:r>
              <a:rPr lang="en-US" altLang="zh-CN" sz="2000">
                <a:latin typeface="Arial" panose="020B0604020202020204" pitchFamily="34" charset="0"/>
                <a:ea typeface="宋体" panose="02010600030101010101" pitchFamily="2" charset="-122"/>
              </a:rPr>
              <a:t>J</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0479"/>
                                        </p:tgtEl>
                                        <p:attrNameLst>
                                          <p:attrName>style.visibility</p:attrName>
                                        </p:attrNameLst>
                                      </p:cBhvr>
                                      <p:to>
                                        <p:strVal val="visible"/>
                                      </p:to>
                                    </p:set>
                                    <p:animEffect transition="in" filter="blinds(horizontal)">
                                      <p:cBhvr>
                                        <p:cTn id="7" dur="500"/>
                                        <p:tgtEl>
                                          <p:spTgt spid="2704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0477"/>
                                        </p:tgtEl>
                                        <p:attrNameLst>
                                          <p:attrName>style.visibility</p:attrName>
                                        </p:attrNameLst>
                                      </p:cBhvr>
                                      <p:to>
                                        <p:strVal val="visible"/>
                                      </p:to>
                                    </p:set>
                                    <p:animEffect transition="in" filter="blinds(horizontal)">
                                      <p:cBhvr>
                                        <p:cTn id="12" dur="500"/>
                                        <p:tgtEl>
                                          <p:spTgt spid="2704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0478"/>
                                        </p:tgtEl>
                                        <p:attrNameLst>
                                          <p:attrName>style.visibility</p:attrName>
                                        </p:attrNameLst>
                                      </p:cBhvr>
                                      <p:to>
                                        <p:strVal val="visible"/>
                                      </p:to>
                                    </p:set>
                                    <p:animEffect transition="in" filter="blinds(horizontal)">
                                      <p:cBhvr>
                                        <p:cTn id="17" dur="500"/>
                                        <p:tgtEl>
                                          <p:spTgt spid="27047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0480"/>
                                        </p:tgtEl>
                                        <p:attrNameLst>
                                          <p:attrName>style.visibility</p:attrName>
                                        </p:attrNameLst>
                                      </p:cBhvr>
                                      <p:to>
                                        <p:strVal val="visible"/>
                                      </p:to>
                                    </p:set>
                                    <p:animEffect transition="in" filter="blinds(horizontal)">
                                      <p:cBhvr>
                                        <p:cTn id="22" dur="500"/>
                                        <p:tgtEl>
                                          <p:spTgt spid="270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477" grpId="0"/>
      <p:bldP spid="270478" grpId="0"/>
      <p:bldP spid="27048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272385"/>
          <p:cNvSpPr>
            <a:spLocks noGrp="1"/>
          </p:cNvSpPr>
          <p:nvPr>
            <p:ph type="title"/>
          </p:nvPr>
        </p:nvSpPr>
        <p:spPr>
          <a:xfrm>
            <a:off x="800100" y="228600"/>
            <a:ext cx="7021513" cy="422275"/>
          </a:xfrm>
          <a:ln/>
        </p:spPr>
        <p:txBody>
          <a:bodyPr vert="horz" wrap="square" lIns="63500" tIns="25400" rIns="63500" bIns="25400" anchor="t" anchorCtr="0">
            <a:spAutoFit/>
          </a:bodyPr>
          <a:p>
            <a:r>
              <a:rPr lang="en-US" altLang="zh-CN" dirty="0" err="1">
                <a:ea typeface="宋体" panose="02010600030101010101" pitchFamily="2" charset="-122"/>
              </a:rPr>
              <a:t>ALUop</a:t>
            </a:r>
            <a:r>
              <a:rPr lang="zh-CN" altLang="en-US" dirty="0">
                <a:ea typeface="宋体" panose="02010600030101010101" pitchFamily="2" charset="-122"/>
              </a:rPr>
              <a:t>和“</a:t>
            </a:r>
            <a:r>
              <a:rPr lang="en-US" altLang="zh-CN" dirty="0" err="1">
                <a:ea typeface="宋体" panose="02010600030101010101" pitchFamily="2" charset="-122"/>
              </a:rPr>
              <a:t>func</a:t>
            </a:r>
            <a:r>
              <a:rPr lang="en-US" altLang="zh-CN">
                <a:ea typeface="宋体" panose="02010600030101010101" pitchFamily="2" charset="-122"/>
              </a:rPr>
              <a:t>”</a:t>
            </a:r>
            <a:r>
              <a:rPr lang="zh-CN" altLang="en-US" dirty="0">
                <a:ea typeface="宋体" panose="02010600030101010101" pitchFamily="2" charset="-122"/>
              </a:rPr>
              <a:t>字段的译码</a:t>
            </a:r>
            <a:endParaRPr lang="zh-CN" altLang="en-US" dirty="0">
              <a:ea typeface="宋体" panose="02010600030101010101" pitchFamily="2" charset="-122"/>
            </a:endParaRPr>
          </a:p>
        </p:txBody>
      </p:sp>
      <p:grpSp>
        <p:nvGrpSpPr>
          <p:cNvPr id="272387" name="组合 272386"/>
          <p:cNvGrpSpPr/>
          <p:nvPr/>
        </p:nvGrpSpPr>
        <p:grpSpPr>
          <a:xfrm>
            <a:off x="1052513" y="2082800"/>
            <a:ext cx="7177087" cy="971550"/>
            <a:chOff x="663" y="1432"/>
            <a:chExt cx="4521" cy="612"/>
          </a:xfrm>
        </p:grpSpPr>
        <p:sp>
          <p:nvSpPr>
            <p:cNvPr id="132099" name="矩形 272387"/>
            <p:cNvSpPr/>
            <p:nvPr/>
          </p:nvSpPr>
          <p:spPr>
            <a:xfrm>
              <a:off x="2055" y="1440"/>
              <a:ext cx="51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R-type</a:t>
              </a:r>
              <a:endParaRPr lang="en-US" altLang="zh-CN">
                <a:latin typeface="Arial" panose="020B0604020202020204" pitchFamily="34" charset="0"/>
                <a:ea typeface="宋体" panose="02010600030101010101" pitchFamily="2" charset="-122"/>
              </a:endParaRPr>
            </a:p>
          </p:txBody>
        </p:sp>
        <p:sp>
          <p:nvSpPr>
            <p:cNvPr id="132100" name="矩形 272388"/>
            <p:cNvSpPr/>
            <p:nvPr/>
          </p:nvSpPr>
          <p:spPr>
            <a:xfrm>
              <a:off x="2871" y="1440"/>
              <a:ext cx="278"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ori</a:t>
              </a:r>
              <a:endParaRPr lang="en-US" altLang="zh-CN">
                <a:latin typeface="Arial" panose="020B0604020202020204" pitchFamily="34" charset="0"/>
                <a:ea typeface="宋体" panose="02010600030101010101" pitchFamily="2" charset="-122"/>
              </a:endParaRPr>
            </a:p>
          </p:txBody>
        </p:sp>
        <p:sp>
          <p:nvSpPr>
            <p:cNvPr id="132101" name="矩形 272389"/>
            <p:cNvSpPr/>
            <p:nvPr/>
          </p:nvSpPr>
          <p:spPr>
            <a:xfrm>
              <a:off x="3351" y="1440"/>
              <a:ext cx="250"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lw</a:t>
              </a:r>
              <a:endParaRPr lang="en-US" altLang="zh-CN">
                <a:latin typeface="Arial" panose="020B0604020202020204" pitchFamily="34" charset="0"/>
                <a:ea typeface="宋体" panose="02010600030101010101" pitchFamily="2" charset="-122"/>
              </a:endParaRPr>
            </a:p>
          </p:txBody>
        </p:sp>
        <p:sp>
          <p:nvSpPr>
            <p:cNvPr id="132102" name="矩形 272390"/>
            <p:cNvSpPr/>
            <p:nvPr/>
          </p:nvSpPr>
          <p:spPr>
            <a:xfrm>
              <a:off x="3831" y="1440"/>
              <a:ext cx="28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sw</a:t>
              </a:r>
              <a:endParaRPr lang="en-US" altLang="zh-CN">
                <a:latin typeface="Arial" panose="020B0604020202020204" pitchFamily="34" charset="0"/>
                <a:ea typeface="宋体" panose="02010600030101010101" pitchFamily="2" charset="-122"/>
              </a:endParaRPr>
            </a:p>
          </p:txBody>
        </p:sp>
        <p:sp>
          <p:nvSpPr>
            <p:cNvPr id="132103" name="矩形 272391"/>
            <p:cNvSpPr/>
            <p:nvPr/>
          </p:nvSpPr>
          <p:spPr>
            <a:xfrm>
              <a:off x="4311" y="1440"/>
              <a:ext cx="341"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beq</a:t>
              </a:r>
              <a:endParaRPr lang="en-US" altLang="zh-CN">
                <a:latin typeface="Arial" panose="020B0604020202020204" pitchFamily="34" charset="0"/>
                <a:ea typeface="宋体" panose="02010600030101010101" pitchFamily="2" charset="-122"/>
              </a:endParaRPr>
            </a:p>
          </p:txBody>
        </p:sp>
        <p:sp>
          <p:nvSpPr>
            <p:cNvPr id="132104" name="矩形 272392"/>
            <p:cNvSpPr/>
            <p:nvPr/>
          </p:nvSpPr>
          <p:spPr>
            <a:xfrm>
              <a:off x="4743" y="1440"/>
              <a:ext cx="42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jump</a:t>
              </a:r>
              <a:endParaRPr lang="en-US" altLang="zh-CN">
                <a:latin typeface="Arial" panose="020B0604020202020204" pitchFamily="34" charset="0"/>
                <a:ea typeface="宋体" panose="02010600030101010101" pitchFamily="2" charset="-122"/>
              </a:endParaRPr>
            </a:p>
          </p:txBody>
        </p:sp>
        <p:sp>
          <p:nvSpPr>
            <p:cNvPr id="132105" name="直接连接符 272393"/>
            <p:cNvSpPr/>
            <p:nvPr/>
          </p:nvSpPr>
          <p:spPr>
            <a:xfrm>
              <a:off x="680" y="1824"/>
              <a:ext cx="4496" cy="0"/>
            </a:xfrm>
            <a:prstGeom prst="line">
              <a:avLst/>
            </a:prstGeom>
            <a:ln w="25400" cap="flat" cmpd="sng">
              <a:solidFill>
                <a:schemeClr val="tx1"/>
              </a:solidFill>
              <a:prstDash val="solid"/>
              <a:round/>
              <a:headEnd type="none" w="med" len="med"/>
              <a:tailEnd type="none" w="med" len="med"/>
            </a:ln>
          </p:spPr>
        </p:sp>
        <p:sp>
          <p:nvSpPr>
            <p:cNvPr id="132106" name="直接连接符 272394"/>
            <p:cNvSpPr/>
            <p:nvPr/>
          </p:nvSpPr>
          <p:spPr>
            <a:xfrm>
              <a:off x="680" y="1632"/>
              <a:ext cx="4496" cy="0"/>
            </a:xfrm>
            <a:prstGeom prst="line">
              <a:avLst/>
            </a:prstGeom>
            <a:ln w="25400" cap="flat" cmpd="sng">
              <a:solidFill>
                <a:schemeClr val="tx1"/>
              </a:solidFill>
              <a:prstDash val="solid"/>
              <a:round/>
              <a:headEnd type="none" w="med" len="med"/>
              <a:tailEnd type="none" w="med" len="med"/>
            </a:ln>
          </p:spPr>
        </p:sp>
        <p:sp>
          <p:nvSpPr>
            <p:cNvPr id="132107" name="直接连接符 272395"/>
            <p:cNvSpPr/>
            <p:nvPr/>
          </p:nvSpPr>
          <p:spPr>
            <a:xfrm>
              <a:off x="680" y="1440"/>
              <a:ext cx="4496" cy="0"/>
            </a:xfrm>
            <a:prstGeom prst="line">
              <a:avLst/>
            </a:prstGeom>
            <a:ln w="25400" cap="flat" cmpd="sng">
              <a:solidFill>
                <a:schemeClr val="tx1"/>
              </a:solidFill>
              <a:prstDash val="solid"/>
              <a:round/>
              <a:headEnd type="none" w="med" len="med"/>
              <a:tailEnd type="none" w="med" len="med"/>
            </a:ln>
          </p:spPr>
        </p:sp>
        <p:sp>
          <p:nvSpPr>
            <p:cNvPr id="132108" name="直接连接符 272396"/>
            <p:cNvSpPr/>
            <p:nvPr/>
          </p:nvSpPr>
          <p:spPr>
            <a:xfrm flipV="1">
              <a:off x="672" y="1432"/>
              <a:ext cx="0" cy="592"/>
            </a:xfrm>
            <a:prstGeom prst="line">
              <a:avLst/>
            </a:prstGeom>
            <a:ln w="25400" cap="flat" cmpd="sng">
              <a:solidFill>
                <a:schemeClr val="tx1"/>
              </a:solidFill>
              <a:prstDash val="solid"/>
              <a:round/>
              <a:headEnd type="none" w="med" len="med"/>
              <a:tailEnd type="none" w="med" len="med"/>
            </a:ln>
          </p:spPr>
        </p:sp>
        <p:sp>
          <p:nvSpPr>
            <p:cNvPr id="132109" name="直接连接符 272397"/>
            <p:cNvSpPr/>
            <p:nvPr/>
          </p:nvSpPr>
          <p:spPr>
            <a:xfrm>
              <a:off x="680" y="2016"/>
              <a:ext cx="4496" cy="0"/>
            </a:xfrm>
            <a:prstGeom prst="line">
              <a:avLst/>
            </a:prstGeom>
            <a:ln w="25400" cap="flat" cmpd="sng">
              <a:solidFill>
                <a:schemeClr val="tx1"/>
              </a:solidFill>
              <a:prstDash val="solid"/>
              <a:round/>
              <a:headEnd type="none" w="med" len="med"/>
              <a:tailEnd type="none" w="med" len="med"/>
            </a:ln>
          </p:spPr>
        </p:sp>
        <p:sp>
          <p:nvSpPr>
            <p:cNvPr id="132110" name="直接连接符 272398"/>
            <p:cNvSpPr/>
            <p:nvPr/>
          </p:nvSpPr>
          <p:spPr>
            <a:xfrm flipV="1">
              <a:off x="1824" y="1432"/>
              <a:ext cx="0" cy="592"/>
            </a:xfrm>
            <a:prstGeom prst="line">
              <a:avLst/>
            </a:prstGeom>
            <a:ln w="25400" cap="flat" cmpd="sng">
              <a:solidFill>
                <a:schemeClr val="tx1"/>
              </a:solidFill>
              <a:prstDash val="solid"/>
              <a:round/>
              <a:headEnd type="none" w="med" len="med"/>
              <a:tailEnd type="none" w="med" len="med"/>
            </a:ln>
          </p:spPr>
        </p:sp>
        <p:sp>
          <p:nvSpPr>
            <p:cNvPr id="132111" name="直接连接符 272399"/>
            <p:cNvSpPr/>
            <p:nvPr/>
          </p:nvSpPr>
          <p:spPr>
            <a:xfrm flipV="1">
              <a:off x="2784" y="1432"/>
              <a:ext cx="0" cy="592"/>
            </a:xfrm>
            <a:prstGeom prst="line">
              <a:avLst/>
            </a:prstGeom>
            <a:ln w="25400" cap="flat" cmpd="sng">
              <a:solidFill>
                <a:schemeClr val="tx1"/>
              </a:solidFill>
              <a:prstDash val="solid"/>
              <a:round/>
              <a:headEnd type="none" w="med" len="med"/>
              <a:tailEnd type="none" w="med" len="med"/>
            </a:ln>
          </p:spPr>
        </p:sp>
        <p:sp>
          <p:nvSpPr>
            <p:cNvPr id="132112" name="直接连接符 272400"/>
            <p:cNvSpPr/>
            <p:nvPr/>
          </p:nvSpPr>
          <p:spPr>
            <a:xfrm flipV="1">
              <a:off x="3264" y="1432"/>
              <a:ext cx="0" cy="592"/>
            </a:xfrm>
            <a:prstGeom prst="line">
              <a:avLst/>
            </a:prstGeom>
            <a:ln w="25400" cap="flat" cmpd="sng">
              <a:solidFill>
                <a:schemeClr val="tx1"/>
              </a:solidFill>
              <a:prstDash val="solid"/>
              <a:round/>
              <a:headEnd type="none" w="med" len="med"/>
              <a:tailEnd type="none" w="med" len="med"/>
            </a:ln>
          </p:spPr>
        </p:sp>
        <p:sp>
          <p:nvSpPr>
            <p:cNvPr id="132113" name="直接连接符 272401"/>
            <p:cNvSpPr/>
            <p:nvPr/>
          </p:nvSpPr>
          <p:spPr>
            <a:xfrm flipV="1">
              <a:off x="3744" y="1432"/>
              <a:ext cx="0" cy="592"/>
            </a:xfrm>
            <a:prstGeom prst="line">
              <a:avLst/>
            </a:prstGeom>
            <a:ln w="25400" cap="flat" cmpd="sng">
              <a:solidFill>
                <a:schemeClr val="tx1"/>
              </a:solidFill>
              <a:prstDash val="solid"/>
              <a:round/>
              <a:headEnd type="none" w="med" len="med"/>
              <a:tailEnd type="none" w="med" len="med"/>
            </a:ln>
          </p:spPr>
        </p:sp>
        <p:sp>
          <p:nvSpPr>
            <p:cNvPr id="132114" name="直接连接符 272402"/>
            <p:cNvSpPr/>
            <p:nvPr/>
          </p:nvSpPr>
          <p:spPr>
            <a:xfrm flipV="1">
              <a:off x="4224" y="1432"/>
              <a:ext cx="0" cy="592"/>
            </a:xfrm>
            <a:prstGeom prst="line">
              <a:avLst/>
            </a:prstGeom>
            <a:ln w="25400" cap="flat" cmpd="sng">
              <a:solidFill>
                <a:schemeClr val="tx1"/>
              </a:solidFill>
              <a:prstDash val="solid"/>
              <a:round/>
              <a:headEnd type="none" w="med" len="med"/>
              <a:tailEnd type="none" w="med" len="med"/>
            </a:ln>
          </p:spPr>
        </p:sp>
        <p:sp>
          <p:nvSpPr>
            <p:cNvPr id="132115" name="直接连接符 272403"/>
            <p:cNvSpPr/>
            <p:nvPr/>
          </p:nvSpPr>
          <p:spPr>
            <a:xfrm flipV="1">
              <a:off x="4704" y="1432"/>
              <a:ext cx="0" cy="592"/>
            </a:xfrm>
            <a:prstGeom prst="line">
              <a:avLst/>
            </a:prstGeom>
            <a:ln w="25400" cap="flat" cmpd="sng">
              <a:solidFill>
                <a:schemeClr val="tx1"/>
              </a:solidFill>
              <a:prstDash val="solid"/>
              <a:round/>
              <a:headEnd type="none" w="med" len="med"/>
              <a:tailEnd type="none" w="med" len="med"/>
            </a:ln>
          </p:spPr>
        </p:sp>
        <p:sp>
          <p:nvSpPr>
            <p:cNvPr id="132116" name="直接连接符 272404"/>
            <p:cNvSpPr/>
            <p:nvPr/>
          </p:nvSpPr>
          <p:spPr>
            <a:xfrm flipV="1">
              <a:off x="5184" y="1432"/>
              <a:ext cx="0" cy="592"/>
            </a:xfrm>
            <a:prstGeom prst="line">
              <a:avLst/>
            </a:prstGeom>
            <a:ln w="25400" cap="flat" cmpd="sng">
              <a:solidFill>
                <a:schemeClr val="tx1"/>
              </a:solidFill>
              <a:prstDash val="solid"/>
              <a:round/>
              <a:headEnd type="none" w="med" len="med"/>
              <a:tailEnd type="none" w="med" len="med"/>
            </a:ln>
          </p:spPr>
        </p:sp>
        <p:sp>
          <p:nvSpPr>
            <p:cNvPr id="132117" name="矩形 272405"/>
            <p:cNvSpPr/>
            <p:nvPr/>
          </p:nvSpPr>
          <p:spPr>
            <a:xfrm>
              <a:off x="663" y="1632"/>
              <a:ext cx="1219"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ALUop</a:t>
              </a:r>
              <a:r>
                <a:rPr lang="en-US" altLang="zh-CN">
                  <a:latin typeface="Times New Roman" panose="02020603050405020304" pitchFamily="18" charset="0"/>
                  <a:ea typeface="宋体" panose="02010600030101010101" pitchFamily="2" charset="-122"/>
                </a:rPr>
                <a:t> (</a:t>
              </a:r>
              <a:r>
                <a:rPr lang="en-US" altLang="zh-CN">
                  <a:latin typeface="Arial" panose="020B0604020202020204" pitchFamily="34" charset="0"/>
                  <a:ea typeface="宋体" panose="02010600030101010101" pitchFamily="2" charset="-122"/>
                </a:rPr>
                <a:t>Symbolic</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132118" name="矩形 272406"/>
            <p:cNvSpPr/>
            <p:nvPr/>
          </p:nvSpPr>
          <p:spPr>
            <a:xfrm>
              <a:off x="2034" y="1632"/>
              <a:ext cx="626"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a:t>
              </a:r>
              <a:r>
                <a:rPr lang="en-US" altLang="zh-CN">
                  <a:latin typeface="Arial" panose="020B0604020202020204" pitchFamily="34" charset="0"/>
                  <a:ea typeface="宋体" panose="02010600030101010101" pitchFamily="2" charset="-122"/>
                </a:rPr>
                <a:t>R-type</a:t>
              </a:r>
              <a:r>
                <a:rPr lang="en-US" altLang="zh-CN" b="0">
                  <a:latin typeface="Times New Roman" panose="02020603050405020304" pitchFamily="18" charset="0"/>
                  <a:ea typeface="宋体" panose="02010600030101010101" pitchFamily="2" charset="-122"/>
                </a:rPr>
                <a:t>”</a:t>
              </a:r>
              <a:endParaRPr lang="en-US" altLang="zh-CN" b="0">
                <a:latin typeface="Times New Roman" panose="02020603050405020304" pitchFamily="18" charset="0"/>
                <a:ea typeface="宋体" panose="02010600030101010101" pitchFamily="2" charset="-122"/>
              </a:endParaRPr>
            </a:p>
          </p:txBody>
        </p:sp>
        <p:sp>
          <p:nvSpPr>
            <p:cNvPr id="132119" name="矩形 272407"/>
            <p:cNvSpPr/>
            <p:nvPr/>
          </p:nvSpPr>
          <p:spPr>
            <a:xfrm>
              <a:off x="2871" y="1632"/>
              <a:ext cx="264"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Or</a:t>
              </a:r>
              <a:endParaRPr lang="en-US" altLang="zh-CN">
                <a:latin typeface="Arial" panose="020B0604020202020204" pitchFamily="34" charset="0"/>
                <a:ea typeface="宋体" panose="02010600030101010101" pitchFamily="2" charset="-122"/>
              </a:endParaRPr>
            </a:p>
          </p:txBody>
        </p:sp>
        <p:sp>
          <p:nvSpPr>
            <p:cNvPr id="132120" name="矩形 272408"/>
            <p:cNvSpPr/>
            <p:nvPr/>
          </p:nvSpPr>
          <p:spPr>
            <a:xfrm>
              <a:off x="3351" y="1632"/>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32121" name="矩形 272409"/>
            <p:cNvSpPr/>
            <p:nvPr/>
          </p:nvSpPr>
          <p:spPr>
            <a:xfrm>
              <a:off x="3831" y="1632"/>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32122" name="矩形 272410"/>
            <p:cNvSpPr/>
            <p:nvPr/>
          </p:nvSpPr>
          <p:spPr>
            <a:xfrm>
              <a:off x="4193" y="1642"/>
              <a:ext cx="484"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 </a:t>
              </a:r>
              <a:r>
                <a:rPr lang="en-US" altLang="zh-CN" dirty="0" err="1">
                  <a:latin typeface="Arial" panose="020B0604020202020204" pitchFamily="34" charset="0"/>
                  <a:ea typeface="宋体" panose="02010600030101010101" pitchFamily="2" charset="-122"/>
                </a:rPr>
                <a:t>Subtr</a:t>
              </a:r>
              <a:endParaRPr lang="en-US" altLang="zh-CN">
                <a:latin typeface="Arial" panose="020B0604020202020204" pitchFamily="34" charset="0"/>
                <a:ea typeface="宋体" panose="02010600030101010101" pitchFamily="2" charset="-122"/>
              </a:endParaRPr>
            </a:p>
          </p:txBody>
        </p:sp>
        <p:sp>
          <p:nvSpPr>
            <p:cNvPr id="132123" name="矩形 272411"/>
            <p:cNvSpPr/>
            <p:nvPr/>
          </p:nvSpPr>
          <p:spPr>
            <a:xfrm>
              <a:off x="4791" y="1632"/>
              <a:ext cx="327"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xxx</a:t>
              </a:r>
              <a:endParaRPr lang="en-US" altLang="zh-CN">
                <a:latin typeface="Arial" panose="020B0604020202020204" pitchFamily="34" charset="0"/>
                <a:ea typeface="宋体" panose="02010600030101010101" pitchFamily="2" charset="-122"/>
              </a:endParaRPr>
            </a:p>
          </p:txBody>
        </p:sp>
        <p:sp>
          <p:nvSpPr>
            <p:cNvPr id="132124" name="矩形 272412"/>
            <p:cNvSpPr/>
            <p:nvPr/>
          </p:nvSpPr>
          <p:spPr>
            <a:xfrm>
              <a:off x="951" y="1824"/>
              <a:ext cx="86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ALUop</a:t>
              </a:r>
              <a:r>
                <a:rPr lang="en-US" altLang="zh-CN">
                  <a:latin typeface="Arial" panose="020B0604020202020204" pitchFamily="34" charset="0"/>
                  <a:ea typeface="宋体" panose="02010600030101010101" pitchFamily="2" charset="-122"/>
                </a:rPr>
                <a:t>&lt;2:0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2125" name="矩形 272413"/>
            <p:cNvSpPr/>
            <p:nvPr/>
          </p:nvSpPr>
          <p:spPr>
            <a:xfrm>
              <a:off x="2130" y="1824"/>
              <a:ext cx="363"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 </a:t>
              </a:r>
              <a:r>
                <a:rPr lang="en-US" altLang="zh-CN">
                  <a:latin typeface="Arial" panose="020B0604020202020204" pitchFamily="34" charset="0"/>
                  <a:ea typeface="宋体" panose="02010600030101010101" pitchFamily="2" charset="-122"/>
                </a:rPr>
                <a:t>xx</a:t>
              </a:r>
              <a:endParaRPr lang="en-US" altLang="zh-CN">
                <a:latin typeface="Arial" panose="020B0604020202020204" pitchFamily="34" charset="0"/>
                <a:ea typeface="宋体" panose="02010600030101010101" pitchFamily="2" charset="-122"/>
              </a:endParaRPr>
            </a:p>
          </p:txBody>
        </p:sp>
        <p:sp>
          <p:nvSpPr>
            <p:cNvPr id="132126" name="矩形 272414"/>
            <p:cNvSpPr/>
            <p:nvPr/>
          </p:nvSpPr>
          <p:spPr>
            <a:xfrm>
              <a:off x="2871" y="1824"/>
              <a:ext cx="363"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0 10</a:t>
              </a:r>
              <a:endParaRPr lang="zh-CN" altLang="en-US" dirty="0">
                <a:latin typeface="Arial" panose="020B0604020202020204" pitchFamily="34" charset="0"/>
                <a:ea typeface="宋体" panose="02010600030101010101" pitchFamily="2" charset="-122"/>
              </a:endParaRPr>
            </a:p>
          </p:txBody>
        </p:sp>
        <p:sp>
          <p:nvSpPr>
            <p:cNvPr id="132127" name="矩形 272415"/>
            <p:cNvSpPr/>
            <p:nvPr/>
          </p:nvSpPr>
          <p:spPr>
            <a:xfrm>
              <a:off x="3351" y="1824"/>
              <a:ext cx="363"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0 00</a:t>
              </a:r>
              <a:endParaRPr lang="zh-CN" altLang="en-US" dirty="0">
                <a:latin typeface="Arial" panose="020B0604020202020204" pitchFamily="34" charset="0"/>
                <a:ea typeface="宋体" panose="02010600030101010101" pitchFamily="2" charset="-122"/>
              </a:endParaRPr>
            </a:p>
          </p:txBody>
        </p:sp>
        <p:sp>
          <p:nvSpPr>
            <p:cNvPr id="132128" name="矩形 272416"/>
            <p:cNvSpPr/>
            <p:nvPr/>
          </p:nvSpPr>
          <p:spPr>
            <a:xfrm>
              <a:off x="3831" y="1824"/>
              <a:ext cx="359"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00</a:t>
              </a:r>
              <a:endParaRPr lang="zh-CN" altLang="en-US" dirty="0">
                <a:latin typeface="Arial" panose="020B0604020202020204" pitchFamily="34" charset="0"/>
                <a:ea typeface="宋体" panose="02010600030101010101" pitchFamily="2" charset="-122"/>
              </a:endParaRPr>
            </a:p>
          </p:txBody>
        </p:sp>
        <p:sp>
          <p:nvSpPr>
            <p:cNvPr id="132129" name="矩形 272417"/>
            <p:cNvSpPr/>
            <p:nvPr/>
          </p:nvSpPr>
          <p:spPr>
            <a:xfrm>
              <a:off x="4289" y="1834"/>
              <a:ext cx="359"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a:t>
              </a:r>
              <a:r>
                <a:rPr lang="en-US" altLang="zh-CN">
                  <a:latin typeface="Arial" panose="020B0604020202020204" pitchFamily="34" charset="0"/>
                  <a:ea typeface="宋体" panose="02010600030101010101" pitchFamily="2" charset="-122"/>
                </a:rPr>
                <a:t>x1</a:t>
              </a:r>
              <a:endParaRPr lang="en-US" altLang="zh-CN">
                <a:latin typeface="Arial" panose="020B0604020202020204" pitchFamily="34" charset="0"/>
                <a:ea typeface="宋体" panose="02010600030101010101" pitchFamily="2" charset="-122"/>
              </a:endParaRPr>
            </a:p>
          </p:txBody>
        </p:sp>
        <p:sp>
          <p:nvSpPr>
            <p:cNvPr id="132130" name="矩形 272418"/>
            <p:cNvSpPr/>
            <p:nvPr/>
          </p:nvSpPr>
          <p:spPr>
            <a:xfrm>
              <a:off x="4791" y="1824"/>
              <a:ext cx="327"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xxx</a:t>
              </a:r>
              <a:endParaRPr lang="en-US" altLang="zh-CN">
                <a:latin typeface="Arial" panose="020B0604020202020204" pitchFamily="34" charset="0"/>
                <a:ea typeface="宋体" panose="02010600030101010101" pitchFamily="2" charset="-122"/>
              </a:endParaRPr>
            </a:p>
          </p:txBody>
        </p:sp>
      </p:grpSp>
      <p:grpSp>
        <p:nvGrpSpPr>
          <p:cNvPr id="132131" name="组合 272419"/>
          <p:cNvGrpSpPr/>
          <p:nvPr/>
        </p:nvGrpSpPr>
        <p:grpSpPr>
          <a:xfrm>
            <a:off x="1662113" y="647700"/>
            <a:ext cx="5741987" cy="1125538"/>
            <a:chOff x="1047" y="480"/>
            <a:chExt cx="3617" cy="750"/>
          </a:xfrm>
        </p:grpSpPr>
        <p:sp>
          <p:nvSpPr>
            <p:cNvPr id="132132" name="矩形 272420"/>
            <p:cNvSpPr/>
            <p:nvPr/>
          </p:nvSpPr>
          <p:spPr>
            <a:xfrm>
              <a:off x="1688" y="584"/>
              <a:ext cx="608" cy="608"/>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2133" name="矩形 272421"/>
            <p:cNvSpPr/>
            <p:nvPr/>
          </p:nvSpPr>
          <p:spPr>
            <a:xfrm>
              <a:off x="1705" y="706"/>
              <a:ext cx="569" cy="38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Main</a:t>
              </a:r>
              <a:endParaRPr lang="en-US" altLang="zh-CN">
                <a:latin typeface="Arial" panose="020B0604020202020204" pitchFamily="34" charset="0"/>
                <a:ea typeface="宋体" panose="02010600030101010101" pitchFamily="2" charset="-122"/>
              </a:endParaRPr>
            </a:p>
            <a:p>
              <a:pPr algn="ctr" eaLnBrk="0" hangingPunct="0"/>
              <a:r>
                <a:rPr lang="en-US" altLang="zh-CN">
                  <a:latin typeface="Arial" panose="020B0604020202020204" pitchFamily="34" charset="0"/>
                  <a:ea typeface="宋体" panose="02010600030101010101" pitchFamily="2" charset="-122"/>
                </a:rPr>
                <a:t>Control</a:t>
              </a:r>
              <a:endParaRPr lang="en-US" altLang="zh-CN">
                <a:latin typeface="Arial" panose="020B0604020202020204" pitchFamily="34" charset="0"/>
                <a:ea typeface="宋体" panose="02010600030101010101" pitchFamily="2" charset="-122"/>
              </a:endParaRPr>
            </a:p>
          </p:txBody>
        </p:sp>
        <p:sp>
          <p:nvSpPr>
            <p:cNvPr id="132134" name="直接连接符 272422"/>
            <p:cNvSpPr/>
            <p:nvPr/>
          </p:nvSpPr>
          <p:spPr>
            <a:xfrm>
              <a:off x="1112" y="864"/>
              <a:ext cx="560" cy="0"/>
            </a:xfrm>
            <a:prstGeom prst="line">
              <a:avLst/>
            </a:prstGeom>
            <a:ln w="25400" cap="flat" cmpd="sng">
              <a:solidFill>
                <a:schemeClr val="tx1"/>
              </a:solidFill>
              <a:prstDash val="solid"/>
              <a:round/>
              <a:headEnd type="none" w="med" len="med"/>
              <a:tailEnd type="triangle" w="med" len="med"/>
            </a:ln>
          </p:spPr>
        </p:sp>
        <p:sp>
          <p:nvSpPr>
            <p:cNvPr id="132135" name="直接连接符 272423"/>
            <p:cNvSpPr/>
            <p:nvPr/>
          </p:nvSpPr>
          <p:spPr>
            <a:xfrm flipH="1">
              <a:off x="1340" y="772"/>
              <a:ext cx="104" cy="184"/>
            </a:xfrm>
            <a:prstGeom prst="line">
              <a:avLst/>
            </a:prstGeom>
            <a:ln w="12700" cap="flat" cmpd="sng">
              <a:solidFill>
                <a:schemeClr val="tx1"/>
              </a:solidFill>
              <a:prstDash val="solid"/>
              <a:round/>
              <a:headEnd type="none" w="med" len="med"/>
              <a:tailEnd type="none" w="med" len="med"/>
            </a:ln>
          </p:spPr>
        </p:sp>
        <p:sp>
          <p:nvSpPr>
            <p:cNvPr id="132136" name="矩形 272424"/>
            <p:cNvSpPr/>
            <p:nvPr/>
          </p:nvSpPr>
          <p:spPr>
            <a:xfrm>
              <a:off x="1047" y="673"/>
              <a:ext cx="270" cy="222"/>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op</a:t>
              </a:r>
              <a:endParaRPr lang="en-US" altLang="zh-CN">
                <a:latin typeface="Arial" panose="020B0604020202020204" pitchFamily="34" charset="0"/>
                <a:ea typeface="宋体" panose="02010600030101010101" pitchFamily="2" charset="-122"/>
              </a:endParaRPr>
            </a:p>
          </p:txBody>
        </p:sp>
        <p:sp>
          <p:nvSpPr>
            <p:cNvPr id="132137" name="矩形 272425"/>
            <p:cNvSpPr/>
            <p:nvPr/>
          </p:nvSpPr>
          <p:spPr>
            <a:xfrm>
              <a:off x="1191" y="864"/>
              <a:ext cx="185" cy="222"/>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6</a:t>
              </a:r>
              <a:endParaRPr lang="zh-CN" altLang="en-US" dirty="0">
                <a:latin typeface="Arial" panose="020B0604020202020204" pitchFamily="34" charset="0"/>
                <a:ea typeface="宋体" panose="02010600030101010101" pitchFamily="2" charset="-122"/>
              </a:endParaRPr>
            </a:p>
          </p:txBody>
        </p:sp>
        <p:grpSp>
          <p:nvGrpSpPr>
            <p:cNvPr id="132138" name="组合 272426"/>
            <p:cNvGrpSpPr/>
            <p:nvPr/>
          </p:nvGrpSpPr>
          <p:grpSpPr>
            <a:xfrm>
              <a:off x="3176" y="584"/>
              <a:ext cx="608" cy="587"/>
              <a:chOff x="3176" y="584"/>
              <a:chExt cx="608" cy="587"/>
            </a:xfrm>
          </p:grpSpPr>
          <p:sp>
            <p:nvSpPr>
              <p:cNvPr id="132139" name="矩形 272427"/>
              <p:cNvSpPr/>
              <p:nvPr/>
            </p:nvSpPr>
            <p:spPr>
              <a:xfrm>
                <a:off x="3176" y="584"/>
                <a:ext cx="608" cy="56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2140" name="矩形 272428"/>
              <p:cNvSpPr/>
              <p:nvPr/>
            </p:nvSpPr>
            <p:spPr>
              <a:xfrm>
                <a:off x="3193" y="623"/>
                <a:ext cx="569" cy="548"/>
              </a:xfrm>
              <a:prstGeom prst="rect">
                <a:avLst/>
              </a:prstGeom>
              <a:noFill/>
              <a:ln w="12700">
                <a:noFill/>
              </a:ln>
            </p:spPr>
            <p:txBody>
              <a:bodyPr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ALU</a:t>
                </a:r>
                <a:endParaRPr lang="en-US" altLang="zh-CN">
                  <a:latin typeface="Arial" panose="020B0604020202020204" pitchFamily="34" charset="0"/>
                  <a:ea typeface="宋体" panose="02010600030101010101" pitchFamily="2" charset="-122"/>
                </a:endParaRPr>
              </a:p>
              <a:p>
                <a:pPr algn="ctr" eaLnBrk="0" hangingPunct="0"/>
                <a:r>
                  <a:rPr lang="en-US" altLang="zh-CN">
                    <a:latin typeface="Arial" panose="020B0604020202020204" pitchFamily="34" charset="0"/>
                    <a:ea typeface="宋体" panose="02010600030101010101" pitchFamily="2" charset="-122"/>
                  </a:rPr>
                  <a:t>Control</a:t>
                </a:r>
                <a:endParaRPr lang="en-US" altLang="zh-CN">
                  <a:latin typeface="Arial" panose="020B0604020202020204" pitchFamily="34" charset="0"/>
                  <a:ea typeface="宋体" panose="02010600030101010101" pitchFamily="2" charset="-122"/>
                </a:endParaRPr>
              </a:p>
              <a:p>
                <a:pPr algn="ctr" eaLnBrk="0" hangingPunct="0"/>
                <a:r>
                  <a:rPr lang="en-US" altLang="zh-CN" sz="1400">
                    <a:latin typeface="Times New Roman" panose="02020603050405020304" pitchFamily="18" charset="0"/>
                    <a:ea typeface="宋体" panose="02010600030101010101" pitchFamily="2" charset="-122"/>
                  </a:rPr>
                  <a:t>(</a:t>
                </a:r>
                <a:r>
                  <a:rPr lang="en-US" altLang="zh-CN">
                    <a:latin typeface="Arial" panose="020B0604020202020204" pitchFamily="34" charset="0"/>
                    <a:ea typeface="宋体" panose="02010600030101010101" pitchFamily="2" charset="-122"/>
                  </a:rPr>
                  <a:t>Local</a:t>
                </a:r>
                <a:r>
                  <a:rPr lang="en-US" altLang="zh-CN" sz="1400">
                    <a:latin typeface="Times New Roman" panose="02020603050405020304" pitchFamily="18" charset="0"/>
                    <a:ea typeface="宋体" panose="02010600030101010101" pitchFamily="2" charset="-122"/>
                  </a:rPr>
                  <a:t>)</a:t>
                </a:r>
                <a:endParaRPr lang="en-US" altLang="zh-CN" sz="1400">
                  <a:latin typeface="Times New Roman" panose="02020603050405020304" pitchFamily="18" charset="0"/>
                  <a:ea typeface="宋体" panose="02010600030101010101" pitchFamily="2" charset="-122"/>
                </a:endParaRPr>
              </a:p>
            </p:txBody>
          </p:sp>
        </p:grpSp>
        <p:sp>
          <p:nvSpPr>
            <p:cNvPr id="132141" name="直接连接符 272429"/>
            <p:cNvSpPr/>
            <p:nvPr/>
          </p:nvSpPr>
          <p:spPr>
            <a:xfrm>
              <a:off x="2312" y="1008"/>
              <a:ext cx="848" cy="0"/>
            </a:xfrm>
            <a:prstGeom prst="line">
              <a:avLst/>
            </a:prstGeom>
            <a:ln w="25400" cap="flat" cmpd="sng">
              <a:solidFill>
                <a:schemeClr val="tx1"/>
              </a:solidFill>
              <a:prstDash val="solid"/>
              <a:round/>
              <a:headEnd type="none" w="med" len="med"/>
              <a:tailEnd type="triangle" w="med" len="med"/>
            </a:ln>
          </p:spPr>
        </p:sp>
        <p:sp>
          <p:nvSpPr>
            <p:cNvPr id="132142" name="直接连接符 272430"/>
            <p:cNvSpPr/>
            <p:nvPr/>
          </p:nvSpPr>
          <p:spPr>
            <a:xfrm flipH="1">
              <a:off x="2828" y="916"/>
              <a:ext cx="104" cy="184"/>
            </a:xfrm>
            <a:prstGeom prst="line">
              <a:avLst/>
            </a:prstGeom>
            <a:ln w="12700" cap="flat" cmpd="sng">
              <a:solidFill>
                <a:schemeClr val="tx1"/>
              </a:solidFill>
              <a:prstDash val="solid"/>
              <a:round/>
              <a:headEnd type="none" w="med" len="med"/>
              <a:tailEnd type="none" w="med" len="med"/>
            </a:ln>
          </p:spPr>
        </p:sp>
        <p:sp>
          <p:nvSpPr>
            <p:cNvPr id="132143" name="矩形 272431"/>
            <p:cNvSpPr/>
            <p:nvPr/>
          </p:nvSpPr>
          <p:spPr>
            <a:xfrm>
              <a:off x="2535" y="480"/>
              <a:ext cx="384" cy="222"/>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func</a:t>
              </a:r>
              <a:endParaRPr lang="en-US" altLang="zh-CN">
                <a:latin typeface="Arial" panose="020B0604020202020204" pitchFamily="34" charset="0"/>
                <a:ea typeface="宋体" panose="02010600030101010101" pitchFamily="2" charset="-122"/>
              </a:endParaRPr>
            </a:p>
          </p:txBody>
        </p:sp>
        <p:sp>
          <p:nvSpPr>
            <p:cNvPr id="132144" name="矩形 272432"/>
            <p:cNvSpPr/>
            <p:nvPr/>
          </p:nvSpPr>
          <p:spPr>
            <a:xfrm>
              <a:off x="2679" y="1008"/>
              <a:ext cx="206" cy="222"/>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N</a:t>
              </a:r>
              <a:endParaRPr lang="en-US" altLang="zh-CN">
                <a:latin typeface="Arial" panose="020B0604020202020204" pitchFamily="34" charset="0"/>
                <a:ea typeface="宋体" panose="02010600030101010101" pitchFamily="2" charset="-122"/>
              </a:endParaRPr>
            </a:p>
          </p:txBody>
        </p:sp>
        <p:sp>
          <p:nvSpPr>
            <p:cNvPr id="132145" name="直接连接符 272433"/>
            <p:cNvSpPr/>
            <p:nvPr/>
          </p:nvSpPr>
          <p:spPr>
            <a:xfrm flipH="1">
              <a:off x="2828" y="580"/>
              <a:ext cx="104" cy="184"/>
            </a:xfrm>
            <a:prstGeom prst="line">
              <a:avLst/>
            </a:prstGeom>
            <a:ln w="12700" cap="flat" cmpd="sng">
              <a:solidFill>
                <a:schemeClr val="tx1"/>
              </a:solidFill>
              <a:prstDash val="solid"/>
              <a:round/>
              <a:headEnd type="none" w="med" len="med"/>
              <a:tailEnd type="none" w="med" len="med"/>
            </a:ln>
          </p:spPr>
        </p:sp>
        <p:sp>
          <p:nvSpPr>
            <p:cNvPr id="132146" name="矩形 272434"/>
            <p:cNvSpPr/>
            <p:nvPr/>
          </p:nvSpPr>
          <p:spPr>
            <a:xfrm>
              <a:off x="2679" y="672"/>
              <a:ext cx="185" cy="222"/>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6</a:t>
              </a:r>
              <a:endParaRPr lang="zh-CN" altLang="en-US" dirty="0">
                <a:latin typeface="Arial" panose="020B0604020202020204" pitchFamily="34" charset="0"/>
                <a:ea typeface="宋体" panose="02010600030101010101" pitchFamily="2" charset="-122"/>
              </a:endParaRPr>
            </a:p>
          </p:txBody>
        </p:sp>
        <p:sp>
          <p:nvSpPr>
            <p:cNvPr id="132147" name="矩形 272435"/>
            <p:cNvSpPr/>
            <p:nvPr/>
          </p:nvSpPr>
          <p:spPr>
            <a:xfrm>
              <a:off x="2343" y="816"/>
              <a:ext cx="532" cy="222"/>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ALUop</a:t>
              </a:r>
              <a:endParaRPr lang="en-US" altLang="zh-CN">
                <a:latin typeface="Arial" panose="020B0604020202020204" pitchFamily="34" charset="0"/>
                <a:ea typeface="宋体" panose="02010600030101010101" pitchFamily="2" charset="-122"/>
              </a:endParaRPr>
            </a:p>
          </p:txBody>
        </p:sp>
        <p:sp>
          <p:nvSpPr>
            <p:cNvPr id="132148" name="直接连接符 272436"/>
            <p:cNvSpPr/>
            <p:nvPr/>
          </p:nvSpPr>
          <p:spPr>
            <a:xfrm flipH="1">
              <a:off x="2536" y="672"/>
              <a:ext cx="640" cy="0"/>
            </a:xfrm>
            <a:prstGeom prst="line">
              <a:avLst/>
            </a:prstGeom>
            <a:ln w="25400" cap="flat" cmpd="sng">
              <a:solidFill>
                <a:schemeClr val="tx1"/>
              </a:solidFill>
              <a:prstDash val="solid"/>
              <a:round/>
              <a:headEnd type="triangle" w="med" len="med"/>
              <a:tailEnd type="none" w="med" len="med"/>
            </a:ln>
          </p:spPr>
        </p:sp>
        <p:sp>
          <p:nvSpPr>
            <p:cNvPr id="132149" name="矩形 272437"/>
            <p:cNvSpPr/>
            <p:nvPr/>
          </p:nvSpPr>
          <p:spPr>
            <a:xfrm>
              <a:off x="3783" y="672"/>
              <a:ext cx="540" cy="222"/>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ALUctr</a:t>
              </a:r>
              <a:endParaRPr lang="en-US" altLang="zh-CN">
                <a:latin typeface="Arial" panose="020B0604020202020204" pitchFamily="34" charset="0"/>
                <a:ea typeface="宋体" panose="02010600030101010101" pitchFamily="2" charset="-122"/>
              </a:endParaRPr>
            </a:p>
          </p:txBody>
        </p:sp>
        <p:sp>
          <p:nvSpPr>
            <p:cNvPr id="132150" name="直接连接符 272438"/>
            <p:cNvSpPr/>
            <p:nvPr/>
          </p:nvSpPr>
          <p:spPr>
            <a:xfrm flipH="1">
              <a:off x="4220" y="772"/>
              <a:ext cx="104" cy="184"/>
            </a:xfrm>
            <a:prstGeom prst="line">
              <a:avLst/>
            </a:prstGeom>
            <a:ln w="12700" cap="flat" cmpd="sng">
              <a:solidFill>
                <a:schemeClr val="tx1"/>
              </a:solidFill>
              <a:prstDash val="solid"/>
              <a:round/>
              <a:headEnd type="none" w="med" len="med"/>
              <a:tailEnd type="none" w="med" len="med"/>
            </a:ln>
          </p:spPr>
        </p:sp>
        <p:sp>
          <p:nvSpPr>
            <p:cNvPr id="132151" name="直接连接符 272439"/>
            <p:cNvSpPr/>
            <p:nvPr/>
          </p:nvSpPr>
          <p:spPr>
            <a:xfrm flipH="1">
              <a:off x="3784" y="864"/>
              <a:ext cx="880" cy="0"/>
            </a:xfrm>
            <a:prstGeom prst="line">
              <a:avLst/>
            </a:prstGeom>
            <a:ln w="25400" cap="flat" cmpd="sng">
              <a:solidFill>
                <a:schemeClr val="tx1"/>
              </a:solidFill>
              <a:prstDash val="solid"/>
              <a:round/>
              <a:headEnd type="triangle" w="med" len="med"/>
              <a:tailEnd type="none" w="med" len="med"/>
            </a:ln>
          </p:spPr>
        </p:sp>
        <p:sp>
          <p:nvSpPr>
            <p:cNvPr id="132152" name="矩形 272440"/>
            <p:cNvSpPr/>
            <p:nvPr/>
          </p:nvSpPr>
          <p:spPr>
            <a:xfrm>
              <a:off x="4071" y="864"/>
              <a:ext cx="185" cy="222"/>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3</a:t>
              </a:r>
              <a:endParaRPr lang="zh-CN" altLang="en-US" dirty="0">
                <a:latin typeface="Arial" panose="020B0604020202020204" pitchFamily="34" charset="0"/>
                <a:ea typeface="宋体" panose="02010600030101010101" pitchFamily="2" charset="-122"/>
              </a:endParaRPr>
            </a:p>
          </p:txBody>
        </p:sp>
      </p:grpSp>
      <p:grpSp>
        <p:nvGrpSpPr>
          <p:cNvPr id="272442" name="组合 272441"/>
          <p:cNvGrpSpPr/>
          <p:nvPr/>
        </p:nvGrpSpPr>
        <p:grpSpPr>
          <a:xfrm>
            <a:off x="700088" y="3509963"/>
            <a:ext cx="7075487" cy="638175"/>
            <a:chOff x="567" y="2112"/>
            <a:chExt cx="4457" cy="402"/>
          </a:xfrm>
        </p:grpSpPr>
        <p:grpSp>
          <p:nvGrpSpPr>
            <p:cNvPr id="132154" name="组合 272442"/>
            <p:cNvGrpSpPr/>
            <p:nvPr/>
          </p:nvGrpSpPr>
          <p:grpSpPr>
            <a:xfrm>
              <a:off x="1047" y="2112"/>
              <a:ext cx="3977" cy="402"/>
              <a:chOff x="1047" y="2112"/>
              <a:chExt cx="3977" cy="402"/>
            </a:xfrm>
          </p:grpSpPr>
          <p:grpSp>
            <p:nvGrpSpPr>
              <p:cNvPr id="132155" name="组合 272443"/>
              <p:cNvGrpSpPr/>
              <p:nvPr/>
            </p:nvGrpSpPr>
            <p:grpSpPr>
              <a:xfrm>
                <a:off x="1108" y="2304"/>
                <a:ext cx="3832" cy="210"/>
                <a:chOff x="1108" y="2304"/>
                <a:chExt cx="3832" cy="210"/>
              </a:xfrm>
            </p:grpSpPr>
            <p:sp>
              <p:nvSpPr>
                <p:cNvPr id="132156" name="矩形 272444"/>
                <p:cNvSpPr/>
                <p:nvPr/>
              </p:nvSpPr>
              <p:spPr>
                <a:xfrm>
                  <a:off x="1112" y="2312"/>
                  <a:ext cx="382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32157" name="组合 272445"/>
                <p:cNvGrpSpPr/>
                <p:nvPr/>
              </p:nvGrpSpPr>
              <p:grpSpPr>
                <a:xfrm>
                  <a:off x="1108" y="2304"/>
                  <a:ext cx="3832" cy="210"/>
                  <a:chOff x="1108" y="2304"/>
                  <a:chExt cx="3832" cy="210"/>
                </a:xfrm>
              </p:grpSpPr>
              <p:grpSp>
                <p:nvGrpSpPr>
                  <p:cNvPr id="132158" name="组合 272446"/>
                  <p:cNvGrpSpPr/>
                  <p:nvPr/>
                </p:nvGrpSpPr>
                <p:grpSpPr>
                  <a:xfrm>
                    <a:off x="1108" y="2304"/>
                    <a:ext cx="695" cy="210"/>
                    <a:chOff x="1108" y="2304"/>
                    <a:chExt cx="695" cy="210"/>
                  </a:xfrm>
                </p:grpSpPr>
                <p:sp>
                  <p:nvSpPr>
                    <p:cNvPr id="132159" name="矩形 272447"/>
                    <p:cNvSpPr/>
                    <p:nvPr/>
                  </p:nvSpPr>
                  <p:spPr>
                    <a:xfrm>
                      <a:off x="1108" y="2308"/>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2160" name="矩形 272448"/>
                    <p:cNvSpPr/>
                    <p:nvPr/>
                  </p:nvSpPr>
                  <p:spPr>
                    <a:xfrm>
                      <a:off x="1305" y="2304"/>
                      <a:ext cx="498" cy="210"/>
                    </a:xfrm>
                    <a:prstGeom prst="rect">
                      <a:avLst/>
                    </a:prstGeom>
                    <a:noFill/>
                    <a:ln w="12700">
                      <a:noFill/>
                    </a:ln>
                  </p:spPr>
                  <p:txBody>
                    <a:bodyPr wrap="none" lIns="90488" tIns="44450" rIns="90488" bIns="44450" anchor="t" anchorCtr="0">
                      <a:spAutoFit/>
                    </a:bodyPr>
                    <a:p>
                      <a:pPr eaLnBrk="0" hangingPunct="0"/>
                      <a:r>
                        <a:rPr lang="en-US" altLang="zh-CN">
                          <a:solidFill>
                            <a:schemeClr val="accent1"/>
                          </a:solidFill>
                          <a:latin typeface="Times New Roman" panose="02020603050405020304" pitchFamily="18" charset="0"/>
                          <a:ea typeface="宋体" panose="02010600030101010101" pitchFamily="2" charset="-122"/>
                        </a:rPr>
                        <a:t>000000</a:t>
                      </a:r>
                      <a:endParaRPr lang="en-US" altLang="zh-CN">
                        <a:solidFill>
                          <a:schemeClr val="accent1"/>
                        </a:solidFill>
                        <a:latin typeface="Times New Roman" panose="02020603050405020304" pitchFamily="18" charset="0"/>
                        <a:ea typeface="宋体" panose="02010600030101010101" pitchFamily="2" charset="-122"/>
                      </a:endParaRPr>
                    </a:p>
                  </p:txBody>
                </p:sp>
              </p:grpSp>
              <p:grpSp>
                <p:nvGrpSpPr>
                  <p:cNvPr id="132161" name="组合 272449"/>
                  <p:cNvGrpSpPr/>
                  <p:nvPr/>
                </p:nvGrpSpPr>
                <p:grpSpPr>
                  <a:xfrm>
                    <a:off x="1780" y="2304"/>
                    <a:ext cx="616" cy="210"/>
                    <a:chOff x="1780" y="2304"/>
                    <a:chExt cx="616" cy="210"/>
                  </a:xfrm>
                </p:grpSpPr>
                <p:sp>
                  <p:nvSpPr>
                    <p:cNvPr id="132162" name="矩形 272450"/>
                    <p:cNvSpPr/>
                    <p:nvPr/>
                  </p:nvSpPr>
                  <p:spPr>
                    <a:xfrm>
                      <a:off x="1780" y="2308"/>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2163" name="矩形 272451"/>
                    <p:cNvSpPr/>
                    <p:nvPr/>
                  </p:nvSpPr>
                  <p:spPr>
                    <a:xfrm>
                      <a:off x="1959" y="2304"/>
                      <a:ext cx="23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rs</a:t>
                      </a:r>
                      <a:endParaRPr lang="en-US" altLang="zh-CN">
                        <a:latin typeface="Arial" panose="020B0604020202020204" pitchFamily="34" charset="0"/>
                        <a:ea typeface="宋体" panose="02010600030101010101" pitchFamily="2" charset="-122"/>
                      </a:endParaRPr>
                    </a:p>
                  </p:txBody>
                </p:sp>
              </p:grpSp>
              <p:grpSp>
                <p:nvGrpSpPr>
                  <p:cNvPr id="132164" name="组合 272452"/>
                  <p:cNvGrpSpPr/>
                  <p:nvPr/>
                </p:nvGrpSpPr>
                <p:grpSpPr>
                  <a:xfrm>
                    <a:off x="2404" y="2304"/>
                    <a:ext cx="616" cy="210"/>
                    <a:chOff x="2404" y="2304"/>
                    <a:chExt cx="616" cy="210"/>
                  </a:xfrm>
                </p:grpSpPr>
                <p:sp>
                  <p:nvSpPr>
                    <p:cNvPr id="132165" name="矩形 272453"/>
                    <p:cNvSpPr/>
                    <p:nvPr/>
                  </p:nvSpPr>
                  <p:spPr>
                    <a:xfrm>
                      <a:off x="2404" y="2308"/>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2166" name="矩形 272454"/>
                    <p:cNvSpPr/>
                    <p:nvPr/>
                  </p:nvSpPr>
                  <p:spPr>
                    <a:xfrm>
                      <a:off x="2583" y="2304"/>
                      <a:ext cx="207"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rt</a:t>
                      </a:r>
                      <a:endParaRPr lang="en-US" altLang="zh-CN">
                        <a:latin typeface="Arial" panose="020B0604020202020204" pitchFamily="34" charset="0"/>
                        <a:ea typeface="宋体" panose="02010600030101010101" pitchFamily="2" charset="-122"/>
                      </a:endParaRPr>
                    </a:p>
                  </p:txBody>
                </p:sp>
              </p:grpSp>
              <p:grpSp>
                <p:nvGrpSpPr>
                  <p:cNvPr id="132167" name="组合 272455"/>
                  <p:cNvGrpSpPr/>
                  <p:nvPr/>
                </p:nvGrpSpPr>
                <p:grpSpPr>
                  <a:xfrm>
                    <a:off x="3028" y="2304"/>
                    <a:ext cx="616" cy="210"/>
                    <a:chOff x="3028" y="2304"/>
                    <a:chExt cx="616" cy="210"/>
                  </a:xfrm>
                </p:grpSpPr>
                <p:sp>
                  <p:nvSpPr>
                    <p:cNvPr id="132168" name="矩形 272456"/>
                    <p:cNvSpPr/>
                    <p:nvPr/>
                  </p:nvSpPr>
                  <p:spPr>
                    <a:xfrm>
                      <a:off x="3028" y="2308"/>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2169" name="矩形 272457"/>
                    <p:cNvSpPr/>
                    <p:nvPr/>
                  </p:nvSpPr>
                  <p:spPr>
                    <a:xfrm>
                      <a:off x="3207" y="2304"/>
                      <a:ext cx="24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rd</a:t>
                      </a:r>
                      <a:endParaRPr lang="en-US" altLang="zh-CN">
                        <a:latin typeface="Arial" panose="020B0604020202020204" pitchFamily="34" charset="0"/>
                        <a:ea typeface="宋体" panose="02010600030101010101" pitchFamily="2" charset="-122"/>
                      </a:endParaRPr>
                    </a:p>
                  </p:txBody>
                </p:sp>
              </p:grpSp>
              <p:grpSp>
                <p:nvGrpSpPr>
                  <p:cNvPr id="132170" name="组合 272458"/>
                  <p:cNvGrpSpPr/>
                  <p:nvPr/>
                </p:nvGrpSpPr>
                <p:grpSpPr>
                  <a:xfrm>
                    <a:off x="3652" y="2304"/>
                    <a:ext cx="616" cy="210"/>
                    <a:chOff x="3652" y="2304"/>
                    <a:chExt cx="616" cy="210"/>
                  </a:xfrm>
                </p:grpSpPr>
                <p:sp>
                  <p:nvSpPr>
                    <p:cNvPr id="132171" name="矩形 272459"/>
                    <p:cNvSpPr/>
                    <p:nvPr/>
                  </p:nvSpPr>
                  <p:spPr>
                    <a:xfrm>
                      <a:off x="3652" y="2308"/>
                      <a:ext cx="616"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2172" name="矩形 272460"/>
                    <p:cNvSpPr/>
                    <p:nvPr/>
                  </p:nvSpPr>
                  <p:spPr>
                    <a:xfrm>
                      <a:off x="3735" y="2304"/>
                      <a:ext cx="491"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shamt</a:t>
                      </a:r>
                      <a:endParaRPr lang="en-US" altLang="zh-CN">
                        <a:latin typeface="Arial" panose="020B0604020202020204" pitchFamily="34" charset="0"/>
                        <a:ea typeface="宋体" panose="02010600030101010101" pitchFamily="2" charset="-122"/>
                      </a:endParaRPr>
                    </a:p>
                  </p:txBody>
                </p:sp>
              </p:grpSp>
              <p:grpSp>
                <p:nvGrpSpPr>
                  <p:cNvPr id="132173" name="组合 272461"/>
                  <p:cNvGrpSpPr/>
                  <p:nvPr/>
                </p:nvGrpSpPr>
                <p:grpSpPr>
                  <a:xfrm>
                    <a:off x="4276" y="2304"/>
                    <a:ext cx="664" cy="210"/>
                    <a:chOff x="4276" y="2304"/>
                    <a:chExt cx="664" cy="210"/>
                  </a:xfrm>
                </p:grpSpPr>
                <p:sp>
                  <p:nvSpPr>
                    <p:cNvPr id="132174" name="矩形 272462"/>
                    <p:cNvSpPr/>
                    <p:nvPr/>
                  </p:nvSpPr>
                  <p:spPr>
                    <a:xfrm>
                      <a:off x="4276" y="2308"/>
                      <a:ext cx="66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2175" name="矩形 272463"/>
                    <p:cNvSpPr/>
                    <p:nvPr/>
                  </p:nvSpPr>
                  <p:spPr>
                    <a:xfrm>
                      <a:off x="4473" y="2304"/>
                      <a:ext cx="384" cy="210"/>
                    </a:xfrm>
                    <a:prstGeom prst="rect">
                      <a:avLst/>
                    </a:prstGeom>
                    <a:noFill/>
                    <a:ln w="12700">
                      <a:noFill/>
                    </a:ln>
                  </p:spPr>
                  <p:txBody>
                    <a:bodyPr wrap="none" lIns="90488" tIns="44450" rIns="90488" bIns="44450" anchor="t" anchorCtr="0">
                      <a:spAutoFit/>
                    </a:bodyPr>
                    <a:p>
                      <a:pPr eaLnBrk="0" hangingPunct="0"/>
                      <a:r>
                        <a:rPr lang="en-US" altLang="zh-CN" dirty="0" err="1">
                          <a:solidFill>
                            <a:schemeClr val="accent1"/>
                          </a:solidFill>
                          <a:latin typeface="Arial" panose="020B0604020202020204" pitchFamily="34" charset="0"/>
                          <a:ea typeface="宋体" panose="02010600030101010101" pitchFamily="2" charset="-122"/>
                        </a:rPr>
                        <a:t>func</a:t>
                      </a:r>
                      <a:endParaRPr lang="en-US" altLang="zh-CN">
                        <a:solidFill>
                          <a:schemeClr val="accent1"/>
                        </a:solidFill>
                        <a:latin typeface="Arial" panose="020B0604020202020204" pitchFamily="34" charset="0"/>
                        <a:ea typeface="宋体" panose="02010600030101010101" pitchFamily="2" charset="-122"/>
                      </a:endParaRPr>
                    </a:p>
                  </p:txBody>
                </p:sp>
              </p:grpSp>
            </p:grpSp>
          </p:grpSp>
          <p:sp>
            <p:nvSpPr>
              <p:cNvPr id="132176" name="矩形 272464"/>
              <p:cNvSpPr/>
              <p:nvPr/>
            </p:nvSpPr>
            <p:spPr>
              <a:xfrm>
                <a:off x="4839"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2177" name="矩形 272465"/>
              <p:cNvSpPr/>
              <p:nvPr/>
            </p:nvSpPr>
            <p:spPr>
              <a:xfrm>
                <a:off x="4119"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6</a:t>
                </a:r>
                <a:endParaRPr lang="zh-CN" altLang="en-US" dirty="0">
                  <a:latin typeface="Arial" panose="020B0604020202020204" pitchFamily="34" charset="0"/>
                  <a:ea typeface="宋体" panose="02010600030101010101" pitchFamily="2" charset="-122"/>
                </a:endParaRPr>
              </a:p>
            </p:txBody>
          </p:sp>
          <p:sp>
            <p:nvSpPr>
              <p:cNvPr id="132178" name="矩形 272466"/>
              <p:cNvSpPr/>
              <p:nvPr/>
            </p:nvSpPr>
            <p:spPr>
              <a:xfrm>
                <a:off x="3447" y="211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11</a:t>
                </a:r>
                <a:endParaRPr lang="zh-CN" altLang="en-US" dirty="0">
                  <a:latin typeface="Arial" panose="020B0604020202020204" pitchFamily="34" charset="0"/>
                  <a:ea typeface="宋体" panose="02010600030101010101" pitchFamily="2" charset="-122"/>
                </a:endParaRPr>
              </a:p>
            </p:txBody>
          </p:sp>
          <p:sp>
            <p:nvSpPr>
              <p:cNvPr id="132179" name="矩形 272467"/>
              <p:cNvSpPr/>
              <p:nvPr/>
            </p:nvSpPr>
            <p:spPr>
              <a:xfrm>
                <a:off x="2823" y="211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16</a:t>
                </a:r>
                <a:endParaRPr lang="zh-CN" altLang="en-US" dirty="0">
                  <a:latin typeface="Arial" panose="020B0604020202020204" pitchFamily="34" charset="0"/>
                  <a:ea typeface="宋体" panose="02010600030101010101" pitchFamily="2" charset="-122"/>
                </a:endParaRPr>
              </a:p>
            </p:txBody>
          </p:sp>
          <p:sp>
            <p:nvSpPr>
              <p:cNvPr id="132180" name="矩形 272468"/>
              <p:cNvSpPr/>
              <p:nvPr/>
            </p:nvSpPr>
            <p:spPr>
              <a:xfrm>
                <a:off x="2199" y="211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21</a:t>
                </a:r>
                <a:endParaRPr lang="zh-CN" altLang="en-US" dirty="0">
                  <a:latin typeface="Arial" panose="020B0604020202020204" pitchFamily="34" charset="0"/>
                  <a:ea typeface="宋体" panose="02010600030101010101" pitchFamily="2" charset="-122"/>
                </a:endParaRPr>
              </a:p>
            </p:txBody>
          </p:sp>
          <p:sp>
            <p:nvSpPr>
              <p:cNvPr id="132181" name="矩形 272469"/>
              <p:cNvSpPr/>
              <p:nvPr/>
            </p:nvSpPr>
            <p:spPr>
              <a:xfrm>
                <a:off x="1575" y="211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26</a:t>
                </a:r>
                <a:endParaRPr lang="zh-CN" altLang="en-US" dirty="0">
                  <a:latin typeface="Arial" panose="020B0604020202020204" pitchFamily="34" charset="0"/>
                  <a:ea typeface="宋体" panose="02010600030101010101" pitchFamily="2" charset="-122"/>
                </a:endParaRPr>
              </a:p>
            </p:txBody>
          </p:sp>
          <p:sp>
            <p:nvSpPr>
              <p:cNvPr id="132182" name="矩形 272470"/>
              <p:cNvSpPr/>
              <p:nvPr/>
            </p:nvSpPr>
            <p:spPr>
              <a:xfrm>
                <a:off x="1047" y="2112"/>
                <a:ext cx="25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31</a:t>
                </a:r>
                <a:endParaRPr lang="zh-CN" altLang="en-US" dirty="0">
                  <a:latin typeface="Arial" panose="020B0604020202020204" pitchFamily="34" charset="0"/>
                  <a:ea typeface="宋体" panose="02010600030101010101" pitchFamily="2" charset="-122"/>
                </a:endParaRPr>
              </a:p>
            </p:txBody>
          </p:sp>
        </p:grpSp>
        <p:sp>
          <p:nvSpPr>
            <p:cNvPr id="132183" name="矩形 272471"/>
            <p:cNvSpPr/>
            <p:nvPr/>
          </p:nvSpPr>
          <p:spPr>
            <a:xfrm>
              <a:off x="567" y="2304"/>
              <a:ext cx="51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R-type</a:t>
              </a:r>
              <a:endParaRPr lang="en-US" altLang="zh-CN">
                <a:latin typeface="Arial" panose="020B0604020202020204" pitchFamily="34" charset="0"/>
                <a:ea typeface="宋体" panose="02010600030101010101" pitchFamily="2" charset="-122"/>
              </a:endParaRPr>
            </a:p>
          </p:txBody>
        </p:sp>
      </p:grpSp>
      <p:grpSp>
        <p:nvGrpSpPr>
          <p:cNvPr id="272473" name="组合 272472"/>
          <p:cNvGrpSpPr/>
          <p:nvPr/>
        </p:nvGrpSpPr>
        <p:grpSpPr>
          <a:xfrm>
            <a:off x="447675" y="4357688"/>
            <a:ext cx="3535363" cy="1857375"/>
            <a:chOff x="192" y="2880"/>
            <a:chExt cx="2227" cy="1170"/>
          </a:xfrm>
        </p:grpSpPr>
        <p:sp>
          <p:nvSpPr>
            <p:cNvPr id="132185" name="直接连接符 272473"/>
            <p:cNvSpPr/>
            <p:nvPr/>
          </p:nvSpPr>
          <p:spPr>
            <a:xfrm>
              <a:off x="200" y="3072"/>
              <a:ext cx="2144" cy="0"/>
            </a:xfrm>
            <a:prstGeom prst="line">
              <a:avLst/>
            </a:prstGeom>
            <a:ln w="25400" cap="flat" cmpd="sng">
              <a:solidFill>
                <a:schemeClr val="tx1"/>
              </a:solidFill>
              <a:prstDash val="solid"/>
              <a:round/>
              <a:headEnd type="none" w="med" len="med"/>
              <a:tailEnd type="none" w="med" len="med"/>
            </a:ln>
          </p:spPr>
        </p:sp>
        <p:sp>
          <p:nvSpPr>
            <p:cNvPr id="132186" name="矩形 272474"/>
            <p:cNvSpPr/>
            <p:nvPr/>
          </p:nvSpPr>
          <p:spPr>
            <a:xfrm>
              <a:off x="227" y="2880"/>
              <a:ext cx="717"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func</a:t>
              </a:r>
              <a:r>
                <a:rPr lang="en-US" altLang="zh-CN">
                  <a:latin typeface="Arial" panose="020B0604020202020204" pitchFamily="34" charset="0"/>
                  <a:ea typeface="宋体" panose="02010600030101010101" pitchFamily="2" charset="-122"/>
                </a:rPr>
                <a:t>&lt;5:0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2187" name="矩形 272475"/>
            <p:cNvSpPr/>
            <p:nvPr/>
          </p:nvSpPr>
          <p:spPr>
            <a:xfrm>
              <a:off x="1006" y="2880"/>
              <a:ext cx="1413"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Instruction</a:t>
              </a:r>
              <a:r>
                <a:rPr lang="en-US" altLang="zh-CN">
                  <a:latin typeface="Times New Roman" panose="02020603050405020304" pitchFamily="18" charset="0"/>
                  <a:ea typeface="宋体" panose="02010600030101010101" pitchFamily="2" charset="-122"/>
                </a:rPr>
                <a:t> </a:t>
              </a:r>
              <a:r>
                <a:rPr lang="en-US" altLang="zh-CN">
                  <a:latin typeface="Arial" panose="020B0604020202020204" pitchFamily="34" charset="0"/>
                  <a:ea typeface="宋体" panose="02010600030101010101" pitchFamily="2" charset="-122"/>
                </a:rPr>
                <a:t>Operation</a:t>
              </a:r>
              <a:endParaRPr lang="en-US" altLang="zh-CN">
                <a:latin typeface="Arial" panose="020B0604020202020204" pitchFamily="34" charset="0"/>
                <a:ea typeface="宋体" panose="02010600030101010101" pitchFamily="2" charset="-122"/>
              </a:endParaRPr>
            </a:p>
          </p:txBody>
        </p:sp>
        <p:sp>
          <p:nvSpPr>
            <p:cNvPr id="132188" name="矩形 272476"/>
            <p:cNvSpPr/>
            <p:nvPr/>
          </p:nvSpPr>
          <p:spPr>
            <a:xfrm>
              <a:off x="319" y="3072"/>
              <a:ext cx="57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10 0000</a:t>
              </a:r>
              <a:endParaRPr lang="zh-CN" altLang="en-US" dirty="0">
                <a:latin typeface="Arial" panose="020B0604020202020204" pitchFamily="34" charset="0"/>
                <a:ea typeface="宋体" panose="02010600030101010101" pitchFamily="2" charset="-122"/>
              </a:endParaRPr>
            </a:p>
          </p:txBody>
        </p:sp>
        <p:sp>
          <p:nvSpPr>
            <p:cNvPr id="132189" name="矩形 272477"/>
            <p:cNvSpPr/>
            <p:nvPr/>
          </p:nvSpPr>
          <p:spPr>
            <a:xfrm>
              <a:off x="319" y="3264"/>
              <a:ext cx="572"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a:t>
              </a:r>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0010</a:t>
              </a:r>
              <a:endParaRPr lang="zh-CN" altLang="en-US" dirty="0">
                <a:latin typeface="Arial" panose="020B0604020202020204" pitchFamily="34" charset="0"/>
                <a:ea typeface="宋体" panose="02010600030101010101" pitchFamily="2" charset="-122"/>
              </a:endParaRPr>
            </a:p>
          </p:txBody>
        </p:sp>
        <p:sp>
          <p:nvSpPr>
            <p:cNvPr id="132190" name="直接连接符 272478"/>
            <p:cNvSpPr/>
            <p:nvPr/>
          </p:nvSpPr>
          <p:spPr>
            <a:xfrm>
              <a:off x="200" y="3264"/>
              <a:ext cx="2144" cy="0"/>
            </a:xfrm>
            <a:prstGeom prst="line">
              <a:avLst/>
            </a:prstGeom>
            <a:ln w="25400" cap="flat" cmpd="sng">
              <a:solidFill>
                <a:schemeClr val="tx1"/>
              </a:solidFill>
              <a:prstDash val="solid"/>
              <a:round/>
              <a:headEnd type="none" w="med" len="med"/>
              <a:tailEnd type="none" w="med" len="med"/>
            </a:ln>
          </p:spPr>
        </p:sp>
        <p:sp>
          <p:nvSpPr>
            <p:cNvPr id="132191" name="直接连接符 272479"/>
            <p:cNvSpPr/>
            <p:nvPr/>
          </p:nvSpPr>
          <p:spPr>
            <a:xfrm>
              <a:off x="200" y="3456"/>
              <a:ext cx="2144" cy="0"/>
            </a:xfrm>
            <a:prstGeom prst="line">
              <a:avLst/>
            </a:prstGeom>
            <a:ln w="25400" cap="flat" cmpd="sng">
              <a:solidFill>
                <a:schemeClr val="tx1"/>
              </a:solidFill>
              <a:prstDash val="solid"/>
              <a:round/>
              <a:headEnd type="none" w="med" len="med"/>
              <a:tailEnd type="none" w="med" len="med"/>
            </a:ln>
          </p:spPr>
        </p:sp>
        <p:sp>
          <p:nvSpPr>
            <p:cNvPr id="132192" name="矩形 272480"/>
            <p:cNvSpPr/>
            <p:nvPr/>
          </p:nvSpPr>
          <p:spPr>
            <a:xfrm>
              <a:off x="319" y="3456"/>
              <a:ext cx="57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10 0100</a:t>
              </a:r>
              <a:endParaRPr lang="zh-CN" altLang="en-US" dirty="0">
                <a:latin typeface="Arial" panose="020B0604020202020204" pitchFamily="34" charset="0"/>
                <a:ea typeface="宋体" panose="02010600030101010101" pitchFamily="2" charset="-122"/>
              </a:endParaRPr>
            </a:p>
          </p:txBody>
        </p:sp>
        <p:sp>
          <p:nvSpPr>
            <p:cNvPr id="132193" name="直接连接符 272481"/>
            <p:cNvSpPr/>
            <p:nvPr/>
          </p:nvSpPr>
          <p:spPr>
            <a:xfrm>
              <a:off x="200" y="3648"/>
              <a:ext cx="2144" cy="0"/>
            </a:xfrm>
            <a:prstGeom prst="line">
              <a:avLst/>
            </a:prstGeom>
            <a:ln w="25400" cap="flat" cmpd="sng">
              <a:solidFill>
                <a:schemeClr val="tx1"/>
              </a:solidFill>
              <a:prstDash val="solid"/>
              <a:round/>
              <a:headEnd type="none" w="med" len="med"/>
              <a:tailEnd type="none" w="med" len="med"/>
            </a:ln>
          </p:spPr>
        </p:sp>
        <p:sp>
          <p:nvSpPr>
            <p:cNvPr id="132194" name="矩形 272482"/>
            <p:cNvSpPr/>
            <p:nvPr/>
          </p:nvSpPr>
          <p:spPr>
            <a:xfrm>
              <a:off x="319" y="3648"/>
              <a:ext cx="57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10 0101</a:t>
              </a:r>
              <a:endParaRPr lang="zh-CN" altLang="en-US" dirty="0">
                <a:latin typeface="Arial" panose="020B0604020202020204" pitchFamily="34" charset="0"/>
                <a:ea typeface="宋体" panose="02010600030101010101" pitchFamily="2" charset="-122"/>
              </a:endParaRPr>
            </a:p>
          </p:txBody>
        </p:sp>
        <p:sp>
          <p:nvSpPr>
            <p:cNvPr id="132195" name="直接连接符 272483"/>
            <p:cNvSpPr/>
            <p:nvPr/>
          </p:nvSpPr>
          <p:spPr>
            <a:xfrm>
              <a:off x="200" y="3840"/>
              <a:ext cx="2144" cy="0"/>
            </a:xfrm>
            <a:prstGeom prst="line">
              <a:avLst/>
            </a:prstGeom>
            <a:ln w="25400" cap="flat" cmpd="sng">
              <a:solidFill>
                <a:schemeClr val="tx1"/>
              </a:solidFill>
              <a:prstDash val="solid"/>
              <a:round/>
              <a:headEnd type="none" w="med" len="med"/>
              <a:tailEnd type="none" w="med" len="med"/>
            </a:ln>
          </p:spPr>
        </p:sp>
        <p:sp>
          <p:nvSpPr>
            <p:cNvPr id="132196" name="矩形 272484"/>
            <p:cNvSpPr/>
            <p:nvPr/>
          </p:nvSpPr>
          <p:spPr>
            <a:xfrm>
              <a:off x="319" y="3840"/>
              <a:ext cx="576"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10 1010</a:t>
              </a:r>
              <a:endParaRPr lang="zh-CN" altLang="en-US" dirty="0">
                <a:latin typeface="Arial" panose="020B0604020202020204" pitchFamily="34" charset="0"/>
                <a:ea typeface="宋体" panose="02010600030101010101" pitchFamily="2" charset="-122"/>
              </a:endParaRPr>
            </a:p>
          </p:txBody>
        </p:sp>
        <p:sp>
          <p:nvSpPr>
            <p:cNvPr id="132197" name="直接连接符 272485"/>
            <p:cNvSpPr/>
            <p:nvPr/>
          </p:nvSpPr>
          <p:spPr>
            <a:xfrm>
              <a:off x="200" y="4032"/>
              <a:ext cx="2144" cy="0"/>
            </a:xfrm>
            <a:prstGeom prst="line">
              <a:avLst/>
            </a:prstGeom>
            <a:ln w="25400" cap="flat" cmpd="sng">
              <a:solidFill>
                <a:schemeClr val="tx1"/>
              </a:solidFill>
              <a:prstDash val="solid"/>
              <a:round/>
              <a:headEnd type="none" w="med" len="med"/>
              <a:tailEnd type="none" w="med" len="med"/>
            </a:ln>
          </p:spPr>
        </p:sp>
        <p:sp>
          <p:nvSpPr>
            <p:cNvPr id="132198" name="矩形 272486"/>
            <p:cNvSpPr/>
            <p:nvPr/>
          </p:nvSpPr>
          <p:spPr>
            <a:xfrm>
              <a:off x="1238" y="3072"/>
              <a:ext cx="34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32199" name="矩形 272487"/>
            <p:cNvSpPr/>
            <p:nvPr/>
          </p:nvSpPr>
          <p:spPr>
            <a:xfrm>
              <a:off x="1238" y="3264"/>
              <a:ext cx="619"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subtract</a:t>
              </a:r>
              <a:endParaRPr lang="en-US" altLang="zh-CN">
                <a:latin typeface="Arial" panose="020B0604020202020204" pitchFamily="34" charset="0"/>
                <a:ea typeface="宋体" panose="02010600030101010101" pitchFamily="2" charset="-122"/>
              </a:endParaRPr>
            </a:p>
          </p:txBody>
        </p:sp>
        <p:sp>
          <p:nvSpPr>
            <p:cNvPr id="132200" name="矩形 272488"/>
            <p:cNvSpPr/>
            <p:nvPr/>
          </p:nvSpPr>
          <p:spPr>
            <a:xfrm>
              <a:off x="1238" y="3456"/>
              <a:ext cx="341"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and</a:t>
              </a:r>
              <a:endParaRPr lang="en-US" altLang="zh-CN">
                <a:latin typeface="Arial" panose="020B0604020202020204" pitchFamily="34" charset="0"/>
                <a:ea typeface="宋体" panose="02010600030101010101" pitchFamily="2" charset="-122"/>
              </a:endParaRPr>
            </a:p>
          </p:txBody>
        </p:sp>
        <p:sp>
          <p:nvSpPr>
            <p:cNvPr id="132201" name="矩形 272489"/>
            <p:cNvSpPr/>
            <p:nvPr/>
          </p:nvSpPr>
          <p:spPr>
            <a:xfrm>
              <a:off x="1238" y="3648"/>
              <a:ext cx="24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or</a:t>
              </a:r>
              <a:endParaRPr lang="en-US" altLang="zh-CN">
                <a:latin typeface="Arial" panose="020B0604020202020204" pitchFamily="34" charset="0"/>
                <a:ea typeface="宋体" panose="02010600030101010101" pitchFamily="2" charset="-122"/>
              </a:endParaRPr>
            </a:p>
          </p:txBody>
        </p:sp>
        <p:sp>
          <p:nvSpPr>
            <p:cNvPr id="132202" name="矩形 272490"/>
            <p:cNvSpPr/>
            <p:nvPr/>
          </p:nvSpPr>
          <p:spPr>
            <a:xfrm>
              <a:off x="1238" y="3840"/>
              <a:ext cx="1103"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set-on-less-than</a:t>
              </a:r>
              <a:endParaRPr lang="en-US" altLang="zh-CN">
                <a:latin typeface="Arial" panose="020B0604020202020204" pitchFamily="34" charset="0"/>
                <a:ea typeface="宋体" panose="02010600030101010101" pitchFamily="2" charset="-122"/>
              </a:endParaRPr>
            </a:p>
          </p:txBody>
        </p:sp>
        <p:sp>
          <p:nvSpPr>
            <p:cNvPr id="132203" name="直接连接符 272491"/>
            <p:cNvSpPr/>
            <p:nvPr/>
          </p:nvSpPr>
          <p:spPr>
            <a:xfrm>
              <a:off x="200" y="2880"/>
              <a:ext cx="2144" cy="0"/>
            </a:xfrm>
            <a:prstGeom prst="line">
              <a:avLst/>
            </a:prstGeom>
            <a:ln w="25400" cap="flat" cmpd="sng">
              <a:solidFill>
                <a:schemeClr val="tx1"/>
              </a:solidFill>
              <a:prstDash val="solid"/>
              <a:round/>
              <a:headEnd type="none" w="med" len="med"/>
              <a:tailEnd type="none" w="med" len="med"/>
            </a:ln>
          </p:spPr>
        </p:sp>
        <p:sp>
          <p:nvSpPr>
            <p:cNvPr id="132204" name="直接连接符 272492"/>
            <p:cNvSpPr/>
            <p:nvPr/>
          </p:nvSpPr>
          <p:spPr>
            <a:xfrm>
              <a:off x="192" y="2888"/>
              <a:ext cx="0" cy="1136"/>
            </a:xfrm>
            <a:prstGeom prst="line">
              <a:avLst/>
            </a:prstGeom>
            <a:ln w="25400" cap="flat" cmpd="sng">
              <a:solidFill>
                <a:schemeClr val="tx1"/>
              </a:solidFill>
              <a:prstDash val="solid"/>
              <a:round/>
              <a:headEnd type="none" w="med" len="med"/>
              <a:tailEnd type="none" w="med" len="med"/>
            </a:ln>
          </p:spPr>
        </p:sp>
        <p:sp>
          <p:nvSpPr>
            <p:cNvPr id="132205" name="直接连接符 272493"/>
            <p:cNvSpPr/>
            <p:nvPr/>
          </p:nvSpPr>
          <p:spPr>
            <a:xfrm>
              <a:off x="2352" y="2888"/>
              <a:ext cx="0" cy="1136"/>
            </a:xfrm>
            <a:prstGeom prst="line">
              <a:avLst/>
            </a:prstGeom>
            <a:ln w="25400" cap="flat" cmpd="sng">
              <a:solidFill>
                <a:schemeClr val="tx1"/>
              </a:solidFill>
              <a:prstDash val="solid"/>
              <a:round/>
              <a:headEnd type="none" w="med" len="med"/>
              <a:tailEnd type="none" w="med" len="med"/>
            </a:ln>
          </p:spPr>
        </p:sp>
        <p:sp>
          <p:nvSpPr>
            <p:cNvPr id="132206" name="直接连接符 272494"/>
            <p:cNvSpPr/>
            <p:nvPr/>
          </p:nvSpPr>
          <p:spPr>
            <a:xfrm>
              <a:off x="973" y="2888"/>
              <a:ext cx="0" cy="1136"/>
            </a:xfrm>
            <a:prstGeom prst="line">
              <a:avLst/>
            </a:prstGeom>
            <a:ln w="25400" cap="flat" cmpd="sng">
              <a:solidFill>
                <a:schemeClr val="tx1"/>
              </a:solidFill>
              <a:prstDash val="solid"/>
              <a:round/>
              <a:headEnd type="none" w="med" len="med"/>
              <a:tailEnd type="none" w="med" len="med"/>
            </a:ln>
          </p:spPr>
        </p:sp>
      </p:grpSp>
      <p:grpSp>
        <p:nvGrpSpPr>
          <p:cNvPr id="272496" name="组合 272495"/>
          <p:cNvGrpSpPr/>
          <p:nvPr/>
        </p:nvGrpSpPr>
        <p:grpSpPr>
          <a:xfrm>
            <a:off x="3865563" y="4362450"/>
            <a:ext cx="3079750" cy="1857375"/>
            <a:chOff x="3585" y="2928"/>
            <a:chExt cx="1940" cy="1170"/>
          </a:xfrm>
        </p:grpSpPr>
        <p:sp>
          <p:nvSpPr>
            <p:cNvPr id="132208" name="直接连接符 272496"/>
            <p:cNvSpPr/>
            <p:nvPr/>
          </p:nvSpPr>
          <p:spPr>
            <a:xfrm>
              <a:off x="3613" y="3120"/>
              <a:ext cx="1904" cy="0"/>
            </a:xfrm>
            <a:prstGeom prst="line">
              <a:avLst/>
            </a:prstGeom>
            <a:ln w="25400" cap="flat" cmpd="sng">
              <a:solidFill>
                <a:schemeClr val="tx1"/>
              </a:solidFill>
              <a:prstDash val="solid"/>
              <a:round/>
              <a:headEnd type="none" w="med" len="med"/>
              <a:tailEnd type="none" w="med" len="med"/>
            </a:ln>
          </p:spPr>
        </p:sp>
        <p:sp>
          <p:nvSpPr>
            <p:cNvPr id="132209" name="矩形 272497"/>
            <p:cNvSpPr/>
            <p:nvPr/>
          </p:nvSpPr>
          <p:spPr>
            <a:xfrm>
              <a:off x="3585" y="2928"/>
              <a:ext cx="873"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ALUctr</a:t>
              </a:r>
              <a:r>
                <a:rPr lang="en-US" altLang="zh-CN">
                  <a:latin typeface="Arial" panose="020B0604020202020204" pitchFamily="34" charset="0"/>
                  <a:ea typeface="宋体" panose="02010600030101010101" pitchFamily="2" charset="-122"/>
                </a:rPr>
                <a:t>&lt;2:0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2210" name="矩形 272498"/>
            <p:cNvSpPr/>
            <p:nvPr/>
          </p:nvSpPr>
          <p:spPr>
            <a:xfrm>
              <a:off x="4460" y="2928"/>
              <a:ext cx="1013"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ALU</a:t>
              </a:r>
              <a:r>
                <a:rPr lang="en-US" altLang="zh-CN">
                  <a:latin typeface="Times New Roman" panose="02020603050405020304" pitchFamily="18" charset="0"/>
                  <a:ea typeface="宋体" panose="02010600030101010101" pitchFamily="2" charset="-122"/>
                </a:rPr>
                <a:t> </a:t>
              </a:r>
              <a:r>
                <a:rPr lang="en-US" altLang="zh-CN">
                  <a:latin typeface="Arial" panose="020B0604020202020204" pitchFamily="34" charset="0"/>
                  <a:ea typeface="宋体" panose="02010600030101010101" pitchFamily="2" charset="-122"/>
                </a:rPr>
                <a:t>Operation</a:t>
              </a:r>
              <a:endParaRPr lang="en-US" altLang="zh-CN">
                <a:latin typeface="Arial" panose="020B0604020202020204" pitchFamily="34" charset="0"/>
                <a:ea typeface="宋体" panose="02010600030101010101" pitchFamily="2" charset="-122"/>
              </a:endParaRPr>
            </a:p>
          </p:txBody>
        </p:sp>
        <p:sp>
          <p:nvSpPr>
            <p:cNvPr id="132211" name="矩形 272499"/>
            <p:cNvSpPr/>
            <p:nvPr/>
          </p:nvSpPr>
          <p:spPr>
            <a:xfrm>
              <a:off x="3836" y="3120"/>
              <a:ext cx="327"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000</a:t>
              </a:r>
              <a:endParaRPr lang="zh-CN" altLang="en-US" dirty="0">
                <a:latin typeface="Arial" panose="020B0604020202020204" pitchFamily="34" charset="0"/>
                <a:ea typeface="宋体" panose="02010600030101010101" pitchFamily="2" charset="-122"/>
              </a:endParaRPr>
            </a:p>
          </p:txBody>
        </p:sp>
        <p:sp>
          <p:nvSpPr>
            <p:cNvPr id="132212" name="矩形 272500"/>
            <p:cNvSpPr/>
            <p:nvPr/>
          </p:nvSpPr>
          <p:spPr>
            <a:xfrm>
              <a:off x="3836" y="3312"/>
              <a:ext cx="327"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001</a:t>
              </a:r>
              <a:endParaRPr lang="zh-CN" altLang="en-US" dirty="0">
                <a:latin typeface="Arial" panose="020B0604020202020204" pitchFamily="34" charset="0"/>
                <a:ea typeface="宋体" panose="02010600030101010101" pitchFamily="2" charset="-122"/>
              </a:endParaRPr>
            </a:p>
          </p:txBody>
        </p:sp>
        <p:sp>
          <p:nvSpPr>
            <p:cNvPr id="132213" name="直接连接符 272501"/>
            <p:cNvSpPr/>
            <p:nvPr/>
          </p:nvSpPr>
          <p:spPr>
            <a:xfrm>
              <a:off x="3613" y="3312"/>
              <a:ext cx="1904" cy="0"/>
            </a:xfrm>
            <a:prstGeom prst="line">
              <a:avLst/>
            </a:prstGeom>
            <a:ln w="25400" cap="flat" cmpd="sng">
              <a:solidFill>
                <a:schemeClr val="tx1"/>
              </a:solidFill>
              <a:prstDash val="solid"/>
              <a:round/>
              <a:headEnd type="none" w="med" len="med"/>
              <a:tailEnd type="none" w="med" len="med"/>
            </a:ln>
          </p:spPr>
        </p:sp>
        <p:sp>
          <p:nvSpPr>
            <p:cNvPr id="132214" name="直接连接符 272502"/>
            <p:cNvSpPr/>
            <p:nvPr/>
          </p:nvSpPr>
          <p:spPr>
            <a:xfrm>
              <a:off x="3613" y="3504"/>
              <a:ext cx="1904" cy="0"/>
            </a:xfrm>
            <a:prstGeom prst="line">
              <a:avLst/>
            </a:prstGeom>
            <a:ln w="25400" cap="flat" cmpd="sng">
              <a:solidFill>
                <a:schemeClr val="tx1"/>
              </a:solidFill>
              <a:prstDash val="solid"/>
              <a:round/>
              <a:headEnd type="none" w="med" len="med"/>
              <a:tailEnd type="none" w="med" len="med"/>
            </a:ln>
          </p:spPr>
        </p:sp>
        <p:sp>
          <p:nvSpPr>
            <p:cNvPr id="132215" name="矩形 272503"/>
            <p:cNvSpPr/>
            <p:nvPr/>
          </p:nvSpPr>
          <p:spPr>
            <a:xfrm>
              <a:off x="3836" y="3504"/>
              <a:ext cx="327"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100</a:t>
              </a:r>
              <a:endParaRPr lang="en-US" altLang="zh-CN">
                <a:latin typeface="Arial" panose="020B0604020202020204" pitchFamily="34" charset="0"/>
                <a:ea typeface="宋体" panose="02010600030101010101" pitchFamily="2" charset="-122"/>
              </a:endParaRPr>
            </a:p>
          </p:txBody>
        </p:sp>
        <p:sp>
          <p:nvSpPr>
            <p:cNvPr id="132216" name="直接连接符 272504"/>
            <p:cNvSpPr/>
            <p:nvPr/>
          </p:nvSpPr>
          <p:spPr>
            <a:xfrm>
              <a:off x="3613" y="3696"/>
              <a:ext cx="1904" cy="0"/>
            </a:xfrm>
            <a:prstGeom prst="line">
              <a:avLst/>
            </a:prstGeom>
            <a:ln w="25400" cap="flat" cmpd="sng">
              <a:solidFill>
                <a:schemeClr val="tx1"/>
              </a:solidFill>
              <a:prstDash val="solid"/>
              <a:round/>
              <a:headEnd type="none" w="med" len="med"/>
              <a:tailEnd type="none" w="med" len="med"/>
            </a:ln>
          </p:spPr>
        </p:sp>
        <p:sp>
          <p:nvSpPr>
            <p:cNvPr id="132217" name="矩形 272505"/>
            <p:cNvSpPr/>
            <p:nvPr/>
          </p:nvSpPr>
          <p:spPr>
            <a:xfrm>
              <a:off x="3836" y="3696"/>
              <a:ext cx="327"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r>
                <a:rPr lang="en-US" altLang="zh-CN">
                  <a:latin typeface="Arial" panose="020B0604020202020204" pitchFamily="34" charset="0"/>
                  <a:ea typeface="宋体" panose="02010600030101010101" pitchFamily="2" charset="-122"/>
                </a:rPr>
                <a:t>01</a:t>
              </a:r>
              <a:endParaRPr lang="en-US" altLang="zh-CN">
                <a:latin typeface="Arial" panose="020B0604020202020204" pitchFamily="34" charset="0"/>
                <a:ea typeface="宋体" panose="02010600030101010101" pitchFamily="2" charset="-122"/>
              </a:endParaRPr>
            </a:p>
          </p:txBody>
        </p:sp>
        <p:sp>
          <p:nvSpPr>
            <p:cNvPr id="132218" name="直接连接符 272506"/>
            <p:cNvSpPr/>
            <p:nvPr/>
          </p:nvSpPr>
          <p:spPr>
            <a:xfrm>
              <a:off x="3613" y="3888"/>
              <a:ext cx="1904" cy="0"/>
            </a:xfrm>
            <a:prstGeom prst="line">
              <a:avLst/>
            </a:prstGeom>
            <a:ln w="25400" cap="flat" cmpd="sng">
              <a:solidFill>
                <a:schemeClr val="tx1"/>
              </a:solidFill>
              <a:prstDash val="solid"/>
              <a:round/>
              <a:headEnd type="none" w="med" len="med"/>
              <a:tailEnd type="none" w="med" len="med"/>
            </a:ln>
          </p:spPr>
        </p:sp>
        <p:sp>
          <p:nvSpPr>
            <p:cNvPr id="132219" name="矩形 272507"/>
            <p:cNvSpPr/>
            <p:nvPr/>
          </p:nvSpPr>
          <p:spPr>
            <a:xfrm>
              <a:off x="3836" y="3888"/>
              <a:ext cx="327"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010</a:t>
              </a:r>
              <a:endParaRPr lang="en-US" altLang="zh-CN">
                <a:latin typeface="Arial" panose="020B0604020202020204" pitchFamily="34" charset="0"/>
                <a:ea typeface="宋体" panose="02010600030101010101" pitchFamily="2" charset="-122"/>
              </a:endParaRPr>
            </a:p>
          </p:txBody>
        </p:sp>
        <p:sp>
          <p:nvSpPr>
            <p:cNvPr id="132220" name="直接连接符 272508"/>
            <p:cNvSpPr/>
            <p:nvPr/>
          </p:nvSpPr>
          <p:spPr>
            <a:xfrm>
              <a:off x="3613" y="4080"/>
              <a:ext cx="1904" cy="0"/>
            </a:xfrm>
            <a:prstGeom prst="line">
              <a:avLst/>
            </a:prstGeom>
            <a:ln w="25400" cap="flat" cmpd="sng">
              <a:solidFill>
                <a:schemeClr val="tx1"/>
              </a:solidFill>
              <a:prstDash val="solid"/>
              <a:round/>
              <a:headEnd type="none" w="med" len="med"/>
              <a:tailEnd type="none" w="med" len="med"/>
            </a:ln>
          </p:spPr>
        </p:sp>
        <p:sp>
          <p:nvSpPr>
            <p:cNvPr id="132221" name="矩形 272509"/>
            <p:cNvSpPr/>
            <p:nvPr/>
          </p:nvSpPr>
          <p:spPr>
            <a:xfrm>
              <a:off x="4748" y="3120"/>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32222" name="矩形 272510"/>
            <p:cNvSpPr/>
            <p:nvPr/>
          </p:nvSpPr>
          <p:spPr>
            <a:xfrm>
              <a:off x="4652" y="3312"/>
              <a:ext cx="633"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Subtract</a:t>
              </a:r>
              <a:endParaRPr lang="en-US" altLang="zh-CN">
                <a:latin typeface="Arial" panose="020B0604020202020204" pitchFamily="34" charset="0"/>
                <a:ea typeface="宋体" panose="02010600030101010101" pitchFamily="2" charset="-122"/>
              </a:endParaRPr>
            </a:p>
          </p:txBody>
        </p:sp>
        <p:sp>
          <p:nvSpPr>
            <p:cNvPr id="132223" name="矩形 272511"/>
            <p:cNvSpPr/>
            <p:nvPr/>
          </p:nvSpPr>
          <p:spPr>
            <a:xfrm>
              <a:off x="4748" y="3504"/>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And</a:t>
              </a:r>
              <a:endParaRPr lang="en-US" altLang="zh-CN">
                <a:latin typeface="Arial" panose="020B0604020202020204" pitchFamily="34" charset="0"/>
                <a:ea typeface="宋体" panose="02010600030101010101" pitchFamily="2" charset="-122"/>
              </a:endParaRPr>
            </a:p>
          </p:txBody>
        </p:sp>
        <p:sp>
          <p:nvSpPr>
            <p:cNvPr id="132224" name="矩形 272512"/>
            <p:cNvSpPr/>
            <p:nvPr/>
          </p:nvSpPr>
          <p:spPr>
            <a:xfrm>
              <a:off x="4796" y="3696"/>
              <a:ext cx="264"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Or</a:t>
              </a:r>
              <a:endParaRPr lang="en-US" altLang="zh-CN">
                <a:latin typeface="Arial" panose="020B0604020202020204" pitchFamily="34" charset="0"/>
                <a:ea typeface="宋体" panose="02010600030101010101" pitchFamily="2" charset="-122"/>
              </a:endParaRPr>
            </a:p>
          </p:txBody>
        </p:sp>
        <p:sp>
          <p:nvSpPr>
            <p:cNvPr id="132225" name="矩形 272513"/>
            <p:cNvSpPr/>
            <p:nvPr/>
          </p:nvSpPr>
          <p:spPr>
            <a:xfrm>
              <a:off x="4508" y="3888"/>
              <a:ext cx="729" cy="210"/>
            </a:xfrm>
            <a:prstGeom prst="rect">
              <a:avLst/>
            </a:prstGeom>
            <a:noFill/>
            <a:ln w="12700">
              <a:noFill/>
            </a:ln>
          </p:spPr>
          <p:txBody>
            <a:bodyPr wrap="none" lIns="90488" tIns="44450" rIns="90488" bIns="44450" anchor="t" anchorCtr="0">
              <a:spAutoFit/>
            </a:bodyPr>
            <a:p>
              <a:pPr eaLnBrk="0" hangingPunct="0"/>
              <a:r>
                <a:rPr lang="en-US" altLang="zh-CN" b="0">
                  <a:latin typeface="Times New Roman" panose="02020603050405020304" pitchFamily="18" charset="0"/>
                  <a:ea typeface="宋体" panose="02010600030101010101" pitchFamily="2" charset="-122"/>
                </a:rPr>
                <a:t>   </a:t>
              </a:r>
              <a:r>
                <a:rPr lang="en-US" altLang="zh-CN">
                  <a:latin typeface="Arial" panose="020B0604020202020204" pitchFamily="34" charset="0"/>
                  <a:ea typeface="宋体" panose="02010600030101010101" pitchFamily="2" charset="-122"/>
                </a:rPr>
                <a:t>Subtract</a:t>
              </a:r>
              <a:endParaRPr lang="en-US" altLang="zh-CN">
                <a:latin typeface="Arial" panose="020B0604020202020204" pitchFamily="34" charset="0"/>
                <a:ea typeface="宋体" panose="02010600030101010101" pitchFamily="2" charset="-122"/>
              </a:endParaRPr>
            </a:p>
          </p:txBody>
        </p:sp>
        <p:sp>
          <p:nvSpPr>
            <p:cNvPr id="132226" name="直接连接符 272514"/>
            <p:cNvSpPr/>
            <p:nvPr/>
          </p:nvSpPr>
          <p:spPr>
            <a:xfrm>
              <a:off x="3613" y="2928"/>
              <a:ext cx="1904" cy="0"/>
            </a:xfrm>
            <a:prstGeom prst="line">
              <a:avLst/>
            </a:prstGeom>
            <a:ln w="25400" cap="flat" cmpd="sng">
              <a:solidFill>
                <a:schemeClr val="tx1"/>
              </a:solidFill>
              <a:prstDash val="solid"/>
              <a:round/>
              <a:headEnd type="none" w="med" len="med"/>
              <a:tailEnd type="none" w="med" len="med"/>
            </a:ln>
          </p:spPr>
        </p:sp>
        <p:sp>
          <p:nvSpPr>
            <p:cNvPr id="132227" name="直接连接符 272515"/>
            <p:cNvSpPr/>
            <p:nvPr/>
          </p:nvSpPr>
          <p:spPr>
            <a:xfrm>
              <a:off x="3605" y="2936"/>
              <a:ext cx="0" cy="1136"/>
            </a:xfrm>
            <a:prstGeom prst="line">
              <a:avLst/>
            </a:prstGeom>
            <a:ln w="25400" cap="flat" cmpd="sng">
              <a:solidFill>
                <a:schemeClr val="tx1"/>
              </a:solidFill>
              <a:prstDash val="solid"/>
              <a:round/>
              <a:headEnd type="none" w="med" len="med"/>
              <a:tailEnd type="none" w="med" len="med"/>
            </a:ln>
          </p:spPr>
        </p:sp>
        <p:sp>
          <p:nvSpPr>
            <p:cNvPr id="132228" name="直接连接符 272516"/>
            <p:cNvSpPr/>
            <p:nvPr/>
          </p:nvSpPr>
          <p:spPr>
            <a:xfrm>
              <a:off x="5525" y="2936"/>
              <a:ext cx="0" cy="1136"/>
            </a:xfrm>
            <a:prstGeom prst="line">
              <a:avLst/>
            </a:prstGeom>
            <a:ln w="25400" cap="flat" cmpd="sng">
              <a:solidFill>
                <a:schemeClr val="tx1"/>
              </a:solidFill>
              <a:prstDash val="solid"/>
              <a:round/>
              <a:headEnd type="none" w="med" len="med"/>
              <a:tailEnd type="none" w="med" len="med"/>
            </a:ln>
          </p:spPr>
        </p:sp>
        <p:sp>
          <p:nvSpPr>
            <p:cNvPr id="132229" name="直接连接符 272517"/>
            <p:cNvSpPr/>
            <p:nvPr/>
          </p:nvSpPr>
          <p:spPr>
            <a:xfrm>
              <a:off x="4421" y="2936"/>
              <a:ext cx="0" cy="1136"/>
            </a:xfrm>
            <a:prstGeom prst="line">
              <a:avLst/>
            </a:prstGeom>
            <a:ln w="25400" cap="flat" cmpd="sng">
              <a:solidFill>
                <a:schemeClr val="tx1"/>
              </a:solidFill>
              <a:prstDash val="solid"/>
              <a:round/>
              <a:headEnd type="none" w="med" len="med"/>
              <a:tailEnd type="none" w="med" len="med"/>
            </a:ln>
          </p:spPr>
        </p:sp>
      </p:grpSp>
      <p:grpSp>
        <p:nvGrpSpPr>
          <p:cNvPr id="272520" name="组合 272519"/>
          <p:cNvGrpSpPr/>
          <p:nvPr/>
        </p:nvGrpSpPr>
        <p:grpSpPr>
          <a:xfrm>
            <a:off x="7505700" y="4387850"/>
            <a:ext cx="1012825" cy="1655763"/>
            <a:chOff x="3025" y="2916"/>
            <a:chExt cx="526" cy="1043"/>
          </a:xfrm>
        </p:grpSpPr>
        <p:grpSp>
          <p:nvGrpSpPr>
            <p:cNvPr id="132231" name="组合 272520"/>
            <p:cNvGrpSpPr/>
            <p:nvPr/>
          </p:nvGrpSpPr>
          <p:grpSpPr>
            <a:xfrm>
              <a:off x="3072" y="3271"/>
              <a:ext cx="288" cy="688"/>
              <a:chOff x="3072" y="3271"/>
              <a:chExt cx="288" cy="688"/>
            </a:xfrm>
          </p:grpSpPr>
          <p:sp>
            <p:nvSpPr>
              <p:cNvPr id="132232" name="直接连接符 272521"/>
              <p:cNvSpPr/>
              <p:nvPr/>
            </p:nvSpPr>
            <p:spPr>
              <a:xfrm>
                <a:off x="3072" y="3271"/>
                <a:ext cx="0" cy="156"/>
              </a:xfrm>
              <a:prstGeom prst="line">
                <a:avLst/>
              </a:prstGeom>
              <a:ln w="25400" cap="flat" cmpd="sng">
                <a:solidFill>
                  <a:schemeClr val="tx1"/>
                </a:solidFill>
                <a:prstDash val="solid"/>
                <a:round/>
                <a:headEnd type="none" w="med" len="med"/>
                <a:tailEnd type="none" w="med" len="med"/>
              </a:ln>
            </p:spPr>
          </p:sp>
          <p:sp>
            <p:nvSpPr>
              <p:cNvPr id="132233" name="直接连接符 272522"/>
              <p:cNvSpPr/>
              <p:nvPr/>
            </p:nvSpPr>
            <p:spPr>
              <a:xfrm>
                <a:off x="3080" y="3271"/>
                <a:ext cx="272" cy="156"/>
              </a:xfrm>
              <a:prstGeom prst="line">
                <a:avLst/>
              </a:prstGeom>
              <a:ln w="25400" cap="flat" cmpd="sng">
                <a:solidFill>
                  <a:schemeClr val="tx1"/>
                </a:solidFill>
                <a:prstDash val="solid"/>
                <a:round/>
                <a:headEnd type="none" w="med" len="med"/>
                <a:tailEnd type="none" w="med" len="med"/>
              </a:ln>
            </p:spPr>
          </p:sp>
          <p:sp>
            <p:nvSpPr>
              <p:cNvPr id="132234" name="直接连接符 272523"/>
              <p:cNvSpPr/>
              <p:nvPr/>
            </p:nvSpPr>
            <p:spPr>
              <a:xfrm>
                <a:off x="3080" y="3443"/>
                <a:ext cx="128" cy="70"/>
              </a:xfrm>
              <a:prstGeom prst="line">
                <a:avLst/>
              </a:prstGeom>
              <a:ln w="25400" cap="flat" cmpd="sng">
                <a:solidFill>
                  <a:schemeClr val="tx1"/>
                </a:solidFill>
                <a:prstDash val="solid"/>
                <a:round/>
                <a:headEnd type="none" w="med" len="med"/>
                <a:tailEnd type="none" w="med" len="med"/>
              </a:ln>
            </p:spPr>
          </p:sp>
          <p:sp>
            <p:nvSpPr>
              <p:cNvPr id="132235" name="直接连接符 272524"/>
              <p:cNvSpPr/>
              <p:nvPr/>
            </p:nvSpPr>
            <p:spPr>
              <a:xfrm>
                <a:off x="3216" y="3529"/>
                <a:ext cx="0" cy="156"/>
              </a:xfrm>
              <a:prstGeom prst="line">
                <a:avLst/>
              </a:prstGeom>
              <a:ln w="25400" cap="flat" cmpd="sng">
                <a:solidFill>
                  <a:schemeClr val="tx1"/>
                </a:solidFill>
                <a:prstDash val="solid"/>
                <a:round/>
                <a:headEnd type="none" w="med" len="med"/>
                <a:tailEnd type="none" w="med" len="med"/>
              </a:ln>
            </p:spPr>
          </p:sp>
          <p:sp>
            <p:nvSpPr>
              <p:cNvPr id="132236" name="直接连接符 272525"/>
              <p:cNvSpPr/>
              <p:nvPr/>
            </p:nvSpPr>
            <p:spPr>
              <a:xfrm>
                <a:off x="3360" y="3443"/>
                <a:ext cx="0" cy="328"/>
              </a:xfrm>
              <a:prstGeom prst="line">
                <a:avLst/>
              </a:prstGeom>
              <a:ln w="25400" cap="flat" cmpd="sng">
                <a:solidFill>
                  <a:schemeClr val="tx1"/>
                </a:solidFill>
                <a:prstDash val="solid"/>
                <a:round/>
                <a:headEnd type="none" w="med" len="med"/>
                <a:tailEnd type="none" w="med" len="med"/>
              </a:ln>
            </p:spPr>
          </p:sp>
          <p:sp>
            <p:nvSpPr>
              <p:cNvPr id="132237" name="直接连接符 272526"/>
              <p:cNvSpPr/>
              <p:nvPr/>
            </p:nvSpPr>
            <p:spPr>
              <a:xfrm flipV="1">
                <a:off x="3080" y="3685"/>
                <a:ext cx="128" cy="102"/>
              </a:xfrm>
              <a:prstGeom prst="line">
                <a:avLst/>
              </a:prstGeom>
              <a:ln w="25400" cap="flat" cmpd="sng">
                <a:solidFill>
                  <a:schemeClr val="tx1"/>
                </a:solidFill>
                <a:prstDash val="solid"/>
                <a:round/>
                <a:headEnd type="none" w="med" len="med"/>
                <a:tailEnd type="none" w="med" len="med"/>
              </a:ln>
            </p:spPr>
          </p:sp>
          <p:sp>
            <p:nvSpPr>
              <p:cNvPr id="132238" name="直接连接符 272527"/>
              <p:cNvSpPr/>
              <p:nvPr/>
            </p:nvSpPr>
            <p:spPr>
              <a:xfrm>
                <a:off x="3072" y="3787"/>
                <a:ext cx="0" cy="156"/>
              </a:xfrm>
              <a:prstGeom prst="line">
                <a:avLst/>
              </a:prstGeom>
              <a:ln w="25400" cap="flat" cmpd="sng">
                <a:solidFill>
                  <a:schemeClr val="tx1"/>
                </a:solidFill>
                <a:prstDash val="solid"/>
                <a:round/>
                <a:headEnd type="none" w="med" len="med"/>
                <a:tailEnd type="none" w="med" len="med"/>
              </a:ln>
            </p:spPr>
          </p:sp>
          <p:sp>
            <p:nvSpPr>
              <p:cNvPr id="132239" name="直接连接符 272528"/>
              <p:cNvSpPr/>
              <p:nvPr/>
            </p:nvSpPr>
            <p:spPr>
              <a:xfrm flipV="1">
                <a:off x="3080" y="3771"/>
                <a:ext cx="272" cy="188"/>
              </a:xfrm>
              <a:prstGeom prst="line">
                <a:avLst/>
              </a:prstGeom>
              <a:ln w="25400" cap="flat" cmpd="sng">
                <a:solidFill>
                  <a:schemeClr val="tx1"/>
                </a:solidFill>
                <a:prstDash val="solid"/>
                <a:round/>
                <a:headEnd type="none" w="med" len="med"/>
                <a:tailEnd type="none" w="med" len="med"/>
              </a:ln>
            </p:spPr>
          </p:sp>
        </p:grpSp>
        <p:sp>
          <p:nvSpPr>
            <p:cNvPr id="132240" name="直接连接符 272529"/>
            <p:cNvSpPr/>
            <p:nvPr/>
          </p:nvSpPr>
          <p:spPr>
            <a:xfrm>
              <a:off x="3216" y="3099"/>
              <a:ext cx="0" cy="242"/>
            </a:xfrm>
            <a:prstGeom prst="line">
              <a:avLst/>
            </a:prstGeom>
            <a:ln w="25400" cap="flat" cmpd="sng">
              <a:solidFill>
                <a:schemeClr val="tx1"/>
              </a:solidFill>
              <a:prstDash val="solid"/>
              <a:round/>
              <a:headEnd type="none" w="med" len="med"/>
              <a:tailEnd type="triangle" w="med" len="med"/>
            </a:ln>
          </p:spPr>
        </p:sp>
        <p:sp>
          <p:nvSpPr>
            <p:cNvPr id="132241" name="矩形 272530"/>
            <p:cNvSpPr/>
            <p:nvPr/>
          </p:nvSpPr>
          <p:spPr>
            <a:xfrm>
              <a:off x="3025" y="2916"/>
              <a:ext cx="526" cy="210"/>
            </a:xfrm>
            <a:prstGeom prst="rect">
              <a:avLst/>
            </a:prstGeom>
            <a:noFill/>
            <a:ln w="12700">
              <a:noFill/>
            </a:ln>
          </p:spPr>
          <p:txBody>
            <a:bodyPr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ALUctr</a:t>
              </a:r>
              <a:endParaRPr lang="en-US" altLang="zh-CN">
                <a:latin typeface="Arial" panose="020B0604020202020204" pitchFamily="34" charset="0"/>
                <a:ea typeface="宋体" panose="02010600030101010101" pitchFamily="2" charset="-122"/>
              </a:endParaRPr>
            </a:p>
          </p:txBody>
        </p:sp>
        <p:sp>
          <p:nvSpPr>
            <p:cNvPr id="132242" name="矩形 272531"/>
            <p:cNvSpPr/>
            <p:nvPr/>
          </p:nvSpPr>
          <p:spPr>
            <a:xfrm rot="5400000">
              <a:off x="3096" y="3525"/>
              <a:ext cx="376" cy="173"/>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ALU</a:t>
              </a:r>
              <a:endParaRPr lang="en-US" altLang="zh-CN">
                <a:latin typeface="Arial" panose="020B0604020202020204" pitchFamily="34" charset="0"/>
                <a:ea typeface="宋体" panose="02010600030101010101" pitchFamily="2" charset="-122"/>
              </a:endParaRPr>
            </a:p>
          </p:txBody>
        </p:sp>
      </p:grpSp>
      <p:sp>
        <p:nvSpPr>
          <p:cNvPr id="272533" name="文本框 272532"/>
          <p:cNvSpPr txBox="1"/>
          <p:nvPr/>
        </p:nvSpPr>
        <p:spPr>
          <a:xfrm>
            <a:off x="685800" y="1731963"/>
            <a:ext cx="6823075" cy="366712"/>
          </a:xfrm>
          <a:prstGeom prst="rect">
            <a:avLst/>
          </a:prstGeom>
          <a:noFill/>
          <a:ln w="50800">
            <a:noFill/>
          </a:ln>
        </p:spPr>
        <p:txBody>
          <a:bodyPr anchor="t" anchorCtr="0">
            <a:spAutoFit/>
          </a:bodyPr>
          <a:p>
            <a:pPr eaLnBrk="0" hangingPunct="0"/>
            <a:r>
              <a:rPr lang="en-US" altLang="zh-CN" sz="1800" b="0" dirty="0" err="1">
                <a:solidFill>
                  <a:schemeClr val="accent1"/>
                </a:solidFill>
                <a:latin typeface="Arial" panose="020B0604020202020204" pitchFamily="34" charset="0"/>
                <a:ea typeface="黑体" panose="02010609060101010101" pitchFamily="49" charset="-122"/>
              </a:rPr>
              <a:t>ALUop</a:t>
            </a:r>
            <a:r>
              <a:rPr lang="zh-CN" altLang="en-US" sz="1800" b="0" dirty="0">
                <a:solidFill>
                  <a:schemeClr val="accent1"/>
                </a:solidFill>
                <a:latin typeface="Arial" panose="020B0604020202020204" pitchFamily="34" charset="0"/>
                <a:ea typeface="黑体" panose="02010609060101010101" pitchFamily="49" charset="-122"/>
              </a:rPr>
              <a:t>的编码定义如下：</a:t>
            </a:r>
            <a:endParaRPr lang="en-US" altLang="zh-CN" sz="1800" b="0">
              <a:solidFill>
                <a:schemeClr val="accent2"/>
              </a:solidFill>
              <a:latin typeface="Arial" panose="020B0604020202020204" pitchFamily="34" charset="0"/>
              <a:ea typeface="黑体" panose="02010609060101010101" pitchFamily="49" charset="-122"/>
            </a:endParaRPr>
          </a:p>
        </p:txBody>
      </p:sp>
      <p:sp>
        <p:nvSpPr>
          <p:cNvPr id="272519" name="矩形 272518"/>
          <p:cNvSpPr/>
          <p:nvPr/>
        </p:nvSpPr>
        <p:spPr>
          <a:xfrm>
            <a:off x="798513" y="6302375"/>
            <a:ext cx="7902575" cy="363538"/>
          </a:xfrm>
          <a:prstGeom prst="rect">
            <a:avLst/>
          </a:prstGeom>
          <a:noFill/>
          <a:ln w="12700">
            <a:noFill/>
          </a:ln>
        </p:spPr>
        <p:txBody>
          <a:bodyPr wrap="none" lIns="90488" tIns="44450" rIns="90488" bIns="44450" anchor="t" anchorCtr="0">
            <a:spAutoFit/>
          </a:bodyPr>
          <a:p>
            <a:pPr eaLnBrk="0" hangingPunct="0"/>
            <a:r>
              <a:rPr lang="en-US" altLang="zh-CN" sz="1800" b="0" dirty="0" err="1">
                <a:solidFill>
                  <a:schemeClr val="accent1"/>
                </a:solidFill>
                <a:latin typeface="Arial" panose="020B0604020202020204" pitchFamily="34" charset="0"/>
                <a:ea typeface="黑体" panose="02010609060101010101" pitchFamily="49" charset="-122"/>
              </a:rPr>
              <a:t>ALUctr</a:t>
            </a:r>
            <a:r>
              <a:rPr lang="zh-CN" altLang="en-US" sz="1800" b="0" dirty="0">
                <a:solidFill>
                  <a:schemeClr val="accent1"/>
                </a:solidFill>
                <a:latin typeface="Arial" panose="020B0604020202020204" pitchFamily="34" charset="0"/>
                <a:ea typeface="黑体" panose="02010609060101010101" pitchFamily="49" charset="-122"/>
              </a:rPr>
              <a:t>与</a:t>
            </a:r>
            <a:r>
              <a:rPr lang="en-US" altLang="zh-CN" sz="1800" b="0" dirty="0" err="1">
                <a:solidFill>
                  <a:schemeClr val="accent1"/>
                </a:solidFill>
                <a:latin typeface="Arial" panose="020B0604020202020204" pitchFamily="34" charset="0"/>
                <a:ea typeface="黑体" panose="02010609060101010101" pitchFamily="49" charset="-122"/>
              </a:rPr>
              <a:t>func</a:t>
            </a:r>
            <a:r>
              <a:rPr lang="zh-CN" altLang="en-US" sz="1800" b="0" dirty="0">
                <a:solidFill>
                  <a:schemeClr val="accent1"/>
                </a:solidFill>
                <a:latin typeface="Arial" panose="020B0604020202020204" pitchFamily="34" charset="0"/>
                <a:ea typeface="黑体" panose="02010609060101010101" pitchFamily="49" charset="-122"/>
              </a:rPr>
              <a:t>后</a:t>
            </a:r>
            <a:r>
              <a:rPr lang="en-US" altLang="zh-CN" sz="1800" b="0">
                <a:solidFill>
                  <a:schemeClr val="accent1"/>
                </a:solidFill>
                <a:latin typeface="Arial" panose="020B0604020202020204" pitchFamily="34" charset="0"/>
                <a:ea typeface="黑体" panose="02010609060101010101" pitchFamily="49" charset="-122"/>
              </a:rPr>
              <a:t>4</a:t>
            </a:r>
            <a:r>
              <a:rPr lang="zh-CN" altLang="en-US" sz="1800" b="0" dirty="0">
                <a:solidFill>
                  <a:schemeClr val="accent1"/>
                </a:solidFill>
                <a:latin typeface="Arial" panose="020B0604020202020204" pitchFamily="34" charset="0"/>
                <a:ea typeface="黑体" panose="02010609060101010101" pitchFamily="49" charset="-122"/>
              </a:rPr>
              <a:t>位有关，需建立</a:t>
            </a:r>
            <a:r>
              <a:rPr lang="en-US" altLang="zh-CN" sz="1800" b="0" dirty="0" err="1">
                <a:solidFill>
                  <a:schemeClr val="accent1"/>
                </a:solidFill>
                <a:latin typeface="Arial" panose="020B0604020202020204" pitchFamily="34" charset="0"/>
                <a:ea typeface="黑体" panose="02010609060101010101" pitchFamily="49" charset="-122"/>
              </a:rPr>
              <a:t>ALUctr</a:t>
            </a:r>
            <a:r>
              <a:rPr lang="zh-CN" altLang="en-US" sz="1800" b="0" dirty="0">
                <a:solidFill>
                  <a:schemeClr val="accent1"/>
                </a:solidFill>
                <a:latin typeface="Arial" panose="020B0604020202020204" pitchFamily="34" charset="0"/>
                <a:ea typeface="黑体" panose="02010609060101010101" pitchFamily="49" charset="-122"/>
              </a:rPr>
              <a:t> 与</a:t>
            </a:r>
            <a:r>
              <a:rPr lang="en-US" altLang="zh-CN" sz="1800" b="0" dirty="0" err="1">
                <a:solidFill>
                  <a:schemeClr val="accent1"/>
                </a:solidFill>
                <a:latin typeface="Arial" panose="020B0604020202020204" pitchFamily="34" charset="0"/>
                <a:ea typeface="黑体" panose="02010609060101010101" pitchFamily="49" charset="-122"/>
              </a:rPr>
              <a:t>ALUop</a:t>
            </a:r>
            <a:r>
              <a:rPr lang="zh-CN" altLang="en-US" sz="1800" b="0" dirty="0">
                <a:solidFill>
                  <a:schemeClr val="accent1"/>
                </a:solidFill>
                <a:latin typeface="Arial" panose="020B0604020202020204" pitchFamily="34" charset="0"/>
                <a:ea typeface="黑体" panose="02010609060101010101" pitchFamily="49" charset="-122"/>
              </a:rPr>
              <a:t>和</a:t>
            </a:r>
            <a:r>
              <a:rPr lang="en-US" altLang="zh-CN" sz="1800" b="0" dirty="0" err="1">
                <a:solidFill>
                  <a:schemeClr val="accent1"/>
                </a:solidFill>
                <a:latin typeface="Arial" panose="020B0604020202020204" pitchFamily="34" charset="0"/>
                <a:ea typeface="黑体" panose="02010609060101010101" pitchFamily="49" charset="-122"/>
              </a:rPr>
              <a:t>func</a:t>
            </a:r>
            <a:r>
              <a:rPr lang="zh-CN" altLang="en-US" sz="1800" b="0" dirty="0">
                <a:solidFill>
                  <a:schemeClr val="accent1"/>
                </a:solidFill>
                <a:latin typeface="Arial" panose="020B0604020202020204" pitchFamily="34" charset="0"/>
                <a:ea typeface="黑体" panose="02010609060101010101" pitchFamily="49" charset="-122"/>
              </a:rPr>
              <a:t>后四位之间对应关系</a:t>
            </a:r>
            <a:endParaRPr lang="zh-CN" altLang="en-US" sz="1800" b="0" dirty="0">
              <a:solidFill>
                <a:schemeClr val="accent1"/>
              </a:solidFill>
              <a:latin typeface="Arial" panose="020B0604020202020204" pitchFamily="34" charset="0"/>
              <a:ea typeface="黑体" panose="02010609060101010101" pitchFamily="49" charset="-122"/>
            </a:endParaRPr>
          </a:p>
        </p:txBody>
      </p:sp>
      <p:sp>
        <p:nvSpPr>
          <p:cNvPr id="272538" name="矩形 272537"/>
          <p:cNvSpPr/>
          <p:nvPr/>
        </p:nvSpPr>
        <p:spPr>
          <a:xfrm>
            <a:off x="4159250" y="4473575"/>
            <a:ext cx="703263" cy="1814513"/>
          </a:xfrm>
          <a:prstGeom prst="rect">
            <a:avLst/>
          </a:prstGeom>
          <a:solidFill>
            <a:srgbClr val="FF8398">
              <a:alpha val="26999"/>
            </a:srgbClr>
          </a:solidFill>
          <a:ln w="50800">
            <a:noFill/>
          </a:ln>
        </p:spPr>
        <p:txBody>
          <a:bodyPr anchor="t" anchorCtr="0"/>
          <a:p>
            <a:pPr eaLnBrk="0" hangingPunct="0"/>
            <a:endParaRPr lang="zh-CN" altLang="en-US">
              <a:latin typeface="Arial" panose="020B0604020202020204" pitchFamily="34" charset="0"/>
            </a:endParaRPr>
          </a:p>
        </p:txBody>
      </p:sp>
      <p:sp>
        <p:nvSpPr>
          <p:cNvPr id="272539" name="矩形 272538"/>
          <p:cNvSpPr/>
          <p:nvPr/>
        </p:nvSpPr>
        <p:spPr>
          <a:xfrm>
            <a:off x="977900" y="4359275"/>
            <a:ext cx="566738" cy="1814513"/>
          </a:xfrm>
          <a:prstGeom prst="rect">
            <a:avLst/>
          </a:prstGeom>
          <a:solidFill>
            <a:srgbClr val="FF8398">
              <a:alpha val="26999"/>
            </a:srgbClr>
          </a:solidFill>
          <a:ln w="50800">
            <a:noFill/>
          </a:ln>
        </p:spPr>
        <p:txBody>
          <a:bodyPr anchor="t" anchorCtr="0"/>
          <a:p>
            <a:pPr eaLnBrk="0" hangingPunct="0"/>
            <a:endParaRPr lang="zh-CN" altLang="en-US">
              <a:latin typeface="Arial" panose="020B0604020202020204" pitchFamily="34" charset="0"/>
            </a:endParaRPr>
          </a:p>
        </p:txBody>
      </p:sp>
      <p:sp>
        <p:nvSpPr>
          <p:cNvPr id="272542" name="文本框 272541"/>
          <p:cNvSpPr txBox="1"/>
          <p:nvPr/>
        </p:nvSpPr>
        <p:spPr>
          <a:xfrm>
            <a:off x="314325" y="3048000"/>
            <a:ext cx="7620000" cy="581025"/>
          </a:xfrm>
          <a:prstGeom prst="rect">
            <a:avLst/>
          </a:prstGeom>
          <a:noFill/>
          <a:ln w="50800">
            <a:noFill/>
          </a:ln>
        </p:spPr>
        <p:txBody>
          <a:bodyPr anchor="t" anchorCtr="0">
            <a:spAutoFit/>
          </a:bodyPr>
          <a:p>
            <a:pPr eaLnBrk="0" hangingPunct="0"/>
            <a:r>
              <a:rPr lang="zh-CN" altLang="en-US" dirty="0">
                <a:solidFill>
                  <a:schemeClr val="accent1"/>
                </a:solidFill>
                <a:latin typeface="Arial" panose="020B0604020202020204" pitchFamily="34" charset="0"/>
                <a:ea typeface="宋体" panose="02010600030101010101" pitchFamily="2" charset="-122"/>
              </a:rPr>
              <a:t>问题：</a:t>
            </a:r>
            <a:r>
              <a:rPr lang="en-US" altLang="zh-CN" dirty="0" err="1">
                <a:solidFill>
                  <a:schemeClr val="accent1"/>
                </a:solidFill>
                <a:latin typeface="Arial" panose="020B0604020202020204" pitchFamily="34" charset="0"/>
                <a:ea typeface="宋体" panose="02010600030101010101" pitchFamily="2" charset="-122"/>
              </a:rPr>
              <a:t>ALUop</a:t>
            </a:r>
            <a:r>
              <a:rPr lang="zh-CN" altLang="en-US" dirty="0">
                <a:solidFill>
                  <a:schemeClr val="accent1"/>
                </a:solidFill>
                <a:latin typeface="Arial" panose="020B0604020202020204" pitchFamily="34" charset="0"/>
                <a:ea typeface="宋体" panose="02010600030101010101" pitchFamily="2" charset="-122"/>
              </a:rPr>
              <a:t>能否仅用</a:t>
            </a:r>
            <a:r>
              <a:rPr lang="en-US" altLang="zh-CN">
                <a:solidFill>
                  <a:schemeClr val="accent1"/>
                </a:solidFill>
                <a:latin typeface="Arial" panose="020B0604020202020204" pitchFamily="34" charset="0"/>
                <a:ea typeface="宋体" panose="02010600030101010101" pitchFamily="2" charset="-122"/>
              </a:rPr>
              <a:t>2</a:t>
            </a:r>
            <a:r>
              <a:rPr lang="zh-CN" altLang="en-US" dirty="0">
                <a:solidFill>
                  <a:schemeClr val="accent1"/>
                </a:solidFill>
                <a:latin typeface="Arial" panose="020B0604020202020204" pitchFamily="34" charset="0"/>
                <a:ea typeface="宋体" panose="02010600030101010101" pitchFamily="2" charset="-122"/>
              </a:rPr>
              <a:t>位？</a:t>
            </a:r>
            <a:endParaRPr lang="zh-CN" altLang="en-US" dirty="0">
              <a:solidFill>
                <a:schemeClr val="accent1"/>
              </a:solidFill>
              <a:latin typeface="Arial" panose="020B0604020202020204" pitchFamily="34" charset="0"/>
              <a:ea typeface="宋体" panose="02010600030101010101" pitchFamily="2" charset="-122"/>
            </a:endParaRPr>
          </a:p>
          <a:p>
            <a:pPr eaLnBrk="0" hangingPunct="0"/>
            <a:r>
              <a:rPr lang="zh-CN" altLang="en-US" dirty="0">
                <a:solidFill>
                  <a:schemeClr val="accent1"/>
                </a:solidFill>
                <a:latin typeface="Arial" panose="020B0604020202020204" pitchFamily="34" charset="0"/>
                <a:ea typeface="宋体" panose="02010600030101010101" pitchFamily="2" charset="-122"/>
              </a:rPr>
              <a:t>能！因为</a:t>
            </a:r>
            <a:r>
              <a:rPr lang="en-US" altLang="zh-CN">
                <a:solidFill>
                  <a:schemeClr val="accent1"/>
                </a:solidFill>
                <a:latin typeface="Arial" panose="020B0604020202020204" pitchFamily="34" charset="0"/>
                <a:ea typeface="宋体" panose="02010600030101010101" pitchFamily="2" charset="-122"/>
              </a:rPr>
              <a:t>jump</a:t>
            </a:r>
            <a:r>
              <a:rPr lang="zh-CN" altLang="en-US" dirty="0">
                <a:solidFill>
                  <a:schemeClr val="accent1"/>
                </a:solidFill>
                <a:latin typeface="Arial" panose="020B0604020202020204" pitchFamily="34" charset="0"/>
                <a:ea typeface="宋体" panose="02010600030101010101" pitchFamily="2" charset="-122"/>
              </a:rPr>
              <a:t>时任意，故可仅用两位：</a:t>
            </a:r>
            <a:r>
              <a:rPr lang="en-US" altLang="zh-CN">
                <a:solidFill>
                  <a:schemeClr val="accent1"/>
                </a:solidFill>
                <a:latin typeface="Arial" panose="020B0604020202020204" pitchFamily="34" charset="0"/>
                <a:ea typeface="宋体" panose="02010600030101010101" pitchFamily="2" charset="-122"/>
              </a:rPr>
              <a:t>R:11, I-ori:10, I-beq:01, I-lw/sw:00, J-xx</a:t>
            </a:r>
            <a:endParaRPr lang="en-US" altLang="zh-CN">
              <a:solidFill>
                <a:schemeClr val="accent1"/>
              </a:solidFill>
              <a:latin typeface="Arial" panose="020B0604020202020204" pitchFamily="34" charset="0"/>
              <a:ea typeface="宋体" panose="02010600030101010101" pitchFamily="2" charset="-122"/>
            </a:endParaRPr>
          </a:p>
        </p:txBody>
      </p:sp>
      <p:sp>
        <p:nvSpPr>
          <p:cNvPr id="272543" name="直接连接符 272542"/>
          <p:cNvSpPr/>
          <p:nvPr/>
        </p:nvSpPr>
        <p:spPr>
          <a:xfrm flipH="1">
            <a:off x="1457325" y="4057650"/>
            <a:ext cx="5283200" cy="374650"/>
          </a:xfrm>
          <a:prstGeom prst="line">
            <a:avLst/>
          </a:prstGeom>
          <a:ln w="50800" cap="flat" cmpd="sng">
            <a:solidFill>
              <a:srgbClr val="FE9AAB"/>
            </a:solidFill>
            <a:prstDash val="solid"/>
            <a:round/>
            <a:headEnd type="none" w="med" len="med"/>
            <a:tailEnd type="triangle" w="med" len="med"/>
          </a:ln>
        </p:spPr>
      </p:sp>
      <p:sp>
        <p:nvSpPr>
          <p:cNvPr id="272544" name="文本框 272543"/>
          <p:cNvSpPr txBox="1"/>
          <p:nvPr/>
        </p:nvSpPr>
        <p:spPr>
          <a:xfrm>
            <a:off x="3138488" y="3008313"/>
            <a:ext cx="5543550" cy="366712"/>
          </a:xfrm>
          <a:prstGeom prst="rect">
            <a:avLst/>
          </a:prstGeom>
          <a:noFill/>
          <a:ln w="50800">
            <a:noFill/>
          </a:ln>
        </p:spPr>
        <p:txBody>
          <a:bodyPr anchor="t" anchorCtr="0">
            <a:spAutoFit/>
          </a:bodyPr>
          <a:p>
            <a:pPr eaLnBrk="0" hangingPunct="0">
              <a:spcBef>
                <a:spcPct val="50000"/>
              </a:spcBef>
            </a:pPr>
            <a:r>
              <a:rPr lang="en-US" altLang="zh-CN" sz="1800" b="0">
                <a:solidFill>
                  <a:schemeClr val="accent2"/>
                </a:solidFill>
                <a:latin typeface="Arial" panose="020B0604020202020204" pitchFamily="34" charset="0"/>
                <a:ea typeface="黑体" panose="02010609060101010101" pitchFamily="49" charset="-122"/>
              </a:rPr>
              <a:t>R-Type</a:t>
            </a:r>
            <a:r>
              <a:rPr lang="zh-CN" altLang="en-US" sz="1800" b="0" dirty="0">
                <a:solidFill>
                  <a:schemeClr val="accent2"/>
                </a:solidFill>
                <a:latin typeface="Arial" panose="020B0604020202020204" pitchFamily="34" charset="0"/>
                <a:ea typeface="黑体" panose="02010609060101010101" pitchFamily="49" charset="-122"/>
              </a:rPr>
              <a:t>取</a:t>
            </a:r>
            <a:r>
              <a:rPr lang="en-US" altLang="zh-CN" sz="1800" b="0">
                <a:solidFill>
                  <a:schemeClr val="accent2"/>
                </a:solidFill>
                <a:latin typeface="Arial" panose="020B0604020202020204" pitchFamily="34" charset="0"/>
                <a:ea typeface="黑体" panose="02010609060101010101" pitchFamily="49" charset="-122"/>
              </a:rPr>
              <a:t>1xx</a:t>
            </a:r>
            <a:r>
              <a:rPr lang="zh-CN" altLang="en-US" sz="1800" b="0" dirty="0">
                <a:solidFill>
                  <a:schemeClr val="accent2"/>
                </a:solidFill>
                <a:latin typeface="Arial" panose="020B0604020202020204" pitchFamily="34" charset="0"/>
                <a:ea typeface="黑体" panose="02010609060101010101" pitchFamily="49" charset="-122"/>
              </a:rPr>
              <a:t>，不会发生编码冲突！</a:t>
            </a:r>
            <a:endParaRPr lang="zh-CN" altLang="en-US" sz="1800" b="0" dirty="0">
              <a:solidFill>
                <a:schemeClr val="accent2"/>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2533"/>
                                        </p:tgtEl>
                                        <p:attrNameLst>
                                          <p:attrName>style.visibility</p:attrName>
                                        </p:attrNameLst>
                                      </p:cBhvr>
                                      <p:to>
                                        <p:strVal val="visible"/>
                                      </p:to>
                                    </p:set>
                                    <p:animEffect transition="in" filter="blinds(horizontal)">
                                      <p:cBhvr>
                                        <p:cTn id="7" dur="500"/>
                                        <p:tgtEl>
                                          <p:spTgt spid="27253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2387"/>
                                        </p:tgtEl>
                                        <p:attrNameLst>
                                          <p:attrName>style.visibility</p:attrName>
                                        </p:attrNameLst>
                                      </p:cBhvr>
                                      <p:to>
                                        <p:strVal val="visible"/>
                                      </p:to>
                                    </p:set>
                                    <p:animEffect transition="in" filter="blinds(horizontal)">
                                      <p:cBhvr>
                                        <p:cTn id="12" dur="500"/>
                                        <p:tgtEl>
                                          <p:spTgt spid="27238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2544"/>
                                        </p:tgtEl>
                                        <p:attrNameLst>
                                          <p:attrName>style.visibility</p:attrName>
                                        </p:attrNameLst>
                                      </p:cBhvr>
                                      <p:to>
                                        <p:strVal val="visible"/>
                                      </p:to>
                                    </p:set>
                                    <p:animEffect transition="in" filter="blinds(horizontal)">
                                      <p:cBhvr>
                                        <p:cTn id="17" dur="500"/>
                                        <p:tgtEl>
                                          <p:spTgt spid="2725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2542">
                                            <p:txEl>
                                              <p:charRg st="0" end="16"/>
                                            </p:txEl>
                                          </p:spTgt>
                                        </p:tgtEl>
                                        <p:attrNameLst>
                                          <p:attrName>style.visibility</p:attrName>
                                        </p:attrNameLst>
                                      </p:cBhvr>
                                      <p:to>
                                        <p:strVal val="visible"/>
                                      </p:to>
                                    </p:set>
                                    <p:animEffect transition="in" filter="blinds(horizontal)">
                                      <p:cBhvr>
                                        <p:cTn id="22" dur="500"/>
                                        <p:tgtEl>
                                          <p:spTgt spid="272542">
                                            <p:txEl>
                                              <p:charRg st="0" end="1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72542">
                                            <p:txEl>
                                              <p:charRg st="16" end="78"/>
                                            </p:txEl>
                                          </p:spTgt>
                                        </p:tgtEl>
                                        <p:attrNameLst>
                                          <p:attrName>style.visibility</p:attrName>
                                        </p:attrNameLst>
                                      </p:cBhvr>
                                      <p:to>
                                        <p:strVal val="visible"/>
                                      </p:to>
                                    </p:set>
                                    <p:animEffect transition="in" filter="blinds(horizontal)">
                                      <p:cBhvr>
                                        <p:cTn id="27" dur="500"/>
                                        <p:tgtEl>
                                          <p:spTgt spid="272542">
                                            <p:txEl>
                                              <p:charRg st="16" end="7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72442"/>
                                        </p:tgtEl>
                                        <p:attrNameLst>
                                          <p:attrName>style.visibility</p:attrName>
                                        </p:attrNameLst>
                                      </p:cBhvr>
                                      <p:to>
                                        <p:strVal val="visible"/>
                                      </p:to>
                                    </p:set>
                                    <p:animEffect transition="in" filter="blinds(horizontal)">
                                      <p:cBhvr>
                                        <p:cTn id="32" dur="500"/>
                                        <p:tgtEl>
                                          <p:spTgt spid="27244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72473"/>
                                        </p:tgtEl>
                                        <p:attrNameLst>
                                          <p:attrName>style.visibility</p:attrName>
                                        </p:attrNameLst>
                                      </p:cBhvr>
                                      <p:to>
                                        <p:strVal val="visible"/>
                                      </p:to>
                                    </p:set>
                                    <p:animEffect transition="in" filter="blinds(horizontal)">
                                      <p:cBhvr>
                                        <p:cTn id="37" dur="500"/>
                                        <p:tgtEl>
                                          <p:spTgt spid="27247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72543"/>
                                        </p:tgtEl>
                                        <p:attrNameLst>
                                          <p:attrName>style.visibility</p:attrName>
                                        </p:attrNameLst>
                                      </p:cBhvr>
                                      <p:to>
                                        <p:strVal val="visible"/>
                                      </p:to>
                                    </p:set>
                                    <p:animEffect transition="in" filter="blinds(horizontal)">
                                      <p:cBhvr>
                                        <p:cTn id="42" dur="500"/>
                                        <p:tgtEl>
                                          <p:spTgt spid="27254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72520"/>
                                        </p:tgtEl>
                                        <p:attrNameLst>
                                          <p:attrName>style.visibility</p:attrName>
                                        </p:attrNameLst>
                                      </p:cBhvr>
                                      <p:to>
                                        <p:strVal val="visible"/>
                                      </p:to>
                                    </p:set>
                                    <p:animEffect transition="in" filter="blinds(horizontal)">
                                      <p:cBhvr>
                                        <p:cTn id="47" dur="500"/>
                                        <p:tgtEl>
                                          <p:spTgt spid="27252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72496"/>
                                        </p:tgtEl>
                                        <p:attrNameLst>
                                          <p:attrName>style.visibility</p:attrName>
                                        </p:attrNameLst>
                                      </p:cBhvr>
                                      <p:to>
                                        <p:strVal val="visible"/>
                                      </p:to>
                                    </p:set>
                                    <p:animEffect transition="in" filter="blinds(horizontal)">
                                      <p:cBhvr>
                                        <p:cTn id="52" dur="500"/>
                                        <p:tgtEl>
                                          <p:spTgt spid="27249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72519"/>
                                        </p:tgtEl>
                                        <p:attrNameLst>
                                          <p:attrName>style.visibility</p:attrName>
                                        </p:attrNameLst>
                                      </p:cBhvr>
                                      <p:to>
                                        <p:strVal val="visible"/>
                                      </p:to>
                                    </p:set>
                                    <p:animEffect transition="in" filter="blinds(horizontal)">
                                      <p:cBhvr>
                                        <p:cTn id="57" dur="500"/>
                                        <p:tgtEl>
                                          <p:spTgt spid="27251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72539"/>
                                        </p:tgtEl>
                                        <p:attrNameLst>
                                          <p:attrName>style.visibility</p:attrName>
                                        </p:attrNameLst>
                                      </p:cBhvr>
                                      <p:to>
                                        <p:strVal val="visible"/>
                                      </p:to>
                                    </p:set>
                                    <p:animEffect transition="in" filter="blinds(horizontal)">
                                      <p:cBhvr>
                                        <p:cTn id="62" dur="500"/>
                                        <p:tgtEl>
                                          <p:spTgt spid="272539"/>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72538"/>
                                        </p:tgtEl>
                                        <p:attrNameLst>
                                          <p:attrName>style.visibility</p:attrName>
                                        </p:attrNameLst>
                                      </p:cBhvr>
                                      <p:to>
                                        <p:strVal val="visible"/>
                                      </p:to>
                                    </p:set>
                                    <p:animEffect transition="in" filter="blinds(horizontal)">
                                      <p:cBhvr>
                                        <p:cTn id="67" dur="500"/>
                                        <p:tgtEl>
                                          <p:spTgt spid="272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533" grpId="0"/>
      <p:bldP spid="272519" grpId="0"/>
      <p:bldP spid="27254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标题 274433"/>
          <p:cNvSpPr>
            <a:spLocks noGrp="1"/>
          </p:cNvSpPr>
          <p:nvPr>
            <p:ph type="title"/>
          </p:nvPr>
        </p:nvSpPr>
        <p:spPr>
          <a:xfrm>
            <a:off x="444500" y="203200"/>
            <a:ext cx="6127750" cy="531813"/>
          </a:xfrm>
          <a:ln/>
        </p:spPr>
        <p:txBody>
          <a:bodyPr vert="horz" wrap="square" lIns="63500" tIns="25400" rIns="63500" bIns="25400" anchor="t" anchorCtr="0">
            <a:spAutoFit/>
          </a:bodyPr>
          <a:p>
            <a:r>
              <a:rPr lang="en-US" altLang="zh-CN" dirty="0" err="1">
                <a:ea typeface="宋体" panose="02010600030101010101" pitchFamily="2" charset="-122"/>
              </a:rPr>
              <a:t>ALUctr</a:t>
            </a:r>
            <a:r>
              <a:rPr lang="zh-CN" altLang="en-US" dirty="0">
                <a:ea typeface="宋体" panose="02010600030101010101" pitchFamily="2" charset="-122"/>
              </a:rPr>
              <a:t>控制信号的真值表</a:t>
            </a:r>
            <a:endParaRPr lang="zh-CN" altLang="en-US" dirty="0">
              <a:ea typeface="宋体" panose="02010600030101010101" pitchFamily="2" charset="-122"/>
            </a:endParaRPr>
          </a:p>
        </p:txBody>
      </p:sp>
      <p:grpSp>
        <p:nvGrpSpPr>
          <p:cNvPr id="134146" name="组合 274435"/>
          <p:cNvGrpSpPr/>
          <p:nvPr/>
        </p:nvGrpSpPr>
        <p:grpSpPr>
          <a:xfrm>
            <a:off x="323850" y="1592263"/>
            <a:ext cx="5348288" cy="971550"/>
            <a:chOff x="231" y="616"/>
            <a:chExt cx="3369" cy="612"/>
          </a:xfrm>
        </p:grpSpPr>
        <p:sp>
          <p:nvSpPr>
            <p:cNvPr id="134147" name="矩形 274436"/>
            <p:cNvSpPr/>
            <p:nvPr/>
          </p:nvSpPr>
          <p:spPr>
            <a:xfrm>
              <a:off x="1095" y="624"/>
              <a:ext cx="484"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R-type</a:t>
              </a:r>
              <a:endParaRPr lang="en-US" altLang="zh-CN">
                <a:latin typeface="Times New Roman" panose="02020603050405020304" pitchFamily="18" charset="0"/>
                <a:ea typeface="宋体" panose="02010600030101010101" pitchFamily="2" charset="-122"/>
              </a:endParaRPr>
            </a:p>
          </p:txBody>
        </p:sp>
        <p:sp>
          <p:nvSpPr>
            <p:cNvPr id="134148" name="矩形 274437"/>
            <p:cNvSpPr/>
            <p:nvPr/>
          </p:nvSpPr>
          <p:spPr>
            <a:xfrm>
              <a:off x="1767" y="624"/>
              <a:ext cx="278"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ori</a:t>
              </a:r>
              <a:endParaRPr lang="en-US" altLang="zh-CN">
                <a:latin typeface="Arial" panose="020B0604020202020204" pitchFamily="34" charset="0"/>
                <a:ea typeface="宋体" panose="02010600030101010101" pitchFamily="2" charset="-122"/>
              </a:endParaRPr>
            </a:p>
          </p:txBody>
        </p:sp>
        <p:sp>
          <p:nvSpPr>
            <p:cNvPr id="134149" name="矩形 274438"/>
            <p:cNvSpPr/>
            <p:nvPr/>
          </p:nvSpPr>
          <p:spPr>
            <a:xfrm>
              <a:off x="2247" y="624"/>
              <a:ext cx="250"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lw</a:t>
              </a:r>
              <a:endParaRPr lang="en-US" altLang="zh-CN">
                <a:latin typeface="Arial" panose="020B0604020202020204" pitchFamily="34" charset="0"/>
                <a:ea typeface="宋体" panose="02010600030101010101" pitchFamily="2" charset="-122"/>
              </a:endParaRPr>
            </a:p>
          </p:txBody>
        </p:sp>
        <p:sp>
          <p:nvSpPr>
            <p:cNvPr id="134150" name="矩形 274439"/>
            <p:cNvSpPr/>
            <p:nvPr/>
          </p:nvSpPr>
          <p:spPr>
            <a:xfrm>
              <a:off x="2727" y="624"/>
              <a:ext cx="28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sw</a:t>
              </a:r>
              <a:endParaRPr lang="en-US" altLang="zh-CN">
                <a:latin typeface="Arial" panose="020B0604020202020204" pitchFamily="34" charset="0"/>
                <a:ea typeface="宋体" panose="02010600030101010101" pitchFamily="2" charset="-122"/>
              </a:endParaRPr>
            </a:p>
          </p:txBody>
        </p:sp>
        <p:sp>
          <p:nvSpPr>
            <p:cNvPr id="134151" name="矩形 274440"/>
            <p:cNvSpPr/>
            <p:nvPr/>
          </p:nvSpPr>
          <p:spPr>
            <a:xfrm>
              <a:off x="3207" y="624"/>
              <a:ext cx="341"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beq</a:t>
              </a:r>
              <a:endParaRPr lang="en-US" altLang="zh-CN">
                <a:latin typeface="Arial" panose="020B0604020202020204" pitchFamily="34" charset="0"/>
                <a:ea typeface="宋体" panose="02010600030101010101" pitchFamily="2" charset="-122"/>
              </a:endParaRPr>
            </a:p>
          </p:txBody>
        </p:sp>
        <p:sp>
          <p:nvSpPr>
            <p:cNvPr id="134152" name="直接连接符 274441"/>
            <p:cNvSpPr/>
            <p:nvPr/>
          </p:nvSpPr>
          <p:spPr>
            <a:xfrm>
              <a:off x="248" y="1008"/>
              <a:ext cx="3344" cy="0"/>
            </a:xfrm>
            <a:prstGeom prst="line">
              <a:avLst/>
            </a:prstGeom>
            <a:ln w="25400" cap="flat" cmpd="sng">
              <a:solidFill>
                <a:schemeClr val="tx1"/>
              </a:solidFill>
              <a:prstDash val="solid"/>
              <a:round/>
              <a:headEnd type="none" w="med" len="med"/>
              <a:tailEnd type="none" w="med" len="med"/>
            </a:ln>
          </p:spPr>
        </p:sp>
        <p:sp>
          <p:nvSpPr>
            <p:cNvPr id="134153" name="直接连接符 274442"/>
            <p:cNvSpPr/>
            <p:nvPr/>
          </p:nvSpPr>
          <p:spPr>
            <a:xfrm>
              <a:off x="1064" y="816"/>
              <a:ext cx="2528" cy="0"/>
            </a:xfrm>
            <a:prstGeom prst="line">
              <a:avLst/>
            </a:prstGeom>
            <a:ln w="25400" cap="flat" cmpd="sng">
              <a:solidFill>
                <a:schemeClr val="tx1"/>
              </a:solidFill>
              <a:prstDash val="solid"/>
              <a:round/>
              <a:headEnd type="none" w="med" len="med"/>
              <a:tailEnd type="none" w="med" len="med"/>
            </a:ln>
          </p:spPr>
        </p:sp>
        <p:sp>
          <p:nvSpPr>
            <p:cNvPr id="134154" name="直接连接符 274443"/>
            <p:cNvSpPr/>
            <p:nvPr/>
          </p:nvSpPr>
          <p:spPr>
            <a:xfrm>
              <a:off x="248" y="624"/>
              <a:ext cx="3344" cy="0"/>
            </a:xfrm>
            <a:prstGeom prst="line">
              <a:avLst/>
            </a:prstGeom>
            <a:ln w="25400" cap="flat" cmpd="sng">
              <a:solidFill>
                <a:schemeClr val="tx1"/>
              </a:solidFill>
              <a:prstDash val="solid"/>
              <a:round/>
              <a:headEnd type="none" w="med" len="med"/>
              <a:tailEnd type="none" w="med" len="med"/>
            </a:ln>
          </p:spPr>
        </p:sp>
        <p:sp>
          <p:nvSpPr>
            <p:cNvPr id="134155" name="直接连接符 274444"/>
            <p:cNvSpPr/>
            <p:nvPr/>
          </p:nvSpPr>
          <p:spPr>
            <a:xfrm flipV="1">
              <a:off x="240" y="616"/>
              <a:ext cx="0" cy="592"/>
            </a:xfrm>
            <a:prstGeom prst="line">
              <a:avLst/>
            </a:prstGeom>
            <a:ln w="25400" cap="flat" cmpd="sng">
              <a:solidFill>
                <a:schemeClr val="tx1"/>
              </a:solidFill>
              <a:prstDash val="solid"/>
              <a:round/>
              <a:headEnd type="none" w="med" len="med"/>
              <a:tailEnd type="none" w="med" len="med"/>
            </a:ln>
          </p:spPr>
        </p:sp>
        <p:sp>
          <p:nvSpPr>
            <p:cNvPr id="134156" name="直接连接符 274445"/>
            <p:cNvSpPr/>
            <p:nvPr/>
          </p:nvSpPr>
          <p:spPr>
            <a:xfrm>
              <a:off x="248" y="1200"/>
              <a:ext cx="3344" cy="0"/>
            </a:xfrm>
            <a:prstGeom prst="line">
              <a:avLst/>
            </a:prstGeom>
            <a:ln w="25400" cap="flat" cmpd="sng">
              <a:solidFill>
                <a:schemeClr val="tx1"/>
              </a:solidFill>
              <a:prstDash val="solid"/>
              <a:round/>
              <a:headEnd type="none" w="med" len="med"/>
              <a:tailEnd type="none" w="med" len="med"/>
            </a:ln>
          </p:spPr>
        </p:sp>
        <p:sp>
          <p:nvSpPr>
            <p:cNvPr id="134157" name="直接连接符 274446"/>
            <p:cNvSpPr/>
            <p:nvPr/>
          </p:nvSpPr>
          <p:spPr>
            <a:xfrm flipV="1">
              <a:off x="1056" y="616"/>
              <a:ext cx="0" cy="592"/>
            </a:xfrm>
            <a:prstGeom prst="line">
              <a:avLst/>
            </a:prstGeom>
            <a:ln w="25400" cap="flat" cmpd="sng">
              <a:solidFill>
                <a:schemeClr val="tx1"/>
              </a:solidFill>
              <a:prstDash val="solid"/>
              <a:round/>
              <a:headEnd type="none" w="med" len="med"/>
              <a:tailEnd type="none" w="med" len="med"/>
            </a:ln>
          </p:spPr>
        </p:sp>
        <p:sp>
          <p:nvSpPr>
            <p:cNvPr id="134158" name="直接连接符 274447"/>
            <p:cNvSpPr/>
            <p:nvPr/>
          </p:nvSpPr>
          <p:spPr>
            <a:xfrm flipV="1">
              <a:off x="1680" y="616"/>
              <a:ext cx="0" cy="592"/>
            </a:xfrm>
            <a:prstGeom prst="line">
              <a:avLst/>
            </a:prstGeom>
            <a:ln w="25400" cap="flat" cmpd="sng">
              <a:solidFill>
                <a:schemeClr val="tx1"/>
              </a:solidFill>
              <a:prstDash val="solid"/>
              <a:round/>
              <a:headEnd type="none" w="med" len="med"/>
              <a:tailEnd type="none" w="med" len="med"/>
            </a:ln>
          </p:spPr>
        </p:sp>
        <p:sp>
          <p:nvSpPr>
            <p:cNvPr id="134159" name="直接连接符 274448"/>
            <p:cNvSpPr/>
            <p:nvPr/>
          </p:nvSpPr>
          <p:spPr>
            <a:xfrm flipV="1">
              <a:off x="2160" y="616"/>
              <a:ext cx="0" cy="592"/>
            </a:xfrm>
            <a:prstGeom prst="line">
              <a:avLst/>
            </a:prstGeom>
            <a:ln w="25400" cap="flat" cmpd="sng">
              <a:solidFill>
                <a:schemeClr val="tx1"/>
              </a:solidFill>
              <a:prstDash val="solid"/>
              <a:round/>
              <a:headEnd type="none" w="med" len="med"/>
              <a:tailEnd type="none" w="med" len="med"/>
            </a:ln>
          </p:spPr>
        </p:sp>
        <p:sp>
          <p:nvSpPr>
            <p:cNvPr id="134160" name="直接连接符 274449"/>
            <p:cNvSpPr/>
            <p:nvPr/>
          </p:nvSpPr>
          <p:spPr>
            <a:xfrm flipV="1">
              <a:off x="2640" y="616"/>
              <a:ext cx="0" cy="592"/>
            </a:xfrm>
            <a:prstGeom prst="line">
              <a:avLst/>
            </a:prstGeom>
            <a:ln w="25400" cap="flat" cmpd="sng">
              <a:solidFill>
                <a:schemeClr val="tx1"/>
              </a:solidFill>
              <a:prstDash val="solid"/>
              <a:round/>
              <a:headEnd type="none" w="med" len="med"/>
              <a:tailEnd type="none" w="med" len="med"/>
            </a:ln>
          </p:spPr>
        </p:sp>
        <p:sp>
          <p:nvSpPr>
            <p:cNvPr id="134161" name="直接连接符 274450"/>
            <p:cNvSpPr/>
            <p:nvPr/>
          </p:nvSpPr>
          <p:spPr>
            <a:xfrm flipV="1">
              <a:off x="3120" y="616"/>
              <a:ext cx="0" cy="592"/>
            </a:xfrm>
            <a:prstGeom prst="line">
              <a:avLst/>
            </a:prstGeom>
            <a:ln w="25400" cap="flat" cmpd="sng">
              <a:solidFill>
                <a:schemeClr val="tx1"/>
              </a:solidFill>
              <a:prstDash val="solid"/>
              <a:round/>
              <a:headEnd type="none" w="med" len="med"/>
              <a:tailEnd type="none" w="med" len="med"/>
            </a:ln>
          </p:spPr>
        </p:sp>
        <p:sp>
          <p:nvSpPr>
            <p:cNvPr id="134162" name="直接连接符 274451"/>
            <p:cNvSpPr/>
            <p:nvPr/>
          </p:nvSpPr>
          <p:spPr>
            <a:xfrm flipV="1">
              <a:off x="3600" y="616"/>
              <a:ext cx="0" cy="592"/>
            </a:xfrm>
            <a:prstGeom prst="line">
              <a:avLst/>
            </a:prstGeom>
            <a:ln w="25400" cap="flat" cmpd="sng">
              <a:solidFill>
                <a:schemeClr val="tx1"/>
              </a:solidFill>
              <a:prstDash val="solid"/>
              <a:round/>
              <a:headEnd type="none" w="med" len="med"/>
              <a:tailEnd type="none" w="med" len="med"/>
            </a:ln>
          </p:spPr>
        </p:sp>
        <p:sp>
          <p:nvSpPr>
            <p:cNvPr id="134163" name="矩形 274452"/>
            <p:cNvSpPr/>
            <p:nvPr/>
          </p:nvSpPr>
          <p:spPr>
            <a:xfrm>
              <a:off x="295" y="672"/>
              <a:ext cx="769" cy="364"/>
            </a:xfrm>
            <a:prstGeom prst="rect">
              <a:avLst/>
            </a:prstGeom>
            <a:noFill/>
            <a:ln w="12700">
              <a:noFill/>
            </a:ln>
          </p:spPr>
          <p:txBody>
            <a:bodyPr wrap="none" lIns="90488" tIns="44450" rIns="90488" bIns="44450" anchor="t" anchorCtr="0">
              <a:spAutoFit/>
            </a:bodyPr>
            <a:p>
              <a:pPr algn="ctr" eaLnBrk="0" hangingPunct="0"/>
              <a:r>
                <a:rPr lang="en-US" altLang="zh-CN" dirty="0" err="1">
                  <a:latin typeface="Arial" panose="020B0604020202020204" pitchFamily="34" charset="0"/>
                  <a:ea typeface="宋体" panose="02010600030101010101" pitchFamily="2" charset="-122"/>
                </a:rPr>
                <a:t>ALUop</a:t>
              </a:r>
              <a:endParaRPr lang="en-US" altLang="zh-CN">
                <a:latin typeface="Arial" panose="020B0604020202020204" pitchFamily="34" charset="0"/>
                <a:ea typeface="宋体" panose="02010600030101010101" pitchFamily="2" charset="-122"/>
              </a:endParaRPr>
            </a:p>
            <a:p>
              <a:pPr algn="ctr" eaLnBrk="0" hangingPunct="0"/>
              <a:r>
                <a:rPr lang="en-US" altLang="zh-CN">
                  <a:latin typeface="Times New Roman" panose="02020603050405020304" pitchFamily="18" charset="0"/>
                  <a:ea typeface="宋体" panose="02010600030101010101" pitchFamily="2" charset="-122"/>
                </a:rPr>
                <a:t>(</a:t>
              </a:r>
              <a:r>
                <a:rPr lang="en-US" altLang="zh-CN">
                  <a:latin typeface="Arial" panose="020B0604020202020204" pitchFamily="34" charset="0"/>
                  <a:ea typeface="宋体" panose="02010600030101010101" pitchFamily="2" charset="-122"/>
                </a:rPr>
                <a:t>Symbolic</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sp>
          <p:nvSpPr>
            <p:cNvPr id="134164" name="矩形 274453"/>
            <p:cNvSpPr/>
            <p:nvPr/>
          </p:nvSpPr>
          <p:spPr>
            <a:xfrm>
              <a:off x="1074" y="816"/>
              <a:ext cx="626"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a:t>
              </a:r>
              <a:r>
                <a:rPr lang="en-US" altLang="zh-CN">
                  <a:latin typeface="Arial" panose="020B0604020202020204" pitchFamily="34" charset="0"/>
                  <a:ea typeface="宋体" panose="02010600030101010101" pitchFamily="2" charset="-122"/>
                </a:rPr>
                <a:t>R-type</a:t>
              </a:r>
              <a:r>
                <a:rPr lang="en-US" altLang="zh-CN" b="0">
                  <a:latin typeface="Times New Roman" panose="02020603050405020304" pitchFamily="18" charset="0"/>
                  <a:ea typeface="宋体" panose="02010600030101010101" pitchFamily="2" charset="-122"/>
                </a:rPr>
                <a:t>”</a:t>
              </a:r>
              <a:endParaRPr lang="en-US" altLang="zh-CN" b="0">
                <a:latin typeface="Times New Roman" panose="02020603050405020304" pitchFamily="18" charset="0"/>
                <a:ea typeface="宋体" panose="02010600030101010101" pitchFamily="2" charset="-122"/>
              </a:endParaRPr>
            </a:p>
          </p:txBody>
        </p:sp>
        <p:sp>
          <p:nvSpPr>
            <p:cNvPr id="134165" name="矩形 274454"/>
            <p:cNvSpPr/>
            <p:nvPr/>
          </p:nvSpPr>
          <p:spPr>
            <a:xfrm>
              <a:off x="1767" y="816"/>
              <a:ext cx="264"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Or</a:t>
              </a:r>
              <a:endParaRPr lang="en-US" altLang="zh-CN">
                <a:latin typeface="Arial" panose="020B0604020202020204" pitchFamily="34" charset="0"/>
                <a:ea typeface="宋体" panose="02010600030101010101" pitchFamily="2" charset="-122"/>
              </a:endParaRPr>
            </a:p>
          </p:txBody>
        </p:sp>
        <p:sp>
          <p:nvSpPr>
            <p:cNvPr id="134166" name="矩形 274455"/>
            <p:cNvSpPr/>
            <p:nvPr/>
          </p:nvSpPr>
          <p:spPr>
            <a:xfrm>
              <a:off x="2247" y="816"/>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34167" name="矩形 274456"/>
            <p:cNvSpPr/>
            <p:nvPr/>
          </p:nvSpPr>
          <p:spPr>
            <a:xfrm>
              <a:off x="2727" y="816"/>
              <a:ext cx="36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34168" name="矩形 274457"/>
            <p:cNvSpPr/>
            <p:nvPr/>
          </p:nvSpPr>
          <p:spPr>
            <a:xfrm>
              <a:off x="3089" y="826"/>
              <a:ext cx="448"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Subtr</a:t>
              </a:r>
              <a:endParaRPr lang="en-US" altLang="zh-CN">
                <a:latin typeface="Arial" panose="020B0604020202020204" pitchFamily="34" charset="0"/>
                <a:ea typeface="宋体" panose="02010600030101010101" pitchFamily="2" charset="-122"/>
              </a:endParaRPr>
            </a:p>
          </p:txBody>
        </p:sp>
        <p:sp>
          <p:nvSpPr>
            <p:cNvPr id="134169" name="矩形 274458"/>
            <p:cNvSpPr/>
            <p:nvPr/>
          </p:nvSpPr>
          <p:spPr>
            <a:xfrm>
              <a:off x="231" y="1008"/>
              <a:ext cx="865"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ALUop</a:t>
              </a:r>
              <a:r>
                <a:rPr lang="en-US" altLang="zh-CN">
                  <a:latin typeface="Arial" panose="020B0604020202020204" pitchFamily="34" charset="0"/>
                  <a:ea typeface="宋体" panose="02010600030101010101" pitchFamily="2" charset="-122"/>
                </a:rPr>
                <a:t>&lt;2:0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4170" name="矩形 274459"/>
            <p:cNvSpPr/>
            <p:nvPr/>
          </p:nvSpPr>
          <p:spPr>
            <a:xfrm>
              <a:off x="1170" y="1008"/>
              <a:ext cx="363"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1 00</a:t>
              </a:r>
              <a:endParaRPr lang="zh-CN" altLang="en-US" dirty="0">
                <a:latin typeface="Arial" panose="020B0604020202020204" pitchFamily="34" charset="0"/>
                <a:ea typeface="宋体" panose="02010600030101010101" pitchFamily="2" charset="-122"/>
              </a:endParaRPr>
            </a:p>
          </p:txBody>
        </p:sp>
        <p:sp>
          <p:nvSpPr>
            <p:cNvPr id="134171" name="矩形 274460"/>
            <p:cNvSpPr/>
            <p:nvPr/>
          </p:nvSpPr>
          <p:spPr>
            <a:xfrm>
              <a:off x="1767" y="1008"/>
              <a:ext cx="363"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0 10</a:t>
              </a:r>
              <a:endParaRPr lang="zh-CN" altLang="en-US" dirty="0">
                <a:latin typeface="Arial" panose="020B0604020202020204" pitchFamily="34" charset="0"/>
                <a:ea typeface="宋体" panose="02010600030101010101" pitchFamily="2" charset="-122"/>
              </a:endParaRPr>
            </a:p>
          </p:txBody>
        </p:sp>
        <p:sp>
          <p:nvSpPr>
            <p:cNvPr id="134172" name="矩形 274461"/>
            <p:cNvSpPr/>
            <p:nvPr/>
          </p:nvSpPr>
          <p:spPr>
            <a:xfrm>
              <a:off x="2247" y="1008"/>
              <a:ext cx="363"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0 00</a:t>
              </a:r>
              <a:endParaRPr lang="zh-CN" altLang="en-US" dirty="0">
                <a:latin typeface="Arial" panose="020B0604020202020204" pitchFamily="34" charset="0"/>
                <a:ea typeface="宋体" panose="02010600030101010101" pitchFamily="2" charset="-122"/>
              </a:endParaRPr>
            </a:p>
          </p:txBody>
        </p:sp>
        <p:sp>
          <p:nvSpPr>
            <p:cNvPr id="134173" name="矩形 274462"/>
            <p:cNvSpPr/>
            <p:nvPr/>
          </p:nvSpPr>
          <p:spPr>
            <a:xfrm>
              <a:off x="2727" y="1008"/>
              <a:ext cx="363"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0 00</a:t>
              </a:r>
              <a:endParaRPr lang="zh-CN" altLang="en-US" dirty="0">
                <a:latin typeface="Arial" panose="020B0604020202020204" pitchFamily="34" charset="0"/>
                <a:ea typeface="宋体" panose="02010600030101010101" pitchFamily="2" charset="-122"/>
              </a:endParaRPr>
            </a:p>
          </p:txBody>
        </p:sp>
        <p:sp>
          <p:nvSpPr>
            <p:cNvPr id="134174" name="矩形 274463"/>
            <p:cNvSpPr/>
            <p:nvPr/>
          </p:nvSpPr>
          <p:spPr>
            <a:xfrm>
              <a:off x="3185" y="1018"/>
              <a:ext cx="395" cy="210"/>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 </a:t>
              </a:r>
              <a:r>
                <a:rPr lang="zh-CN" altLang="en-US" dirty="0">
                  <a:latin typeface="Arial" panose="020B0604020202020204" pitchFamily="34" charset="0"/>
                  <a:ea typeface="宋体" panose="02010600030101010101" pitchFamily="2" charset="-122"/>
                </a:rPr>
                <a:t>0 </a:t>
              </a:r>
              <a:r>
                <a:rPr lang="en-US" altLang="zh-CN">
                  <a:latin typeface="Arial" panose="020B0604020202020204" pitchFamily="34" charset="0"/>
                  <a:ea typeface="宋体" panose="02010600030101010101" pitchFamily="2" charset="-122"/>
                </a:rPr>
                <a:t>x1</a:t>
              </a:r>
              <a:endParaRPr lang="en-US" altLang="zh-CN">
                <a:latin typeface="Arial" panose="020B0604020202020204" pitchFamily="34" charset="0"/>
                <a:ea typeface="宋体" panose="02010600030101010101" pitchFamily="2" charset="-122"/>
              </a:endParaRPr>
            </a:p>
          </p:txBody>
        </p:sp>
      </p:grpSp>
      <p:grpSp>
        <p:nvGrpSpPr>
          <p:cNvPr id="134175" name="组合 274464"/>
          <p:cNvGrpSpPr/>
          <p:nvPr/>
        </p:nvGrpSpPr>
        <p:grpSpPr>
          <a:xfrm>
            <a:off x="323850" y="3052763"/>
            <a:ext cx="8397875" cy="3076575"/>
            <a:chOff x="231" y="1536"/>
            <a:chExt cx="5290" cy="1938"/>
          </a:xfrm>
        </p:grpSpPr>
        <p:sp>
          <p:nvSpPr>
            <p:cNvPr id="134176" name="矩形 274465"/>
            <p:cNvSpPr/>
            <p:nvPr/>
          </p:nvSpPr>
          <p:spPr>
            <a:xfrm>
              <a:off x="656" y="1536"/>
              <a:ext cx="532" cy="210"/>
            </a:xfrm>
            <a:prstGeom prst="rect">
              <a:avLst/>
            </a:prstGeom>
            <a:noFill/>
            <a:ln w="12700">
              <a:noFill/>
            </a:ln>
          </p:spPr>
          <p:txBody>
            <a:bodyPr wrap="none" lIns="90488" tIns="44450" rIns="90488" bIns="44450" anchor="t" anchorCtr="0">
              <a:spAutoFit/>
            </a:bodyPr>
            <a:p>
              <a:pPr algn="ctr" eaLnBrk="0" hangingPunct="0"/>
              <a:r>
                <a:rPr lang="en-US" altLang="zh-CN" dirty="0" err="1">
                  <a:latin typeface="Arial" panose="020B0604020202020204" pitchFamily="34" charset="0"/>
                  <a:ea typeface="宋体" panose="02010600030101010101" pitchFamily="2" charset="-122"/>
                </a:rPr>
                <a:t>ALUop</a:t>
              </a:r>
              <a:endParaRPr lang="en-US" altLang="zh-CN">
                <a:latin typeface="Arial" panose="020B0604020202020204" pitchFamily="34" charset="0"/>
                <a:ea typeface="宋体" panose="02010600030101010101" pitchFamily="2" charset="-122"/>
              </a:endParaRPr>
            </a:p>
          </p:txBody>
        </p:sp>
        <p:sp>
          <p:nvSpPr>
            <p:cNvPr id="134177" name="矩形 274466"/>
            <p:cNvSpPr/>
            <p:nvPr/>
          </p:nvSpPr>
          <p:spPr>
            <a:xfrm>
              <a:off x="2295" y="1536"/>
              <a:ext cx="384" cy="210"/>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func</a:t>
              </a:r>
              <a:endParaRPr lang="en-US" altLang="zh-CN">
                <a:latin typeface="Arial" panose="020B0604020202020204" pitchFamily="34" charset="0"/>
                <a:ea typeface="宋体" panose="02010600030101010101" pitchFamily="2" charset="-122"/>
              </a:endParaRPr>
            </a:p>
          </p:txBody>
        </p:sp>
        <p:sp>
          <p:nvSpPr>
            <p:cNvPr id="134178" name="矩形 274467"/>
            <p:cNvSpPr/>
            <p:nvPr/>
          </p:nvSpPr>
          <p:spPr>
            <a:xfrm>
              <a:off x="231" y="1728"/>
              <a:ext cx="34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bit2</a:t>
              </a:r>
              <a:endParaRPr lang="en-US" altLang="zh-CN">
                <a:latin typeface="Arial" panose="020B0604020202020204" pitchFamily="34" charset="0"/>
                <a:ea typeface="宋体" panose="02010600030101010101" pitchFamily="2" charset="-122"/>
              </a:endParaRPr>
            </a:p>
          </p:txBody>
        </p:sp>
        <p:sp>
          <p:nvSpPr>
            <p:cNvPr id="134179" name="矩形 274468"/>
            <p:cNvSpPr/>
            <p:nvPr/>
          </p:nvSpPr>
          <p:spPr>
            <a:xfrm>
              <a:off x="663" y="1728"/>
              <a:ext cx="34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bit1</a:t>
              </a:r>
              <a:endParaRPr lang="en-US" altLang="zh-CN">
                <a:latin typeface="Arial" panose="020B0604020202020204" pitchFamily="34" charset="0"/>
                <a:ea typeface="宋体" panose="02010600030101010101" pitchFamily="2" charset="-122"/>
              </a:endParaRPr>
            </a:p>
          </p:txBody>
        </p:sp>
        <p:sp>
          <p:nvSpPr>
            <p:cNvPr id="134180" name="矩形 274469"/>
            <p:cNvSpPr/>
            <p:nvPr/>
          </p:nvSpPr>
          <p:spPr>
            <a:xfrm>
              <a:off x="1095" y="1728"/>
              <a:ext cx="342"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bit0</a:t>
              </a:r>
              <a:endParaRPr lang="en-US" altLang="zh-CN">
                <a:latin typeface="Arial" panose="020B0604020202020204" pitchFamily="34" charset="0"/>
                <a:ea typeface="宋体" panose="02010600030101010101" pitchFamily="2" charset="-122"/>
              </a:endParaRPr>
            </a:p>
          </p:txBody>
        </p:sp>
        <p:sp>
          <p:nvSpPr>
            <p:cNvPr id="134181" name="矩形 274470"/>
            <p:cNvSpPr/>
            <p:nvPr/>
          </p:nvSpPr>
          <p:spPr>
            <a:xfrm>
              <a:off x="2055" y="1728"/>
              <a:ext cx="474"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bit&lt;2&gt;</a:t>
              </a:r>
              <a:endParaRPr lang="en-US" altLang="zh-CN">
                <a:latin typeface="Times New Roman" panose="02020603050405020304" pitchFamily="18" charset="0"/>
                <a:ea typeface="宋体" panose="02010600030101010101" pitchFamily="2" charset="-122"/>
              </a:endParaRPr>
            </a:p>
          </p:txBody>
        </p:sp>
        <p:sp>
          <p:nvSpPr>
            <p:cNvPr id="134182" name="矩形 274471"/>
            <p:cNvSpPr/>
            <p:nvPr/>
          </p:nvSpPr>
          <p:spPr>
            <a:xfrm>
              <a:off x="2487" y="1728"/>
              <a:ext cx="474"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b</a:t>
              </a:r>
              <a:r>
                <a:rPr lang="en-US" altLang="zh-CN">
                  <a:latin typeface="Arial" panose="020B0604020202020204" pitchFamily="34" charset="0"/>
                  <a:ea typeface="宋体" panose="02010600030101010101" pitchFamily="2" charset="-122"/>
                </a:rPr>
                <a:t>i</a:t>
              </a:r>
              <a:r>
                <a:rPr lang="en-US" altLang="zh-CN">
                  <a:latin typeface="Times New Roman" panose="02020603050405020304" pitchFamily="18" charset="0"/>
                  <a:ea typeface="宋体" panose="02010600030101010101" pitchFamily="2" charset="-122"/>
                </a:rPr>
                <a:t>t&lt;1&gt;</a:t>
              </a:r>
              <a:endParaRPr lang="en-US" altLang="zh-CN">
                <a:latin typeface="Times New Roman" panose="02020603050405020304" pitchFamily="18" charset="0"/>
                <a:ea typeface="宋体" panose="02010600030101010101" pitchFamily="2" charset="-122"/>
              </a:endParaRPr>
            </a:p>
          </p:txBody>
        </p:sp>
        <p:sp>
          <p:nvSpPr>
            <p:cNvPr id="134183" name="矩形 274472"/>
            <p:cNvSpPr/>
            <p:nvPr/>
          </p:nvSpPr>
          <p:spPr>
            <a:xfrm>
              <a:off x="2919" y="1728"/>
              <a:ext cx="49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bit&lt;0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4184" name="矩形 274473"/>
            <p:cNvSpPr/>
            <p:nvPr/>
          </p:nvSpPr>
          <p:spPr>
            <a:xfrm>
              <a:off x="1623" y="1728"/>
              <a:ext cx="490"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bit&lt;3</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4185" name="直接连接符 274474"/>
            <p:cNvSpPr/>
            <p:nvPr/>
          </p:nvSpPr>
          <p:spPr>
            <a:xfrm>
              <a:off x="1584" y="1544"/>
              <a:ext cx="0" cy="1904"/>
            </a:xfrm>
            <a:prstGeom prst="line">
              <a:avLst/>
            </a:prstGeom>
            <a:ln w="25400" cap="flat" cmpd="sng">
              <a:solidFill>
                <a:schemeClr val="tx1"/>
              </a:solidFill>
              <a:prstDash val="solid"/>
              <a:round/>
              <a:headEnd type="none" w="med" len="med"/>
              <a:tailEnd type="none" w="med" len="med"/>
            </a:ln>
          </p:spPr>
        </p:sp>
        <p:sp>
          <p:nvSpPr>
            <p:cNvPr id="134186" name="直接连接符 274475"/>
            <p:cNvSpPr/>
            <p:nvPr/>
          </p:nvSpPr>
          <p:spPr>
            <a:xfrm>
              <a:off x="248" y="1536"/>
              <a:ext cx="5264" cy="0"/>
            </a:xfrm>
            <a:prstGeom prst="line">
              <a:avLst/>
            </a:prstGeom>
            <a:ln w="25400" cap="flat" cmpd="sng">
              <a:solidFill>
                <a:schemeClr val="tx1"/>
              </a:solidFill>
              <a:prstDash val="solid"/>
              <a:round/>
              <a:headEnd type="none" w="med" len="med"/>
              <a:tailEnd type="none" w="med" len="med"/>
            </a:ln>
          </p:spPr>
        </p:sp>
        <p:sp>
          <p:nvSpPr>
            <p:cNvPr id="134187" name="直接连接符 274476"/>
            <p:cNvSpPr/>
            <p:nvPr/>
          </p:nvSpPr>
          <p:spPr>
            <a:xfrm>
              <a:off x="240" y="1544"/>
              <a:ext cx="0" cy="1904"/>
            </a:xfrm>
            <a:prstGeom prst="line">
              <a:avLst/>
            </a:prstGeom>
            <a:ln w="25400" cap="flat" cmpd="sng">
              <a:solidFill>
                <a:schemeClr val="tx1"/>
              </a:solidFill>
              <a:prstDash val="solid"/>
              <a:round/>
              <a:headEnd type="none" w="med" len="med"/>
              <a:tailEnd type="none" w="med" len="med"/>
            </a:ln>
          </p:spPr>
        </p:sp>
        <p:sp>
          <p:nvSpPr>
            <p:cNvPr id="134188" name="直接连接符 274477"/>
            <p:cNvSpPr/>
            <p:nvPr/>
          </p:nvSpPr>
          <p:spPr>
            <a:xfrm>
              <a:off x="3408" y="1544"/>
              <a:ext cx="0" cy="1904"/>
            </a:xfrm>
            <a:prstGeom prst="line">
              <a:avLst/>
            </a:prstGeom>
            <a:ln w="25400" cap="flat" cmpd="sng">
              <a:solidFill>
                <a:schemeClr val="tx1"/>
              </a:solidFill>
              <a:prstDash val="solid"/>
              <a:round/>
              <a:headEnd type="none" w="med" len="med"/>
              <a:tailEnd type="none" w="med" len="med"/>
            </a:ln>
          </p:spPr>
        </p:sp>
        <p:sp>
          <p:nvSpPr>
            <p:cNvPr id="134189" name="矩形 274478"/>
            <p:cNvSpPr/>
            <p:nvPr/>
          </p:nvSpPr>
          <p:spPr>
            <a:xfrm>
              <a:off x="375"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190" name="直接连接符 274479"/>
            <p:cNvSpPr/>
            <p:nvPr/>
          </p:nvSpPr>
          <p:spPr>
            <a:xfrm>
              <a:off x="248" y="2112"/>
              <a:ext cx="5264" cy="0"/>
            </a:xfrm>
            <a:prstGeom prst="line">
              <a:avLst/>
            </a:prstGeom>
            <a:ln w="25400" cap="flat" cmpd="sng">
              <a:solidFill>
                <a:schemeClr val="tx1"/>
              </a:solidFill>
              <a:prstDash val="solid"/>
              <a:round/>
              <a:headEnd type="none" w="med" len="med"/>
              <a:tailEnd type="none" w="med" len="med"/>
            </a:ln>
          </p:spPr>
        </p:sp>
        <p:sp>
          <p:nvSpPr>
            <p:cNvPr id="134191" name="矩形 274480"/>
            <p:cNvSpPr/>
            <p:nvPr/>
          </p:nvSpPr>
          <p:spPr>
            <a:xfrm>
              <a:off x="80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192" name="矩形 274481"/>
            <p:cNvSpPr/>
            <p:nvPr/>
          </p:nvSpPr>
          <p:spPr>
            <a:xfrm>
              <a:off x="1239"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193" name="矩形 274482"/>
            <p:cNvSpPr/>
            <p:nvPr/>
          </p:nvSpPr>
          <p:spPr>
            <a:xfrm>
              <a:off x="1767" y="1920"/>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194" name="矩形 274483"/>
            <p:cNvSpPr/>
            <p:nvPr/>
          </p:nvSpPr>
          <p:spPr>
            <a:xfrm>
              <a:off x="2199" y="1920"/>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195" name="矩形 274484"/>
            <p:cNvSpPr/>
            <p:nvPr/>
          </p:nvSpPr>
          <p:spPr>
            <a:xfrm>
              <a:off x="2631" y="1920"/>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196" name="矩形 274485"/>
            <p:cNvSpPr/>
            <p:nvPr/>
          </p:nvSpPr>
          <p:spPr>
            <a:xfrm>
              <a:off x="3063" y="1920"/>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197" name="矩形 274486"/>
            <p:cNvSpPr/>
            <p:nvPr/>
          </p:nvSpPr>
          <p:spPr>
            <a:xfrm>
              <a:off x="4551" y="1536"/>
              <a:ext cx="540" cy="210"/>
            </a:xfrm>
            <a:prstGeom prst="rect">
              <a:avLst/>
            </a:prstGeom>
            <a:noFill/>
            <a:ln w="12700">
              <a:noFill/>
            </a:ln>
          </p:spPr>
          <p:txBody>
            <a:bodyPr wrap="none" lIns="90488" tIns="44450" rIns="90488" bIns="44450" anchor="t" anchorCtr="0">
              <a:spAutoFit/>
            </a:bodyPr>
            <a:p>
              <a:pPr eaLnBrk="0" hangingPunct="0"/>
              <a:r>
                <a:rPr lang="en-US" altLang="zh-CN" dirty="0" err="1">
                  <a:solidFill>
                    <a:srgbClr val="0000FF"/>
                  </a:solidFill>
                  <a:latin typeface="Arial" panose="020B0604020202020204" pitchFamily="34" charset="0"/>
                  <a:ea typeface="宋体" panose="02010600030101010101" pitchFamily="2" charset="-122"/>
                </a:rPr>
                <a:t>ALUctr</a:t>
              </a:r>
              <a:endParaRPr lang="en-US" altLang="zh-CN">
                <a:solidFill>
                  <a:srgbClr val="0000FF"/>
                </a:solidFill>
                <a:latin typeface="Arial" panose="020B0604020202020204" pitchFamily="34" charset="0"/>
                <a:ea typeface="宋体" panose="02010600030101010101" pitchFamily="2" charset="-122"/>
              </a:endParaRPr>
            </a:p>
          </p:txBody>
        </p:sp>
        <p:sp>
          <p:nvSpPr>
            <p:cNvPr id="134198" name="矩形 274487"/>
            <p:cNvSpPr/>
            <p:nvPr/>
          </p:nvSpPr>
          <p:spPr>
            <a:xfrm>
              <a:off x="3426" y="1536"/>
              <a:ext cx="719" cy="364"/>
            </a:xfrm>
            <a:prstGeom prst="rect">
              <a:avLst/>
            </a:prstGeom>
            <a:noFill/>
            <a:ln w="12700">
              <a:noFill/>
            </a:ln>
          </p:spPr>
          <p:txBody>
            <a:bodyPr wrap="none" lIns="90488" tIns="44450" rIns="90488" bIns="44450" anchor="t" anchorCtr="0">
              <a:spAutoFit/>
            </a:bodyPr>
            <a:p>
              <a:pPr algn="ctr" eaLnBrk="0" hangingPunct="0"/>
              <a:r>
                <a:rPr lang="en-US" altLang="zh-CN">
                  <a:solidFill>
                    <a:srgbClr val="0000FF"/>
                  </a:solidFill>
                  <a:latin typeface="Arial" panose="020B0604020202020204" pitchFamily="34" charset="0"/>
                  <a:ea typeface="宋体" panose="02010600030101010101" pitchFamily="2" charset="-122"/>
                </a:rPr>
                <a:t>ALU</a:t>
              </a:r>
              <a:endParaRPr lang="en-US" altLang="zh-CN">
                <a:solidFill>
                  <a:srgbClr val="0000FF"/>
                </a:solidFill>
                <a:latin typeface="Arial" panose="020B0604020202020204" pitchFamily="34" charset="0"/>
                <a:ea typeface="宋体" panose="02010600030101010101" pitchFamily="2" charset="-122"/>
              </a:endParaRPr>
            </a:p>
            <a:p>
              <a:pPr algn="ctr" eaLnBrk="0" hangingPunct="0"/>
              <a:r>
                <a:rPr lang="en-US" altLang="zh-CN">
                  <a:solidFill>
                    <a:srgbClr val="0000FF"/>
                  </a:solidFill>
                  <a:latin typeface="Arial" panose="020B0604020202020204" pitchFamily="34" charset="0"/>
                  <a:ea typeface="宋体" panose="02010600030101010101" pitchFamily="2" charset="-122"/>
                </a:rPr>
                <a:t>Operation</a:t>
              </a:r>
              <a:endParaRPr lang="en-US" altLang="zh-CN">
                <a:solidFill>
                  <a:srgbClr val="0000FF"/>
                </a:solidFill>
                <a:latin typeface="Arial" panose="020B0604020202020204" pitchFamily="34" charset="0"/>
                <a:ea typeface="宋体" panose="02010600030101010101" pitchFamily="2" charset="-122"/>
              </a:endParaRPr>
            </a:p>
          </p:txBody>
        </p:sp>
        <p:sp>
          <p:nvSpPr>
            <p:cNvPr id="134199" name="矩形 274488"/>
            <p:cNvSpPr/>
            <p:nvPr/>
          </p:nvSpPr>
          <p:spPr>
            <a:xfrm>
              <a:off x="3591" y="1920"/>
              <a:ext cx="362"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Add</a:t>
              </a:r>
              <a:endParaRPr lang="en-US" altLang="zh-CN">
                <a:solidFill>
                  <a:srgbClr val="0000FF"/>
                </a:solidFill>
                <a:latin typeface="Arial" panose="020B0604020202020204" pitchFamily="34" charset="0"/>
                <a:ea typeface="宋体" panose="02010600030101010101" pitchFamily="2" charset="-122"/>
              </a:endParaRPr>
            </a:p>
          </p:txBody>
        </p:sp>
        <p:sp>
          <p:nvSpPr>
            <p:cNvPr id="134200" name="矩形 274489"/>
            <p:cNvSpPr/>
            <p:nvPr/>
          </p:nvSpPr>
          <p:spPr>
            <a:xfrm>
              <a:off x="4311"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01" name="矩形 274490"/>
            <p:cNvSpPr/>
            <p:nvPr/>
          </p:nvSpPr>
          <p:spPr>
            <a:xfrm>
              <a:off x="4743"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02" name="矩形 274491"/>
            <p:cNvSpPr/>
            <p:nvPr/>
          </p:nvSpPr>
          <p:spPr>
            <a:xfrm>
              <a:off x="5127" y="192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03" name="矩形 274492"/>
            <p:cNvSpPr/>
            <p:nvPr/>
          </p:nvSpPr>
          <p:spPr>
            <a:xfrm>
              <a:off x="4167" y="1728"/>
              <a:ext cx="490"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bit&lt;2</a:t>
              </a:r>
              <a:r>
                <a:rPr lang="en-US" altLang="zh-CN">
                  <a:solidFill>
                    <a:srgbClr val="0000FF"/>
                  </a:solidFill>
                  <a:latin typeface="Times New Roman" panose="02020603050405020304" pitchFamily="18" charset="0"/>
                  <a:ea typeface="宋体" panose="02010600030101010101" pitchFamily="2" charset="-122"/>
                </a:rPr>
                <a:t>&gt;</a:t>
              </a:r>
              <a:endParaRPr lang="en-US" altLang="zh-CN">
                <a:solidFill>
                  <a:srgbClr val="0000FF"/>
                </a:solidFill>
                <a:latin typeface="Times New Roman" panose="02020603050405020304" pitchFamily="18" charset="0"/>
                <a:ea typeface="宋体" panose="02010600030101010101" pitchFamily="2" charset="-122"/>
              </a:endParaRPr>
            </a:p>
          </p:txBody>
        </p:sp>
        <p:sp>
          <p:nvSpPr>
            <p:cNvPr id="134204" name="矩形 274493"/>
            <p:cNvSpPr/>
            <p:nvPr/>
          </p:nvSpPr>
          <p:spPr>
            <a:xfrm>
              <a:off x="4599" y="1728"/>
              <a:ext cx="490"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bit&lt;1</a:t>
              </a:r>
              <a:r>
                <a:rPr lang="en-US" altLang="zh-CN">
                  <a:solidFill>
                    <a:srgbClr val="0000FF"/>
                  </a:solidFill>
                  <a:latin typeface="Times New Roman" panose="02020603050405020304" pitchFamily="18" charset="0"/>
                  <a:ea typeface="宋体" panose="02010600030101010101" pitchFamily="2" charset="-122"/>
                </a:rPr>
                <a:t>&gt;</a:t>
              </a:r>
              <a:endParaRPr lang="en-US" altLang="zh-CN">
                <a:solidFill>
                  <a:srgbClr val="0000FF"/>
                </a:solidFill>
                <a:latin typeface="Times New Roman" panose="02020603050405020304" pitchFamily="18" charset="0"/>
                <a:ea typeface="宋体" panose="02010600030101010101" pitchFamily="2" charset="-122"/>
              </a:endParaRPr>
            </a:p>
          </p:txBody>
        </p:sp>
        <p:sp>
          <p:nvSpPr>
            <p:cNvPr id="134205" name="矩形 274494"/>
            <p:cNvSpPr/>
            <p:nvPr/>
          </p:nvSpPr>
          <p:spPr>
            <a:xfrm>
              <a:off x="5031" y="1728"/>
              <a:ext cx="490"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bit&lt;0</a:t>
              </a:r>
              <a:r>
                <a:rPr lang="en-US" altLang="zh-CN">
                  <a:solidFill>
                    <a:srgbClr val="0000FF"/>
                  </a:solidFill>
                  <a:latin typeface="Times New Roman" panose="02020603050405020304" pitchFamily="18" charset="0"/>
                  <a:ea typeface="宋体" panose="02010600030101010101" pitchFamily="2" charset="-122"/>
                </a:rPr>
                <a:t>&gt;</a:t>
              </a:r>
              <a:endParaRPr lang="en-US" altLang="zh-CN">
                <a:solidFill>
                  <a:srgbClr val="0000FF"/>
                </a:solidFill>
                <a:latin typeface="Times New Roman" panose="02020603050405020304" pitchFamily="18" charset="0"/>
                <a:ea typeface="宋体" panose="02010600030101010101" pitchFamily="2" charset="-122"/>
              </a:endParaRPr>
            </a:p>
          </p:txBody>
        </p:sp>
        <p:sp>
          <p:nvSpPr>
            <p:cNvPr id="134206" name="直接连接符 274495"/>
            <p:cNvSpPr/>
            <p:nvPr/>
          </p:nvSpPr>
          <p:spPr>
            <a:xfrm>
              <a:off x="4128" y="1544"/>
              <a:ext cx="0" cy="1904"/>
            </a:xfrm>
            <a:prstGeom prst="line">
              <a:avLst/>
            </a:prstGeom>
            <a:ln w="25400" cap="flat" cmpd="sng">
              <a:solidFill>
                <a:schemeClr val="tx1"/>
              </a:solidFill>
              <a:prstDash val="solid"/>
              <a:round/>
              <a:headEnd type="none" w="med" len="med"/>
              <a:tailEnd type="none" w="med" len="med"/>
            </a:ln>
          </p:spPr>
        </p:sp>
        <p:sp>
          <p:nvSpPr>
            <p:cNvPr id="134207" name="直接连接符 274496"/>
            <p:cNvSpPr/>
            <p:nvPr/>
          </p:nvSpPr>
          <p:spPr>
            <a:xfrm>
              <a:off x="5520" y="1544"/>
              <a:ext cx="0" cy="1904"/>
            </a:xfrm>
            <a:prstGeom prst="line">
              <a:avLst/>
            </a:prstGeom>
            <a:ln w="25400" cap="flat" cmpd="sng">
              <a:solidFill>
                <a:schemeClr val="tx1"/>
              </a:solidFill>
              <a:prstDash val="solid"/>
              <a:round/>
              <a:headEnd type="none" w="med" len="med"/>
              <a:tailEnd type="none" w="med" len="med"/>
            </a:ln>
          </p:spPr>
        </p:sp>
        <p:sp>
          <p:nvSpPr>
            <p:cNvPr id="134208" name="矩形 274497"/>
            <p:cNvSpPr/>
            <p:nvPr/>
          </p:nvSpPr>
          <p:spPr>
            <a:xfrm>
              <a:off x="375"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09" name="矩形 274498"/>
            <p:cNvSpPr/>
            <p:nvPr/>
          </p:nvSpPr>
          <p:spPr>
            <a:xfrm>
              <a:off x="807" y="211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10" name="矩形 274499"/>
            <p:cNvSpPr/>
            <p:nvPr/>
          </p:nvSpPr>
          <p:spPr>
            <a:xfrm>
              <a:off x="1239"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11" name="矩形 274500"/>
            <p:cNvSpPr/>
            <p:nvPr/>
          </p:nvSpPr>
          <p:spPr>
            <a:xfrm>
              <a:off x="1767" y="211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12" name="矩形 274501"/>
            <p:cNvSpPr/>
            <p:nvPr/>
          </p:nvSpPr>
          <p:spPr>
            <a:xfrm>
              <a:off x="2199" y="211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13" name="矩形 274502"/>
            <p:cNvSpPr/>
            <p:nvPr/>
          </p:nvSpPr>
          <p:spPr>
            <a:xfrm>
              <a:off x="2631" y="211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14" name="矩形 274503"/>
            <p:cNvSpPr/>
            <p:nvPr/>
          </p:nvSpPr>
          <p:spPr>
            <a:xfrm>
              <a:off x="3063" y="211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15" name="矩形 274504"/>
            <p:cNvSpPr/>
            <p:nvPr/>
          </p:nvSpPr>
          <p:spPr>
            <a:xfrm>
              <a:off x="3495" y="2112"/>
              <a:ext cx="633"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Subtract</a:t>
              </a:r>
              <a:endParaRPr lang="en-US" altLang="zh-CN">
                <a:solidFill>
                  <a:srgbClr val="0000FF"/>
                </a:solidFill>
                <a:latin typeface="Arial" panose="020B0604020202020204" pitchFamily="34" charset="0"/>
                <a:ea typeface="宋体" panose="02010600030101010101" pitchFamily="2" charset="-122"/>
              </a:endParaRPr>
            </a:p>
          </p:txBody>
        </p:sp>
        <p:sp>
          <p:nvSpPr>
            <p:cNvPr id="134216" name="矩形 274505"/>
            <p:cNvSpPr/>
            <p:nvPr/>
          </p:nvSpPr>
          <p:spPr>
            <a:xfrm>
              <a:off x="4311"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17" name="矩形 274506"/>
            <p:cNvSpPr/>
            <p:nvPr/>
          </p:nvSpPr>
          <p:spPr>
            <a:xfrm>
              <a:off x="4743"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18" name="矩形 274507"/>
            <p:cNvSpPr/>
            <p:nvPr/>
          </p:nvSpPr>
          <p:spPr>
            <a:xfrm>
              <a:off x="5127" y="211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19" name="直接连接符 274508"/>
            <p:cNvSpPr/>
            <p:nvPr/>
          </p:nvSpPr>
          <p:spPr>
            <a:xfrm>
              <a:off x="248" y="2304"/>
              <a:ext cx="5264" cy="0"/>
            </a:xfrm>
            <a:prstGeom prst="line">
              <a:avLst/>
            </a:prstGeom>
            <a:ln w="25400" cap="flat" cmpd="sng">
              <a:solidFill>
                <a:schemeClr val="tx1"/>
              </a:solidFill>
              <a:prstDash val="solid"/>
              <a:round/>
              <a:headEnd type="none" w="med" len="med"/>
              <a:tailEnd type="none" w="med" len="med"/>
            </a:ln>
          </p:spPr>
        </p:sp>
        <p:sp>
          <p:nvSpPr>
            <p:cNvPr id="134220" name="直接连接符 274509"/>
            <p:cNvSpPr/>
            <p:nvPr/>
          </p:nvSpPr>
          <p:spPr>
            <a:xfrm>
              <a:off x="248" y="1920"/>
              <a:ext cx="5264" cy="0"/>
            </a:xfrm>
            <a:prstGeom prst="line">
              <a:avLst/>
            </a:prstGeom>
            <a:ln w="25400" cap="flat" cmpd="sng">
              <a:solidFill>
                <a:schemeClr val="tx1"/>
              </a:solidFill>
              <a:prstDash val="solid"/>
              <a:round/>
              <a:headEnd type="none" w="med" len="med"/>
              <a:tailEnd type="none" w="med" len="med"/>
            </a:ln>
          </p:spPr>
        </p:sp>
        <p:sp>
          <p:nvSpPr>
            <p:cNvPr id="134221" name="矩形 274510"/>
            <p:cNvSpPr/>
            <p:nvPr/>
          </p:nvSpPr>
          <p:spPr>
            <a:xfrm>
              <a:off x="375"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22" name="矩形 274511"/>
            <p:cNvSpPr/>
            <p:nvPr/>
          </p:nvSpPr>
          <p:spPr>
            <a:xfrm>
              <a:off x="80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23" name="矩形 274512"/>
            <p:cNvSpPr/>
            <p:nvPr/>
          </p:nvSpPr>
          <p:spPr>
            <a:xfrm>
              <a:off x="1239" y="230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0</a:t>
              </a:r>
              <a:endParaRPr lang="en-US" altLang="zh-CN">
                <a:latin typeface="Arial" panose="020B0604020202020204" pitchFamily="34" charset="0"/>
                <a:ea typeface="宋体" panose="02010600030101010101" pitchFamily="2" charset="-122"/>
              </a:endParaRPr>
            </a:p>
          </p:txBody>
        </p:sp>
        <p:sp>
          <p:nvSpPr>
            <p:cNvPr id="134224" name="矩形 274513"/>
            <p:cNvSpPr/>
            <p:nvPr/>
          </p:nvSpPr>
          <p:spPr>
            <a:xfrm>
              <a:off x="1767" y="230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25" name="矩形 274514"/>
            <p:cNvSpPr/>
            <p:nvPr/>
          </p:nvSpPr>
          <p:spPr>
            <a:xfrm>
              <a:off x="2199" y="230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26" name="矩形 274515"/>
            <p:cNvSpPr/>
            <p:nvPr/>
          </p:nvSpPr>
          <p:spPr>
            <a:xfrm>
              <a:off x="2631" y="230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27" name="矩形 274516"/>
            <p:cNvSpPr/>
            <p:nvPr/>
          </p:nvSpPr>
          <p:spPr>
            <a:xfrm>
              <a:off x="3063" y="230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28" name="矩形 274517"/>
            <p:cNvSpPr/>
            <p:nvPr/>
          </p:nvSpPr>
          <p:spPr>
            <a:xfrm>
              <a:off x="3639" y="2304"/>
              <a:ext cx="264"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Or</a:t>
              </a:r>
              <a:endParaRPr lang="en-US" altLang="zh-CN">
                <a:solidFill>
                  <a:srgbClr val="0000FF"/>
                </a:solidFill>
                <a:latin typeface="Arial" panose="020B0604020202020204" pitchFamily="34" charset="0"/>
                <a:ea typeface="宋体" panose="02010600030101010101" pitchFamily="2" charset="-122"/>
              </a:endParaRPr>
            </a:p>
          </p:txBody>
        </p:sp>
        <p:sp>
          <p:nvSpPr>
            <p:cNvPr id="134229" name="矩形 274518"/>
            <p:cNvSpPr/>
            <p:nvPr/>
          </p:nvSpPr>
          <p:spPr>
            <a:xfrm>
              <a:off x="4311"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30" name="矩形 274519"/>
            <p:cNvSpPr/>
            <p:nvPr/>
          </p:nvSpPr>
          <p:spPr>
            <a:xfrm>
              <a:off x="4743"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31" name="矩形 274520"/>
            <p:cNvSpPr/>
            <p:nvPr/>
          </p:nvSpPr>
          <p:spPr>
            <a:xfrm>
              <a:off x="5127" y="230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32" name="直接连接符 274521"/>
            <p:cNvSpPr/>
            <p:nvPr/>
          </p:nvSpPr>
          <p:spPr>
            <a:xfrm>
              <a:off x="248" y="2496"/>
              <a:ext cx="5264" cy="0"/>
            </a:xfrm>
            <a:prstGeom prst="line">
              <a:avLst/>
            </a:prstGeom>
            <a:ln w="25400" cap="flat" cmpd="sng">
              <a:solidFill>
                <a:schemeClr val="tx1"/>
              </a:solidFill>
              <a:prstDash val="solid"/>
              <a:round/>
              <a:headEnd type="none" w="med" len="med"/>
              <a:tailEnd type="none" w="med" len="med"/>
            </a:ln>
          </p:spPr>
        </p:sp>
        <p:sp>
          <p:nvSpPr>
            <p:cNvPr id="134233" name="矩形 274522"/>
            <p:cNvSpPr/>
            <p:nvPr/>
          </p:nvSpPr>
          <p:spPr>
            <a:xfrm>
              <a:off x="375"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34" name="矩形 274523"/>
            <p:cNvSpPr/>
            <p:nvPr/>
          </p:nvSpPr>
          <p:spPr>
            <a:xfrm>
              <a:off x="807" y="249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35" name="矩形 274524"/>
            <p:cNvSpPr/>
            <p:nvPr/>
          </p:nvSpPr>
          <p:spPr>
            <a:xfrm>
              <a:off x="1239" y="2496"/>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36" name="矩形 274525"/>
            <p:cNvSpPr/>
            <p:nvPr/>
          </p:nvSpPr>
          <p:spPr>
            <a:xfrm>
              <a:off x="1767"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37" name="矩形 274526"/>
            <p:cNvSpPr/>
            <p:nvPr/>
          </p:nvSpPr>
          <p:spPr>
            <a:xfrm>
              <a:off x="2199"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38" name="矩形 274527"/>
            <p:cNvSpPr/>
            <p:nvPr/>
          </p:nvSpPr>
          <p:spPr>
            <a:xfrm>
              <a:off x="2631"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39" name="矩形 274528"/>
            <p:cNvSpPr/>
            <p:nvPr/>
          </p:nvSpPr>
          <p:spPr>
            <a:xfrm>
              <a:off x="3063"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40" name="矩形 274529"/>
            <p:cNvSpPr/>
            <p:nvPr/>
          </p:nvSpPr>
          <p:spPr>
            <a:xfrm>
              <a:off x="3591" y="2496"/>
              <a:ext cx="362"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Add</a:t>
              </a:r>
              <a:endParaRPr lang="en-US" altLang="zh-CN">
                <a:solidFill>
                  <a:srgbClr val="0000FF"/>
                </a:solidFill>
                <a:latin typeface="Arial" panose="020B0604020202020204" pitchFamily="34" charset="0"/>
                <a:ea typeface="宋体" panose="02010600030101010101" pitchFamily="2" charset="-122"/>
              </a:endParaRPr>
            </a:p>
          </p:txBody>
        </p:sp>
        <p:sp>
          <p:nvSpPr>
            <p:cNvPr id="134241" name="矩形 274530"/>
            <p:cNvSpPr/>
            <p:nvPr/>
          </p:nvSpPr>
          <p:spPr>
            <a:xfrm>
              <a:off x="4311"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42" name="矩形 274531"/>
            <p:cNvSpPr/>
            <p:nvPr/>
          </p:nvSpPr>
          <p:spPr>
            <a:xfrm>
              <a:off x="4743"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43" name="矩形 274532"/>
            <p:cNvSpPr/>
            <p:nvPr/>
          </p:nvSpPr>
          <p:spPr>
            <a:xfrm>
              <a:off x="5127" y="2496"/>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44" name="直接连接符 274533"/>
            <p:cNvSpPr/>
            <p:nvPr/>
          </p:nvSpPr>
          <p:spPr>
            <a:xfrm>
              <a:off x="248" y="2688"/>
              <a:ext cx="5264" cy="0"/>
            </a:xfrm>
            <a:prstGeom prst="line">
              <a:avLst/>
            </a:prstGeom>
            <a:ln w="25400" cap="flat" cmpd="sng">
              <a:solidFill>
                <a:schemeClr val="tx1"/>
              </a:solidFill>
              <a:prstDash val="solid"/>
              <a:round/>
              <a:headEnd type="none" w="med" len="med"/>
              <a:tailEnd type="none" w="med" len="med"/>
            </a:ln>
          </p:spPr>
        </p:sp>
        <p:sp>
          <p:nvSpPr>
            <p:cNvPr id="134245" name="矩形 274534"/>
            <p:cNvSpPr/>
            <p:nvPr/>
          </p:nvSpPr>
          <p:spPr>
            <a:xfrm>
              <a:off x="375" y="268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46" name="矩形 274535"/>
            <p:cNvSpPr/>
            <p:nvPr/>
          </p:nvSpPr>
          <p:spPr>
            <a:xfrm>
              <a:off x="807" y="2688"/>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47" name="矩形 274536"/>
            <p:cNvSpPr/>
            <p:nvPr/>
          </p:nvSpPr>
          <p:spPr>
            <a:xfrm>
              <a:off x="1239" y="2688"/>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48" name="矩形 274537"/>
            <p:cNvSpPr/>
            <p:nvPr/>
          </p:nvSpPr>
          <p:spPr>
            <a:xfrm>
              <a:off x="1767" y="268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49" name="矩形 274538"/>
            <p:cNvSpPr/>
            <p:nvPr/>
          </p:nvSpPr>
          <p:spPr>
            <a:xfrm>
              <a:off x="2199" y="268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50" name="矩形 274539"/>
            <p:cNvSpPr/>
            <p:nvPr/>
          </p:nvSpPr>
          <p:spPr>
            <a:xfrm>
              <a:off x="2631" y="268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51" name="矩形 274540"/>
            <p:cNvSpPr/>
            <p:nvPr/>
          </p:nvSpPr>
          <p:spPr>
            <a:xfrm>
              <a:off x="3063" y="268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52" name="矩形 274541"/>
            <p:cNvSpPr/>
            <p:nvPr/>
          </p:nvSpPr>
          <p:spPr>
            <a:xfrm>
              <a:off x="3495" y="2688"/>
              <a:ext cx="633"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Subtract</a:t>
              </a:r>
              <a:endParaRPr lang="en-US" altLang="zh-CN">
                <a:solidFill>
                  <a:srgbClr val="0000FF"/>
                </a:solidFill>
                <a:latin typeface="Arial" panose="020B0604020202020204" pitchFamily="34" charset="0"/>
                <a:ea typeface="宋体" panose="02010600030101010101" pitchFamily="2" charset="-122"/>
              </a:endParaRPr>
            </a:p>
          </p:txBody>
        </p:sp>
        <p:sp>
          <p:nvSpPr>
            <p:cNvPr id="134253" name="矩形 274542"/>
            <p:cNvSpPr/>
            <p:nvPr/>
          </p:nvSpPr>
          <p:spPr>
            <a:xfrm>
              <a:off x="4311" y="268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54" name="矩形 274543"/>
            <p:cNvSpPr/>
            <p:nvPr/>
          </p:nvSpPr>
          <p:spPr>
            <a:xfrm>
              <a:off x="4743" y="268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55" name="矩形 274544"/>
            <p:cNvSpPr/>
            <p:nvPr/>
          </p:nvSpPr>
          <p:spPr>
            <a:xfrm>
              <a:off x="5127" y="2688"/>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56" name="直接连接符 274545"/>
            <p:cNvSpPr/>
            <p:nvPr/>
          </p:nvSpPr>
          <p:spPr>
            <a:xfrm>
              <a:off x="248" y="2880"/>
              <a:ext cx="5264" cy="0"/>
            </a:xfrm>
            <a:prstGeom prst="line">
              <a:avLst/>
            </a:prstGeom>
            <a:ln w="25400" cap="flat" cmpd="sng">
              <a:solidFill>
                <a:schemeClr val="tx1"/>
              </a:solidFill>
              <a:prstDash val="solid"/>
              <a:round/>
              <a:headEnd type="none" w="med" len="med"/>
              <a:tailEnd type="none" w="med" len="med"/>
            </a:ln>
          </p:spPr>
        </p:sp>
        <p:sp>
          <p:nvSpPr>
            <p:cNvPr id="134257" name="矩形 274546"/>
            <p:cNvSpPr/>
            <p:nvPr/>
          </p:nvSpPr>
          <p:spPr>
            <a:xfrm>
              <a:off x="375" y="288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58" name="矩形 274547"/>
            <p:cNvSpPr/>
            <p:nvPr/>
          </p:nvSpPr>
          <p:spPr>
            <a:xfrm>
              <a:off x="807" y="2880"/>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59" name="矩形 274548"/>
            <p:cNvSpPr/>
            <p:nvPr/>
          </p:nvSpPr>
          <p:spPr>
            <a:xfrm>
              <a:off x="1239" y="2880"/>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60" name="矩形 274549"/>
            <p:cNvSpPr/>
            <p:nvPr/>
          </p:nvSpPr>
          <p:spPr>
            <a:xfrm>
              <a:off x="1767" y="288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61" name="矩形 274550"/>
            <p:cNvSpPr/>
            <p:nvPr/>
          </p:nvSpPr>
          <p:spPr>
            <a:xfrm>
              <a:off x="2199" y="288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62" name="矩形 274551"/>
            <p:cNvSpPr/>
            <p:nvPr/>
          </p:nvSpPr>
          <p:spPr>
            <a:xfrm>
              <a:off x="2631" y="288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63" name="矩形 274552"/>
            <p:cNvSpPr/>
            <p:nvPr/>
          </p:nvSpPr>
          <p:spPr>
            <a:xfrm>
              <a:off x="3063" y="288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64" name="矩形 274553"/>
            <p:cNvSpPr/>
            <p:nvPr/>
          </p:nvSpPr>
          <p:spPr>
            <a:xfrm>
              <a:off x="3591" y="2880"/>
              <a:ext cx="362"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And</a:t>
              </a:r>
              <a:endParaRPr lang="en-US" altLang="zh-CN">
                <a:solidFill>
                  <a:srgbClr val="0000FF"/>
                </a:solidFill>
                <a:latin typeface="Arial" panose="020B0604020202020204" pitchFamily="34" charset="0"/>
                <a:ea typeface="宋体" panose="02010600030101010101" pitchFamily="2" charset="-122"/>
              </a:endParaRPr>
            </a:p>
          </p:txBody>
        </p:sp>
        <p:sp>
          <p:nvSpPr>
            <p:cNvPr id="134265" name="矩形 274554"/>
            <p:cNvSpPr/>
            <p:nvPr/>
          </p:nvSpPr>
          <p:spPr>
            <a:xfrm>
              <a:off x="4311" y="288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66" name="矩形 274555"/>
            <p:cNvSpPr/>
            <p:nvPr/>
          </p:nvSpPr>
          <p:spPr>
            <a:xfrm>
              <a:off x="4743" y="288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67" name="矩形 274556"/>
            <p:cNvSpPr/>
            <p:nvPr/>
          </p:nvSpPr>
          <p:spPr>
            <a:xfrm>
              <a:off x="5127" y="2880"/>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68" name="直接连接符 274557"/>
            <p:cNvSpPr/>
            <p:nvPr/>
          </p:nvSpPr>
          <p:spPr>
            <a:xfrm>
              <a:off x="248" y="3072"/>
              <a:ext cx="5264" cy="0"/>
            </a:xfrm>
            <a:prstGeom prst="line">
              <a:avLst/>
            </a:prstGeom>
            <a:ln w="25400" cap="flat" cmpd="sng">
              <a:solidFill>
                <a:schemeClr val="tx1"/>
              </a:solidFill>
              <a:prstDash val="solid"/>
              <a:round/>
              <a:headEnd type="none" w="med" len="med"/>
              <a:tailEnd type="none" w="med" len="med"/>
            </a:ln>
          </p:spPr>
        </p:sp>
        <p:sp>
          <p:nvSpPr>
            <p:cNvPr id="134269" name="矩形 274558"/>
            <p:cNvSpPr/>
            <p:nvPr/>
          </p:nvSpPr>
          <p:spPr>
            <a:xfrm>
              <a:off x="375"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70" name="矩形 274559"/>
            <p:cNvSpPr/>
            <p:nvPr/>
          </p:nvSpPr>
          <p:spPr>
            <a:xfrm>
              <a:off x="807" y="307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71" name="矩形 274560"/>
            <p:cNvSpPr/>
            <p:nvPr/>
          </p:nvSpPr>
          <p:spPr>
            <a:xfrm>
              <a:off x="1239" y="3072"/>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72" name="矩形 274561"/>
            <p:cNvSpPr/>
            <p:nvPr/>
          </p:nvSpPr>
          <p:spPr>
            <a:xfrm>
              <a:off x="1767"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73" name="矩形 274562"/>
            <p:cNvSpPr/>
            <p:nvPr/>
          </p:nvSpPr>
          <p:spPr>
            <a:xfrm>
              <a:off x="2199"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74" name="矩形 274563"/>
            <p:cNvSpPr/>
            <p:nvPr/>
          </p:nvSpPr>
          <p:spPr>
            <a:xfrm>
              <a:off x="2631"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75" name="矩形 274564"/>
            <p:cNvSpPr/>
            <p:nvPr/>
          </p:nvSpPr>
          <p:spPr>
            <a:xfrm>
              <a:off x="3063"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76" name="矩形 274565"/>
            <p:cNvSpPr/>
            <p:nvPr/>
          </p:nvSpPr>
          <p:spPr>
            <a:xfrm>
              <a:off x="3639" y="3072"/>
              <a:ext cx="264"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Or</a:t>
              </a:r>
              <a:endParaRPr lang="en-US" altLang="zh-CN">
                <a:solidFill>
                  <a:srgbClr val="0000FF"/>
                </a:solidFill>
                <a:latin typeface="Arial" panose="020B0604020202020204" pitchFamily="34" charset="0"/>
                <a:ea typeface="宋体" panose="02010600030101010101" pitchFamily="2" charset="-122"/>
              </a:endParaRPr>
            </a:p>
          </p:txBody>
        </p:sp>
        <p:sp>
          <p:nvSpPr>
            <p:cNvPr id="134277" name="矩形 274566"/>
            <p:cNvSpPr/>
            <p:nvPr/>
          </p:nvSpPr>
          <p:spPr>
            <a:xfrm>
              <a:off x="4311"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78" name="矩形 274567"/>
            <p:cNvSpPr/>
            <p:nvPr/>
          </p:nvSpPr>
          <p:spPr>
            <a:xfrm>
              <a:off x="4743"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79" name="矩形 274568"/>
            <p:cNvSpPr/>
            <p:nvPr/>
          </p:nvSpPr>
          <p:spPr>
            <a:xfrm>
              <a:off x="5127" y="3072"/>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80" name="直接连接符 274569"/>
            <p:cNvSpPr/>
            <p:nvPr/>
          </p:nvSpPr>
          <p:spPr>
            <a:xfrm>
              <a:off x="248" y="3264"/>
              <a:ext cx="5264" cy="0"/>
            </a:xfrm>
            <a:prstGeom prst="line">
              <a:avLst/>
            </a:prstGeom>
            <a:ln w="25400" cap="flat" cmpd="sng">
              <a:solidFill>
                <a:schemeClr val="tx1"/>
              </a:solidFill>
              <a:prstDash val="solid"/>
              <a:round/>
              <a:headEnd type="none" w="med" len="med"/>
              <a:tailEnd type="none" w="med" len="med"/>
            </a:ln>
          </p:spPr>
        </p:sp>
        <p:sp>
          <p:nvSpPr>
            <p:cNvPr id="134281" name="矩形 274570"/>
            <p:cNvSpPr/>
            <p:nvPr/>
          </p:nvSpPr>
          <p:spPr>
            <a:xfrm>
              <a:off x="375" y="326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82" name="矩形 274571"/>
            <p:cNvSpPr/>
            <p:nvPr/>
          </p:nvSpPr>
          <p:spPr>
            <a:xfrm>
              <a:off x="807" y="326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83" name="矩形 274572"/>
            <p:cNvSpPr/>
            <p:nvPr/>
          </p:nvSpPr>
          <p:spPr>
            <a:xfrm>
              <a:off x="1239" y="326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134284" name="矩形 274573"/>
            <p:cNvSpPr/>
            <p:nvPr/>
          </p:nvSpPr>
          <p:spPr>
            <a:xfrm>
              <a:off x="1767" y="326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85" name="矩形 274574"/>
            <p:cNvSpPr/>
            <p:nvPr/>
          </p:nvSpPr>
          <p:spPr>
            <a:xfrm>
              <a:off x="2199" y="326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86" name="矩形 274575"/>
            <p:cNvSpPr/>
            <p:nvPr/>
          </p:nvSpPr>
          <p:spPr>
            <a:xfrm>
              <a:off x="2631" y="326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87" name="矩形 274576"/>
            <p:cNvSpPr/>
            <p:nvPr/>
          </p:nvSpPr>
          <p:spPr>
            <a:xfrm>
              <a:off x="3063" y="326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a:t>
              </a:r>
              <a:endParaRPr lang="zh-CN" altLang="en-US" dirty="0">
                <a:latin typeface="Arial" panose="020B0604020202020204" pitchFamily="34" charset="0"/>
                <a:ea typeface="宋体" panose="02010600030101010101" pitchFamily="2" charset="-122"/>
              </a:endParaRPr>
            </a:p>
          </p:txBody>
        </p:sp>
        <p:sp>
          <p:nvSpPr>
            <p:cNvPr id="134288" name="矩形 274577"/>
            <p:cNvSpPr/>
            <p:nvPr/>
          </p:nvSpPr>
          <p:spPr>
            <a:xfrm>
              <a:off x="3495" y="3264"/>
              <a:ext cx="633" cy="210"/>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Subtract</a:t>
              </a:r>
              <a:endParaRPr lang="en-US" altLang="zh-CN">
                <a:solidFill>
                  <a:srgbClr val="0000FF"/>
                </a:solidFill>
                <a:latin typeface="Arial" panose="020B0604020202020204" pitchFamily="34" charset="0"/>
                <a:ea typeface="宋体" panose="02010600030101010101" pitchFamily="2" charset="-122"/>
              </a:endParaRPr>
            </a:p>
          </p:txBody>
        </p:sp>
        <p:sp>
          <p:nvSpPr>
            <p:cNvPr id="134289" name="矩形 274578"/>
            <p:cNvSpPr/>
            <p:nvPr/>
          </p:nvSpPr>
          <p:spPr>
            <a:xfrm>
              <a:off x="4311" y="326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0</a:t>
              </a:r>
              <a:endParaRPr lang="en-US" altLang="zh-CN">
                <a:latin typeface="Arial" panose="020B0604020202020204" pitchFamily="34" charset="0"/>
                <a:ea typeface="宋体" panose="02010600030101010101" pitchFamily="2" charset="-122"/>
              </a:endParaRPr>
            </a:p>
          </p:txBody>
        </p:sp>
        <p:sp>
          <p:nvSpPr>
            <p:cNvPr id="134290" name="矩形 274579"/>
            <p:cNvSpPr/>
            <p:nvPr/>
          </p:nvSpPr>
          <p:spPr>
            <a:xfrm>
              <a:off x="4743" y="3264"/>
              <a:ext cx="185"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0</a:t>
              </a:r>
              <a:endParaRPr lang="en-US" altLang="zh-CN">
                <a:latin typeface="Arial" panose="020B0604020202020204" pitchFamily="34" charset="0"/>
                <a:ea typeface="宋体" panose="02010600030101010101" pitchFamily="2" charset="-122"/>
              </a:endParaRPr>
            </a:p>
          </p:txBody>
        </p:sp>
        <p:sp>
          <p:nvSpPr>
            <p:cNvPr id="134291" name="矩形 274580"/>
            <p:cNvSpPr/>
            <p:nvPr/>
          </p:nvSpPr>
          <p:spPr>
            <a:xfrm>
              <a:off x="5127" y="3264"/>
              <a:ext cx="185" cy="210"/>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134292" name="直接连接符 274581"/>
            <p:cNvSpPr/>
            <p:nvPr/>
          </p:nvSpPr>
          <p:spPr>
            <a:xfrm>
              <a:off x="248" y="3456"/>
              <a:ext cx="5264" cy="0"/>
            </a:xfrm>
            <a:prstGeom prst="line">
              <a:avLst/>
            </a:prstGeom>
            <a:ln w="25400" cap="flat" cmpd="sng">
              <a:solidFill>
                <a:schemeClr val="tx1"/>
              </a:solidFill>
              <a:prstDash val="solid"/>
              <a:round/>
              <a:headEnd type="none" w="med" len="med"/>
              <a:tailEnd type="none" w="med" len="med"/>
            </a:ln>
          </p:spPr>
        </p:sp>
      </p:grpSp>
      <p:sp>
        <p:nvSpPr>
          <p:cNvPr id="134293" name="直接连接符 274582"/>
          <p:cNvSpPr/>
          <p:nvPr/>
        </p:nvSpPr>
        <p:spPr>
          <a:xfrm>
            <a:off x="5837238" y="1300163"/>
            <a:ext cx="2870200" cy="0"/>
          </a:xfrm>
          <a:prstGeom prst="line">
            <a:avLst/>
          </a:prstGeom>
          <a:ln w="25400" cap="flat" cmpd="sng">
            <a:solidFill>
              <a:schemeClr val="tx1"/>
            </a:solidFill>
            <a:prstDash val="solid"/>
            <a:round/>
            <a:headEnd type="none" w="med" len="med"/>
            <a:tailEnd type="none" w="med" len="med"/>
          </a:ln>
        </p:spPr>
      </p:sp>
      <p:sp>
        <p:nvSpPr>
          <p:cNvPr id="134294" name="矩形 274583"/>
          <p:cNvSpPr/>
          <p:nvPr/>
        </p:nvSpPr>
        <p:spPr>
          <a:xfrm>
            <a:off x="5880100" y="995363"/>
            <a:ext cx="1206500" cy="333375"/>
          </a:xfrm>
          <a:prstGeom prst="rect">
            <a:avLst/>
          </a:prstGeom>
          <a:noFill/>
          <a:ln w="12700">
            <a:noFill/>
          </a:ln>
        </p:spPr>
        <p:txBody>
          <a:bodyPr wrap="none" lIns="90488" tIns="44450" rIns="90488" bIns="44450" anchor="t" anchorCtr="0">
            <a:spAutoFit/>
          </a:bodyPr>
          <a:p>
            <a:pPr eaLnBrk="0" hangingPunct="0"/>
            <a:r>
              <a:rPr lang="en-US" altLang="zh-CN" dirty="0" err="1">
                <a:latin typeface="Arial" panose="020B0604020202020204" pitchFamily="34" charset="0"/>
                <a:ea typeface="宋体" panose="02010600030101010101" pitchFamily="2" charset="-122"/>
              </a:rPr>
              <a:t>funct</a:t>
            </a:r>
            <a:r>
              <a:rPr lang="en-US" altLang="zh-CN">
                <a:latin typeface="Arial" panose="020B0604020202020204" pitchFamily="34" charset="0"/>
                <a:ea typeface="宋体" panose="02010600030101010101" pitchFamily="2" charset="-122"/>
              </a:rPr>
              <a:t>&lt;3:0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4295" name="矩形 274584"/>
          <p:cNvSpPr/>
          <p:nvPr/>
        </p:nvSpPr>
        <p:spPr>
          <a:xfrm>
            <a:off x="7116763" y="995363"/>
            <a:ext cx="1622425"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Instruction</a:t>
            </a:r>
            <a:r>
              <a:rPr lang="en-US" altLang="zh-CN">
                <a:latin typeface="Times New Roman" panose="02020603050405020304" pitchFamily="18" charset="0"/>
                <a:ea typeface="宋体" panose="02010600030101010101" pitchFamily="2" charset="-122"/>
              </a:rPr>
              <a:t> </a:t>
            </a:r>
            <a:r>
              <a:rPr lang="en-US" altLang="zh-CN">
                <a:latin typeface="Arial" panose="020B0604020202020204" pitchFamily="34" charset="0"/>
                <a:ea typeface="宋体" panose="02010600030101010101" pitchFamily="2" charset="-122"/>
              </a:rPr>
              <a:t>Op.</a:t>
            </a:r>
            <a:endParaRPr lang="en-US" altLang="zh-CN">
              <a:latin typeface="Arial" panose="020B0604020202020204" pitchFamily="34" charset="0"/>
              <a:ea typeface="宋体" panose="02010600030101010101" pitchFamily="2" charset="-122"/>
            </a:endParaRPr>
          </a:p>
        </p:txBody>
      </p:sp>
      <p:sp>
        <p:nvSpPr>
          <p:cNvPr id="134296" name="矩形 274585"/>
          <p:cNvSpPr/>
          <p:nvPr/>
        </p:nvSpPr>
        <p:spPr>
          <a:xfrm>
            <a:off x="6102350" y="1300163"/>
            <a:ext cx="631825"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0000</a:t>
            </a:r>
            <a:endParaRPr lang="zh-CN" altLang="en-US" dirty="0">
              <a:latin typeface="Arial" panose="020B0604020202020204" pitchFamily="34" charset="0"/>
              <a:ea typeface="宋体" panose="02010600030101010101" pitchFamily="2" charset="-122"/>
            </a:endParaRPr>
          </a:p>
        </p:txBody>
      </p:sp>
      <p:sp>
        <p:nvSpPr>
          <p:cNvPr id="134297" name="矩形 274586"/>
          <p:cNvSpPr/>
          <p:nvPr/>
        </p:nvSpPr>
        <p:spPr>
          <a:xfrm>
            <a:off x="6102350" y="1604963"/>
            <a:ext cx="631825"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0010</a:t>
            </a:r>
            <a:endParaRPr lang="zh-CN" altLang="en-US" dirty="0">
              <a:latin typeface="Arial" panose="020B0604020202020204" pitchFamily="34" charset="0"/>
              <a:ea typeface="宋体" panose="02010600030101010101" pitchFamily="2" charset="-122"/>
            </a:endParaRPr>
          </a:p>
        </p:txBody>
      </p:sp>
      <p:sp>
        <p:nvSpPr>
          <p:cNvPr id="134298" name="直接连接符 274587"/>
          <p:cNvSpPr/>
          <p:nvPr/>
        </p:nvSpPr>
        <p:spPr>
          <a:xfrm>
            <a:off x="5837238" y="1604963"/>
            <a:ext cx="2870200" cy="0"/>
          </a:xfrm>
          <a:prstGeom prst="line">
            <a:avLst/>
          </a:prstGeom>
          <a:ln w="25400" cap="flat" cmpd="sng">
            <a:solidFill>
              <a:schemeClr val="tx1"/>
            </a:solidFill>
            <a:prstDash val="solid"/>
            <a:round/>
            <a:headEnd type="none" w="med" len="med"/>
            <a:tailEnd type="none" w="med" len="med"/>
          </a:ln>
        </p:spPr>
      </p:sp>
      <p:sp>
        <p:nvSpPr>
          <p:cNvPr id="134299" name="直接连接符 274588"/>
          <p:cNvSpPr/>
          <p:nvPr/>
        </p:nvSpPr>
        <p:spPr>
          <a:xfrm>
            <a:off x="5837238" y="1909763"/>
            <a:ext cx="2870200" cy="0"/>
          </a:xfrm>
          <a:prstGeom prst="line">
            <a:avLst/>
          </a:prstGeom>
          <a:ln w="25400" cap="flat" cmpd="sng">
            <a:solidFill>
              <a:schemeClr val="tx1"/>
            </a:solidFill>
            <a:prstDash val="solid"/>
            <a:round/>
            <a:headEnd type="none" w="med" len="med"/>
            <a:tailEnd type="none" w="med" len="med"/>
          </a:ln>
        </p:spPr>
      </p:sp>
      <p:sp>
        <p:nvSpPr>
          <p:cNvPr id="134300" name="矩形 274589"/>
          <p:cNvSpPr/>
          <p:nvPr/>
        </p:nvSpPr>
        <p:spPr>
          <a:xfrm>
            <a:off x="6102350" y="1909763"/>
            <a:ext cx="631825"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0100</a:t>
            </a:r>
            <a:endParaRPr lang="zh-CN" altLang="en-US" dirty="0">
              <a:latin typeface="Arial" panose="020B0604020202020204" pitchFamily="34" charset="0"/>
              <a:ea typeface="宋体" panose="02010600030101010101" pitchFamily="2" charset="-122"/>
            </a:endParaRPr>
          </a:p>
        </p:txBody>
      </p:sp>
      <p:sp>
        <p:nvSpPr>
          <p:cNvPr id="134301" name="直接连接符 274590"/>
          <p:cNvSpPr/>
          <p:nvPr/>
        </p:nvSpPr>
        <p:spPr>
          <a:xfrm>
            <a:off x="5837238" y="2214563"/>
            <a:ext cx="2870200" cy="0"/>
          </a:xfrm>
          <a:prstGeom prst="line">
            <a:avLst/>
          </a:prstGeom>
          <a:ln w="25400" cap="flat" cmpd="sng">
            <a:solidFill>
              <a:schemeClr val="tx1"/>
            </a:solidFill>
            <a:prstDash val="solid"/>
            <a:round/>
            <a:headEnd type="none" w="med" len="med"/>
            <a:tailEnd type="none" w="med" len="med"/>
          </a:ln>
        </p:spPr>
      </p:sp>
      <p:sp>
        <p:nvSpPr>
          <p:cNvPr id="134302" name="矩形 274591"/>
          <p:cNvSpPr/>
          <p:nvPr/>
        </p:nvSpPr>
        <p:spPr>
          <a:xfrm>
            <a:off x="6102350" y="2214563"/>
            <a:ext cx="631825"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0101</a:t>
            </a:r>
            <a:endParaRPr lang="zh-CN" altLang="en-US" dirty="0">
              <a:latin typeface="Arial" panose="020B0604020202020204" pitchFamily="34" charset="0"/>
              <a:ea typeface="宋体" panose="02010600030101010101" pitchFamily="2" charset="-122"/>
            </a:endParaRPr>
          </a:p>
        </p:txBody>
      </p:sp>
      <p:sp>
        <p:nvSpPr>
          <p:cNvPr id="134303" name="直接连接符 274592"/>
          <p:cNvSpPr/>
          <p:nvPr/>
        </p:nvSpPr>
        <p:spPr>
          <a:xfrm>
            <a:off x="5837238" y="2519363"/>
            <a:ext cx="2870200" cy="0"/>
          </a:xfrm>
          <a:prstGeom prst="line">
            <a:avLst/>
          </a:prstGeom>
          <a:ln w="25400" cap="flat" cmpd="sng">
            <a:solidFill>
              <a:schemeClr val="tx1"/>
            </a:solidFill>
            <a:prstDash val="solid"/>
            <a:round/>
            <a:headEnd type="none" w="med" len="med"/>
            <a:tailEnd type="none" w="med" len="med"/>
          </a:ln>
        </p:spPr>
      </p:sp>
      <p:sp>
        <p:nvSpPr>
          <p:cNvPr id="134304" name="矩形 274593"/>
          <p:cNvSpPr/>
          <p:nvPr/>
        </p:nvSpPr>
        <p:spPr>
          <a:xfrm>
            <a:off x="6102350" y="2519363"/>
            <a:ext cx="631825" cy="333375"/>
          </a:xfrm>
          <a:prstGeom prst="rect">
            <a:avLst/>
          </a:prstGeom>
          <a:noFill/>
          <a:ln w="12700">
            <a:noFill/>
          </a:ln>
        </p:spPr>
        <p:txBody>
          <a:bodyPr wrap="none" lIns="90488" tIns="44450" rIns="90488" bIns="44450" anchor="t" anchorCtr="0">
            <a:spAutoFit/>
          </a:bodyPr>
          <a:p>
            <a:pPr eaLnBrk="0" hangingPunct="0"/>
            <a:r>
              <a:rPr lang="zh-CN" altLang="en-US" dirty="0">
                <a:latin typeface="Arial" panose="020B0604020202020204" pitchFamily="34" charset="0"/>
                <a:ea typeface="宋体" panose="02010600030101010101" pitchFamily="2" charset="-122"/>
              </a:rPr>
              <a:t>1010</a:t>
            </a:r>
            <a:endParaRPr lang="zh-CN" altLang="en-US" dirty="0">
              <a:latin typeface="Arial" panose="020B0604020202020204" pitchFamily="34" charset="0"/>
              <a:ea typeface="宋体" panose="02010600030101010101" pitchFamily="2" charset="-122"/>
            </a:endParaRPr>
          </a:p>
        </p:txBody>
      </p:sp>
      <p:sp>
        <p:nvSpPr>
          <p:cNvPr id="134305" name="直接连接符 274594"/>
          <p:cNvSpPr/>
          <p:nvPr/>
        </p:nvSpPr>
        <p:spPr>
          <a:xfrm>
            <a:off x="5837238" y="2824163"/>
            <a:ext cx="2870200" cy="0"/>
          </a:xfrm>
          <a:prstGeom prst="line">
            <a:avLst/>
          </a:prstGeom>
          <a:ln w="25400" cap="flat" cmpd="sng">
            <a:solidFill>
              <a:schemeClr val="tx1"/>
            </a:solidFill>
            <a:prstDash val="solid"/>
            <a:round/>
            <a:headEnd type="none" w="med" len="med"/>
            <a:tailEnd type="none" w="med" len="med"/>
          </a:ln>
        </p:spPr>
      </p:sp>
      <p:sp>
        <p:nvSpPr>
          <p:cNvPr id="134306" name="矩形 274595"/>
          <p:cNvSpPr/>
          <p:nvPr/>
        </p:nvSpPr>
        <p:spPr>
          <a:xfrm>
            <a:off x="7180263" y="1300163"/>
            <a:ext cx="541337"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add</a:t>
            </a:r>
            <a:endParaRPr lang="en-US" altLang="zh-CN">
              <a:latin typeface="Arial" panose="020B0604020202020204" pitchFamily="34" charset="0"/>
              <a:ea typeface="宋体" panose="02010600030101010101" pitchFamily="2" charset="-122"/>
            </a:endParaRPr>
          </a:p>
        </p:txBody>
      </p:sp>
      <p:sp>
        <p:nvSpPr>
          <p:cNvPr id="134307" name="矩形 274596"/>
          <p:cNvSpPr/>
          <p:nvPr/>
        </p:nvSpPr>
        <p:spPr>
          <a:xfrm>
            <a:off x="7180263" y="1604963"/>
            <a:ext cx="982662"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subtract</a:t>
            </a:r>
            <a:endParaRPr lang="en-US" altLang="zh-CN">
              <a:latin typeface="Arial" panose="020B0604020202020204" pitchFamily="34" charset="0"/>
              <a:ea typeface="宋体" panose="02010600030101010101" pitchFamily="2" charset="-122"/>
            </a:endParaRPr>
          </a:p>
        </p:txBody>
      </p:sp>
      <p:sp>
        <p:nvSpPr>
          <p:cNvPr id="134308" name="矩形 274597"/>
          <p:cNvSpPr/>
          <p:nvPr/>
        </p:nvSpPr>
        <p:spPr>
          <a:xfrm>
            <a:off x="7180263" y="1909763"/>
            <a:ext cx="541337"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and</a:t>
            </a:r>
            <a:endParaRPr lang="en-US" altLang="zh-CN">
              <a:latin typeface="Arial" panose="020B0604020202020204" pitchFamily="34" charset="0"/>
              <a:ea typeface="宋体" panose="02010600030101010101" pitchFamily="2" charset="-122"/>
            </a:endParaRPr>
          </a:p>
        </p:txBody>
      </p:sp>
      <p:sp>
        <p:nvSpPr>
          <p:cNvPr id="134309" name="矩形 274598"/>
          <p:cNvSpPr/>
          <p:nvPr/>
        </p:nvSpPr>
        <p:spPr>
          <a:xfrm>
            <a:off x="7180263" y="2214563"/>
            <a:ext cx="384175"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or</a:t>
            </a:r>
            <a:endParaRPr lang="en-US" altLang="zh-CN">
              <a:latin typeface="Arial" panose="020B0604020202020204" pitchFamily="34" charset="0"/>
              <a:ea typeface="宋体" panose="02010600030101010101" pitchFamily="2" charset="-122"/>
            </a:endParaRPr>
          </a:p>
        </p:txBody>
      </p:sp>
      <p:sp>
        <p:nvSpPr>
          <p:cNvPr id="134310" name="矩形 274599"/>
          <p:cNvSpPr/>
          <p:nvPr/>
        </p:nvSpPr>
        <p:spPr>
          <a:xfrm>
            <a:off x="7180263" y="2519363"/>
            <a:ext cx="1751012" cy="333375"/>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set-on-less-than</a:t>
            </a:r>
            <a:endParaRPr lang="en-US" altLang="zh-CN">
              <a:latin typeface="Arial" panose="020B0604020202020204" pitchFamily="34" charset="0"/>
              <a:ea typeface="宋体" panose="02010600030101010101" pitchFamily="2" charset="-122"/>
            </a:endParaRPr>
          </a:p>
        </p:txBody>
      </p:sp>
      <p:sp>
        <p:nvSpPr>
          <p:cNvPr id="134311" name="直接连接符 274600"/>
          <p:cNvSpPr/>
          <p:nvPr/>
        </p:nvSpPr>
        <p:spPr>
          <a:xfrm>
            <a:off x="5837238" y="995363"/>
            <a:ext cx="2870200" cy="0"/>
          </a:xfrm>
          <a:prstGeom prst="line">
            <a:avLst/>
          </a:prstGeom>
          <a:ln w="25400" cap="flat" cmpd="sng">
            <a:solidFill>
              <a:schemeClr val="tx1"/>
            </a:solidFill>
            <a:prstDash val="solid"/>
            <a:round/>
            <a:headEnd type="none" w="med" len="med"/>
            <a:tailEnd type="none" w="med" len="med"/>
          </a:ln>
        </p:spPr>
      </p:sp>
      <p:sp>
        <p:nvSpPr>
          <p:cNvPr id="134312" name="直接连接符 274601"/>
          <p:cNvSpPr/>
          <p:nvPr/>
        </p:nvSpPr>
        <p:spPr>
          <a:xfrm>
            <a:off x="5824538" y="1008063"/>
            <a:ext cx="0" cy="1803400"/>
          </a:xfrm>
          <a:prstGeom prst="line">
            <a:avLst/>
          </a:prstGeom>
          <a:ln w="25400" cap="flat" cmpd="sng">
            <a:solidFill>
              <a:schemeClr val="tx1"/>
            </a:solidFill>
            <a:prstDash val="solid"/>
            <a:round/>
            <a:headEnd type="none" w="med" len="med"/>
            <a:tailEnd type="none" w="med" len="med"/>
          </a:ln>
        </p:spPr>
      </p:sp>
      <p:sp>
        <p:nvSpPr>
          <p:cNvPr id="134313" name="直接连接符 274602"/>
          <p:cNvSpPr/>
          <p:nvPr/>
        </p:nvSpPr>
        <p:spPr>
          <a:xfrm>
            <a:off x="8720138" y="1008063"/>
            <a:ext cx="0" cy="1803400"/>
          </a:xfrm>
          <a:prstGeom prst="line">
            <a:avLst/>
          </a:prstGeom>
          <a:ln w="25400" cap="flat" cmpd="sng">
            <a:solidFill>
              <a:schemeClr val="tx1"/>
            </a:solidFill>
            <a:prstDash val="solid"/>
            <a:round/>
            <a:headEnd type="none" w="med" len="med"/>
            <a:tailEnd type="none" w="med" len="med"/>
          </a:ln>
        </p:spPr>
      </p:sp>
      <p:sp>
        <p:nvSpPr>
          <p:cNvPr id="134314" name="直接连接符 274603"/>
          <p:cNvSpPr/>
          <p:nvPr/>
        </p:nvSpPr>
        <p:spPr>
          <a:xfrm>
            <a:off x="7064375" y="1008063"/>
            <a:ext cx="0" cy="1803400"/>
          </a:xfrm>
          <a:prstGeom prst="line">
            <a:avLst/>
          </a:prstGeom>
          <a:ln w="25400" cap="flat" cmpd="sng">
            <a:solidFill>
              <a:schemeClr val="tx1"/>
            </a:solidFill>
            <a:prstDash val="solid"/>
            <a:round/>
            <a:headEnd type="none" w="med" len="med"/>
            <a:tailEnd type="none" w="med" len="med"/>
          </a:ln>
        </p:spPr>
      </p:sp>
      <p:grpSp>
        <p:nvGrpSpPr>
          <p:cNvPr id="274618" name="组合 274617"/>
          <p:cNvGrpSpPr/>
          <p:nvPr/>
        </p:nvGrpSpPr>
        <p:grpSpPr>
          <a:xfrm>
            <a:off x="2160588" y="2449513"/>
            <a:ext cx="2374900" cy="1358900"/>
            <a:chOff x="1361" y="1543"/>
            <a:chExt cx="1496" cy="856"/>
          </a:xfrm>
        </p:grpSpPr>
        <p:sp>
          <p:nvSpPr>
            <p:cNvPr id="134316" name="直接连接符 274604"/>
            <p:cNvSpPr/>
            <p:nvPr/>
          </p:nvSpPr>
          <p:spPr>
            <a:xfrm flipH="1">
              <a:off x="1361" y="1543"/>
              <a:ext cx="968" cy="856"/>
            </a:xfrm>
            <a:prstGeom prst="line">
              <a:avLst/>
            </a:prstGeom>
            <a:ln w="19050" cap="flat" cmpd="sng">
              <a:solidFill>
                <a:schemeClr val="accent2"/>
              </a:solidFill>
              <a:prstDash val="solid"/>
              <a:round/>
              <a:headEnd type="none" w="med" len="med"/>
              <a:tailEnd type="triangle" w="med" len="med"/>
            </a:ln>
          </p:spPr>
        </p:sp>
        <p:sp>
          <p:nvSpPr>
            <p:cNvPr id="134317" name="直接连接符 274605"/>
            <p:cNvSpPr/>
            <p:nvPr/>
          </p:nvSpPr>
          <p:spPr>
            <a:xfrm flipH="1">
              <a:off x="2003" y="1543"/>
              <a:ext cx="854" cy="299"/>
            </a:xfrm>
            <a:prstGeom prst="line">
              <a:avLst/>
            </a:prstGeom>
            <a:ln w="19050" cap="flat" cmpd="sng">
              <a:solidFill>
                <a:schemeClr val="accent2"/>
              </a:solidFill>
              <a:prstDash val="solid"/>
              <a:round/>
              <a:headEnd type="none" w="med" len="med"/>
              <a:tailEnd type="none" w="med" len="med"/>
            </a:ln>
          </p:spPr>
        </p:sp>
      </p:grpSp>
      <p:sp>
        <p:nvSpPr>
          <p:cNvPr id="274607" name="直接连接符 274606"/>
          <p:cNvSpPr/>
          <p:nvPr/>
        </p:nvSpPr>
        <p:spPr>
          <a:xfrm flipH="1">
            <a:off x="788988" y="2373313"/>
            <a:ext cx="1079500" cy="2349500"/>
          </a:xfrm>
          <a:prstGeom prst="line">
            <a:avLst/>
          </a:prstGeom>
          <a:ln w="12700" cap="flat" cmpd="sng">
            <a:solidFill>
              <a:schemeClr val="accent2"/>
            </a:solidFill>
            <a:prstDash val="solid"/>
            <a:round/>
            <a:headEnd type="none" w="med" len="med"/>
            <a:tailEnd type="triangle" w="med" len="med"/>
          </a:ln>
        </p:spPr>
      </p:sp>
      <p:sp>
        <p:nvSpPr>
          <p:cNvPr id="274608" name="直接连接符 274607"/>
          <p:cNvSpPr/>
          <p:nvPr/>
        </p:nvSpPr>
        <p:spPr>
          <a:xfrm flipH="1">
            <a:off x="5056188" y="1535113"/>
            <a:ext cx="1079500" cy="3187700"/>
          </a:xfrm>
          <a:prstGeom prst="line">
            <a:avLst/>
          </a:prstGeom>
          <a:ln w="12700" cap="flat" cmpd="sng">
            <a:solidFill>
              <a:schemeClr val="tx1"/>
            </a:solidFill>
            <a:prstDash val="solid"/>
            <a:round/>
            <a:headEnd type="none" w="med" len="med"/>
            <a:tailEnd type="triangle" w="med" len="med"/>
          </a:ln>
        </p:spPr>
      </p:sp>
      <p:sp>
        <p:nvSpPr>
          <p:cNvPr id="274609" name="直接连接符 274608"/>
          <p:cNvSpPr/>
          <p:nvPr/>
        </p:nvSpPr>
        <p:spPr>
          <a:xfrm flipH="1">
            <a:off x="2178050" y="2501900"/>
            <a:ext cx="3073400" cy="1649413"/>
          </a:xfrm>
          <a:prstGeom prst="line">
            <a:avLst/>
          </a:prstGeom>
          <a:ln w="12700" cap="flat" cmpd="sng">
            <a:solidFill>
              <a:schemeClr val="accent2"/>
            </a:solidFill>
            <a:prstDash val="solid"/>
            <a:round/>
            <a:headEnd type="none" w="med" len="med"/>
            <a:tailEnd type="triangle" w="med" len="med"/>
          </a:ln>
        </p:spPr>
      </p:sp>
      <p:sp>
        <p:nvSpPr>
          <p:cNvPr id="274610" name="直接连接符 274609"/>
          <p:cNvSpPr/>
          <p:nvPr/>
        </p:nvSpPr>
        <p:spPr>
          <a:xfrm flipH="1">
            <a:off x="1504950" y="2428875"/>
            <a:ext cx="1254125" cy="2030413"/>
          </a:xfrm>
          <a:prstGeom prst="line">
            <a:avLst/>
          </a:prstGeom>
          <a:ln w="12700" cap="flat" cmpd="sng">
            <a:solidFill>
              <a:schemeClr val="accent2"/>
            </a:solidFill>
            <a:prstDash val="solid"/>
            <a:round/>
            <a:headEnd type="none" w="med" len="med"/>
            <a:tailEnd type="triangle" w="med" len="med"/>
          </a:ln>
        </p:spPr>
      </p:sp>
      <p:sp>
        <p:nvSpPr>
          <p:cNvPr id="274611" name="文本框 274610"/>
          <p:cNvSpPr txBox="1"/>
          <p:nvPr/>
        </p:nvSpPr>
        <p:spPr>
          <a:xfrm>
            <a:off x="277813" y="638175"/>
            <a:ext cx="5035550" cy="641350"/>
          </a:xfrm>
          <a:prstGeom prst="rect">
            <a:avLst/>
          </a:prstGeom>
          <a:noFill/>
          <a:ln w="50800">
            <a:noFill/>
          </a:ln>
        </p:spPr>
        <p:txBody>
          <a:bodyPr anchor="t" anchorCtr="0">
            <a:spAutoFit/>
          </a:bodyPr>
          <a:p>
            <a:pPr eaLnBrk="0" hangingPunct="0"/>
            <a:r>
              <a:rPr lang="zh-CN" altLang="en-US" sz="1800" b="0" dirty="0">
                <a:solidFill>
                  <a:schemeClr val="accent1"/>
                </a:solidFill>
                <a:latin typeface="Arial" panose="020B0604020202020204" pitchFamily="34" charset="0"/>
                <a:ea typeface="黑体" panose="02010609060101010101" pitchFamily="49" charset="-122"/>
              </a:rPr>
              <a:t>建立</a:t>
            </a:r>
            <a:r>
              <a:rPr lang="en-US" altLang="zh-CN" sz="1800" b="0" dirty="0" err="1">
                <a:solidFill>
                  <a:schemeClr val="accent1"/>
                </a:solidFill>
                <a:latin typeface="Arial" panose="020B0604020202020204" pitchFamily="34" charset="0"/>
                <a:ea typeface="黑体" panose="02010609060101010101" pitchFamily="49" charset="-122"/>
              </a:rPr>
              <a:t>ALUop</a:t>
            </a:r>
            <a:r>
              <a:rPr lang="zh-CN" altLang="en-US" sz="1800" b="0" dirty="0">
                <a:solidFill>
                  <a:schemeClr val="accent1"/>
                </a:solidFill>
                <a:latin typeface="Arial" panose="020B0604020202020204" pitchFamily="34" charset="0"/>
                <a:ea typeface="黑体" panose="02010609060101010101" pitchFamily="49" charset="-122"/>
              </a:rPr>
              <a:t>、</a:t>
            </a:r>
            <a:r>
              <a:rPr lang="en-US" altLang="zh-CN" sz="1800" b="0" dirty="0" err="1">
                <a:solidFill>
                  <a:schemeClr val="accent1"/>
                </a:solidFill>
                <a:latin typeface="Arial" panose="020B0604020202020204" pitchFamily="34" charset="0"/>
                <a:ea typeface="黑体" panose="02010609060101010101" pitchFamily="49" charset="-122"/>
              </a:rPr>
              <a:t>func</a:t>
            </a:r>
            <a:r>
              <a:rPr lang="zh-CN" altLang="en-US" sz="1800" b="0" dirty="0">
                <a:solidFill>
                  <a:schemeClr val="accent1"/>
                </a:solidFill>
                <a:latin typeface="Arial" panose="020B0604020202020204" pitchFamily="34" charset="0"/>
                <a:ea typeface="黑体" panose="02010609060101010101" pitchFamily="49" charset="-122"/>
              </a:rPr>
              <a:t>后</a:t>
            </a:r>
            <a:r>
              <a:rPr lang="en-US" altLang="zh-CN" sz="1800" b="0">
                <a:solidFill>
                  <a:schemeClr val="accent1"/>
                </a:solidFill>
                <a:latin typeface="Arial" panose="020B0604020202020204" pitchFamily="34" charset="0"/>
                <a:ea typeface="黑体" panose="02010609060101010101" pitchFamily="49" charset="-122"/>
              </a:rPr>
              <a:t>4</a:t>
            </a:r>
            <a:r>
              <a:rPr lang="zh-CN" altLang="en-US" sz="1800" b="0" dirty="0">
                <a:solidFill>
                  <a:schemeClr val="accent1"/>
                </a:solidFill>
                <a:latin typeface="Arial" panose="020B0604020202020204" pitchFamily="34" charset="0"/>
                <a:ea typeface="黑体" panose="02010609060101010101" pitchFamily="49" charset="-122"/>
              </a:rPr>
              <a:t>位和</a:t>
            </a:r>
            <a:r>
              <a:rPr lang="en-US" altLang="zh-CN" sz="1800" b="0" dirty="0" err="1">
                <a:solidFill>
                  <a:schemeClr val="accent1"/>
                </a:solidFill>
                <a:latin typeface="Arial" panose="020B0604020202020204" pitchFamily="34" charset="0"/>
                <a:ea typeface="黑体" panose="02010609060101010101" pitchFamily="49" charset="-122"/>
              </a:rPr>
              <a:t>ALUctr</a:t>
            </a:r>
            <a:r>
              <a:rPr lang="zh-CN" altLang="en-US" sz="1800" b="0" dirty="0">
                <a:solidFill>
                  <a:schemeClr val="accent1"/>
                </a:solidFill>
                <a:latin typeface="Arial" panose="020B0604020202020204" pitchFamily="34" charset="0"/>
                <a:ea typeface="黑体" panose="02010609060101010101" pitchFamily="49" charset="-122"/>
              </a:rPr>
              <a:t>之间的关系表</a:t>
            </a:r>
            <a:endParaRPr lang="zh-CN" altLang="en-US" sz="1800" b="0" dirty="0">
              <a:solidFill>
                <a:schemeClr val="accent1"/>
              </a:solidFill>
              <a:latin typeface="Arial" panose="020B0604020202020204" pitchFamily="34" charset="0"/>
              <a:ea typeface="黑体" panose="02010609060101010101" pitchFamily="49" charset="-122"/>
            </a:endParaRPr>
          </a:p>
          <a:p>
            <a:pPr eaLnBrk="0" hangingPunct="0"/>
            <a:r>
              <a:rPr lang="zh-CN" altLang="en-US" sz="1800" b="0" dirty="0">
                <a:solidFill>
                  <a:schemeClr val="accent1"/>
                </a:solidFill>
                <a:latin typeface="Arial" panose="020B0604020202020204" pitchFamily="34" charset="0"/>
                <a:ea typeface="黑体" panose="02010609060101010101" pitchFamily="49" charset="-122"/>
              </a:rPr>
              <a:t>由关系表可得出</a:t>
            </a:r>
            <a:r>
              <a:rPr lang="en-US" altLang="zh-CN" sz="1800" b="0" dirty="0" err="1">
                <a:solidFill>
                  <a:schemeClr val="accent1"/>
                </a:solidFill>
                <a:latin typeface="Arial" panose="020B0604020202020204" pitchFamily="34" charset="0"/>
                <a:ea typeface="黑体" panose="02010609060101010101" pitchFamily="49" charset="-122"/>
              </a:rPr>
              <a:t>ALUctr</a:t>
            </a:r>
            <a:r>
              <a:rPr lang="zh-CN" altLang="en-US" sz="1800" b="0" dirty="0">
                <a:solidFill>
                  <a:schemeClr val="accent1"/>
                </a:solidFill>
                <a:latin typeface="Arial" panose="020B0604020202020204" pitchFamily="34" charset="0"/>
                <a:ea typeface="黑体" panose="02010609060101010101" pitchFamily="49" charset="-122"/>
              </a:rPr>
              <a:t>的逻辑表达式</a:t>
            </a:r>
            <a:r>
              <a:rPr lang="en-US" altLang="zh-CN" sz="1800" b="0">
                <a:solidFill>
                  <a:schemeClr val="accent1"/>
                </a:solidFill>
                <a:latin typeface="Arial" panose="020B0604020202020204" pitchFamily="34" charset="0"/>
                <a:ea typeface="黑体" panose="02010609060101010101" pitchFamily="49" charset="-122"/>
              </a:rPr>
              <a:t>:</a:t>
            </a:r>
            <a:endParaRPr lang="en-US" altLang="zh-CN" sz="1800" b="0">
              <a:solidFill>
                <a:schemeClr val="accent1"/>
              </a:solidFill>
              <a:latin typeface="Arial" panose="020B0604020202020204" pitchFamily="34" charset="0"/>
              <a:ea typeface="黑体" panose="02010609060101010101" pitchFamily="49" charset="-122"/>
            </a:endParaRPr>
          </a:p>
        </p:txBody>
      </p:sp>
      <p:grpSp>
        <p:nvGrpSpPr>
          <p:cNvPr id="274615" name="组合 274614"/>
          <p:cNvGrpSpPr/>
          <p:nvPr/>
        </p:nvGrpSpPr>
        <p:grpSpPr>
          <a:xfrm>
            <a:off x="260350" y="4586288"/>
            <a:ext cx="8547100" cy="1919287"/>
            <a:chOff x="164" y="2871"/>
            <a:chExt cx="5384" cy="1209"/>
          </a:xfrm>
        </p:grpSpPr>
        <p:sp>
          <p:nvSpPr>
            <p:cNvPr id="134324" name="矩形 274612"/>
            <p:cNvSpPr/>
            <p:nvPr/>
          </p:nvSpPr>
          <p:spPr>
            <a:xfrm>
              <a:off x="201" y="2871"/>
              <a:ext cx="3191" cy="951"/>
            </a:xfrm>
            <a:prstGeom prst="rect">
              <a:avLst/>
            </a:prstGeom>
            <a:noFill/>
            <a:ln w="50800" cap="flat" cmpd="sng">
              <a:solidFill>
                <a:srgbClr val="FE9AAB"/>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4325" name="文本框 274613"/>
            <p:cNvSpPr txBox="1"/>
            <p:nvPr/>
          </p:nvSpPr>
          <p:spPr>
            <a:xfrm>
              <a:off x="164" y="3868"/>
              <a:ext cx="5384" cy="212"/>
            </a:xfrm>
            <a:prstGeom prst="rect">
              <a:avLst/>
            </a:prstGeom>
            <a:noFill/>
            <a:ln w="50800">
              <a:noFill/>
            </a:ln>
          </p:spPr>
          <p:txBody>
            <a:bodyPr anchor="t" anchorCtr="0">
              <a:spAutoFit/>
            </a:bodyPr>
            <a:p>
              <a:pPr eaLnBrk="0" hangingPunct="0">
                <a:spcBef>
                  <a:spcPct val="50000"/>
                </a:spcBef>
              </a:pPr>
              <a:r>
                <a:rPr lang="zh-CN" altLang="en-US" dirty="0">
                  <a:solidFill>
                    <a:srgbClr val="0000FF"/>
                  </a:solidFill>
                  <a:latin typeface="Arial" panose="020B0604020202020204" pitchFamily="34" charset="0"/>
                  <a:ea typeface="宋体" panose="02010600030101010101" pitchFamily="2" charset="-122"/>
                </a:rPr>
                <a:t>头三行是非</a:t>
              </a:r>
              <a:r>
                <a:rPr lang="en-US" altLang="zh-CN">
                  <a:solidFill>
                    <a:srgbClr val="0000FF"/>
                  </a:solidFill>
                  <a:latin typeface="Arial" panose="020B0604020202020204" pitchFamily="34" charset="0"/>
                  <a:ea typeface="宋体" panose="02010600030101010101" pitchFamily="2" charset="-122"/>
                </a:rPr>
                <a:t>R-Type</a:t>
              </a:r>
              <a:r>
                <a:rPr lang="zh-CN" altLang="en-US" dirty="0">
                  <a:solidFill>
                    <a:srgbClr val="0000FF"/>
                  </a:solidFill>
                  <a:latin typeface="Arial" panose="020B0604020202020204" pitchFamily="34" charset="0"/>
                  <a:ea typeface="宋体" panose="02010600030101010101" pitchFamily="2" charset="-122"/>
                </a:rPr>
                <a:t>，操作由</a:t>
              </a:r>
              <a:r>
                <a:rPr lang="en-US" altLang="zh-CN" dirty="0" err="1">
                  <a:solidFill>
                    <a:srgbClr val="0000FF"/>
                  </a:solidFill>
                  <a:latin typeface="Arial" panose="020B0604020202020204" pitchFamily="34" charset="0"/>
                  <a:ea typeface="宋体" panose="02010600030101010101" pitchFamily="2" charset="-122"/>
                </a:rPr>
                <a:t>ALUop</a:t>
              </a:r>
              <a:r>
                <a:rPr lang="zh-CN" altLang="en-US" dirty="0">
                  <a:solidFill>
                    <a:srgbClr val="0000FF"/>
                  </a:solidFill>
                  <a:latin typeface="Arial" panose="020B0604020202020204" pitchFamily="34" charset="0"/>
                  <a:ea typeface="宋体" panose="02010600030101010101" pitchFamily="2" charset="-122"/>
                </a:rPr>
                <a:t>决定，与</a:t>
              </a:r>
              <a:r>
                <a:rPr lang="en-US" altLang="zh-CN" dirty="0" err="1">
                  <a:solidFill>
                    <a:srgbClr val="0000FF"/>
                  </a:solidFill>
                  <a:latin typeface="Arial" panose="020B0604020202020204" pitchFamily="34" charset="0"/>
                  <a:ea typeface="宋体" panose="02010600030101010101" pitchFamily="2" charset="-122"/>
                </a:rPr>
                <a:t>func</a:t>
              </a:r>
              <a:r>
                <a:rPr lang="zh-CN" altLang="en-US" dirty="0">
                  <a:solidFill>
                    <a:srgbClr val="0000FF"/>
                  </a:solidFill>
                  <a:latin typeface="Arial" panose="020B0604020202020204" pitchFamily="34" charset="0"/>
                  <a:ea typeface="宋体" panose="02010600030101010101" pitchFamily="2" charset="-122"/>
                </a:rPr>
                <a:t>无关。</a:t>
              </a:r>
              <a:r>
                <a:rPr lang="en-US" altLang="zh-CN">
                  <a:solidFill>
                    <a:srgbClr val="0000FF"/>
                  </a:solidFill>
                  <a:latin typeface="Arial" panose="020B0604020202020204" pitchFamily="34" charset="0"/>
                  <a:ea typeface="宋体" panose="02010600030101010101" pitchFamily="2" charset="-122"/>
                </a:rPr>
                <a:t>R-Type</a:t>
              </a:r>
              <a:r>
                <a:rPr lang="zh-CN" altLang="en-US" dirty="0">
                  <a:solidFill>
                    <a:srgbClr val="0000FF"/>
                  </a:solidFill>
                  <a:latin typeface="Arial" panose="020B0604020202020204" pitchFamily="34" charset="0"/>
                  <a:ea typeface="宋体" panose="02010600030101010101" pitchFamily="2" charset="-122"/>
                </a:rPr>
                <a:t>时，操作完全由</a:t>
              </a:r>
              <a:r>
                <a:rPr lang="en-US" altLang="zh-CN" dirty="0" err="1">
                  <a:solidFill>
                    <a:srgbClr val="0000FF"/>
                  </a:solidFill>
                  <a:latin typeface="Arial" panose="020B0604020202020204" pitchFamily="34" charset="0"/>
                  <a:ea typeface="宋体" panose="02010600030101010101" pitchFamily="2" charset="-122"/>
                </a:rPr>
                <a:t>func</a:t>
              </a:r>
              <a:r>
                <a:rPr lang="zh-CN" altLang="en-US" dirty="0">
                  <a:solidFill>
                    <a:srgbClr val="0000FF"/>
                  </a:solidFill>
                  <a:latin typeface="Arial" panose="020B0604020202020204" pitchFamily="34" charset="0"/>
                  <a:ea typeface="宋体" panose="02010600030101010101" pitchFamily="2" charset="-122"/>
                </a:rPr>
                <a:t>决定。</a:t>
              </a:r>
              <a:endParaRPr lang="zh-CN" altLang="en-US" dirty="0">
                <a:solidFill>
                  <a:srgbClr val="0000FF"/>
                </a:solidFill>
                <a:latin typeface="Arial" panose="020B0604020202020204" pitchFamily="34" charset="0"/>
                <a:ea typeface="宋体" panose="02010600030101010101" pitchFamily="2" charset="-122"/>
              </a:endParaRPr>
            </a:p>
          </p:txBody>
        </p:sp>
      </p:grpSp>
      <p:sp>
        <p:nvSpPr>
          <p:cNvPr id="274616" name="文本框 274615"/>
          <p:cNvSpPr txBox="1"/>
          <p:nvPr/>
        </p:nvSpPr>
        <p:spPr>
          <a:xfrm>
            <a:off x="711200" y="1233488"/>
            <a:ext cx="4498975" cy="336550"/>
          </a:xfrm>
          <a:prstGeom prst="rect">
            <a:avLst/>
          </a:prstGeom>
          <a:noFill/>
          <a:ln w="50800">
            <a:noFill/>
          </a:ln>
        </p:spPr>
        <p:txBody>
          <a:bodyPr anchor="t" anchorCtr="0">
            <a:spAutoFit/>
          </a:bodyPr>
          <a:p>
            <a:pPr eaLnBrk="0" hangingPunct="0">
              <a:spcBef>
                <a:spcPct val="50000"/>
              </a:spcBef>
            </a:pPr>
            <a:r>
              <a:rPr lang="en-US" altLang="zh-CN" dirty="0" err="1">
                <a:solidFill>
                  <a:srgbClr val="0000FF"/>
                </a:solidFill>
                <a:latin typeface="Arial" panose="020B0604020202020204" pitchFamily="34" charset="0"/>
                <a:ea typeface="宋体" panose="02010600030101010101" pitchFamily="2" charset="-122"/>
              </a:rPr>
              <a:t>ALUctr[i</a:t>
            </a:r>
            <a:r>
              <a:rPr lang="en-US" altLang="zh-CN">
                <a:solidFill>
                  <a:srgbClr val="0000FF"/>
                </a:solidFill>
                <a:latin typeface="Arial" panose="020B0604020202020204" pitchFamily="34" charset="0"/>
                <a:ea typeface="宋体" panose="02010600030101010101" pitchFamily="2" charset="-122"/>
              </a:rPr>
              <a:t>] = f (</a:t>
            </a:r>
            <a:r>
              <a:rPr lang="en-US" altLang="zh-CN" dirty="0" err="1">
                <a:solidFill>
                  <a:srgbClr val="0000FF"/>
                </a:solidFill>
                <a:latin typeface="Arial" panose="020B0604020202020204" pitchFamily="34" charset="0"/>
                <a:ea typeface="宋体" panose="02010600030101010101" pitchFamily="2" charset="-122"/>
              </a:rPr>
              <a:t>ALUop[i</a:t>
            </a:r>
            <a:r>
              <a:rPr lang="en-US" altLang="zh-CN">
                <a:solidFill>
                  <a:srgbClr val="0000FF"/>
                </a:solidFill>
                <a:latin typeface="Arial" panose="020B0604020202020204" pitchFamily="34" charset="0"/>
                <a:ea typeface="宋体" panose="02010600030101010101" pitchFamily="2" charset="-122"/>
              </a:rPr>
              <a:t>], </a:t>
            </a:r>
            <a:r>
              <a:rPr lang="en-US" altLang="zh-CN" dirty="0" err="1">
                <a:solidFill>
                  <a:srgbClr val="0000FF"/>
                </a:solidFill>
                <a:latin typeface="Arial" panose="020B0604020202020204" pitchFamily="34" charset="0"/>
                <a:ea typeface="宋体" panose="02010600030101010101" pitchFamily="2" charset="-122"/>
              </a:rPr>
              <a:t>func[i</a:t>
            </a:r>
            <a:r>
              <a:rPr lang="en-US" altLang="zh-CN">
                <a:solidFill>
                  <a:srgbClr val="0000FF"/>
                </a:solidFill>
                <a:latin typeface="Arial" panose="020B0604020202020204" pitchFamily="34" charset="0"/>
                <a:ea typeface="宋体" panose="02010600030101010101" pitchFamily="2" charset="-122"/>
              </a:rPr>
              <a:t>] )</a:t>
            </a:r>
            <a:endParaRPr lang="zh-CN" altLang="en-US" dirty="0">
              <a:solidFill>
                <a:srgbClr val="0000FF"/>
              </a:solidFill>
              <a:latin typeface="Arial" panose="020B0604020202020204" pitchFamily="34" charset="0"/>
              <a:ea typeface="宋体" panose="02010600030101010101" pitchFamily="2" charset="-122"/>
            </a:endParaRPr>
          </a:p>
        </p:txBody>
      </p:sp>
      <p:sp>
        <p:nvSpPr>
          <p:cNvPr id="274617" name="文本框 274616"/>
          <p:cNvSpPr txBox="1"/>
          <p:nvPr/>
        </p:nvSpPr>
        <p:spPr>
          <a:xfrm>
            <a:off x="1257300" y="6459538"/>
            <a:ext cx="7024688" cy="336550"/>
          </a:xfrm>
          <a:prstGeom prst="rect">
            <a:avLst/>
          </a:prstGeom>
          <a:noFill/>
          <a:ln w="50800">
            <a:noFill/>
          </a:ln>
        </p:spPr>
        <p:txBody>
          <a:bodyPr anchor="t" anchorCtr="0">
            <a:spAutoFit/>
          </a:bodyPr>
          <a:p>
            <a:pPr eaLnBrk="0" hangingPunct="0">
              <a:spcBef>
                <a:spcPct val="50000"/>
              </a:spcBef>
            </a:pPr>
            <a:r>
              <a:rPr lang="en-US" altLang="zh-CN" dirty="0" err="1">
                <a:solidFill>
                  <a:srgbClr val="CC3300"/>
                </a:solidFill>
                <a:latin typeface="Times New Roman" panose="02020603050405020304" pitchFamily="18" charset="0"/>
                <a:ea typeface="宋体" panose="02010600030101010101" pitchFamily="2" charset="-122"/>
              </a:rPr>
              <a:t>ALUctr</a:t>
            </a:r>
            <a:r>
              <a:rPr lang="zh-CN" altLang="en-US" dirty="0">
                <a:solidFill>
                  <a:srgbClr val="CC3300"/>
                </a:solidFill>
                <a:latin typeface="Times New Roman" panose="02020603050405020304" pitchFamily="18" charset="0"/>
                <a:ea typeface="宋体" panose="02010600030101010101" pitchFamily="2" charset="-122"/>
              </a:rPr>
              <a:t>可用更多位数，这样便于扩充，例如，可加入异或、移位等操作。</a:t>
            </a:r>
            <a:endParaRPr lang="zh-CN" altLang="en-US" dirty="0">
              <a:solidFill>
                <a:srgbClr val="CC33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4618"/>
                                        </p:tgtEl>
                                        <p:attrNameLst>
                                          <p:attrName>style.visibility</p:attrName>
                                        </p:attrNameLst>
                                      </p:cBhvr>
                                      <p:to>
                                        <p:strVal val="visible"/>
                                      </p:to>
                                    </p:set>
                                    <p:animEffect transition="in" filter="blinds(horizontal)">
                                      <p:cBhvr>
                                        <p:cTn id="7" dur="500"/>
                                        <p:tgtEl>
                                          <p:spTgt spid="2746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4609"/>
                                        </p:tgtEl>
                                        <p:attrNameLst>
                                          <p:attrName>style.visibility</p:attrName>
                                        </p:attrNameLst>
                                      </p:cBhvr>
                                      <p:to>
                                        <p:strVal val="visible"/>
                                      </p:to>
                                    </p:set>
                                    <p:animEffect transition="in" filter="blinds(horizontal)">
                                      <p:cBhvr>
                                        <p:cTn id="12" dur="500"/>
                                        <p:tgtEl>
                                          <p:spTgt spid="27460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4610"/>
                                        </p:tgtEl>
                                        <p:attrNameLst>
                                          <p:attrName>style.visibility</p:attrName>
                                        </p:attrNameLst>
                                      </p:cBhvr>
                                      <p:to>
                                        <p:strVal val="visible"/>
                                      </p:to>
                                    </p:set>
                                    <p:animEffect transition="in" filter="blinds(horizontal)">
                                      <p:cBhvr>
                                        <p:cTn id="17" dur="500"/>
                                        <p:tgtEl>
                                          <p:spTgt spid="2746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4607"/>
                                        </p:tgtEl>
                                        <p:attrNameLst>
                                          <p:attrName>style.visibility</p:attrName>
                                        </p:attrNameLst>
                                      </p:cBhvr>
                                      <p:to>
                                        <p:strVal val="visible"/>
                                      </p:to>
                                    </p:set>
                                    <p:animEffect transition="in" filter="blinds(horizontal)">
                                      <p:cBhvr>
                                        <p:cTn id="22" dur="500"/>
                                        <p:tgtEl>
                                          <p:spTgt spid="27460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74608"/>
                                        </p:tgtEl>
                                        <p:attrNameLst>
                                          <p:attrName>style.visibility</p:attrName>
                                        </p:attrNameLst>
                                      </p:cBhvr>
                                      <p:to>
                                        <p:strVal val="visible"/>
                                      </p:to>
                                    </p:set>
                                    <p:animEffect transition="in" filter="blinds(horizontal)">
                                      <p:cBhvr>
                                        <p:cTn id="27" dur="500"/>
                                        <p:tgtEl>
                                          <p:spTgt spid="27460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74615"/>
                                        </p:tgtEl>
                                        <p:attrNameLst>
                                          <p:attrName>style.visibility</p:attrName>
                                        </p:attrNameLst>
                                      </p:cBhvr>
                                      <p:to>
                                        <p:strVal val="visible"/>
                                      </p:to>
                                    </p:set>
                                    <p:animEffect transition="in" filter="blinds(horizontal)">
                                      <p:cBhvr>
                                        <p:cTn id="32" dur="500"/>
                                        <p:tgtEl>
                                          <p:spTgt spid="27461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4617"/>
                                        </p:tgtEl>
                                        <p:attrNameLst>
                                          <p:attrName>style.visibility</p:attrName>
                                        </p:attrNameLst>
                                      </p:cBhvr>
                                      <p:to>
                                        <p:strVal val="visible"/>
                                      </p:to>
                                    </p:set>
                                    <p:animEffect transition="in" filter="blinds(horizontal)">
                                      <p:cBhvr>
                                        <p:cTn id="37" dur="500"/>
                                        <p:tgtEl>
                                          <p:spTgt spid="27461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4611"/>
                                        </p:tgtEl>
                                        <p:attrNameLst>
                                          <p:attrName>style.visibility</p:attrName>
                                        </p:attrNameLst>
                                      </p:cBhvr>
                                      <p:to>
                                        <p:strVal val="visible"/>
                                      </p:to>
                                    </p:set>
                                    <p:animEffect transition="in" filter="blinds(horizontal)">
                                      <p:cBhvr>
                                        <p:cTn id="42" dur="500"/>
                                        <p:tgtEl>
                                          <p:spTgt spid="27461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74616"/>
                                        </p:tgtEl>
                                        <p:attrNameLst>
                                          <p:attrName>style.visibility</p:attrName>
                                        </p:attrNameLst>
                                      </p:cBhvr>
                                      <p:to>
                                        <p:strVal val="visible"/>
                                      </p:to>
                                    </p:set>
                                    <p:animEffect transition="in" filter="blinds(horizontal)">
                                      <p:cBhvr>
                                        <p:cTn id="47" dur="500"/>
                                        <p:tgtEl>
                                          <p:spTgt spid="274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611" grpId="0"/>
      <p:bldP spid="274616" grpId="0"/>
      <p:bldP spid="27461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标题 276481"/>
          <p:cNvSpPr>
            <a:spLocks noGrp="1"/>
          </p:cNvSpPr>
          <p:nvPr>
            <p:ph type="title"/>
          </p:nvPr>
        </p:nvSpPr>
        <p:spPr>
          <a:xfrm>
            <a:off x="800100" y="207963"/>
            <a:ext cx="5902325" cy="422275"/>
          </a:xfrm>
          <a:ln/>
        </p:spPr>
        <p:txBody>
          <a:bodyPr vert="horz" wrap="none" lIns="63500" tIns="25400" rIns="63500" bIns="25400" anchor="t" anchorCtr="0">
            <a:spAutoFit/>
          </a:bodyPr>
          <a:p>
            <a:r>
              <a:rPr lang="en-US" altLang="zh-CN">
                <a:ea typeface="宋体" panose="02010600030101010101" pitchFamily="2" charset="-122"/>
              </a:rPr>
              <a:t>The Logic Equation for </a:t>
            </a:r>
            <a:r>
              <a:rPr lang="en-US" altLang="zh-CN" dirty="0" err="1">
                <a:ea typeface="宋体" panose="02010600030101010101" pitchFamily="2" charset="-122"/>
              </a:rPr>
              <a:t>ALUctr</a:t>
            </a:r>
            <a:r>
              <a:rPr lang="en-US" altLang="zh-CN">
                <a:ea typeface="宋体" panose="02010600030101010101" pitchFamily="2" charset="-122"/>
              </a:rPr>
              <a:t>&lt;0&gt;</a:t>
            </a:r>
            <a:endParaRPr lang="en-US" altLang="zh-CN">
              <a:ea typeface="宋体" panose="02010600030101010101" pitchFamily="2" charset="-122"/>
            </a:endParaRPr>
          </a:p>
        </p:txBody>
      </p:sp>
      <p:sp>
        <p:nvSpPr>
          <p:cNvPr id="276483" name="内容占位符 276482"/>
          <p:cNvSpPr>
            <a:spLocks noGrp="1"/>
          </p:cNvSpPr>
          <p:nvPr>
            <p:ph idx="1"/>
          </p:nvPr>
        </p:nvSpPr>
        <p:spPr>
          <a:xfrm>
            <a:off x="419100" y="3933825"/>
            <a:ext cx="8191500" cy="696913"/>
          </a:xfrm>
          <a:ln/>
        </p:spPr>
        <p:txBody>
          <a:bodyPr vert="horz" wrap="square" lIns="63500" tIns="25400" rIns="63500" bIns="25400" anchor="t" anchorCtr="0">
            <a:spAutoFit/>
          </a:bodyPr>
          <a:p>
            <a:r>
              <a:rPr lang="en-US" altLang="zh-CN" dirty="0" err="1">
                <a:ea typeface="宋体" panose="02010600030101010101" pitchFamily="2" charset="-122"/>
              </a:rPr>
              <a:t>ALUctr</a:t>
            </a:r>
            <a:r>
              <a:rPr lang="en-US" altLang="zh-CN">
                <a:ea typeface="宋体" panose="02010600030101010101" pitchFamily="2" charset="-122"/>
              </a:rPr>
              <a:t>&lt;0&gt;  =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ALUop</a:t>
            </a:r>
            <a:r>
              <a:rPr lang="en-US" altLang="zh-CN">
                <a:ea typeface="宋体" panose="02010600030101010101" pitchFamily="2" charset="-122"/>
              </a:rPr>
              <a:t>&lt;0&gt;  +</a:t>
            </a:r>
            <a:endParaRPr lang="en-US" altLang="zh-CN">
              <a:ea typeface="宋体" panose="02010600030101010101" pitchFamily="2" charset="-122"/>
            </a:endParaRPr>
          </a:p>
          <a:p>
            <a:pPr lvl="1">
              <a:buNone/>
            </a:pPr>
            <a:r>
              <a:rPr lang="en-US" altLang="zh-CN">
                <a:ea typeface="宋体" panose="02010600030101010101" pitchFamily="2" charset="-122"/>
              </a:rPr>
              <a:t>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&lt;1&gt;  &amp;  !</a:t>
            </a:r>
            <a:r>
              <a:rPr lang="en-US" altLang="zh-CN" dirty="0" err="1">
                <a:ea typeface="宋体" panose="02010600030101010101" pitchFamily="2" charset="-122"/>
              </a:rPr>
              <a:t>func</a:t>
            </a:r>
            <a:r>
              <a:rPr lang="en-US" altLang="zh-CN">
                <a:ea typeface="宋体" panose="02010600030101010101" pitchFamily="2" charset="-122"/>
              </a:rPr>
              <a:t>&lt;0&gt;</a:t>
            </a:r>
            <a:endParaRPr lang="en-US" altLang="zh-CN">
              <a:ea typeface="宋体" panose="02010600030101010101" pitchFamily="2" charset="-122"/>
            </a:endParaRPr>
          </a:p>
        </p:txBody>
      </p:sp>
      <p:grpSp>
        <p:nvGrpSpPr>
          <p:cNvPr id="136195" name="组合 276483"/>
          <p:cNvGrpSpPr/>
          <p:nvPr/>
        </p:nvGrpSpPr>
        <p:grpSpPr>
          <a:xfrm>
            <a:off x="1204913" y="1495425"/>
            <a:ext cx="6988175" cy="2268538"/>
            <a:chOff x="759" y="528"/>
            <a:chExt cx="4402" cy="1429"/>
          </a:xfrm>
        </p:grpSpPr>
        <p:sp>
          <p:nvSpPr>
            <p:cNvPr id="136196" name="矩形 276484"/>
            <p:cNvSpPr/>
            <p:nvPr/>
          </p:nvSpPr>
          <p:spPr>
            <a:xfrm>
              <a:off x="1157" y="528"/>
              <a:ext cx="586" cy="229"/>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ALUop</a:t>
              </a:r>
              <a:endParaRPr lang="en-US" altLang="zh-CN" sz="1800">
                <a:latin typeface="Arial" panose="020B0604020202020204" pitchFamily="34" charset="0"/>
                <a:ea typeface="宋体" panose="02010600030101010101" pitchFamily="2" charset="-122"/>
              </a:endParaRPr>
            </a:p>
          </p:txBody>
        </p:sp>
        <p:sp>
          <p:nvSpPr>
            <p:cNvPr id="136197" name="矩形 276485"/>
            <p:cNvSpPr/>
            <p:nvPr/>
          </p:nvSpPr>
          <p:spPr>
            <a:xfrm>
              <a:off x="2823" y="528"/>
              <a:ext cx="41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sp>
          <p:nvSpPr>
            <p:cNvPr id="136198" name="矩形 276486"/>
            <p:cNvSpPr/>
            <p:nvPr/>
          </p:nvSpPr>
          <p:spPr>
            <a:xfrm>
              <a:off x="759" y="720"/>
              <a:ext cx="527"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bit&lt;2</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6199" name="矩形 276487"/>
            <p:cNvSpPr/>
            <p:nvPr/>
          </p:nvSpPr>
          <p:spPr>
            <a:xfrm>
              <a:off x="1191" y="720"/>
              <a:ext cx="527"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bit&lt;1</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6200" name="矩形 276488"/>
            <p:cNvSpPr/>
            <p:nvPr/>
          </p:nvSpPr>
          <p:spPr>
            <a:xfrm>
              <a:off x="1623" y="720"/>
              <a:ext cx="527"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6201" name="矩形 276489"/>
            <p:cNvSpPr/>
            <p:nvPr/>
          </p:nvSpPr>
          <p:spPr>
            <a:xfrm>
              <a:off x="2583" y="720"/>
              <a:ext cx="527"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bit&lt;2</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6202" name="矩形 276490"/>
            <p:cNvSpPr/>
            <p:nvPr/>
          </p:nvSpPr>
          <p:spPr>
            <a:xfrm>
              <a:off x="3015" y="720"/>
              <a:ext cx="527"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bit&lt;1</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6203" name="矩形 276491"/>
            <p:cNvSpPr/>
            <p:nvPr/>
          </p:nvSpPr>
          <p:spPr>
            <a:xfrm>
              <a:off x="3447" y="720"/>
              <a:ext cx="527"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6204" name="矩形 276492"/>
            <p:cNvSpPr/>
            <p:nvPr/>
          </p:nvSpPr>
          <p:spPr>
            <a:xfrm>
              <a:off x="2151" y="720"/>
              <a:ext cx="527"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bit&lt;3</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6205" name="直接连接符 276493"/>
            <p:cNvSpPr/>
            <p:nvPr/>
          </p:nvSpPr>
          <p:spPr>
            <a:xfrm>
              <a:off x="2112" y="536"/>
              <a:ext cx="0" cy="944"/>
            </a:xfrm>
            <a:prstGeom prst="line">
              <a:avLst/>
            </a:prstGeom>
            <a:ln w="25400" cap="flat" cmpd="sng">
              <a:solidFill>
                <a:schemeClr val="tx1"/>
              </a:solidFill>
              <a:prstDash val="solid"/>
              <a:round/>
              <a:headEnd type="none" w="med" len="med"/>
              <a:tailEnd type="none" w="med" len="med"/>
            </a:ln>
          </p:spPr>
        </p:sp>
        <p:sp>
          <p:nvSpPr>
            <p:cNvPr id="136206" name="直接连接符 276494"/>
            <p:cNvSpPr/>
            <p:nvPr/>
          </p:nvSpPr>
          <p:spPr>
            <a:xfrm>
              <a:off x="776" y="528"/>
              <a:ext cx="3968" cy="0"/>
            </a:xfrm>
            <a:prstGeom prst="line">
              <a:avLst/>
            </a:prstGeom>
            <a:ln w="25400" cap="flat" cmpd="sng">
              <a:solidFill>
                <a:schemeClr val="tx1"/>
              </a:solidFill>
              <a:prstDash val="solid"/>
              <a:round/>
              <a:headEnd type="none" w="med" len="med"/>
              <a:tailEnd type="none" w="med" len="med"/>
            </a:ln>
          </p:spPr>
        </p:sp>
        <p:sp>
          <p:nvSpPr>
            <p:cNvPr id="136207" name="直接连接符 276495"/>
            <p:cNvSpPr/>
            <p:nvPr/>
          </p:nvSpPr>
          <p:spPr>
            <a:xfrm>
              <a:off x="768" y="536"/>
              <a:ext cx="0" cy="944"/>
            </a:xfrm>
            <a:prstGeom prst="line">
              <a:avLst/>
            </a:prstGeom>
            <a:ln w="25400" cap="flat" cmpd="sng">
              <a:solidFill>
                <a:schemeClr val="tx1"/>
              </a:solidFill>
              <a:prstDash val="solid"/>
              <a:round/>
              <a:headEnd type="none" w="med" len="med"/>
              <a:tailEnd type="none" w="med" len="med"/>
            </a:ln>
          </p:spPr>
        </p:sp>
        <p:sp>
          <p:nvSpPr>
            <p:cNvPr id="136208" name="矩形 276496"/>
            <p:cNvSpPr/>
            <p:nvPr/>
          </p:nvSpPr>
          <p:spPr>
            <a:xfrm>
              <a:off x="3975" y="720"/>
              <a:ext cx="831"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ALUctr</a:t>
              </a:r>
              <a:r>
                <a:rPr lang="en-US" altLang="zh-CN" sz="1800">
                  <a:latin typeface="Arial" panose="020B0604020202020204" pitchFamily="34" charset="0"/>
                  <a:ea typeface="宋体" panose="02010600030101010101" pitchFamily="2" charset="-122"/>
                </a:rPr>
                <a:t>&lt;0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6209" name="矩形 276497"/>
            <p:cNvSpPr/>
            <p:nvPr/>
          </p:nvSpPr>
          <p:spPr>
            <a:xfrm>
              <a:off x="903" y="912"/>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6210" name="矩形 276498"/>
            <p:cNvSpPr/>
            <p:nvPr/>
          </p:nvSpPr>
          <p:spPr>
            <a:xfrm>
              <a:off x="1335" y="912"/>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11" name="矩形 276499"/>
            <p:cNvSpPr/>
            <p:nvPr/>
          </p:nvSpPr>
          <p:spPr>
            <a:xfrm>
              <a:off x="1767" y="912"/>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1</a:t>
              </a:r>
              <a:endParaRPr lang="en-US" altLang="zh-CN" sz="1800">
                <a:latin typeface="Arial" panose="020B0604020202020204" pitchFamily="34" charset="0"/>
                <a:ea typeface="宋体" panose="02010600030101010101" pitchFamily="2" charset="-122"/>
              </a:endParaRPr>
            </a:p>
          </p:txBody>
        </p:sp>
        <p:sp>
          <p:nvSpPr>
            <p:cNvPr id="136212" name="矩形 276500"/>
            <p:cNvSpPr/>
            <p:nvPr/>
          </p:nvSpPr>
          <p:spPr>
            <a:xfrm>
              <a:off x="2295" y="912"/>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13" name="矩形 276501"/>
            <p:cNvSpPr/>
            <p:nvPr/>
          </p:nvSpPr>
          <p:spPr>
            <a:xfrm>
              <a:off x="2727" y="912"/>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14" name="矩形 276502"/>
            <p:cNvSpPr/>
            <p:nvPr/>
          </p:nvSpPr>
          <p:spPr>
            <a:xfrm>
              <a:off x="3159" y="912"/>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15" name="矩形 276503"/>
            <p:cNvSpPr/>
            <p:nvPr/>
          </p:nvSpPr>
          <p:spPr>
            <a:xfrm>
              <a:off x="3591" y="912"/>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16" name="矩形 276504"/>
            <p:cNvSpPr/>
            <p:nvPr/>
          </p:nvSpPr>
          <p:spPr>
            <a:xfrm>
              <a:off x="4215" y="912"/>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6217" name="直接连接符 276505"/>
            <p:cNvSpPr/>
            <p:nvPr/>
          </p:nvSpPr>
          <p:spPr>
            <a:xfrm>
              <a:off x="776" y="1104"/>
              <a:ext cx="3968" cy="0"/>
            </a:xfrm>
            <a:prstGeom prst="line">
              <a:avLst/>
            </a:prstGeom>
            <a:ln w="25400" cap="flat" cmpd="sng">
              <a:solidFill>
                <a:schemeClr val="tx1"/>
              </a:solidFill>
              <a:prstDash val="solid"/>
              <a:round/>
              <a:headEnd type="none" w="med" len="med"/>
              <a:tailEnd type="none" w="med" len="med"/>
            </a:ln>
          </p:spPr>
        </p:sp>
        <p:sp>
          <p:nvSpPr>
            <p:cNvPr id="136218" name="直接连接符 276506"/>
            <p:cNvSpPr/>
            <p:nvPr/>
          </p:nvSpPr>
          <p:spPr>
            <a:xfrm>
              <a:off x="776" y="912"/>
              <a:ext cx="3968" cy="0"/>
            </a:xfrm>
            <a:prstGeom prst="line">
              <a:avLst/>
            </a:prstGeom>
            <a:ln w="25400" cap="flat" cmpd="sng">
              <a:solidFill>
                <a:schemeClr val="tx1"/>
              </a:solidFill>
              <a:prstDash val="solid"/>
              <a:round/>
              <a:headEnd type="none" w="med" len="med"/>
              <a:tailEnd type="none" w="med" len="med"/>
            </a:ln>
          </p:spPr>
        </p:sp>
        <p:sp>
          <p:nvSpPr>
            <p:cNvPr id="136219" name="矩形 276507"/>
            <p:cNvSpPr/>
            <p:nvPr/>
          </p:nvSpPr>
          <p:spPr>
            <a:xfrm>
              <a:off x="903" y="110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6220" name="矩形 276508"/>
            <p:cNvSpPr/>
            <p:nvPr/>
          </p:nvSpPr>
          <p:spPr>
            <a:xfrm>
              <a:off x="1335" y="1104"/>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21" name="矩形 276509"/>
            <p:cNvSpPr/>
            <p:nvPr/>
          </p:nvSpPr>
          <p:spPr>
            <a:xfrm>
              <a:off x="1767" y="1104"/>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22" name="矩形 276510"/>
            <p:cNvSpPr/>
            <p:nvPr/>
          </p:nvSpPr>
          <p:spPr>
            <a:xfrm>
              <a:off x="2295" y="110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6223" name="矩形 276511"/>
            <p:cNvSpPr/>
            <p:nvPr/>
          </p:nvSpPr>
          <p:spPr>
            <a:xfrm>
              <a:off x="2727" y="110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6224" name="矩形 276512"/>
            <p:cNvSpPr/>
            <p:nvPr/>
          </p:nvSpPr>
          <p:spPr>
            <a:xfrm>
              <a:off x="3159" y="110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6225" name="矩形 276513"/>
            <p:cNvSpPr/>
            <p:nvPr/>
          </p:nvSpPr>
          <p:spPr>
            <a:xfrm>
              <a:off x="3591" y="110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6226" name="矩形 276514"/>
            <p:cNvSpPr/>
            <p:nvPr/>
          </p:nvSpPr>
          <p:spPr>
            <a:xfrm>
              <a:off x="4215" y="1104"/>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6227" name="直接连接符 276515"/>
            <p:cNvSpPr/>
            <p:nvPr/>
          </p:nvSpPr>
          <p:spPr>
            <a:xfrm>
              <a:off x="776" y="1296"/>
              <a:ext cx="3968" cy="0"/>
            </a:xfrm>
            <a:prstGeom prst="line">
              <a:avLst/>
            </a:prstGeom>
            <a:ln w="25400" cap="flat" cmpd="sng">
              <a:solidFill>
                <a:schemeClr val="tx1"/>
              </a:solidFill>
              <a:prstDash val="solid"/>
              <a:round/>
              <a:headEnd type="none" w="med" len="med"/>
              <a:tailEnd type="none" w="med" len="med"/>
            </a:ln>
          </p:spPr>
        </p:sp>
        <p:sp>
          <p:nvSpPr>
            <p:cNvPr id="136228" name="矩形 276516"/>
            <p:cNvSpPr/>
            <p:nvPr/>
          </p:nvSpPr>
          <p:spPr>
            <a:xfrm>
              <a:off x="903" y="1296"/>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6229" name="矩形 276517"/>
            <p:cNvSpPr/>
            <p:nvPr/>
          </p:nvSpPr>
          <p:spPr>
            <a:xfrm>
              <a:off x="1335" y="1296"/>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30" name="矩形 276518"/>
            <p:cNvSpPr/>
            <p:nvPr/>
          </p:nvSpPr>
          <p:spPr>
            <a:xfrm>
              <a:off x="1767" y="1296"/>
              <a:ext cx="1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6231" name="矩形 276519"/>
            <p:cNvSpPr/>
            <p:nvPr/>
          </p:nvSpPr>
          <p:spPr>
            <a:xfrm>
              <a:off x="2295" y="1296"/>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6232" name="矩形 276520"/>
            <p:cNvSpPr/>
            <p:nvPr/>
          </p:nvSpPr>
          <p:spPr>
            <a:xfrm>
              <a:off x="2727" y="1296"/>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6233" name="矩形 276521"/>
            <p:cNvSpPr/>
            <p:nvPr/>
          </p:nvSpPr>
          <p:spPr>
            <a:xfrm>
              <a:off x="3159" y="1296"/>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6234" name="矩形 276522"/>
            <p:cNvSpPr/>
            <p:nvPr/>
          </p:nvSpPr>
          <p:spPr>
            <a:xfrm>
              <a:off x="3591" y="1296"/>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6235" name="矩形 276523"/>
            <p:cNvSpPr/>
            <p:nvPr/>
          </p:nvSpPr>
          <p:spPr>
            <a:xfrm>
              <a:off x="4215" y="1296"/>
              <a:ext cx="19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6236" name="直接连接符 276524"/>
            <p:cNvSpPr/>
            <p:nvPr/>
          </p:nvSpPr>
          <p:spPr>
            <a:xfrm>
              <a:off x="776" y="1488"/>
              <a:ext cx="3968" cy="0"/>
            </a:xfrm>
            <a:prstGeom prst="line">
              <a:avLst/>
            </a:prstGeom>
            <a:ln w="25400" cap="flat" cmpd="sng">
              <a:solidFill>
                <a:schemeClr val="tx1"/>
              </a:solidFill>
              <a:prstDash val="solid"/>
              <a:round/>
              <a:headEnd type="none" w="med" len="med"/>
              <a:tailEnd type="none" w="med" len="med"/>
            </a:ln>
          </p:spPr>
        </p:sp>
        <p:sp>
          <p:nvSpPr>
            <p:cNvPr id="136237" name="直接连接符 276525"/>
            <p:cNvSpPr/>
            <p:nvPr/>
          </p:nvSpPr>
          <p:spPr>
            <a:xfrm>
              <a:off x="3936" y="536"/>
              <a:ext cx="0" cy="944"/>
            </a:xfrm>
            <a:prstGeom prst="line">
              <a:avLst/>
            </a:prstGeom>
            <a:ln w="25400" cap="flat" cmpd="sng">
              <a:solidFill>
                <a:schemeClr val="tx1"/>
              </a:solidFill>
              <a:prstDash val="solid"/>
              <a:round/>
              <a:headEnd type="none" w="med" len="med"/>
              <a:tailEnd type="none" w="med" len="med"/>
            </a:ln>
          </p:spPr>
        </p:sp>
        <p:sp>
          <p:nvSpPr>
            <p:cNvPr id="136238" name="直接连接符 276526"/>
            <p:cNvSpPr/>
            <p:nvPr/>
          </p:nvSpPr>
          <p:spPr>
            <a:xfrm>
              <a:off x="4752" y="536"/>
              <a:ext cx="0" cy="944"/>
            </a:xfrm>
            <a:prstGeom prst="line">
              <a:avLst/>
            </a:prstGeom>
            <a:ln w="25400" cap="flat" cmpd="sng">
              <a:solidFill>
                <a:schemeClr val="tx1"/>
              </a:solidFill>
              <a:prstDash val="solid"/>
              <a:round/>
              <a:headEnd type="none" w="med" len="med"/>
              <a:tailEnd type="none" w="med" len="med"/>
            </a:ln>
          </p:spPr>
        </p:sp>
        <p:sp>
          <p:nvSpPr>
            <p:cNvPr id="136239" name="椭圆 276527"/>
            <p:cNvSpPr/>
            <p:nvPr/>
          </p:nvSpPr>
          <p:spPr>
            <a:xfrm>
              <a:off x="2260" y="1108"/>
              <a:ext cx="232" cy="472"/>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36240" name="直接连接符 276528"/>
            <p:cNvSpPr/>
            <p:nvPr/>
          </p:nvSpPr>
          <p:spPr>
            <a:xfrm>
              <a:off x="2404" y="1588"/>
              <a:ext cx="424" cy="232"/>
            </a:xfrm>
            <a:prstGeom prst="line">
              <a:avLst/>
            </a:prstGeom>
            <a:ln w="12700" cap="flat" cmpd="sng">
              <a:solidFill>
                <a:schemeClr val="tx1"/>
              </a:solidFill>
              <a:prstDash val="solid"/>
              <a:round/>
              <a:headEnd type="triangle" w="med" len="med"/>
              <a:tailEnd type="none" w="med" len="med"/>
            </a:ln>
          </p:spPr>
        </p:sp>
        <p:sp>
          <p:nvSpPr>
            <p:cNvPr id="136241" name="矩形 276529"/>
            <p:cNvSpPr/>
            <p:nvPr/>
          </p:nvSpPr>
          <p:spPr>
            <a:xfrm>
              <a:off x="2823" y="1728"/>
              <a:ext cx="233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This makes </a:t>
              </a:r>
              <a:r>
                <a:rPr lang="en-US" altLang="zh-CN" sz="1800" dirty="0" err="1">
                  <a:latin typeface="Arial" panose="020B0604020202020204" pitchFamily="34" charset="0"/>
                  <a:ea typeface="宋体" panose="02010600030101010101" pitchFamily="2" charset="-122"/>
                </a:rPr>
                <a:t>func</a:t>
              </a:r>
              <a:r>
                <a:rPr lang="en-US" altLang="zh-CN" sz="1800">
                  <a:latin typeface="Arial" panose="020B0604020202020204" pitchFamily="34" charset="0"/>
                  <a:ea typeface="宋体" panose="02010600030101010101" pitchFamily="2" charset="-122"/>
                </a:rPr>
                <a:t>&lt;3&gt; a don’t care</a:t>
              </a:r>
              <a:endParaRPr lang="en-US" altLang="zh-CN" sz="1800">
                <a:latin typeface="Arial" panose="020B0604020202020204" pitchFamily="34" charset="0"/>
                <a:ea typeface="宋体" panose="02010600030101010101" pitchFamily="2" charset="-122"/>
              </a:endParaRPr>
            </a:p>
          </p:txBody>
        </p:sp>
      </p:grpSp>
      <p:sp>
        <p:nvSpPr>
          <p:cNvPr id="136242" name="文本框 276530"/>
          <p:cNvSpPr txBox="1"/>
          <p:nvPr/>
        </p:nvSpPr>
        <p:spPr>
          <a:xfrm>
            <a:off x="869950" y="842963"/>
            <a:ext cx="5965825" cy="396875"/>
          </a:xfrm>
          <a:prstGeom prst="rect">
            <a:avLst/>
          </a:prstGeom>
          <a:noFill/>
          <a:ln w="50800">
            <a:noFill/>
          </a:ln>
        </p:spPr>
        <p:txBody>
          <a:bodyPr anchor="t" anchorCtr="0">
            <a:spAutoFit/>
          </a:bodyPr>
          <a:p>
            <a:pPr eaLnBrk="0" hangingPunct="0">
              <a:spcBef>
                <a:spcPct val="50000"/>
              </a:spcBef>
            </a:pPr>
            <a:r>
              <a:rPr lang="zh-CN" altLang="en-US" sz="2000" b="0" dirty="0">
                <a:solidFill>
                  <a:schemeClr val="accent1"/>
                </a:solidFill>
                <a:latin typeface="Arial" panose="020B0604020202020204" pitchFamily="34" charset="0"/>
                <a:ea typeface="黑体" panose="02010609060101010101" pitchFamily="49" charset="-122"/>
              </a:rPr>
              <a:t>从前面的真值表中，抽取出</a:t>
            </a:r>
            <a:r>
              <a:rPr lang="en-US" altLang="zh-CN" sz="2000" b="0">
                <a:solidFill>
                  <a:schemeClr val="accent1"/>
                </a:solidFill>
                <a:latin typeface="Arial" panose="020B0604020202020204" pitchFamily="34" charset="0"/>
                <a:ea typeface="黑体" panose="02010609060101010101" pitchFamily="49" charset="-122"/>
              </a:rPr>
              <a:t>ALUctr[0]</a:t>
            </a:r>
            <a:r>
              <a:rPr lang="zh-CN" altLang="en-US" sz="2000" b="0" dirty="0">
                <a:solidFill>
                  <a:schemeClr val="accent1"/>
                </a:solidFill>
                <a:latin typeface="Arial" panose="020B0604020202020204" pitchFamily="34" charset="0"/>
                <a:ea typeface="黑体" panose="02010609060101010101" pitchFamily="49" charset="-122"/>
              </a:rPr>
              <a:t>为</a:t>
            </a:r>
            <a:r>
              <a:rPr lang="en-US" altLang="zh-CN" sz="2000" b="0">
                <a:solidFill>
                  <a:schemeClr val="accent1"/>
                </a:solidFill>
                <a:latin typeface="Arial" panose="020B0604020202020204" pitchFamily="34" charset="0"/>
                <a:ea typeface="黑体" panose="02010609060101010101" pitchFamily="49" charset="-122"/>
              </a:rPr>
              <a:t>1</a:t>
            </a:r>
            <a:r>
              <a:rPr lang="zh-CN" altLang="en-US" sz="2000" b="0" dirty="0">
                <a:solidFill>
                  <a:schemeClr val="accent1"/>
                </a:solidFill>
                <a:latin typeface="Arial" panose="020B0604020202020204" pitchFamily="34" charset="0"/>
                <a:ea typeface="黑体" panose="02010609060101010101" pitchFamily="49" charset="-122"/>
              </a:rPr>
              <a:t>的行</a:t>
            </a:r>
            <a:endParaRPr lang="zh-CN" altLang="en-US" sz="2000" b="0" dirty="0">
              <a:solidFill>
                <a:schemeClr val="accent1"/>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483">
                                            <p:txEl>
                                              <p:charRg st="0" end="40"/>
                                            </p:txEl>
                                          </p:spTgt>
                                        </p:tgtEl>
                                        <p:attrNameLst>
                                          <p:attrName>style.visibility</p:attrName>
                                        </p:attrNameLst>
                                      </p:cBhvr>
                                      <p:to>
                                        <p:strVal val="visible"/>
                                      </p:to>
                                    </p:set>
                                    <p:animEffect transition="in" filter="blinds(horizontal)">
                                      <p:cBhvr>
                                        <p:cTn id="7" dur="500"/>
                                        <p:tgtEl>
                                          <p:spTgt spid="276483">
                                            <p:txEl>
                                              <p:charRg st="0" end="4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76483">
                                            <p:txEl>
                                              <p:charRg st="40" end="102"/>
                                            </p:txEl>
                                          </p:spTgt>
                                        </p:tgtEl>
                                        <p:attrNameLst>
                                          <p:attrName>style.visibility</p:attrName>
                                        </p:attrNameLst>
                                      </p:cBhvr>
                                      <p:to>
                                        <p:strVal val="visible"/>
                                      </p:to>
                                    </p:set>
                                    <p:animEffect transition="in" filter="blinds(horizontal)">
                                      <p:cBhvr>
                                        <p:cTn id="10" dur="500"/>
                                        <p:tgtEl>
                                          <p:spTgt spid="276483">
                                            <p:txEl>
                                              <p:charRg st="40"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标题 278529"/>
          <p:cNvSpPr>
            <a:spLocks noGrp="1"/>
          </p:cNvSpPr>
          <p:nvPr>
            <p:ph type="title"/>
          </p:nvPr>
        </p:nvSpPr>
        <p:spPr>
          <a:xfrm>
            <a:off x="800100" y="207963"/>
            <a:ext cx="5902325" cy="422275"/>
          </a:xfrm>
          <a:ln/>
        </p:spPr>
        <p:txBody>
          <a:bodyPr vert="horz" wrap="none" lIns="63500" tIns="25400" rIns="63500" bIns="25400" anchor="t" anchorCtr="0">
            <a:spAutoFit/>
          </a:bodyPr>
          <a:p>
            <a:r>
              <a:rPr lang="en-US" altLang="zh-CN">
                <a:ea typeface="宋体" panose="02010600030101010101" pitchFamily="2" charset="-122"/>
              </a:rPr>
              <a:t>The Logic Equation for </a:t>
            </a:r>
            <a:r>
              <a:rPr lang="en-US" altLang="zh-CN" dirty="0" err="1">
                <a:ea typeface="宋体" panose="02010600030101010101" pitchFamily="2" charset="-122"/>
              </a:rPr>
              <a:t>ALUctr</a:t>
            </a:r>
            <a:r>
              <a:rPr lang="en-US" altLang="zh-CN">
                <a:ea typeface="宋体" panose="02010600030101010101" pitchFamily="2" charset="-122"/>
              </a:rPr>
              <a:t>&lt;1&gt;</a:t>
            </a:r>
            <a:endParaRPr lang="en-US" altLang="zh-CN">
              <a:ea typeface="宋体" panose="02010600030101010101" pitchFamily="2" charset="-122"/>
            </a:endParaRPr>
          </a:p>
        </p:txBody>
      </p:sp>
      <p:sp>
        <p:nvSpPr>
          <p:cNvPr id="138242" name="矩形 278530"/>
          <p:cNvSpPr/>
          <p:nvPr/>
        </p:nvSpPr>
        <p:spPr>
          <a:xfrm>
            <a:off x="2065338" y="1885950"/>
            <a:ext cx="930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ALUop</a:t>
            </a:r>
            <a:endParaRPr lang="en-US" altLang="zh-CN" sz="1800">
              <a:latin typeface="Arial" panose="020B0604020202020204" pitchFamily="34" charset="0"/>
              <a:ea typeface="宋体" panose="02010600030101010101" pitchFamily="2" charset="-122"/>
            </a:endParaRPr>
          </a:p>
        </p:txBody>
      </p:sp>
      <p:sp>
        <p:nvSpPr>
          <p:cNvPr id="138243" name="矩形 278531"/>
          <p:cNvSpPr/>
          <p:nvPr/>
        </p:nvSpPr>
        <p:spPr>
          <a:xfrm>
            <a:off x="4710113" y="1885950"/>
            <a:ext cx="6635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sp>
        <p:nvSpPr>
          <p:cNvPr id="138244" name="矩形 278532"/>
          <p:cNvSpPr/>
          <p:nvPr/>
        </p:nvSpPr>
        <p:spPr>
          <a:xfrm>
            <a:off x="1433513" y="21907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bit&lt;2</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8245" name="矩形 278533"/>
          <p:cNvSpPr/>
          <p:nvPr/>
        </p:nvSpPr>
        <p:spPr>
          <a:xfrm>
            <a:off x="2119313" y="21907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bit&lt;1</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8246" name="矩形 278534"/>
          <p:cNvSpPr/>
          <p:nvPr/>
        </p:nvSpPr>
        <p:spPr>
          <a:xfrm>
            <a:off x="2805113" y="21907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8247" name="矩形 278535"/>
          <p:cNvSpPr/>
          <p:nvPr/>
        </p:nvSpPr>
        <p:spPr>
          <a:xfrm>
            <a:off x="4329113" y="21907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bit&lt;2</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8248" name="矩形 278536"/>
          <p:cNvSpPr/>
          <p:nvPr/>
        </p:nvSpPr>
        <p:spPr>
          <a:xfrm>
            <a:off x="5014913" y="21907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bit&lt;1</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8249" name="矩形 278537"/>
          <p:cNvSpPr/>
          <p:nvPr/>
        </p:nvSpPr>
        <p:spPr>
          <a:xfrm>
            <a:off x="5700713" y="21907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8250" name="矩形 278538"/>
          <p:cNvSpPr/>
          <p:nvPr/>
        </p:nvSpPr>
        <p:spPr>
          <a:xfrm>
            <a:off x="3643313" y="21907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bit&lt;3</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8251" name="直接连接符 278539"/>
          <p:cNvSpPr/>
          <p:nvPr/>
        </p:nvSpPr>
        <p:spPr>
          <a:xfrm>
            <a:off x="3581400" y="1898650"/>
            <a:ext cx="0" cy="2108200"/>
          </a:xfrm>
          <a:prstGeom prst="line">
            <a:avLst/>
          </a:prstGeom>
          <a:ln w="25400" cap="flat" cmpd="sng">
            <a:solidFill>
              <a:schemeClr val="tx1"/>
            </a:solidFill>
            <a:prstDash val="solid"/>
            <a:round/>
            <a:headEnd type="none" w="med" len="med"/>
            <a:tailEnd type="none" w="med" len="med"/>
          </a:ln>
        </p:spPr>
      </p:sp>
      <p:sp>
        <p:nvSpPr>
          <p:cNvPr id="138252" name="直接连接符 278540"/>
          <p:cNvSpPr/>
          <p:nvPr/>
        </p:nvSpPr>
        <p:spPr>
          <a:xfrm>
            <a:off x="1460500" y="1885950"/>
            <a:ext cx="6146800" cy="0"/>
          </a:xfrm>
          <a:prstGeom prst="line">
            <a:avLst/>
          </a:prstGeom>
          <a:ln w="25400" cap="flat" cmpd="sng">
            <a:solidFill>
              <a:schemeClr val="tx1"/>
            </a:solidFill>
            <a:prstDash val="solid"/>
            <a:round/>
            <a:headEnd type="none" w="med" len="med"/>
            <a:tailEnd type="none" w="med" len="med"/>
          </a:ln>
        </p:spPr>
      </p:sp>
      <p:sp>
        <p:nvSpPr>
          <p:cNvPr id="138253" name="直接连接符 278541"/>
          <p:cNvSpPr/>
          <p:nvPr/>
        </p:nvSpPr>
        <p:spPr>
          <a:xfrm>
            <a:off x="1447800" y="1898650"/>
            <a:ext cx="0" cy="2108200"/>
          </a:xfrm>
          <a:prstGeom prst="line">
            <a:avLst/>
          </a:prstGeom>
          <a:ln w="25400" cap="flat" cmpd="sng">
            <a:solidFill>
              <a:schemeClr val="tx1"/>
            </a:solidFill>
            <a:prstDash val="solid"/>
            <a:round/>
            <a:headEnd type="none" w="med" len="med"/>
            <a:tailEnd type="none" w="med" len="med"/>
          </a:ln>
        </p:spPr>
      </p:sp>
      <p:sp>
        <p:nvSpPr>
          <p:cNvPr id="138254" name="直接连接符 278542"/>
          <p:cNvSpPr/>
          <p:nvPr/>
        </p:nvSpPr>
        <p:spPr>
          <a:xfrm>
            <a:off x="6477000" y="1898650"/>
            <a:ext cx="0" cy="2108200"/>
          </a:xfrm>
          <a:prstGeom prst="line">
            <a:avLst/>
          </a:prstGeom>
          <a:ln w="25400" cap="flat" cmpd="sng">
            <a:solidFill>
              <a:schemeClr val="tx1"/>
            </a:solidFill>
            <a:prstDash val="solid"/>
            <a:round/>
            <a:headEnd type="none" w="med" len="med"/>
            <a:tailEnd type="none" w="med" len="med"/>
          </a:ln>
        </p:spPr>
      </p:sp>
      <p:sp>
        <p:nvSpPr>
          <p:cNvPr id="138255" name="矩形 278543"/>
          <p:cNvSpPr/>
          <p:nvPr/>
        </p:nvSpPr>
        <p:spPr>
          <a:xfrm>
            <a:off x="1662113" y="24955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8256" name="直接连接符 278544"/>
          <p:cNvSpPr/>
          <p:nvPr/>
        </p:nvSpPr>
        <p:spPr>
          <a:xfrm>
            <a:off x="1460500" y="2800350"/>
            <a:ext cx="6146800" cy="0"/>
          </a:xfrm>
          <a:prstGeom prst="line">
            <a:avLst/>
          </a:prstGeom>
          <a:ln w="25400" cap="flat" cmpd="sng">
            <a:solidFill>
              <a:schemeClr val="tx1"/>
            </a:solidFill>
            <a:prstDash val="solid"/>
            <a:round/>
            <a:headEnd type="none" w="med" len="med"/>
            <a:tailEnd type="none" w="med" len="med"/>
          </a:ln>
        </p:spPr>
      </p:sp>
      <p:sp>
        <p:nvSpPr>
          <p:cNvPr id="138257" name="矩形 278545"/>
          <p:cNvSpPr/>
          <p:nvPr/>
        </p:nvSpPr>
        <p:spPr>
          <a:xfrm>
            <a:off x="2347913" y="24955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58" name="矩形 278546"/>
          <p:cNvSpPr/>
          <p:nvPr/>
        </p:nvSpPr>
        <p:spPr>
          <a:xfrm>
            <a:off x="3033713" y="24955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0</a:t>
            </a:r>
            <a:endParaRPr lang="en-US" altLang="zh-CN" sz="1800">
              <a:latin typeface="Arial" panose="020B0604020202020204" pitchFamily="34" charset="0"/>
              <a:ea typeface="宋体" panose="02010600030101010101" pitchFamily="2" charset="-122"/>
            </a:endParaRPr>
          </a:p>
        </p:txBody>
      </p:sp>
      <p:sp>
        <p:nvSpPr>
          <p:cNvPr id="138259" name="矩形 278547"/>
          <p:cNvSpPr/>
          <p:nvPr/>
        </p:nvSpPr>
        <p:spPr>
          <a:xfrm>
            <a:off x="3871913" y="24955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8260" name="矩形 278548"/>
          <p:cNvSpPr/>
          <p:nvPr/>
        </p:nvSpPr>
        <p:spPr>
          <a:xfrm>
            <a:off x="4557713" y="24955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8261" name="矩形 278549"/>
          <p:cNvSpPr/>
          <p:nvPr/>
        </p:nvSpPr>
        <p:spPr>
          <a:xfrm>
            <a:off x="5243513" y="24955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8262" name="矩形 278550"/>
          <p:cNvSpPr/>
          <p:nvPr/>
        </p:nvSpPr>
        <p:spPr>
          <a:xfrm>
            <a:off x="5929313" y="24955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8263" name="矩形 278551"/>
          <p:cNvSpPr/>
          <p:nvPr/>
        </p:nvSpPr>
        <p:spPr>
          <a:xfrm>
            <a:off x="6843713" y="24955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64" name="矩形 278552"/>
          <p:cNvSpPr/>
          <p:nvPr/>
        </p:nvSpPr>
        <p:spPr>
          <a:xfrm>
            <a:off x="6462713" y="2190750"/>
            <a:ext cx="1319212"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ALUctr</a:t>
            </a:r>
            <a:r>
              <a:rPr lang="en-US" altLang="zh-CN" sz="1800">
                <a:latin typeface="Arial" panose="020B0604020202020204" pitchFamily="34" charset="0"/>
                <a:ea typeface="宋体" panose="02010600030101010101" pitchFamily="2" charset="-122"/>
              </a:rPr>
              <a:t>&lt;1</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38265" name="直接连接符 278553"/>
          <p:cNvSpPr/>
          <p:nvPr/>
        </p:nvSpPr>
        <p:spPr>
          <a:xfrm>
            <a:off x="7620000" y="1898650"/>
            <a:ext cx="0" cy="2108200"/>
          </a:xfrm>
          <a:prstGeom prst="line">
            <a:avLst/>
          </a:prstGeom>
          <a:ln w="25400" cap="flat" cmpd="sng">
            <a:solidFill>
              <a:schemeClr val="tx1"/>
            </a:solidFill>
            <a:prstDash val="solid"/>
            <a:round/>
            <a:headEnd type="none" w="med" len="med"/>
            <a:tailEnd type="none" w="med" len="med"/>
          </a:ln>
        </p:spPr>
      </p:sp>
      <p:sp>
        <p:nvSpPr>
          <p:cNvPr id="138266" name="直接连接符 278554"/>
          <p:cNvSpPr/>
          <p:nvPr/>
        </p:nvSpPr>
        <p:spPr>
          <a:xfrm>
            <a:off x="1460500" y="2495550"/>
            <a:ext cx="6146800" cy="0"/>
          </a:xfrm>
          <a:prstGeom prst="line">
            <a:avLst/>
          </a:prstGeom>
          <a:ln w="25400" cap="flat" cmpd="sng">
            <a:solidFill>
              <a:schemeClr val="tx1"/>
            </a:solidFill>
            <a:prstDash val="solid"/>
            <a:round/>
            <a:headEnd type="none" w="med" len="med"/>
            <a:tailEnd type="none" w="med" len="med"/>
          </a:ln>
        </p:spPr>
      </p:sp>
      <p:sp>
        <p:nvSpPr>
          <p:cNvPr id="138267" name="矩形 278555"/>
          <p:cNvSpPr/>
          <p:nvPr/>
        </p:nvSpPr>
        <p:spPr>
          <a:xfrm>
            <a:off x="1662113" y="31051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68" name="矩形 278556"/>
          <p:cNvSpPr/>
          <p:nvPr/>
        </p:nvSpPr>
        <p:spPr>
          <a:xfrm>
            <a:off x="2347913" y="31051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8269" name="矩形 278557"/>
          <p:cNvSpPr/>
          <p:nvPr/>
        </p:nvSpPr>
        <p:spPr>
          <a:xfrm>
            <a:off x="3033713" y="31051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8270" name="矩形 278558"/>
          <p:cNvSpPr/>
          <p:nvPr/>
        </p:nvSpPr>
        <p:spPr>
          <a:xfrm>
            <a:off x="3871913" y="31051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8271" name="矩形 278559"/>
          <p:cNvSpPr/>
          <p:nvPr/>
        </p:nvSpPr>
        <p:spPr>
          <a:xfrm>
            <a:off x="4557713" y="31051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72" name="矩形 278560"/>
          <p:cNvSpPr/>
          <p:nvPr/>
        </p:nvSpPr>
        <p:spPr>
          <a:xfrm>
            <a:off x="5243513" y="31051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8273" name="矩形 278561"/>
          <p:cNvSpPr/>
          <p:nvPr/>
        </p:nvSpPr>
        <p:spPr>
          <a:xfrm>
            <a:off x="5929313" y="31051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8274" name="矩形 278562"/>
          <p:cNvSpPr/>
          <p:nvPr/>
        </p:nvSpPr>
        <p:spPr>
          <a:xfrm>
            <a:off x="6843713" y="31051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75" name="直接连接符 278563"/>
          <p:cNvSpPr/>
          <p:nvPr/>
        </p:nvSpPr>
        <p:spPr>
          <a:xfrm>
            <a:off x="1460500" y="3409950"/>
            <a:ext cx="6146800" cy="0"/>
          </a:xfrm>
          <a:prstGeom prst="line">
            <a:avLst/>
          </a:prstGeom>
          <a:ln w="25400" cap="flat" cmpd="sng">
            <a:solidFill>
              <a:schemeClr val="tx1"/>
            </a:solidFill>
            <a:prstDash val="solid"/>
            <a:round/>
            <a:headEnd type="none" w="med" len="med"/>
            <a:tailEnd type="none" w="med" len="med"/>
          </a:ln>
        </p:spPr>
      </p:sp>
      <p:sp>
        <p:nvSpPr>
          <p:cNvPr id="138276" name="矩形 278564"/>
          <p:cNvSpPr/>
          <p:nvPr/>
        </p:nvSpPr>
        <p:spPr>
          <a:xfrm>
            <a:off x="1662113" y="34099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77" name="矩形 278565"/>
          <p:cNvSpPr/>
          <p:nvPr/>
        </p:nvSpPr>
        <p:spPr>
          <a:xfrm>
            <a:off x="2347913" y="34099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8278" name="矩形 278566"/>
          <p:cNvSpPr/>
          <p:nvPr/>
        </p:nvSpPr>
        <p:spPr>
          <a:xfrm>
            <a:off x="3033713" y="34099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38279" name="矩形 278567"/>
          <p:cNvSpPr/>
          <p:nvPr/>
        </p:nvSpPr>
        <p:spPr>
          <a:xfrm>
            <a:off x="3871913" y="34099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8280" name="矩形 278568"/>
          <p:cNvSpPr/>
          <p:nvPr/>
        </p:nvSpPr>
        <p:spPr>
          <a:xfrm>
            <a:off x="4557713" y="34099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81" name="矩形 278569"/>
          <p:cNvSpPr/>
          <p:nvPr/>
        </p:nvSpPr>
        <p:spPr>
          <a:xfrm>
            <a:off x="5243513" y="34099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38282" name="矩形 278570"/>
          <p:cNvSpPr/>
          <p:nvPr/>
        </p:nvSpPr>
        <p:spPr>
          <a:xfrm>
            <a:off x="5929313" y="34099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83" name="矩形 278571"/>
          <p:cNvSpPr/>
          <p:nvPr/>
        </p:nvSpPr>
        <p:spPr>
          <a:xfrm>
            <a:off x="6843713" y="34099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38284" name="直接连接符 278580"/>
          <p:cNvSpPr/>
          <p:nvPr/>
        </p:nvSpPr>
        <p:spPr>
          <a:xfrm>
            <a:off x="1460500" y="4019550"/>
            <a:ext cx="6146800" cy="0"/>
          </a:xfrm>
          <a:prstGeom prst="line">
            <a:avLst/>
          </a:prstGeom>
          <a:ln w="25400" cap="flat" cmpd="sng">
            <a:solidFill>
              <a:schemeClr val="tx1"/>
            </a:solidFill>
            <a:prstDash val="solid"/>
            <a:round/>
            <a:headEnd type="none" w="med" len="med"/>
            <a:tailEnd type="none" w="med" len="med"/>
          </a:ln>
        </p:spPr>
      </p:sp>
      <p:sp>
        <p:nvSpPr>
          <p:cNvPr id="138285" name="直接连接符 278581"/>
          <p:cNvSpPr/>
          <p:nvPr/>
        </p:nvSpPr>
        <p:spPr>
          <a:xfrm>
            <a:off x="1460500" y="3105150"/>
            <a:ext cx="6146800" cy="0"/>
          </a:xfrm>
          <a:prstGeom prst="line">
            <a:avLst/>
          </a:prstGeom>
          <a:ln w="25400" cap="flat" cmpd="sng">
            <a:solidFill>
              <a:schemeClr val="tx1"/>
            </a:solidFill>
            <a:prstDash val="solid"/>
            <a:round/>
            <a:headEnd type="none" w="med" len="med"/>
            <a:tailEnd type="none" w="med" len="med"/>
          </a:ln>
        </p:spPr>
      </p:sp>
      <p:sp>
        <p:nvSpPr>
          <p:cNvPr id="138286" name="直接连接符 278582"/>
          <p:cNvSpPr/>
          <p:nvPr/>
        </p:nvSpPr>
        <p:spPr>
          <a:xfrm>
            <a:off x="1460500" y="3714750"/>
            <a:ext cx="6146800" cy="0"/>
          </a:xfrm>
          <a:prstGeom prst="line">
            <a:avLst/>
          </a:prstGeom>
          <a:ln w="25400" cap="flat" cmpd="sng">
            <a:solidFill>
              <a:schemeClr val="tx1"/>
            </a:solidFill>
            <a:prstDash val="solid"/>
            <a:round/>
            <a:headEnd type="none" w="med" len="med"/>
            <a:tailEnd type="none" w="med" len="med"/>
          </a:ln>
        </p:spPr>
      </p:sp>
      <p:sp>
        <p:nvSpPr>
          <p:cNvPr id="278584" name="内容占位符 278583"/>
          <p:cNvSpPr>
            <a:spLocks noGrp="1"/>
          </p:cNvSpPr>
          <p:nvPr>
            <p:ph idx="1"/>
          </p:nvPr>
        </p:nvSpPr>
        <p:spPr>
          <a:xfrm>
            <a:off x="419100" y="4476750"/>
            <a:ext cx="8724900" cy="696913"/>
          </a:xfrm>
          <a:ln/>
        </p:spPr>
        <p:txBody>
          <a:bodyPr vert="horz" wrap="square" lIns="63500" tIns="25400" rIns="63500" bIns="25400" anchor="t" anchorCtr="0">
            <a:spAutoFit/>
          </a:bodyPr>
          <a:p>
            <a:r>
              <a:rPr lang="en-US" altLang="zh-CN" dirty="0" err="1">
                <a:ea typeface="宋体" panose="02010600030101010101" pitchFamily="2" charset="-122"/>
              </a:rPr>
              <a:t>ALUctr</a:t>
            </a:r>
            <a:r>
              <a:rPr lang="en-US" altLang="zh-CN">
                <a:ea typeface="宋体" panose="02010600030101010101" pitchFamily="2" charset="-122"/>
              </a:rPr>
              <a:t>&lt;1&gt;  =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ALUop</a:t>
            </a:r>
            <a:r>
              <a:rPr lang="en-US" altLang="zh-CN">
                <a:ea typeface="宋体" panose="02010600030101010101" pitchFamily="2" charset="-122"/>
              </a:rPr>
              <a:t>&lt;1&gt; &amp; ! </a:t>
            </a:r>
            <a:r>
              <a:rPr lang="en-US" altLang="zh-CN" dirty="0" err="1">
                <a:ea typeface="宋体" panose="02010600030101010101" pitchFamily="2" charset="-122"/>
              </a:rPr>
              <a:t>ALUop</a:t>
            </a:r>
            <a:r>
              <a:rPr lang="en-US" altLang="zh-CN">
                <a:ea typeface="宋体" panose="02010600030101010101" pitchFamily="2" charset="-122"/>
              </a:rPr>
              <a:t>&lt;0&gt; +</a:t>
            </a:r>
            <a:endParaRPr lang="en-US" altLang="zh-CN">
              <a:ea typeface="宋体" panose="02010600030101010101" pitchFamily="2" charset="-122"/>
            </a:endParaRPr>
          </a:p>
          <a:p>
            <a:pPr lvl="1">
              <a:buNone/>
            </a:pPr>
            <a:r>
              <a:rPr lang="en-US" altLang="zh-CN">
                <a:ea typeface="宋体" panose="02010600030101010101" pitchFamily="2" charset="-122"/>
              </a:rPr>
              <a:t>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&lt;3&gt;  &amp;  </a:t>
            </a:r>
            <a:r>
              <a:rPr lang="en-US" altLang="zh-CN" dirty="0" err="1">
                <a:ea typeface="宋体" panose="02010600030101010101" pitchFamily="2" charset="-122"/>
              </a:rPr>
              <a:t>func</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&lt;1&gt;</a:t>
            </a:r>
            <a:endParaRPr lang="en-US" altLang="zh-CN">
              <a:ea typeface="宋体" panose="02010600030101010101" pitchFamily="2" charset="-122"/>
            </a:endParaRPr>
          </a:p>
        </p:txBody>
      </p:sp>
      <p:sp>
        <p:nvSpPr>
          <p:cNvPr id="138288" name="文本框 278584"/>
          <p:cNvSpPr txBox="1"/>
          <p:nvPr/>
        </p:nvSpPr>
        <p:spPr>
          <a:xfrm>
            <a:off x="1187450" y="1149350"/>
            <a:ext cx="5965825" cy="396875"/>
          </a:xfrm>
          <a:prstGeom prst="rect">
            <a:avLst/>
          </a:prstGeom>
          <a:noFill/>
          <a:ln w="50800">
            <a:noFill/>
          </a:ln>
        </p:spPr>
        <p:txBody>
          <a:bodyPr anchor="t" anchorCtr="0">
            <a:spAutoFit/>
          </a:bodyPr>
          <a:p>
            <a:pPr eaLnBrk="0" hangingPunct="0">
              <a:spcBef>
                <a:spcPct val="50000"/>
              </a:spcBef>
            </a:pPr>
            <a:r>
              <a:rPr lang="zh-CN" altLang="en-US" sz="2000" b="0" dirty="0">
                <a:solidFill>
                  <a:schemeClr val="accent1"/>
                </a:solidFill>
                <a:latin typeface="Arial" panose="020B0604020202020204" pitchFamily="34" charset="0"/>
                <a:ea typeface="黑体" panose="02010609060101010101" pitchFamily="49" charset="-122"/>
              </a:rPr>
              <a:t>从前面的真值表中，抽取出</a:t>
            </a:r>
            <a:r>
              <a:rPr lang="en-US" altLang="zh-CN" sz="2000" b="0">
                <a:solidFill>
                  <a:schemeClr val="accent1"/>
                </a:solidFill>
                <a:latin typeface="Arial" panose="020B0604020202020204" pitchFamily="34" charset="0"/>
                <a:ea typeface="黑体" panose="02010609060101010101" pitchFamily="49" charset="-122"/>
              </a:rPr>
              <a:t>ALUctr[1]</a:t>
            </a:r>
            <a:r>
              <a:rPr lang="zh-CN" altLang="en-US" sz="2000" b="0" dirty="0">
                <a:solidFill>
                  <a:schemeClr val="accent1"/>
                </a:solidFill>
                <a:latin typeface="Arial" panose="020B0604020202020204" pitchFamily="34" charset="0"/>
                <a:ea typeface="黑体" panose="02010609060101010101" pitchFamily="49" charset="-122"/>
              </a:rPr>
              <a:t>为</a:t>
            </a:r>
            <a:r>
              <a:rPr lang="en-US" altLang="zh-CN" sz="2000" b="0">
                <a:solidFill>
                  <a:schemeClr val="accent1"/>
                </a:solidFill>
                <a:latin typeface="Arial" panose="020B0604020202020204" pitchFamily="34" charset="0"/>
                <a:ea typeface="黑体" panose="02010609060101010101" pitchFamily="49" charset="-122"/>
              </a:rPr>
              <a:t>1</a:t>
            </a:r>
            <a:r>
              <a:rPr lang="zh-CN" altLang="en-US" sz="2000" b="0" dirty="0">
                <a:solidFill>
                  <a:schemeClr val="accent1"/>
                </a:solidFill>
                <a:latin typeface="Arial" panose="020B0604020202020204" pitchFamily="34" charset="0"/>
                <a:ea typeface="黑体" panose="02010609060101010101" pitchFamily="49" charset="-122"/>
              </a:rPr>
              <a:t>的行</a:t>
            </a:r>
            <a:endParaRPr lang="zh-CN" altLang="en-US" sz="2000" b="0" dirty="0">
              <a:solidFill>
                <a:schemeClr val="accent1"/>
              </a:solidFill>
              <a:latin typeface="Arial" panose="020B0604020202020204" pitchFamily="34" charset="0"/>
              <a:ea typeface="黑体" panose="02010609060101010101" pitchFamily="49" charset="-122"/>
            </a:endParaRPr>
          </a:p>
        </p:txBody>
      </p:sp>
      <p:sp>
        <p:nvSpPr>
          <p:cNvPr id="138289" name="椭圆 278586"/>
          <p:cNvSpPr/>
          <p:nvPr/>
        </p:nvSpPr>
        <p:spPr>
          <a:xfrm>
            <a:off x="5810250" y="3152775"/>
            <a:ext cx="561975" cy="533400"/>
          </a:xfrm>
          <a:prstGeom prst="ellipse">
            <a:avLst/>
          </a:prstGeom>
          <a:noFill/>
          <a:ln w="50800" cap="flat" cmpd="sng">
            <a:solidFill>
              <a:srgbClr val="FE9AAB"/>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8584">
                                            <p:txEl>
                                              <p:charRg st="0" end="52"/>
                                            </p:txEl>
                                          </p:spTgt>
                                        </p:tgtEl>
                                        <p:attrNameLst>
                                          <p:attrName>style.visibility</p:attrName>
                                        </p:attrNameLst>
                                      </p:cBhvr>
                                      <p:to>
                                        <p:strVal val="visible"/>
                                      </p:to>
                                    </p:set>
                                    <p:animEffect transition="in" filter="blinds(horizontal)">
                                      <p:cBhvr>
                                        <p:cTn id="7" dur="500"/>
                                        <p:tgtEl>
                                          <p:spTgt spid="278584">
                                            <p:txEl>
                                              <p:charRg st="0" end="5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78584">
                                            <p:txEl>
                                              <p:charRg st="52" end="113"/>
                                            </p:txEl>
                                          </p:spTgt>
                                        </p:tgtEl>
                                        <p:attrNameLst>
                                          <p:attrName>style.visibility</p:attrName>
                                        </p:attrNameLst>
                                      </p:cBhvr>
                                      <p:to>
                                        <p:strVal val="visible"/>
                                      </p:to>
                                    </p:set>
                                    <p:animEffect transition="in" filter="blinds(horizontal)">
                                      <p:cBhvr>
                                        <p:cTn id="10" dur="500"/>
                                        <p:tgtEl>
                                          <p:spTgt spid="278584">
                                            <p:txEl>
                                              <p:charRg st="52" end="1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标题 280577"/>
          <p:cNvSpPr>
            <a:spLocks noGrp="1"/>
          </p:cNvSpPr>
          <p:nvPr>
            <p:ph type="title"/>
          </p:nvPr>
        </p:nvSpPr>
        <p:spPr>
          <a:xfrm>
            <a:off x="800100" y="207963"/>
            <a:ext cx="5902325" cy="422275"/>
          </a:xfrm>
          <a:ln/>
        </p:spPr>
        <p:txBody>
          <a:bodyPr vert="horz" wrap="none" lIns="63500" tIns="25400" rIns="63500" bIns="25400" anchor="t" anchorCtr="0">
            <a:spAutoFit/>
          </a:bodyPr>
          <a:p>
            <a:r>
              <a:rPr lang="en-US" altLang="zh-CN">
                <a:ea typeface="宋体" panose="02010600030101010101" pitchFamily="2" charset="-122"/>
              </a:rPr>
              <a:t>The Logic Equation for </a:t>
            </a:r>
            <a:r>
              <a:rPr lang="en-US" altLang="zh-CN" dirty="0" err="1">
                <a:ea typeface="宋体" panose="02010600030101010101" pitchFamily="2" charset="-122"/>
              </a:rPr>
              <a:t>ALUctr</a:t>
            </a:r>
            <a:r>
              <a:rPr lang="en-US" altLang="zh-CN">
                <a:ea typeface="宋体" panose="02010600030101010101" pitchFamily="2" charset="-122"/>
              </a:rPr>
              <a:t>&lt;2&gt;</a:t>
            </a:r>
            <a:endParaRPr lang="en-US" altLang="zh-CN">
              <a:ea typeface="宋体" panose="02010600030101010101" pitchFamily="2" charset="-122"/>
            </a:endParaRPr>
          </a:p>
        </p:txBody>
      </p:sp>
      <p:sp>
        <p:nvSpPr>
          <p:cNvPr id="140290" name="矩形 280578"/>
          <p:cNvSpPr/>
          <p:nvPr/>
        </p:nvSpPr>
        <p:spPr>
          <a:xfrm>
            <a:off x="2141538" y="2000250"/>
            <a:ext cx="930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ALUop</a:t>
            </a:r>
            <a:endParaRPr lang="en-US" altLang="zh-CN" sz="1800">
              <a:latin typeface="Arial" panose="020B0604020202020204" pitchFamily="34" charset="0"/>
              <a:ea typeface="宋体" panose="02010600030101010101" pitchFamily="2" charset="-122"/>
            </a:endParaRPr>
          </a:p>
        </p:txBody>
      </p:sp>
      <p:sp>
        <p:nvSpPr>
          <p:cNvPr id="140291" name="矩形 280579"/>
          <p:cNvSpPr/>
          <p:nvPr/>
        </p:nvSpPr>
        <p:spPr>
          <a:xfrm>
            <a:off x="4786313" y="2000250"/>
            <a:ext cx="6635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sp>
        <p:nvSpPr>
          <p:cNvPr id="140292" name="矩形 280580"/>
          <p:cNvSpPr/>
          <p:nvPr/>
        </p:nvSpPr>
        <p:spPr>
          <a:xfrm>
            <a:off x="1509713" y="23050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bit&lt;2</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40293" name="矩形 280581"/>
          <p:cNvSpPr/>
          <p:nvPr/>
        </p:nvSpPr>
        <p:spPr>
          <a:xfrm>
            <a:off x="2195513" y="23050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bit&lt;1</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40294" name="矩形 280582"/>
          <p:cNvSpPr/>
          <p:nvPr/>
        </p:nvSpPr>
        <p:spPr>
          <a:xfrm>
            <a:off x="2881313" y="23050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40295" name="矩形 280583"/>
          <p:cNvSpPr/>
          <p:nvPr/>
        </p:nvSpPr>
        <p:spPr>
          <a:xfrm>
            <a:off x="4405313" y="23050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bit&lt;2</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40296" name="矩形 280584"/>
          <p:cNvSpPr/>
          <p:nvPr/>
        </p:nvSpPr>
        <p:spPr>
          <a:xfrm>
            <a:off x="5091113" y="23050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bit&lt;1</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40297" name="矩形 280585"/>
          <p:cNvSpPr/>
          <p:nvPr/>
        </p:nvSpPr>
        <p:spPr>
          <a:xfrm>
            <a:off x="5776913" y="23050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bit&lt;0</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40298" name="矩形 280586"/>
          <p:cNvSpPr/>
          <p:nvPr/>
        </p:nvSpPr>
        <p:spPr>
          <a:xfrm>
            <a:off x="3719513" y="2305050"/>
            <a:ext cx="836612"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bit&lt;3</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40299" name="直接连接符 280587"/>
          <p:cNvSpPr/>
          <p:nvPr/>
        </p:nvSpPr>
        <p:spPr>
          <a:xfrm>
            <a:off x="3657600" y="2012950"/>
            <a:ext cx="0" cy="1498600"/>
          </a:xfrm>
          <a:prstGeom prst="line">
            <a:avLst/>
          </a:prstGeom>
          <a:ln w="25400" cap="flat" cmpd="sng">
            <a:solidFill>
              <a:schemeClr val="tx1"/>
            </a:solidFill>
            <a:prstDash val="solid"/>
            <a:round/>
            <a:headEnd type="none" w="med" len="med"/>
            <a:tailEnd type="none" w="med" len="med"/>
          </a:ln>
        </p:spPr>
      </p:sp>
      <p:sp>
        <p:nvSpPr>
          <p:cNvPr id="140300" name="直接连接符 280588"/>
          <p:cNvSpPr/>
          <p:nvPr/>
        </p:nvSpPr>
        <p:spPr>
          <a:xfrm>
            <a:off x="1536700" y="2000250"/>
            <a:ext cx="6146800" cy="0"/>
          </a:xfrm>
          <a:prstGeom prst="line">
            <a:avLst/>
          </a:prstGeom>
          <a:ln w="25400" cap="flat" cmpd="sng">
            <a:solidFill>
              <a:schemeClr val="tx1"/>
            </a:solidFill>
            <a:prstDash val="solid"/>
            <a:round/>
            <a:headEnd type="none" w="med" len="med"/>
            <a:tailEnd type="none" w="med" len="med"/>
          </a:ln>
        </p:spPr>
      </p:sp>
      <p:sp>
        <p:nvSpPr>
          <p:cNvPr id="140301" name="直接连接符 280589"/>
          <p:cNvSpPr/>
          <p:nvPr/>
        </p:nvSpPr>
        <p:spPr>
          <a:xfrm>
            <a:off x="1524000" y="2012950"/>
            <a:ext cx="0" cy="1498600"/>
          </a:xfrm>
          <a:prstGeom prst="line">
            <a:avLst/>
          </a:prstGeom>
          <a:ln w="25400" cap="flat" cmpd="sng">
            <a:solidFill>
              <a:schemeClr val="tx1"/>
            </a:solidFill>
            <a:prstDash val="solid"/>
            <a:round/>
            <a:headEnd type="none" w="med" len="med"/>
            <a:tailEnd type="none" w="med" len="med"/>
          </a:ln>
        </p:spPr>
      </p:sp>
      <p:sp>
        <p:nvSpPr>
          <p:cNvPr id="140302" name="直接连接符 280590"/>
          <p:cNvSpPr/>
          <p:nvPr/>
        </p:nvSpPr>
        <p:spPr>
          <a:xfrm>
            <a:off x="6553200" y="2012950"/>
            <a:ext cx="0" cy="1498600"/>
          </a:xfrm>
          <a:prstGeom prst="line">
            <a:avLst/>
          </a:prstGeom>
          <a:ln w="25400" cap="flat" cmpd="sng">
            <a:solidFill>
              <a:schemeClr val="tx1"/>
            </a:solidFill>
            <a:prstDash val="solid"/>
            <a:round/>
            <a:headEnd type="none" w="med" len="med"/>
            <a:tailEnd type="none" w="med" len="med"/>
          </a:ln>
        </p:spPr>
      </p:sp>
      <p:sp>
        <p:nvSpPr>
          <p:cNvPr id="140303" name="矩形 280591"/>
          <p:cNvSpPr/>
          <p:nvPr/>
        </p:nvSpPr>
        <p:spPr>
          <a:xfrm>
            <a:off x="6538913" y="2305050"/>
            <a:ext cx="1319212"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ALUctr</a:t>
            </a:r>
            <a:r>
              <a:rPr lang="en-US" altLang="zh-CN" sz="1800">
                <a:latin typeface="Arial" panose="020B0604020202020204" pitchFamily="34" charset="0"/>
                <a:ea typeface="宋体" panose="02010600030101010101" pitchFamily="2" charset="-122"/>
              </a:rPr>
              <a:t>&lt;2</a:t>
            </a:r>
            <a:r>
              <a:rPr lang="en-US" altLang="zh-CN">
                <a:latin typeface="Times New Roman" panose="02020603050405020304" pitchFamily="18" charset="0"/>
                <a:ea typeface="宋体" panose="02010600030101010101" pitchFamily="2" charset="-122"/>
              </a:rPr>
              <a:t>&gt;</a:t>
            </a:r>
            <a:endParaRPr lang="en-US" altLang="zh-CN">
              <a:latin typeface="Times New Roman" panose="02020603050405020304" pitchFamily="18" charset="0"/>
              <a:ea typeface="宋体" panose="02010600030101010101" pitchFamily="2" charset="-122"/>
            </a:endParaRPr>
          </a:p>
        </p:txBody>
      </p:sp>
      <p:sp>
        <p:nvSpPr>
          <p:cNvPr id="140304" name="直接连接符 280592"/>
          <p:cNvSpPr/>
          <p:nvPr/>
        </p:nvSpPr>
        <p:spPr>
          <a:xfrm>
            <a:off x="7696200" y="2012950"/>
            <a:ext cx="0" cy="1498600"/>
          </a:xfrm>
          <a:prstGeom prst="line">
            <a:avLst/>
          </a:prstGeom>
          <a:ln w="25400" cap="flat" cmpd="sng">
            <a:solidFill>
              <a:schemeClr val="tx1"/>
            </a:solidFill>
            <a:prstDash val="solid"/>
            <a:round/>
            <a:headEnd type="none" w="med" len="med"/>
            <a:tailEnd type="none" w="med" len="med"/>
          </a:ln>
        </p:spPr>
      </p:sp>
      <p:sp>
        <p:nvSpPr>
          <p:cNvPr id="140305" name="矩形 280593"/>
          <p:cNvSpPr/>
          <p:nvPr/>
        </p:nvSpPr>
        <p:spPr>
          <a:xfrm>
            <a:off x="1738313" y="26098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0306" name="矩形 280594"/>
          <p:cNvSpPr/>
          <p:nvPr/>
        </p:nvSpPr>
        <p:spPr>
          <a:xfrm>
            <a:off x="2424113" y="26098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0307" name="矩形 280595"/>
          <p:cNvSpPr/>
          <p:nvPr/>
        </p:nvSpPr>
        <p:spPr>
          <a:xfrm>
            <a:off x="3109913" y="26098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0</a:t>
            </a:r>
            <a:endParaRPr lang="en-US" altLang="zh-CN" sz="1800">
              <a:latin typeface="Arial" panose="020B0604020202020204" pitchFamily="34" charset="0"/>
              <a:ea typeface="宋体" panose="02010600030101010101" pitchFamily="2" charset="-122"/>
            </a:endParaRPr>
          </a:p>
        </p:txBody>
      </p:sp>
      <p:sp>
        <p:nvSpPr>
          <p:cNvPr id="140308" name="矩形 280596"/>
          <p:cNvSpPr/>
          <p:nvPr/>
        </p:nvSpPr>
        <p:spPr>
          <a:xfrm>
            <a:off x="3948113" y="26098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0309" name="矩形 280597"/>
          <p:cNvSpPr/>
          <p:nvPr/>
        </p:nvSpPr>
        <p:spPr>
          <a:xfrm>
            <a:off x="4633913" y="26098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0310" name="矩形 280598"/>
          <p:cNvSpPr/>
          <p:nvPr/>
        </p:nvSpPr>
        <p:spPr>
          <a:xfrm>
            <a:off x="5319713" y="26098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0311" name="矩形 280599"/>
          <p:cNvSpPr/>
          <p:nvPr/>
        </p:nvSpPr>
        <p:spPr>
          <a:xfrm>
            <a:off x="6005513" y="26098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0312" name="矩形 280600"/>
          <p:cNvSpPr/>
          <p:nvPr/>
        </p:nvSpPr>
        <p:spPr>
          <a:xfrm>
            <a:off x="6919913" y="26098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0313" name="直接连接符 280601"/>
          <p:cNvSpPr/>
          <p:nvPr/>
        </p:nvSpPr>
        <p:spPr>
          <a:xfrm>
            <a:off x="1536700" y="2914650"/>
            <a:ext cx="6146800" cy="0"/>
          </a:xfrm>
          <a:prstGeom prst="line">
            <a:avLst/>
          </a:prstGeom>
          <a:ln w="25400" cap="flat" cmpd="sng">
            <a:solidFill>
              <a:schemeClr val="tx1"/>
            </a:solidFill>
            <a:prstDash val="solid"/>
            <a:round/>
            <a:headEnd type="none" w="med" len="med"/>
            <a:tailEnd type="none" w="med" len="med"/>
          </a:ln>
        </p:spPr>
      </p:sp>
      <p:sp>
        <p:nvSpPr>
          <p:cNvPr id="140314" name="矩形 280602"/>
          <p:cNvSpPr/>
          <p:nvPr/>
        </p:nvSpPr>
        <p:spPr>
          <a:xfrm>
            <a:off x="1738313" y="2914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0315" name="矩形 280603"/>
          <p:cNvSpPr/>
          <p:nvPr/>
        </p:nvSpPr>
        <p:spPr>
          <a:xfrm>
            <a:off x="2424113" y="29146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0316" name="矩形 280604"/>
          <p:cNvSpPr/>
          <p:nvPr/>
        </p:nvSpPr>
        <p:spPr>
          <a:xfrm>
            <a:off x="3109913" y="291465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0317" name="矩形 280605"/>
          <p:cNvSpPr/>
          <p:nvPr/>
        </p:nvSpPr>
        <p:spPr>
          <a:xfrm>
            <a:off x="3948113" y="2914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0318" name="矩形 280606"/>
          <p:cNvSpPr/>
          <p:nvPr/>
        </p:nvSpPr>
        <p:spPr>
          <a:xfrm>
            <a:off x="4633913" y="2914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0319" name="矩形 280607"/>
          <p:cNvSpPr/>
          <p:nvPr/>
        </p:nvSpPr>
        <p:spPr>
          <a:xfrm>
            <a:off x="5319713" y="2914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0320" name="矩形 280608"/>
          <p:cNvSpPr/>
          <p:nvPr/>
        </p:nvSpPr>
        <p:spPr>
          <a:xfrm>
            <a:off x="6005513" y="2914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0321" name="矩形 280609"/>
          <p:cNvSpPr/>
          <p:nvPr/>
        </p:nvSpPr>
        <p:spPr>
          <a:xfrm>
            <a:off x="6919913" y="291465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0322" name="直接连接符 280610"/>
          <p:cNvSpPr/>
          <p:nvPr/>
        </p:nvSpPr>
        <p:spPr>
          <a:xfrm>
            <a:off x="1536700" y="3219450"/>
            <a:ext cx="6146800" cy="0"/>
          </a:xfrm>
          <a:prstGeom prst="line">
            <a:avLst/>
          </a:prstGeom>
          <a:ln w="25400" cap="flat" cmpd="sng">
            <a:solidFill>
              <a:schemeClr val="tx1"/>
            </a:solidFill>
            <a:prstDash val="solid"/>
            <a:round/>
            <a:headEnd type="none" w="med" len="med"/>
            <a:tailEnd type="none" w="med" len="med"/>
          </a:ln>
        </p:spPr>
      </p:sp>
      <p:sp>
        <p:nvSpPr>
          <p:cNvPr id="140323" name="直接连接符 280619"/>
          <p:cNvSpPr/>
          <p:nvPr/>
        </p:nvSpPr>
        <p:spPr>
          <a:xfrm>
            <a:off x="1536700" y="3524250"/>
            <a:ext cx="6146800" cy="0"/>
          </a:xfrm>
          <a:prstGeom prst="line">
            <a:avLst/>
          </a:prstGeom>
          <a:ln w="25400" cap="flat" cmpd="sng">
            <a:solidFill>
              <a:schemeClr val="tx1"/>
            </a:solidFill>
            <a:prstDash val="solid"/>
            <a:round/>
            <a:headEnd type="none" w="med" len="med"/>
            <a:tailEnd type="none" w="med" len="med"/>
          </a:ln>
        </p:spPr>
      </p:sp>
      <p:sp>
        <p:nvSpPr>
          <p:cNvPr id="140324" name="直接连接符 280620"/>
          <p:cNvSpPr/>
          <p:nvPr/>
        </p:nvSpPr>
        <p:spPr>
          <a:xfrm>
            <a:off x="1536700" y="2609850"/>
            <a:ext cx="6146800" cy="0"/>
          </a:xfrm>
          <a:prstGeom prst="line">
            <a:avLst/>
          </a:prstGeom>
          <a:ln w="25400" cap="flat" cmpd="sng">
            <a:solidFill>
              <a:schemeClr val="tx1"/>
            </a:solidFill>
            <a:prstDash val="solid"/>
            <a:round/>
            <a:headEnd type="none" w="med" len="med"/>
            <a:tailEnd type="none" w="med" len="med"/>
          </a:ln>
        </p:spPr>
      </p:sp>
      <p:sp>
        <p:nvSpPr>
          <p:cNvPr id="280622" name="内容占位符 280621"/>
          <p:cNvSpPr>
            <a:spLocks noGrp="1"/>
          </p:cNvSpPr>
          <p:nvPr>
            <p:ph idx="1"/>
          </p:nvPr>
        </p:nvSpPr>
        <p:spPr>
          <a:xfrm>
            <a:off x="342900" y="4210050"/>
            <a:ext cx="8191500" cy="1068388"/>
          </a:xfrm>
          <a:ln/>
        </p:spPr>
        <p:txBody>
          <a:bodyPr vert="horz" wrap="square" lIns="63500" tIns="25400" rIns="63500" bIns="25400" anchor="t" anchorCtr="0">
            <a:spAutoFit/>
          </a:bodyPr>
          <a:p>
            <a:r>
              <a:rPr lang="en-US" altLang="zh-CN" dirty="0" err="1">
                <a:ea typeface="宋体" panose="02010600030101010101" pitchFamily="2" charset="-122"/>
              </a:rPr>
              <a:t>ALUctr</a:t>
            </a:r>
            <a:r>
              <a:rPr lang="en-US" altLang="zh-CN">
                <a:ea typeface="宋体" panose="02010600030101010101" pitchFamily="2" charset="-122"/>
              </a:rPr>
              <a:t>&lt;2&gt;  =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ALUop</a:t>
            </a:r>
            <a:r>
              <a:rPr lang="en-US" altLang="zh-CN">
                <a:ea typeface="宋体" panose="02010600030101010101" pitchFamily="2" charset="-122"/>
              </a:rPr>
              <a:t>&lt;1&gt; &amp; !</a:t>
            </a:r>
            <a:r>
              <a:rPr lang="en-US" altLang="zh-CN" dirty="0" err="1">
                <a:ea typeface="宋体" panose="02010600030101010101" pitchFamily="2" charset="-122"/>
              </a:rPr>
              <a:t>ALUop</a:t>
            </a:r>
            <a:r>
              <a:rPr lang="en-US" altLang="zh-CN">
                <a:ea typeface="宋体" panose="02010600030101010101" pitchFamily="2" charset="-122"/>
              </a:rPr>
              <a:t>&lt;0&gt; </a:t>
            </a:r>
            <a:endParaRPr lang="en-US" altLang="zh-CN">
              <a:ea typeface="宋体" panose="02010600030101010101" pitchFamily="2" charset="-122"/>
            </a:endParaRPr>
          </a:p>
          <a:p>
            <a:pPr lvl="1">
              <a:buNone/>
            </a:pPr>
            <a:r>
              <a:rPr lang="en-US" altLang="zh-CN">
                <a:ea typeface="宋体" panose="02010600030101010101" pitchFamily="2" charset="-122"/>
              </a:rPr>
              <a:t>		     +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&lt;3&gt;  &amp;  </a:t>
            </a:r>
            <a:r>
              <a:rPr lang="en-US" altLang="zh-CN" dirty="0" err="1">
                <a:ea typeface="宋体" panose="02010600030101010101" pitchFamily="2" charset="-122"/>
              </a:rPr>
              <a:t>func</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&lt;1&gt;  &amp;  </a:t>
            </a:r>
            <a:r>
              <a:rPr lang="en-US" altLang="zh-CN" dirty="0" err="1">
                <a:ea typeface="宋体" panose="02010600030101010101" pitchFamily="2" charset="-122"/>
              </a:rPr>
              <a:t>func</a:t>
            </a:r>
            <a:r>
              <a:rPr lang="en-US" altLang="zh-CN">
                <a:ea typeface="宋体" panose="02010600030101010101" pitchFamily="2" charset="-122"/>
              </a:rPr>
              <a:t>&lt;0&gt;</a:t>
            </a:r>
            <a:endParaRPr lang="en-US" altLang="zh-CN">
              <a:ea typeface="宋体" panose="02010600030101010101" pitchFamily="2" charset="-122"/>
            </a:endParaRPr>
          </a:p>
          <a:p>
            <a:pPr lvl="1">
              <a:buNone/>
            </a:pPr>
            <a:r>
              <a:rPr lang="en-US" altLang="zh-CN">
                <a:ea typeface="宋体" panose="02010600030101010101" pitchFamily="2" charset="-122"/>
              </a:rPr>
              <a:t>		     </a:t>
            </a:r>
            <a:endParaRPr lang="en-US" altLang="zh-CN">
              <a:ea typeface="宋体" panose="02010600030101010101" pitchFamily="2" charset="-122"/>
            </a:endParaRPr>
          </a:p>
        </p:txBody>
      </p:sp>
      <p:sp>
        <p:nvSpPr>
          <p:cNvPr id="140326" name="文本框 280622"/>
          <p:cNvSpPr txBox="1"/>
          <p:nvPr/>
        </p:nvSpPr>
        <p:spPr>
          <a:xfrm>
            <a:off x="869950" y="958850"/>
            <a:ext cx="5965825" cy="396875"/>
          </a:xfrm>
          <a:prstGeom prst="rect">
            <a:avLst/>
          </a:prstGeom>
          <a:noFill/>
          <a:ln w="50800">
            <a:noFill/>
          </a:ln>
        </p:spPr>
        <p:txBody>
          <a:bodyPr anchor="t" anchorCtr="0">
            <a:spAutoFit/>
          </a:bodyPr>
          <a:p>
            <a:pPr eaLnBrk="0" hangingPunct="0">
              <a:spcBef>
                <a:spcPct val="50000"/>
              </a:spcBef>
            </a:pPr>
            <a:r>
              <a:rPr lang="zh-CN" altLang="en-US" sz="2000" b="0" dirty="0">
                <a:solidFill>
                  <a:schemeClr val="accent1"/>
                </a:solidFill>
                <a:latin typeface="Arial" panose="020B0604020202020204" pitchFamily="34" charset="0"/>
                <a:ea typeface="黑体" panose="02010609060101010101" pitchFamily="49" charset="-122"/>
              </a:rPr>
              <a:t>从前面的真值表中，抽取出</a:t>
            </a:r>
            <a:r>
              <a:rPr lang="en-US" altLang="zh-CN" sz="2000" b="0">
                <a:solidFill>
                  <a:schemeClr val="accent1"/>
                </a:solidFill>
                <a:latin typeface="Arial" panose="020B0604020202020204" pitchFamily="34" charset="0"/>
                <a:ea typeface="黑体" panose="02010609060101010101" pitchFamily="49" charset="-122"/>
              </a:rPr>
              <a:t>ALUctr[2]</a:t>
            </a:r>
            <a:r>
              <a:rPr lang="zh-CN" altLang="en-US" sz="2000" b="0" dirty="0">
                <a:solidFill>
                  <a:schemeClr val="accent1"/>
                </a:solidFill>
                <a:latin typeface="Arial" panose="020B0604020202020204" pitchFamily="34" charset="0"/>
                <a:ea typeface="黑体" panose="02010609060101010101" pitchFamily="49" charset="-122"/>
              </a:rPr>
              <a:t>为</a:t>
            </a:r>
            <a:r>
              <a:rPr lang="en-US" altLang="zh-CN" sz="2000" b="0">
                <a:solidFill>
                  <a:schemeClr val="accent1"/>
                </a:solidFill>
                <a:latin typeface="Arial" panose="020B0604020202020204" pitchFamily="34" charset="0"/>
                <a:ea typeface="黑体" panose="02010609060101010101" pitchFamily="49" charset="-122"/>
              </a:rPr>
              <a:t>1</a:t>
            </a:r>
            <a:r>
              <a:rPr lang="zh-CN" altLang="en-US" sz="2000" b="0" dirty="0">
                <a:solidFill>
                  <a:schemeClr val="accent1"/>
                </a:solidFill>
                <a:latin typeface="Arial" panose="020B0604020202020204" pitchFamily="34" charset="0"/>
                <a:ea typeface="黑体" panose="02010609060101010101" pitchFamily="49" charset="-122"/>
              </a:rPr>
              <a:t>的行</a:t>
            </a:r>
            <a:endParaRPr lang="zh-CN" altLang="en-US" sz="2000" b="0" dirty="0">
              <a:solidFill>
                <a:schemeClr val="accent1"/>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0622">
                                            <p:txEl>
                                              <p:charRg st="0" end="48"/>
                                            </p:txEl>
                                          </p:spTgt>
                                        </p:tgtEl>
                                        <p:attrNameLst>
                                          <p:attrName>style.visibility</p:attrName>
                                        </p:attrNameLst>
                                      </p:cBhvr>
                                      <p:to>
                                        <p:strVal val="visible"/>
                                      </p:to>
                                    </p:set>
                                    <p:animEffect transition="in" filter="blinds(horizontal)">
                                      <p:cBhvr>
                                        <p:cTn id="7" dur="500"/>
                                        <p:tgtEl>
                                          <p:spTgt spid="280622">
                                            <p:txEl>
                                              <p:charRg st="0" end="48"/>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0622">
                                            <p:txEl>
                                              <p:charRg st="48" end="117"/>
                                            </p:txEl>
                                          </p:spTgt>
                                        </p:tgtEl>
                                        <p:attrNameLst>
                                          <p:attrName>style.visibility</p:attrName>
                                        </p:attrNameLst>
                                      </p:cBhvr>
                                      <p:to>
                                        <p:strVal val="visible"/>
                                      </p:to>
                                    </p:set>
                                    <p:animEffect transition="in" filter="blinds(horizontal)">
                                      <p:cBhvr>
                                        <p:cTn id="10" dur="500"/>
                                        <p:tgtEl>
                                          <p:spTgt spid="280622">
                                            <p:txEl>
                                              <p:charRg st="48" end="117"/>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80622">
                                            <p:txEl>
                                              <p:charRg st="117" end="125"/>
                                            </p:txEl>
                                          </p:spTgt>
                                        </p:tgtEl>
                                        <p:attrNameLst>
                                          <p:attrName>style.visibility</p:attrName>
                                        </p:attrNameLst>
                                      </p:cBhvr>
                                      <p:to>
                                        <p:strVal val="visible"/>
                                      </p:to>
                                    </p:set>
                                    <p:animEffect transition="in" filter="blinds(horizontal)">
                                      <p:cBhvr>
                                        <p:cTn id="13" dur="500"/>
                                        <p:tgtEl>
                                          <p:spTgt spid="280622">
                                            <p:txEl>
                                              <p:charRg st="117" end="1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622"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标题 282625"/>
          <p:cNvSpPr>
            <a:spLocks noGrp="1"/>
          </p:cNvSpPr>
          <p:nvPr>
            <p:ph type="title"/>
          </p:nvPr>
        </p:nvSpPr>
        <p:spPr>
          <a:xfrm>
            <a:off x="444500" y="203200"/>
            <a:ext cx="5767388" cy="531813"/>
          </a:xfrm>
          <a:ln/>
        </p:spPr>
        <p:txBody>
          <a:bodyPr vert="horz" wrap="square" lIns="63500" tIns="25400" rIns="63500" bIns="25400" anchor="t" anchorCtr="0">
            <a:spAutoFit/>
          </a:bodyPr>
          <a:p>
            <a:r>
              <a:rPr lang="zh-CN" altLang="en-US" dirty="0">
                <a:ea typeface="宋体" panose="02010600030101010101" pitchFamily="2" charset="-122"/>
              </a:rPr>
              <a:t>局部</a:t>
            </a:r>
            <a:r>
              <a:rPr lang="en-US" altLang="zh-CN">
                <a:ea typeface="宋体" panose="02010600030101010101" pitchFamily="2" charset="-122"/>
              </a:rPr>
              <a:t>ALU</a:t>
            </a:r>
            <a:r>
              <a:rPr lang="zh-CN" altLang="en-US" dirty="0">
                <a:ea typeface="宋体" panose="02010600030101010101" pitchFamily="2" charset="-122"/>
              </a:rPr>
              <a:t>控制单元逻辑</a:t>
            </a:r>
            <a:endParaRPr lang="zh-CN" altLang="en-US" dirty="0">
              <a:ea typeface="宋体" panose="02010600030101010101" pitchFamily="2" charset="-122"/>
            </a:endParaRPr>
          </a:p>
        </p:txBody>
      </p:sp>
      <p:grpSp>
        <p:nvGrpSpPr>
          <p:cNvPr id="142338" name="组合 282626"/>
          <p:cNvGrpSpPr/>
          <p:nvPr/>
        </p:nvGrpSpPr>
        <p:grpSpPr>
          <a:xfrm>
            <a:off x="2652713" y="876300"/>
            <a:ext cx="3379787" cy="1387475"/>
            <a:chOff x="1671" y="576"/>
            <a:chExt cx="2129" cy="715"/>
          </a:xfrm>
        </p:grpSpPr>
        <p:grpSp>
          <p:nvGrpSpPr>
            <p:cNvPr id="142339" name="组合 282627"/>
            <p:cNvGrpSpPr/>
            <p:nvPr/>
          </p:nvGrpSpPr>
          <p:grpSpPr>
            <a:xfrm>
              <a:off x="2397" y="680"/>
              <a:ext cx="626" cy="560"/>
              <a:chOff x="2397" y="680"/>
              <a:chExt cx="626" cy="560"/>
            </a:xfrm>
          </p:grpSpPr>
          <p:sp>
            <p:nvSpPr>
              <p:cNvPr id="142340" name="矩形 282628"/>
              <p:cNvSpPr/>
              <p:nvPr/>
            </p:nvSpPr>
            <p:spPr>
              <a:xfrm>
                <a:off x="2408" y="680"/>
                <a:ext cx="608" cy="56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2341" name="矩形 282629"/>
              <p:cNvSpPr/>
              <p:nvPr/>
            </p:nvSpPr>
            <p:spPr>
              <a:xfrm>
                <a:off x="2397" y="720"/>
                <a:ext cx="626" cy="470"/>
              </a:xfrm>
              <a:prstGeom prst="rect">
                <a:avLst/>
              </a:prstGeom>
              <a:noFill/>
              <a:ln w="12700">
                <a:noFill/>
              </a:ln>
            </p:spPr>
            <p:txBody>
              <a:bodyPr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Control</a:t>
                </a:r>
                <a:endParaRPr lang="en-US" altLang="zh-CN" sz="1800">
                  <a:latin typeface="Arial" panose="020B0604020202020204" pitchFamily="34" charset="0"/>
                  <a:ea typeface="宋体" panose="02010600030101010101" pitchFamily="2" charset="-122"/>
                </a:endParaRPr>
              </a:p>
              <a:p>
                <a:pPr algn="ctr" eaLnBrk="0" hangingPunct="0"/>
                <a:r>
                  <a:rPr lang="en-US" altLang="zh-CN">
                    <a:latin typeface="Times New Roman" panose="02020603050405020304" pitchFamily="18" charset="0"/>
                    <a:ea typeface="宋体" panose="02010600030101010101" pitchFamily="2" charset="-122"/>
                  </a:rPr>
                  <a:t>(</a:t>
                </a:r>
                <a:r>
                  <a:rPr lang="en-US" altLang="zh-CN" sz="1800">
                    <a:latin typeface="Arial" panose="020B0604020202020204" pitchFamily="34" charset="0"/>
                    <a:ea typeface="宋体" panose="02010600030101010101" pitchFamily="2" charset="-122"/>
                  </a:rPr>
                  <a:t>Local</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pSp>
        <p:sp>
          <p:nvSpPr>
            <p:cNvPr id="142342" name="直接连接符 282630"/>
            <p:cNvSpPr/>
            <p:nvPr/>
          </p:nvSpPr>
          <p:spPr>
            <a:xfrm>
              <a:off x="1736" y="1104"/>
              <a:ext cx="656" cy="0"/>
            </a:xfrm>
            <a:prstGeom prst="line">
              <a:avLst/>
            </a:prstGeom>
            <a:ln w="25400" cap="flat" cmpd="sng">
              <a:solidFill>
                <a:schemeClr val="tx1"/>
              </a:solidFill>
              <a:prstDash val="solid"/>
              <a:round/>
              <a:headEnd type="none" w="med" len="med"/>
              <a:tailEnd type="triangle" w="med" len="med"/>
            </a:ln>
          </p:spPr>
        </p:sp>
        <p:sp>
          <p:nvSpPr>
            <p:cNvPr id="142343" name="直接连接符 282631"/>
            <p:cNvSpPr/>
            <p:nvPr/>
          </p:nvSpPr>
          <p:spPr>
            <a:xfrm flipH="1">
              <a:off x="2060" y="1012"/>
              <a:ext cx="104" cy="184"/>
            </a:xfrm>
            <a:prstGeom prst="line">
              <a:avLst/>
            </a:prstGeom>
            <a:ln w="12700" cap="flat" cmpd="sng">
              <a:solidFill>
                <a:schemeClr val="tx1"/>
              </a:solidFill>
              <a:prstDash val="solid"/>
              <a:round/>
              <a:headEnd type="none" w="med" len="med"/>
              <a:tailEnd type="none" w="med" len="med"/>
            </a:ln>
          </p:spPr>
        </p:sp>
        <p:sp>
          <p:nvSpPr>
            <p:cNvPr id="142344" name="矩形 282632"/>
            <p:cNvSpPr/>
            <p:nvPr/>
          </p:nvSpPr>
          <p:spPr>
            <a:xfrm>
              <a:off x="1815" y="576"/>
              <a:ext cx="418" cy="18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sp>
          <p:nvSpPr>
            <p:cNvPr id="142345" name="矩形 282633"/>
            <p:cNvSpPr/>
            <p:nvPr/>
          </p:nvSpPr>
          <p:spPr>
            <a:xfrm>
              <a:off x="1911" y="1104"/>
              <a:ext cx="194" cy="18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a:t>
              </a:r>
              <a:endParaRPr lang="zh-CN" altLang="en-US" sz="1800" dirty="0">
                <a:latin typeface="Arial" panose="020B0604020202020204" pitchFamily="34" charset="0"/>
                <a:ea typeface="宋体" panose="02010600030101010101" pitchFamily="2" charset="-122"/>
              </a:endParaRPr>
            </a:p>
          </p:txBody>
        </p:sp>
        <p:sp>
          <p:nvSpPr>
            <p:cNvPr id="142346" name="直接连接符 282634"/>
            <p:cNvSpPr/>
            <p:nvPr/>
          </p:nvSpPr>
          <p:spPr>
            <a:xfrm flipH="1">
              <a:off x="2060" y="676"/>
              <a:ext cx="104" cy="184"/>
            </a:xfrm>
            <a:prstGeom prst="line">
              <a:avLst/>
            </a:prstGeom>
            <a:ln w="12700" cap="flat" cmpd="sng">
              <a:solidFill>
                <a:schemeClr val="tx1"/>
              </a:solidFill>
              <a:prstDash val="solid"/>
              <a:round/>
              <a:headEnd type="none" w="med" len="med"/>
              <a:tailEnd type="none" w="med" len="med"/>
            </a:ln>
          </p:spPr>
        </p:sp>
        <p:sp>
          <p:nvSpPr>
            <p:cNvPr id="142347" name="矩形 282635"/>
            <p:cNvSpPr/>
            <p:nvPr/>
          </p:nvSpPr>
          <p:spPr>
            <a:xfrm>
              <a:off x="1911" y="768"/>
              <a:ext cx="194" cy="18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142348" name="矩形 282636"/>
            <p:cNvSpPr/>
            <p:nvPr/>
          </p:nvSpPr>
          <p:spPr>
            <a:xfrm>
              <a:off x="1671" y="912"/>
              <a:ext cx="586" cy="18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ALUop</a:t>
              </a:r>
              <a:endParaRPr lang="en-US" altLang="zh-CN" sz="1800">
                <a:latin typeface="Arial" panose="020B0604020202020204" pitchFamily="34" charset="0"/>
                <a:ea typeface="宋体" panose="02010600030101010101" pitchFamily="2" charset="-122"/>
              </a:endParaRPr>
            </a:p>
          </p:txBody>
        </p:sp>
        <p:sp>
          <p:nvSpPr>
            <p:cNvPr id="142349" name="直接连接符 282637"/>
            <p:cNvSpPr/>
            <p:nvPr/>
          </p:nvSpPr>
          <p:spPr>
            <a:xfrm flipH="1">
              <a:off x="1864" y="768"/>
              <a:ext cx="544" cy="0"/>
            </a:xfrm>
            <a:prstGeom prst="line">
              <a:avLst/>
            </a:prstGeom>
            <a:ln w="25400" cap="flat" cmpd="sng">
              <a:solidFill>
                <a:schemeClr val="tx1"/>
              </a:solidFill>
              <a:prstDash val="solid"/>
              <a:round/>
              <a:headEnd type="triangle" w="med" len="med"/>
              <a:tailEnd type="none" w="med" len="med"/>
            </a:ln>
          </p:spPr>
        </p:sp>
        <p:sp>
          <p:nvSpPr>
            <p:cNvPr id="142350" name="矩形 282638"/>
            <p:cNvSpPr/>
            <p:nvPr/>
          </p:nvSpPr>
          <p:spPr>
            <a:xfrm>
              <a:off x="3015" y="768"/>
              <a:ext cx="594" cy="18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ALUctr</a:t>
              </a:r>
              <a:endParaRPr lang="en-US" altLang="zh-CN" sz="1800">
                <a:latin typeface="Arial" panose="020B0604020202020204" pitchFamily="34" charset="0"/>
                <a:ea typeface="宋体" panose="02010600030101010101" pitchFamily="2" charset="-122"/>
              </a:endParaRPr>
            </a:p>
          </p:txBody>
        </p:sp>
        <p:sp>
          <p:nvSpPr>
            <p:cNvPr id="142351" name="直接连接符 282639"/>
            <p:cNvSpPr/>
            <p:nvPr/>
          </p:nvSpPr>
          <p:spPr>
            <a:xfrm flipH="1">
              <a:off x="3452" y="868"/>
              <a:ext cx="104" cy="184"/>
            </a:xfrm>
            <a:prstGeom prst="line">
              <a:avLst/>
            </a:prstGeom>
            <a:ln w="12700" cap="flat" cmpd="sng">
              <a:solidFill>
                <a:schemeClr val="tx1"/>
              </a:solidFill>
              <a:prstDash val="solid"/>
              <a:round/>
              <a:headEnd type="none" w="med" len="med"/>
              <a:tailEnd type="none" w="med" len="med"/>
            </a:ln>
          </p:spPr>
        </p:sp>
        <p:sp>
          <p:nvSpPr>
            <p:cNvPr id="142352" name="直接连接符 282640"/>
            <p:cNvSpPr/>
            <p:nvPr/>
          </p:nvSpPr>
          <p:spPr>
            <a:xfrm flipH="1">
              <a:off x="3016" y="960"/>
              <a:ext cx="784" cy="0"/>
            </a:xfrm>
            <a:prstGeom prst="line">
              <a:avLst/>
            </a:prstGeom>
            <a:ln w="25400" cap="flat" cmpd="sng">
              <a:solidFill>
                <a:schemeClr val="tx1"/>
              </a:solidFill>
              <a:prstDash val="solid"/>
              <a:round/>
              <a:headEnd type="triangle" w="med" len="med"/>
              <a:tailEnd type="none" w="med" len="med"/>
            </a:ln>
          </p:spPr>
        </p:sp>
        <p:sp>
          <p:nvSpPr>
            <p:cNvPr id="142353" name="矩形 282641"/>
            <p:cNvSpPr/>
            <p:nvPr/>
          </p:nvSpPr>
          <p:spPr>
            <a:xfrm>
              <a:off x="3303" y="960"/>
              <a:ext cx="194" cy="18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a:t>
              </a:r>
              <a:endParaRPr lang="zh-CN" altLang="en-US" sz="1800" dirty="0">
                <a:latin typeface="Arial" panose="020B0604020202020204" pitchFamily="34" charset="0"/>
                <a:ea typeface="宋体" panose="02010600030101010101" pitchFamily="2" charset="-122"/>
              </a:endParaRPr>
            </a:p>
          </p:txBody>
        </p:sp>
      </p:grpSp>
      <p:sp>
        <p:nvSpPr>
          <p:cNvPr id="142354" name="文本占位符 282642"/>
          <p:cNvSpPr>
            <a:spLocks noGrp="1"/>
          </p:cNvSpPr>
          <p:nvPr>
            <p:ph idx="1"/>
          </p:nvPr>
        </p:nvSpPr>
        <p:spPr>
          <a:xfrm>
            <a:off x="309563" y="2655888"/>
            <a:ext cx="8834437" cy="2554287"/>
          </a:xfrm>
          <a:ln/>
        </p:spPr>
        <p:txBody>
          <a:bodyPr vert="horz" wrap="square" lIns="63500" tIns="25400" rIns="63500" bIns="25400" anchor="t" anchorCtr="0">
            <a:spAutoFit/>
          </a:bodyPr>
          <a:p>
            <a:r>
              <a:rPr lang="en-US" altLang="zh-CN" dirty="0" err="1">
                <a:ea typeface="宋体" panose="02010600030101010101" pitchFamily="2" charset="-122"/>
              </a:rPr>
              <a:t>ALUctr</a:t>
            </a:r>
            <a:r>
              <a:rPr lang="en-US" altLang="zh-CN">
                <a:ea typeface="宋体" panose="02010600030101010101" pitchFamily="2" charset="-122"/>
              </a:rPr>
              <a:t>&lt;0&gt;  =  </a:t>
            </a:r>
            <a:r>
              <a:rPr lang="en-US" altLang="zh-CN">
                <a:solidFill>
                  <a:schemeClr val="accent2"/>
                </a:solidFill>
                <a:ea typeface="宋体" panose="02010600030101010101" pitchFamily="2" charset="-122"/>
              </a:rPr>
              <a:t>!</a:t>
            </a:r>
            <a:r>
              <a:rPr lang="en-US" altLang="zh-CN" dirty="0" err="1">
                <a:solidFill>
                  <a:schemeClr val="accent2"/>
                </a:solidFill>
                <a:ea typeface="宋体" panose="02010600030101010101" pitchFamily="2" charset="-122"/>
              </a:rPr>
              <a:t>ALUop</a:t>
            </a:r>
            <a:r>
              <a:rPr lang="en-US" altLang="zh-CN">
                <a:solidFill>
                  <a:schemeClr val="accent2"/>
                </a:solidFill>
                <a:ea typeface="宋体" panose="02010600030101010101" pitchFamily="2" charset="-122"/>
              </a:rPr>
              <a:t>&lt;2&gt;  &amp;  </a:t>
            </a:r>
            <a:r>
              <a:rPr lang="en-US" altLang="zh-CN" dirty="0" err="1">
                <a:solidFill>
                  <a:schemeClr val="accent2"/>
                </a:solidFill>
                <a:ea typeface="宋体" panose="02010600030101010101" pitchFamily="2" charset="-122"/>
              </a:rPr>
              <a:t>ALUop</a:t>
            </a:r>
            <a:r>
              <a:rPr lang="en-US" altLang="zh-CN">
                <a:solidFill>
                  <a:schemeClr val="accent2"/>
                </a:solidFill>
                <a:ea typeface="宋体" panose="02010600030101010101" pitchFamily="2" charset="-122"/>
              </a:rPr>
              <a:t>&lt;0&gt;  +</a:t>
            </a:r>
            <a:endParaRPr lang="en-US" altLang="zh-CN">
              <a:solidFill>
                <a:schemeClr val="accent2"/>
              </a:solidFill>
              <a:ea typeface="宋体" panose="02010600030101010101" pitchFamily="2" charset="-122"/>
            </a:endParaRPr>
          </a:p>
          <a:p>
            <a:pPr lvl="1">
              <a:buNone/>
            </a:pPr>
            <a:r>
              <a:rPr lang="en-US" altLang="zh-CN">
                <a:ea typeface="宋体" panose="02010600030101010101" pitchFamily="2" charset="-122"/>
              </a:rPr>
              <a:t>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&lt;1&gt;  &amp;  !</a:t>
            </a:r>
            <a:r>
              <a:rPr lang="en-US" altLang="zh-CN" dirty="0" err="1">
                <a:ea typeface="宋体" panose="02010600030101010101" pitchFamily="2" charset="-122"/>
              </a:rPr>
              <a:t>func</a:t>
            </a:r>
            <a:r>
              <a:rPr lang="en-US" altLang="zh-CN">
                <a:ea typeface="宋体" panose="02010600030101010101" pitchFamily="2" charset="-122"/>
              </a:rPr>
              <a:t>&lt;0&gt;</a:t>
            </a:r>
            <a:endParaRPr lang="en-US" altLang="zh-CN">
              <a:ea typeface="宋体" panose="02010600030101010101" pitchFamily="2" charset="-122"/>
            </a:endParaRPr>
          </a:p>
          <a:p>
            <a:r>
              <a:rPr lang="en-US" altLang="zh-CN" dirty="0" err="1">
                <a:ea typeface="宋体" panose="02010600030101010101" pitchFamily="2" charset="-122"/>
              </a:rPr>
              <a:t>ALUctr</a:t>
            </a:r>
            <a:r>
              <a:rPr lang="en-US" altLang="zh-CN">
                <a:ea typeface="宋体" panose="02010600030101010101" pitchFamily="2" charset="-122"/>
              </a:rPr>
              <a:t>&lt;1&gt;  =  </a:t>
            </a:r>
            <a:r>
              <a:rPr lang="en-US" altLang="zh-CN">
                <a:solidFill>
                  <a:schemeClr val="accent2"/>
                </a:solidFill>
                <a:ea typeface="宋体" panose="02010600030101010101" pitchFamily="2" charset="-122"/>
              </a:rPr>
              <a:t>!</a:t>
            </a:r>
            <a:r>
              <a:rPr lang="en-US" altLang="zh-CN" dirty="0" err="1">
                <a:solidFill>
                  <a:schemeClr val="accent2"/>
                </a:solidFill>
                <a:ea typeface="宋体" panose="02010600030101010101" pitchFamily="2" charset="-122"/>
              </a:rPr>
              <a:t>ALUop</a:t>
            </a:r>
            <a:r>
              <a:rPr lang="en-US" altLang="zh-CN">
                <a:solidFill>
                  <a:schemeClr val="accent2"/>
                </a:solidFill>
                <a:ea typeface="宋体" panose="02010600030101010101" pitchFamily="2" charset="-122"/>
              </a:rPr>
              <a:t>&lt;2&gt;  &amp;  </a:t>
            </a:r>
            <a:r>
              <a:rPr lang="en-US" altLang="zh-CN" dirty="0" err="1">
                <a:solidFill>
                  <a:schemeClr val="accent2"/>
                </a:solidFill>
                <a:ea typeface="宋体" panose="02010600030101010101" pitchFamily="2" charset="-122"/>
              </a:rPr>
              <a:t>ALUop</a:t>
            </a:r>
            <a:r>
              <a:rPr lang="en-US" altLang="zh-CN">
                <a:solidFill>
                  <a:schemeClr val="accent2"/>
                </a:solidFill>
                <a:ea typeface="宋体" panose="02010600030101010101" pitchFamily="2" charset="-122"/>
              </a:rPr>
              <a:t>&lt;1&gt; &amp; !</a:t>
            </a:r>
            <a:r>
              <a:rPr lang="en-US" altLang="zh-CN" dirty="0" err="1">
                <a:solidFill>
                  <a:schemeClr val="accent2"/>
                </a:solidFill>
                <a:ea typeface="宋体" panose="02010600030101010101" pitchFamily="2" charset="-122"/>
              </a:rPr>
              <a:t>ALUop</a:t>
            </a:r>
            <a:r>
              <a:rPr lang="en-US" altLang="zh-CN">
                <a:solidFill>
                  <a:schemeClr val="accent2"/>
                </a:solidFill>
                <a:ea typeface="宋体" panose="02010600030101010101" pitchFamily="2" charset="-122"/>
              </a:rPr>
              <a:t>&lt;0&gt; +</a:t>
            </a:r>
            <a:endParaRPr lang="en-US" altLang="zh-CN">
              <a:solidFill>
                <a:schemeClr val="accent2"/>
              </a:solidFill>
              <a:ea typeface="宋体" panose="02010600030101010101" pitchFamily="2" charset="-122"/>
            </a:endParaRPr>
          </a:p>
          <a:p>
            <a:pPr lvl="1">
              <a:buNone/>
            </a:pPr>
            <a:r>
              <a:rPr lang="en-US" altLang="zh-CN">
                <a:ea typeface="宋体" panose="02010600030101010101" pitchFamily="2" charset="-122"/>
              </a:rPr>
              <a:t>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&lt;3&gt;  &amp;  </a:t>
            </a:r>
            <a:r>
              <a:rPr lang="en-US" altLang="zh-CN" dirty="0" err="1">
                <a:ea typeface="宋体" panose="02010600030101010101" pitchFamily="2" charset="-122"/>
              </a:rPr>
              <a:t>func</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&lt;1&gt;                    </a:t>
            </a:r>
            <a:endParaRPr lang="en-US" altLang="zh-CN">
              <a:ea typeface="宋体" panose="02010600030101010101" pitchFamily="2" charset="-122"/>
            </a:endParaRPr>
          </a:p>
          <a:p>
            <a:r>
              <a:rPr lang="en-US" altLang="zh-CN" dirty="0" err="1">
                <a:ea typeface="宋体" panose="02010600030101010101" pitchFamily="2" charset="-122"/>
              </a:rPr>
              <a:t>ALUctr</a:t>
            </a:r>
            <a:r>
              <a:rPr lang="en-US" altLang="zh-CN">
                <a:ea typeface="宋体" panose="02010600030101010101" pitchFamily="2" charset="-122"/>
              </a:rPr>
              <a:t>&lt;2&gt;  =  </a:t>
            </a:r>
            <a:r>
              <a:rPr lang="en-US" altLang="zh-CN">
                <a:solidFill>
                  <a:schemeClr val="accent2"/>
                </a:solidFill>
                <a:ea typeface="宋体" panose="02010600030101010101" pitchFamily="2" charset="-122"/>
              </a:rPr>
              <a:t>!</a:t>
            </a:r>
            <a:r>
              <a:rPr lang="en-US" altLang="zh-CN" dirty="0" err="1">
                <a:solidFill>
                  <a:schemeClr val="accent2"/>
                </a:solidFill>
                <a:ea typeface="宋体" panose="02010600030101010101" pitchFamily="2" charset="-122"/>
              </a:rPr>
              <a:t>ALUop</a:t>
            </a:r>
            <a:r>
              <a:rPr lang="en-US" altLang="zh-CN">
                <a:solidFill>
                  <a:schemeClr val="accent2"/>
                </a:solidFill>
                <a:ea typeface="宋体" panose="02010600030101010101" pitchFamily="2" charset="-122"/>
              </a:rPr>
              <a:t>&lt;2&gt; &amp; </a:t>
            </a:r>
            <a:r>
              <a:rPr lang="en-US" altLang="zh-CN" dirty="0" err="1">
                <a:solidFill>
                  <a:schemeClr val="accent2"/>
                </a:solidFill>
                <a:ea typeface="宋体" panose="02010600030101010101" pitchFamily="2" charset="-122"/>
              </a:rPr>
              <a:t>ALUop</a:t>
            </a:r>
            <a:r>
              <a:rPr lang="en-US" altLang="zh-CN">
                <a:solidFill>
                  <a:schemeClr val="accent2"/>
                </a:solidFill>
                <a:ea typeface="宋体" panose="02010600030101010101" pitchFamily="2" charset="-122"/>
              </a:rPr>
              <a:t>&lt;1&gt; &amp; !</a:t>
            </a:r>
            <a:r>
              <a:rPr lang="en-US" altLang="zh-CN" dirty="0" err="1">
                <a:solidFill>
                  <a:schemeClr val="accent2"/>
                </a:solidFill>
                <a:ea typeface="宋体" panose="02010600030101010101" pitchFamily="2" charset="-122"/>
              </a:rPr>
              <a:t>ALUop</a:t>
            </a:r>
            <a:r>
              <a:rPr lang="en-US" altLang="zh-CN">
                <a:solidFill>
                  <a:schemeClr val="accent2"/>
                </a:solidFill>
                <a:ea typeface="宋体" panose="02010600030101010101" pitchFamily="2" charset="-122"/>
              </a:rPr>
              <a:t>&lt;0&gt; +</a:t>
            </a:r>
            <a:endParaRPr lang="en-US" altLang="zh-CN">
              <a:solidFill>
                <a:schemeClr val="accent2"/>
              </a:solidFill>
              <a:ea typeface="宋体" panose="02010600030101010101" pitchFamily="2" charset="-122"/>
            </a:endParaRPr>
          </a:p>
          <a:p>
            <a:pPr lvl="1">
              <a:buNone/>
            </a:pPr>
            <a:r>
              <a:rPr lang="en-US" altLang="zh-CN">
                <a:ea typeface="宋体" panose="02010600030101010101" pitchFamily="2" charset="-122"/>
              </a:rPr>
              <a:t>		              </a:t>
            </a:r>
            <a:r>
              <a:rPr lang="en-US" altLang="zh-CN" dirty="0" err="1">
                <a:ea typeface="宋体" panose="02010600030101010101" pitchFamily="2" charset="-122"/>
              </a:rPr>
              <a:t>ALUop</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&lt;3&gt;  &amp;  </a:t>
            </a:r>
            <a:r>
              <a:rPr lang="en-US" altLang="zh-CN" dirty="0" err="1">
                <a:ea typeface="宋体" panose="02010600030101010101" pitchFamily="2" charset="-122"/>
              </a:rPr>
              <a:t>func</a:t>
            </a:r>
            <a:r>
              <a:rPr lang="en-US" altLang="zh-CN">
                <a:ea typeface="宋体" panose="02010600030101010101" pitchFamily="2" charset="-122"/>
              </a:rPr>
              <a:t>&lt;2&gt;  &amp;  !</a:t>
            </a:r>
            <a:r>
              <a:rPr lang="en-US" altLang="zh-CN" dirty="0" err="1">
                <a:ea typeface="宋体" panose="02010600030101010101" pitchFamily="2" charset="-122"/>
              </a:rPr>
              <a:t>func</a:t>
            </a:r>
            <a:r>
              <a:rPr lang="en-US" altLang="zh-CN">
                <a:ea typeface="宋体" panose="02010600030101010101" pitchFamily="2" charset="-122"/>
              </a:rPr>
              <a:t>&lt;1&gt;  &amp;  </a:t>
            </a:r>
            <a:r>
              <a:rPr lang="en-US" altLang="zh-CN" dirty="0" err="1">
                <a:ea typeface="宋体" panose="02010600030101010101" pitchFamily="2" charset="-122"/>
              </a:rPr>
              <a:t>func</a:t>
            </a:r>
            <a:r>
              <a:rPr lang="en-US" altLang="zh-CN">
                <a:ea typeface="宋体" panose="02010600030101010101" pitchFamily="2" charset="-122"/>
              </a:rPr>
              <a:t>&lt;0&gt;</a:t>
            </a:r>
            <a:endParaRPr lang="en-US" altLang="zh-CN">
              <a:ea typeface="宋体" panose="02010600030101010101" pitchFamily="2" charset="-122"/>
            </a:endParaRPr>
          </a:p>
          <a:p>
            <a:pPr lvl="1">
              <a:buNone/>
            </a:pPr>
            <a:r>
              <a:rPr lang="en-US" altLang="zh-CN">
                <a:ea typeface="宋体" panose="02010600030101010101" pitchFamily="2" charset="-122"/>
              </a:rPr>
              <a:t>		</a:t>
            </a:r>
            <a:endParaRPr lang="en-US" altLang="zh-CN">
              <a:ea typeface="宋体" panose="02010600030101010101" pitchFamily="2" charset="-122"/>
            </a:endParaRPr>
          </a:p>
        </p:txBody>
      </p:sp>
      <p:sp>
        <p:nvSpPr>
          <p:cNvPr id="142355" name="文本框 282643"/>
          <p:cNvSpPr txBox="1"/>
          <p:nvPr/>
        </p:nvSpPr>
        <p:spPr>
          <a:xfrm>
            <a:off x="466725" y="2205038"/>
            <a:ext cx="6197600" cy="396875"/>
          </a:xfrm>
          <a:prstGeom prst="rect">
            <a:avLst/>
          </a:prstGeom>
          <a:noFill/>
          <a:ln w="50800">
            <a:noFill/>
          </a:ln>
        </p:spPr>
        <p:txBody>
          <a:bodyPr anchor="t" anchorCtr="0">
            <a:spAutoFit/>
          </a:bodyPr>
          <a:p>
            <a:pPr eaLnBrk="0" hangingPunct="0">
              <a:spcBef>
                <a:spcPct val="50000"/>
              </a:spcBef>
            </a:pPr>
            <a:r>
              <a:rPr lang="zh-CN" altLang="en-US" sz="1800" dirty="0">
                <a:solidFill>
                  <a:schemeClr val="accent1"/>
                </a:solidFill>
                <a:latin typeface="Times New Roman" panose="02020603050405020304" pitchFamily="18" charset="0"/>
                <a:ea typeface="宋体" panose="02010600030101010101" pitchFamily="2" charset="-122"/>
              </a:rPr>
              <a:t>总结前面的</a:t>
            </a:r>
            <a:r>
              <a:rPr lang="zh-CN" altLang="en-US" sz="2000" b="0" dirty="0">
                <a:solidFill>
                  <a:schemeClr val="accent1"/>
                </a:solidFill>
                <a:latin typeface="Arial" panose="020B0604020202020204" pitchFamily="34" charset="0"/>
                <a:ea typeface="黑体" panose="02010609060101010101" pitchFamily="49" charset="-122"/>
              </a:rPr>
              <a:t>结果</a:t>
            </a:r>
            <a:r>
              <a:rPr lang="zh-CN" altLang="en-US" sz="1800" dirty="0">
                <a:solidFill>
                  <a:schemeClr val="accent1"/>
                </a:solidFill>
                <a:latin typeface="Times New Roman" panose="02020603050405020304" pitchFamily="18" charset="0"/>
                <a:ea typeface="宋体" panose="02010600030101010101" pitchFamily="2" charset="-122"/>
              </a:rPr>
              <a:t>，得到：</a:t>
            </a:r>
            <a:endParaRPr lang="zh-CN" altLang="en-US" sz="1800" dirty="0">
              <a:solidFill>
                <a:schemeClr val="accent1"/>
              </a:solidFill>
              <a:latin typeface="Times New Roman" panose="02020603050405020304" pitchFamily="18" charset="0"/>
              <a:ea typeface="宋体" panose="02010600030101010101" pitchFamily="2" charset="-122"/>
            </a:endParaRPr>
          </a:p>
        </p:txBody>
      </p:sp>
      <p:sp>
        <p:nvSpPr>
          <p:cNvPr id="142356" name="文本框 282644"/>
          <p:cNvSpPr txBox="1"/>
          <p:nvPr/>
        </p:nvSpPr>
        <p:spPr>
          <a:xfrm>
            <a:off x="1712913" y="5430838"/>
            <a:ext cx="6154737" cy="427037"/>
          </a:xfrm>
          <a:prstGeom prst="rect">
            <a:avLst/>
          </a:prstGeom>
          <a:noFill/>
          <a:ln w="50800">
            <a:noFill/>
          </a:ln>
        </p:spPr>
        <p:txBody>
          <a:bodyPr anchor="t" anchorCtr="0">
            <a:spAutoFit/>
          </a:bodyPr>
          <a:p>
            <a:pPr eaLnBrk="0" hangingPunct="0">
              <a:spcBef>
                <a:spcPct val="50000"/>
              </a:spcBef>
            </a:pPr>
            <a:r>
              <a:rPr lang="zh-CN" altLang="en-US" sz="2200" dirty="0">
                <a:latin typeface="Arial" panose="020B0604020202020204" pitchFamily="34" charset="0"/>
                <a:ea typeface="宋体" panose="02010600030101010101" pitchFamily="2" charset="-122"/>
              </a:rPr>
              <a:t>根据以上逻辑</a:t>
            </a:r>
            <a:r>
              <a:rPr lang="zh-CN" altLang="en-US" sz="1800" dirty="0">
                <a:latin typeface="Arial" panose="020B0604020202020204" pitchFamily="34" charset="0"/>
                <a:ea typeface="宋体" panose="02010600030101010101" pitchFamily="2" charset="-122"/>
              </a:rPr>
              <a:t>方程</a:t>
            </a:r>
            <a:r>
              <a:rPr lang="zh-CN" altLang="en-US" sz="2200" dirty="0">
                <a:latin typeface="Arial" panose="020B0604020202020204" pitchFamily="34" charset="0"/>
                <a:ea typeface="宋体" panose="02010600030101010101" pitchFamily="2" charset="-122"/>
              </a:rPr>
              <a:t>，可实现局部</a:t>
            </a:r>
            <a:r>
              <a:rPr lang="en-US" altLang="zh-CN" sz="2200">
                <a:latin typeface="Arial" panose="020B0604020202020204" pitchFamily="34" charset="0"/>
                <a:ea typeface="宋体" panose="02010600030101010101" pitchFamily="2" charset="-122"/>
              </a:rPr>
              <a:t>ALU</a:t>
            </a:r>
            <a:r>
              <a:rPr lang="zh-CN" altLang="en-US" sz="2200" dirty="0">
                <a:latin typeface="Arial" panose="020B0604020202020204" pitchFamily="34" charset="0"/>
                <a:ea typeface="宋体" panose="02010600030101010101" pitchFamily="2" charset="-122"/>
              </a:rPr>
              <a:t>控制单元！</a:t>
            </a:r>
            <a:endParaRPr lang="zh-CN" altLang="en-US" sz="2200" dirty="0">
              <a:latin typeface="Arial" panose="020B0604020202020204" pitchFamily="34" charset="0"/>
              <a:ea typeface="宋体" panose="02010600030101010101" pitchFamily="2"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标题 284673"/>
          <p:cNvSpPr>
            <a:spLocks noGrp="1"/>
          </p:cNvSpPr>
          <p:nvPr>
            <p:ph type="title"/>
          </p:nvPr>
        </p:nvSpPr>
        <p:spPr>
          <a:xfrm>
            <a:off x="641350" y="207963"/>
            <a:ext cx="3327400" cy="422275"/>
          </a:xfrm>
          <a:ln/>
        </p:spPr>
        <p:txBody>
          <a:bodyPr vert="horz" wrap="none" lIns="63500" tIns="25400" rIns="63500" bIns="25400" anchor="t" anchorCtr="0">
            <a:spAutoFit/>
          </a:bodyPr>
          <a:p>
            <a:r>
              <a:rPr lang="zh-CN" altLang="en-US" dirty="0">
                <a:ea typeface="宋体" panose="02010600030101010101" pitchFamily="2" charset="-122"/>
              </a:rPr>
              <a:t>主控制单元的真值表</a:t>
            </a:r>
            <a:endParaRPr lang="zh-CN" altLang="en-US" dirty="0">
              <a:ea typeface="宋体" panose="02010600030101010101" pitchFamily="2" charset="-122"/>
            </a:endParaRPr>
          </a:p>
        </p:txBody>
      </p:sp>
      <p:sp>
        <p:nvSpPr>
          <p:cNvPr id="144386" name="矩形 284674"/>
          <p:cNvSpPr/>
          <p:nvPr/>
        </p:nvSpPr>
        <p:spPr>
          <a:xfrm>
            <a:off x="2919413" y="2438400"/>
            <a:ext cx="8921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R-type</a:t>
            </a:r>
            <a:endParaRPr lang="en-US" altLang="zh-CN" sz="1800">
              <a:latin typeface="Arial" panose="020B0604020202020204" pitchFamily="34" charset="0"/>
              <a:ea typeface="宋体" panose="02010600030101010101" pitchFamily="2" charset="-122"/>
            </a:endParaRPr>
          </a:p>
        </p:txBody>
      </p:sp>
      <p:sp>
        <p:nvSpPr>
          <p:cNvPr id="144387" name="矩形 284675"/>
          <p:cNvSpPr/>
          <p:nvPr/>
        </p:nvSpPr>
        <p:spPr>
          <a:xfrm>
            <a:off x="3998913" y="24384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ori</a:t>
            </a:r>
            <a:endParaRPr lang="en-US" altLang="zh-CN" sz="1800">
              <a:latin typeface="Arial" panose="020B0604020202020204" pitchFamily="34" charset="0"/>
              <a:ea typeface="宋体" panose="02010600030101010101" pitchFamily="2" charset="-122"/>
            </a:endParaRPr>
          </a:p>
        </p:txBody>
      </p:sp>
      <p:sp>
        <p:nvSpPr>
          <p:cNvPr id="144388" name="矩形 284676"/>
          <p:cNvSpPr/>
          <p:nvPr/>
        </p:nvSpPr>
        <p:spPr>
          <a:xfrm>
            <a:off x="4887913" y="24257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lw</a:t>
            </a:r>
            <a:endParaRPr lang="en-US" altLang="zh-CN" sz="1800">
              <a:latin typeface="Arial" panose="020B0604020202020204" pitchFamily="34" charset="0"/>
              <a:ea typeface="宋体" panose="02010600030101010101" pitchFamily="2" charset="-122"/>
            </a:endParaRPr>
          </a:p>
        </p:txBody>
      </p:sp>
      <p:sp>
        <p:nvSpPr>
          <p:cNvPr id="144389" name="矩形 284677"/>
          <p:cNvSpPr/>
          <p:nvPr/>
        </p:nvSpPr>
        <p:spPr>
          <a:xfrm>
            <a:off x="5713413" y="2438400"/>
            <a:ext cx="4857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sw</a:t>
            </a:r>
            <a:endParaRPr lang="en-US" altLang="zh-CN" sz="1800">
              <a:latin typeface="Arial" panose="020B0604020202020204" pitchFamily="34" charset="0"/>
              <a:ea typeface="宋体" panose="02010600030101010101" pitchFamily="2" charset="-122"/>
            </a:endParaRPr>
          </a:p>
        </p:txBody>
      </p:sp>
      <p:sp>
        <p:nvSpPr>
          <p:cNvPr id="144390" name="矩形 284678"/>
          <p:cNvSpPr/>
          <p:nvPr/>
        </p:nvSpPr>
        <p:spPr>
          <a:xfrm>
            <a:off x="6602413" y="2438400"/>
            <a:ext cx="5873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beq</a:t>
            </a:r>
            <a:endParaRPr lang="en-US" altLang="zh-CN" sz="1800">
              <a:latin typeface="Arial" panose="020B0604020202020204" pitchFamily="34" charset="0"/>
              <a:ea typeface="宋体" panose="02010600030101010101" pitchFamily="2" charset="-122"/>
            </a:endParaRPr>
          </a:p>
        </p:txBody>
      </p:sp>
      <p:sp>
        <p:nvSpPr>
          <p:cNvPr id="144391" name="矩形 284679"/>
          <p:cNvSpPr/>
          <p:nvPr/>
        </p:nvSpPr>
        <p:spPr>
          <a:xfrm>
            <a:off x="7288213" y="2438400"/>
            <a:ext cx="7270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jump</a:t>
            </a:r>
            <a:endParaRPr lang="en-US" altLang="zh-CN" sz="1800">
              <a:latin typeface="Arial" panose="020B0604020202020204" pitchFamily="34" charset="0"/>
              <a:ea typeface="宋体" panose="02010600030101010101" pitchFamily="2" charset="-122"/>
            </a:endParaRPr>
          </a:p>
        </p:txBody>
      </p:sp>
      <p:sp>
        <p:nvSpPr>
          <p:cNvPr id="144392" name="矩形 284680"/>
          <p:cNvSpPr/>
          <p:nvPr/>
        </p:nvSpPr>
        <p:spPr>
          <a:xfrm>
            <a:off x="976313" y="2743200"/>
            <a:ext cx="981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RegDst</a:t>
            </a:r>
            <a:endParaRPr lang="en-US" altLang="zh-CN" sz="1800">
              <a:latin typeface="Arial" panose="020B0604020202020204" pitchFamily="34" charset="0"/>
              <a:ea typeface="宋体" panose="02010600030101010101" pitchFamily="2" charset="-122"/>
            </a:endParaRPr>
          </a:p>
        </p:txBody>
      </p:sp>
      <p:sp>
        <p:nvSpPr>
          <p:cNvPr id="144393" name="矩形 284681"/>
          <p:cNvSpPr/>
          <p:nvPr/>
        </p:nvSpPr>
        <p:spPr>
          <a:xfrm>
            <a:off x="976313" y="3048000"/>
            <a:ext cx="1019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ALUSrc</a:t>
            </a:r>
            <a:endParaRPr lang="en-US" altLang="zh-CN" sz="1800">
              <a:latin typeface="Arial" panose="020B0604020202020204" pitchFamily="34" charset="0"/>
              <a:ea typeface="宋体" panose="02010600030101010101" pitchFamily="2" charset="-122"/>
            </a:endParaRPr>
          </a:p>
        </p:txBody>
      </p:sp>
      <p:sp>
        <p:nvSpPr>
          <p:cNvPr id="144394" name="矩形 284682"/>
          <p:cNvSpPr/>
          <p:nvPr/>
        </p:nvSpPr>
        <p:spPr>
          <a:xfrm>
            <a:off x="976313" y="3352800"/>
            <a:ext cx="13493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MemtoReg</a:t>
            </a:r>
            <a:endParaRPr lang="en-US" altLang="zh-CN" sz="1800">
              <a:latin typeface="Arial" panose="020B0604020202020204" pitchFamily="34" charset="0"/>
              <a:ea typeface="宋体" panose="02010600030101010101" pitchFamily="2" charset="-122"/>
            </a:endParaRPr>
          </a:p>
        </p:txBody>
      </p:sp>
      <p:sp>
        <p:nvSpPr>
          <p:cNvPr id="144395" name="矩形 284683"/>
          <p:cNvSpPr/>
          <p:nvPr/>
        </p:nvSpPr>
        <p:spPr>
          <a:xfrm>
            <a:off x="976313" y="3657600"/>
            <a:ext cx="1184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RegWrite</a:t>
            </a:r>
            <a:endParaRPr lang="en-US" altLang="zh-CN" sz="1800">
              <a:latin typeface="Arial" panose="020B0604020202020204" pitchFamily="34" charset="0"/>
              <a:ea typeface="宋体" panose="02010600030101010101" pitchFamily="2" charset="-122"/>
            </a:endParaRPr>
          </a:p>
        </p:txBody>
      </p:sp>
      <p:sp>
        <p:nvSpPr>
          <p:cNvPr id="144396" name="矩形 284684"/>
          <p:cNvSpPr/>
          <p:nvPr/>
        </p:nvSpPr>
        <p:spPr>
          <a:xfrm>
            <a:off x="976313" y="3962400"/>
            <a:ext cx="1273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MemWrite</a:t>
            </a:r>
            <a:endParaRPr lang="en-US" altLang="zh-CN" sz="1800">
              <a:latin typeface="Arial" panose="020B0604020202020204" pitchFamily="34" charset="0"/>
              <a:ea typeface="宋体" panose="02010600030101010101" pitchFamily="2" charset="-122"/>
            </a:endParaRPr>
          </a:p>
        </p:txBody>
      </p:sp>
      <p:sp>
        <p:nvSpPr>
          <p:cNvPr id="144397" name="矩形 284685"/>
          <p:cNvSpPr/>
          <p:nvPr/>
        </p:nvSpPr>
        <p:spPr>
          <a:xfrm>
            <a:off x="976313" y="4267200"/>
            <a:ext cx="9683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Branch</a:t>
            </a:r>
            <a:endParaRPr lang="en-US" altLang="zh-CN" sz="1800">
              <a:latin typeface="Arial" panose="020B0604020202020204" pitchFamily="34" charset="0"/>
              <a:ea typeface="宋体" panose="02010600030101010101" pitchFamily="2" charset="-122"/>
            </a:endParaRPr>
          </a:p>
        </p:txBody>
      </p:sp>
      <p:sp>
        <p:nvSpPr>
          <p:cNvPr id="144398" name="矩形 284686"/>
          <p:cNvSpPr/>
          <p:nvPr/>
        </p:nvSpPr>
        <p:spPr>
          <a:xfrm>
            <a:off x="976313" y="4572000"/>
            <a:ext cx="7905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Jump</a:t>
            </a:r>
            <a:endParaRPr lang="en-US" altLang="zh-CN" sz="1800">
              <a:latin typeface="Arial" panose="020B0604020202020204" pitchFamily="34" charset="0"/>
              <a:ea typeface="宋体" panose="02010600030101010101" pitchFamily="2" charset="-122"/>
            </a:endParaRPr>
          </a:p>
        </p:txBody>
      </p:sp>
      <p:sp>
        <p:nvSpPr>
          <p:cNvPr id="144399" name="矩形 284687"/>
          <p:cNvSpPr/>
          <p:nvPr/>
        </p:nvSpPr>
        <p:spPr>
          <a:xfrm>
            <a:off x="976313" y="4876800"/>
            <a:ext cx="854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ExtOp</a:t>
            </a:r>
            <a:endParaRPr lang="en-US" altLang="zh-CN" sz="1800">
              <a:latin typeface="Arial" panose="020B0604020202020204" pitchFamily="34" charset="0"/>
              <a:ea typeface="宋体" panose="02010600030101010101" pitchFamily="2" charset="-122"/>
            </a:endParaRPr>
          </a:p>
        </p:txBody>
      </p:sp>
      <p:sp>
        <p:nvSpPr>
          <p:cNvPr id="144400" name="矩形 284688"/>
          <p:cNvSpPr/>
          <p:nvPr/>
        </p:nvSpPr>
        <p:spPr>
          <a:xfrm>
            <a:off x="976313" y="5181600"/>
            <a:ext cx="1941512" cy="333375"/>
          </a:xfrm>
          <a:prstGeom prst="rect">
            <a:avLst/>
          </a:prstGeom>
          <a:noFill/>
          <a:ln w="12700">
            <a:noFill/>
          </a:ln>
        </p:spPr>
        <p:txBody>
          <a:bodyPr wrap="none" lIns="90488" tIns="44450" rIns="90488" bIns="44450" anchor="t" anchorCtr="0">
            <a:spAutoFit/>
          </a:bodyPr>
          <a:p>
            <a:pPr eaLnBrk="0" hangingPunct="0"/>
            <a:r>
              <a:rPr lang="en-US" altLang="zh-CN" dirty="0" err="1">
                <a:solidFill>
                  <a:srgbClr val="0000FF"/>
                </a:solidFill>
                <a:latin typeface="Arial" panose="020B0604020202020204" pitchFamily="34" charset="0"/>
                <a:ea typeface="宋体" panose="02010600030101010101" pitchFamily="2" charset="-122"/>
              </a:rPr>
              <a:t>ALUop</a:t>
            </a:r>
            <a:r>
              <a:rPr lang="en-US" altLang="zh-CN">
                <a:solidFill>
                  <a:srgbClr val="0000FF"/>
                </a:solidFill>
                <a:latin typeface="Arial" panose="020B0604020202020204" pitchFamily="34" charset="0"/>
                <a:ea typeface="宋体" panose="02010600030101010101" pitchFamily="2" charset="-122"/>
              </a:rPr>
              <a:t> (Symbolic)</a:t>
            </a:r>
            <a:endParaRPr lang="en-US" altLang="zh-CN">
              <a:solidFill>
                <a:srgbClr val="0000FF"/>
              </a:solidFill>
              <a:latin typeface="Arial" panose="020B0604020202020204" pitchFamily="34" charset="0"/>
              <a:ea typeface="宋体" panose="02010600030101010101" pitchFamily="2" charset="-122"/>
            </a:endParaRPr>
          </a:p>
        </p:txBody>
      </p:sp>
      <p:sp>
        <p:nvSpPr>
          <p:cNvPr id="144401" name="直接连接符 284689"/>
          <p:cNvSpPr/>
          <p:nvPr/>
        </p:nvSpPr>
        <p:spPr>
          <a:xfrm>
            <a:off x="1003300" y="3048000"/>
            <a:ext cx="7061200" cy="0"/>
          </a:xfrm>
          <a:prstGeom prst="line">
            <a:avLst/>
          </a:prstGeom>
          <a:ln w="25400" cap="flat" cmpd="sng">
            <a:solidFill>
              <a:schemeClr val="tx1"/>
            </a:solidFill>
            <a:prstDash val="solid"/>
            <a:round/>
            <a:headEnd type="none" w="med" len="med"/>
            <a:tailEnd type="none" w="med" len="med"/>
          </a:ln>
        </p:spPr>
      </p:sp>
      <p:sp>
        <p:nvSpPr>
          <p:cNvPr id="144402" name="直接连接符 284690"/>
          <p:cNvSpPr/>
          <p:nvPr/>
        </p:nvSpPr>
        <p:spPr>
          <a:xfrm>
            <a:off x="1003300" y="3352800"/>
            <a:ext cx="7061200" cy="0"/>
          </a:xfrm>
          <a:prstGeom prst="line">
            <a:avLst/>
          </a:prstGeom>
          <a:ln w="25400" cap="flat" cmpd="sng">
            <a:solidFill>
              <a:schemeClr val="tx1"/>
            </a:solidFill>
            <a:prstDash val="solid"/>
            <a:round/>
            <a:headEnd type="none" w="med" len="med"/>
            <a:tailEnd type="none" w="med" len="med"/>
          </a:ln>
        </p:spPr>
      </p:sp>
      <p:sp>
        <p:nvSpPr>
          <p:cNvPr id="144403" name="直接连接符 284691"/>
          <p:cNvSpPr/>
          <p:nvPr/>
        </p:nvSpPr>
        <p:spPr>
          <a:xfrm>
            <a:off x="1003300" y="3657600"/>
            <a:ext cx="7061200" cy="0"/>
          </a:xfrm>
          <a:prstGeom prst="line">
            <a:avLst/>
          </a:prstGeom>
          <a:ln w="25400" cap="flat" cmpd="sng">
            <a:solidFill>
              <a:schemeClr val="tx1"/>
            </a:solidFill>
            <a:prstDash val="solid"/>
            <a:round/>
            <a:headEnd type="none" w="med" len="med"/>
            <a:tailEnd type="none" w="med" len="med"/>
          </a:ln>
        </p:spPr>
      </p:sp>
      <p:sp>
        <p:nvSpPr>
          <p:cNvPr id="144404" name="直接连接符 284692"/>
          <p:cNvSpPr/>
          <p:nvPr/>
        </p:nvSpPr>
        <p:spPr>
          <a:xfrm>
            <a:off x="1003300" y="3962400"/>
            <a:ext cx="7061200" cy="0"/>
          </a:xfrm>
          <a:prstGeom prst="line">
            <a:avLst/>
          </a:prstGeom>
          <a:ln w="25400" cap="flat" cmpd="sng">
            <a:solidFill>
              <a:schemeClr val="tx1"/>
            </a:solidFill>
            <a:prstDash val="solid"/>
            <a:round/>
            <a:headEnd type="none" w="med" len="med"/>
            <a:tailEnd type="none" w="med" len="med"/>
          </a:ln>
        </p:spPr>
      </p:sp>
      <p:sp>
        <p:nvSpPr>
          <p:cNvPr id="144405" name="直接连接符 284693"/>
          <p:cNvSpPr/>
          <p:nvPr/>
        </p:nvSpPr>
        <p:spPr>
          <a:xfrm>
            <a:off x="1003300" y="4267200"/>
            <a:ext cx="7061200" cy="0"/>
          </a:xfrm>
          <a:prstGeom prst="line">
            <a:avLst/>
          </a:prstGeom>
          <a:ln w="25400" cap="flat" cmpd="sng">
            <a:solidFill>
              <a:schemeClr val="tx1"/>
            </a:solidFill>
            <a:prstDash val="solid"/>
            <a:round/>
            <a:headEnd type="none" w="med" len="med"/>
            <a:tailEnd type="none" w="med" len="med"/>
          </a:ln>
        </p:spPr>
      </p:sp>
      <p:sp>
        <p:nvSpPr>
          <p:cNvPr id="144406" name="直接连接符 284694"/>
          <p:cNvSpPr/>
          <p:nvPr/>
        </p:nvSpPr>
        <p:spPr>
          <a:xfrm>
            <a:off x="1003300" y="4572000"/>
            <a:ext cx="7061200" cy="0"/>
          </a:xfrm>
          <a:prstGeom prst="line">
            <a:avLst/>
          </a:prstGeom>
          <a:ln w="25400" cap="flat" cmpd="sng">
            <a:solidFill>
              <a:schemeClr val="tx1"/>
            </a:solidFill>
            <a:prstDash val="solid"/>
            <a:round/>
            <a:headEnd type="none" w="med" len="med"/>
            <a:tailEnd type="none" w="med" len="med"/>
          </a:ln>
        </p:spPr>
      </p:sp>
      <p:sp>
        <p:nvSpPr>
          <p:cNvPr id="144407" name="直接连接符 284695"/>
          <p:cNvSpPr/>
          <p:nvPr/>
        </p:nvSpPr>
        <p:spPr>
          <a:xfrm>
            <a:off x="1003300" y="4876800"/>
            <a:ext cx="7061200" cy="0"/>
          </a:xfrm>
          <a:prstGeom prst="line">
            <a:avLst/>
          </a:prstGeom>
          <a:ln w="25400" cap="flat" cmpd="sng">
            <a:solidFill>
              <a:schemeClr val="tx1"/>
            </a:solidFill>
            <a:prstDash val="solid"/>
            <a:round/>
            <a:headEnd type="none" w="med" len="med"/>
            <a:tailEnd type="none" w="med" len="med"/>
          </a:ln>
        </p:spPr>
      </p:sp>
      <p:sp>
        <p:nvSpPr>
          <p:cNvPr id="144408" name="直接连接符 284696"/>
          <p:cNvSpPr/>
          <p:nvPr/>
        </p:nvSpPr>
        <p:spPr>
          <a:xfrm>
            <a:off x="1003300" y="5181600"/>
            <a:ext cx="7061200" cy="0"/>
          </a:xfrm>
          <a:prstGeom prst="line">
            <a:avLst/>
          </a:prstGeom>
          <a:ln w="25400" cap="flat" cmpd="sng">
            <a:solidFill>
              <a:schemeClr val="tx1"/>
            </a:solidFill>
            <a:prstDash val="solid"/>
            <a:round/>
            <a:headEnd type="none" w="med" len="med"/>
            <a:tailEnd type="none" w="med" len="med"/>
          </a:ln>
        </p:spPr>
      </p:sp>
      <p:sp>
        <p:nvSpPr>
          <p:cNvPr id="144409" name="直接连接符 284697"/>
          <p:cNvSpPr/>
          <p:nvPr/>
        </p:nvSpPr>
        <p:spPr>
          <a:xfrm>
            <a:off x="1003300" y="2743200"/>
            <a:ext cx="7061200" cy="0"/>
          </a:xfrm>
          <a:prstGeom prst="line">
            <a:avLst/>
          </a:prstGeom>
          <a:ln w="25400" cap="flat" cmpd="sng">
            <a:solidFill>
              <a:schemeClr val="tx1"/>
            </a:solidFill>
            <a:prstDash val="solid"/>
            <a:round/>
            <a:headEnd type="none" w="med" len="med"/>
            <a:tailEnd type="none" w="med" len="med"/>
          </a:ln>
        </p:spPr>
      </p:sp>
      <p:sp>
        <p:nvSpPr>
          <p:cNvPr id="144410" name="直接连接符 284698"/>
          <p:cNvSpPr/>
          <p:nvPr/>
        </p:nvSpPr>
        <p:spPr>
          <a:xfrm>
            <a:off x="1003300" y="5486400"/>
            <a:ext cx="7061200" cy="0"/>
          </a:xfrm>
          <a:prstGeom prst="line">
            <a:avLst/>
          </a:prstGeom>
          <a:ln w="25400" cap="flat" cmpd="sng">
            <a:solidFill>
              <a:schemeClr val="tx1"/>
            </a:solidFill>
            <a:prstDash val="solid"/>
            <a:round/>
            <a:headEnd type="none" w="med" len="med"/>
            <a:tailEnd type="none" w="med" len="med"/>
          </a:ln>
        </p:spPr>
      </p:sp>
      <p:sp>
        <p:nvSpPr>
          <p:cNvPr id="144411" name="直接连接符 284699"/>
          <p:cNvSpPr/>
          <p:nvPr/>
        </p:nvSpPr>
        <p:spPr>
          <a:xfrm flipV="1">
            <a:off x="2743200" y="2425700"/>
            <a:ext cx="0" cy="3987800"/>
          </a:xfrm>
          <a:prstGeom prst="line">
            <a:avLst/>
          </a:prstGeom>
          <a:ln w="25400" cap="flat" cmpd="sng">
            <a:solidFill>
              <a:schemeClr val="tx1"/>
            </a:solidFill>
            <a:prstDash val="solid"/>
            <a:round/>
            <a:headEnd type="none" w="med" len="med"/>
            <a:tailEnd type="none" w="med" len="med"/>
          </a:ln>
        </p:spPr>
      </p:sp>
      <p:sp>
        <p:nvSpPr>
          <p:cNvPr id="144412" name="直接连接符 284700"/>
          <p:cNvSpPr/>
          <p:nvPr/>
        </p:nvSpPr>
        <p:spPr>
          <a:xfrm>
            <a:off x="1003300" y="2438400"/>
            <a:ext cx="7061200" cy="0"/>
          </a:xfrm>
          <a:prstGeom prst="line">
            <a:avLst/>
          </a:prstGeom>
          <a:ln w="25400" cap="flat" cmpd="sng">
            <a:solidFill>
              <a:schemeClr val="tx1"/>
            </a:solidFill>
            <a:prstDash val="solid"/>
            <a:round/>
            <a:headEnd type="none" w="med" len="med"/>
            <a:tailEnd type="none" w="med" len="med"/>
          </a:ln>
        </p:spPr>
      </p:sp>
      <p:sp>
        <p:nvSpPr>
          <p:cNvPr id="144413" name="直接连接符 284701"/>
          <p:cNvSpPr/>
          <p:nvPr/>
        </p:nvSpPr>
        <p:spPr>
          <a:xfrm flipV="1">
            <a:off x="3860800" y="2425700"/>
            <a:ext cx="0" cy="3987800"/>
          </a:xfrm>
          <a:prstGeom prst="line">
            <a:avLst/>
          </a:prstGeom>
          <a:ln w="25400" cap="flat" cmpd="sng">
            <a:solidFill>
              <a:schemeClr val="tx1"/>
            </a:solidFill>
            <a:prstDash val="solid"/>
            <a:round/>
            <a:headEnd type="none" w="med" len="med"/>
            <a:tailEnd type="none" w="med" len="med"/>
          </a:ln>
        </p:spPr>
      </p:sp>
      <p:sp>
        <p:nvSpPr>
          <p:cNvPr id="144414" name="直接连接符 284702"/>
          <p:cNvSpPr/>
          <p:nvPr/>
        </p:nvSpPr>
        <p:spPr>
          <a:xfrm flipV="1">
            <a:off x="4762500" y="2425700"/>
            <a:ext cx="0" cy="3987800"/>
          </a:xfrm>
          <a:prstGeom prst="line">
            <a:avLst/>
          </a:prstGeom>
          <a:ln w="25400" cap="flat" cmpd="sng">
            <a:solidFill>
              <a:schemeClr val="tx1"/>
            </a:solidFill>
            <a:prstDash val="solid"/>
            <a:round/>
            <a:headEnd type="none" w="med" len="med"/>
            <a:tailEnd type="none" w="med" len="med"/>
          </a:ln>
        </p:spPr>
      </p:sp>
      <p:sp>
        <p:nvSpPr>
          <p:cNvPr id="144415" name="直接连接符 284703"/>
          <p:cNvSpPr/>
          <p:nvPr/>
        </p:nvSpPr>
        <p:spPr>
          <a:xfrm flipV="1">
            <a:off x="5613400" y="2413000"/>
            <a:ext cx="0" cy="3987800"/>
          </a:xfrm>
          <a:prstGeom prst="line">
            <a:avLst/>
          </a:prstGeom>
          <a:ln w="25400" cap="flat" cmpd="sng">
            <a:solidFill>
              <a:schemeClr val="tx1"/>
            </a:solidFill>
            <a:prstDash val="solid"/>
            <a:round/>
            <a:headEnd type="none" w="med" len="med"/>
            <a:tailEnd type="none" w="med" len="med"/>
          </a:ln>
        </p:spPr>
      </p:sp>
      <p:sp>
        <p:nvSpPr>
          <p:cNvPr id="144416" name="直接连接符 284704"/>
          <p:cNvSpPr/>
          <p:nvPr/>
        </p:nvSpPr>
        <p:spPr>
          <a:xfrm flipV="1">
            <a:off x="6451600" y="2425700"/>
            <a:ext cx="0" cy="3987800"/>
          </a:xfrm>
          <a:prstGeom prst="line">
            <a:avLst/>
          </a:prstGeom>
          <a:ln w="25400" cap="flat" cmpd="sng">
            <a:solidFill>
              <a:schemeClr val="tx1"/>
            </a:solidFill>
            <a:prstDash val="solid"/>
            <a:round/>
            <a:headEnd type="none" w="med" len="med"/>
            <a:tailEnd type="none" w="med" len="med"/>
          </a:ln>
        </p:spPr>
      </p:sp>
      <p:sp>
        <p:nvSpPr>
          <p:cNvPr id="144417" name="直接连接符 284705"/>
          <p:cNvSpPr/>
          <p:nvPr/>
        </p:nvSpPr>
        <p:spPr>
          <a:xfrm flipV="1">
            <a:off x="7264400" y="2425700"/>
            <a:ext cx="0" cy="3987800"/>
          </a:xfrm>
          <a:prstGeom prst="line">
            <a:avLst/>
          </a:prstGeom>
          <a:ln w="25400" cap="flat" cmpd="sng">
            <a:solidFill>
              <a:schemeClr val="tx1"/>
            </a:solidFill>
            <a:prstDash val="solid"/>
            <a:round/>
            <a:headEnd type="none" w="med" len="med"/>
            <a:tailEnd type="none" w="med" len="med"/>
          </a:ln>
        </p:spPr>
      </p:sp>
      <p:sp>
        <p:nvSpPr>
          <p:cNvPr id="144418" name="直接连接符 284706"/>
          <p:cNvSpPr/>
          <p:nvPr/>
        </p:nvSpPr>
        <p:spPr>
          <a:xfrm flipV="1">
            <a:off x="8089900" y="2425700"/>
            <a:ext cx="0" cy="3987800"/>
          </a:xfrm>
          <a:prstGeom prst="line">
            <a:avLst/>
          </a:prstGeom>
          <a:ln w="25400" cap="flat" cmpd="sng">
            <a:solidFill>
              <a:schemeClr val="tx1"/>
            </a:solidFill>
            <a:prstDash val="solid"/>
            <a:round/>
            <a:headEnd type="none" w="med" len="med"/>
            <a:tailEnd type="none" w="med" len="med"/>
          </a:ln>
        </p:spPr>
      </p:sp>
      <p:sp>
        <p:nvSpPr>
          <p:cNvPr id="144419" name="直接连接符 284707"/>
          <p:cNvSpPr/>
          <p:nvPr/>
        </p:nvSpPr>
        <p:spPr>
          <a:xfrm flipV="1">
            <a:off x="990600" y="2425700"/>
            <a:ext cx="0" cy="3987800"/>
          </a:xfrm>
          <a:prstGeom prst="line">
            <a:avLst/>
          </a:prstGeom>
          <a:ln w="25400" cap="flat" cmpd="sng">
            <a:solidFill>
              <a:schemeClr val="tx1"/>
            </a:solidFill>
            <a:prstDash val="solid"/>
            <a:round/>
            <a:headEnd type="none" w="med" len="med"/>
            <a:tailEnd type="none" w="med" len="med"/>
          </a:ln>
        </p:spPr>
      </p:sp>
      <p:sp>
        <p:nvSpPr>
          <p:cNvPr id="144420" name="矩形 284708"/>
          <p:cNvSpPr/>
          <p:nvPr/>
        </p:nvSpPr>
        <p:spPr>
          <a:xfrm>
            <a:off x="3148013" y="2743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21" name="矩形 284709"/>
          <p:cNvSpPr/>
          <p:nvPr/>
        </p:nvSpPr>
        <p:spPr>
          <a:xfrm>
            <a:off x="3148013" y="3048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22" name="矩形 284710"/>
          <p:cNvSpPr/>
          <p:nvPr/>
        </p:nvSpPr>
        <p:spPr>
          <a:xfrm>
            <a:off x="3148013" y="33528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23" name="矩形 284711"/>
          <p:cNvSpPr/>
          <p:nvPr/>
        </p:nvSpPr>
        <p:spPr>
          <a:xfrm>
            <a:off x="3148013" y="36576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24" name="矩形 284712"/>
          <p:cNvSpPr/>
          <p:nvPr/>
        </p:nvSpPr>
        <p:spPr>
          <a:xfrm>
            <a:off x="3148013" y="3962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25" name="矩形 284713"/>
          <p:cNvSpPr/>
          <p:nvPr/>
        </p:nvSpPr>
        <p:spPr>
          <a:xfrm>
            <a:off x="3148013" y="4267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26" name="矩形 284714"/>
          <p:cNvSpPr/>
          <p:nvPr/>
        </p:nvSpPr>
        <p:spPr>
          <a:xfrm>
            <a:off x="3148013" y="4572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27" name="矩形 284715"/>
          <p:cNvSpPr/>
          <p:nvPr/>
        </p:nvSpPr>
        <p:spPr>
          <a:xfrm>
            <a:off x="3148013" y="48768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28" name="矩形 284716"/>
          <p:cNvSpPr/>
          <p:nvPr/>
        </p:nvSpPr>
        <p:spPr>
          <a:xfrm>
            <a:off x="2886075" y="5181600"/>
            <a:ext cx="993775" cy="333375"/>
          </a:xfrm>
          <a:prstGeom prst="rect">
            <a:avLst/>
          </a:prstGeom>
          <a:noFill/>
          <a:ln w="12700">
            <a:noFill/>
          </a:ln>
        </p:spPr>
        <p:txBody>
          <a:bodyPr wrap="none" lIns="90488" tIns="44450" rIns="90488" bIns="44450" anchor="t" anchorCtr="0">
            <a:spAutoFit/>
          </a:bodyPr>
          <a:p>
            <a:pPr eaLnBrk="0" hangingPunct="0"/>
            <a:r>
              <a:rPr lang="zh-CN" altLang="en-US" b="0" dirty="0">
                <a:solidFill>
                  <a:srgbClr val="0000FF"/>
                </a:solidFill>
                <a:latin typeface="Times New Roman" panose="02020603050405020304" pitchFamily="18" charset="0"/>
                <a:ea typeface="宋体" panose="02010600030101010101" pitchFamily="2" charset="-122"/>
              </a:rPr>
              <a:t>“</a:t>
            </a:r>
            <a:r>
              <a:rPr lang="en-US" altLang="zh-CN">
                <a:solidFill>
                  <a:srgbClr val="0000FF"/>
                </a:solidFill>
                <a:latin typeface="Arial" panose="020B0604020202020204" pitchFamily="34" charset="0"/>
                <a:ea typeface="宋体" panose="02010600030101010101" pitchFamily="2" charset="-122"/>
              </a:rPr>
              <a:t>R-type</a:t>
            </a:r>
            <a:r>
              <a:rPr lang="en-US" altLang="zh-CN" b="0">
                <a:solidFill>
                  <a:srgbClr val="0000FF"/>
                </a:solidFill>
                <a:latin typeface="Times New Roman" panose="02020603050405020304" pitchFamily="18" charset="0"/>
                <a:ea typeface="宋体" panose="02010600030101010101" pitchFamily="2" charset="-122"/>
              </a:rPr>
              <a:t>”</a:t>
            </a:r>
            <a:endParaRPr lang="en-US" altLang="zh-CN" b="0">
              <a:solidFill>
                <a:srgbClr val="0000FF"/>
              </a:solidFill>
              <a:latin typeface="Times New Roman" panose="02020603050405020304" pitchFamily="18" charset="0"/>
              <a:ea typeface="宋体" panose="02010600030101010101" pitchFamily="2" charset="-122"/>
            </a:endParaRPr>
          </a:p>
        </p:txBody>
      </p:sp>
      <p:sp>
        <p:nvSpPr>
          <p:cNvPr id="144429" name="矩形 284717"/>
          <p:cNvSpPr/>
          <p:nvPr/>
        </p:nvSpPr>
        <p:spPr>
          <a:xfrm>
            <a:off x="4075113" y="2743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30" name="矩形 284718"/>
          <p:cNvSpPr/>
          <p:nvPr/>
        </p:nvSpPr>
        <p:spPr>
          <a:xfrm>
            <a:off x="4075113" y="3048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31" name="矩形 284719"/>
          <p:cNvSpPr/>
          <p:nvPr/>
        </p:nvSpPr>
        <p:spPr>
          <a:xfrm>
            <a:off x="4075113" y="33528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32" name="矩形 284720"/>
          <p:cNvSpPr/>
          <p:nvPr/>
        </p:nvSpPr>
        <p:spPr>
          <a:xfrm>
            <a:off x="4075113" y="36576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33" name="矩形 284721"/>
          <p:cNvSpPr/>
          <p:nvPr/>
        </p:nvSpPr>
        <p:spPr>
          <a:xfrm>
            <a:off x="4075113" y="3962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34" name="矩形 284722"/>
          <p:cNvSpPr/>
          <p:nvPr/>
        </p:nvSpPr>
        <p:spPr>
          <a:xfrm>
            <a:off x="4075113" y="4267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35" name="矩形 284723"/>
          <p:cNvSpPr/>
          <p:nvPr/>
        </p:nvSpPr>
        <p:spPr>
          <a:xfrm>
            <a:off x="4075113" y="4572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36" name="矩形 284724"/>
          <p:cNvSpPr/>
          <p:nvPr/>
        </p:nvSpPr>
        <p:spPr>
          <a:xfrm>
            <a:off x="4075113" y="48768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37" name="矩形 284725"/>
          <p:cNvSpPr/>
          <p:nvPr/>
        </p:nvSpPr>
        <p:spPr>
          <a:xfrm>
            <a:off x="3998913" y="5181600"/>
            <a:ext cx="419100" cy="333375"/>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Or</a:t>
            </a:r>
            <a:endParaRPr lang="en-US" altLang="zh-CN">
              <a:solidFill>
                <a:srgbClr val="0000FF"/>
              </a:solidFill>
              <a:latin typeface="Arial" panose="020B0604020202020204" pitchFamily="34" charset="0"/>
              <a:ea typeface="宋体" panose="02010600030101010101" pitchFamily="2" charset="-122"/>
            </a:endParaRPr>
          </a:p>
        </p:txBody>
      </p:sp>
      <p:sp>
        <p:nvSpPr>
          <p:cNvPr id="144438" name="矩形 284726"/>
          <p:cNvSpPr/>
          <p:nvPr/>
        </p:nvSpPr>
        <p:spPr>
          <a:xfrm>
            <a:off x="4964113" y="27305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39" name="矩形 284727"/>
          <p:cNvSpPr/>
          <p:nvPr/>
        </p:nvSpPr>
        <p:spPr>
          <a:xfrm>
            <a:off x="4964113" y="30353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40" name="矩形 284728"/>
          <p:cNvSpPr/>
          <p:nvPr/>
        </p:nvSpPr>
        <p:spPr>
          <a:xfrm>
            <a:off x="4964113" y="3340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41" name="矩形 284729"/>
          <p:cNvSpPr/>
          <p:nvPr/>
        </p:nvSpPr>
        <p:spPr>
          <a:xfrm>
            <a:off x="4964113" y="36449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42" name="矩形 284730"/>
          <p:cNvSpPr/>
          <p:nvPr/>
        </p:nvSpPr>
        <p:spPr>
          <a:xfrm>
            <a:off x="4964113" y="39497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43" name="矩形 284731"/>
          <p:cNvSpPr/>
          <p:nvPr/>
        </p:nvSpPr>
        <p:spPr>
          <a:xfrm>
            <a:off x="4964113" y="42545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44" name="矩形 284732"/>
          <p:cNvSpPr/>
          <p:nvPr/>
        </p:nvSpPr>
        <p:spPr>
          <a:xfrm>
            <a:off x="4964113" y="45593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45" name="矩形 284733"/>
          <p:cNvSpPr/>
          <p:nvPr/>
        </p:nvSpPr>
        <p:spPr>
          <a:xfrm>
            <a:off x="4964113" y="4864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46" name="矩形 284734"/>
          <p:cNvSpPr/>
          <p:nvPr/>
        </p:nvSpPr>
        <p:spPr>
          <a:xfrm>
            <a:off x="4887913" y="5168900"/>
            <a:ext cx="574675" cy="333375"/>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Add</a:t>
            </a:r>
            <a:endParaRPr lang="en-US" altLang="zh-CN">
              <a:solidFill>
                <a:srgbClr val="0000FF"/>
              </a:solidFill>
              <a:latin typeface="Arial" panose="020B0604020202020204" pitchFamily="34" charset="0"/>
              <a:ea typeface="宋体" panose="02010600030101010101" pitchFamily="2" charset="-122"/>
            </a:endParaRPr>
          </a:p>
        </p:txBody>
      </p:sp>
      <p:sp>
        <p:nvSpPr>
          <p:cNvPr id="144447" name="矩形 284735"/>
          <p:cNvSpPr/>
          <p:nvPr/>
        </p:nvSpPr>
        <p:spPr>
          <a:xfrm>
            <a:off x="5789613" y="27432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48" name="矩形 284736"/>
          <p:cNvSpPr/>
          <p:nvPr/>
        </p:nvSpPr>
        <p:spPr>
          <a:xfrm>
            <a:off x="5789613" y="3048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49" name="矩形 284737"/>
          <p:cNvSpPr/>
          <p:nvPr/>
        </p:nvSpPr>
        <p:spPr>
          <a:xfrm>
            <a:off x="5789613" y="33528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50" name="矩形 284738"/>
          <p:cNvSpPr/>
          <p:nvPr/>
        </p:nvSpPr>
        <p:spPr>
          <a:xfrm>
            <a:off x="5789613" y="36576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51" name="矩形 284739"/>
          <p:cNvSpPr/>
          <p:nvPr/>
        </p:nvSpPr>
        <p:spPr>
          <a:xfrm>
            <a:off x="5789613" y="3962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52" name="矩形 284740"/>
          <p:cNvSpPr/>
          <p:nvPr/>
        </p:nvSpPr>
        <p:spPr>
          <a:xfrm>
            <a:off x="5789613" y="4267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53" name="矩形 284741"/>
          <p:cNvSpPr/>
          <p:nvPr/>
        </p:nvSpPr>
        <p:spPr>
          <a:xfrm>
            <a:off x="5789613" y="4572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54" name="矩形 284742"/>
          <p:cNvSpPr/>
          <p:nvPr/>
        </p:nvSpPr>
        <p:spPr>
          <a:xfrm>
            <a:off x="5789613" y="48768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55" name="矩形 284743"/>
          <p:cNvSpPr/>
          <p:nvPr/>
        </p:nvSpPr>
        <p:spPr>
          <a:xfrm>
            <a:off x="5713413" y="5181600"/>
            <a:ext cx="574675" cy="333375"/>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Add</a:t>
            </a:r>
            <a:endParaRPr lang="en-US" altLang="zh-CN">
              <a:solidFill>
                <a:srgbClr val="0000FF"/>
              </a:solidFill>
              <a:latin typeface="Arial" panose="020B0604020202020204" pitchFamily="34" charset="0"/>
              <a:ea typeface="宋体" panose="02010600030101010101" pitchFamily="2" charset="-122"/>
            </a:endParaRPr>
          </a:p>
        </p:txBody>
      </p:sp>
      <p:sp>
        <p:nvSpPr>
          <p:cNvPr id="144456" name="矩形 284744"/>
          <p:cNvSpPr/>
          <p:nvPr/>
        </p:nvSpPr>
        <p:spPr>
          <a:xfrm>
            <a:off x="6615113" y="27432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57" name="矩形 284745"/>
          <p:cNvSpPr/>
          <p:nvPr/>
        </p:nvSpPr>
        <p:spPr>
          <a:xfrm>
            <a:off x="6615113" y="3048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58" name="矩形 284746"/>
          <p:cNvSpPr/>
          <p:nvPr/>
        </p:nvSpPr>
        <p:spPr>
          <a:xfrm>
            <a:off x="6615113" y="33528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59" name="矩形 284747"/>
          <p:cNvSpPr/>
          <p:nvPr/>
        </p:nvSpPr>
        <p:spPr>
          <a:xfrm>
            <a:off x="6615113" y="36576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60" name="矩形 284748"/>
          <p:cNvSpPr/>
          <p:nvPr/>
        </p:nvSpPr>
        <p:spPr>
          <a:xfrm>
            <a:off x="6615113" y="3962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61" name="矩形 284749"/>
          <p:cNvSpPr/>
          <p:nvPr/>
        </p:nvSpPr>
        <p:spPr>
          <a:xfrm>
            <a:off x="6615113" y="4267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62" name="矩形 284750"/>
          <p:cNvSpPr/>
          <p:nvPr/>
        </p:nvSpPr>
        <p:spPr>
          <a:xfrm>
            <a:off x="6615113" y="4572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63" name="矩形 284751"/>
          <p:cNvSpPr/>
          <p:nvPr/>
        </p:nvSpPr>
        <p:spPr>
          <a:xfrm>
            <a:off x="6615113" y="48768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64" name="矩形 284752"/>
          <p:cNvSpPr/>
          <p:nvPr/>
        </p:nvSpPr>
        <p:spPr>
          <a:xfrm>
            <a:off x="6415088" y="5197475"/>
            <a:ext cx="711200" cy="333375"/>
          </a:xfrm>
          <a:prstGeom prst="rect">
            <a:avLst/>
          </a:prstGeom>
          <a:noFill/>
          <a:ln w="12700">
            <a:noFill/>
          </a:ln>
        </p:spPr>
        <p:txBody>
          <a:bodyPr wrap="none" lIns="90488" tIns="44450" rIns="90488" bIns="44450" anchor="t" anchorCtr="0">
            <a:spAutoFit/>
          </a:bodyPr>
          <a:p>
            <a:pPr eaLnBrk="0" hangingPunct="0"/>
            <a:r>
              <a:rPr lang="en-US" altLang="zh-CN" dirty="0" err="1">
                <a:solidFill>
                  <a:srgbClr val="0000FF"/>
                </a:solidFill>
                <a:latin typeface="Arial" panose="020B0604020202020204" pitchFamily="34" charset="0"/>
                <a:ea typeface="宋体" panose="02010600030101010101" pitchFamily="2" charset="-122"/>
              </a:rPr>
              <a:t>Subtr</a:t>
            </a:r>
            <a:endParaRPr lang="en-US" altLang="zh-CN">
              <a:solidFill>
                <a:srgbClr val="0000FF"/>
              </a:solidFill>
              <a:latin typeface="Arial" panose="020B0604020202020204" pitchFamily="34" charset="0"/>
              <a:ea typeface="宋体" panose="02010600030101010101" pitchFamily="2" charset="-122"/>
            </a:endParaRPr>
          </a:p>
        </p:txBody>
      </p:sp>
      <p:sp>
        <p:nvSpPr>
          <p:cNvPr id="144465" name="矩形 284753"/>
          <p:cNvSpPr/>
          <p:nvPr/>
        </p:nvSpPr>
        <p:spPr>
          <a:xfrm>
            <a:off x="7440613" y="27432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66" name="矩形 284754"/>
          <p:cNvSpPr/>
          <p:nvPr/>
        </p:nvSpPr>
        <p:spPr>
          <a:xfrm>
            <a:off x="7440613" y="30480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67" name="矩形 284755"/>
          <p:cNvSpPr/>
          <p:nvPr/>
        </p:nvSpPr>
        <p:spPr>
          <a:xfrm>
            <a:off x="7440613" y="33528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68" name="矩形 284756"/>
          <p:cNvSpPr/>
          <p:nvPr/>
        </p:nvSpPr>
        <p:spPr>
          <a:xfrm>
            <a:off x="7440613" y="36576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69" name="矩形 284757"/>
          <p:cNvSpPr/>
          <p:nvPr/>
        </p:nvSpPr>
        <p:spPr>
          <a:xfrm>
            <a:off x="7440613" y="3962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70" name="矩形 284758"/>
          <p:cNvSpPr/>
          <p:nvPr/>
        </p:nvSpPr>
        <p:spPr>
          <a:xfrm>
            <a:off x="7440613" y="4267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71" name="矩形 284759"/>
          <p:cNvSpPr/>
          <p:nvPr/>
        </p:nvSpPr>
        <p:spPr>
          <a:xfrm>
            <a:off x="7440613" y="4572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72" name="矩形 284760"/>
          <p:cNvSpPr/>
          <p:nvPr/>
        </p:nvSpPr>
        <p:spPr>
          <a:xfrm>
            <a:off x="7440613" y="48768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73" name="矩形 284761"/>
          <p:cNvSpPr/>
          <p:nvPr/>
        </p:nvSpPr>
        <p:spPr>
          <a:xfrm>
            <a:off x="7364413" y="5181600"/>
            <a:ext cx="519112" cy="333375"/>
          </a:xfrm>
          <a:prstGeom prst="rect">
            <a:avLst/>
          </a:prstGeom>
          <a:noFill/>
          <a:ln w="12700">
            <a:noFill/>
          </a:ln>
        </p:spPr>
        <p:txBody>
          <a:bodyPr wrap="none" lIns="90488" tIns="44450" rIns="90488" bIns="44450" anchor="t" anchorCtr="0">
            <a:spAutoFit/>
          </a:bodyPr>
          <a:p>
            <a:pPr eaLnBrk="0" hangingPunct="0"/>
            <a:r>
              <a:rPr lang="en-US" altLang="zh-CN">
                <a:solidFill>
                  <a:srgbClr val="0000FF"/>
                </a:solidFill>
                <a:latin typeface="Arial" panose="020B0604020202020204" pitchFamily="34" charset="0"/>
                <a:ea typeface="宋体" panose="02010600030101010101" pitchFamily="2" charset="-122"/>
              </a:rPr>
              <a:t>xxx</a:t>
            </a:r>
            <a:endParaRPr lang="en-US" altLang="zh-CN">
              <a:solidFill>
                <a:srgbClr val="0000FF"/>
              </a:solidFill>
              <a:latin typeface="Arial" panose="020B0604020202020204" pitchFamily="34" charset="0"/>
              <a:ea typeface="宋体" panose="02010600030101010101" pitchFamily="2" charset="-122"/>
            </a:endParaRPr>
          </a:p>
        </p:txBody>
      </p:sp>
      <p:sp>
        <p:nvSpPr>
          <p:cNvPr id="144474" name="直接连接符 284762"/>
          <p:cNvSpPr/>
          <p:nvPr/>
        </p:nvSpPr>
        <p:spPr>
          <a:xfrm>
            <a:off x="2755900" y="2133600"/>
            <a:ext cx="5308600" cy="0"/>
          </a:xfrm>
          <a:prstGeom prst="line">
            <a:avLst/>
          </a:prstGeom>
          <a:ln w="25400" cap="flat" cmpd="sng">
            <a:solidFill>
              <a:schemeClr val="tx1"/>
            </a:solidFill>
            <a:prstDash val="solid"/>
            <a:round/>
            <a:headEnd type="none" w="med" len="med"/>
            <a:tailEnd type="none" w="med" len="med"/>
          </a:ln>
        </p:spPr>
      </p:sp>
      <p:sp>
        <p:nvSpPr>
          <p:cNvPr id="144475" name="矩形 284763"/>
          <p:cNvSpPr/>
          <p:nvPr/>
        </p:nvSpPr>
        <p:spPr>
          <a:xfrm>
            <a:off x="2347913" y="2133600"/>
            <a:ext cx="4603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sp>
        <p:nvSpPr>
          <p:cNvPr id="144476" name="矩形 284764"/>
          <p:cNvSpPr/>
          <p:nvPr/>
        </p:nvSpPr>
        <p:spPr>
          <a:xfrm>
            <a:off x="2919413" y="2133600"/>
            <a:ext cx="9937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0000</a:t>
            </a:r>
            <a:endParaRPr lang="zh-CN" altLang="en-US" sz="1800" dirty="0">
              <a:latin typeface="Arial" panose="020B0604020202020204" pitchFamily="34" charset="0"/>
              <a:ea typeface="宋体" panose="02010600030101010101" pitchFamily="2" charset="-122"/>
            </a:endParaRPr>
          </a:p>
        </p:txBody>
      </p:sp>
      <p:sp>
        <p:nvSpPr>
          <p:cNvPr id="144477" name="矩形 284765"/>
          <p:cNvSpPr/>
          <p:nvPr/>
        </p:nvSpPr>
        <p:spPr>
          <a:xfrm>
            <a:off x="3808413" y="2133600"/>
            <a:ext cx="9937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1101</a:t>
            </a:r>
            <a:endParaRPr lang="zh-CN" altLang="en-US" sz="1800" dirty="0">
              <a:latin typeface="Arial" panose="020B0604020202020204" pitchFamily="34" charset="0"/>
              <a:ea typeface="宋体" panose="02010600030101010101" pitchFamily="2" charset="-122"/>
            </a:endParaRPr>
          </a:p>
        </p:txBody>
      </p:sp>
      <p:sp>
        <p:nvSpPr>
          <p:cNvPr id="144478" name="矩形 284766"/>
          <p:cNvSpPr/>
          <p:nvPr/>
        </p:nvSpPr>
        <p:spPr>
          <a:xfrm>
            <a:off x="4710113" y="2120900"/>
            <a:ext cx="9937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0011</a:t>
            </a:r>
            <a:endParaRPr lang="zh-CN" altLang="en-US" sz="1800" dirty="0">
              <a:latin typeface="Arial" panose="020B0604020202020204" pitchFamily="34" charset="0"/>
              <a:ea typeface="宋体" panose="02010600030101010101" pitchFamily="2" charset="-122"/>
            </a:endParaRPr>
          </a:p>
        </p:txBody>
      </p:sp>
      <p:sp>
        <p:nvSpPr>
          <p:cNvPr id="144479" name="矩形 284767"/>
          <p:cNvSpPr/>
          <p:nvPr/>
        </p:nvSpPr>
        <p:spPr>
          <a:xfrm>
            <a:off x="5548313" y="2133600"/>
            <a:ext cx="9937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1011</a:t>
            </a:r>
            <a:endParaRPr lang="zh-CN" altLang="en-US" sz="1800" dirty="0">
              <a:latin typeface="Arial" panose="020B0604020202020204" pitchFamily="34" charset="0"/>
              <a:ea typeface="宋体" panose="02010600030101010101" pitchFamily="2" charset="-122"/>
            </a:endParaRPr>
          </a:p>
        </p:txBody>
      </p:sp>
      <p:sp>
        <p:nvSpPr>
          <p:cNvPr id="144480" name="矩形 284768"/>
          <p:cNvSpPr/>
          <p:nvPr/>
        </p:nvSpPr>
        <p:spPr>
          <a:xfrm>
            <a:off x="6361113" y="2133600"/>
            <a:ext cx="9937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0100</a:t>
            </a:r>
            <a:endParaRPr lang="zh-CN" altLang="en-US" sz="1800" dirty="0">
              <a:latin typeface="Arial" panose="020B0604020202020204" pitchFamily="34" charset="0"/>
              <a:ea typeface="宋体" panose="02010600030101010101" pitchFamily="2" charset="-122"/>
            </a:endParaRPr>
          </a:p>
        </p:txBody>
      </p:sp>
      <p:sp>
        <p:nvSpPr>
          <p:cNvPr id="144481" name="矩形 284769"/>
          <p:cNvSpPr/>
          <p:nvPr/>
        </p:nvSpPr>
        <p:spPr>
          <a:xfrm>
            <a:off x="7186613" y="2133600"/>
            <a:ext cx="10064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00 0010</a:t>
            </a:r>
            <a:endParaRPr lang="zh-CN" altLang="en-US" sz="1800" dirty="0">
              <a:latin typeface="Arial" panose="020B0604020202020204" pitchFamily="34" charset="0"/>
              <a:ea typeface="宋体" panose="02010600030101010101" pitchFamily="2" charset="-122"/>
            </a:endParaRPr>
          </a:p>
        </p:txBody>
      </p:sp>
      <p:sp>
        <p:nvSpPr>
          <p:cNvPr id="144482" name="直接连接符 284770"/>
          <p:cNvSpPr/>
          <p:nvPr/>
        </p:nvSpPr>
        <p:spPr>
          <a:xfrm flipV="1">
            <a:off x="4762500" y="2120900"/>
            <a:ext cx="0" cy="330200"/>
          </a:xfrm>
          <a:prstGeom prst="line">
            <a:avLst/>
          </a:prstGeom>
          <a:ln w="25400" cap="flat" cmpd="sng">
            <a:solidFill>
              <a:schemeClr val="tx1"/>
            </a:solidFill>
            <a:prstDash val="solid"/>
            <a:round/>
            <a:headEnd type="none" w="med" len="med"/>
            <a:tailEnd type="none" w="med" len="med"/>
          </a:ln>
        </p:spPr>
      </p:sp>
      <p:sp>
        <p:nvSpPr>
          <p:cNvPr id="144483" name="直接连接符 284771"/>
          <p:cNvSpPr/>
          <p:nvPr/>
        </p:nvSpPr>
        <p:spPr>
          <a:xfrm flipV="1">
            <a:off x="5613400" y="2108200"/>
            <a:ext cx="0" cy="330200"/>
          </a:xfrm>
          <a:prstGeom prst="line">
            <a:avLst/>
          </a:prstGeom>
          <a:ln w="25400" cap="flat" cmpd="sng">
            <a:solidFill>
              <a:schemeClr val="tx1"/>
            </a:solidFill>
            <a:prstDash val="solid"/>
            <a:round/>
            <a:headEnd type="none" w="med" len="med"/>
            <a:tailEnd type="none" w="med" len="med"/>
          </a:ln>
        </p:spPr>
      </p:sp>
      <p:sp>
        <p:nvSpPr>
          <p:cNvPr id="144484" name="直接连接符 284772"/>
          <p:cNvSpPr/>
          <p:nvPr/>
        </p:nvSpPr>
        <p:spPr>
          <a:xfrm flipV="1">
            <a:off x="6451600" y="2120900"/>
            <a:ext cx="0" cy="330200"/>
          </a:xfrm>
          <a:prstGeom prst="line">
            <a:avLst/>
          </a:prstGeom>
          <a:ln w="25400" cap="flat" cmpd="sng">
            <a:solidFill>
              <a:schemeClr val="tx1"/>
            </a:solidFill>
            <a:prstDash val="solid"/>
            <a:round/>
            <a:headEnd type="none" w="med" len="med"/>
            <a:tailEnd type="none" w="med" len="med"/>
          </a:ln>
        </p:spPr>
      </p:sp>
      <p:sp>
        <p:nvSpPr>
          <p:cNvPr id="144485" name="直接连接符 284773"/>
          <p:cNvSpPr/>
          <p:nvPr/>
        </p:nvSpPr>
        <p:spPr>
          <a:xfrm flipV="1">
            <a:off x="7264400" y="2120900"/>
            <a:ext cx="0" cy="330200"/>
          </a:xfrm>
          <a:prstGeom prst="line">
            <a:avLst/>
          </a:prstGeom>
          <a:ln w="25400" cap="flat" cmpd="sng">
            <a:solidFill>
              <a:schemeClr val="tx1"/>
            </a:solidFill>
            <a:prstDash val="solid"/>
            <a:round/>
            <a:headEnd type="none" w="med" len="med"/>
            <a:tailEnd type="none" w="med" len="med"/>
          </a:ln>
        </p:spPr>
      </p:sp>
      <p:sp>
        <p:nvSpPr>
          <p:cNvPr id="144486" name="直接连接符 284774"/>
          <p:cNvSpPr/>
          <p:nvPr/>
        </p:nvSpPr>
        <p:spPr>
          <a:xfrm flipV="1">
            <a:off x="8089900" y="2120900"/>
            <a:ext cx="0" cy="330200"/>
          </a:xfrm>
          <a:prstGeom prst="line">
            <a:avLst/>
          </a:prstGeom>
          <a:ln w="25400" cap="flat" cmpd="sng">
            <a:solidFill>
              <a:schemeClr val="tx1"/>
            </a:solidFill>
            <a:prstDash val="solid"/>
            <a:round/>
            <a:headEnd type="none" w="med" len="med"/>
            <a:tailEnd type="none" w="med" len="med"/>
          </a:ln>
        </p:spPr>
      </p:sp>
      <p:sp>
        <p:nvSpPr>
          <p:cNvPr id="144487" name="直接连接符 284775"/>
          <p:cNvSpPr/>
          <p:nvPr/>
        </p:nvSpPr>
        <p:spPr>
          <a:xfrm flipV="1">
            <a:off x="2743200" y="2120900"/>
            <a:ext cx="0" cy="330200"/>
          </a:xfrm>
          <a:prstGeom prst="line">
            <a:avLst/>
          </a:prstGeom>
          <a:ln w="25400" cap="flat" cmpd="sng">
            <a:solidFill>
              <a:schemeClr val="tx1"/>
            </a:solidFill>
            <a:prstDash val="solid"/>
            <a:round/>
            <a:headEnd type="none" w="med" len="med"/>
            <a:tailEnd type="none" w="med" len="med"/>
          </a:ln>
        </p:spPr>
      </p:sp>
      <p:sp>
        <p:nvSpPr>
          <p:cNvPr id="144488" name="直接连接符 284776"/>
          <p:cNvSpPr/>
          <p:nvPr/>
        </p:nvSpPr>
        <p:spPr>
          <a:xfrm flipV="1">
            <a:off x="3860800" y="2120900"/>
            <a:ext cx="0" cy="330200"/>
          </a:xfrm>
          <a:prstGeom prst="line">
            <a:avLst/>
          </a:prstGeom>
          <a:ln w="25400" cap="flat" cmpd="sng">
            <a:solidFill>
              <a:schemeClr val="tx1"/>
            </a:solidFill>
            <a:prstDash val="solid"/>
            <a:round/>
            <a:headEnd type="none" w="med" len="med"/>
            <a:tailEnd type="none" w="med" len="med"/>
          </a:ln>
        </p:spPr>
      </p:sp>
      <p:sp>
        <p:nvSpPr>
          <p:cNvPr id="144489" name="矩形 284777"/>
          <p:cNvSpPr/>
          <p:nvPr/>
        </p:nvSpPr>
        <p:spPr>
          <a:xfrm>
            <a:off x="976313" y="5486400"/>
            <a:ext cx="1252537" cy="333375"/>
          </a:xfrm>
          <a:prstGeom prst="rect">
            <a:avLst/>
          </a:prstGeom>
          <a:noFill/>
          <a:ln w="12700">
            <a:noFill/>
          </a:ln>
        </p:spPr>
        <p:txBody>
          <a:bodyPr wrap="none" lIns="90488" tIns="44450" rIns="90488" bIns="44450" anchor="t" anchorCtr="0">
            <a:spAutoFit/>
          </a:bodyPr>
          <a:p>
            <a:pPr eaLnBrk="0" hangingPunct="0"/>
            <a:r>
              <a:rPr lang="en-US" altLang="zh-CN" dirty="0" err="1">
                <a:solidFill>
                  <a:srgbClr val="A50021"/>
                </a:solidFill>
                <a:latin typeface="Arial" panose="020B0604020202020204" pitchFamily="34" charset="0"/>
                <a:ea typeface="宋体" panose="02010600030101010101" pitchFamily="2" charset="-122"/>
              </a:rPr>
              <a:t>ALUop</a:t>
            </a:r>
            <a:r>
              <a:rPr lang="en-US" altLang="zh-CN">
                <a:solidFill>
                  <a:srgbClr val="A50021"/>
                </a:solidFill>
                <a:latin typeface="Arial" panose="020B0604020202020204" pitchFamily="34" charset="0"/>
                <a:ea typeface="宋体" panose="02010600030101010101" pitchFamily="2" charset="-122"/>
              </a:rPr>
              <a:t> &lt;2&gt;</a:t>
            </a:r>
            <a:endParaRPr lang="en-US" altLang="zh-CN">
              <a:solidFill>
                <a:srgbClr val="A50021"/>
              </a:solidFill>
              <a:latin typeface="Arial" panose="020B0604020202020204" pitchFamily="34" charset="0"/>
              <a:ea typeface="宋体" panose="02010600030101010101" pitchFamily="2" charset="-122"/>
            </a:endParaRPr>
          </a:p>
        </p:txBody>
      </p:sp>
      <p:sp>
        <p:nvSpPr>
          <p:cNvPr id="144490" name="直接连接符 284778"/>
          <p:cNvSpPr/>
          <p:nvPr/>
        </p:nvSpPr>
        <p:spPr>
          <a:xfrm>
            <a:off x="1003300" y="5791200"/>
            <a:ext cx="7061200" cy="0"/>
          </a:xfrm>
          <a:prstGeom prst="line">
            <a:avLst/>
          </a:prstGeom>
          <a:ln w="25400" cap="flat" cmpd="sng">
            <a:solidFill>
              <a:schemeClr val="tx1"/>
            </a:solidFill>
            <a:prstDash val="solid"/>
            <a:round/>
            <a:headEnd type="none" w="med" len="med"/>
            <a:tailEnd type="none" w="med" len="med"/>
          </a:ln>
        </p:spPr>
      </p:sp>
      <p:sp>
        <p:nvSpPr>
          <p:cNvPr id="144491" name="矩形 284779"/>
          <p:cNvSpPr/>
          <p:nvPr/>
        </p:nvSpPr>
        <p:spPr>
          <a:xfrm>
            <a:off x="3190875" y="5486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492" name="矩形 284780"/>
          <p:cNvSpPr/>
          <p:nvPr/>
        </p:nvSpPr>
        <p:spPr>
          <a:xfrm>
            <a:off x="4075113" y="5486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93" name="矩形 284781"/>
          <p:cNvSpPr/>
          <p:nvPr/>
        </p:nvSpPr>
        <p:spPr>
          <a:xfrm>
            <a:off x="4964113" y="54737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94" name="矩形 284782"/>
          <p:cNvSpPr/>
          <p:nvPr/>
        </p:nvSpPr>
        <p:spPr>
          <a:xfrm>
            <a:off x="5789613" y="54864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95" name="矩形 284783"/>
          <p:cNvSpPr/>
          <p:nvPr/>
        </p:nvSpPr>
        <p:spPr>
          <a:xfrm>
            <a:off x="6656388" y="5502275"/>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496" name="矩形 284784"/>
          <p:cNvSpPr/>
          <p:nvPr/>
        </p:nvSpPr>
        <p:spPr>
          <a:xfrm>
            <a:off x="7440613" y="54864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497" name="矩形 284785"/>
          <p:cNvSpPr/>
          <p:nvPr/>
        </p:nvSpPr>
        <p:spPr>
          <a:xfrm>
            <a:off x="976313" y="5791200"/>
            <a:ext cx="1246187" cy="333375"/>
          </a:xfrm>
          <a:prstGeom prst="rect">
            <a:avLst/>
          </a:prstGeom>
          <a:noFill/>
          <a:ln w="12700">
            <a:noFill/>
          </a:ln>
        </p:spPr>
        <p:txBody>
          <a:bodyPr wrap="none" lIns="90488" tIns="44450" rIns="90488" bIns="44450" anchor="t" anchorCtr="0">
            <a:spAutoFit/>
          </a:bodyPr>
          <a:p>
            <a:pPr eaLnBrk="0" hangingPunct="0"/>
            <a:r>
              <a:rPr lang="en-US" altLang="zh-CN" dirty="0" err="1">
                <a:solidFill>
                  <a:srgbClr val="A50021"/>
                </a:solidFill>
                <a:latin typeface="Arial" panose="020B0604020202020204" pitchFamily="34" charset="0"/>
                <a:ea typeface="宋体" panose="02010600030101010101" pitchFamily="2" charset="-122"/>
              </a:rPr>
              <a:t>ALUop</a:t>
            </a:r>
            <a:r>
              <a:rPr lang="en-US" altLang="zh-CN">
                <a:solidFill>
                  <a:srgbClr val="339933"/>
                </a:solidFill>
                <a:latin typeface="Times New Roman" panose="02020603050405020304" pitchFamily="18" charset="0"/>
                <a:ea typeface="宋体" panose="02010600030101010101" pitchFamily="2" charset="-122"/>
              </a:rPr>
              <a:t> </a:t>
            </a:r>
            <a:r>
              <a:rPr lang="en-US" altLang="zh-CN">
                <a:solidFill>
                  <a:srgbClr val="A50021"/>
                </a:solidFill>
                <a:latin typeface="Arial" panose="020B0604020202020204" pitchFamily="34" charset="0"/>
                <a:ea typeface="宋体" panose="02010600030101010101" pitchFamily="2" charset="-122"/>
              </a:rPr>
              <a:t>&lt;1&gt;</a:t>
            </a:r>
            <a:endParaRPr lang="en-US" altLang="zh-CN">
              <a:solidFill>
                <a:srgbClr val="A50021"/>
              </a:solidFill>
              <a:latin typeface="Arial" panose="020B0604020202020204" pitchFamily="34" charset="0"/>
              <a:ea typeface="宋体" panose="02010600030101010101" pitchFamily="2" charset="-122"/>
            </a:endParaRPr>
          </a:p>
        </p:txBody>
      </p:sp>
      <p:sp>
        <p:nvSpPr>
          <p:cNvPr id="144498" name="直接连接符 284786"/>
          <p:cNvSpPr/>
          <p:nvPr/>
        </p:nvSpPr>
        <p:spPr>
          <a:xfrm>
            <a:off x="1003300" y="6096000"/>
            <a:ext cx="7061200" cy="0"/>
          </a:xfrm>
          <a:prstGeom prst="line">
            <a:avLst/>
          </a:prstGeom>
          <a:ln w="25400" cap="flat" cmpd="sng">
            <a:solidFill>
              <a:schemeClr val="tx1"/>
            </a:solidFill>
            <a:prstDash val="solid"/>
            <a:round/>
            <a:headEnd type="none" w="med" len="med"/>
            <a:tailEnd type="none" w="med" len="med"/>
          </a:ln>
        </p:spPr>
      </p:sp>
      <p:sp>
        <p:nvSpPr>
          <p:cNvPr id="144499" name="矩形 284787"/>
          <p:cNvSpPr/>
          <p:nvPr/>
        </p:nvSpPr>
        <p:spPr>
          <a:xfrm>
            <a:off x="3190875" y="57912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500" name="矩形 284788"/>
          <p:cNvSpPr/>
          <p:nvPr/>
        </p:nvSpPr>
        <p:spPr>
          <a:xfrm>
            <a:off x="4075113" y="5791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501" name="矩形 284789"/>
          <p:cNvSpPr/>
          <p:nvPr/>
        </p:nvSpPr>
        <p:spPr>
          <a:xfrm>
            <a:off x="4964113" y="57785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502" name="矩形 284790"/>
          <p:cNvSpPr/>
          <p:nvPr/>
        </p:nvSpPr>
        <p:spPr>
          <a:xfrm>
            <a:off x="5789613" y="5791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503" name="矩形 284791"/>
          <p:cNvSpPr/>
          <p:nvPr/>
        </p:nvSpPr>
        <p:spPr>
          <a:xfrm>
            <a:off x="6656388" y="5807075"/>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504" name="矩形 284792"/>
          <p:cNvSpPr/>
          <p:nvPr/>
        </p:nvSpPr>
        <p:spPr>
          <a:xfrm>
            <a:off x="7440613" y="57912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505" name="矩形 284793"/>
          <p:cNvSpPr/>
          <p:nvPr/>
        </p:nvSpPr>
        <p:spPr>
          <a:xfrm>
            <a:off x="976313" y="6096000"/>
            <a:ext cx="1252537" cy="333375"/>
          </a:xfrm>
          <a:prstGeom prst="rect">
            <a:avLst/>
          </a:prstGeom>
          <a:noFill/>
          <a:ln w="12700">
            <a:noFill/>
          </a:ln>
        </p:spPr>
        <p:txBody>
          <a:bodyPr wrap="none" lIns="90488" tIns="44450" rIns="90488" bIns="44450" anchor="t" anchorCtr="0">
            <a:spAutoFit/>
          </a:bodyPr>
          <a:p>
            <a:pPr eaLnBrk="0" hangingPunct="0"/>
            <a:r>
              <a:rPr lang="en-US" altLang="zh-CN" dirty="0" err="1">
                <a:solidFill>
                  <a:srgbClr val="A50021"/>
                </a:solidFill>
                <a:latin typeface="Arial" panose="020B0604020202020204" pitchFamily="34" charset="0"/>
                <a:ea typeface="宋体" panose="02010600030101010101" pitchFamily="2" charset="-122"/>
              </a:rPr>
              <a:t>ALUop</a:t>
            </a:r>
            <a:r>
              <a:rPr lang="en-US" altLang="zh-CN">
                <a:solidFill>
                  <a:srgbClr val="A50021"/>
                </a:solidFill>
                <a:latin typeface="Arial" panose="020B0604020202020204" pitchFamily="34" charset="0"/>
                <a:ea typeface="宋体" panose="02010600030101010101" pitchFamily="2" charset="-122"/>
              </a:rPr>
              <a:t> &lt;0&gt;</a:t>
            </a:r>
            <a:endParaRPr lang="en-US" altLang="zh-CN">
              <a:solidFill>
                <a:srgbClr val="A50021"/>
              </a:solidFill>
              <a:latin typeface="Arial" panose="020B0604020202020204" pitchFamily="34" charset="0"/>
              <a:ea typeface="宋体" panose="02010600030101010101" pitchFamily="2" charset="-122"/>
            </a:endParaRPr>
          </a:p>
        </p:txBody>
      </p:sp>
      <p:sp>
        <p:nvSpPr>
          <p:cNvPr id="144506" name="直接连接符 284794"/>
          <p:cNvSpPr/>
          <p:nvPr/>
        </p:nvSpPr>
        <p:spPr>
          <a:xfrm>
            <a:off x="1003300" y="6400800"/>
            <a:ext cx="7061200" cy="0"/>
          </a:xfrm>
          <a:prstGeom prst="line">
            <a:avLst/>
          </a:prstGeom>
          <a:ln w="25400" cap="flat" cmpd="sng">
            <a:solidFill>
              <a:schemeClr val="tx1"/>
            </a:solidFill>
            <a:prstDash val="solid"/>
            <a:round/>
            <a:headEnd type="none" w="med" len="med"/>
            <a:tailEnd type="none" w="med" len="med"/>
          </a:ln>
        </p:spPr>
      </p:sp>
      <p:sp>
        <p:nvSpPr>
          <p:cNvPr id="144507" name="矩形 284795"/>
          <p:cNvSpPr/>
          <p:nvPr/>
        </p:nvSpPr>
        <p:spPr>
          <a:xfrm>
            <a:off x="3190875" y="60960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sp>
        <p:nvSpPr>
          <p:cNvPr id="144508" name="矩形 284796"/>
          <p:cNvSpPr/>
          <p:nvPr/>
        </p:nvSpPr>
        <p:spPr>
          <a:xfrm>
            <a:off x="4075113" y="6096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509" name="矩形 284797"/>
          <p:cNvSpPr/>
          <p:nvPr/>
        </p:nvSpPr>
        <p:spPr>
          <a:xfrm>
            <a:off x="4964113" y="60833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510" name="矩形 284798"/>
          <p:cNvSpPr/>
          <p:nvPr/>
        </p:nvSpPr>
        <p:spPr>
          <a:xfrm>
            <a:off x="5789613" y="6096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4511" name="矩形 284799"/>
          <p:cNvSpPr/>
          <p:nvPr/>
        </p:nvSpPr>
        <p:spPr>
          <a:xfrm>
            <a:off x="6656388" y="6111875"/>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4512" name="矩形 284800"/>
          <p:cNvSpPr/>
          <p:nvPr/>
        </p:nvSpPr>
        <p:spPr>
          <a:xfrm>
            <a:off x="7440613" y="6096000"/>
            <a:ext cx="3079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x</a:t>
            </a:r>
            <a:endParaRPr lang="en-US" altLang="zh-CN" sz="1800">
              <a:latin typeface="Arial" panose="020B0604020202020204" pitchFamily="34" charset="0"/>
              <a:ea typeface="宋体" panose="02010600030101010101" pitchFamily="2" charset="-122"/>
            </a:endParaRPr>
          </a:p>
        </p:txBody>
      </p:sp>
      <p:grpSp>
        <p:nvGrpSpPr>
          <p:cNvPr id="144513" name="组合 284801"/>
          <p:cNvGrpSpPr/>
          <p:nvPr/>
        </p:nvGrpSpPr>
        <p:grpSpPr>
          <a:xfrm>
            <a:off x="823913" y="628650"/>
            <a:ext cx="7900987" cy="1563688"/>
            <a:chOff x="519" y="384"/>
            <a:chExt cx="4865" cy="938"/>
          </a:xfrm>
        </p:grpSpPr>
        <p:sp>
          <p:nvSpPr>
            <p:cNvPr id="144514" name="矩形 284802"/>
            <p:cNvSpPr/>
            <p:nvPr/>
          </p:nvSpPr>
          <p:spPr>
            <a:xfrm>
              <a:off x="1160" y="440"/>
              <a:ext cx="608" cy="8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4515" name="矩形 284803"/>
            <p:cNvSpPr/>
            <p:nvPr/>
          </p:nvSpPr>
          <p:spPr>
            <a:xfrm>
              <a:off x="1156" y="706"/>
              <a:ext cx="612" cy="383"/>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Main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Control</a:t>
              </a:r>
              <a:endParaRPr lang="en-US" altLang="zh-CN" sz="1800">
                <a:latin typeface="Arial" panose="020B0604020202020204" pitchFamily="34" charset="0"/>
                <a:ea typeface="宋体" panose="02010600030101010101" pitchFamily="2" charset="-122"/>
              </a:endParaRPr>
            </a:p>
          </p:txBody>
        </p:sp>
        <p:sp>
          <p:nvSpPr>
            <p:cNvPr id="144516" name="直接连接符 284804"/>
            <p:cNvSpPr/>
            <p:nvPr/>
          </p:nvSpPr>
          <p:spPr>
            <a:xfrm>
              <a:off x="584" y="864"/>
              <a:ext cx="560" cy="0"/>
            </a:xfrm>
            <a:prstGeom prst="line">
              <a:avLst/>
            </a:prstGeom>
            <a:ln w="25400" cap="flat" cmpd="sng">
              <a:solidFill>
                <a:schemeClr val="tx1"/>
              </a:solidFill>
              <a:prstDash val="solid"/>
              <a:round/>
              <a:headEnd type="none" w="med" len="med"/>
              <a:tailEnd type="triangle" w="med" len="med"/>
            </a:ln>
          </p:spPr>
        </p:sp>
        <p:sp>
          <p:nvSpPr>
            <p:cNvPr id="144517" name="直接连接符 284805"/>
            <p:cNvSpPr/>
            <p:nvPr/>
          </p:nvSpPr>
          <p:spPr>
            <a:xfrm flipH="1">
              <a:off x="812" y="772"/>
              <a:ext cx="104" cy="184"/>
            </a:xfrm>
            <a:prstGeom prst="line">
              <a:avLst/>
            </a:prstGeom>
            <a:ln w="12700" cap="flat" cmpd="sng">
              <a:solidFill>
                <a:schemeClr val="tx1"/>
              </a:solidFill>
              <a:prstDash val="solid"/>
              <a:round/>
              <a:headEnd type="none" w="med" len="med"/>
              <a:tailEnd type="none" w="med" len="med"/>
            </a:ln>
          </p:spPr>
        </p:sp>
        <p:sp>
          <p:nvSpPr>
            <p:cNvPr id="144518" name="矩形 284806"/>
            <p:cNvSpPr/>
            <p:nvPr/>
          </p:nvSpPr>
          <p:spPr>
            <a:xfrm>
              <a:off x="519" y="672"/>
              <a:ext cx="283" cy="21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sp>
          <p:nvSpPr>
            <p:cNvPr id="144519" name="矩形 284807"/>
            <p:cNvSpPr/>
            <p:nvPr/>
          </p:nvSpPr>
          <p:spPr>
            <a:xfrm>
              <a:off x="663" y="864"/>
              <a:ext cx="189" cy="21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grpSp>
          <p:nvGrpSpPr>
            <p:cNvPr id="144520" name="组合 284808"/>
            <p:cNvGrpSpPr/>
            <p:nvPr/>
          </p:nvGrpSpPr>
          <p:grpSpPr>
            <a:xfrm>
              <a:off x="4036" y="584"/>
              <a:ext cx="612" cy="656"/>
              <a:chOff x="4036" y="584"/>
              <a:chExt cx="612" cy="656"/>
            </a:xfrm>
          </p:grpSpPr>
          <p:sp>
            <p:nvSpPr>
              <p:cNvPr id="144521" name="矩形 284809"/>
              <p:cNvSpPr/>
              <p:nvPr/>
            </p:nvSpPr>
            <p:spPr>
              <a:xfrm>
                <a:off x="4040" y="584"/>
                <a:ext cx="608" cy="65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4522" name="矩形 284810"/>
              <p:cNvSpPr/>
              <p:nvPr/>
            </p:nvSpPr>
            <p:spPr>
              <a:xfrm>
                <a:off x="4036" y="637"/>
                <a:ext cx="612" cy="548"/>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Control</a:t>
                </a:r>
                <a:endParaRPr lang="en-US" altLang="zh-CN" sz="1800">
                  <a:latin typeface="Arial" panose="020B0604020202020204" pitchFamily="34" charset="0"/>
                  <a:ea typeface="宋体" panose="02010600030101010101" pitchFamily="2" charset="-122"/>
                </a:endParaRPr>
              </a:p>
              <a:p>
                <a:pPr algn="ctr" eaLnBrk="0" hangingPunct="0"/>
                <a:r>
                  <a:rPr lang="en-US" altLang="zh-CN">
                    <a:latin typeface="Times New Roman" panose="02020603050405020304" pitchFamily="18" charset="0"/>
                    <a:ea typeface="宋体" panose="02010600030101010101" pitchFamily="2" charset="-122"/>
                  </a:rPr>
                  <a:t>(</a:t>
                </a:r>
                <a:r>
                  <a:rPr lang="en-US" altLang="zh-CN" sz="1800">
                    <a:latin typeface="Arial" panose="020B0604020202020204" pitchFamily="34" charset="0"/>
                    <a:ea typeface="宋体" panose="02010600030101010101" pitchFamily="2" charset="-122"/>
                  </a:rPr>
                  <a:t>Local</a:t>
                </a:r>
                <a:r>
                  <a:rPr lang="en-US" altLang="zh-CN">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pSp>
        <p:sp>
          <p:nvSpPr>
            <p:cNvPr id="144523" name="直接连接符 284811"/>
            <p:cNvSpPr/>
            <p:nvPr/>
          </p:nvSpPr>
          <p:spPr>
            <a:xfrm>
              <a:off x="1784" y="1104"/>
              <a:ext cx="2240" cy="0"/>
            </a:xfrm>
            <a:prstGeom prst="line">
              <a:avLst/>
            </a:prstGeom>
            <a:ln w="25400" cap="flat" cmpd="sng">
              <a:solidFill>
                <a:schemeClr val="tx1"/>
              </a:solidFill>
              <a:prstDash val="solid"/>
              <a:round/>
              <a:headEnd type="none" w="med" len="med"/>
              <a:tailEnd type="triangle" w="med" len="med"/>
            </a:ln>
          </p:spPr>
        </p:sp>
        <p:sp>
          <p:nvSpPr>
            <p:cNvPr id="144524" name="直接连接符 284812"/>
            <p:cNvSpPr/>
            <p:nvPr/>
          </p:nvSpPr>
          <p:spPr>
            <a:xfrm flipH="1">
              <a:off x="2300" y="1012"/>
              <a:ext cx="104" cy="184"/>
            </a:xfrm>
            <a:prstGeom prst="line">
              <a:avLst/>
            </a:prstGeom>
            <a:ln w="12700" cap="flat" cmpd="sng">
              <a:solidFill>
                <a:schemeClr val="tx1"/>
              </a:solidFill>
              <a:prstDash val="solid"/>
              <a:round/>
              <a:headEnd type="none" w="med" len="med"/>
              <a:tailEnd type="none" w="med" len="med"/>
            </a:ln>
          </p:spPr>
        </p:sp>
        <p:sp>
          <p:nvSpPr>
            <p:cNvPr id="144525" name="矩形 284813"/>
            <p:cNvSpPr/>
            <p:nvPr/>
          </p:nvSpPr>
          <p:spPr>
            <a:xfrm>
              <a:off x="3399" y="480"/>
              <a:ext cx="408" cy="21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sp>
          <p:nvSpPr>
            <p:cNvPr id="144526" name="矩形 284814"/>
            <p:cNvSpPr/>
            <p:nvPr/>
          </p:nvSpPr>
          <p:spPr>
            <a:xfrm>
              <a:off x="2151" y="1104"/>
              <a:ext cx="190" cy="21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a:t>
              </a:r>
              <a:endParaRPr lang="zh-CN" altLang="en-US" sz="1800" dirty="0">
                <a:latin typeface="Arial" panose="020B0604020202020204" pitchFamily="34" charset="0"/>
                <a:ea typeface="宋体" panose="02010600030101010101" pitchFamily="2" charset="-122"/>
              </a:endParaRPr>
            </a:p>
          </p:txBody>
        </p:sp>
        <p:sp>
          <p:nvSpPr>
            <p:cNvPr id="144527" name="直接连接符 284815"/>
            <p:cNvSpPr/>
            <p:nvPr/>
          </p:nvSpPr>
          <p:spPr>
            <a:xfrm flipH="1">
              <a:off x="3692" y="580"/>
              <a:ext cx="104" cy="184"/>
            </a:xfrm>
            <a:prstGeom prst="line">
              <a:avLst/>
            </a:prstGeom>
            <a:ln w="12700" cap="flat" cmpd="sng">
              <a:solidFill>
                <a:schemeClr val="tx1"/>
              </a:solidFill>
              <a:prstDash val="solid"/>
              <a:round/>
              <a:headEnd type="none" w="med" len="med"/>
              <a:tailEnd type="none" w="med" len="med"/>
            </a:ln>
          </p:spPr>
        </p:sp>
        <p:sp>
          <p:nvSpPr>
            <p:cNvPr id="144528" name="矩形 284816"/>
            <p:cNvSpPr/>
            <p:nvPr/>
          </p:nvSpPr>
          <p:spPr>
            <a:xfrm>
              <a:off x="3543" y="672"/>
              <a:ext cx="190" cy="21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144529" name="矩形 284817"/>
            <p:cNvSpPr/>
            <p:nvPr/>
          </p:nvSpPr>
          <p:spPr>
            <a:xfrm>
              <a:off x="1815" y="912"/>
              <a:ext cx="573" cy="21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ALUop</a:t>
              </a:r>
              <a:endParaRPr lang="en-US" altLang="zh-CN" sz="1800">
                <a:latin typeface="Arial" panose="020B0604020202020204" pitchFamily="34" charset="0"/>
                <a:ea typeface="宋体" panose="02010600030101010101" pitchFamily="2" charset="-122"/>
              </a:endParaRPr>
            </a:p>
          </p:txBody>
        </p:sp>
        <p:sp>
          <p:nvSpPr>
            <p:cNvPr id="144530" name="直接连接符 284818"/>
            <p:cNvSpPr/>
            <p:nvPr/>
          </p:nvSpPr>
          <p:spPr>
            <a:xfrm flipH="1">
              <a:off x="3400" y="672"/>
              <a:ext cx="640" cy="0"/>
            </a:xfrm>
            <a:prstGeom prst="line">
              <a:avLst/>
            </a:prstGeom>
            <a:ln w="25400" cap="flat" cmpd="sng">
              <a:solidFill>
                <a:schemeClr val="tx1"/>
              </a:solidFill>
              <a:prstDash val="solid"/>
              <a:round/>
              <a:headEnd type="triangle" w="med" len="med"/>
              <a:tailEnd type="none" w="med" len="med"/>
            </a:ln>
          </p:spPr>
        </p:sp>
        <p:sp>
          <p:nvSpPr>
            <p:cNvPr id="144531" name="矩形 284819"/>
            <p:cNvSpPr/>
            <p:nvPr/>
          </p:nvSpPr>
          <p:spPr>
            <a:xfrm>
              <a:off x="4647" y="576"/>
              <a:ext cx="594" cy="218"/>
            </a:xfrm>
            <a:prstGeom prst="rect">
              <a:avLst/>
            </a:prstGeom>
            <a:noFill/>
            <a:ln w="12700">
              <a:noFill/>
            </a:ln>
          </p:spPr>
          <p:txBody>
            <a:bodyPr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ALUctr</a:t>
              </a:r>
              <a:endParaRPr lang="en-US" altLang="zh-CN" sz="1800">
                <a:latin typeface="Arial" panose="020B0604020202020204" pitchFamily="34" charset="0"/>
                <a:ea typeface="宋体" panose="02010600030101010101" pitchFamily="2" charset="-122"/>
              </a:endParaRPr>
            </a:p>
          </p:txBody>
        </p:sp>
        <p:sp>
          <p:nvSpPr>
            <p:cNvPr id="144532" name="直接连接符 284820"/>
            <p:cNvSpPr/>
            <p:nvPr/>
          </p:nvSpPr>
          <p:spPr>
            <a:xfrm flipH="1">
              <a:off x="5084" y="676"/>
              <a:ext cx="104" cy="184"/>
            </a:xfrm>
            <a:prstGeom prst="line">
              <a:avLst/>
            </a:prstGeom>
            <a:ln w="12700" cap="flat" cmpd="sng">
              <a:solidFill>
                <a:schemeClr val="tx1"/>
              </a:solidFill>
              <a:prstDash val="solid"/>
              <a:round/>
              <a:headEnd type="none" w="med" len="med"/>
              <a:tailEnd type="none" w="med" len="med"/>
            </a:ln>
          </p:spPr>
        </p:sp>
        <p:sp>
          <p:nvSpPr>
            <p:cNvPr id="144533" name="直接连接符 284821"/>
            <p:cNvSpPr/>
            <p:nvPr/>
          </p:nvSpPr>
          <p:spPr>
            <a:xfrm flipH="1">
              <a:off x="4648" y="768"/>
              <a:ext cx="736" cy="0"/>
            </a:xfrm>
            <a:prstGeom prst="line">
              <a:avLst/>
            </a:prstGeom>
            <a:ln w="25400" cap="flat" cmpd="sng">
              <a:solidFill>
                <a:schemeClr val="tx1"/>
              </a:solidFill>
              <a:prstDash val="solid"/>
              <a:round/>
              <a:headEnd type="triangle" w="med" len="med"/>
              <a:tailEnd type="none" w="med" len="med"/>
            </a:ln>
          </p:spPr>
        </p:sp>
        <p:sp>
          <p:nvSpPr>
            <p:cNvPr id="144534" name="矩形 284822"/>
            <p:cNvSpPr/>
            <p:nvPr/>
          </p:nvSpPr>
          <p:spPr>
            <a:xfrm>
              <a:off x="4935" y="768"/>
              <a:ext cx="190" cy="21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a:t>
              </a:r>
              <a:endParaRPr lang="zh-CN" altLang="en-US" sz="1800" dirty="0">
                <a:latin typeface="Arial" panose="020B0604020202020204" pitchFamily="34" charset="0"/>
                <a:ea typeface="宋体" panose="02010600030101010101" pitchFamily="2" charset="-122"/>
              </a:endParaRPr>
            </a:p>
          </p:txBody>
        </p:sp>
        <p:sp>
          <p:nvSpPr>
            <p:cNvPr id="144535" name="直接连接符 284823"/>
            <p:cNvSpPr/>
            <p:nvPr/>
          </p:nvSpPr>
          <p:spPr>
            <a:xfrm>
              <a:off x="1784" y="576"/>
              <a:ext cx="800" cy="0"/>
            </a:xfrm>
            <a:prstGeom prst="line">
              <a:avLst/>
            </a:prstGeom>
            <a:ln w="25400" cap="flat" cmpd="sng">
              <a:solidFill>
                <a:schemeClr val="tx1"/>
              </a:solidFill>
              <a:prstDash val="solid"/>
              <a:round/>
              <a:headEnd type="none" w="med" len="med"/>
              <a:tailEnd type="triangle" w="med" len="med"/>
            </a:ln>
          </p:spPr>
        </p:sp>
        <p:sp>
          <p:nvSpPr>
            <p:cNvPr id="144536" name="矩形 284824"/>
            <p:cNvSpPr/>
            <p:nvPr/>
          </p:nvSpPr>
          <p:spPr>
            <a:xfrm>
              <a:off x="1815" y="384"/>
              <a:ext cx="604" cy="21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RegDst</a:t>
              </a:r>
              <a:endParaRPr lang="en-US" altLang="zh-CN" sz="1800">
                <a:latin typeface="Arial" panose="020B0604020202020204" pitchFamily="34" charset="0"/>
                <a:ea typeface="宋体" panose="02010600030101010101" pitchFamily="2" charset="-122"/>
              </a:endParaRPr>
            </a:p>
          </p:txBody>
        </p:sp>
        <p:sp>
          <p:nvSpPr>
            <p:cNvPr id="144537" name="直接连接符 284825"/>
            <p:cNvSpPr/>
            <p:nvPr/>
          </p:nvSpPr>
          <p:spPr>
            <a:xfrm>
              <a:off x="1784" y="768"/>
              <a:ext cx="800" cy="0"/>
            </a:xfrm>
            <a:prstGeom prst="line">
              <a:avLst/>
            </a:prstGeom>
            <a:ln w="25400" cap="flat" cmpd="sng">
              <a:solidFill>
                <a:schemeClr val="tx1"/>
              </a:solidFill>
              <a:prstDash val="solid"/>
              <a:round/>
              <a:headEnd type="none" w="med" len="med"/>
              <a:tailEnd type="triangle" w="med" len="med"/>
            </a:ln>
          </p:spPr>
        </p:sp>
        <p:sp>
          <p:nvSpPr>
            <p:cNvPr id="144538" name="矩形 284826"/>
            <p:cNvSpPr/>
            <p:nvPr/>
          </p:nvSpPr>
          <p:spPr>
            <a:xfrm>
              <a:off x="1815" y="576"/>
              <a:ext cx="628" cy="21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ALUSrc</a:t>
              </a:r>
              <a:endParaRPr lang="en-US" altLang="zh-CN" sz="1800">
                <a:latin typeface="Arial" panose="020B0604020202020204" pitchFamily="34" charset="0"/>
                <a:ea typeface="宋体" panose="02010600030101010101" pitchFamily="2" charset="-122"/>
              </a:endParaRPr>
            </a:p>
          </p:txBody>
        </p:sp>
        <p:sp>
          <p:nvSpPr>
            <p:cNvPr id="144539" name="矩形 284827"/>
            <p:cNvSpPr/>
            <p:nvPr/>
          </p:nvSpPr>
          <p:spPr>
            <a:xfrm>
              <a:off x="2007" y="711"/>
              <a:ext cx="174" cy="272"/>
            </a:xfrm>
            <a:prstGeom prst="rect">
              <a:avLst/>
            </a:prstGeom>
            <a:noFill/>
            <a:ln w="12700">
              <a:noFill/>
            </a:ln>
          </p:spPr>
          <p:txBody>
            <a:bodyPr wrap="none" lIns="90488" tIns="44450" rIns="90488" bIns="44450" anchor="t" anchorCtr="0">
              <a:spAutoFit/>
            </a:bodyPr>
            <a:p>
              <a:pPr eaLnBrk="0" hangingPunct="0"/>
              <a:r>
                <a:rPr lang="zh-CN" altLang="en-US" sz="2400"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grpSp>
      <p:sp>
        <p:nvSpPr>
          <p:cNvPr id="144540" name="矩形 284828"/>
          <p:cNvSpPr/>
          <p:nvPr/>
        </p:nvSpPr>
        <p:spPr>
          <a:xfrm>
            <a:off x="1843088" y="720725"/>
            <a:ext cx="973137" cy="1290638"/>
          </a:xfrm>
          <a:prstGeom prst="rect">
            <a:avLst/>
          </a:prstGeom>
          <a:noFill/>
          <a:ln w="50800" cap="flat" cmpd="sng">
            <a:solidFill>
              <a:srgbClr val="FE9AAB"/>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284835" name="组合 284834"/>
          <p:cNvGrpSpPr/>
          <p:nvPr/>
        </p:nvGrpSpPr>
        <p:grpSpPr>
          <a:xfrm>
            <a:off x="363538" y="2014538"/>
            <a:ext cx="2320925" cy="336550"/>
            <a:chOff x="229" y="1261"/>
            <a:chExt cx="1462" cy="212"/>
          </a:xfrm>
        </p:grpSpPr>
        <p:sp>
          <p:nvSpPr>
            <p:cNvPr id="144542" name="文本框 284829"/>
            <p:cNvSpPr txBox="1"/>
            <p:nvPr/>
          </p:nvSpPr>
          <p:spPr>
            <a:xfrm>
              <a:off x="229" y="1261"/>
              <a:ext cx="1288" cy="212"/>
            </a:xfrm>
            <a:prstGeom prst="rect">
              <a:avLst/>
            </a:prstGeom>
            <a:noFill/>
            <a:ln w="50800">
              <a:noFill/>
            </a:ln>
          </p:spPr>
          <p:txBody>
            <a:bodyPr anchor="t" anchorCtr="0">
              <a:spAutoFit/>
            </a:bodyPr>
            <a:p>
              <a:pPr eaLnBrk="0" hangingPunct="0">
                <a:spcBef>
                  <a:spcPct val="50000"/>
                </a:spcBef>
              </a:pPr>
              <a:r>
                <a:rPr lang="zh-CN" altLang="en-US" dirty="0">
                  <a:solidFill>
                    <a:schemeClr val="accent2"/>
                  </a:solidFill>
                  <a:latin typeface="Times New Roman" panose="02020603050405020304" pitchFamily="18" charset="0"/>
                  <a:ea typeface="宋体" panose="02010600030101010101" pitchFamily="2" charset="-122"/>
                </a:rPr>
                <a:t>主控单元的输入</a:t>
              </a:r>
              <a:endParaRPr lang="zh-CN" altLang="en-US" dirty="0">
                <a:solidFill>
                  <a:schemeClr val="accent2"/>
                </a:solidFill>
                <a:latin typeface="Times New Roman" panose="02020603050405020304" pitchFamily="18" charset="0"/>
                <a:ea typeface="宋体" panose="02010600030101010101" pitchFamily="2" charset="-122"/>
              </a:endParaRPr>
            </a:p>
          </p:txBody>
        </p:sp>
        <p:sp>
          <p:nvSpPr>
            <p:cNvPr id="144543" name="直接连接符 284830"/>
            <p:cNvSpPr/>
            <p:nvPr/>
          </p:nvSpPr>
          <p:spPr>
            <a:xfrm>
              <a:off x="1253" y="1381"/>
              <a:ext cx="438" cy="0"/>
            </a:xfrm>
            <a:prstGeom prst="line">
              <a:avLst/>
            </a:prstGeom>
            <a:ln w="50800" cap="flat" cmpd="sng">
              <a:solidFill>
                <a:srgbClr val="FE9AAB"/>
              </a:solidFill>
              <a:prstDash val="solid"/>
              <a:round/>
              <a:headEnd type="none" w="med" len="med"/>
              <a:tailEnd type="triangle" w="med" len="med"/>
            </a:ln>
          </p:spPr>
        </p:sp>
      </p:grpSp>
      <p:grpSp>
        <p:nvGrpSpPr>
          <p:cNvPr id="284834" name="组合 284833"/>
          <p:cNvGrpSpPr/>
          <p:nvPr/>
        </p:nvGrpSpPr>
        <p:grpSpPr>
          <a:xfrm>
            <a:off x="12700" y="1752600"/>
            <a:ext cx="2044700" cy="838200"/>
            <a:chOff x="140" y="1136"/>
            <a:chExt cx="1288" cy="528"/>
          </a:xfrm>
        </p:grpSpPr>
        <p:sp>
          <p:nvSpPr>
            <p:cNvPr id="144545" name="文本框 284831"/>
            <p:cNvSpPr txBox="1"/>
            <p:nvPr/>
          </p:nvSpPr>
          <p:spPr>
            <a:xfrm>
              <a:off x="140" y="1136"/>
              <a:ext cx="1288" cy="212"/>
            </a:xfrm>
            <a:prstGeom prst="rect">
              <a:avLst/>
            </a:prstGeom>
            <a:noFill/>
            <a:ln w="50800">
              <a:noFill/>
            </a:ln>
          </p:spPr>
          <p:txBody>
            <a:bodyPr anchor="t" anchorCtr="0">
              <a:spAutoFit/>
            </a:bodyPr>
            <a:p>
              <a:pPr eaLnBrk="0" hangingPunct="0">
                <a:spcBef>
                  <a:spcPct val="50000"/>
                </a:spcBef>
              </a:pPr>
              <a:r>
                <a:rPr lang="zh-CN" altLang="en-US" dirty="0">
                  <a:solidFill>
                    <a:schemeClr val="accent2"/>
                  </a:solidFill>
                  <a:latin typeface="Times New Roman" panose="02020603050405020304" pitchFamily="18" charset="0"/>
                  <a:ea typeface="宋体" panose="02010600030101010101" pitchFamily="2" charset="-122"/>
                </a:rPr>
                <a:t>主控单元的输出</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144546" name="直接连接符 284832"/>
            <p:cNvSpPr/>
            <p:nvPr/>
          </p:nvSpPr>
          <p:spPr>
            <a:xfrm>
              <a:off x="923" y="1326"/>
              <a:ext cx="64" cy="338"/>
            </a:xfrm>
            <a:prstGeom prst="line">
              <a:avLst/>
            </a:prstGeom>
            <a:ln w="50800" cap="flat" cmpd="sng">
              <a:solidFill>
                <a:srgbClr val="FE9AAB"/>
              </a:solidFill>
              <a:prstDash val="solid"/>
              <a:round/>
              <a:headEnd type="none" w="med" len="med"/>
              <a:tailEnd type="triangle" w="med" len="med"/>
            </a:ln>
          </p:spPr>
        </p:sp>
      </p:grpSp>
      <p:sp>
        <p:nvSpPr>
          <p:cNvPr id="284837" name="矩形 284836"/>
          <p:cNvSpPr/>
          <p:nvPr/>
        </p:nvSpPr>
        <p:spPr>
          <a:xfrm>
            <a:off x="949325" y="3414713"/>
            <a:ext cx="7112000" cy="1190625"/>
          </a:xfrm>
          <a:prstGeom prst="rect">
            <a:avLst/>
          </a:prstGeom>
          <a:solidFill>
            <a:srgbClr val="FF8398">
              <a:alpha val="24001"/>
            </a:srgbClr>
          </a:solidFill>
          <a:ln w="50800">
            <a:noFill/>
          </a:ln>
        </p:spPr>
        <p:txBody>
          <a:bodyPr anchor="t" anchorCtr="0"/>
          <a:p>
            <a:pPr eaLnBrk="0" hangingPunct="0"/>
            <a:endParaRPr lang="zh-CN" altLang="en-US">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4835"/>
                                        </p:tgtEl>
                                        <p:attrNameLst>
                                          <p:attrName>style.visibility</p:attrName>
                                        </p:attrNameLst>
                                      </p:cBhvr>
                                      <p:to>
                                        <p:strVal val="visible"/>
                                      </p:to>
                                    </p:set>
                                    <p:animEffect transition="in" filter="blinds(horizontal)">
                                      <p:cBhvr>
                                        <p:cTn id="7" dur="500"/>
                                        <p:tgtEl>
                                          <p:spTgt spid="284835"/>
                                        </p:tgtEl>
                                      </p:cBhvr>
                                    </p:animEffect>
                                  </p:childTnLst>
                                  <p:subTnLst>
                                    <p:set>
                                      <p:cBhvr override="childStyle">
                                        <p:cTn dur="1" fill="hold" display="0" masterRel="nextClick" afterEffect="1"/>
                                        <p:tgtEl>
                                          <p:spTgt spid="28483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4834"/>
                                        </p:tgtEl>
                                        <p:attrNameLst>
                                          <p:attrName>style.visibility</p:attrName>
                                        </p:attrNameLst>
                                      </p:cBhvr>
                                      <p:to>
                                        <p:strVal val="visible"/>
                                      </p:to>
                                    </p:set>
                                    <p:animEffect transition="in" filter="blinds(horizontal)">
                                      <p:cBhvr>
                                        <p:cTn id="12" dur="500"/>
                                        <p:tgtEl>
                                          <p:spTgt spid="28483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4837"/>
                                        </p:tgtEl>
                                        <p:attrNameLst>
                                          <p:attrName>style.visibility</p:attrName>
                                        </p:attrNameLst>
                                      </p:cBhvr>
                                      <p:to>
                                        <p:strVal val="visible"/>
                                      </p:to>
                                    </p:set>
                                    <p:animEffect transition="in" filter="blinds(horizontal)">
                                      <p:cBhvr>
                                        <p:cTn id="17" dur="500"/>
                                        <p:tgtEl>
                                          <p:spTgt spid="284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标题 286721"/>
          <p:cNvSpPr>
            <a:spLocks noGrp="1"/>
          </p:cNvSpPr>
          <p:nvPr>
            <p:ph type="title"/>
          </p:nvPr>
        </p:nvSpPr>
        <p:spPr>
          <a:xfrm>
            <a:off x="-53975" y="228600"/>
            <a:ext cx="8969375" cy="479425"/>
          </a:xfrm>
          <a:ln/>
        </p:spPr>
        <p:txBody>
          <a:bodyPr vert="horz" wrap="square" lIns="63500" tIns="25400" rIns="63500" bIns="25400" anchor="t" anchorCtr="0">
            <a:spAutoFit/>
          </a:bodyPr>
          <a:p>
            <a:r>
              <a:rPr lang="zh-CN" altLang="en-US" sz="3200" dirty="0">
                <a:ea typeface="宋体" panose="02010600030101010101" pitchFamily="2" charset="-122"/>
              </a:rPr>
              <a:t>考察每个控制信号的逻辑方程（如：</a:t>
            </a:r>
            <a:r>
              <a:rPr lang="en-US" altLang="zh-CN" sz="3200" dirty="0" err="1">
                <a:ea typeface="宋体" panose="02010600030101010101" pitchFamily="2" charset="-122"/>
              </a:rPr>
              <a:t>RegWrite</a:t>
            </a:r>
            <a:r>
              <a:rPr lang="zh-CN" altLang="en-US" sz="3200" dirty="0">
                <a:ea typeface="宋体" panose="02010600030101010101" pitchFamily="2" charset="-122"/>
              </a:rPr>
              <a:t>）</a:t>
            </a:r>
            <a:endParaRPr lang="zh-CN" altLang="en-US" sz="3200" dirty="0">
              <a:ea typeface="宋体" panose="02010600030101010101" pitchFamily="2" charset="-122"/>
            </a:endParaRPr>
          </a:p>
        </p:txBody>
      </p:sp>
      <p:sp>
        <p:nvSpPr>
          <p:cNvPr id="146434" name="矩形 286722"/>
          <p:cNvSpPr/>
          <p:nvPr/>
        </p:nvSpPr>
        <p:spPr>
          <a:xfrm>
            <a:off x="2627313" y="1219200"/>
            <a:ext cx="8921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R-type</a:t>
            </a:r>
            <a:endParaRPr lang="en-US" altLang="zh-CN" sz="1800">
              <a:latin typeface="Arial" panose="020B0604020202020204" pitchFamily="34" charset="0"/>
              <a:ea typeface="宋体" panose="02010600030101010101" pitchFamily="2" charset="-122"/>
            </a:endParaRPr>
          </a:p>
        </p:txBody>
      </p:sp>
      <p:sp>
        <p:nvSpPr>
          <p:cNvPr id="146435" name="矩形 286723"/>
          <p:cNvSpPr/>
          <p:nvPr/>
        </p:nvSpPr>
        <p:spPr>
          <a:xfrm>
            <a:off x="3965575" y="12192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ori</a:t>
            </a:r>
            <a:endParaRPr lang="en-US" altLang="zh-CN" sz="1800">
              <a:latin typeface="Arial" panose="020B0604020202020204" pitchFamily="34" charset="0"/>
              <a:ea typeface="宋体" panose="02010600030101010101" pitchFamily="2" charset="-122"/>
            </a:endParaRPr>
          </a:p>
        </p:txBody>
      </p:sp>
      <p:sp>
        <p:nvSpPr>
          <p:cNvPr id="146436" name="矩形 286724"/>
          <p:cNvSpPr/>
          <p:nvPr/>
        </p:nvSpPr>
        <p:spPr>
          <a:xfrm>
            <a:off x="4856163" y="12192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lw</a:t>
            </a:r>
            <a:endParaRPr lang="en-US" altLang="zh-CN" sz="1800">
              <a:latin typeface="Arial" panose="020B0604020202020204" pitchFamily="34" charset="0"/>
              <a:ea typeface="宋体" panose="02010600030101010101" pitchFamily="2" charset="-122"/>
            </a:endParaRPr>
          </a:p>
        </p:txBody>
      </p:sp>
      <p:sp>
        <p:nvSpPr>
          <p:cNvPr id="146437" name="矩形 286725"/>
          <p:cNvSpPr/>
          <p:nvPr/>
        </p:nvSpPr>
        <p:spPr>
          <a:xfrm>
            <a:off x="5846763" y="1219200"/>
            <a:ext cx="487362"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sw</a:t>
            </a:r>
            <a:endParaRPr lang="en-US" altLang="zh-CN" sz="1800">
              <a:latin typeface="Arial" panose="020B0604020202020204" pitchFamily="34" charset="0"/>
              <a:ea typeface="宋体" panose="02010600030101010101" pitchFamily="2" charset="-122"/>
            </a:endParaRPr>
          </a:p>
        </p:txBody>
      </p:sp>
      <p:sp>
        <p:nvSpPr>
          <p:cNvPr id="146438" name="矩形 286726"/>
          <p:cNvSpPr/>
          <p:nvPr/>
        </p:nvSpPr>
        <p:spPr>
          <a:xfrm>
            <a:off x="6699250" y="1219200"/>
            <a:ext cx="5873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beq</a:t>
            </a:r>
            <a:endParaRPr lang="en-US" altLang="zh-CN" sz="1800">
              <a:latin typeface="Arial" panose="020B0604020202020204" pitchFamily="34" charset="0"/>
              <a:ea typeface="宋体" panose="02010600030101010101" pitchFamily="2" charset="-122"/>
            </a:endParaRPr>
          </a:p>
        </p:txBody>
      </p:sp>
      <p:sp>
        <p:nvSpPr>
          <p:cNvPr id="146439" name="矩形 286727"/>
          <p:cNvSpPr/>
          <p:nvPr/>
        </p:nvSpPr>
        <p:spPr>
          <a:xfrm>
            <a:off x="7620000" y="1219200"/>
            <a:ext cx="7270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jump</a:t>
            </a:r>
            <a:endParaRPr lang="en-US" altLang="zh-CN" sz="1800">
              <a:latin typeface="Arial" panose="020B0604020202020204" pitchFamily="34" charset="0"/>
              <a:ea typeface="宋体" panose="02010600030101010101" pitchFamily="2" charset="-122"/>
            </a:endParaRPr>
          </a:p>
        </p:txBody>
      </p:sp>
      <p:sp>
        <p:nvSpPr>
          <p:cNvPr id="146440" name="矩形 286728"/>
          <p:cNvSpPr/>
          <p:nvPr/>
        </p:nvSpPr>
        <p:spPr>
          <a:xfrm>
            <a:off x="569913" y="1524000"/>
            <a:ext cx="1184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RegWrite</a:t>
            </a:r>
            <a:endParaRPr lang="en-US" altLang="zh-CN" sz="1800">
              <a:latin typeface="Arial" panose="020B0604020202020204" pitchFamily="34" charset="0"/>
              <a:ea typeface="宋体" panose="02010600030101010101" pitchFamily="2" charset="-122"/>
            </a:endParaRPr>
          </a:p>
        </p:txBody>
      </p:sp>
      <p:sp>
        <p:nvSpPr>
          <p:cNvPr id="146441" name="直接连接符 286729"/>
          <p:cNvSpPr/>
          <p:nvPr/>
        </p:nvSpPr>
        <p:spPr>
          <a:xfrm>
            <a:off x="600075" y="1828800"/>
            <a:ext cx="7777163" cy="0"/>
          </a:xfrm>
          <a:prstGeom prst="line">
            <a:avLst/>
          </a:prstGeom>
          <a:ln w="25400" cap="flat" cmpd="sng">
            <a:solidFill>
              <a:schemeClr val="tx1"/>
            </a:solidFill>
            <a:prstDash val="solid"/>
            <a:round/>
            <a:headEnd type="none" w="med" len="med"/>
            <a:tailEnd type="none" w="med" len="med"/>
          </a:ln>
        </p:spPr>
      </p:sp>
      <p:sp>
        <p:nvSpPr>
          <p:cNvPr id="146442" name="直接连接符 286730"/>
          <p:cNvSpPr/>
          <p:nvPr/>
        </p:nvSpPr>
        <p:spPr>
          <a:xfrm>
            <a:off x="600075" y="1524000"/>
            <a:ext cx="7777163" cy="0"/>
          </a:xfrm>
          <a:prstGeom prst="line">
            <a:avLst/>
          </a:prstGeom>
          <a:ln w="25400" cap="flat" cmpd="sng">
            <a:solidFill>
              <a:schemeClr val="tx1"/>
            </a:solidFill>
            <a:prstDash val="solid"/>
            <a:round/>
            <a:headEnd type="none" w="med" len="med"/>
            <a:tailEnd type="none" w="med" len="med"/>
          </a:ln>
        </p:spPr>
      </p:sp>
      <p:sp>
        <p:nvSpPr>
          <p:cNvPr id="146443" name="直接连接符 286731"/>
          <p:cNvSpPr/>
          <p:nvPr/>
        </p:nvSpPr>
        <p:spPr>
          <a:xfrm>
            <a:off x="600075" y="1219200"/>
            <a:ext cx="7777163" cy="0"/>
          </a:xfrm>
          <a:prstGeom prst="line">
            <a:avLst/>
          </a:prstGeom>
          <a:ln w="25400" cap="flat" cmpd="sng">
            <a:solidFill>
              <a:schemeClr val="tx1"/>
            </a:solidFill>
            <a:prstDash val="solid"/>
            <a:round/>
            <a:headEnd type="none" w="med" len="med"/>
            <a:tailEnd type="none" w="med" len="med"/>
          </a:ln>
        </p:spPr>
      </p:sp>
      <p:sp>
        <p:nvSpPr>
          <p:cNvPr id="146444" name="矩形 286732"/>
          <p:cNvSpPr/>
          <p:nvPr/>
        </p:nvSpPr>
        <p:spPr>
          <a:xfrm>
            <a:off x="2879725" y="1524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6445" name="矩形 286733"/>
          <p:cNvSpPr/>
          <p:nvPr/>
        </p:nvSpPr>
        <p:spPr>
          <a:xfrm>
            <a:off x="4049713" y="1524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6446" name="矩形 286734"/>
          <p:cNvSpPr/>
          <p:nvPr/>
        </p:nvSpPr>
        <p:spPr>
          <a:xfrm>
            <a:off x="4940300" y="1524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a:t>
            </a:r>
            <a:endParaRPr lang="zh-CN" altLang="en-US" sz="1800" dirty="0">
              <a:latin typeface="Arial" panose="020B0604020202020204" pitchFamily="34" charset="0"/>
              <a:ea typeface="宋体" panose="02010600030101010101" pitchFamily="2" charset="-122"/>
            </a:endParaRPr>
          </a:p>
        </p:txBody>
      </p:sp>
      <p:sp>
        <p:nvSpPr>
          <p:cNvPr id="146447" name="矩形 286735"/>
          <p:cNvSpPr/>
          <p:nvPr/>
        </p:nvSpPr>
        <p:spPr>
          <a:xfrm>
            <a:off x="5930900" y="1524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6448" name="矩形 286736"/>
          <p:cNvSpPr/>
          <p:nvPr/>
        </p:nvSpPr>
        <p:spPr>
          <a:xfrm>
            <a:off x="6783388" y="1524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6449" name="矩形 286737"/>
          <p:cNvSpPr/>
          <p:nvPr/>
        </p:nvSpPr>
        <p:spPr>
          <a:xfrm>
            <a:off x="7788275" y="1524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46450" name="直接连接符 286738"/>
          <p:cNvSpPr/>
          <p:nvPr/>
        </p:nvSpPr>
        <p:spPr>
          <a:xfrm>
            <a:off x="2530475" y="914400"/>
            <a:ext cx="5846763" cy="0"/>
          </a:xfrm>
          <a:prstGeom prst="line">
            <a:avLst/>
          </a:prstGeom>
          <a:ln w="25400" cap="flat" cmpd="sng">
            <a:solidFill>
              <a:schemeClr val="tx1"/>
            </a:solidFill>
            <a:prstDash val="solid"/>
            <a:round/>
            <a:headEnd type="none" w="med" len="med"/>
            <a:tailEnd type="none" w="med" len="med"/>
          </a:ln>
        </p:spPr>
      </p:sp>
      <p:sp>
        <p:nvSpPr>
          <p:cNvPr id="146451" name="矩形 286739"/>
          <p:cNvSpPr/>
          <p:nvPr/>
        </p:nvSpPr>
        <p:spPr>
          <a:xfrm>
            <a:off x="2081213" y="914400"/>
            <a:ext cx="4603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sp>
        <p:nvSpPr>
          <p:cNvPr id="146452" name="矩形 286740"/>
          <p:cNvSpPr/>
          <p:nvPr/>
        </p:nvSpPr>
        <p:spPr>
          <a:xfrm>
            <a:off x="2627313" y="914400"/>
            <a:ext cx="9937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0000</a:t>
            </a:r>
            <a:endParaRPr lang="zh-CN" altLang="en-US" sz="1800" dirty="0">
              <a:latin typeface="Arial" panose="020B0604020202020204" pitchFamily="34" charset="0"/>
              <a:ea typeface="宋体" panose="02010600030101010101" pitchFamily="2" charset="-122"/>
            </a:endParaRPr>
          </a:p>
        </p:txBody>
      </p:sp>
      <p:sp>
        <p:nvSpPr>
          <p:cNvPr id="146453" name="矩形 286741"/>
          <p:cNvSpPr/>
          <p:nvPr/>
        </p:nvSpPr>
        <p:spPr>
          <a:xfrm>
            <a:off x="3625850" y="914400"/>
            <a:ext cx="1360488" cy="363538"/>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1101</a:t>
            </a:r>
            <a:endParaRPr lang="zh-CN" altLang="en-US" sz="1800" dirty="0">
              <a:latin typeface="Arial" panose="020B0604020202020204" pitchFamily="34" charset="0"/>
              <a:ea typeface="宋体" panose="02010600030101010101" pitchFamily="2" charset="-122"/>
            </a:endParaRPr>
          </a:p>
        </p:txBody>
      </p:sp>
      <p:sp>
        <p:nvSpPr>
          <p:cNvPr id="146454" name="矩形 286742"/>
          <p:cNvSpPr/>
          <p:nvPr/>
        </p:nvSpPr>
        <p:spPr>
          <a:xfrm>
            <a:off x="4611688" y="914400"/>
            <a:ext cx="1290637" cy="363538"/>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0011</a:t>
            </a:r>
            <a:endParaRPr lang="zh-CN" altLang="en-US" sz="1800" dirty="0">
              <a:latin typeface="Arial" panose="020B0604020202020204" pitchFamily="34" charset="0"/>
              <a:ea typeface="宋体" panose="02010600030101010101" pitchFamily="2" charset="-122"/>
            </a:endParaRPr>
          </a:p>
        </p:txBody>
      </p:sp>
      <p:sp>
        <p:nvSpPr>
          <p:cNvPr id="146455" name="矩形 286743"/>
          <p:cNvSpPr/>
          <p:nvPr/>
        </p:nvSpPr>
        <p:spPr>
          <a:xfrm>
            <a:off x="5591175" y="914400"/>
            <a:ext cx="10064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10 1011</a:t>
            </a:r>
            <a:endParaRPr lang="zh-CN" altLang="en-US" sz="1800" dirty="0">
              <a:latin typeface="Arial" panose="020B0604020202020204" pitchFamily="34" charset="0"/>
              <a:ea typeface="宋体" panose="02010600030101010101" pitchFamily="2" charset="-122"/>
            </a:endParaRPr>
          </a:p>
        </p:txBody>
      </p:sp>
      <p:sp>
        <p:nvSpPr>
          <p:cNvPr id="146456" name="矩形 286744"/>
          <p:cNvSpPr/>
          <p:nvPr/>
        </p:nvSpPr>
        <p:spPr>
          <a:xfrm>
            <a:off x="6530975" y="914400"/>
            <a:ext cx="10064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00 0100</a:t>
            </a:r>
            <a:endParaRPr lang="zh-CN" altLang="en-US" sz="1800" dirty="0">
              <a:latin typeface="Arial" panose="020B0604020202020204" pitchFamily="34" charset="0"/>
              <a:ea typeface="宋体" panose="02010600030101010101" pitchFamily="2" charset="-122"/>
            </a:endParaRPr>
          </a:p>
        </p:txBody>
      </p:sp>
      <p:sp>
        <p:nvSpPr>
          <p:cNvPr id="146457" name="矩形 286745"/>
          <p:cNvSpPr/>
          <p:nvPr/>
        </p:nvSpPr>
        <p:spPr>
          <a:xfrm>
            <a:off x="7472363" y="914400"/>
            <a:ext cx="9937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00</a:t>
            </a:r>
            <a:r>
              <a:rPr lang="zh-CN" altLang="en-US" b="0"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0010</a:t>
            </a:r>
            <a:endParaRPr lang="zh-CN" altLang="en-US" sz="1800" dirty="0">
              <a:latin typeface="Arial" panose="020B0604020202020204" pitchFamily="34" charset="0"/>
              <a:ea typeface="宋体" panose="02010600030101010101" pitchFamily="2" charset="-122"/>
            </a:endParaRPr>
          </a:p>
        </p:txBody>
      </p:sp>
      <p:sp>
        <p:nvSpPr>
          <p:cNvPr id="146458" name="直接连接符 286746"/>
          <p:cNvSpPr/>
          <p:nvPr/>
        </p:nvSpPr>
        <p:spPr>
          <a:xfrm flipV="1">
            <a:off x="4610100" y="901700"/>
            <a:ext cx="0" cy="330200"/>
          </a:xfrm>
          <a:prstGeom prst="line">
            <a:avLst/>
          </a:prstGeom>
          <a:ln w="25400" cap="flat" cmpd="sng">
            <a:solidFill>
              <a:schemeClr val="tx1"/>
            </a:solidFill>
            <a:prstDash val="solid"/>
            <a:round/>
            <a:headEnd type="none" w="med" len="med"/>
            <a:tailEnd type="none" w="med" len="med"/>
          </a:ln>
        </p:spPr>
      </p:sp>
      <p:sp>
        <p:nvSpPr>
          <p:cNvPr id="146459" name="直接连接符 286747"/>
          <p:cNvSpPr/>
          <p:nvPr/>
        </p:nvSpPr>
        <p:spPr>
          <a:xfrm flipV="1">
            <a:off x="5607050" y="901700"/>
            <a:ext cx="0" cy="330200"/>
          </a:xfrm>
          <a:prstGeom prst="line">
            <a:avLst/>
          </a:prstGeom>
          <a:ln w="25400" cap="flat" cmpd="sng">
            <a:solidFill>
              <a:schemeClr val="tx1"/>
            </a:solidFill>
            <a:prstDash val="solid"/>
            <a:round/>
            <a:headEnd type="none" w="med" len="med"/>
            <a:tailEnd type="none" w="med" len="med"/>
          </a:ln>
        </p:spPr>
      </p:sp>
      <p:sp>
        <p:nvSpPr>
          <p:cNvPr id="146460" name="直接连接符 286748"/>
          <p:cNvSpPr/>
          <p:nvPr/>
        </p:nvSpPr>
        <p:spPr>
          <a:xfrm flipV="1">
            <a:off x="6572250" y="901700"/>
            <a:ext cx="0" cy="330200"/>
          </a:xfrm>
          <a:prstGeom prst="line">
            <a:avLst/>
          </a:prstGeom>
          <a:ln w="25400" cap="flat" cmpd="sng">
            <a:solidFill>
              <a:schemeClr val="tx1"/>
            </a:solidFill>
            <a:prstDash val="solid"/>
            <a:round/>
            <a:headEnd type="none" w="med" len="med"/>
            <a:tailEnd type="none" w="med" len="med"/>
          </a:ln>
        </p:spPr>
      </p:sp>
      <p:sp>
        <p:nvSpPr>
          <p:cNvPr id="146461" name="直接连接符 286749"/>
          <p:cNvSpPr/>
          <p:nvPr/>
        </p:nvSpPr>
        <p:spPr>
          <a:xfrm flipV="1">
            <a:off x="7526338" y="901700"/>
            <a:ext cx="0" cy="330200"/>
          </a:xfrm>
          <a:prstGeom prst="line">
            <a:avLst/>
          </a:prstGeom>
          <a:ln w="25400" cap="flat" cmpd="sng">
            <a:solidFill>
              <a:schemeClr val="tx1"/>
            </a:solidFill>
            <a:prstDash val="solid"/>
            <a:round/>
            <a:headEnd type="none" w="med" len="med"/>
            <a:tailEnd type="none" w="med" len="med"/>
          </a:ln>
        </p:spPr>
      </p:sp>
      <p:sp>
        <p:nvSpPr>
          <p:cNvPr id="146462" name="直接连接符 286750"/>
          <p:cNvSpPr/>
          <p:nvPr/>
        </p:nvSpPr>
        <p:spPr>
          <a:xfrm flipV="1">
            <a:off x="8416925" y="901700"/>
            <a:ext cx="0" cy="330200"/>
          </a:xfrm>
          <a:prstGeom prst="line">
            <a:avLst/>
          </a:prstGeom>
          <a:ln w="25400" cap="flat" cmpd="sng">
            <a:solidFill>
              <a:schemeClr val="tx1"/>
            </a:solidFill>
            <a:prstDash val="solid"/>
            <a:round/>
            <a:headEnd type="none" w="med" len="med"/>
            <a:tailEnd type="none" w="med" len="med"/>
          </a:ln>
        </p:spPr>
      </p:sp>
      <p:sp>
        <p:nvSpPr>
          <p:cNvPr id="146463" name="直接连接符 286751"/>
          <p:cNvSpPr/>
          <p:nvPr/>
        </p:nvSpPr>
        <p:spPr>
          <a:xfrm flipV="1">
            <a:off x="2516188" y="901700"/>
            <a:ext cx="0" cy="330200"/>
          </a:xfrm>
          <a:prstGeom prst="line">
            <a:avLst/>
          </a:prstGeom>
          <a:ln w="25400" cap="flat" cmpd="sng">
            <a:solidFill>
              <a:schemeClr val="tx1"/>
            </a:solidFill>
            <a:prstDash val="solid"/>
            <a:round/>
            <a:headEnd type="none" w="med" len="med"/>
            <a:tailEnd type="none" w="med" len="med"/>
          </a:ln>
        </p:spPr>
      </p:sp>
      <p:sp>
        <p:nvSpPr>
          <p:cNvPr id="146464" name="直接连接符 286752"/>
          <p:cNvSpPr/>
          <p:nvPr/>
        </p:nvSpPr>
        <p:spPr>
          <a:xfrm flipV="1">
            <a:off x="3619500" y="901700"/>
            <a:ext cx="0" cy="330200"/>
          </a:xfrm>
          <a:prstGeom prst="line">
            <a:avLst/>
          </a:prstGeom>
          <a:ln w="25400" cap="flat" cmpd="sng">
            <a:solidFill>
              <a:schemeClr val="tx1"/>
            </a:solidFill>
            <a:prstDash val="solid"/>
            <a:round/>
            <a:headEnd type="none" w="med" len="med"/>
            <a:tailEnd type="none" w="med" len="med"/>
          </a:ln>
        </p:spPr>
      </p:sp>
      <p:sp>
        <p:nvSpPr>
          <p:cNvPr id="146465" name="直接连接符 286753"/>
          <p:cNvSpPr/>
          <p:nvPr/>
        </p:nvSpPr>
        <p:spPr>
          <a:xfrm flipV="1">
            <a:off x="585788" y="1206500"/>
            <a:ext cx="0" cy="635000"/>
          </a:xfrm>
          <a:prstGeom prst="line">
            <a:avLst/>
          </a:prstGeom>
          <a:ln w="25400" cap="flat" cmpd="sng">
            <a:solidFill>
              <a:schemeClr val="tx1"/>
            </a:solidFill>
            <a:prstDash val="solid"/>
            <a:round/>
            <a:headEnd type="none" w="med" len="med"/>
            <a:tailEnd type="none" w="med" len="med"/>
          </a:ln>
        </p:spPr>
      </p:sp>
      <p:sp>
        <p:nvSpPr>
          <p:cNvPr id="146466" name="直接连接符 286754"/>
          <p:cNvSpPr/>
          <p:nvPr/>
        </p:nvSpPr>
        <p:spPr>
          <a:xfrm flipV="1">
            <a:off x="2516188" y="1206500"/>
            <a:ext cx="0" cy="635000"/>
          </a:xfrm>
          <a:prstGeom prst="line">
            <a:avLst/>
          </a:prstGeom>
          <a:ln w="25400" cap="flat" cmpd="sng">
            <a:solidFill>
              <a:schemeClr val="tx1"/>
            </a:solidFill>
            <a:prstDash val="solid"/>
            <a:round/>
            <a:headEnd type="none" w="med" len="med"/>
            <a:tailEnd type="none" w="med" len="med"/>
          </a:ln>
        </p:spPr>
      </p:sp>
      <p:sp>
        <p:nvSpPr>
          <p:cNvPr id="146467" name="直接连接符 286755"/>
          <p:cNvSpPr/>
          <p:nvPr/>
        </p:nvSpPr>
        <p:spPr>
          <a:xfrm flipV="1">
            <a:off x="3619500" y="1206500"/>
            <a:ext cx="0" cy="635000"/>
          </a:xfrm>
          <a:prstGeom prst="line">
            <a:avLst/>
          </a:prstGeom>
          <a:ln w="25400" cap="flat" cmpd="sng">
            <a:solidFill>
              <a:schemeClr val="tx1"/>
            </a:solidFill>
            <a:prstDash val="solid"/>
            <a:round/>
            <a:headEnd type="none" w="med" len="med"/>
            <a:tailEnd type="none" w="med" len="med"/>
          </a:ln>
        </p:spPr>
      </p:sp>
      <p:sp>
        <p:nvSpPr>
          <p:cNvPr id="146468" name="直接连接符 286756"/>
          <p:cNvSpPr/>
          <p:nvPr/>
        </p:nvSpPr>
        <p:spPr>
          <a:xfrm flipV="1">
            <a:off x="4610100" y="1206500"/>
            <a:ext cx="0" cy="635000"/>
          </a:xfrm>
          <a:prstGeom prst="line">
            <a:avLst/>
          </a:prstGeom>
          <a:ln w="25400" cap="flat" cmpd="sng">
            <a:solidFill>
              <a:schemeClr val="tx1"/>
            </a:solidFill>
            <a:prstDash val="solid"/>
            <a:round/>
            <a:headEnd type="none" w="med" len="med"/>
            <a:tailEnd type="none" w="med" len="med"/>
          </a:ln>
        </p:spPr>
      </p:sp>
      <p:sp>
        <p:nvSpPr>
          <p:cNvPr id="146469" name="直接连接符 286757"/>
          <p:cNvSpPr/>
          <p:nvPr/>
        </p:nvSpPr>
        <p:spPr>
          <a:xfrm flipV="1">
            <a:off x="5607050" y="1206500"/>
            <a:ext cx="0" cy="635000"/>
          </a:xfrm>
          <a:prstGeom prst="line">
            <a:avLst/>
          </a:prstGeom>
          <a:ln w="25400" cap="flat" cmpd="sng">
            <a:solidFill>
              <a:schemeClr val="tx1"/>
            </a:solidFill>
            <a:prstDash val="solid"/>
            <a:round/>
            <a:headEnd type="none" w="med" len="med"/>
            <a:tailEnd type="none" w="med" len="med"/>
          </a:ln>
        </p:spPr>
      </p:sp>
      <p:sp>
        <p:nvSpPr>
          <p:cNvPr id="146470" name="直接连接符 286758"/>
          <p:cNvSpPr/>
          <p:nvPr/>
        </p:nvSpPr>
        <p:spPr>
          <a:xfrm flipV="1">
            <a:off x="6572250" y="1206500"/>
            <a:ext cx="0" cy="635000"/>
          </a:xfrm>
          <a:prstGeom prst="line">
            <a:avLst/>
          </a:prstGeom>
          <a:ln w="25400" cap="flat" cmpd="sng">
            <a:solidFill>
              <a:schemeClr val="tx1"/>
            </a:solidFill>
            <a:prstDash val="solid"/>
            <a:round/>
            <a:headEnd type="none" w="med" len="med"/>
            <a:tailEnd type="none" w="med" len="med"/>
          </a:ln>
        </p:spPr>
      </p:sp>
      <p:sp>
        <p:nvSpPr>
          <p:cNvPr id="146471" name="直接连接符 286759"/>
          <p:cNvSpPr/>
          <p:nvPr/>
        </p:nvSpPr>
        <p:spPr>
          <a:xfrm flipV="1">
            <a:off x="7526338" y="1206500"/>
            <a:ext cx="0" cy="635000"/>
          </a:xfrm>
          <a:prstGeom prst="line">
            <a:avLst/>
          </a:prstGeom>
          <a:ln w="25400" cap="flat" cmpd="sng">
            <a:solidFill>
              <a:schemeClr val="tx1"/>
            </a:solidFill>
            <a:prstDash val="solid"/>
            <a:round/>
            <a:headEnd type="none" w="med" len="med"/>
            <a:tailEnd type="none" w="med" len="med"/>
          </a:ln>
        </p:spPr>
      </p:sp>
      <p:sp>
        <p:nvSpPr>
          <p:cNvPr id="146472" name="直接连接符 286760"/>
          <p:cNvSpPr/>
          <p:nvPr/>
        </p:nvSpPr>
        <p:spPr>
          <a:xfrm flipV="1">
            <a:off x="8416925" y="1206500"/>
            <a:ext cx="0" cy="635000"/>
          </a:xfrm>
          <a:prstGeom prst="line">
            <a:avLst/>
          </a:prstGeom>
          <a:ln w="25400" cap="flat" cmpd="sng">
            <a:solidFill>
              <a:schemeClr val="tx1"/>
            </a:solidFill>
            <a:prstDash val="solid"/>
            <a:round/>
            <a:headEnd type="none" w="med" len="med"/>
            <a:tailEnd type="none" w="med" len="med"/>
          </a:ln>
        </p:spPr>
      </p:sp>
      <p:sp>
        <p:nvSpPr>
          <p:cNvPr id="286762" name="内容占位符 286761"/>
          <p:cNvSpPr>
            <a:spLocks noGrp="1"/>
          </p:cNvSpPr>
          <p:nvPr>
            <p:ph idx="1"/>
          </p:nvPr>
        </p:nvSpPr>
        <p:spPr>
          <a:xfrm>
            <a:off x="419100" y="2057400"/>
            <a:ext cx="8496300" cy="1811338"/>
          </a:xfrm>
          <a:ln/>
        </p:spPr>
        <p:txBody>
          <a:bodyPr vert="horz" wrap="square" lIns="63500" tIns="25400" rIns="63500" bIns="25400" anchor="t" anchorCtr="0">
            <a:spAutoFit/>
          </a:bodyPr>
          <a:p>
            <a:r>
              <a:rPr lang="en-US" altLang="zh-CN" dirty="0" err="1">
                <a:ea typeface="宋体" panose="02010600030101010101" pitchFamily="2" charset="-122"/>
              </a:rPr>
              <a:t>RegWrite</a:t>
            </a:r>
            <a:r>
              <a:rPr lang="en-US" altLang="zh-CN">
                <a:ea typeface="宋体" panose="02010600030101010101" pitchFamily="2" charset="-122"/>
              </a:rPr>
              <a:t>  =  R-type  +  </a:t>
            </a:r>
            <a:r>
              <a:rPr lang="en-US" altLang="zh-CN" dirty="0" err="1">
                <a:ea typeface="宋体" panose="02010600030101010101" pitchFamily="2" charset="-122"/>
              </a:rPr>
              <a:t>ori</a:t>
            </a:r>
            <a:r>
              <a:rPr lang="en-US" altLang="zh-CN">
                <a:ea typeface="宋体" panose="02010600030101010101" pitchFamily="2" charset="-122"/>
              </a:rPr>
              <a:t>  +  </a:t>
            </a:r>
            <a:r>
              <a:rPr lang="en-US" altLang="zh-CN" dirty="0" err="1">
                <a:ea typeface="宋体" panose="02010600030101010101" pitchFamily="2" charset="-122"/>
              </a:rPr>
              <a:t>lw</a:t>
            </a:r>
            <a:endParaRPr lang="en-US" altLang="zh-CN">
              <a:ea typeface="宋体" panose="02010600030101010101" pitchFamily="2" charset="-122"/>
            </a:endParaRPr>
          </a:p>
          <a:p>
            <a:pPr lvl="1">
              <a:buNone/>
            </a:pPr>
            <a:r>
              <a:rPr lang="en-US" altLang="zh-CN">
                <a:ea typeface="宋体" panose="02010600030101010101" pitchFamily="2" charset="-122"/>
              </a:rPr>
              <a:t>= !op&lt;5&gt; &amp; !op&lt;4&gt; &amp; !op&lt;3&gt; &amp; !op&lt;2&gt; &amp; !op&lt;1&gt; &amp; !op&lt;0&gt;	(R-type)</a:t>
            </a:r>
            <a:endParaRPr lang="en-US" altLang="zh-CN">
              <a:ea typeface="宋体" panose="02010600030101010101" pitchFamily="2" charset="-122"/>
            </a:endParaRPr>
          </a:p>
          <a:p>
            <a:pPr lvl="1">
              <a:buNone/>
            </a:pPr>
            <a:r>
              <a:rPr lang="en-US" altLang="zh-CN">
                <a:ea typeface="宋体" panose="02010600030101010101" pitchFamily="2" charset="-122"/>
              </a:rPr>
              <a:t>   +  !op&lt;5&gt; &amp; !op&lt;4&gt; &amp; op&lt;3&gt; &amp; op&lt;2&gt; &amp; !op&lt;1&gt; &amp; op&lt;0&gt;	(</a:t>
            </a:r>
            <a:r>
              <a:rPr lang="en-US" altLang="zh-CN" dirty="0" err="1">
                <a:ea typeface="宋体" panose="02010600030101010101" pitchFamily="2" charset="-122"/>
              </a:rPr>
              <a:t>ori</a:t>
            </a:r>
            <a:r>
              <a:rPr lang="en-US" altLang="zh-CN">
                <a:ea typeface="宋体" panose="02010600030101010101" pitchFamily="2" charset="-122"/>
              </a:rPr>
              <a:t>)</a:t>
            </a:r>
            <a:endParaRPr lang="en-US" altLang="zh-CN">
              <a:ea typeface="宋体" panose="02010600030101010101" pitchFamily="2" charset="-122"/>
            </a:endParaRPr>
          </a:p>
          <a:p>
            <a:pPr lvl="1">
              <a:buNone/>
            </a:pPr>
            <a:r>
              <a:rPr lang="en-US" altLang="zh-CN">
                <a:ea typeface="宋体" panose="02010600030101010101" pitchFamily="2" charset="-122"/>
              </a:rPr>
              <a:t>   +  op&lt;5&gt; &amp; !op&lt;4&gt; &amp; !op&lt;3&gt; &amp; !op&lt;2&gt; &amp; op&lt;1&gt; &amp; op&lt;0&gt;	(</a:t>
            </a:r>
            <a:r>
              <a:rPr lang="en-US" altLang="zh-CN" dirty="0" err="1">
                <a:ea typeface="宋体" panose="02010600030101010101" pitchFamily="2" charset="-122"/>
              </a:rPr>
              <a:t>lw</a:t>
            </a:r>
            <a:r>
              <a:rPr lang="en-US" altLang="zh-CN">
                <a:ea typeface="宋体" panose="02010600030101010101" pitchFamily="2" charset="-122"/>
              </a:rPr>
              <a:t>)</a:t>
            </a:r>
            <a:endParaRPr lang="en-US" altLang="zh-CN">
              <a:ea typeface="宋体" panose="02010600030101010101" pitchFamily="2" charset="-122"/>
            </a:endParaRPr>
          </a:p>
          <a:p>
            <a:pPr lvl="1">
              <a:buNone/>
            </a:pPr>
            <a:endParaRPr lang="zh-CN" altLang="en-US" dirty="0">
              <a:ea typeface="宋体" panose="02010600030101010101" pitchFamily="2" charset="-122"/>
            </a:endParaRPr>
          </a:p>
        </p:txBody>
      </p:sp>
      <p:grpSp>
        <p:nvGrpSpPr>
          <p:cNvPr id="146474" name="组合 286762"/>
          <p:cNvGrpSpPr/>
          <p:nvPr/>
        </p:nvGrpSpPr>
        <p:grpSpPr>
          <a:xfrm>
            <a:off x="290513" y="3444875"/>
            <a:ext cx="7159625" cy="2100263"/>
            <a:chOff x="183" y="2170"/>
            <a:chExt cx="4510" cy="1323"/>
          </a:xfrm>
        </p:grpSpPr>
        <p:sp>
          <p:nvSpPr>
            <p:cNvPr id="146475" name="椭圆 286763"/>
            <p:cNvSpPr/>
            <p:nvPr/>
          </p:nvSpPr>
          <p:spPr>
            <a:xfrm>
              <a:off x="392"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76" name="直接连接符 286764"/>
            <p:cNvSpPr/>
            <p:nvPr/>
          </p:nvSpPr>
          <p:spPr>
            <a:xfrm flipV="1">
              <a:off x="432" y="2392"/>
              <a:ext cx="0" cy="352"/>
            </a:xfrm>
            <a:prstGeom prst="line">
              <a:avLst/>
            </a:prstGeom>
            <a:ln w="25400" cap="flat" cmpd="sng">
              <a:solidFill>
                <a:schemeClr val="tx1"/>
              </a:solidFill>
              <a:prstDash val="solid"/>
              <a:round/>
              <a:headEnd type="none" w="med" len="med"/>
              <a:tailEnd type="none" w="med" len="med"/>
            </a:ln>
          </p:spPr>
        </p:sp>
        <p:sp>
          <p:nvSpPr>
            <p:cNvPr id="146477" name="椭圆 286765"/>
            <p:cNvSpPr/>
            <p:nvPr/>
          </p:nvSpPr>
          <p:spPr>
            <a:xfrm>
              <a:off x="488"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78" name="直接连接符 286766"/>
            <p:cNvSpPr/>
            <p:nvPr/>
          </p:nvSpPr>
          <p:spPr>
            <a:xfrm flipV="1">
              <a:off x="528" y="2440"/>
              <a:ext cx="0" cy="304"/>
            </a:xfrm>
            <a:prstGeom prst="line">
              <a:avLst/>
            </a:prstGeom>
            <a:ln w="25400" cap="flat" cmpd="sng">
              <a:solidFill>
                <a:schemeClr val="tx1"/>
              </a:solidFill>
              <a:prstDash val="solid"/>
              <a:round/>
              <a:headEnd type="none" w="med" len="med"/>
              <a:tailEnd type="none" w="med" len="med"/>
            </a:ln>
          </p:spPr>
        </p:sp>
        <p:sp>
          <p:nvSpPr>
            <p:cNvPr id="146479" name="椭圆 286767"/>
            <p:cNvSpPr/>
            <p:nvPr/>
          </p:nvSpPr>
          <p:spPr>
            <a:xfrm>
              <a:off x="584"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80" name="直接连接符 286768"/>
            <p:cNvSpPr/>
            <p:nvPr/>
          </p:nvSpPr>
          <p:spPr>
            <a:xfrm flipV="1">
              <a:off x="624" y="2488"/>
              <a:ext cx="0" cy="256"/>
            </a:xfrm>
            <a:prstGeom prst="line">
              <a:avLst/>
            </a:prstGeom>
            <a:ln w="25400" cap="flat" cmpd="sng">
              <a:solidFill>
                <a:schemeClr val="tx1"/>
              </a:solidFill>
              <a:prstDash val="solid"/>
              <a:round/>
              <a:headEnd type="none" w="med" len="med"/>
              <a:tailEnd type="none" w="med" len="med"/>
            </a:ln>
          </p:spPr>
        </p:sp>
        <p:sp>
          <p:nvSpPr>
            <p:cNvPr id="146481" name="椭圆 286769"/>
            <p:cNvSpPr/>
            <p:nvPr/>
          </p:nvSpPr>
          <p:spPr>
            <a:xfrm>
              <a:off x="680"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82" name="直接连接符 286770"/>
            <p:cNvSpPr/>
            <p:nvPr/>
          </p:nvSpPr>
          <p:spPr>
            <a:xfrm flipV="1">
              <a:off x="720" y="2536"/>
              <a:ext cx="0" cy="208"/>
            </a:xfrm>
            <a:prstGeom prst="line">
              <a:avLst/>
            </a:prstGeom>
            <a:ln w="25400" cap="flat" cmpd="sng">
              <a:solidFill>
                <a:schemeClr val="tx1"/>
              </a:solidFill>
              <a:prstDash val="solid"/>
              <a:round/>
              <a:headEnd type="none" w="med" len="med"/>
              <a:tailEnd type="none" w="med" len="med"/>
            </a:ln>
          </p:spPr>
        </p:sp>
        <p:sp>
          <p:nvSpPr>
            <p:cNvPr id="146483" name="椭圆 286771"/>
            <p:cNvSpPr/>
            <p:nvPr/>
          </p:nvSpPr>
          <p:spPr>
            <a:xfrm>
              <a:off x="776"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84" name="直接连接符 286772"/>
            <p:cNvSpPr/>
            <p:nvPr/>
          </p:nvSpPr>
          <p:spPr>
            <a:xfrm flipV="1">
              <a:off x="816" y="2584"/>
              <a:ext cx="0" cy="160"/>
            </a:xfrm>
            <a:prstGeom prst="line">
              <a:avLst/>
            </a:prstGeom>
            <a:ln w="25400" cap="flat" cmpd="sng">
              <a:solidFill>
                <a:schemeClr val="tx1"/>
              </a:solidFill>
              <a:prstDash val="solid"/>
              <a:round/>
              <a:headEnd type="none" w="med" len="med"/>
              <a:tailEnd type="none" w="med" len="med"/>
            </a:ln>
          </p:spPr>
        </p:sp>
        <p:sp>
          <p:nvSpPr>
            <p:cNvPr id="146485" name="椭圆 286773"/>
            <p:cNvSpPr/>
            <p:nvPr/>
          </p:nvSpPr>
          <p:spPr>
            <a:xfrm>
              <a:off x="872"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86" name="直接连接符 286774"/>
            <p:cNvSpPr/>
            <p:nvPr/>
          </p:nvSpPr>
          <p:spPr>
            <a:xfrm flipV="1">
              <a:off x="912" y="2632"/>
              <a:ext cx="0" cy="112"/>
            </a:xfrm>
            <a:prstGeom prst="line">
              <a:avLst/>
            </a:prstGeom>
            <a:ln w="25400" cap="flat" cmpd="sng">
              <a:solidFill>
                <a:schemeClr val="tx1"/>
              </a:solidFill>
              <a:prstDash val="solid"/>
              <a:round/>
              <a:headEnd type="none" w="med" len="med"/>
              <a:tailEnd type="none" w="med" len="med"/>
            </a:ln>
          </p:spPr>
        </p:sp>
        <p:sp>
          <p:nvSpPr>
            <p:cNvPr id="146487" name="直接连接符 286775"/>
            <p:cNvSpPr/>
            <p:nvPr/>
          </p:nvSpPr>
          <p:spPr>
            <a:xfrm>
              <a:off x="392" y="2832"/>
              <a:ext cx="560" cy="0"/>
            </a:xfrm>
            <a:prstGeom prst="line">
              <a:avLst/>
            </a:prstGeom>
            <a:ln w="25400" cap="flat" cmpd="sng">
              <a:solidFill>
                <a:schemeClr val="tx1"/>
              </a:solidFill>
              <a:prstDash val="solid"/>
              <a:round/>
              <a:headEnd type="none" w="med" len="med"/>
              <a:tailEnd type="none" w="med" len="med"/>
            </a:ln>
          </p:spPr>
        </p:sp>
        <p:sp>
          <p:nvSpPr>
            <p:cNvPr id="146488" name="直接连接符 286776"/>
            <p:cNvSpPr/>
            <p:nvPr/>
          </p:nvSpPr>
          <p:spPr>
            <a:xfrm>
              <a:off x="384" y="2840"/>
              <a:ext cx="0" cy="176"/>
            </a:xfrm>
            <a:prstGeom prst="line">
              <a:avLst/>
            </a:prstGeom>
            <a:ln w="25400" cap="flat" cmpd="sng">
              <a:solidFill>
                <a:schemeClr val="tx1"/>
              </a:solidFill>
              <a:prstDash val="solid"/>
              <a:round/>
              <a:headEnd type="none" w="med" len="med"/>
              <a:tailEnd type="none" w="med" len="med"/>
            </a:ln>
          </p:spPr>
        </p:sp>
        <p:sp>
          <p:nvSpPr>
            <p:cNvPr id="146489" name="直接连接符 286777"/>
            <p:cNvSpPr/>
            <p:nvPr/>
          </p:nvSpPr>
          <p:spPr>
            <a:xfrm>
              <a:off x="960" y="2840"/>
              <a:ext cx="0" cy="176"/>
            </a:xfrm>
            <a:prstGeom prst="line">
              <a:avLst/>
            </a:prstGeom>
            <a:ln w="25400" cap="flat" cmpd="sng">
              <a:solidFill>
                <a:schemeClr val="tx1"/>
              </a:solidFill>
              <a:prstDash val="solid"/>
              <a:round/>
              <a:headEnd type="none" w="med" len="med"/>
              <a:tailEnd type="none" w="med" len="med"/>
            </a:ln>
          </p:spPr>
        </p:sp>
        <p:sp>
          <p:nvSpPr>
            <p:cNvPr id="146490" name="任意多边形 286778"/>
            <p:cNvSpPr/>
            <p:nvPr/>
          </p:nvSpPr>
          <p:spPr>
            <a:xfrm>
              <a:off x="672" y="3024"/>
              <a:ext cx="280" cy="232"/>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491" name="任意多边形 286779"/>
            <p:cNvSpPr/>
            <p:nvPr/>
          </p:nvSpPr>
          <p:spPr>
            <a:xfrm>
              <a:off x="393" y="3024"/>
              <a:ext cx="280" cy="232"/>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492" name="直接连接符 286780"/>
            <p:cNvSpPr/>
            <p:nvPr/>
          </p:nvSpPr>
          <p:spPr>
            <a:xfrm flipV="1">
              <a:off x="672" y="3256"/>
              <a:ext cx="0" cy="112"/>
            </a:xfrm>
            <a:prstGeom prst="line">
              <a:avLst/>
            </a:prstGeom>
            <a:ln w="25400" cap="flat" cmpd="sng">
              <a:solidFill>
                <a:schemeClr val="tx1"/>
              </a:solidFill>
              <a:prstDash val="solid"/>
              <a:round/>
              <a:headEnd type="none" w="med" len="med"/>
              <a:tailEnd type="none" w="med" len="med"/>
            </a:ln>
          </p:spPr>
        </p:sp>
        <p:sp>
          <p:nvSpPr>
            <p:cNvPr id="146493" name="椭圆 286781"/>
            <p:cNvSpPr/>
            <p:nvPr/>
          </p:nvSpPr>
          <p:spPr>
            <a:xfrm>
              <a:off x="1064"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94" name="直接连接符 286782"/>
            <p:cNvSpPr/>
            <p:nvPr/>
          </p:nvSpPr>
          <p:spPr>
            <a:xfrm flipV="1">
              <a:off x="1104" y="2392"/>
              <a:ext cx="0" cy="352"/>
            </a:xfrm>
            <a:prstGeom prst="line">
              <a:avLst/>
            </a:prstGeom>
            <a:ln w="25400" cap="flat" cmpd="sng">
              <a:solidFill>
                <a:schemeClr val="tx1"/>
              </a:solidFill>
              <a:prstDash val="solid"/>
              <a:round/>
              <a:headEnd type="none" w="med" len="med"/>
              <a:tailEnd type="none" w="med" len="med"/>
            </a:ln>
          </p:spPr>
        </p:sp>
        <p:sp>
          <p:nvSpPr>
            <p:cNvPr id="146495" name="椭圆 286783"/>
            <p:cNvSpPr/>
            <p:nvPr/>
          </p:nvSpPr>
          <p:spPr>
            <a:xfrm>
              <a:off x="1160"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96" name="直接连接符 286784"/>
            <p:cNvSpPr/>
            <p:nvPr/>
          </p:nvSpPr>
          <p:spPr>
            <a:xfrm flipV="1">
              <a:off x="1200" y="2440"/>
              <a:ext cx="0" cy="304"/>
            </a:xfrm>
            <a:prstGeom prst="line">
              <a:avLst/>
            </a:prstGeom>
            <a:ln w="25400" cap="flat" cmpd="sng">
              <a:solidFill>
                <a:schemeClr val="tx1"/>
              </a:solidFill>
              <a:prstDash val="solid"/>
              <a:round/>
              <a:headEnd type="none" w="med" len="med"/>
              <a:tailEnd type="none" w="med" len="med"/>
            </a:ln>
          </p:spPr>
        </p:sp>
        <p:sp>
          <p:nvSpPr>
            <p:cNvPr id="146497" name="直接连接符 286785"/>
            <p:cNvSpPr/>
            <p:nvPr/>
          </p:nvSpPr>
          <p:spPr>
            <a:xfrm flipV="1">
              <a:off x="1392" y="2536"/>
              <a:ext cx="0" cy="304"/>
            </a:xfrm>
            <a:prstGeom prst="line">
              <a:avLst/>
            </a:prstGeom>
            <a:ln w="25400" cap="flat" cmpd="sng">
              <a:solidFill>
                <a:schemeClr val="tx1"/>
              </a:solidFill>
              <a:prstDash val="solid"/>
              <a:round/>
              <a:headEnd type="none" w="med" len="med"/>
              <a:tailEnd type="none" w="med" len="med"/>
            </a:ln>
          </p:spPr>
        </p:sp>
        <p:sp>
          <p:nvSpPr>
            <p:cNvPr id="146498" name="椭圆 286786"/>
            <p:cNvSpPr/>
            <p:nvPr/>
          </p:nvSpPr>
          <p:spPr>
            <a:xfrm>
              <a:off x="1448"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499" name="直接连接符 286787"/>
            <p:cNvSpPr/>
            <p:nvPr/>
          </p:nvSpPr>
          <p:spPr>
            <a:xfrm flipV="1">
              <a:off x="1488" y="2584"/>
              <a:ext cx="0" cy="160"/>
            </a:xfrm>
            <a:prstGeom prst="line">
              <a:avLst/>
            </a:prstGeom>
            <a:ln w="25400" cap="flat" cmpd="sng">
              <a:solidFill>
                <a:schemeClr val="tx1"/>
              </a:solidFill>
              <a:prstDash val="solid"/>
              <a:round/>
              <a:headEnd type="none" w="med" len="med"/>
              <a:tailEnd type="none" w="med" len="med"/>
            </a:ln>
          </p:spPr>
        </p:sp>
        <p:sp>
          <p:nvSpPr>
            <p:cNvPr id="146500" name="直接连接符 286788"/>
            <p:cNvSpPr/>
            <p:nvPr/>
          </p:nvSpPr>
          <p:spPr>
            <a:xfrm flipV="1">
              <a:off x="1584" y="2632"/>
              <a:ext cx="0" cy="208"/>
            </a:xfrm>
            <a:prstGeom prst="line">
              <a:avLst/>
            </a:prstGeom>
            <a:ln w="25400" cap="flat" cmpd="sng">
              <a:solidFill>
                <a:schemeClr val="tx1"/>
              </a:solidFill>
              <a:prstDash val="solid"/>
              <a:round/>
              <a:headEnd type="none" w="med" len="med"/>
              <a:tailEnd type="none" w="med" len="med"/>
            </a:ln>
          </p:spPr>
        </p:sp>
        <p:sp>
          <p:nvSpPr>
            <p:cNvPr id="146501" name="直接连接符 286789"/>
            <p:cNvSpPr/>
            <p:nvPr/>
          </p:nvSpPr>
          <p:spPr>
            <a:xfrm>
              <a:off x="1064" y="2832"/>
              <a:ext cx="560" cy="0"/>
            </a:xfrm>
            <a:prstGeom prst="line">
              <a:avLst/>
            </a:prstGeom>
            <a:ln w="25400" cap="flat" cmpd="sng">
              <a:solidFill>
                <a:schemeClr val="tx1"/>
              </a:solidFill>
              <a:prstDash val="solid"/>
              <a:round/>
              <a:headEnd type="none" w="med" len="med"/>
              <a:tailEnd type="none" w="med" len="med"/>
            </a:ln>
          </p:spPr>
        </p:sp>
        <p:sp>
          <p:nvSpPr>
            <p:cNvPr id="146502" name="直接连接符 286790"/>
            <p:cNvSpPr/>
            <p:nvPr/>
          </p:nvSpPr>
          <p:spPr>
            <a:xfrm>
              <a:off x="1056" y="2840"/>
              <a:ext cx="0" cy="176"/>
            </a:xfrm>
            <a:prstGeom prst="line">
              <a:avLst/>
            </a:prstGeom>
            <a:ln w="25400" cap="flat" cmpd="sng">
              <a:solidFill>
                <a:schemeClr val="tx1"/>
              </a:solidFill>
              <a:prstDash val="solid"/>
              <a:round/>
              <a:headEnd type="none" w="med" len="med"/>
              <a:tailEnd type="none" w="med" len="med"/>
            </a:ln>
          </p:spPr>
        </p:sp>
        <p:sp>
          <p:nvSpPr>
            <p:cNvPr id="146503" name="直接连接符 286791"/>
            <p:cNvSpPr/>
            <p:nvPr/>
          </p:nvSpPr>
          <p:spPr>
            <a:xfrm>
              <a:off x="1632" y="2840"/>
              <a:ext cx="0" cy="176"/>
            </a:xfrm>
            <a:prstGeom prst="line">
              <a:avLst/>
            </a:prstGeom>
            <a:ln w="25400" cap="flat" cmpd="sng">
              <a:solidFill>
                <a:schemeClr val="tx1"/>
              </a:solidFill>
              <a:prstDash val="solid"/>
              <a:round/>
              <a:headEnd type="none" w="med" len="med"/>
              <a:tailEnd type="none" w="med" len="med"/>
            </a:ln>
          </p:spPr>
        </p:sp>
        <p:sp>
          <p:nvSpPr>
            <p:cNvPr id="146504" name="任意多边形 286792"/>
            <p:cNvSpPr/>
            <p:nvPr/>
          </p:nvSpPr>
          <p:spPr>
            <a:xfrm>
              <a:off x="1344" y="3024"/>
              <a:ext cx="280" cy="232"/>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05" name="任意多边形 286793"/>
            <p:cNvSpPr/>
            <p:nvPr/>
          </p:nvSpPr>
          <p:spPr>
            <a:xfrm>
              <a:off x="1065" y="3024"/>
              <a:ext cx="280" cy="232"/>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06" name="直接连接符 286794"/>
            <p:cNvSpPr/>
            <p:nvPr/>
          </p:nvSpPr>
          <p:spPr>
            <a:xfrm flipV="1">
              <a:off x="1344" y="3256"/>
              <a:ext cx="0" cy="112"/>
            </a:xfrm>
            <a:prstGeom prst="line">
              <a:avLst/>
            </a:prstGeom>
            <a:ln w="25400" cap="flat" cmpd="sng">
              <a:solidFill>
                <a:schemeClr val="tx1"/>
              </a:solidFill>
              <a:prstDash val="solid"/>
              <a:round/>
              <a:headEnd type="none" w="med" len="med"/>
              <a:tailEnd type="none" w="med" len="med"/>
            </a:ln>
          </p:spPr>
        </p:sp>
        <p:sp>
          <p:nvSpPr>
            <p:cNvPr id="146507" name="直接连接符 286795"/>
            <p:cNvSpPr/>
            <p:nvPr/>
          </p:nvSpPr>
          <p:spPr>
            <a:xfrm flipV="1">
              <a:off x="1776" y="2392"/>
              <a:ext cx="0" cy="448"/>
            </a:xfrm>
            <a:prstGeom prst="line">
              <a:avLst/>
            </a:prstGeom>
            <a:ln w="25400" cap="flat" cmpd="sng">
              <a:solidFill>
                <a:schemeClr val="tx1"/>
              </a:solidFill>
              <a:prstDash val="solid"/>
              <a:round/>
              <a:headEnd type="none" w="med" len="med"/>
              <a:tailEnd type="none" w="med" len="med"/>
            </a:ln>
          </p:spPr>
        </p:sp>
        <p:sp>
          <p:nvSpPr>
            <p:cNvPr id="146508" name="椭圆 286796"/>
            <p:cNvSpPr/>
            <p:nvPr/>
          </p:nvSpPr>
          <p:spPr>
            <a:xfrm>
              <a:off x="1832"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09" name="直接连接符 286797"/>
            <p:cNvSpPr/>
            <p:nvPr/>
          </p:nvSpPr>
          <p:spPr>
            <a:xfrm flipV="1">
              <a:off x="1872" y="2440"/>
              <a:ext cx="0" cy="304"/>
            </a:xfrm>
            <a:prstGeom prst="line">
              <a:avLst/>
            </a:prstGeom>
            <a:ln w="25400" cap="flat" cmpd="sng">
              <a:solidFill>
                <a:schemeClr val="tx1"/>
              </a:solidFill>
              <a:prstDash val="solid"/>
              <a:round/>
              <a:headEnd type="none" w="med" len="med"/>
              <a:tailEnd type="none" w="med" len="med"/>
            </a:ln>
          </p:spPr>
        </p:sp>
        <p:sp>
          <p:nvSpPr>
            <p:cNvPr id="146510" name="椭圆 286798"/>
            <p:cNvSpPr/>
            <p:nvPr/>
          </p:nvSpPr>
          <p:spPr>
            <a:xfrm>
              <a:off x="1928"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11" name="直接连接符 286799"/>
            <p:cNvSpPr/>
            <p:nvPr/>
          </p:nvSpPr>
          <p:spPr>
            <a:xfrm flipV="1">
              <a:off x="1968" y="2488"/>
              <a:ext cx="0" cy="256"/>
            </a:xfrm>
            <a:prstGeom prst="line">
              <a:avLst/>
            </a:prstGeom>
            <a:ln w="25400" cap="flat" cmpd="sng">
              <a:solidFill>
                <a:schemeClr val="tx1"/>
              </a:solidFill>
              <a:prstDash val="solid"/>
              <a:round/>
              <a:headEnd type="none" w="med" len="med"/>
              <a:tailEnd type="none" w="med" len="med"/>
            </a:ln>
          </p:spPr>
        </p:sp>
        <p:sp>
          <p:nvSpPr>
            <p:cNvPr id="146512" name="椭圆 286800"/>
            <p:cNvSpPr/>
            <p:nvPr/>
          </p:nvSpPr>
          <p:spPr>
            <a:xfrm>
              <a:off x="2024"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13" name="直接连接符 286801"/>
            <p:cNvSpPr/>
            <p:nvPr/>
          </p:nvSpPr>
          <p:spPr>
            <a:xfrm flipV="1">
              <a:off x="2064" y="2536"/>
              <a:ext cx="0" cy="208"/>
            </a:xfrm>
            <a:prstGeom prst="line">
              <a:avLst/>
            </a:prstGeom>
            <a:ln w="25400" cap="flat" cmpd="sng">
              <a:solidFill>
                <a:schemeClr val="tx1"/>
              </a:solidFill>
              <a:prstDash val="solid"/>
              <a:round/>
              <a:headEnd type="none" w="med" len="med"/>
              <a:tailEnd type="none" w="med" len="med"/>
            </a:ln>
          </p:spPr>
        </p:sp>
        <p:sp>
          <p:nvSpPr>
            <p:cNvPr id="146514" name="直接连接符 286802"/>
            <p:cNvSpPr/>
            <p:nvPr/>
          </p:nvSpPr>
          <p:spPr>
            <a:xfrm flipV="1">
              <a:off x="2160" y="2584"/>
              <a:ext cx="0" cy="256"/>
            </a:xfrm>
            <a:prstGeom prst="line">
              <a:avLst/>
            </a:prstGeom>
            <a:ln w="25400" cap="flat" cmpd="sng">
              <a:solidFill>
                <a:schemeClr val="tx1"/>
              </a:solidFill>
              <a:prstDash val="solid"/>
              <a:round/>
              <a:headEnd type="none" w="med" len="med"/>
              <a:tailEnd type="none" w="med" len="med"/>
            </a:ln>
          </p:spPr>
        </p:sp>
        <p:sp>
          <p:nvSpPr>
            <p:cNvPr id="146515" name="直接连接符 286803"/>
            <p:cNvSpPr/>
            <p:nvPr/>
          </p:nvSpPr>
          <p:spPr>
            <a:xfrm flipV="1">
              <a:off x="2256" y="2632"/>
              <a:ext cx="0" cy="208"/>
            </a:xfrm>
            <a:prstGeom prst="line">
              <a:avLst/>
            </a:prstGeom>
            <a:ln w="25400" cap="flat" cmpd="sng">
              <a:solidFill>
                <a:schemeClr val="tx1"/>
              </a:solidFill>
              <a:prstDash val="solid"/>
              <a:round/>
              <a:headEnd type="none" w="med" len="med"/>
              <a:tailEnd type="none" w="med" len="med"/>
            </a:ln>
          </p:spPr>
        </p:sp>
        <p:sp>
          <p:nvSpPr>
            <p:cNvPr id="146516" name="直接连接符 286804"/>
            <p:cNvSpPr/>
            <p:nvPr/>
          </p:nvSpPr>
          <p:spPr>
            <a:xfrm>
              <a:off x="1736" y="2832"/>
              <a:ext cx="560" cy="0"/>
            </a:xfrm>
            <a:prstGeom prst="line">
              <a:avLst/>
            </a:prstGeom>
            <a:ln w="25400" cap="flat" cmpd="sng">
              <a:solidFill>
                <a:schemeClr val="tx1"/>
              </a:solidFill>
              <a:prstDash val="solid"/>
              <a:round/>
              <a:headEnd type="none" w="med" len="med"/>
              <a:tailEnd type="none" w="med" len="med"/>
            </a:ln>
          </p:spPr>
        </p:sp>
        <p:sp>
          <p:nvSpPr>
            <p:cNvPr id="146517" name="直接连接符 286805"/>
            <p:cNvSpPr/>
            <p:nvPr/>
          </p:nvSpPr>
          <p:spPr>
            <a:xfrm>
              <a:off x="1728" y="2840"/>
              <a:ext cx="0" cy="176"/>
            </a:xfrm>
            <a:prstGeom prst="line">
              <a:avLst/>
            </a:prstGeom>
            <a:ln w="25400" cap="flat" cmpd="sng">
              <a:solidFill>
                <a:schemeClr val="tx1"/>
              </a:solidFill>
              <a:prstDash val="solid"/>
              <a:round/>
              <a:headEnd type="none" w="med" len="med"/>
              <a:tailEnd type="none" w="med" len="med"/>
            </a:ln>
          </p:spPr>
        </p:sp>
        <p:sp>
          <p:nvSpPr>
            <p:cNvPr id="146518" name="直接连接符 286806"/>
            <p:cNvSpPr/>
            <p:nvPr/>
          </p:nvSpPr>
          <p:spPr>
            <a:xfrm>
              <a:off x="2304" y="2840"/>
              <a:ext cx="0" cy="176"/>
            </a:xfrm>
            <a:prstGeom prst="line">
              <a:avLst/>
            </a:prstGeom>
            <a:ln w="25400" cap="flat" cmpd="sng">
              <a:solidFill>
                <a:schemeClr val="tx1"/>
              </a:solidFill>
              <a:prstDash val="solid"/>
              <a:round/>
              <a:headEnd type="none" w="med" len="med"/>
              <a:tailEnd type="none" w="med" len="med"/>
            </a:ln>
          </p:spPr>
        </p:sp>
        <p:sp>
          <p:nvSpPr>
            <p:cNvPr id="146519" name="任意多边形 286807"/>
            <p:cNvSpPr/>
            <p:nvPr/>
          </p:nvSpPr>
          <p:spPr>
            <a:xfrm>
              <a:off x="2016" y="3024"/>
              <a:ext cx="280" cy="232"/>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20" name="任意多边形 286808"/>
            <p:cNvSpPr/>
            <p:nvPr/>
          </p:nvSpPr>
          <p:spPr>
            <a:xfrm>
              <a:off x="1737" y="3024"/>
              <a:ext cx="280" cy="232"/>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21" name="直接连接符 286809"/>
            <p:cNvSpPr/>
            <p:nvPr/>
          </p:nvSpPr>
          <p:spPr>
            <a:xfrm flipV="1">
              <a:off x="2016" y="3256"/>
              <a:ext cx="0" cy="112"/>
            </a:xfrm>
            <a:prstGeom prst="line">
              <a:avLst/>
            </a:prstGeom>
            <a:ln w="25400" cap="flat" cmpd="sng">
              <a:solidFill>
                <a:schemeClr val="tx1"/>
              </a:solidFill>
              <a:prstDash val="solid"/>
              <a:round/>
              <a:headEnd type="none" w="med" len="med"/>
              <a:tailEnd type="none" w="med" len="med"/>
            </a:ln>
          </p:spPr>
        </p:sp>
        <p:sp>
          <p:nvSpPr>
            <p:cNvPr id="146522" name="直接连接符 286810"/>
            <p:cNvSpPr/>
            <p:nvPr/>
          </p:nvSpPr>
          <p:spPr>
            <a:xfrm flipV="1">
              <a:off x="2448" y="2392"/>
              <a:ext cx="0" cy="448"/>
            </a:xfrm>
            <a:prstGeom prst="line">
              <a:avLst/>
            </a:prstGeom>
            <a:ln w="25400" cap="flat" cmpd="sng">
              <a:solidFill>
                <a:schemeClr val="tx1"/>
              </a:solidFill>
              <a:prstDash val="solid"/>
              <a:round/>
              <a:headEnd type="none" w="med" len="med"/>
              <a:tailEnd type="none" w="med" len="med"/>
            </a:ln>
          </p:spPr>
        </p:sp>
        <p:sp>
          <p:nvSpPr>
            <p:cNvPr id="146523" name="椭圆 286811"/>
            <p:cNvSpPr/>
            <p:nvPr/>
          </p:nvSpPr>
          <p:spPr>
            <a:xfrm>
              <a:off x="2504"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24" name="直接连接符 286812"/>
            <p:cNvSpPr/>
            <p:nvPr/>
          </p:nvSpPr>
          <p:spPr>
            <a:xfrm flipV="1">
              <a:off x="2544" y="2440"/>
              <a:ext cx="0" cy="304"/>
            </a:xfrm>
            <a:prstGeom prst="line">
              <a:avLst/>
            </a:prstGeom>
            <a:ln w="25400" cap="flat" cmpd="sng">
              <a:solidFill>
                <a:schemeClr val="tx1"/>
              </a:solidFill>
              <a:prstDash val="solid"/>
              <a:round/>
              <a:headEnd type="none" w="med" len="med"/>
              <a:tailEnd type="none" w="med" len="med"/>
            </a:ln>
          </p:spPr>
        </p:sp>
        <p:sp>
          <p:nvSpPr>
            <p:cNvPr id="146525" name="直接连接符 286813"/>
            <p:cNvSpPr/>
            <p:nvPr/>
          </p:nvSpPr>
          <p:spPr>
            <a:xfrm flipV="1">
              <a:off x="2640" y="2488"/>
              <a:ext cx="0" cy="352"/>
            </a:xfrm>
            <a:prstGeom prst="line">
              <a:avLst/>
            </a:prstGeom>
            <a:ln w="25400" cap="flat" cmpd="sng">
              <a:solidFill>
                <a:schemeClr val="tx1"/>
              </a:solidFill>
              <a:prstDash val="solid"/>
              <a:round/>
              <a:headEnd type="none" w="med" len="med"/>
              <a:tailEnd type="none" w="med" len="med"/>
            </a:ln>
          </p:spPr>
        </p:sp>
        <p:sp>
          <p:nvSpPr>
            <p:cNvPr id="146526" name="椭圆 286814"/>
            <p:cNvSpPr/>
            <p:nvPr/>
          </p:nvSpPr>
          <p:spPr>
            <a:xfrm>
              <a:off x="2696"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27" name="直接连接符 286815"/>
            <p:cNvSpPr/>
            <p:nvPr/>
          </p:nvSpPr>
          <p:spPr>
            <a:xfrm flipV="1">
              <a:off x="2736" y="2536"/>
              <a:ext cx="0" cy="208"/>
            </a:xfrm>
            <a:prstGeom prst="line">
              <a:avLst/>
            </a:prstGeom>
            <a:ln w="25400" cap="flat" cmpd="sng">
              <a:solidFill>
                <a:schemeClr val="tx1"/>
              </a:solidFill>
              <a:prstDash val="solid"/>
              <a:round/>
              <a:headEnd type="none" w="med" len="med"/>
              <a:tailEnd type="none" w="med" len="med"/>
            </a:ln>
          </p:spPr>
        </p:sp>
        <p:sp>
          <p:nvSpPr>
            <p:cNvPr id="146528" name="直接连接符 286816"/>
            <p:cNvSpPr/>
            <p:nvPr/>
          </p:nvSpPr>
          <p:spPr>
            <a:xfrm flipV="1">
              <a:off x="2832" y="2584"/>
              <a:ext cx="0" cy="256"/>
            </a:xfrm>
            <a:prstGeom prst="line">
              <a:avLst/>
            </a:prstGeom>
            <a:ln w="25400" cap="flat" cmpd="sng">
              <a:solidFill>
                <a:schemeClr val="tx1"/>
              </a:solidFill>
              <a:prstDash val="solid"/>
              <a:round/>
              <a:headEnd type="none" w="med" len="med"/>
              <a:tailEnd type="none" w="med" len="med"/>
            </a:ln>
          </p:spPr>
        </p:sp>
        <p:sp>
          <p:nvSpPr>
            <p:cNvPr id="146529" name="直接连接符 286817"/>
            <p:cNvSpPr/>
            <p:nvPr/>
          </p:nvSpPr>
          <p:spPr>
            <a:xfrm flipV="1">
              <a:off x="2928" y="2632"/>
              <a:ext cx="0" cy="208"/>
            </a:xfrm>
            <a:prstGeom prst="line">
              <a:avLst/>
            </a:prstGeom>
            <a:ln w="25400" cap="flat" cmpd="sng">
              <a:solidFill>
                <a:schemeClr val="tx1"/>
              </a:solidFill>
              <a:prstDash val="solid"/>
              <a:round/>
              <a:headEnd type="none" w="med" len="med"/>
              <a:tailEnd type="none" w="med" len="med"/>
            </a:ln>
          </p:spPr>
        </p:sp>
        <p:sp>
          <p:nvSpPr>
            <p:cNvPr id="146530" name="直接连接符 286818"/>
            <p:cNvSpPr/>
            <p:nvPr/>
          </p:nvSpPr>
          <p:spPr>
            <a:xfrm>
              <a:off x="2408" y="2832"/>
              <a:ext cx="560" cy="0"/>
            </a:xfrm>
            <a:prstGeom prst="line">
              <a:avLst/>
            </a:prstGeom>
            <a:ln w="25400" cap="flat" cmpd="sng">
              <a:solidFill>
                <a:schemeClr val="tx1"/>
              </a:solidFill>
              <a:prstDash val="solid"/>
              <a:round/>
              <a:headEnd type="none" w="med" len="med"/>
              <a:tailEnd type="none" w="med" len="med"/>
            </a:ln>
          </p:spPr>
        </p:sp>
        <p:sp>
          <p:nvSpPr>
            <p:cNvPr id="146531" name="直接连接符 286819"/>
            <p:cNvSpPr/>
            <p:nvPr/>
          </p:nvSpPr>
          <p:spPr>
            <a:xfrm>
              <a:off x="2400" y="2840"/>
              <a:ext cx="0" cy="176"/>
            </a:xfrm>
            <a:prstGeom prst="line">
              <a:avLst/>
            </a:prstGeom>
            <a:ln w="25400" cap="flat" cmpd="sng">
              <a:solidFill>
                <a:schemeClr val="tx1"/>
              </a:solidFill>
              <a:prstDash val="solid"/>
              <a:round/>
              <a:headEnd type="none" w="med" len="med"/>
              <a:tailEnd type="none" w="med" len="med"/>
            </a:ln>
          </p:spPr>
        </p:sp>
        <p:sp>
          <p:nvSpPr>
            <p:cNvPr id="146532" name="直接连接符 286820"/>
            <p:cNvSpPr/>
            <p:nvPr/>
          </p:nvSpPr>
          <p:spPr>
            <a:xfrm>
              <a:off x="2976" y="2840"/>
              <a:ext cx="0" cy="176"/>
            </a:xfrm>
            <a:prstGeom prst="line">
              <a:avLst/>
            </a:prstGeom>
            <a:ln w="25400" cap="flat" cmpd="sng">
              <a:solidFill>
                <a:schemeClr val="tx1"/>
              </a:solidFill>
              <a:prstDash val="solid"/>
              <a:round/>
              <a:headEnd type="none" w="med" len="med"/>
              <a:tailEnd type="none" w="med" len="med"/>
            </a:ln>
          </p:spPr>
        </p:sp>
        <p:sp>
          <p:nvSpPr>
            <p:cNvPr id="146533" name="任意多边形 286821"/>
            <p:cNvSpPr/>
            <p:nvPr/>
          </p:nvSpPr>
          <p:spPr>
            <a:xfrm>
              <a:off x="2688" y="3024"/>
              <a:ext cx="280" cy="232"/>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34" name="任意多边形 286822"/>
            <p:cNvSpPr/>
            <p:nvPr/>
          </p:nvSpPr>
          <p:spPr>
            <a:xfrm>
              <a:off x="2409" y="3024"/>
              <a:ext cx="280" cy="232"/>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35" name="直接连接符 286823"/>
            <p:cNvSpPr/>
            <p:nvPr/>
          </p:nvSpPr>
          <p:spPr>
            <a:xfrm flipV="1">
              <a:off x="2688" y="3256"/>
              <a:ext cx="0" cy="112"/>
            </a:xfrm>
            <a:prstGeom prst="line">
              <a:avLst/>
            </a:prstGeom>
            <a:ln w="25400" cap="flat" cmpd="sng">
              <a:solidFill>
                <a:schemeClr val="tx1"/>
              </a:solidFill>
              <a:prstDash val="solid"/>
              <a:round/>
              <a:headEnd type="none" w="med" len="med"/>
              <a:tailEnd type="none" w="med" len="med"/>
            </a:ln>
          </p:spPr>
        </p:sp>
        <p:sp>
          <p:nvSpPr>
            <p:cNvPr id="146536" name="椭圆 286824"/>
            <p:cNvSpPr/>
            <p:nvPr/>
          </p:nvSpPr>
          <p:spPr>
            <a:xfrm>
              <a:off x="3080"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37" name="直接连接符 286825"/>
            <p:cNvSpPr/>
            <p:nvPr/>
          </p:nvSpPr>
          <p:spPr>
            <a:xfrm flipV="1">
              <a:off x="3120" y="2392"/>
              <a:ext cx="0" cy="352"/>
            </a:xfrm>
            <a:prstGeom prst="line">
              <a:avLst/>
            </a:prstGeom>
            <a:ln w="25400" cap="flat" cmpd="sng">
              <a:solidFill>
                <a:schemeClr val="tx1"/>
              </a:solidFill>
              <a:prstDash val="solid"/>
              <a:round/>
              <a:headEnd type="none" w="med" len="med"/>
              <a:tailEnd type="none" w="med" len="med"/>
            </a:ln>
          </p:spPr>
        </p:sp>
        <p:sp>
          <p:nvSpPr>
            <p:cNvPr id="146538" name="椭圆 286826"/>
            <p:cNvSpPr/>
            <p:nvPr/>
          </p:nvSpPr>
          <p:spPr>
            <a:xfrm>
              <a:off x="3176"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39" name="直接连接符 286827"/>
            <p:cNvSpPr/>
            <p:nvPr/>
          </p:nvSpPr>
          <p:spPr>
            <a:xfrm flipV="1">
              <a:off x="3216" y="2440"/>
              <a:ext cx="0" cy="304"/>
            </a:xfrm>
            <a:prstGeom prst="line">
              <a:avLst/>
            </a:prstGeom>
            <a:ln w="25400" cap="flat" cmpd="sng">
              <a:solidFill>
                <a:schemeClr val="tx1"/>
              </a:solidFill>
              <a:prstDash val="solid"/>
              <a:round/>
              <a:headEnd type="none" w="med" len="med"/>
              <a:tailEnd type="none" w="med" len="med"/>
            </a:ln>
          </p:spPr>
        </p:sp>
        <p:sp>
          <p:nvSpPr>
            <p:cNvPr id="146540" name="椭圆 286828"/>
            <p:cNvSpPr/>
            <p:nvPr/>
          </p:nvSpPr>
          <p:spPr>
            <a:xfrm>
              <a:off x="3272"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41" name="直接连接符 286829"/>
            <p:cNvSpPr/>
            <p:nvPr/>
          </p:nvSpPr>
          <p:spPr>
            <a:xfrm flipV="1">
              <a:off x="3312" y="2488"/>
              <a:ext cx="0" cy="256"/>
            </a:xfrm>
            <a:prstGeom prst="line">
              <a:avLst/>
            </a:prstGeom>
            <a:ln w="25400" cap="flat" cmpd="sng">
              <a:solidFill>
                <a:schemeClr val="tx1"/>
              </a:solidFill>
              <a:prstDash val="solid"/>
              <a:round/>
              <a:headEnd type="none" w="med" len="med"/>
              <a:tailEnd type="none" w="med" len="med"/>
            </a:ln>
          </p:spPr>
        </p:sp>
        <p:sp>
          <p:nvSpPr>
            <p:cNvPr id="146542" name="直接连接符 286830"/>
            <p:cNvSpPr/>
            <p:nvPr/>
          </p:nvSpPr>
          <p:spPr>
            <a:xfrm flipV="1">
              <a:off x="3408" y="2536"/>
              <a:ext cx="0" cy="304"/>
            </a:xfrm>
            <a:prstGeom prst="line">
              <a:avLst/>
            </a:prstGeom>
            <a:ln w="25400" cap="flat" cmpd="sng">
              <a:solidFill>
                <a:schemeClr val="tx1"/>
              </a:solidFill>
              <a:prstDash val="solid"/>
              <a:round/>
              <a:headEnd type="none" w="med" len="med"/>
              <a:tailEnd type="none" w="med" len="med"/>
            </a:ln>
          </p:spPr>
        </p:sp>
        <p:sp>
          <p:nvSpPr>
            <p:cNvPr id="146543" name="椭圆 286831"/>
            <p:cNvSpPr/>
            <p:nvPr/>
          </p:nvSpPr>
          <p:spPr>
            <a:xfrm>
              <a:off x="3464"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44" name="直接连接符 286832"/>
            <p:cNvSpPr/>
            <p:nvPr/>
          </p:nvSpPr>
          <p:spPr>
            <a:xfrm flipV="1">
              <a:off x="3504" y="2584"/>
              <a:ext cx="0" cy="160"/>
            </a:xfrm>
            <a:prstGeom prst="line">
              <a:avLst/>
            </a:prstGeom>
            <a:ln w="25400" cap="flat" cmpd="sng">
              <a:solidFill>
                <a:schemeClr val="tx1"/>
              </a:solidFill>
              <a:prstDash val="solid"/>
              <a:round/>
              <a:headEnd type="none" w="med" len="med"/>
              <a:tailEnd type="none" w="med" len="med"/>
            </a:ln>
          </p:spPr>
        </p:sp>
        <p:sp>
          <p:nvSpPr>
            <p:cNvPr id="146545" name="椭圆 286833"/>
            <p:cNvSpPr/>
            <p:nvPr/>
          </p:nvSpPr>
          <p:spPr>
            <a:xfrm>
              <a:off x="3560"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46" name="直接连接符 286834"/>
            <p:cNvSpPr/>
            <p:nvPr/>
          </p:nvSpPr>
          <p:spPr>
            <a:xfrm flipV="1">
              <a:off x="3600" y="2632"/>
              <a:ext cx="0" cy="112"/>
            </a:xfrm>
            <a:prstGeom prst="line">
              <a:avLst/>
            </a:prstGeom>
            <a:ln w="25400" cap="flat" cmpd="sng">
              <a:solidFill>
                <a:schemeClr val="tx1"/>
              </a:solidFill>
              <a:prstDash val="solid"/>
              <a:round/>
              <a:headEnd type="none" w="med" len="med"/>
              <a:tailEnd type="none" w="med" len="med"/>
            </a:ln>
          </p:spPr>
        </p:sp>
        <p:sp>
          <p:nvSpPr>
            <p:cNvPr id="146547" name="直接连接符 286835"/>
            <p:cNvSpPr/>
            <p:nvPr/>
          </p:nvSpPr>
          <p:spPr>
            <a:xfrm>
              <a:off x="3080" y="2832"/>
              <a:ext cx="560" cy="0"/>
            </a:xfrm>
            <a:prstGeom prst="line">
              <a:avLst/>
            </a:prstGeom>
            <a:ln w="25400" cap="flat" cmpd="sng">
              <a:solidFill>
                <a:schemeClr val="tx1"/>
              </a:solidFill>
              <a:prstDash val="solid"/>
              <a:round/>
              <a:headEnd type="none" w="med" len="med"/>
              <a:tailEnd type="none" w="med" len="med"/>
            </a:ln>
          </p:spPr>
        </p:sp>
        <p:sp>
          <p:nvSpPr>
            <p:cNvPr id="146548" name="直接连接符 286836"/>
            <p:cNvSpPr/>
            <p:nvPr/>
          </p:nvSpPr>
          <p:spPr>
            <a:xfrm>
              <a:off x="3072" y="2840"/>
              <a:ext cx="0" cy="176"/>
            </a:xfrm>
            <a:prstGeom prst="line">
              <a:avLst/>
            </a:prstGeom>
            <a:ln w="25400" cap="flat" cmpd="sng">
              <a:solidFill>
                <a:schemeClr val="tx1"/>
              </a:solidFill>
              <a:prstDash val="solid"/>
              <a:round/>
              <a:headEnd type="none" w="med" len="med"/>
              <a:tailEnd type="none" w="med" len="med"/>
            </a:ln>
          </p:spPr>
        </p:sp>
        <p:sp>
          <p:nvSpPr>
            <p:cNvPr id="146549" name="直接连接符 286837"/>
            <p:cNvSpPr/>
            <p:nvPr/>
          </p:nvSpPr>
          <p:spPr>
            <a:xfrm>
              <a:off x="3648" y="2840"/>
              <a:ext cx="0" cy="176"/>
            </a:xfrm>
            <a:prstGeom prst="line">
              <a:avLst/>
            </a:prstGeom>
            <a:ln w="25400" cap="flat" cmpd="sng">
              <a:solidFill>
                <a:schemeClr val="tx1"/>
              </a:solidFill>
              <a:prstDash val="solid"/>
              <a:round/>
              <a:headEnd type="none" w="med" len="med"/>
              <a:tailEnd type="none" w="med" len="med"/>
            </a:ln>
          </p:spPr>
        </p:sp>
        <p:sp>
          <p:nvSpPr>
            <p:cNvPr id="146550" name="任意多边形 286838"/>
            <p:cNvSpPr/>
            <p:nvPr/>
          </p:nvSpPr>
          <p:spPr>
            <a:xfrm>
              <a:off x="3360" y="3024"/>
              <a:ext cx="280" cy="232"/>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51" name="任意多边形 286839"/>
            <p:cNvSpPr/>
            <p:nvPr/>
          </p:nvSpPr>
          <p:spPr>
            <a:xfrm>
              <a:off x="3081" y="3024"/>
              <a:ext cx="280" cy="232"/>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52" name="直接连接符 286840"/>
            <p:cNvSpPr/>
            <p:nvPr/>
          </p:nvSpPr>
          <p:spPr>
            <a:xfrm flipV="1">
              <a:off x="3360" y="3256"/>
              <a:ext cx="0" cy="112"/>
            </a:xfrm>
            <a:prstGeom prst="line">
              <a:avLst/>
            </a:prstGeom>
            <a:ln w="25400" cap="flat" cmpd="sng">
              <a:solidFill>
                <a:schemeClr val="tx1"/>
              </a:solidFill>
              <a:prstDash val="solid"/>
              <a:round/>
              <a:headEnd type="none" w="med" len="med"/>
              <a:tailEnd type="none" w="med" len="med"/>
            </a:ln>
          </p:spPr>
        </p:sp>
        <p:sp>
          <p:nvSpPr>
            <p:cNvPr id="146553" name="椭圆 286841"/>
            <p:cNvSpPr/>
            <p:nvPr/>
          </p:nvSpPr>
          <p:spPr>
            <a:xfrm>
              <a:off x="3752"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54" name="直接连接符 286842"/>
            <p:cNvSpPr/>
            <p:nvPr/>
          </p:nvSpPr>
          <p:spPr>
            <a:xfrm flipV="1">
              <a:off x="3792" y="2392"/>
              <a:ext cx="0" cy="352"/>
            </a:xfrm>
            <a:prstGeom prst="line">
              <a:avLst/>
            </a:prstGeom>
            <a:ln w="25400" cap="flat" cmpd="sng">
              <a:solidFill>
                <a:schemeClr val="tx1"/>
              </a:solidFill>
              <a:prstDash val="solid"/>
              <a:round/>
              <a:headEnd type="none" w="med" len="med"/>
              <a:tailEnd type="none" w="med" len="med"/>
            </a:ln>
          </p:spPr>
        </p:sp>
        <p:sp>
          <p:nvSpPr>
            <p:cNvPr id="146555" name="椭圆 286843"/>
            <p:cNvSpPr/>
            <p:nvPr/>
          </p:nvSpPr>
          <p:spPr>
            <a:xfrm>
              <a:off x="3848"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56" name="直接连接符 286844"/>
            <p:cNvSpPr/>
            <p:nvPr/>
          </p:nvSpPr>
          <p:spPr>
            <a:xfrm flipV="1">
              <a:off x="3888" y="2440"/>
              <a:ext cx="0" cy="304"/>
            </a:xfrm>
            <a:prstGeom prst="line">
              <a:avLst/>
            </a:prstGeom>
            <a:ln w="25400" cap="flat" cmpd="sng">
              <a:solidFill>
                <a:schemeClr val="tx1"/>
              </a:solidFill>
              <a:prstDash val="solid"/>
              <a:round/>
              <a:headEnd type="none" w="med" len="med"/>
              <a:tailEnd type="none" w="med" len="med"/>
            </a:ln>
          </p:spPr>
        </p:sp>
        <p:sp>
          <p:nvSpPr>
            <p:cNvPr id="146557" name="椭圆 286845"/>
            <p:cNvSpPr/>
            <p:nvPr/>
          </p:nvSpPr>
          <p:spPr>
            <a:xfrm>
              <a:off x="3944"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58" name="直接连接符 286846"/>
            <p:cNvSpPr/>
            <p:nvPr/>
          </p:nvSpPr>
          <p:spPr>
            <a:xfrm flipV="1">
              <a:off x="3984" y="2488"/>
              <a:ext cx="0" cy="256"/>
            </a:xfrm>
            <a:prstGeom prst="line">
              <a:avLst/>
            </a:prstGeom>
            <a:ln w="25400" cap="flat" cmpd="sng">
              <a:solidFill>
                <a:schemeClr val="tx1"/>
              </a:solidFill>
              <a:prstDash val="solid"/>
              <a:round/>
              <a:headEnd type="none" w="med" len="med"/>
              <a:tailEnd type="none" w="med" len="med"/>
            </a:ln>
          </p:spPr>
        </p:sp>
        <p:sp>
          <p:nvSpPr>
            <p:cNvPr id="146559" name="椭圆 286847"/>
            <p:cNvSpPr/>
            <p:nvPr/>
          </p:nvSpPr>
          <p:spPr>
            <a:xfrm>
              <a:off x="4040"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60" name="直接连接符 286848"/>
            <p:cNvSpPr/>
            <p:nvPr/>
          </p:nvSpPr>
          <p:spPr>
            <a:xfrm flipV="1">
              <a:off x="4080" y="2536"/>
              <a:ext cx="0" cy="208"/>
            </a:xfrm>
            <a:prstGeom prst="line">
              <a:avLst/>
            </a:prstGeom>
            <a:ln w="25400" cap="flat" cmpd="sng">
              <a:solidFill>
                <a:schemeClr val="tx1"/>
              </a:solidFill>
              <a:prstDash val="solid"/>
              <a:round/>
              <a:headEnd type="none" w="med" len="med"/>
              <a:tailEnd type="none" w="med" len="med"/>
            </a:ln>
          </p:spPr>
        </p:sp>
        <p:sp>
          <p:nvSpPr>
            <p:cNvPr id="146561" name="直接连接符 286849"/>
            <p:cNvSpPr/>
            <p:nvPr/>
          </p:nvSpPr>
          <p:spPr>
            <a:xfrm flipV="1">
              <a:off x="4176" y="2584"/>
              <a:ext cx="0" cy="256"/>
            </a:xfrm>
            <a:prstGeom prst="line">
              <a:avLst/>
            </a:prstGeom>
            <a:ln w="25400" cap="flat" cmpd="sng">
              <a:solidFill>
                <a:schemeClr val="tx1"/>
              </a:solidFill>
              <a:prstDash val="solid"/>
              <a:round/>
              <a:headEnd type="none" w="med" len="med"/>
              <a:tailEnd type="none" w="med" len="med"/>
            </a:ln>
          </p:spPr>
        </p:sp>
        <p:sp>
          <p:nvSpPr>
            <p:cNvPr id="146562" name="椭圆 286850"/>
            <p:cNvSpPr/>
            <p:nvPr/>
          </p:nvSpPr>
          <p:spPr>
            <a:xfrm>
              <a:off x="4232" y="2744"/>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563" name="直接连接符 286851"/>
            <p:cNvSpPr/>
            <p:nvPr/>
          </p:nvSpPr>
          <p:spPr>
            <a:xfrm flipV="1">
              <a:off x="4272" y="2632"/>
              <a:ext cx="0" cy="112"/>
            </a:xfrm>
            <a:prstGeom prst="line">
              <a:avLst/>
            </a:prstGeom>
            <a:ln w="25400" cap="flat" cmpd="sng">
              <a:solidFill>
                <a:schemeClr val="tx1"/>
              </a:solidFill>
              <a:prstDash val="solid"/>
              <a:round/>
              <a:headEnd type="none" w="med" len="med"/>
              <a:tailEnd type="none" w="med" len="med"/>
            </a:ln>
          </p:spPr>
        </p:sp>
        <p:sp>
          <p:nvSpPr>
            <p:cNvPr id="146564" name="直接连接符 286852"/>
            <p:cNvSpPr/>
            <p:nvPr/>
          </p:nvSpPr>
          <p:spPr>
            <a:xfrm>
              <a:off x="3752" y="2832"/>
              <a:ext cx="560" cy="0"/>
            </a:xfrm>
            <a:prstGeom prst="line">
              <a:avLst/>
            </a:prstGeom>
            <a:ln w="25400" cap="flat" cmpd="sng">
              <a:solidFill>
                <a:schemeClr val="tx1"/>
              </a:solidFill>
              <a:prstDash val="solid"/>
              <a:round/>
              <a:headEnd type="none" w="med" len="med"/>
              <a:tailEnd type="none" w="med" len="med"/>
            </a:ln>
          </p:spPr>
        </p:sp>
        <p:sp>
          <p:nvSpPr>
            <p:cNvPr id="146565" name="直接连接符 286853"/>
            <p:cNvSpPr/>
            <p:nvPr/>
          </p:nvSpPr>
          <p:spPr>
            <a:xfrm>
              <a:off x="3744" y="2840"/>
              <a:ext cx="0" cy="176"/>
            </a:xfrm>
            <a:prstGeom prst="line">
              <a:avLst/>
            </a:prstGeom>
            <a:ln w="25400" cap="flat" cmpd="sng">
              <a:solidFill>
                <a:schemeClr val="tx1"/>
              </a:solidFill>
              <a:prstDash val="solid"/>
              <a:round/>
              <a:headEnd type="none" w="med" len="med"/>
              <a:tailEnd type="none" w="med" len="med"/>
            </a:ln>
          </p:spPr>
        </p:sp>
        <p:sp>
          <p:nvSpPr>
            <p:cNvPr id="146566" name="直接连接符 286854"/>
            <p:cNvSpPr/>
            <p:nvPr/>
          </p:nvSpPr>
          <p:spPr>
            <a:xfrm>
              <a:off x="4320" y="2840"/>
              <a:ext cx="0" cy="176"/>
            </a:xfrm>
            <a:prstGeom prst="line">
              <a:avLst/>
            </a:prstGeom>
            <a:ln w="25400" cap="flat" cmpd="sng">
              <a:solidFill>
                <a:schemeClr val="tx1"/>
              </a:solidFill>
              <a:prstDash val="solid"/>
              <a:round/>
              <a:headEnd type="none" w="med" len="med"/>
              <a:tailEnd type="none" w="med" len="med"/>
            </a:ln>
          </p:spPr>
        </p:sp>
        <p:sp>
          <p:nvSpPr>
            <p:cNvPr id="146567" name="任意多边形 286855"/>
            <p:cNvSpPr/>
            <p:nvPr/>
          </p:nvSpPr>
          <p:spPr>
            <a:xfrm>
              <a:off x="4032" y="3024"/>
              <a:ext cx="280" cy="232"/>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68" name="任意多边形 286856"/>
            <p:cNvSpPr/>
            <p:nvPr/>
          </p:nvSpPr>
          <p:spPr>
            <a:xfrm>
              <a:off x="3753" y="3024"/>
              <a:ext cx="280" cy="232"/>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569" name="直接连接符 286857"/>
            <p:cNvSpPr/>
            <p:nvPr/>
          </p:nvSpPr>
          <p:spPr>
            <a:xfrm flipV="1">
              <a:off x="4032" y="3256"/>
              <a:ext cx="0" cy="112"/>
            </a:xfrm>
            <a:prstGeom prst="line">
              <a:avLst/>
            </a:prstGeom>
            <a:ln w="25400" cap="flat" cmpd="sng">
              <a:solidFill>
                <a:schemeClr val="tx1"/>
              </a:solidFill>
              <a:prstDash val="solid"/>
              <a:round/>
              <a:headEnd type="none" w="med" len="med"/>
              <a:tailEnd type="none" w="med" len="med"/>
            </a:ln>
          </p:spPr>
        </p:sp>
        <p:sp>
          <p:nvSpPr>
            <p:cNvPr id="146570" name="直接连接符 286858"/>
            <p:cNvSpPr/>
            <p:nvPr/>
          </p:nvSpPr>
          <p:spPr>
            <a:xfrm flipV="1">
              <a:off x="1296" y="2488"/>
              <a:ext cx="0" cy="352"/>
            </a:xfrm>
            <a:prstGeom prst="line">
              <a:avLst/>
            </a:prstGeom>
            <a:ln w="25400" cap="flat" cmpd="sng">
              <a:solidFill>
                <a:schemeClr val="tx1"/>
              </a:solidFill>
              <a:prstDash val="solid"/>
              <a:round/>
              <a:headEnd type="none" w="med" len="med"/>
              <a:tailEnd type="none" w="med" len="med"/>
            </a:ln>
          </p:spPr>
        </p:sp>
        <p:sp>
          <p:nvSpPr>
            <p:cNvPr id="146571" name="矩形 286859"/>
            <p:cNvSpPr/>
            <p:nvPr/>
          </p:nvSpPr>
          <p:spPr>
            <a:xfrm>
              <a:off x="4167" y="2448"/>
              <a:ext cx="5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6572" name="矩形 286860"/>
            <p:cNvSpPr/>
            <p:nvPr/>
          </p:nvSpPr>
          <p:spPr>
            <a:xfrm>
              <a:off x="3687" y="2208"/>
              <a:ext cx="5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6573" name="矩形 286861"/>
            <p:cNvSpPr/>
            <p:nvPr/>
          </p:nvSpPr>
          <p:spPr>
            <a:xfrm>
              <a:off x="4023" y="2170"/>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74" name="矩形 286862"/>
            <p:cNvSpPr/>
            <p:nvPr/>
          </p:nvSpPr>
          <p:spPr>
            <a:xfrm>
              <a:off x="4119" y="2218"/>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75" name="矩形 286863"/>
            <p:cNvSpPr/>
            <p:nvPr/>
          </p:nvSpPr>
          <p:spPr>
            <a:xfrm>
              <a:off x="279" y="2208"/>
              <a:ext cx="5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6576" name="矩形 286864"/>
            <p:cNvSpPr/>
            <p:nvPr/>
          </p:nvSpPr>
          <p:spPr>
            <a:xfrm>
              <a:off x="615" y="2170"/>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77" name="矩形 286865"/>
            <p:cNvSpPr/>
            <p:nvPr/>
          </p:nvSpPr>
          <p:spPr>
            <a:xfrm>
              <a:off x="711" y="2218"/>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78" name="矩形 286866"/>
            <p:cNvSpPr/>
            <p:nvPr/>
          </p:nvSpPr>
          <p:spPr>
            <a:xfrm>
              <a:off x="759" y="2448"/>
              <a:ext cx="362"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6579" name="矩形 286867"/>
            <p:cNvSpPr/>
            <p:nvPr/>
          </p:nvSpPr>
          <p:spPr>
            <a:xfrm>
              <a:off x="951" y="2208"/>
              <a:ext cx="5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6580" name="矩形 286868"/>
            <p:cNvSpPr/>
            <p:nvPr/>
          </p:nvSpPr>
          <p:spPr>
            <a:xfrm>
              <a:off x="1287" y="2170"/>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81" name="矩形 286869"/>
            <p:cNvSpPr/>
            <p:nvPr/>
          </p:nvSpPr>
          <p:spPr>
            <a:xfrm>
              <a:off x="1383" y="2218"/>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82" name="矩形 286870"/>
            <p:cNvSpPr/>
            <p:nvPr/>
          </p:nvSpPr>
          <p:spPr>
            <a:xfrm>
              <a:off x="1431" y="2448"/>
              <a:ext cx="362"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6583" name="矩形 286871"/>
            <p:cNvSpPr/>
            <p:nvPr/>
          </p:nvSpPr>
          <p:spPr>
            <a:xfrm>
              <a:off x="1623" y="2208"/>
              <a:ext cx="5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6584" name="矩形 286872"/>
            <p:cNvSpPr/>
            <p:nvPr/>
          </p:nvSpPr>
          <p:spPr>
            <a:xfrm>
              <a:off x="1959" y="2170"/>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85" name="矩形 286873"/>
            <p:cNvSpPr/>
            <p:nvPr/>
          </p:nvSpPr>
          <p:spPr>
            <a:xfrm>
              <a:off x="2055" y="2218"/>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86" name="矩形 286874"/>
            <p:cNvSpPr/>
            <p:nvPr/>
          </p:nvSpPr>
          <p:spPr>
            <a:xfrm>
              <a:off x="2103" y="2448"/>
              <a:ext cx="362"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6587" name="矩形 286875"/>
            <p:cNvSpPr/>
            <p:nvPr/>
          </p:nvSpPr>
          <p:spPr>
            <a:xfrm>
              <a:off x="2295" y="2208"/>
              <a:ext cx="5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6588" name="矩形 286876"/>
            <p:cNvSpPr/>
            <p:nvPr/>
          </p:nvSpPr>
          <p:spPr>
            <a:xfrm>
              <a:off x="2631" y="2170"/>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89" name="矩形 286877"/>
            <p:cNvSpPr/>
            <p:nvPr/>
          </p:nvSpPr>
          <p:spPr>
            <a:xfrm>
              <a:off x="2727" y="2218"/>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90" name="矩形 286878"/>
            <p:cNvSpPr/>
            <p:nvPr/>
          </p:nvSpPr>
          <p:spPr>
            <a:xfrm>
              <a:off x="2775" y="2448"/>
              <a:ext cx="362"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6591" name="矩形 286879"/>
            <p:cNvSpPr/>
            <p:nvPr/>
          </p:nvSpPr>
          <p:spPr>
            <a:xfrm>
              <a:off x="2967" y="2208"/>
              <a:ext cx="52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6592" name="矩形 286880"/>
            <p:cNvSpPr/>
            <p:nvPr/>
          </p:nvSpPr>
          <p:spPr>
            <a:xfrm>
              <a:off x="3303" y="2170"/>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93" name="矩形 286881"/>
            <p:cNvSpPr/>
            <p:nvPr/>
          </p:nvSpPr>
          <p:spPr>
            <a:xfrm>
              <a:off x="3399" y="2218"/>
              <a:ext cx="170" cy="325"/>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6594" name="矩形 286882"/>
            <p:cNvSpPr/>
            <p:nvPr/>
          </p:nvSpPr>
          <p:spPr>
            <a:xfrm>
              <a:off x="3447" y="2448"/>
              <a:ext cx="362"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6595" name="矩形 286883"/>
            <p:cNvSpPr/>
            <p:nvPr/>
          </p:nvSpPr>
          <p:spPr>
            <a:xfrm>
              <a:off x="183" y="3264"/>
              <a:ext cx="562"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R-type</a:t>
              </a:r>
              <a:endParaRPr lang="en-US" altLang="zh-CN" sz="1800">
                <a:latin typeface="Arial" panose="020B0604020202020204" pitchFamily="34" charset="0"/>
                <a:ea typeface="宋体" panose="02010600030101010101" pitchFamily="2" charset="-122"/>
              </a:endParaRPr>
            </a:p>
          </p:txBody>
        </p:sp>
        <p:sp>
          <p:nvSpPr>
            <p:cNvPr id="146596" name="矩形 286884"/>
            <p:cNvSpPr/>
            <p:nvPr/>
          </p:nvSpPr>
          <p:spPr>
            <a:xfrm>
              <a:off x="1095" y="3264"/>
              <a:ext cx="298"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ori</a:t>
              </a:r>
              <a:endParaRPr lang="en-US" altLang="zh-CN" sz="1800">
                <a:latin typeface="Arial" panose="020B0604020202020204" pitchFamily="34" charset="0"/>
                <a:ea typeface="宋体" panose="02010600030101010101" pitchFamily="2" charset="-122"/>
              </a:endParaRPr>
            </a:p>
          </p:txBody>
        </p:sp>
        <p:sp>
          <p:nvSpPr>
            <p:cNvPr id="146597" name="矩形 286885"/>
            <p:cNvSpPr/>
            <p:nvPr/>
          </p:nvSpPr>
          <p:spPr>
            <a:xfrm>
              <a:off x="1815" y="3264"/>
              <a:ext cx="266"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lw</a:t>
              </a:r>
              <a:endParaRPr lang="en-US" altLang="zh-CN" sz="1800">
                <a:latin typeface="Arial" panose="020B0604020202020204" pitchFamily="34" charset="0"/>
                <a:ea typeface="宋体" panose="02010600030101010101" pitchFamily="2" charset="-122"/>
              </a:endParaRPr>
            </a:p>
          </p:txBody>
        </p:sp>
        <p:sp>
          <p:nvSpPr>
            <p:cNvPr id="146598" name="矩形 286886"/>
            <p:cNvSpPr/>
            <p:nvPr/>
          </p:nvSpPr>
          <p:spPr>
            <a:xfrm>
              <a:off x="2439" y="3264"/>
              <a:ext cx="306"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sw</a:t>
              </a:r>
              <a:endParaRPr lang="en-US" altLang="zh-CN" sz="1800">
                <a:latin typeface="Arial" panose="020B0604020202020204" pitchFamily="34" charset="0"/>
                <a:ea typeface="宋体" panose="02010600030101010101" pitchFamily="2" charset="-122"/>
              </a:endParaRPr>
            </a:p>
          </p:txBody>
        </p:sp>
        <p:sp>
          <p:nvSpPr>
            <p:cNvPr id="146599" name="矩形 286887"/>
            <p:cNvSpPr/>
            <p:nvPr/>
          </p:nvSpPr>
          <p:spPr>
            <a:xfrm>
              <a:off x="3063" y="3264"/>
              <a:ext cx="370" cy="229"/>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beq</a:t>
              </a:r>
              <a:endParaRPr lang="en-US" altLang="zh-CN" sz="1800">
                <a:latin typeface="Arial" panose="020B0604020202020204" pitchFamily="34" charset="0"/>
                <a:ea typeface="宋体" panose="02010600030101010101" pitchFamily="2" charset="-122"/>
              </a:endParaRPr>
            </a:p>
          </p:txBody>
        </p:sp>
        <p:sp>
          <p:nvSpPr>
            <p:cNvPr id="146600" name="矩形 286888"/>
            <p:cNvSpPr/>
            <p:nvPr/>
          </p:nvSpPr>
          <p:spPr>
            <a:xfrm>
              <a:off x="3639" y="3264"/>
              <a:ext cx="45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jump</a:t>
              </a:r>
              <a:endParaRPr lang="en-US" altLang="zh-CN" sz="1800">
                <a:latin typeface="Arial" panose="020B0604020202020204" pitchFamily="34" charset="0"/>
                <a:ea typeface="宋体" panose="02010600030101010101" pitchFamily="2" charset="-122"/>
              </a:endParaRPr>
            </a:p>
          </p:txBody>
        </p:sp>
      </p:grpSp>
      <p:sp>
        <p:nvSpPr>
          <p:cNvPr id="146601" name="任意多边形 286889"/>
          <p:cNvSpPr/>
          <p:nvPr/>
        </p:nvSpPr>
        <p:spPr>
          <a:xfrm>
            <a:off x="6781800" y="5500688"/>
            <a:ext cx="749300" cy="292100"/>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602" name="任意多边形 286890"/>
          <p:cNvSpPr/>
          <p:nvPr/>
        </p:nvSpPr>
        <p:spPr>
          <a:xfrm rot="10800000">
            <a:off x="6796088" y="5805488"/>
            <a:ext cx="749300" cy="292100"/>
          </a:xfrm>
          <a:custGeom>
            <a:avLst/>
            <a:gdLst/>
            <a:ahLst/>
            <a:cxnLst>
              <a:cxn ang="90">
                <a:pos x="0" y="21600"/>
              </a:cxn>
              <a:cxn ang="270">
                <a:pos x="21554" y="0"/>
              </a:cxn>
              <a:cxn ang="90">
                <a:pos x="21600" y="21600"/>
              </a:cxn>
            </a:cxnLst>
            <a:pathLst>
              <a:path w="21600" h="21600" fill="none">
                <a:moveTo>
                  <a:pt x="0" y="21600"/>
                </a:moveTo>
                <a:cubicBezTo>
                  <a:pt x="0" y="9686"/>
                  <a:pt x="9646" y="25"/>
                  <a:pt x="21554" y="0"/>
                </a:cubicBezTo>
              </a:path>
              <a:path w="21600" h="21600" stroke="0">
                <a:moveTo>
                  <a:pt x="0" y="21600"/>
                </a:moveTo>
                <a:cubicBezTo>
                  <a:pt x="0" y="9686"/>
                  <a:pt x="9646" y="25"/>
                  <a:pt x="21554" y="0"/>
                </a:cubicBezTo>
                <a:lnTo>
                  <a:pt x="2160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603" name="任意多边形 286891"/>
          <p:cNvSpPr/>
          <p:nvPr/>
        </p:nvSpPr>
        <p:spPr>
          <a:xfrm>
            <a:off x="6781800" y="5500688"/>
            <a:ext cx="215900" cy="292100"/>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604" name="任意多边形 286892"/>
          <p:cNvSpPr/>
          <p:nvPr/>
        </p:nvSpPr>
        <p:spPr>
          <a:xfrm rot="10800000">
            <a:off x="6796088" y="5805488"/>
            <a:ext cx="215900" cy="292100"/>
          </a:xfrm>
          <a:custGeom>
            <a:avLst/>
            <a:gdLst/>
            <a:ahLst/>
            <a:cxnLst>
              <a:cxn ang="180">
                <a:pos x="0" y="21599"/>
              </a:cxn>
              <a:cxn ang="270">
                <a:pos x="21441" y="0"/>
              </a:cxn>
              <a:cxn ang="0">
                <a:pos x="21600" y="21599"/>
              </a:cxn>
            </a:cxnLst>
            <a:pathLst>
              <a:path w="21600" h="21599" fill="none">
                <a:moveTo>
                  <a:pt x="0" y="21599"/>
                </a:moveTo>
                <a:cubicBezTo>
                  <a:pt x="0" y="9723"/>
                  <a:pt x="9585" y="85"/>
                  <a:pt x="21440" y="0"/>
                </a:cubicBezTo>
              </a:path>
              <a:path w="21600" h="21599" stroke="0">
                <a:moveTo>
                  <a:pt x="0" y="21599"/>
                </a:moveTo>
                <a:cubicBezTo>
                  <a:pt x="0" y="9723"/>
                  <a:pt x="9585" y="85"/>
                  <a:pt x="21440" y="0"/>
                </a:cubicBezTo>
                <a:lnTo>
                  <a:pt x="21600"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6605" name="直接连接符 286893"/>
          <p:cNvSpPr/>
          <p:nvPr/>
        </p:nvSpPr>
        <p:spPr>
          <a:xfrm flipH="1">
            <a:off x="6540500" y="5791200"/>
            <a:ext cx="482600" cy="0"/>
          </a:xfrm>
          <a:prstGeom prst="line">
            <a:avLst/>
          </a:prstGeom>
          <a:ln w="25400" cap="flat" cmpd="sng">
            <a:solidFill>
              <a:schemeClr val="tx1"/>
            </a:solidFill>
            <a:prstDash val="solid"/>
            <a:round/>
            <a:headEnd type="none" w="med" len="med"/>
            <a:tailEnd type="none" w="med" len="med"/>
          </a:ln>
        </p:spPr>
      </p:sp>
      <p:sp>
        <p:nvSpPr>
          <p:cNvPr id="146606" name="直接连接符 286894"/>
          <p:cNvSpPr/>
          <p:nvPr/>
        </p:nvSpPr>
        <p:spPr>
          <a:xfrm flipH="1">
            <a:off x="6540500" y="6019800"/>
            <a:ext cx="406400" cy="0"/>
          </a:xfrm>
          <a:prstGeom prst="line">
            <a:avLst/>
          </a:prstGeom>
          <a:ln w="25400" cap="flat" cmpd="sng">
            <a:solidFill>
              <a:schemeClr val="tx1"/>
            </a:solidFill>
            <a:prstDash val="solid"/>
            <a:round/>
            <a:headEnd type="none" w="med" len="med"/>
            <a:tailEnd type="none" w="med" len="med"/>
          </a:ln>
        </p:spPr>
      </p:sp>
      <p:sp>
        <p:nvSpPr>
          <p:cNvPr id="146607" name="直接连接符 286895"/>
          <p:cNvSpPr/>
          <p:nvPr/>
        </p:nvSpPr>
        <p:spPr>
          <a:xfrm>
            <a:off x="7556500" y="5791200"/>
            <a:ext cx="203200" cy="0"/>
          </a:xfrm>
          <a:prstGeom prst="line">
            <a:avLst/>
          </a:prstGeom>
          <a:ln w="25400" cap="flat" cmpd="sng">
            <a:solidFill>
              <a:schemeClr val="tx1"/>
            </a:solidFill>
            <a:prstDash val="solid"/>
            <a:round/>
            <a:headEnd type="none" w="med" len="med"/>
            <a:tailEnd type="none" w="med" len="med"/>
          </a:ln>
        </p:spPr>
      </p:sp>
      <p:sp>
        <p:nvSpPr>
          <p:cNvPr id="146608" name="直接连接符 286896"/>
          <p:cNvSpPr/>
          <p:nvPr/>
        </p:nvSpPr>
        <p:spPr>
          <a:xfrm>
            <a:off x="6400800" y="5346700"/>
            <a:ext cx="0" cy="812800"/>
          </a:xfrm>
          <a:prstGeom prst="line">
            <a:avLst/>
          </a:prstGeom>
          <a:ln w="25400" cap="flat" cmpd="sng">
            <a:solidFill>
              <a:schemeClr val="tx1"/>
            </a:solidFill>
            <a:prstDash val="solid"/>
            <a:round/>
            <a:headEnd type="none" w="med" len="med"/>
            <a:tailEnd type="none" w="med" len="med"/>
          </a:ln>
        </p:spPr>
      </p:sp>
      <p:sp>
        <p:nvSpPr>
          <p:cNvPr id="146609" name="直接连接符 286897"/>
          <p:cNvSpPr/>
          <p:nvPr/>
        </p:nvSpPr>
        <p:spPr>
          <a:xfrm>
            <a:off x="5334000" y="5346700"/>
            <a:ext cx="0" cy="812800"/>
          </a:xfrm>
          <a:prstGeom prst="line">
            <a:avLst/>
          </a:prstGeom>
          <a:ln w="25400" cap="flat" cmpd="sng">
            <a:solidFill>
              <a:schemeClr val="tx1"/>
            </a:solidFill>
            <a:prstDash val="solid"/>
            <a:round/>
            <a:headEnd type="none" w="med" len="med"/>
            <a:tailEnd type="none" w="med" len="med"/>
          </a:ln>
        </p:spPr>
      </p:sp>
      <p:sp>
        <p:nvSpPr>
          <p:cNvPr id="146610" name="直接连接符 286898"/>
          <p:cNvSpPr/>
          <p:nvPr/>
        </p:nvSpPr>
        <p:spPr>
          <a:xfrm>
            <a:off x="4267200" y="5346700"/>
            <a:ext cx="0" cy="812800"/>
          </a:xfrm>
          <a:prstGeom prst="line">
            <a:avLst/>
          </a:prstGeom>
          <a:ln w="25400" cap="flat" cmpd="sng">
            <a:solidFill>
              <a:schemeClr val="tx1"/>
            </a:solidFill>
            <a:prstDash val="solid"/>
            <a:round/>
            <a:headEnd type="none" w="med" len="med"/>
            <a:tailEnd type="none" w="med" len="med"/>
          </a:ln>
        </p:spPr>
      </p:sp>
      <p:sp>
        <p:nvSpPr>
          <p:cNvPr id="146611" name="直接连接符 286899"/>
          <p:cNvSpPr/>
          <p:nvPr/>
        </p:nvSpPr>
        <p:spPr>
          <a:xfrm>
            <a:off x="3200400" y="5346700"/>
            <a:ext cx="0" cy="812800"/>
          </a:xfrm>
          <a:prstGeom prst="line">
            <a:avLst/>
          </a:prstGeom>
          <a:ln w="25400" cap="flat" cmpd="sng">
            <a:solidFill>
              <a:schemeClr val="tx1"/>
            </a:solidFill>
            <a:prstDash val="solid"/>
            <a:round/>
            <a:headEnd type="none" w="med" len="med"/>
            <a:tailEnd type="none" w="med" len="med"/>
          </a:ln>
        </p:spPr>
      </p:sp>
      <p:sp>
        <p:nvSpPr>
          <p:cNvPr id="146612" name="直接连接符 286900"/>
          <p:cNvSpPr/>
          <p:nvPr/>
        </p:nvSpPr>
        <p:spPr>
          <a:xfrm>
            <a:off x="2133600" y="5346700"/>
            <a:ext cx="0" cy="812800"/>
          </a:xfrm>
          <a:prstGeom prst="line">
            <a:avLst/>
          </a:prstGeom>
          <a:ln w="25400" cap="flat" cmpd="sng">
            <a:solidFill>
              <a:schemeClr val="tx1"/>
            </a:solidFill>
            <a:prstDash val="solid"/>
            <a:round/>
            <a:headEnd type="none" w="med" len="med"/>
            <a:tailEnd type="none" w="med" len="med"/>
          </a:ln>
        </p:spPr>
      </p:sp>
      <p:sp>
        <p:nvSpPr>
          <p:cNvPr id="146613" name="直接连接符 286901"/>
          <p:cNvSpPr/>
          <p:nvPr/>
        </p:nvSpPr>
        <p:spPr>
          <a:xfrm>
            <a:off x="1066800" y="5346700"/>
            <a:ext cx="0" cy="812800"/>
          </a:xfrm>
          <a:prstGeom prst="line">
            <a:avLst/>
          </a:prstGeom>
          <a:ln w="25400" cap="flat" cmpd="sng">
            <a:solidFill>
              <a:schemeClr val="tx1"/>
            </a:solidFill>
            <a:prstDash val="solid"/>
            <a:round/>
            <a:headEnd type="none" w="med" len="med"/>
            <a:tailEnd type="none" w="med" len="med"/>
          </a:ln>
        </p:spPr>
      </p:sp>
      <p:sp>
        <p:nvSpPr>
          <p:cNvPr id="146614" name="直接连接符 286902"/>
          <p:cNvSpPr/>
          <p:nvPr/>
        </p:nvSpPr>
        <p:spPr>
          <a:xfrm flipH="1">
            <a:off x="1054100" y="5562600"/>
            <a:ext cx="5511800" cy="0"/>
          </a:xfrm>
          <a:prstGeom prst="line">
            <a:avLst/>
          </a:prstGeom>
          <a:ln w="25400" cap="flat" cmpd="sng">
            <a:solidFill>
              <a:schemeClr val="tx1"/>
            </a:solidFill>
            <a:prstDash val="solid"/>
            <a:round/>
            <a:headEnd type="none" w="med" len="med"/>
            <a:tailEnd type="none" w="med" len="med"/>
          </a:ln>
        </p:spPr>
      </p:sp>
      <p:sp>
        <p:nvSpPr>
          <p:cNvPr id="146615" name="直接连接符 286903"/>
          <p:cNvSpPr/>
          <p:nvPr/>
        </p:nvSpPr>
        <p:spPr>
          <a:xfrm flipH="1">
            <a:off x="2120900" y="5791200"/>
            <a:ext cx="4445000" cy="0"/>
          </a:xfrm>
          <a:prstGeom prst="line">
            <a:avLst/>
          </a:prstGeom>
          <a:ln w="25400" cap="flat" cmpd="sng">
            <a:solidFill>
              <a:schemeClr val="tx1"/>
            </a:solidFill>
            <a:prstDash val="solid"/>
            <a:round/>
            <a:headEnd type="none" w="med" len="med"/>
            <a:tailEnd type="none" w="med" len="med"/>
          </a:ln>
        </p:spPr>
      </p:sp>
      <p:sp>
        <p:nvSpPr>
          <p:cNvPr id="146616" name="直接连接符 286904"/>
          <p:cNvSpPr/>
          <p:nvPr/>
        </p:nvSpPr>
        <p:spPr>
          <a:xfrm flipH="1">
            <a:off x="3187700" y="6019800"/>
            <a:ext cx="3378200" cy="0"/>
          </a:xfrm>
          <a:prstGeom prst="line">
            <a:avLst/>
          </a:prstGeom>
          <a:ln w="25400" cap="flat" cmpd="sng">
            <a:solidFill>
              <a:schemeClr val="tx1"/>
            </a:solidFill>
            <a:prstDash val="solid"/>
            <a:round/>
            <a:headEnd type="none" w="med" len="med"/>
            <a:tailEnd type="none" w="med" len="med"/>
          </a:ln>
        </p:spPr>
      </p:sp>
      <p:sp>
        <p:nvSpPr>
          <p:cNvPr id="146617" name="直接连接符 286905"/>
          <p:cNvSpPr/>
          <p:nvPr/>
        </p:nvSpPr>
        <p:spPr>
          <a:xfrm flipH="1">
            <a:off x="6540500" y="5562600"/>
            <a:ext cx="406400" cy="0"/>
          </a:xfrm>
          <a:prstGeom prst="line">
            <a:avLst/>
          </a:prstGeom>
          <a:ln w="25400" cap="flat" cmpd="sng">
            <a:solidFill>
              <a:schemeClr val="tx1"/>
            </a:solidFill>
            <a:prstDash val="solid"/>
            <a:round/>
            <a:headEnd type="none" w="med" len="med"/>
            <a:tailEnd type="none" w="med" len="med"/>
          </a:ln>
        </p:spPr>
      </p:sp>
      <p:sp>
        <p:nvSpPr>
          <p:cNvPr id="146618" name="直接连接符 286906"/>
          <p:cNvSpPr/>
          <p:nvPr/>
        </p:nvSpPr>
        <p:spPr>
          <a:xfrm>
            <a:off x="7785100" y="5791200"/>
            <a:ext cx="965200" cy="0"/>
          </a:xfrm>
          <a:prstGeom prst="line">
            <a:avLst/>
          </a:prstGeom>
          <a:ln w="25400" cap="flat" cmpd="sng">
            <a:solidFill>
              <a:schemeClr val="tx1"/>
            </a:solidFill>
            <a:prstDash val="solid"/>
            <a:round/>
            <a:headEnd type="none" w="med" len="med"/>
            <a:tailEnd type="triangle" w="med" len="med"/>
          </a:ln>
        </p:spPr>
      </p:sp>
      <p:sp>
        <p:nvSpPr>
          <p:cNvPr id="146619" name="矩形 286907"/>
          <p:cNvSpPr/>
          <p:nvPr/>
        </p:nvSpPr>
        <p:spPr>
          <a:xfrm>
            <a:off x="7529513" y="5384800"/>
            <a:ext cx="11842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RegWrite</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6620" name="椭圆 286908"/>
          <p:cNvSpPr/>
          <p:nvPr/>
        </p:nvSpPr>
        <p:spPr>
          <a:xfrm>
            <a:off x="996950" y="54927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621" name="椭圆 286909"/>
          <p:cNvSpPr/>
          <p:nvPr/>
        </p:nvSpPr>
        <p:spPr>
          <a:xfrm>
            <a:off x="2063750" y="57213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622" name="椭圆 286910"/>
          <p:cNvSpPr/>
          <p:nvPr/>
        </p:nvSpPr>
        <p:spPr>
          <a:xfrm>
            <a:off x="3130550" y="59499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286915" name="组合 286914"/>
          <p:cNvGrpSpPr/>
          <p:nvPr/>
        </p:nvGrpSpPr>
        <p:grpSpPr>
          <a:xfrm>
            <a:off x="304800" y="4208463"/>
            <a:ext cx="8520113" cy="1025525"/>
            <a:chOff x="192" y="2651"/>
            <a:chExt cx="5367" cy="814"/>
          </a:xfrm>
        </p:grpSpPr>
        <p:sp>
          <p:nvSpPr>
            <p:cNvPr id="146624" name="矩形 286911"/>
            <p:cNvSpPr/>
            <p:nvPr/>
          </p:nvSpPr>
          <p:spPr>
            <a:xfrm>
              <a:off x="192" y="2651"/>
              <a:ext cx="4224" cy="814"/>
            </a:xfrm>
            <a:prstGeom prst="rect">
              <a:avLst/>
            </a:prstGeom>
            <a:noFill/>
            <a:ln w="50800" cap="flat" cmpd="sng">
              <a:solidFill>
                <a:srgbClr val="FE9AAB"/>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6625" name="直接连接符 286912"/>
            <p:cNvSpPr/>
            <p:nvPr/>
          </p:nvSpPr>
          <p:spPr>
            <a:xfrm flipH="1">
              <a:off x="4425" y="3017"/>
              <a:ext cx="229" cy="28"/>
            </a:xfrm>
            <a:prstGeom prst="line">
              <a:avLst/>
            </a:prstGeom>
            <a:ln w="50800" cap="flat" cmpd="sng">
              <a:solidFill>
                <a:srgbClr val="FE9AAB"/>
              </a:solidFill>
              <a:prstDash val="solid"/>
              <a:round/>
              <a:headEnd type="none" w="med" len="med"/>
              <a:tailEnd type="triangle" w="med" len="med"/>
            </a:ln>
          </p:spPr>
        </p:sp>
        <p:sp>
          <p:nvSpPr>
            <p:cNvPr id="146626" name="文本框 286913"/>
            <p:cNvSpPr txBox="1"/>
            <p:nvPr/>
          </p:nvSpPr>
          <p:spPr>
            <a:xfrm>
              <a:off x="4663" y="2898"/>
              <a:ext cx="896" cy="267"/>
            </a:xfrm>
            <a:prstGeom prst="rect">
              <a:avLst/>
            </a:prstGeom>
            <a:noFill/>
            <a:ln w="50800">
              <a:noFill/>
            </a:ln>
          </p:spPr>
          <p:txBody>
            <a:bodyPr anchor="t" anchorCtr="0">
              <a:spAutoFit/>
            </a:bodyPr>
            <a:p>
              <a:pPr eaLnBrk="0" hangingPunct="0">
                <a:spcBef>
                  <a:spcPct val="50000"/>
                </a:spcBef>
              </a:pPr>
              <a:r>
                <a:rPr lang="zh-CN" altLang="en-US" dirty="0">
                  <a:solidFill>
                    <a:schemeClr val="accent1"/>
                  </a:solidFill>
                  <a:latin typeface="Times New Roman" panose="02020603050405020304" pitchFamily="18" charset="0"/>
                  <a:ea typeface="宋体" panose="02010600030101010101" pitchFamily="2" charset="-122"/>
                </a:rPr>
                <a:t>指令译码器</a:t>
              </a:r>
              <a:endParaRPr lang="zh-CN" altLang="en-US" dirty="0">
                <a:solidFill>
                  <a:schemeClr val="accent1"/>
                </a:solidFill>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915"/>
                                        </p:tgtEl>
                                        <p:attrNameLst>
                                          <p:attrName>style.visibility</p:attrName>
                                        </p:attrNameLst>
                                      </p:cBhvr>
                                      <p:to>
                                        <p:strVal val="visible"/>
                                      </p:to>
                                    </p:set>
                                    <p:animEffect transition="in" filter="blinds(horizontal)">
                                      <p:cBhvr>
                                        <p:cTn id="7" dur="500"/>
                                        <p:tgtEl>
                                          <p:spTgt spid="2869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62">
                                            <p:txEl>
                                              <p:charRg st="35" end="98"/>
                                            </p:txEl>
                                          </p:spTgt>
                                        </p:tgtEl>
                                        <p:attrNameLst>
                                          <p:attrName>style.visibility</p:attrName>
                                        </p:attrNameLst>
                                      </p:cBhvr>
                                      <p:to>
                                        <p:strVal val="visible"/>
                                      </p:to>
                                    </p:set>
                                    <p:animEffect transition="in" filter="blinds(horizontal)">
                                      <p:cBhvr>
                                        <p:cTn id="12" dur="500"/>
                                        <p:tgtEl>
                                          <p:spTgt spid="286762">
                                            <p:txEl>
                                              <p:charRg st="35" end="98"/>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86762">
                                            <p:txEl>
                                              <p:charRg st="98" end="159"/>
                                            </p:txEl>
                                          </p:spTgt>
                                        </p:tgtEl>
                                        <p:attrNameLst>
                                          <p:attrName>style.visibility</p:attrName>
                                        </p:attrNameLst>
                                      </p:cBhvr>
                                      <p:to>
                                        <p:strVal val="visible"/>
                                      </p:to>
                                    </p:set>
                                    <p:animEffect transition="in" filter="blinds(horizontal)">
                                      <p:cBhvr>
                                        <p:cTn id="15" dur="500"/>
                                        <p:tgtEl>
                                          <p:spTgt spid="286762">
                                            <p:txEl>
                                              <p:charRg st="98" end="159"/>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86762">
                                            <p:txEl>
                                              <p:charRg st="159" end="219"/>
                                            </p:txEl>
                                          </p:spTgt>
                                        </p:tgtEl>
                                        <p:attrNameLst>
                                          <p:attrName>style.visibility</p:attrName>
                                        </p:attrNameLst>
                                      </p:cBhvr>
                                      <p:to>
                                        <p:strVal val="visible"/>
                                      </p:to>
                                    </p:set>
                                    <p:animEffect transition="in" filter="blinds(horizontal)">
                                      <p:cBhvr>
                                        <p:cTn id="18" dur="500"/>
                                        <p:tgtEl>
                                          <p:spTgt spid="286762">
                                            <p:txEl>
                                              <p:charRg st="159" end="2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标题 288769"/>
          <p:cNvSpPr>
            <a:spLocks noGrp="1"/>
          </p:cNvSpPr>
          <p:nvPr>
            <p:ph type="title"/>
          </p:nvPr>
        </p:nvSpPr>
        <p:spPr>
          <a:xfrm>
            <a:off x="693738" y="207963"/>
            <a:ext cx="4178300" cy="422275"/>
          </a:xfrm>
          <a:ln/>
        </p:spPr>
        <p:txBody>
          <a:bodyPr vert="horz" wrap="none" lIns="63500" tIns="25400" rIns="63500" bIns="25400" anchor="t" anchorCtr="0">
            <a:spAutoFit/>
          </a:bodyPr>
          <a:p>
            <a:r>
              <a:rPr lang="en-US" altLang="zh-CN">
                <a:ea typeface="宋体" panose="02010600030101010101" pitchFamily="2" charset="-122"/>
              </a:rPr>
              <a:t>Main Control</a:t>
            </a:r>
            <a:r>
              <a:rPr lang="zh-CN" altLang="en-US" dirty="0">
                <a:ea typeface="宋体" panose="02010600030101010101" pitchFamily="2" charset="-122"/>
              </a:rPr>
              <a:t>的</a:t>
            </a:r>
            <a:r>
              <a:rPr lang="en-US" altLang="zh-CN">
                <a:ea typeface="宋体" panose="02010600030101010101" pitchFamily="2" charset="-122"/>
              </a:rPr>
              <a:t>PLA</a:t>
            </a:r>
            <a:r>
              <a:rPr lang="zh-CN" altLang="en-US" dirty="0">
                <a:ea typeface="宋体" panose="02010600030101010101" pitchFamily="2" charset="-122"/>
              </a:rPr>
              <a:t>实现 </a:t>
            </a:r>
            <a:endParaRPr lang="zh-CN" altLang="en-US" dirty="0">
              <a:ea typeface="宋体" panose="02010600030101010101" pitchFamily="2" charset="-122"/>
            </a:endParaRPr>
          </a:p>
        </p:txBody>
      </p:sp>
      <p:sp>
        <p:nvSpPr>
          <p:cNvPr id="148482" name="椭圆 288770"/>
          <p:cNvSpPr/>
          <p:nvPr/>
        </p:nvSpPr>
        <p:spPr>
          <a:xfrm>
            <a:off x="6985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483" name="直接连接符 288771"/>
          <p:cNvSpPr/>
          <p:nvPr/>
        </p:nvSpPr>
        <p:spPr>
          <a:xfrm flipV="1">
            <a:off x="762000" y="977900"/>
            <a:ext cx="0" cy="558800"/>
          </a:xfrm>
          <a:prstGeom prst="line">
            <a:avLst/>
          </a:prstGeom>
          <a:ln w="25400" cap="flat" cmpd="sng">
            <a:solidFill>
              <a:schemeClr val="tx1"/>
            </a:solidFill>
            <a:prstDash val="solid"/>
            <a:round/>
            <a:headEnd type="none" w="med" len="med"/>
            <a:tailEnd type="none" w="med" len="med"/>
          </a:ln>
        </p:spPr>
      </p:sp>
      <p:sp>
        <p:nvSpPr>
          <p:cNvPr id="148484" name="椭圆 288772"/>
          <p:cNvSpPr/>
          <p:nvPr/>
        </p:nvSpPr>
        <p:spPr>
          <a:xfrm>
            <a:off x="8509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485" name="直接连接符 288773"/>
          <p:cNvSpPr/>
          <p:nvPr/>
        </p:nvSpPr>
        <p:spPr>
          <a:xfrm flipV="1">
            <a:off x="914400" y="1054100"/>
            <a:ext cx="0" cy="482600"/>
          </a:xfrm>
          <a:prstGeom prst="line">
            <a:avLst/>
          </a:prstGeom>
          <a:ln w="25400" cap="flat" cmpd="sng">
            <a:solidFill>
              <a:schemeClr val="tx1"/>
            </a:solidFill>
            <a:prstDash val="solid"/>
            <a:round/>
            <a:headEnd type="none" w="med" len="med"/>
            <a:tailEnd type="none" w="med" len="med"/>
          </a:ln>
        </p:spPr>
      </p:sp>
      <p:sp>
        <p:nvSpPr>
          <p:cNvPr id="148486" name="椭圆 288774"/>
          <p:cNvSpPr/>
          <p:nvPr/>
        </p:nvSpPr>
        <p:spPr>
          <a:xfrm>
            <a:off x="10033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487" name="直接连接符 288775"/>
          <p:cNvSpPr/>
          <p:nvPr/>
        </p:nvSpPr>
        <p:spPr>
          <a:xfrm flipV="1">
            <a:off x="1066800" y="1130300"/>
            <a:ext cx="0" cy="406400"/>
          </a:xfrm>
          <a:prstGeom prst="line">
            <a:avLst/>
          </a:prstGeom>
          <a:ln w="25400" cap="flat" cmpd="sng">
            <a:solidFill>
              <a:schemeClr val="tx1"/>
            </a:solidFill>
            <a:prstDash val="solid"/>
            <a:round/>
            <a:headEnd type="none" w="med" len="med"/>
            <a:tailEnd type="none" w="med" len="med"/>
          </a:ln>
        </p:spPr>
      </p:sp>
      <p:sp>
        <p:nvSpPr>
          <p:cNvPr id="148488" name="椭圆 288776"/>
          <p:cNvSpPr/>
          <p:nvPr/>
        </p:nvSpPr>
        <p:spPr>
          <a:xfrm>
            <a:off x="11557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489" name="直接连接符 288777"/>
          <p:cNvSpPr/>
          <p:nvPr/>
        </p:nvSpPr>
        <p:spPr>
          <a:xfrm flipV="1">
            <a:off x="1219200" y="1206500"/>
            <a:ext cx="0" cy="330200"/>
          </a:xfrm>
          <a:prstGeom prst="line">
            <a:avLst/>
          </a:prstGeom>
          <a:ln w="25400" cap="flat" cmpd="sng">
            <a:solidFill>
              <a:schemeClr val="tx1"/>
            </a:solidFill>
            <a:prstDash val="solid"/>
            <a:round/>
            <a:headEnd type="none" w="med" len="med"/>
            <a:tailEnd type="none" w="med" len="med"/>
          </a:ln>
        </p:spPr>
      </p:sp>
      <p:sp>
        <p:nvSpPr>
          <p:cNvPr id="148490" name="椭圆 288778"/>
          <p:cNvSpPr/>
          <p:nvPr/>
        </p:nvSpPr>
        <p:spPr>
          <a:xfrm>
            <a:off x="13081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491" name="直接连接符 288779"/>
          <p:cNvSpPr/>
          <p:nvPr/>
        </p:nvSpPr>
        <p:spPr>
          <a:xfrm flipV="1">
            <a:off x="1371600" y="1282700"/>
            <a:ext cx="0" cy="254000"/>
          </a:xfrm>
          <a:prstGeom prst="line">
            <a:avLst/>
          </a:prstGeom>
          <a:ln w="25400" cap="flat" cmpd="sng">
            <a:solidFill>
              <a:schemeClr val="tx1"/>
            </a:solidFill>
            <a:prstDash val="solid"/>
            <a:round/>
            <a:headEnd type="none" w="med" len="med"/>
            <a:tailEnd type="none" w="med" len="med"/>
          </a:ln>
        </p:spPr>
      </p:sp>
      <p:sp>
        <p:nvSpPr>
          <p:cNvPr id="148492" name="椭圆 288780"/>
          <p:cNvSpPr/>
          <p:nvPr/>
        </p:nvSpPr>
        <p:spPr>
          <a:xfrm>
            <a:off x="14605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493" name="直接连接符 288781"/>
          <p:cNvSpPr/>
          <p:nvPr/>
        </p:nvSpPr>
        <p:spPr>
          <a:xfrm flipV="1">
            <a:off x="1524000" y="1358900"/>
            <a:ext cx="0" cy="177800"/>
          </a:xfrm>
          <a:prstGeom prst="line">
            <a:avLst/>
          </a:prstGeom>
          <a:ln w="25400" cap="flat" cmpd="sng">
            <a:solidFill>
              <a:schemeClr val="tx1"/>
            </a:solidFill>
            <a:prstDash val="solid"/>
            <a:round/>
            <a:headEnd type="none" w="med" len="med"/>
            <a:tailEnd type="none" w="med" len="med"/>
          </a:ln>
        </p:spPr>
      </p:sp>
      <p:sp>
        <p:nvSpPr>
          <p:cNvPr id="148494" name="直接连接符 288782"/>
          <p:cNvSpPr/>
          <p:nvPr/>
        </p:nvSpPr>
        <p:spPr>
          <a:xfrm>
            <a:off x="698500" y="1676400"/>
            <a:ext cx="889000" cy="0"/>
          </a:xfrm>
          <a:prstGeom prst="line">
            <a:avLst/>
          </a:prstGeom>
          <a:ln w="25400" cap="flat" cmpd="sng">
            <a:solidFill>
              <a:schemeClr val="tx1"/>
            </a:solidFill>
            <a:prstDash val="solid"/>
            <a:round/>
            <a:headEnd type="none" w="med" len="med"/>
            <a:tailEnd type="none" w="med" len="med"/>
          </a:ln>
        </p:spPr>
      </p:sp>
      <p:sp>
        <p:nvSpPr>
          <p:cNvPr id="148495" name="直接连接符 288783"/>
          <p:cNvSpPr/>
          <p:nvPr/>
        </p:nvSpPr>
        <p:spPr>
          <a:xfrm>
            <a:off x="685800" y="1689100"/>
            <a:ext cx="0" cy="279400"/>
          </a:xfrm>
          <a:prstGeom prst="line">
            <a:avLst/>
          </a:prstGeom>
          <a:ln w="25400" cap="flat" cmpd="sng">
            <a:solidFill>
              <a:schemeClr val="tx1"/>
            </a:solidFill>
            <a:prstDash val="solid"/>
            <a:round/>
            <a:headEnd type="none" w="med" len="med"/>
            <a:tailEnd type="none" w="med" len="med"/>
          </a:ln>
        </p:spPr>
      </p:sp>
      <p:sp>
        <p:nvSpPr>
          <p:cNvPr id="148496" name="直接连接符 288784"/>
          <p:cNvSpPr/>
          <p:nvPr/>
        </p:nvSpPr>
        <p:spPr>
          <a:xfrm>
            <a:off x="1600200" y="1689100"/>
            <a:ext cx="0" cy="279400"/>
          </a:xfrm>
          <a:prstGeom prst="line">
            <a:avLst/>
          </a:prstGeom>
          <a:ln w="25400" cap="flat" cmpd="sng">
            <a:solidFill>
              <a:schemeClr val="tx1"/>
            </a:solidFill>
            <a:prstDash val="solid"/>
            <a:round/>
            <a:headEnd type="none" w="med" len="med"/>
            <a:tailEnd type="none" w="med" len="med"/>
          </a:ln>
        </p:spPr>
      </p:sp>
      <p:sp>
        <p:nvSpPr>
          <p:cNvPr id="148497" name="任意多边形 288785"/>
          <p:cNvSpPr/>
          <p:nvPr/>
        </p:nvSpPr>
        <p:spPr>
          <a:xfrm>
            <a:off x="1143000" y="1966913"/>
            <a:ext cx="444500" cy="382587"/>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498" name="任意多边形 288786"/>
          <p:cNvSpPr/>
          <p:nvPr/>
        </p:nvSpPr>
        <p:spPr>
          <a:xfrm>
            <a:off x="687388" y="1909763"/>
            <a:ext cx="457200" cy="439737"/>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499" name="直接连接符 288787"/>
          <p:cNvSpPr/>
          <p:nvPr/>
        </p:nvSpPr>
        <p:spPr>
          <a:xfrm flipV="1">
            <a:off x="1143000" y="2349500"/>
            <a:ext cx="0" cy="177800"/>
          </a:xfrm>
          <a:prstGeom prst="line">
            <a:avLst/>
          </a:prstGeom>
          <a:ln w="25400" cap="flat" cmpd="sng">
            <a:solidFill>
              <a:schemeClr val="tx1"/>
            </a:solidFill>
            <a:prstDash val="solid"/>
            <a:round/>
            <a:headEnd type="none" w="med" len="med"/>
            <a:tailEnd type="none" w="med" len="med"/>
          </a:ln>
        </p:spPr>
      </p:sp>
      <p:sp>
        <p:nvSpPr>
          <p:cNvPr id="148500" name="椭圆 288788"/>
          <p:cNvSpPr/>
          <p:nvPr/>
        </p:nvSpPr>
        <p:spPr>
          <a:xfrm>
            <a:off x="17653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01" name="直接连接符 288789"/>
          <p:cNvSpPr/>
          <p:nvPr/>
        </p:nvSpPr>
        <p:spPr>
          <a:xfrm flipV="1">
            <a:off x="1828800" y="977900"/>
            <a:ext cx="0" cy="558800"/>
          </a:xfrm>
          <a:prstGeom prst="line">
            <a:avLst/>
          </a:prstGeom>
          <a:ln w="25400" cap="flat" cmpd="sng">
            <a:solidFill>
              <a:schemeClr val="tx1"/>
            </a:solidFill>
            <a:prstDash val="solid"/>
            <a:round/>
            <a:headEnd type="none" w="med" len="med"/>
            <a:tailEnd type="none" w="med" len="med"/>
          </a:ln>
        </p:spPr>
      </p:sp>
      <p:sp>
        <p:nvSpPr>
          <p:cNvPr id="148502" name="椭圆 288790"/>
          <p:cNvSpPr/>
          <p:nvPr/>
        </p:nvSpPr>
        <p:spPr>
          <a:xfrm>
            <a:off x="19177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03" name="直接连接符 288791"/>
          <p:cNvSpPr/>
          <p:nvPr/>
        </p:nvSpPr>
        <p:spPr>
          <a:xfrm flipV="1">
            <a:off x="1981200" y="1054100"/>
            <a:ext cx="0" cy="482600"/>
          </a:xfrm>
          <a:prstGeom prst="line">
            <a:avLst/>
          </a:prstGeom>
          <a:ln w="25400" cap="flat" cmpd="sng">
            <a:solidFill>
              <a:schemeClr val="tx1"/>
            </a:solidFill>
            <a:prstDash val="solid"/>
            <a:round/>
            <a:headEnd type="none" w="med" len="med"/>
            <a:tailEnd type="none" w="med" len="med"/>
          </a:ln>
        </p:spPr>
      </p:sp>
      <p:sp>
        <p:nvSpPr>
          <p:cNvPr id="148504" name="直接连接符 288792"/>
          <p:cNvSpPr/>
          <p:nvPr/>
        </p:nvSpPr>
        <p:spPr>
          <a:xfrm flipV="1">
            <a:off x="2286000" y="1206500"/>
            <a:ext cx="0" cy="482600"/>
          </a:xfrm>
          <a:prstGeom prst="line">
            <a:avLst/>
          </a:prstGeom>
          <a:ln w="25400" cap="flat" cmpd="sng">
            <a:solidFill>
              <a:schemeClr val="tx1"/>
            </a:solidFill>
            <a:prstDash val="solid"/>
            <a:round/>
            <a:headEnd type="none" w="med" len="med"/>
            <a:tailEnd type="none" w="med" len="med"/>
          </a:ln>
        </p:spPr>
      </p:sp>
      <p:sp>
        <p:nvSpPr>
          <p:cNvPr id="148505" name="椭圆 288793"/>
          <p:cNvSpPr/>
          <p:nvPr/>
        </p:nvSpPr>
        <p:spPr>
          <a:xfrm>
            <a:off x="23749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06" name="直接连接符 288794"/>
          <p:cNvSpPr/>
          <p:nvPr/>
        </p:nvSpPr>
        <p:spPr>
          <a:xfrm flipV="1">
            <a:off x="2438400" y="1282700"/>
            <a:ext cx="0" cy="254000"/>
          </a:xfrm>
          <a:prstGeom prst="line">
            <a:avLst/>
          </a:prstGeom>
          <a:ln w="25400" cap="flat" cmpd="sng">
            <a:solidFill>
              <a:schemeClr val="tx1"/>
            </a:solidFill>
            <a:prstDash val="solid"/>
            <a:round/>
            <a:headEnd type="none" w="med" len="med"/>
            <a:tailEnd type="none" w="med" len="med"/>
          </a:ln>
        </p:spPr>
      </p:sp>
      <p:sp>
        <p:nvSpPr>
          <p:cNvPr id="148507" name="直接连接符 288795"/>
          <p:cNvSpPr/>
          <p:nvPr/>
        </p:nvSpPr>
        <p:spPr>
          <a:xfrm flipV="1">
            <a:off x="2590800" y="1358900"/>
            <a:ext cx="0" cy="330200"/>
          </a:xfrm>
          <a:prstGeom prst="line">
            <a:avLst/>
          </a:prstGeom>
          <a:ln w="25400" cap="flat" cmpd="sng">
            <a:solidFill>
              <a:schemeClr val="tx1"/>
            </a:solidFill>
            <a:prstDash val="solid"/>
            <a:round/>
            <a:headEnd type="none" w="med" len="med"/>
            <a:tailEnd type="none" w="med" len="med"/>
          </a:ln>
        </p:spPr>
      </p:sp>
      <p:sp>
        <p:nvSpPr>
          <p:cNvPr id="148508" name="直接连接符 288796"/>
          <p:cNvSpPr/>
          <p:nvPr/>
        </p:nvSpPr>
        <p:spPr>
          <a:xfrm>
            <a:off x="1765300" y="1676400"/>
            <a:ext cx="889000" cy="0"/>
          </a:xfrm>
          <a:prstGeom prst="line">
            <a:avLst/>
          </a:prstGeom>
          <a:ln w="25400" cap="flat" cmpd="sng">
            <a:solidFill>
              <a:schemeClr val="tx1"/>
            </a:solidFill>
            <a:prstDash val="solid"/>
            <a:round/>
            <a:headEnd type="none" w="med" len="med"/>
            <a:tailEnd type="none" w="med" len="med"/>
          </a:ln>
        </p:spPr>
      </p:sp>
      <p:sp>
        <p:nvSpPr>
          <p:cNvPr id="148509" name="直接连接符 288797"/>
          <p:cNvSpPr/>
          <p:nvPr/>
        </p:nvSpPr>
        <p:spPr>
          <a:xfrm>
            <a:off x="1752600" y="1689100"/>
            <a:ext cx="0" cy="279400"/>
          </a:xfrm>
          <a:prstGeom prst="line">
            <a:avLst/>
          </a:prstGeom>
          <a:ln w="25400" cap="flat" cmpd="sng">
            <a:solidFill>
              <a:schemeClr val="tx1"/>
            </a:solidFill>
            <a:prstDash val="solid"/>
            <a:round/>
            <a:headEnd type="none" w="med" len="med"/>
            <a:tailEnd type="none" w="med" len="med"/>
          </a:ln>
        </p:spPr>
      </p:sp>
      <p:sp>
        <p:nvSpPr>
          <p:cNvPr id="148510" name="直接连接符 288798"/>
          <p:cNvSpPr/>
          <p:nvPr/>
        </p:nvSpPr>
        <p:spPr>
          <a:xfrm>
            <a:off x="2667000" y="1689100"/>
            <a:ext cx="0" cy="279400"/>
          </a:xfrm>
          <a:prstGeom prst="line">
            <a:avLst/>
          </a:prstGeom>
          <a:ln w="25400" cap="flat" cmpd="sng">
            <a:solidFill>
              <a:schemeClr val="tx1"/>
            </a:solidFill>
            <a:prstDash val="solid"/>
            <a:round/>
            <a:headEnd type="none" w="med" len="med"/>
            <a:tailEnd type="none" w="med" len="med"/>
          </a:ln>
        </p:spPr>
      </p:sp>
      <p:sp>
        <p:nvSpPr>
          <p:cNvPr id="148511" name="任意多边形 288799"/>
          <p:cNvSpPr/>
          <p:nvPr/>
        </p:nvSpPr>
        <p:spPr>
          <a:xfrm>
            <a:off x="2209800" y="1954213"/>
            <a:ext cx="444500" cy="395287"/>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12" name="任意多边形 288800"/>
          <p:cNvSpPr/>
          <p:nvPr/>
        </p:nvSpPr>
        <p:spPr>
          <a:xfrm>
            <a:off x="1739900" y="1954213"/>
            <a:ext cx="471488" cy="395287"/>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13" name="直接连接符 288801"/>
          <p:cNvSpPr/>
          <p:nvPr/>
        </p:nvSpPr>
        <p:spPr>
          <a:xfrm flipV="1">
            <a:off x="2209800" y="2349500"/>
            <a:ext cx="0" cy="177800"/>
          </a:xfrm>
          <a:prstGeom prst="line">
            <a:avLst/>
          </a:prstGeom>
          <a:ln w="25400" cap="flat" cmpd="sng">
            <a:solidFill>
              <a:schemeClr val="tx1"/>
            </a:solidFill>
            <a:prstDash val="solid"/>
            <a:round/>
            <a:headEnd type="none" w="med" len="med"/>
            <a:tailEnd type="none" w="med" len="med"/>
          </a:ln>
        </p:spPr>
      </p:sp>
      <p:sp>
        <p:nvSpPr>
          <p:cNvPr id="148514" name="直接连接符 288802"/>
          <p:cNvSpPr/>
          <p:nvPr/>
        </p:nvSpPr>
        <p:spPr>
          <a:xfrm flipV="1">
            <a:off x="2895600" y="977900"/>
            <a:ext cx="0" cy="711200"/>
          </a:xfrm>
          <a:prstGeom prst="line">
            <a:avLst/>
          </a:prstGeom>
          <a:ln w="25400" cap="flat" cmpd="sng">
            <a:solidFill>
              <a:schemeClr val="tx1"/>
            </a:solidFill>
            <a:prstDash val="solid"/>
            <a:round/>
            <a:headEnd type="none" w="med" len="med"/>
            <a:tailEnd type="none" w="med" len="med"/>
          </a:ln>
        </p:spPr>
      </p:sp>
      <p:sp>
        <p:nvSpPr>
          <p:cNvPr id="148515" name="椭圆 288803"/>
          <p:cNvSpPr/>
          <p:nvPr/>
        </p:nvSpPr>
        <p:spPr>
          <a:xfrm>
            <a:off x="29845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16" name="直接连接符 288804"/>
          <p:cNvSpPr/>
          <p:nvPr/>
        </p:nvSpPr>
        <p:spPr>
          <a:xfrm flipV="1">
            <a:off x="3048000" y="1054100"/>
            <a:ext cx="0" cy="482600"/>
          </a:xfrm>
          <a:prstGeom prst="line">
            <a:avLst/>
          </a:prstGeom>
          <a:ln w="25400" cap="flat" cmpd="sng">
            <a:solidFill>
              <a:schemeClr val="tx1"/>
            </a:solidFill>
            <a:prstDash val="solid"/>
            <a:round/>
            <a:headEnd type="none" w="med" len="med"/>
            <a:tailEnd type="none" w="med" len="med"/>
          </a:ln>
        </p:spPr>
      </p:sp>
      <p:sp>
        <p:nvSpPr>
          <p:cNvPr id="148517" name="椭圆 288805"/>
          <p:cNvSpPr/>
          <p:nvPr/>
        </p:nvSpPr>
        <p:spPr>
          <a:xfrm>
            <a:off x="31369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18" name="直接连接符 288806"/>
          <p:cNvSpPr/>
          <p:nvPr/>
        </p:nvSpPr>
        <p:spPr>
          <a:xfrm flipV="1">
            <a:off x="3200400" y="1130300"/>
            <a:ext cx="0" cy="406400"/>
          </a:xfrm>
          <a:prstGeom prst="line">
            <a:avLst/>
          </a:prstGeom>
          <a:ln w="25400" cap="flat" cmpd="sng">
            <a:solidFill>
              <a:schemeClr val="tx1"/>
            </a:solidFill>
            <a:prstDash val="solid"/>
            <a:round/>
            <a:headEnd type="none" w="med" len="med"/>
            <a:tailEnd type="none" w="med" len="med"/>
          </a:ln>
        </p:spPr>
      </p:sp>
      <p:sp>
        <p:nvSpPr>
          <p:cNvPr id="148519" name="椭圆 288807"/>
          <p:cNvSpPr/>
          <p:nvPr/>
        </p:nvSpPr>
        <p:spPr>
          <a:xfrm>
            <a:off x="32893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20" name="直接连接符 288808"/>
          <p:cNvSpPr/>
          <p:nvPr/>
        </p:nvSpPr>
        <p:spPr>
          <a:xfrm flipV="1">
            <a:off x="3352800" y="1206500"/>
            <a:ext cx="0" cy="330200"/>
          </a:xfrm>
          <a:prstGeom prst="line">
            <a:avLst/>
          </a:prstGeom>
          <a:ln w="25400" cap="flat" cmpd="sng">
            <a:solidFill>
              <a:schemeClr val="tx1"/>
            </a:solidFill>
            <a:prstDash val="solid"/>
            <a:round/>
            <a:headEnd type="none" w="med" len="med"/>
            <a:tailEnd type="none" w="med" len="med"/>
          </a:ln>
        </p:spPr>
      </p:sp>
      <p:sp>
        <p:nvSpPr>
          <p:cNvPr id="148521" name="直接连接符 288809"/>
          <p:cNvSpPr/>
          <p:nvPr/>
        </p:nvSpPr>
        <p:spPr>
          <a:xfrm flipV="1">
            <a:off x="3505200" y="1282700"/>
            <a:ext cx="0" cy="406400"/>
          </a:xfrm>
          <a:prstGeom prst="line">
            <a:avLst/>
          </a:prstGeom>
          <a:ln w="25400" cap="flat" cmpd="sng">
            <a:solidFill>
              <a:schemeClr val="tx1"/>
            </a:solidFill>
            <a:prstDash val="solid"/>
            <a:round/>
            <a:headEnd type="none" w="med" len="med"/>
            <a:tailEnd type="none" w="med" len="med"/>
          </a:ln>
        </p:spPr>
      </p:sp>
      <p:sp>
        <p:nvSpPr>
          <p:cNvPr id="148522" name="直接连接符 288810"/>
          <p:cNvSpPr/>
          <p:nvPr/>
        </p:nvSpPr>
        <p:spPr>
          <a:xfrm flipV="1">
            <a:off x="3657600" y="1358900"/>
            <a:ext cx="0" cy="330200"/>
          </a:xfrm>
          <a:prstGeom prst="line">
            <a:avLst/>
          </a:prstGeom>
          <a:ln w="25400" cap="flat" cmpd="sng">
            <a:solidFill>
              <a:schemeClr val="tx1"/>
            </a:solidFill>
            <a:prstDash val="solid"/>
            <a:round/>
            <a:headEnd type="none" w="med" len="med"/>
            <a:tailEnd type="none" w="med" len="med"/>
          </a:ln>
        </p:spPr>
      </p:sp>
      <p:sp>
        <p:nvSpPr>
          <p:cNvPr id="148523" name="直接连接符 288811"/>
          <p:cNvSpPr/>
          <p:nvPr/>
        </p:nvSpPr>
        <p:spPr>
          <a:xfrm>
            <a:off x="2832100" y="1676400"/>
            <a:ext cx="889000" cy="0"/>
          </a:xfrm>
          <a:prstGeom prst="line">
            <a:avLst/>
          </a:prstGeom>
          <a:ln w="25400" cap="flat" cmpd="sng">
            <a:solidFill>
              <a:schemeClr val="tx1"/>
            </a:solidFill>
            <a:prstDash val="solid"/>
            <a:round/>
            <a:headEnd type="none" w="med" len="med"/>
            <a:tailEnd type="none" w="med" len="med"/>
          </a:ln>
        </p:spPr>
      </p:sp>
      <p:sp>
        <p:nvSpPr>
          <p:cNvPr id="148524" name="直接连接符 288812"/>
          <p:cNvSpPr/>
          <p:nvPr/>
        </p:nvSpPr>
        <p:spPr>
          <a:xfrm>
            <a:off x="2819400" y="1689100"/>
            <a:ext cx="0" cy="279400"/>
          </a:xfrm>
          <a:prstGeom prst="line">
            <a:avLst/>
          </a:prstGeom>
          <a:ln w="25400" cap="flat" cmpd="sng">
            <a:solidFill>
              <a:schemeClr val="tx1"/>
            </a:solidFill>
            <a:prstDash val="solid"/>
            <a:round/>
            <a:headEnd type="none" w="med" len="med"/>
            <a:tailEnd type="none" w="med" len="med"/>
          </a:ln>
        </p:spPr>
      </p:sp>
      <p:sp>
        <p:nvSpPr>
          <p:cNvPr id="148525" name="直接连接符 288813"/>
          <p:cNvSpPr/>
          <p:nvPr/>
        </p:nvSpPr>
        <p:spPr>
          <a:xfrm>
            <a:off x="3733800" y="1689100"/>
            <a:ext cx="0" cy="279400"/>
          </a:xfrm>
          <a:prstGeom prst="line">
            <a:avLst/>
          </a:prstGeom>
          <a:ln w="25400" cap="flat" cmpd="sng">
            <a:solidFill>
              <a:schemeClr val="tx1"/>
            </a:solidFill>
            <a:prstDash val="solid"/>
            <a:round/>
            <a:headEnd type="none" w="med" len="med"/>
            <a:tailEnd type="none" w="med" len="med"/>
          </a:ln>
        </p:spPr>
      </p:sp>
      <p:sp>
        <p:nvSpPr>
          <p:cNvPr id="148526" name="任意多边形 288814"/>
          <p:cNvSpPr/>
          <p:nvPr/>
        </p:nvSpPr>
        <p:spPr>
          <a:xfrm>
            <a:off x="3276600" y="1939925"/>
            <a:ext cx="444500" cy="409575"/>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27" name="任意多边形 288815"/>
          <p:cNvSpPr/>
          <p:nvPr/>
        </p:nvSpPr>
        <p:spPr>
          <a:xfrm>
            <a:off x="2819400" y="1952625"/>
            <a:ext cx="458788" cy="396875"/>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28" name="直接连接符 288816"/>
          <p:cNvSpPr/>
          <p:nvPr/>
        </p:nvSpPr>
        <p:spPr>
          <a:xfrm flipV="1">
            <a:off x="3276600" y="2349500"/>
            <a:ext cx="0" cy="177800"/>
          </a:xfrm>
          <a:prstGeom prst="line">
            <a:avLst/>
          </a:prstGeom>
          <a:ln w="25400" cap="flat" cmpd="sng">
            <a:solidFill>
              <a:schemeClr val="tx1"/>
            </a:solidFill>
            <a:prstDash val="solid"/>
            <a:round/>
            <a:headEnd type="none" w="med" len="med"/>
            <a:tailEnd type="none" w="med" len="med"/>
          </a:ln>
        </p:spPr>
      </p:sp>
      <p:sp>
        <p:nvSpPr>
          <p:cNvPr id="148529" name="直接连接符 288817"/>
          <p:cNvSpPr/>
          <p:nvPr/>
        </p:nvSpPr>
        <p:spPr>
          <a:xfrm flipV="1">
            <a:off x="3962400" y="977900"/>
            <a:ext cx="0" cy="711200"/>
          </a:xfrm>
          <a:prstGeom prst="line">
            <a:avLst/>
          </a:prstGeom>
          <a:ln w="25400" cap="flat" cmpd="sng">
            <a:solidFill>
              <a:schemeClr val="tx1"/>
            </a:solidFill>
            <a:prstDash val="solid"/>
            <a:round/>
            <a:headEnd type="none" w="med" len="med"/>
            <a:tailEnd type="none" w="med" len="med"/>
          </a:ln>
        </p:spPr>
      </p:sp>
      <p:sp>
        <p:nvSpPr>
          <p:cNvPr id="148530" name="椭圆 288818"/>
          <p:cNvSpPr/>
          <p:nvPr/>
        </p:nvSpPr>
        <p:spPr>
          <a:xfrm>
            <a:off x="40513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31" name="直接连接符 288819"/>
          <p:cNvSpPr/>
          <p:nvPr/>
        </p:nvSpPr>
        <p:spPr>
          <a:xfrm flipV="1">
            <a:off x="4114800" y="1054100"/>
            <a:ext cx="0" cy="482600"/>
          </a:xfrm>
          <a:prstGeom prst="line">
            <a:avLst/>
          </a:prstGeom>
          <a:ln w="25400" cap="flat" cmpd="sng">
            <a:solidFill>
              <a:schemeClr val="tx1"/>
            </a:solidFill>
            <a:prstDash val="solid"/>
            <a:round/>
            <a:headEnd type="none" w="med" len="med"/>
            <a:tailEnd type="none" w="med" len="med"/>
          </a:ln>
        </p:spPr>
      </p:sp>
      <p:sp>
        <p:nvSpPr>
          <p:cNvPr id="148532" name="直接连接符 288820"/>
          <p:cNvSpPr/>
          <p:nvPr/>
        </p:nvSpPr>
        <p:spPr>
          <a:xfrm flipV="1">
            <a:off x="4267200" y="1130300"/>
            <a:ext cx="0" cy="558800"/>
          </a:xfrm>
          <a:prstGeom prst="line">
            <a:avLst/>
          </a:prstGeom>
          <a:ln w="25400" cap="flat" cmpd="sng">
            <a:solidFill>
              <a:schemeClr val="tx1"/>
            </a:solidFill>
            <a:prstDash val="solid"/>
            <a:round/>
            <a:headEnd type="none" w="med" len="med"/>
            <a:tailEnd type="none" w="med" len="med"/>
          </a:ln>
        </p:spPr>
      </p:sp>
      <p:sp>
        <p:nvSpPr>
          <p:cNvPr id="148533" name="椭圆 288821"/>
          <p:cNvSpPr/>
          <p:nvPr/>
        </p:nvSpPr>
        <p:spPr>
          <a:xfrm>
            <a:off x="43561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34" name="直接连接符 288822"/>
          <p:cNvSpPr/>
          <p:nvPr/>
        </p:nvSpPr>
        <p:spPr>
          <a:xfrm flipV="1">
            <a:off x="4419600" y="1206500"/>
            <a:ext cx="0" cy="330200"/>
          </a:xfrm>
          <a:prstGeom prst="line">
            <a:avLst/>
          </a:prstGeom>
          <a:ln w="25400" cap="flat" cmpd="sng">
            <a:solidFill>
              <a:schemeClr val="tx1"/>
            </a:solidFill>
            <a:prstDash val="solid"/>
            <a:round/>
            <a:headEnd type="none" w="med" len="med"/>
            <a:tailEnd type="none" w="med" len="med"/>
          </a:ln>
        </p:spPr>
      </p:sp>
      <p:sp>
        <p:nvSpPr>
          <p:cNvPr id="148535" name="直接连接符 288823"/>
          <p:cNvSpPr/>
          <p:nvPr/>
        </p:nvSpPr>
        <p:spPr>
          <a:xfrm flipV="1">
            <a:off x="4572000" y="1282700"/>
            <a:ext cx="0" cy="406400"/>
          </a:xfrm>
          <a:prstGeom prst="line">
            <a:avLst/>
          </a:prstGeom>
          <a:ln w="25400" cap="flat" cmpd="sng">
            <a:solidFill>
              <a:schemeClr val="tx1"/>
            </a:solidFill>
            <a:prstDash val="solid"/>
            <a:round/>
            <a:headEnd type="none" w="med" len="med"/>
            <a:tailEnd type="none" w="med" len="med"/>
          </a:ln>
        </p:spPr>
      </p:sp>
      <p:sp>
        <p:nvSpPr>
          <p:cNvPr id="148536" name="直接连接符 288824"/>
          <p:cNvSpPr/>
          <p:nvPr/>
        </p:nvSpPr>
        <p:spPr>
          <a:xfrm flipV="1">
            <a:off x="4724400" y="1358900"/>
            <a:ext cx="0" cy="330200"/>
          </a:xfrm>
          <a:prstGeom prst="line">
            <a:avLst/>
          </a:prstGeom>
          <a:ln w="25400" cap="flat" cmpd="sng">
            <a:solidFill>
              <a:schemeClr val="tx1"/>
            </a:solidFill>
            <a:prstDash val="solid"/>
            <a:round/>
            <a:headEnd type="none" w="med" len="med"/>
            <a:tailEnd type="none" w="med" len="med"/>
          </a:ln>
        </p:spPr>
      </p:sp>
      <p:sp>
        <p:nvSpPr>
          <p:cNvPr id="148537" name="直接连接符 288825"/>
          <p:cNvSpPr/>
          <p:nvPr/>
        </p:nvSpPr>
        <p:spPr>
          <a:xfrm>
            <a:off x="3898900" y="1676400"/>
            <a:ext cx="889000" cy="0"/>
          </a:xfrm>
          <a:prstGeom prst="line">
            <a:avLst/>
          </a:prstGeom>
          <a:ln w="25400" cap="flat" cmpd="sng">
            <a:solidFill>
              <a:schemeClr val="tx1"/>
            </a:solidFill>
            <a:prstDash val="solid"/>
            <a:round/>
            <a:headEnd type="none" w="med" len="med"/>
            <a:tailEnd type="none" w="med" len="med"/>
          </a:ln>
        </p:spPr>
      </p:sp>
      <p:sp>
        <p:nvSpPr>
          <p:cNvPr id="148538" name="直接连接符 288826"/>
          <p:cNvSpPr/>
          <p:nvPr/>
        </p:nvSpPr>
        <p:spPr>
          <a:xfrm>
            <a:off x="3886200" y="1689100"/>
            <a:ext cx="0" cy="279400"/>
          </a:xfrm>
          <a:prstGeom prst="line">
            <a:avLst/>
          </a:prstGeom>
          <a:ln w="25400" cap="flat" cmpd="sng">
            <a:solidFill>
              <a:schemeClr val="tx1"/>
            </a:solidFill>
            <a:prstDash val="solid"/>
            <a:round/>
            <a:headEnd type="none" w="med" len="med"/>
            <a:tailEnd type="none" w="med" len="med"/>
          </a:ln>
        </p:spPr>
      </p:sp>
      <p:sp>
        <p:nvSpPr>
          <p:cNvPr id="148539" name="直接连接符 288827"/>
          <p:cNvSpPr/>
          <p:nvPr/>
        </p:nvSpPr>
        <p:spPr>
          <a:xfrm>
            <a:off x="4800600" y="1689100"/>
            <a:ext cx="0" cy="279400"/>
          </a:xfrm>
          <a:prstGeom prst="line">
            <a:avLst/>
          </a:prstGeom>
          <a:ln w="25400" cap="flat" cmpd="sng">
            <a:solidFill>
              <a:schemeClr val="tx1"/>
            </a:solidFill>
            <a:prstDash val="solid"/>
            <a:round/>
            <a:headEnd type="none" w="med" len="med"/>
            <a:tailEnd type="none" w="med" len="med"/>
          </a:ln>
        </p:spPr>
      </p:sp>
      <p:sp>
        <p:nvSpPr>
          <p:cNvPr id="148540" name="任意多边形 288828"/>
          <p:cNvSpPr/>
          <p:nvPr/>
        </p:nvSpPr>
        <p:spPr>
          <a:xfrm>
            <a:off x="4343400" y="1954213"/>
            <a:ext cx="444500" cy="395287"/>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41" name="任意多边形 288829"/>
          <p:cNvSpPr/>
          <p:nvPr/>
        </p:nvSpPr>
        <p:spPr>
          <a:xfrm>
            <a:off x="3886200" y="1939925"/>
            <a:ext cx="458788" cy="409575"/>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42" name="直接连接符 288830"/>
          <p:cNvSpPr/>
          <p:nvPr/>
        </p:nvSpPr>
        <p:spPr>
          <a:xfrm flipV="1">
            <a:off x="4343400" y="2349500"/>
            <a:ext cx="0" cy="177800"/>
          </a:xfrm>
          <a:prstGeom prst="line">
            <a:avLst/>
          </a:prstGeom>
          <a:ln w="25400" cap="flat" cmpd="sng">
            <a:solidFill>
              <a:schemeClr val="tx1"/>
            </a:solidFill>
            <a:prstDash val="solid"/>
            <a:round/>
            <a:headEnd type="none" w="med" len="med"/>
            <a:tailEnd type="none" w="med" len="med"/>
          </a:ln>
        </p:spPr>
      </p:sp>
      <p:sp>
        <p:nvSpPr>
          <p:cNvPr id="148543" name="椭圆 288831"/>
          <p:cNvSpPr/>
          <p:nvPr/>
        </p:nvSpPr>
        <p:spPr>
          <a:xfrm>
            <a:off x="49657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44" name="直接连接符 288832"/>
          <p:cNvSpPr/>
          <p:nvPr/>
        </p:nvSpPr>
        <p:spPr>
          <a:xfrm flipV="1">
            <a:off x="5029200" y="977900"/>
            <a:ext cx="0" cy="558800"/>
          </a:xfrm>
          <a:prstGeom prst="line">
            <a:avLst/>
          </a:prstGeom>
          <a:ln w="25400" cap="flat" cmpd="sng">
            <a:solidFill>
              <a:schemeClr val="tx1"/>
            </a:solidFill>
            <a:prstDash val="solid"/>
            <a:round/>
            <a:headEnd type="none" w="med" len="med"/>
            <a:tailEnd type="none" w="med" len="med"/>
          </a:ln>
        </p:spPr>
      </p:sp>
      <p:sp>
        <p:nvSpPr>
          <p:cNvPr id="148545" name="椭圆 288833"/>
          <p:cNvSpPr/>
          <p:nvPr/>
        </p:nvSpPr>
        <p:spPr>
          <a:xfrm>
            <a:off x="51181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46" name="直接连接符 288834"/>
          <p:cNvSpPr/>
          <p:nvPr/>
        </p:nvSpPr>
        <p:spPr>
          <a:xfrm flipV="1">
            <a:off x="5181600" y="1054100"/>
            <a:ext cx="0" cy="482600"/>
          </a:xfrm>
          <a:prstGeom prst="line">
            <a:avLst/>
          </a:prstGeom>
          <a:ln w="25400" cap="flat" cmpd="sng">
            <a:solidFill>
              <a:schemeClr val="tx1"/>
            </a:solidFill>
            <a:prstDash val="solid"/>
            <a:round/>
            <a:headEnd type="none" w="med" len="med"/>
            <a:tailEnd type="none" w="med" len="med"/>
          </a:ln>
        </p:spPr>
      </p:sp>
      <p:sp>
        <p:nvSpPr>
          <p:cNvPr id="148547" name="椭圆 288835"/>
          <p:cNvSpPr/>
          <p:nvPr/>
        </p:nvSpPr>
        <p:spPr>
          <a:xfrm>
            <a:off x="52705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48" name="直接连接符 288836"/>
          <p:cNvSpPr/>
          <p:nvPr/>
        </p:nvSpPr>
        <p:spPr>
          <a:xfrm flipV="1">
            <a:off x="5334000" y="1130300"/>
            <a:ext cx="0" cy="406400"/>
          </a:xfrm>
          <a:prstGeom prst="line">
            <a:avLst/>
          </a:prstGeom>
          <a:ln w="25400" cap="flat" cmpd="sng">
            <a:solidFill>
              <a:schemeClr val="tx1"/>
            </a:solidFill>
            <a:prstDash val="solid"/>
            <a:round/>
            <a:headEnd type="none" w="med" len="med"/>
            <a:tailEnd type="none" w="med" len="med"/>
          </a:ln>
        </p:spPr>
      </p:sp>
      <p:sp>
        <p:nvSpPr>
          <p:cNvPr id="148549" name="直接连接符 288837"/>
          <p:cNvSpPr/>
          <p:nvPr/>
        </p:nvSpPr>
        <p:spPr>
          <a:xfrm flipV="1">
            <a:off x="5486400" y="1206500"/>
            <a:ext cx="0" cy="482600"/>
          </a:xfrm>
          <a:prstGeom prst="line">
            <a:avLst/>
          </a:prstGeom>
          <a:ln w="25400" cap="flat" cmpd="sng">
            <a:solidFill>
              <a:schemeClr val="tx1"/>
            </a:solidFill>
            <a:prstDash val="solid"/>
            <a:round/>
            <a:headEnd type="none" w="med" len="med"/>
            <a:tailEnd type="none" w="med" len="med"/>
          </a:ln>
        </p:spPr>
      </p:sp>
      <p:sp>
        <p:nvSpPr>
          <p:cNvPr id="148550" name="椭圆 288838"/>
          <p:cNvSpPr/>
          <p:nvPr/>
        </p:nvSpPr>
        <p:spPr>
          <a:xfrm>
            <a:off x="55753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51" name="直接连接符 288839"/>
          <p:cNvSpPr/>
          <p:nvPr/>
        </p:nvSpPr>
        <p:spPr>
          <a:xfrm flipV="1">
            <a:off x="5638800" y="1282700"/>
            <a:ext cx="0" cy="254000"/>
          </a:xfrm>
          <a:prstGeom prst="line">
            <a:avLst/>
          </a:prstGeom>
          <a:ln w="25400" cap="flat" cmpd="sng">
            <a:solidFill>
              <a:schemeClr val="tx1"/>
            </a:solidFill>
            <a:prstDash val="solid"/>
            <a:round/>
            <a:headEnd type="none" w="med" len="med"/>
            <a:tailEnd type="none" w="med" len="med"/>
          </a:ln>
        </p:spPr>
      </p:sp>
      <p:sp>
        <p:nvSpPr>
          <p:cNvPr id="148552" name="椭圆 288840"/>
          <p:cNvSpPr/>
          <p:nvPr/>
        </p:nvSpPr>
        <p:spPr>
          <a:xfrm>
            <a:off x="57277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53" name="直接连接符 288841"/>
          <p:cNvSpPr/>
          <p:nvPr/>
        </p:nvSpPr>
        <p:spPr>
          <a:xfrm flipV="1">
            <a:off x="5791200" y="1358900"/>
            <a:ext cx="0" cy="177800"/>
          </a:xfrm>
          <a:prstGeom prst="line">
            <a:avLst/>
          </a:prstGeom>
          <a:ln w="25400" cap="flat" cmpd="sng">
            <a:solidFill>
              <a:schemeClr val="tx1"/>
            </a:solidFill>
            <a:prstDash val="solid"/>
            <a:round/>
            <a:headEnd type="none" w="med" len="med"/>
            <a:tailEnd type="none" w="med" len="med"/>
          </a:ln>
        </p:spPr>
      </p:sp>
      <p:sp>
        <p:nvSpPr>
          <p:cNvPr id="148554" name="直接连接符 288842"/>
          <p:cNvSpPr/>
          <p:nvPr/>
        </p:nvSpPr>
        <p:spPr>
          <a:xfrm>
            <a:off x="4965700" y="1676400"/>
            <a:ext cx="889000" cy="0"/>
          </a:xfrm>
          <a:prstGeom prst="line">
            <a:avLst/>
          </a:prstGeom>
          <a:ln w="25400" cap="flat" cmpd="sng">
            <a:solidFill>
              <a:schemeClr val="tx1"/>
            </a:solidFill>
            <a:prstDash val="solid"/>
            <a:round/>
            <a:headEnd type="none" w="med" len="med"/>
            <a:tailEnd type="none" w="med" len="med"/>
          </a:ln>
        </p:spPr>
      </p:sp>
      <p:sp>
        <p:nvSpPr>
          <p:cNvPr id="148555" name="直接连接符 288843"/>
          <p:cNvSpPr/>
          <p:nvPr/>
        </p:nvSpPr>
        <p:spPr>
          <a:xfrm>
            <a:off x="4953000" y="1689100"/>
            <a:ext cx="0" cy="279400"/>
          </a:xfrm>
          <a:prstGeom prst="line">
            <a:avLst/>
          </a:prstGeom>
          <a:ln w="25400" cap="flat" cmpd="sng">
            <a:solidFill>
              <a:schemeClr val="tx1"/>
            </a:solidFill>
            <a:prstDash val="solid"/>
            <a:round/>
            <a:headEnd type="none" w="med" len="med"/>
            <a:tailEnd type="none" w="med" len="med"/>
          </a:ln>
        </p:spPr>
      </p:sp>
      <p:sp>
        <p:nvSpPr>
          <p:cNvPr id="148556" name="直接连接符 288844"/>
          <p:cNvSpPr/>
          <p:nvPr/>
        </p:nvSpPr>
        <p:spPr>
          <a:xfrm>
            <a:off x="5867400" y="1689100"/>
            <a:ext cx="0" cy="279400"/>
          </a:xfrm>
          <a:prstGeom prst="line">
            <a:avLst/>
          </a:prstGeom>
          <a:ln w="25400" cap="flat" cmpd="sng">
            <a:solidFill>
              <a:schemeClr val="tx1"/>
            </a:solidFill>
            <a:prstDash val="solid"/>
            <a:round/>
            <a:headEnd type="none" w="med" len="med"/>
            <a:tailEnd type="none" w="med" len="med"/>
          </a:ln>
        </p:spPr>
      </p:sp>
      <p:sp>
        <p:nvSpPr>
          <p:cNvPr id="148557" name="任意多边形 288845"/>
          <p:cNvSpPr/>
          <p:nvPr/>
        </p:nvSpPr>
        <p:spPr>
          <a:xfrm>
            <a:off x="5410200" y="1966913"/>
            <a:ext cx="444500" cy="382587"/>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58" name="任意多边形 288846"/>
          <p:cNvSpPr/>
          <p:nvPr/>
        </p:nvSpPr>
        <p:spPr>
          <a:xfrm>
            <a:off x="4953000" y="1952625"/>
            <a:ext cx="458788" cy="396875"/>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59" name="直接连接符 288847"/>
          <p:cNvSpPr/>
          <p:nvPr/>
        </p:nvSpPr>
        <p:spPr>
          <a:xfrm flipV="1">
            <a:off x="5410200" y="2349500"/>
            <a:ext cx="0" cy="177800"/>
          </a:xfrm>
          <a:prstGeom prst="line">
            <a:avLst/>
          </a:prstGeom>
          <a:ln w="25400" cap="flat" cmpd="sng">
            <a:solidFill>
              <a:schemeClr val="tx1"/>
            </a:solidFill>
            <a:prstDash val="solid"/>
            <a:round/>
            <a:headEnd type="none" w="med" len="med"/>
            <a:tailEnd type="none" w="med" len="med"/>
          </a:ln>
        </p:spPr>
      </p:sp>
      <p:sp>
        <p:nvSpPr>
          <p:cNvPr id="148560" name="椭圆 288848"/>
          <p:cNvSpPr/>
          <p:nvPr/>
        </p:nvSpPr>
        <p:spPr>
          <a:xfrm>
            <a:off x="60325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61" name="直接连接符 288849"/>
          <p:cNvSpPr/>
          <p:nvPr/>
        </p:nvSpPr>
        <p:spPr>
          <a:xfrm flipV="1">
            <a:off x="6096000" y="977900"/>
            <a:ext cx="0" cy="558800"/>
          </a:xfrm>
          <a:prstGeom prst="line">
            <a:avLst/>
          </a:prstGeom>
          <a:ln w="25400" cap="flat" cmpd="sng">
            <a:solidFill>
              <a:schemeClr val="tx1"/>
            </a:solidFill>
            <a:prstDash val="solid"/>
            <a:round/>
            <a:headEnd type="none" w="med" len="med"/>
            <a:tailEnd type="none" w="med" len="med"/>
          </a:ln>
        </p:spPr>
      </p:sp>
      <p:sp>
        <p:nvSpPr>
          <p:cNvPr id="148562" name="椭圆 288850"/>
          <p:cNvSpPr/>
          <p:nvPr/>
        </p:nvSpPr>
        <p:spPr>
          <a:xfrm>
            <a:off x="61849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63" name="直接连接符 288851"/>
          <p:cNvSpPr/>
          <p:nvPr/>
        </p:nvSpPr>
        <p:spPr>
          <a:xfrm flipV="1">
            <a:off x="6248400" y="1054100"/>
            <a:ext cx="0" cy="482600"/>
          </a:xfrm>
          <a:prstGeom prst="line">
            <a:avLst/>
          </a:prstGeom>
          <a:ln w="25400" cap="flat" cmpd="sng">
            <a:solidFill>
              <a:schemeClr val="tx1"/>
            </a:solidFill>
            <a:prstDash val="solid"/>
            <a:round/>
            <a:headEnd type="none" w="med" len="med"/>
            <a:tailEnd type="none" w="med" len="med"/>
          </a:ln>
        </p:spPr>
      </p:sp>
      <p:sp>
        <p:nvSpPr>
          <p:cNvPr id="148564" name="椭圆 288852"/>
          <p:cNvSpPr/>
          <p:nvPr/>
        </p:nvSpPr>
        <p:spPr>
          <a:xfrm>
            <a:off x="63373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65" name="直接连接符 288853"/>
          <p:cNvSpPr/>
          <p:nvPr/>
        </p:nvSpPr>
        <p:spPr>
          <a:xfrm flipV="1">
            <a:off x="6400800" y="1130300"/>
            <a:ext cx="0" cy="406400"/>
          </a:xfrm>
          <a:prstGeom prst="line">
            <a:avLst/>
          </a:prstGeom>
          <a:ln w="25400" cap="flat" cmpd="sng">
            <a:solidFill>
              <a:schemeClr val="tx1"/>
            </a:solidFill>
            <a:prstDash val="solid"/>
            <a:round/>
            <a:headEnd type="none" w="med" len="med"/>
            <a:tailEnd type="none" w="med" len="med"/>
          </a:ln>
        </p:spPr>
      </p:sp>
      <p:sp>
        <p:nvSpPr>
          <p:cNvPr id="148566" name="椭圆 288854"/>
          <p:cNvSpPr/>
          <p:nvPr/>
        </p:nvSpPr>
        <p:spPr>
          <a:xfrm>
            <a:off x="64897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67" name="直接连接符 288855"/>
          <p:cNvSpPr/>
          <p:nvPr/>
        </p:nvSpPr>
        <p:spPr>
          <a:xfrm flipV="1">
            <a:off x="6553200" y="1206500"/>
            <a:ext cx="0" cy="330200"/>
          </a:xfrm>
          <a:prstGeom prst="line">
            <a:avLst/>
          </a:prstGeom>
          <a:ln w="25400" cap="flat" cmpd="sng">
            <a:solidFill>
              <a:schemeClr val="tx1"/>
            </a:solidFill>
            <a:prstDash val="solid"/>
            <a:round/>
            <a:headEnd type="none" w="med" len="med"/>
            <a:tailEnd type="none" w="med" len="med"/>
          </a:ln>
        </p:spPr>
      </p:sp>
      <p:sp>
        <p:nvSpPr>
          <p:cNvPr id="148568" name="直接连接符 288856"/>
          <p:cNvSpPr/>
          <p:nvPr/>
        </p:nvSpPr>
        <p:spPr>
          <a:xfrm flipV="1">
            <a:off x="6705600" y="1282700"/>
            <a:ext cx="0" cy="406400"/>
          </a:xfrm>
          <a:prstGeom prst="line">
            <a:avLst/>
          </a:prstGeom>
          <a:ln w="25400" cap="flat" cmpd="sng">
            <a:solidFill>
              <a:schemeClr val="tx1"/>
            </a:solidFill>
            <a:prstDash val="solid"/>
            <a:round/>
            <a:headEnd type="none" w="med" len="med"/>
            <a:tailEnd type="none" w="med" len="med"/>
          </a:ln>
        </p:spPr>
      </p:sp>
      <p:sp>
        <p:nvSpPr>
          <p:cNvPr id="148569" name="椭圆 288857"/>
          <p:cNvSpPr/>
          <p:nvPr/>
        </p:nvSpPr>
        <p:spPr>
          <a:xfrm>
            <a:off x="6794500" y="1536700"/>
            <a:ext cx="127000" cy="12700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570" name="直接连接符 288858"/>
          <p:cNvSpPr/>
          <p:nvPr/>
        </p:nvSpPr>
        <p:spPr>
          <a:xfrm flipV="1">
            <a:off x="6858000" y="1358900"/>
            <a:ext cx="0" cy="177800"/>
          </a:xfrm>
          <a:prstGeom prst="line">
            <a:avLst/>
          </a:prstGeom>
          <a:ln w="25400" cap="flat" cmpd="sng">
            <a:solidFill>
              <a:schemeClr val="tx1"/>
            </a:solidFill>
            <a:prstDash val="solid"/>
            <a:round/>
            <a:headEnd type="none" w="med" len="med"/>
            <a:tailEnd type="none" w="med" len="med"/>
          </a:ln>
        </p:spPr>
      </p:sp>
      <p:sp>
        <p:nvSpPr>
          <p:cNvPr id="148571" name="直接连接符 288859"/>
          <p:cNvSpPr/>
          <p:nvPr/>
        </p:nvSpPr>
        <p:spPr>
          <a:xfrm>
            <a:off x="6032500" y="1676400"/>
            <a:ext cx="889000" cy="0"/>
          </a:xfrm>
          <a:prstGeom prst="line">
            <a:avLst/>
          </a:prstGeom>
          <a:ln w="25400" cap="flat" cmpd="sng">
            <a:solidFill>
              <a:schemeClr val="tx1"/>
            </a:solidFill>
            <a:prstDash val="solid"/>
            <a:round/>
            <a:headEnd type="none" w="med" len="med"/>
            <a:tailEnd type="none" w="med" len="med"/>
          </a:ln>
        </p:spPr>
      </p:sp>
      <p:sp>
        <p:nvSpPr>
          <p:cNvPr id="148572" name="直接连接符 288860"/>
          <p:cNvSpPr/>
          <p:nvPr/>
        </p:nvSpPr>
        <p:spPr>
          <a:xfrm>
            <a:off x="6019800" y="1689100"/>
            <a:ext cx="0" cy="279400"/>
          </a:xfrm>
          <a:prstGeom prst="line">
            <a:avLst/>
          </a:prstGeom>
          <a:ln w="25400" cap="flat" cmpd="sng">
            <a:solidFill>
              <a:schemeClr val="tx1"/>
            </a:solidFill>
            <a:prstDash val="solid"/>
            <a:round/>
            <a:headEnd type="none" w="med" len="med"/>
            <a:tailEnd type="none" w="med" len="med"/>
          </a:ln>
        </p:spPr>
      </p:sp>
      <p:sp>
        <p:nvSpPr>
          <p:cNvPr id="148573" name="直接连接符 288861"/>
          <p:cNvSpPr/>
          <p:nvPr/>
        </p:nvSpPr>
        <p:spPr>
          <a:xfrm>
            <a:off x="6934200" y="1689100"/>
            <a:ext cx="0" cy="279400"/>
          </a:xfrm>
          <a:prstGeom prst="line">
            <a:avLst/>
          </a:prstGeom>
          <a:ln w="25400" cap="flat" cmpd="sng">
            <a:solidFill>
              <a:schemeClr val="tx1"/>
            </a:solidFill>
            <a:prstDash val="solid"/>
            <a:round/>
            <a:headEnd type="none" w="med" len="med"/>
            <a:tailEnd type="none" w="med" len="med"/>
          </a:ln>
        </p:spPr>
      </p:sp>
      <p:sp>
        <p:nvSpPr>
          <p:cNvPr id="148574" name="任意多边形 288862"/>
          <p:cNvSpPr/>
          <p:nvPr/>
        </p:nvSpPr>
        <p:spPr>
          <a:xfrm>
            <a:off x="6477000" y="1966913"/>
            <a:ext cx="444500" cy="382587"/>
          </a:xfrm>
          <a:custGeom>
            <a:avLst/>
            <a:gdLst/>
            <a:ahLst/>
            <a:cxnLst>
              <a:cxn ang="270">
                <a:pos x="21600" y="0"/>
              </a:cxn>
              <a:cxn ang="90">
                <a:pos x="0" y="21600"/>
              </a:cxn>
              <a:cxn ang="270">
                <a:pos x="0" y="0"/>
              </a:cxn>
            </a:cxnLst>
            <a:pathLst>
              <a:path w="21600" h="21600" fill="none">
                <a:moveTo>
                  <a:pt x="21600" y="0"/>
                </a:moveTo>
                <a:cubicBezTo>
                  <a:pt x="21600" y="11929"/>
                  <a:pt x="11929" y="21600"/>
                  <a:pt x="0" y="21600"/>
                </a:cubicBezTo>
              </a:path>
              <a:path w="21600" h="21600" stroke="0">
                <a:moveTo>
                  <a:pt x="21600" y="0"/>
                </a:moveTo>
                <a:cubicBezTo>
                  <a:pt x="21600" y="11929"/>
                  <a:pt x="11929" y="21600"/>
                  <a:pt x="0" y="21600"/>
                </a:cubicBezTo>
                <a:lnTo>
                  <a:pt x="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75" name="任意多边形 288863"/>
          <p:cNvSpPr/>
          <p:nvPr/>
        </p:nvSpPr>
        <p:spPr>
          <a:xfrm>
            <a:off x="6021388" y="1952625"/>
            <a:ext cx="457200" cy="396875"/>
          </a:xfrm>
          <a:custGeom>
            <a:avLst/>
            <a:gdLst/>
            <a:ahLst/>
            <a:cxnLst>
              <a:cxn ang="90">
                <a:pos x="21600" y="21600"/>
              </a:cxn>
              <a:cxn ang="270">
                <a:pos x="0" y="0"/>
              </a:cxn>
              <a:cxn ang="270">
                <a:pos x="21600" y="0"/>
              </a:cxn>
            </a:cxnLst>
            <a:pathLst>
              <a:path w="21600" h="21600" fill="none">
                <a:moveTo>
                  <a:pt x="21600" y="21600"/>
                </a:moveTo>
                <a:cubicBezTo>
                  <a:pt x="9671" y="21600"/>
                  <a:pt x="0" y="11929"/>
                  <a:pt x="0" y="0"/>
                </a:cubicBezTo>
              </a:path>
              <a:path w="21600" h="21600" stroke="0">
                <a:moveTo>
                  <a:pt x="21600" y="21600"/>
                </a:moveTo>
                <a:cubicBezTo>
                  <a:pt x="9671" y="21600"/>
                  <a:pt x="0" y="11929"/>
                  <a:pt x="0" y="0"/>
                </a:cubicBezTo>
                <a:lnTo>
                  <a:pt x="21600" y="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576" name="直接连接符 288864"/>
          <p:cNvSpPr/>
          <p:nvPr/>
        </p:nvSpPr>
        <p:spPr>
          <a:xfrm flipV="1">
            <a:off x="6477000" y="2349500"/>
            <a:ext cx="0" cy="177800"/>
          </a:xfrm>
          <a:prstGeom prst="line">
            <a:avLst/>
          </a:prstGeom>
          <a:ln w="25400" cap="flat" cmpd="sng">
            <a:solidFill>
              <a:schemeClr val="tx1"/>
            </a:solidFill>
            <a:prstDash val="solid"/>
            <a:round/>
            <a:headEnd type="none" w="med" len="med"/>
            <a:tailEnd type="none" w="med" len="med"/>
          </a:ln>
        </p:spPr>
      </p:sp>
      <p:sp>
        <p:nvSpPr>
          <p:cNvPr id="148577" name="直接连接符 288865"/>
          <p:cNvSpPr/>
          <p:nvPr/>
        </p:nvSpPr>
        <p:spPr>
          <a:xfrm flipV="1">
            <a:off x="2133600" y="1130300"/>
            <a:ext cx="0" cy="558800"/>
          </a:xfrm>
          <a:prstGeom prst="line">
            <a:avLst/>
          </a:prstGeom>
          <a:ln w="25400" cap="flat" cmpd="sng">
            <a:solidFill>
              <a:schemeClr val="tx1"/>
            </a:solidFill>
            <a:prstDash val="solid"/>
            <a:round/>
            <a:headEnd type="none" w="med" len="med"/>
            <a:tailEnd type="none" w="med" len="med"/>
          </a:ln>
        </p:spPr>
      </p:sp>
      <p:sp>
        <p:nvSpPr>
          <p:cNvPr id="148578" name="矩形 288866"/>
          <p:cNvSpPr/>
          <p:nvPr/>
        </p:nvSpPr>
        <p:spPr>
          <a:xfrm>
            <a:off x="6691313" y="1066800"/>
            <a:ext cx="8540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op&lt;0&gt;</a:t>
            </a:r>
            <a:endParaRPr lang="en-US" altLang="zh-CN" sz="1800">
              <a:latin typeface="Arial" panose="020B0604020202020204" pitchFamily="34" charset="0"/>
              <a:ea typeface="宋体" panose="02010600030101010101" pitchFamily="2" charset="-122"/>
            </a:endParaRPr>
          </a:p>
        </p:txBody>
      </p:sp>
      <p:sp>
        <p:nvSpPr>
          <p:cNvPr id="148579" name="矩形 288867"/>
          <p:cNvSpPr/>
          <p:nvPr/>
        </p:nvSpPr>
        <p:spPr>
          <a:xfrm>
            <a:off x="5929313" y="685800"/>
            <a:ext cx="8350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8580" name="矩形 288868"/>
          <p:cNvSpPr/>
          <p:nvPr/>
        </p:nvSpPr>
        <p:spPr>
          <a:xfrm>
            <a:off x="6462713" y="6254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81" name="矩形 288869"/>
          <p:cNvSpPr/>
          <p:nvPr/>
        </p:nvSpPr>
        <p:spPr>
          <a:xfrm>
            <a:off x="6615113" y="7016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82" name="矩形 288870"/>
          <p:cNvSpPr/>
          <p:nvPr/>
        </p:nvSpPr>
        <p:spPr>
          <a:xfrm>
            <a:off x="519113" y="685800"/>
            <a:ext cx="8350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8583" name="矩形 288871"/>
          <p:cNvSpPr/>
          <p:nvPr/>
        </p:nvSpPr>
        <p:spPr>
          <a:xfrm>
            <a:off x="1052513" y="6254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84" name="矩形 288872"/>
          <p:cNvSpPr/>
          <p:nvPr/>
        </p:nvSpPr>
        <p:spPr>
          <a:xfrm>
            <a:off x="1204913" y="7016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85" name="矩形 288873"/>
          <p:cNvSpPr/>
          <p:nvPr/>
        </p:nvSpPr>
        <p:spPr>
          <a:xfrm>
            <a:off x="1281113" y="1066800"/>
            <a:ext cx="5746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8586" name="矩形 288874"/>
          <p:cNvSpPr/>
          <p:nvPr/>
        </p:nvSpPr>
        <p:spPr>
          <a:xfrm>
            <a:off x="1585913" y="685800"/>
            <a:ext cx="8350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8587" name="矩形 288875"/>
          <p:cNvSpPr/>
          <p:nvPr/>
        </p:nvSpPr>
        <p:spPr>
          <a:xfrm>
            <a:off x="2119313" y="6254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88" name="矩形 288876"/>
          <p:cNvSpPr/>
          <p:nvPr/>
        </p:nvSpPr>
        <p:spPr>
          <a:xfrm>
            <a:off x="2271713" y="7016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89" name="矩形 288877"/>
          <p:cNvSpPr/>
          <p:nvPr/>
        </p:nvSpPr>
        <p:spPr>
          <a:xfrm>
            <a:off x="2347913" y="1066800"/>
            <a:ext cx="5746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8590" name="矩形 288878"/>
          <p:cNvSpPr/>
          <p:nvPr/>
        </p:nvSpPr>
        <p:spPr>
          <a:xfrm>
            <a:off x="2652713" y="685800"/>
            <a:ext cx="8350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8591" name="矩形 288879"/>
          <p:cNvSpPr/>
          <p:nvPr/>
        </p:nvSpPr>
        <p:spPr>
          <a:xfrm>
            <a:off x="3186113" y="6254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92" name="矩形 288880"/>
          <p:cNvSpPr/>
          <p:nvPr/>
        </p:nvSpPr>
        <p:spPr>
          <a:xfrm>
            <a:off x="3338513" y="7016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93" name="矩形 288881"/>
          <p:cNvSpPr/>
          <p:nvPr/>
        </p:nvSpPr>
        <p:spPr>
          <a:xfrm>
            <a:off x="3414713" y="1066800"/>
            <a:ext cx="5746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8594" name="矩形 288882"/>
          <p:cNvSpPr/>
          <p:nvPr/>
        </p:nvSpPr>
        <p:spPr>
          <a:xfrm>
            <a:off x="3719513" y="685800"/>
            <a:ext cx="8350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8595" name="矩形 288883"/>
          <p:cNvSpPr/>
          <p:nvPr/>
        </p:nvSpPr>
        <p:spPr>
          <a:xfrm>
            <a:off x="4252913" y="6254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96" name="矩形 288884"/>
          <p:cNvSpPr/>
          <p:nvPr/>
        </p:nvSpPr>
        <p:spPr>
          <a:xfrm>
            <a:off x="4405313" y="7016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597" name="矩形 288885"/>
          <p:cNvSpPr/>
          <p:nvPr/>
        </p:nvSpPr>
        <p:spPr>
          <a:xfrm>
            <a:off x="4481513" y="1066800"/>
            <a:ext cx="5746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8598" name="矩形 288886"/>
          <p:cNvSpPr/>
          <p:nvPr/>
        </p:nvSpPr>
        <p:spPr>
          <a:xfrm>
            <a:off x="4786313" y="685800"/>
            <a:ext cx="83502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op&lt;5</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48599" name="矩形 288887"/>
          <p:cNvSpPr/>
          <p:nvPr/>
        </p:nvSpPr>
        <p:spPr>
          <a:xfrm>
            <a:off x="5319713" y="6254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600" name="矩形 288888"/>
          <p:cNvSpPr/>
          <p:nvPr/>
        </p:nvSpPr>
        <p:spPr>
          <a:xfrm>
            <a:off x="5472113" y="701675"/>
            <a:ext cx="269875" cy="515938"/>
          </a:xfrm>
          <a:prstGeom prst="rect">
            <a:avLst/>
          </a:prstGeom>
          <a:noFill/>
          <a:ln w="12700">
            <a:noFill/>
          </a:ln>
        </p:spPr>
        <p:txBody>
          <a:bodyPr wrap="none" lIns="90488" tIns="44450" rIns="90488" bIns="44450" anchor="t" anchorCtr="0">
            <a:spAutoFit/>
          </a:bodyPr>
          <a:p>
            <a:pPr eaLnBrk="0" hangingPunct="0"/>
            <a:r>
              <a:rPr lang="zh-CN" altLang="en-US" sz="2800" dirty="0">
                <a:latin typeface="Times New Roman" panose="02020603050405020304" pitchFamily="18" charset="0"/>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48601" name="矩形 288889"/>
          <p:cNvSpPr/>
          <p:nvPr/>
        </p:nvSpPr>
        <p:spPr>
          <a:xfrm>
            <a:off x="5548313" y="1066800"/>
            <a:ext cx="5746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&lt;0&gt;</a:t>
            </a:r>
            <a:endParaRPr lang="zh-CN" altLang="en-US" sz="1800" dirty="0">
              <a:latin typeface="Arial" panose="020B0604020202020204" pitchFamily="34" charset="0"/>
              <a:ea typeface="宋体" panose="02010600030101010101" pitchFamily="2" charset="-122"/>
            </a:endParaRPr>
          </a:p>
        </p:txBody>
      </p:sp>
      <p:sp>
        <p:nvSpPr>
          <p:cNvPr id="148602" name="矩形 288890"/>
          <p:cNvSpPr/>
          <p:nvPr/>
        </p:nvSpPr>
        <p:spPr>
          <a:xfrm>
            <a:off x="366713" y="2362200"/>
            <a:ext cx="8921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R-type</a:t>
            </a:r>
            <a:endParaRPr lang="en-US" altLang="zh-CN" sz="1800">
              <a:latin typeface="Arial" panose="020B0604020202020204" pitchFamily="34" charset="0"/>
              <a:ea typeface="宋体" panose="02010600030101010101" pitchFamily="2" charset="-122"/>
            </a:endParaRPr>
          </a:p>
        </p:txBody>
      </p:sp>
      <p:sp>
        <p:nvSpPr>
          <p:cNvPr id="148603" name="矩形 288891"/>
          <p:cNvSpPr/>
          <p:nvPr/>
        </p:nvSpPr>
        <p:spPr>
          <a:xfrm>
            <a:off x="1814513" y="23622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ori</a:t>
            </a:r>
            <a:endParaRPr lang="en-US" altLang="zh-CN" sz="1800">
              <a:latin typeface="Arial" panose="020B0604020202020204" pitchFamily="34" charset="0"/>
              <a:ea typeface="宋体" panose="02010600030101010101" pitchFamily="2" charset="-122"/>
            </a:endParaRPr>
          </a:p>
        </p:txBody>
      </p:sp>
      <p:sp>
        <p:nvSpPr>
          <p:cNvPr id="148604" name="矩形 288892"/>
          <p:cNvSpPr/>
          <p:nvPr/>
        </p:nvSpPr>
        <p:spPr>
          <a:xfrm>
            <a:off x="2957513" y="23622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lw</a:t>
            </a:r>
            <a:endParaRPr lang="en-US" altLang="zh-CN" sz="1800">
              <a:latin typeface="Arial" panose="020B0604020202020204" pitchFamily="34" charset="0"/>
              <a:ea typeface="宋体" panose="02010600030101010101" pitchFamily="2" charset="-122"/>
            </a:endParaRPr>
          </a:p>
        </p:txBody>
      </p:sp>
      <p:sp>
        <p:nvSpPr>
          <p:cNvPr id="148605" name="矩形 288893"/>
          <p:cNvSpPr/>
          <p:nvPr/>
        </p:nvSpPr>
        <p:spPr>
          <a:xfrm>
            <a:off x="3948113" y="2362200"/>
            <a:ext cx="4857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sw</a:t>
            </a:r>
            <a:endParaRPr lang="en-US" altLang="zh-CN" sz="1800">
              <a:latin typeface="Arial" panose="020B0604020202020204" pitchFamily="34" charset="0"/>
              <a:ea typeface="宋体" panose="02010600030101010101" pitchFamily="2" charset="-122"/>
            </a:endParaRPr>
          </a:p>
        </p:txBody>
      </p:sp>
      <p:sp>
        <p:nvSpPr>
          <p:cNvPr id="148606" name="矩形 288894"/>
          <p:cNvSpPr/>
          <p:nvPr/>
        </p:nvSpPr>
        <p:spPr>
          <a:xfrm>
            <a:off x="4938713" y="2362200"/>
            <a:ext cx="5873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beq</a:t>
            </a:r>
            <a:endParaRPr lang="en-US" altLang="zh-CN" sz="1800">
              <a:latin typeface="Arial" panose="020B0604020202020204" pitchFamily="34" charset="0"/>
              <a:ea typeface="宋体" panose="02010600030101010101" pitchFamily="2" charset="-122"/>
            </a:endParaRPr>
          </a:p>
        </p:txBody>
      </p:sp>
      <p:sp>
        <p:nvSpPr>
          <p:cNvPr id="148607" name="矩形 288895"/>
          <p:cNvSpPr/>
          <p:nvPr/>
        </p:nvSpPr>
        <p:spPr>
          <a:xfrm>
            <a:off x="5853113" y="2362200"/>
            <a:ext cx="7270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jump</a:t>
            </a:r>
            <a:endParaRPr lang="en-US" altLang="zh-CN" sz="1800">
              <a:latin typeface="Arial" panose="020B0604020202020204" pitchFamily="34" charset="0"/>
              <a:ea typeface="宋体" panose="02010600030101010101" pitchFamily="2" charset="-122"/>
            </a:endParaRPr>
          </a:p>
        </p:txBody>
      </p:sp>
      <p:sp>
        <p:nvSpPr>
          <p:cNvPr id="148608" name="任意多边形 288896"/>
          <p:cNvSpPr/>
          <p:nvPr/>
        </p:nvSpPr>
        <p:spPr>
          <a:xfrm>
            <a:off x="7010400" y="2592388"/>
            <a:ext cx="520700" cy="228600"/>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09" name="任意多边形 288897"/>
          <p:cNvSpPr/>
          <p:nvPr/>
        </p:nvSpPr>
        <p:spPr>
          <a:xfrm>
            <a:off x="6977063" y="2605088"/>
            <a:ext cx="96837" cy="215900"/>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10" name="直接连接符 288898"/>
          <p:cNvSpPr/>
          <p:nvPr/>
        </p:nvSpPr>
        <p:spPr>
          <a:xfrm flipH="1">
            <a:off x="6616700" y="2819400"/>
            <a:ext cx="482600" cy="0"/>
          </a:xfrm>
          <a:prstGeom prst="line">
            <a:avLst/>
          </a:prstGeom>
          <a:ln w="25400" cap="flat" cmpd="sng">
            <a:solidFill>
              <a:schemeClr val="tx1"/>
            </a:solidFill>
            <a:prstDash val="solid"/>
            <a:round/>
            <a:headEnd type="none" w="med" len="med"/>
            <a:tailEnd type="none" w="med" len="med"/>
          </a:ln>
        </p:spPr>
      </p:sp>
      <p:sp>
        <p:nvSpPr>
          <p:cNvPr id="148611" name="直接连接符 288899"/>
          <p:cNvSpPr/>
          <p:nvPr/>
        </p:nvSpPr>
        <p:spPr>
          <a:xfrm flipH="1">
            <a:off x="6616700" y="2971800"/>
            <a:ext cx="406400" cy="0"/>
          </a:xfrm>
          <a:prstGeom prst="line">
            <a:avLst/>
          </a:prstGeom>
          <a:ln w="25400" cap="flat" cmpd="sng">
            <a:solidFill>
              <a:schemeClr val="tx1"/>
            </a:solidFill>
            <a:prstDash val="solid"/>
            <a:round/>
            <a:headEnd type="none" w="med" len="med"/>
            <a:tailEnd type="none" w="med" len="med"/>
          </a:ln>
        </p:spPr>
      </p:sp>
      <p:sp>
        <p:nvSpPr>
          <p:cNvPr id="148612" name="直接连接符 288900"/>
          <p:cNvSpPr/>
          <p:nvPr/>
        </p:nvSpPr>
        <p:spPr>
          <a:xfrm>
            <a:off x="7556500" y="2819400"/>
            <a:ext cx="244475" cy="0"/>
          </a:xfrm>
          <a:prstGeom prst="line">
            <a:avLst/>
          </a:prstGeom>
          <a:ln w="25400" cap="flat" cmpd="sng">
            <a:solidFill>
              <a:schemeClr val="tx1"/>
            </a:solidFill>
            <a:prstDash val="solid"/>
            <a:round/>
            <a:headEnd type="none" w="med" len="med"/>
            <a:tailEnd type="none" w="med" len="med"/>
          </a:ln>
        </p:spPr>
      </p:sp>
      <p:sp>
        <p:nvSpPr>
          <p:cNvPr id="148613" name="直接连接符 288901"/>
          <p:cNvSpPr/>
          <p:nvPr/>
        </p:nvSpPr>
        <p:spPr>
          <a:xfrm>
            <a:off x="6477000" y="2451100"/>
            <a:ext cx="0" cy="4089400"/>
          </a:xfrm>
          <a:prstGeom prst="line">
            <a:avLst/>
          </a:prstGeom>
          <a:ln w="25400" cap="flat" cmpd="sng">
            <a:solidFill>
              <a:schemeClr val="tx1"/>
            </a:solidFill>
            <a:prstDash val="solid"/>
            <a:round/>
            <a:headEnd type="none" w="med" len="med"/>
            <a:tailEnd type="none" w="med" len="med"/>
          </a:ln>
        </p:spPr>
      </p:sp>
      <p:sp>
        <p:nvSpPr>
          <p:cNvPr id="148614" name="直接连接符 288902"/>
          <p:cNvSpPr/>
          <p:nvPr/>
        </p:nvSpPr>
        <p:spPr>
          <a:xfrm>
            <a:off x="5410200" y="2451100"/>
            <a:ext cx="0" cy="4089400"/>
          </a:xfrm>
          <a:prstGeom prst="line">
            <a:avLst/>
          </a:prstGeom>
          <a:ln w="25400" cap="flat" cmpd="sng">
            <a:solidFill>
              <a:schemeClr val="tx1"/>
            </a:solidFill>
            <a:prstDash val="solid"/>
            <a:round/>
            <a:headEnd type="none" w="med" len="med"/>
            <a:tailEnd type="none" w="med" len="med"/>
          </a:ln>
        </p:spPr>
      </p:sp>
      <p:sp>
        <p:nvSpPr>
          <p:cNvPr id="148615" name="直接连接符 288903"/>
          <p:cNvSpPr/>
          <p:nvPr/>
        </p:nvSpPr>
        <p:spPr>
          <a:xfrm>
            <a:off x="4343400" y="2451100"/>
            <a:ext cx="0" cy="4089400"/>
          </a:xfrm>
          <a:prstGeom prst="line">
            <a:avLst/>
          </a:prstGeom>
          <a:ln w="25400" cap="flat" cmpd="sng">
            <a:solidFill>
              <a:schemeClr val="tx1"/>
            </a:solidFill>
            <a:prstDash val="solid"/>
            <a:round/>
            <a:headEnd type="none" w="med" len="med"/>
            <a:tailEnd type="none" w="med" len="med"/>
          </a:ln>
        </p:spPr>
      </p:sp>
      <p:sp>
        <p:nvSpPr>
          <p:cNvPr id="148616" name="直接连接符 288904"/>
          <p:cNvSpPr/>
          <p:nvPr/>
        </p:nvSpPr>
        <p:spPr>
          <a:xfrm>
            <a:off x="3276600" y="2451100"/>
            <a:ext cx="0" cy="4089400"/>
          </a:xfrm>
          <a:prstGeom prst="line">
            <a:avLst/>
          </a:prstGeom>
          <a:ln w="25400" cap="flat" cmpd="sng">
            <a:solidFill>
              <a:schemeClr val="tx1"/>
            </a:solidFill>
            <a:prstDash val="solid"/>
            <a:round/>
            <a:headEnd type="none" w="med" len="med"/>
            <a:tailEnd type="none" w="med" len="med"/>
          </a:ln>
        </p:spPr>
      </p:sp>
      <p:sp>
        <p:nvSpPr>
          <p:cNvPr id="148617" name="直接连接符 288905"/>
          <p:cNvSpPr/>
          <p:nvPr/>
        </p:nvSpPr>
        <p:spPr>
          <a:xfrm>
            <a:off x="2209800" y="2451100"/>
            <a:ext cx="0" cy="4089400"/>
          </a:xfrm>
          <a:prstGeom prst="line">
            <a:avLst/>
          </a:prstGeom>
          <a:ln w="25400" cap="flat" cmpd="sng">
            <a:solidFill>
              <a:schemeClr val="tx1"/>
            </a:solidFill>
            <a:prstDash val="solid"/>
            <a:round/>
            <a:headEnd type="none" w="med" len="med"/>
            <a:tailEnd type="none" w="med" len="med"/>
          </a:ln>
        </p:spPr>
      </p:sp>
      <p:sp>
        <p:nvSpPr>
          <p:cNvPr id="148618" name="直接连接符 288906"/>
          <p:cNvSpPr/>
          <p:nvPr/>
        </p:nvSpPr>
        <p:spPr>
          <a:xfrm>
            <a:off x="1143000" y="2451100"/>
            <a:ext cx="0" cy="4013200"/>
          </a:xfrm>
          <a:prstGeom prst="line">
            <a:avLst/>
          </a:prstGeom>
          <a:ln w="25400" cap="flat" cmpd="sng">
            <a:solidFill>
              <a:schemeClr val="tx1"/>
            </a:solidFill>
            <a:prstDash val="solid"/>
            <a:round/>
            <a:headEnd type="none" w="med" len="med"/>
            <a:tailEnd type="none" w="med" len="med"/>
          </a:ln>
        </p:spPr>
      </p:sp>
      <p:sp>
        <p:nvSpPr>
          <p:cNvPr id="148619" name="直接连接符 288907"/>
          <p:cNvSpPr/>
          <p:nvPr/>
        </p:nvSpPr>
        <p:spPr>
          <a:xfrm flipH="1">
            <a:off x="1130300" y="2667000"/>
            <a:ext cx="5511800" cy="0"/>
          </a:xfrm>
          <a:prstGeom prst="line">
            <a:avLst/>
          </a:prstGeom>
          <a:ln w="25400" cap="flat" cmpd="sng">
            <a:solidFill>
              <a:schemeClr val="tx1"/>
            </a:solidFill>
            <a:prstDash val="solid"/>
            <a:round/>
            <a:headEnd type="none" w="med" len="med"/>
            <a:tailEnd type="none" w="med" len="med"/>
          </a:ln>
        </p:spPr>
      </p:sp>
      <p:sp>
        <p:nvSpPr>
          <p:cNvPr id="148620" name="直接连接符 288908"/>
          <p:cNvSpPr/>
          <p:nvPr/>
        </p:nvSpPr>
        <p:spPr>
          <a:xfrm flipH="1">
            <a:off x="2197100" y="2819400"/>
            <a:ext cx="4445000" cy="0"/>
          </a:xfrm>
          <a:prstGeom prst="line">
            <a:avLst/>
          </a:prstGeom>
          <a:ln w="25400" cap="flat" cmpd="sng">
            <a:solidFill>
              <a:schemeClr val="tx1"/>
            </a:solidFill>
            <a:prstDash val="solid"/>
            <a:round/>
            <a:headEnd type="none" w="med" len="med"/>
            <a:tailEnd type="none" w="med" len="med"/>
          </a:ln>
        </p:spPr>
      </p:sp>
      <p:sp>
        <p:nvSpPr>
          <p:cNvPr id="148621" name="直接连接符 288909"/>
          <p:cNvSpPr/>
          <p:nvPr/>
        </p:nvSpPr>
        <p:spPr>
          <a:xfrm flipH="1">
            <a:off x="3263900" y="2971800"/>
            <a:ext cx="3378200" cy="0"/>
          </a:xfrm>
          <a:prstGeom prst="line">
            <a:avLst/>
          </a:prstGeom>
          <a:ln w="25400" cap="flat" cmpd="sng">
            <a:solidFill>
              <a:schemeClr val="tx1"/>
            </a:solidFill>
            <a:prstDash val="solid"/>
            <a:round/>
            <a:headEnd type="none" w="med" len="med"/>
            <a:tailEnd type="none" w="med" len="med"/>
          </a:ln>
        </p:spPr>
      </p:sp>
      <p:sp>
        <p:nvSpPr>
          <p:cNvPr id="148622" name="直接连接符 288910"/>
          <p:cNvSpPr/>
          <p:nvPr/>
        </p:nvSpPr>
        <p:spPr>
          <a:xfrm flipH="1">
            <a:off x="6616700" y="2667000"/>
            <a:ext cx="406400" cy="0"/>
          </a:xfrm>
          <a:prstGeom prst="line">
            <a:avLst/>
          </a:prstGeom>
          <a:ln w="25400" cap="flat" cmpd="sng">
            <a:solidFill>
              <a:schemeClr val="tx1"/>
            </a:solidFill>
            <a:prstDash val="solid"/>
            <a:round/>
            <a:headEnd type="none" w="med" len="med"/>
            <a:tailEnd type="none" w="med" len="med"/>
          </a:ln>
        </p:spPr>
      </p:sp>
      <p:sp>
        <p:nvSpPr>
          <p:cNvPr id="148623" name="直接连接符 288911"/>
          <p:cNvSpPr/>
          <p:nvPr/>
        </p:nvSpPr>
        <p:spPr>
          <a:xfrm>
            <a:off x="7785100" y="2819400"/>
            <a:ext cx="812800" cy="0"/>
          </a:xfrm>
          <a:prstGeom prst="line">
            <a:avLst/>
          </a:prstGeom>
          <a:ln w="25400" cap="flat" cmpd="sng">
            <a:solidFill>
              <a:schemeClr val="tx1"/>
            </a:solidFill>
            <a:prstDash val="solid"/>
            <a:round/>
            <a:headEnd type="none" w="med" len="med"/>
            <a:tailEnd type="triangle" w="med" len="med"/>
          </a:ln>
        </p:spPr>
      </p:sp>
      <p:sp>
        <p:nvSpPr>
          <p:cNvPr id="148624" name="矩形 288912"/>
          <p:cNvSpPr/>
          <p:nvPr/>
        </p:nvSpPr>
        <p:spPr>
          <a:xfrm>
            <a:off x="7605713" y="2514600"/>
            <a:ext cx="11842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RegWrite</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8625" name="椭圆 288913"/>
          <p:cNvSpPr/>
          <p:nvPr/>
        </p:nvSpPr>
        <p:spPr>
          <a:xfrm>
            <a:off x="1073150" y="25971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26" name="椭圆 288914"/>
          <p:cNvSpPr/>
          <p:nvPr/>
        </p:nvSpPr>
        <p:spPr>
          <a:xfrm>
            <a:off x="2139950" y="27495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27" name="椭圆 288915"/>
          <p:cNvSpPr/>
          <p:nvPr/>
        </p:nvSpPr>
        <p:spPr>
          <a:xfrm>
            <a:off x="3206750" y="29019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28" name="任意多边形 288916"/>
          <p:cNvSpPr/>
          <p:nvPr/>
        </p:nvSpPr>
        <p:spPr>
          <a:xfrm rot="10800000">
            <a:off x="7024688" y="2833688"/>
            <a:ext cx="520700" cy="215900"/>
          </a:xfrm>
          <a:custGeom>
            <a:avLst/>
            <a:gdLst/>
            <a:ahLst/>
            <a:cxnLst>
              <a:cxn ang="90">
                <a:pos x="0" y="21600"/>
              </a:cxn>
              <a:cxn ang="270">
                <a:pos x="21534" y="0"/>
              </a:cxn>
              <a:cxn ang="90">
                <a:pos x="21600" y="21600"/>
              </a:cxn>
            </a:cxnLst>
            <a:pathLst>
              <a:path w="21600" h="21600" fill="none">
                <a:moveTo>
                  <a:pt x="0" y="21600"/>
                </a:moveTo>
                <a:cubicBezTo>
                  <a:pt x="0" y="9693"/>
                  <a:pt x="9635" y="36"/>
                  <a:pt x="21534" y="0"/>
                </a:cubicBezTo>
              </a:path>
              <a:path w="21600" h="21600" stroke="0">
                <a:moveTo>
                  <a:pt x="0" y="21600"/>
                </a:moveTo>
                <a:cubicBezTo>
                  <a:pt x="0" y="9693"/>
                  <a:pt x="9635" y="36"/>
                  <a:pt x="21534" y="0"/>
                </a:cubicBezTo>
                <a:lnTo>
                  <a:pt x="2160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29" name="任意多边形 288917"/>
          <p:cNvSpPr/>
          <p:nvPr/>
        </p:nvSpPr>
        <p:spPr>
          <a:xfrm rot="10800000">
            <a:off x="6948488" y="2833688"/>
            <a:ext cx="139700" cy="215900"/>
          </a:xfrm>
          <a:custGeom>
            <a:avLst/>
            <a:gdLst/>
            <a:ahLst/>
            <a:cxnLst>
              <a:cxn ang="180">
                <a:pos x="0" y="21599"/>
              </a:cxn>
              <a:cxn ang="270">
                <a:pos x="21354" y="0"/>
              </a:cxn>
              <a:cxn ang="0">
                <a:pos x="21600" y="21599"/>
              </a:cxn>
            </a:cxnLst>
            <a:pathLst>
              <a:path w="21600" h="21599" fill="none">
                <a:moveTo>
                  <a:pt x="0" y="21599"/>
                </a:moveTo>
                <a:cubicBezTo>
                  <a:pt x="0" y="9752"/>
                  <a:pt x="9538" y="132"/>
                  <a:pt x="21353" y="0"/>
                </a:cubicBezTo>
              </a:path>
              <a:path w="21600" h="21599" stroke="0">
                <a:moveTo>
                  <a:pt x="0" y="21599"/>
                </a:moveTo>
                <a:cubicBezTo>
                  <a:pt x="0" y="9752"/>
                  <a:pt x="9538" y="132"/>
                  <a:pt x="21353" y="0"/>
                </a:cubicBezTo>
                <a:lnTo>
                  <a:pt x="21600"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30" name="任意多边形 288918"/>
          <p:cNvSpPr/>
          <p:nvPr/>
        </p:nvSpPr>
        <p:spPr>
          <a:xfrm>
            <a:off x="7024688" y="3214688"/>
            <a:ext cx="520700" cy="215900"/>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31" name="任意多边形 288919"/>
          <p:cNvSpPr/>
          <p:nvPr/>
        </p:nvSpPr>
        <p:spPr>
          <a:xfrm>
            <a:off x="6948488" y="3214688"/>
            <a:ext cx="139700" cy="215900"/>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32" name="直接连接符 288920"/>
          <p:cNvSpPr/>
          <p:nvPr/>
        </p:nvSpPr>
        <p:spPr>
          <a:xfrm flipH="1">
            <a:off x="6630988" y="3429000"/>
            <a:ext cx="482600" cy="0"/>
          </a:xfrm>
          <a:prstGeom prst="line">
            <a:avLst/>
          </a:prstGeom>
          <a:ln w="25400" cap="flat" cmpd="sng">
            <a:solidFill>
              <a:schemeClr val="tx1"/>
            </a:solidFill>
            <a:prstDash val="solid"/>
            <a:round/>
            <a:headEnd type="none" w="med" len="med"/>
            <a:tailEnd type="none" w="med" len="med"/>
          </a:ln>
        </p:spPr>
      </p:sp>
      <p:sp>
        <p:nvSpPr>
          <p:cNvPr id="148633" name="直接连接符 288921"/>
          <p:cNvSpPr/>
          <p:nvPr/>
        </p:nvSpPr>
        <p:spPr>
          <a:xfrm>
            <a:off x="7570788" y="3429000"/>
            <a:ext cx="203200" cy="0"/>
          </a:xfrm>
          <a:prstGeom prst="line">
            <a:avLst/>
          </a:prstGeom>
          <a:ln w="25400" cap="flat" cmpd="sng">
            <a:solidFill>
              <a:schemeClr val="tx1"/>
            </a:solidFill>
            <a:prstDash val="solid"/>
            <a:round/>
            <a:headEnd type="none" w="med" len="med"/>
            <a:tailEnd type="none" w="med" len="med"/>
          </a:ln>
        </p:spPr>
      </p:sp>
      <p:sp>
        <p:nvSpPr>
          <p:cNvPr id="148634" name="直接连接符 288922"/>
          <p:cNvSpPr/>
          <p:nvPr/>
        </p:nvSpPr>
        <p:spPr>
          <a:xfrm flipH="1">
            <a:off x="6630988" y="3276600"/>
            <a:ext cx="406400" cy="0"/>
          </a:xfrm>
          <a:prstGeom prst="line">
            <a:avLst/>
          </a:prstGeom>
          <a:ln w="25400" cap="flat" cmpd="sng">
            <a:solidFill>
              <a:schemeClr val="tx1"/>
            </a:solidFill>
            <a:prstDash val="solid"/>
            <a:round/>
            <a:headEnd type="none" w="med" len="med"/>
            <a:tailEnd type="none" w="med" len="med"/>
          </a:ln>
        </p:spPr>
      </p:sp>
      <p:sp>
        <p:nvSpPr>
          <p:cNvPr id="148635" name="任意多边形 288923"/>
          <p:cNvSpPr/>
          <p:nvPr/>
        </p:nvSpPr>
        <p:spPr>
          <a:xfrm rot="10800000">
            <a:off x="7038975" y="3443288"/>
            <a:ext cx="520700" cy="215900"/>
          </a:xfrm>
          <a:custGeom>
            <a:avLst/>
            <a:gdLst/>
            <a:ahLst/>
            <a:cxnLst>
              <a:cxn ang="90">
                <a:pos x="0" y="21600"/>
              </a:cxn>
              <a:cxn ang="270">
                <a:pos x="21534" y="0"/>
              </a:cxn>
              <a:cxn ang="90">
                <a:pos x="21600" y="21600"/>
              </a:cxn>
            </a:cxnLst>
            <a:pathLst>
              <a:path w="21600" h="21600" fill="none">
                <a:moveTo>
                  <a:pt x="0" y="21600"/>
                </a:moveTo>
                <a:cubicBezTo>
                  <a:pt x="0" y="9693"/>
                  <a:pt x="9635" y="36"/>
                  <a:pt x="21534" y="0"/>
                </a:cubicBezTo>
              </a:path>
              <a:path w="21600" h="21600" stroke="0">
                <a:moveTo>
                  <a:pt x="0" y="21600"/>
                </a:moveTo>
                <a:cubicBezTo>
                  <a:pt x="0" y="9693"/>
                  <a:pt x="9635" y="36"/>
                  <a:pt x="21534" y="0"/>
                </a:cubicBezTo>
                <a:lnTo>
                  <a:pt x="2160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36" name="任意多边形 288924"/>
          <p:cNvSpPr/>
          <p:nvPr/>
        </p:nvSpPr>
        <p:spPr>
          <a:xfrm rot="10800000">
            <a:off x="6962775" y="3443288"/>
            <a:ext cx="139700" cy="215900"/>
          </a:xfrm>
          <a:custGeom>
            <a:avLst/>
            <a:gdLst/>
            <a:ahLst/>
            <a:cxnLst>
              <a:cxn ang="180">
                <a:pos x="0" y="21599"/>
              </a:cxn>
              <a:cxn ang="270">
                <a:pos x="21354" y="0"/>
              </a:cxn>
              <a:cxn ang="0">
                <a:pos x="21600" y="21599"/>
              </a:cxn>
            </a:cxnLst>
            <a:pathLst>
              <a:path w="21600" h="21599" fill="none">
                <a:moveTo>
                  <a:pt x="0" y="21599"/>
                </a:moveTo>
                <a:cubicBezTo>
                  <a:pt x="0" y="9752"/>
                  <a:pt x="9538" y="132"/>
                  <a:pt x="21353" y="0"/>
                </a:cubicBezTo>
              </a:path>
              <a:path w="21600" h="21599" stroke="0">
                <a:moveTo>
                  <a:pt x="0" y="21599"/>
                </a:moveTo>
                <a:cubicBezTo>
                  <a:pt x="0" y="9752"/>
                  <a:pt x="9538" y="132"/>
                  <a:pt x="21353" y="0"/>
                </a:cubicBezTo>
                <a:lnTo>
                  <a:pt x="21600"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grpSp>
        <p:nvGrpSpPr>
          <p:cNvPr id="148637" name="组合 288925"/>
          <p:cNvGrpSpPr/>
          <p:nvPr/>
        </p:nvGrpSpPr>
        <p:grpSpPr>
          <a:xfrm>
            <a:off x="6692900" y="5195888"/>
            <a:ext cx="1066800" cy="444500"/>
            <a:chOff x="4216" y="3273"/>
            <a:chExt cx="672" cy="280"/>
          </a:xfrm>
        </p:grpSpPr>
        <p:sp>
          <p:nvSpPr>
            <p:cNvPr id="148638" name="任意多边形 288926"/>
            <p:cNvSpPr/>
            <p:nvPr/>
          </p:nvSpPr>
          <p:spPr>
            <a:xfrm>
              <a:off x="4416" y="3273"/>
              <a:ext cx="328" cy="136"/>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39" name="任意多边形 288927"/>
            <p:cNvSpPr/>
            <p:nvPr/>
          </p:nvSpPr>
          <p:spPr>
            <a:xfrm>
              <a:off x="4368" y="3273"/>
              <a:ext cx="88" cy="136"/>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40" name="直接连接符 288928"/>
            <p:cNvSpPr/>
            <p:nvPr/>
          </p:nvSpPr>
          <p:spPr>
            <a:xfrm flipH="1">
              <a:off x="4216" y="3456"/>
              <a:ext cx="256" cy="0"/>
            </a:xfrm>
            <a:prstGeom prst="line">
              <a:avLst/>
            </a:prstGeom>
            <a:ln w="25400" cap="flat" cmpd="sng">
              <a:solidFill>
                <a:schemeClr val="tx1"/>
              </a:solidFill>
              <a:prstDash val="solid"/>
              <a:round/>
              <a:headEnd type="none" w="med" len="med"/>
              <a:tailEnd type="none" w="med" len="med"/>
            </a:ln>
          </p:spPr>
        </p:sp>
        <p:sp>
          <p:nvSpPr>
            <p:cNvPr id="148641" name="直接连接符 288929"/>
            <p:cNvSpPr/>
            <p:nvPr/>
          </p:nvSpPr>
          <p:spPr>
            <a:xfrm>
              <a:off x="4760" y="3408"/>
              <a:ext cx="128" cy="0"/>
            </a:xfrm>
            <a:prstGeom prst="line">
              <a:avLst/>
            </a:prstGeom>
            <a:ln w="25400" cap="flat" cmpd="sng">
              <a:solidFill>
                <a:schemeClr val="tx1"/>
              </a:solidFill>
              <a:prstDash val="solid"/>
              <a:round/>
              <a:headEnd type="none" w="med" len="med"/>
              <a:tailEnd type="none" w="med" len="med"/>
            </a:ln>
          </p:spPr>
        </p:sp>
        <p:sp>
          <p:nvSpPr>
            <p:cNvPr id="148642" name="直接连接符 288930"/>
            <p:cNvSpPr/>
            <p:nvPr/>
          </p:nvSpPr>
          <p:spPr>
            <a:xfrm flipH="1">
              <a:off x="4216" y="3360"/>
              <a:ext cx="256" cy="0"/>
            </a:xfrm>
            <a:prstGeom prst="line">
              <a:avLst/>
            </a:prstGeom>
            <a:ln w="25400" cap="flat" cmpd="sng">
              <a:solidFill>
                <a:schemeClr val="tx1"/>
              </a:solidFill>
              <a:prstDash val="solid"/>
              <a:round/>
              <a:headEnd type="none" w="med" len="med"/>
              <a:tailEnd type="none" w="med" len="med"/>
            </a:ln>
          </p:spPr>
        </p:sp>
        <p:sp>
          <p:nvSpPr>
            <p:cNvPr id="148643" name="任意多边形 288931"/>
            <p:cNvSpPr/>
            <p:nvPr/>
          </p:nvSpPr>
          <p:spPr>
            <a:xfrm rot="10800000">
              <a:off x="4425" y="3417"/>
              <a:ext cx="328" cy="136"/>
            </a:xfrm>
            <a:custGeom>
              <a:avLst/>
              <a:gdLst/>
              <a:ahLst/>
              <a:cxnLst>
                <a:cxn ang="90">
                  <a:pos x="0" y="21600"/>
                </a:cxn>
                <a:cxn ang="270">
                  <a:pos x="21534" y="0"/>
                </a:cxn>
                <a:cxn ang="90">
                  <a:pos x="21600" y="21600"/>
                </a:cxn>
              </a:cxnLst>
              <a:pathLst>
                <a:path w="21600" h="21600" fill="none">
                  <a:moveTo>
                    <a:pt x="0" y="21600"/>
                  </a:moveTo>
                  <a:cubicBezTo>
                    <a:pt x="0" y="9693"/>
                    <a:pt x="9635" y="36"/>
                    <a:pt x="21534" y="0"/>
                  </a:cubicBezTo>
                </a:path>
                <a:path w="21600" h="21600" stroke="0">
                  <a:moveTo>
                    <a:pt x="0" y="21600"/>
                  </a:moveTo>
                  <a:cubicBezTo>
                    <a:pt x="0" y="9693"/>
                    <a:pt x="9635" y="36"/>
                    <a:pt x="21534" y="0"/>
                  </a:cubicBezTo>
                  <a:lnTo>
                    <a:pt x="21600"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48644" name="任意多边形 288932"/>
            <p:cNvSpPr/>
            <p:nvPr/>
          </p:nvSpPr>
          <p:spPr>
            <a:xfrm rot="10800000">
              <a:off x="4377" y="3417"/>
              <a:ext cx="88" cy="136"/>
            </a:xfrm>
            <a:custGeom>
              <a:avLst/>
              <a:gdLst/>
              <a:ahLst/>
              <a:cxnLst>
                <a:cxn ang="180">
                  <a:pos x="0" y="21599"/>
                </a:cxn>
                <a:cxn ang="270">
                  <a:pos x="21354" y="0"/>
                </a:cxn>
                <a:cxn ang="0">
                  <a:pos x="21600" y="21599"/>
                </a:cxn>
              </a:cxnLst>
              <a:pathLst>
                <a:path w="21600" h="21599" fill="none">
                  <a:moveTo>
                    <a:pt x="0" y="21599"/>
                  </a:moveTo>
                  <a:cubicBezTo>
                    <a:pt x="0" y="9752"/>
                    <a:pt x="9538" y="132"/>
                    <a:pt x="21353" y="0"/>
                  </a:cubicBezTo>
                </a:path>
                <a:path w="21600" h="21599" stroke="0">
                  <a:moveTo>
                    <a:pt x="0" y="21599"/>
                  </a:moveTo>
                  <a:cubicBezTo>
                    <a:pt x="0" y="9752"/>
                    <a:pt x="9538" y="132"/>
                    <a:pt x="21353" y="0"/>
                  </a:cubicBezTo>
                  <a:lnTo>
                    <a:pt x="21600"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grpSp>
      <p:sp>
        <p:nvSpPr>
          <p:cNvPr id="148645" name="直接连接符 288933"/>
          <p:cNvSpPr/>
          <p:nvPr/>
        </p:nvSpPr>
        <p:spPr>
          <a:xfrm flipH="1">
            <a:off x="3263900" y="4114800"/>
            <a:ext cx="5435600" cy="0"/>
          </a:xfrm>
          <a:prstGeom prst="line">
            <a:avLst/>
          </a:prstGeom>
          <a:ln w="25400" cap="flat" cmpd="sng">
            <a:solidFill>
              <a:schemeClr val="tx1"/>
            </a:solidFill>
            <a:prstDash val="solid"/>
            <a:round/>
            <a:headEnd type="triangle" w="med" len="med"/>
            <a:tailEnd type="none" w="med" len="med"/>
          </a:ln>
        </p:spPr>
      </p:sp>
      <p:sp>
        <p:nvSpPr>
          <p:cNvPr id="148646" name="直接连接符 288934"/>
          <p:cNvSpPr/>
          <p:nvPr/>
        </p:nvSpPr>
        <p:spPr>
          <a:xfrm>
            <a:off x="7785100" y="3429000"/>
            <a:ext cx="852488" cy="0"/>
          </a:xfrm>
          <a:prstGeom prst="line">
            <a:avLst/>
          </a:prstGeom>
          <a:ln w="25400" cap="flat" cmpd="sng">
            <a:solidFill>
              <a:schemeClr val="tx1"/>
            </a:solidFill>
            <a:prstDash val="solid"/>
            <a:round/>
            <a:headEnd type="none" w="med" len="med"/>
            <a:tailEnd type="triangle" w="med" len="med"/>
          </a:ln>
        </p:spPr>
      </p:sp>
      <p:sp>
        <p:nvSpPr>
          <p:cNvPr id="148647" name="矩形 288935"/>
          <p:cNvSpPr/>
          <p:nvPr/>
        </p:nvSpPr>
        <p:spPr>
          <a:xfrm>
            <a:off x="7529513" y="3124200"/>
            <a:ext cx="1079500" cy="363538"/>
          </a:xfrm>
          <a:prstGeom prst="rect">
            <a:avLst/>
          </a:prstGeom>
          <a:noFill/>
          <a:ln w="12700">
            <a:noFill/>
          </a:ln>
        </p:spPr>
        <p:txBody>
          <a:bodyPr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8648" name="矩形 288936"/>
          <p:cNvSpPr/>
          <p:nvPr/>
        </p:nvSpPr>
        <p:spPr>
          <a:xfrm>
            <a:off x="7377113" y="3810000"/>
            <a:ext cx="13493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MemtoReg</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8649" name="直接连接符 288937"/>
          <p:cNvSpPr/>
          <p:nvPr/>
        </p:nvSpPr>
        <p:spPr>
          <a:xfrm flipH="1">
            <a:off x="4330700" y="4419600"/>
            <a:ext cx="4368800" cy="0"/>
          </a:xfrm>
          <a:prstGeom prst="line">
            <a:avLst/>
          </a:prstGeom>
          <a:ln w="25400" cap="flat" cmpd="sng">
            <a:solidFill>
              <a:schemeClr val="tx1"/>
            </a:solidFill>
            <a:prstDash val="solid"/>
            <a:round/>
            <a:headEnd type="triangle" w="med" len="med"/>
            <a:tailEnd type="none" w="med" len="med"/>
          </a:ln>
        </p:spPr>
      </p:sp>
      <p:sp>
        <p:nvSpPr>
          <p:cNvPr id="148650" name="矩形 288938"/>
          <p:cNvSpPr/>
          <p:nvPr/>
        </p:nvSpPr>
        <p:spPr>
          <a:xfrm>
            <a:off x="7377113" y="4114800"/>
            <a:ext cx="12731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MemWrite</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8651" name="直接连接符 288939"/>
          <p:cNvSpPr/>
          <p:nvPr/>
        </p:nvSpPr>
        <p:spPr>
          <a:xfrm flipH="1">
            <a:off x="5397500" y="4724400"/>
            <a:ext cx="3302000" cy="0"/>
          </a:xfrm>
          <a:prstGeom prst="line">
            <a:avLst/>
          </a:prstGeom>
          <a:ln w="25400" cap="flat" cmpd="sng">
            <a:solidFill>
              <a:schemeClr val="tx1"/>
            </a:solidFill>
            <a:prstDash val="solid"/>
            <a:round/>
            <a:headEnd type="triangle" w="med" len="med"/>
            <a:tailEnd type="none" w="med" len="med"/>
          </a:ln>
        </p:spPr>
      </p:sp>
      <p:sp>
        <p:nvSpPr>
          <p:cNvPr id="148652" name="矩形 288940"/>
          <p:cNvSpPr/>
          <p:nvPr/>
        </p:nvSpPr>
        <p:spPr>
          <a:xfrm>
            <a:off x="7681913" y="4419600"/>
            <a:ext cx="9683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1"/>
                </a:solidFill>
                <a:latin typeface="Arial" panose="020B0604020202020204" pitchFamily="34" charset="0"/>
                <a:ea typeface="宋体" panose="02010600030101010101" pitchFamily="2" charset="-122"/>
              </a:rPr>
              <a:t>Branch</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8653" name="直接连接符 288941"/>
          <p:cNvSpPr/>
          <p:nvPr/>
        </p:nvSpPr>
        <p:spPr>
          <a:xfrm flipH="1">
            <a:off x="6464300" y="5029200"/>
            <a:ext cx="2235200" cy="0"/>
          </a:xfrm>
          <a:prstGeom prst="line">
            <a:avLst/>
          </a:prstGeom>
          <a:ln w="25400" cap="flat" cmpd="sng">
            <a:solidFill>
              <a:schemeClr val="tx1"/>
            </a:solidFill>
            <a:prstDash val="solid"/>
            <a:round/>
            <a:headEnd type="triangle" w="med" len="med"/>
            <a:tailEnd type="none" w="med" len="med"/>
          </a:ln>
        </p:spPr>
      </p:sp>
      <p:sp>
        <p:nvSpPr>
          <p:cNvPr id="148654" name="矩形 288942"/>
          <p:cNvSpPr/>
          <p:nvPr/>
        </p:nvSpPr>
        <p:spPr>
          <a:xfrm>
            <a:off x="7758113" y="4724400"/>
            <a:ext cx="7905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1"/>
                </a:solidFill>
                <a:latin typeface="Arial" panose="020B0604020202020204" pitchFamily="34" charset="0"/>
                <a:ea typeface="宋体" panose="02010600030101010101" pitchFamily="2" charset="-122"/>
              </a:rPr>
              <a:t>Jump</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8655" name="直接连接符 288943"/>
          <p:cNvSpPr/>
          <p:nvPr/>
        </p:nvSpPr>
        <p:spPr>
          <a:xfrm flipH="1">
            <a:off x="1214438" y="3783013"/>
            <a:ext cx="7569200" cy="0"/>
          </a:xfrm>
          <a:prstGeom prst="line">
            <a:avLst/>
          </a:prstGeom>
          <a:ln w="25400" cap="flat" cmpd="sng">
            <a:solidFill>
              <a:schemeClr val="tx1"/>
            </a:solidFill>
            <a:prstDash val="solid"/>
            <a:round/>
            <a:headEnd type="triangle" w="med" len="med"/>
            <a:tailEnd type="none" w="med" len="med"/>
          </a:ln>
        </p:spPr>
      </p:sp>
      <p:sp>
        <p:nvSpPr>
          <p:cNvPr id="148656" name="矩形 288944"/>
          <p:cNvSpPr/>
          <p:nvPr/>
        </p:nvSpPr>
        <p:spPr>
          <a:xfrm>
            <a:off x="7605713" y="3505200"/>
            <a:ext cx="9810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8657" name="直接连接符 288945"/>
          <p:cNvSpPr/>
          <p:nvPr/>
        </p:nvSpPr>
        <p:spPr>
          <a:xfrm>
            <a:off x="7715250" y="5410200"/>
            <a:ext cx="922338" cy="0"/>
          </a:xfrm>
          <a:prstGeom prst="line">
            <a:avLst/>
          </a:prstGeom>
          <a:ln w="25400" cap="flat" cmpd="sng">
            <a:solidFill>
              <a:schemeClr val="tx1"/>
            </a:solidFill>
            <a:prstDash val="solid"/>
            <a:round/>
            <a:headEnd type="none" w="med" len="med"/>
            <a:tailEnd type="triangle" w="med" len="med"/>
          </a:ln>
        </p:spPr>
      </p:sp>
      <p:sp>
        <p:nvSpPr>
          <p:cNvPr id="148658" name="矩形 288946"/>
          <p:cNvSpPr/>
          <p:nvPr/>
        </p:nvSpPr>
        <p:spPr>
          <a:xfrm>
            <a:off x="7681913" y="5105400"/>
            <a:ext cx="1079500" cy="363538"/>
          </a:xfrm>
          <a:prstGeom prst="rect">
            <a:avLst/>
          </a:prstGeom>
          <a:noFill/>
          <a:ln w="12700">
            <a:noFill/>
          </a:ln>
        </p:spPr>
        <p:txBody>
          <a:bodyPr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ExtOp</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48659" name="直接连接符 288947"/>
          <p:cNvSpPr/>
          <p:nvPr/>
        </p:nvSpPr>
        <p:spPr>
          <a:xfrm flipH="1">
            <a:off x="1130300" y="5791200"/>
            <a:ext cx="7569200" cy="0"/>
          </a:xfrm>
          <a:prstGeom prst="line">
            <a:avLst/>
          </a:prstGeom>
          <a:ln w="25400" cap="flat" cmpd="sng">
            <a:solidFill>
              <a:schemeClr val="tx1"/>
            </a:solidFill>
            <a:prstDash val="solid"/>
            <a:round/>
            <a:headEnd type="triangle" w="med" len="med"/>
            <a:tailEnd type="none" w="med" len="med"/>
          </a:ln>
        </p:spPr>
      </p:sp>
      <p:sp>
        <p:nvSpPr>
          <p:cNvPr id="148660" name="矩形 288948"/>
          <p:cNvSpPr/>
          <p:nvPr/>
        </p:nvSpPr>
        <p:spPr>
          <a:xfrm>
            <a:off x="7377113" y="5486400"/>
            <a:ext cx="13239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2"/>
                </a:solidFill>
                <a:latin typeface="Arial" panose="020B0604020202020204" pitchFamily="34" charset="0"/>
                <a:ea typeface="宋体" panose="02010600030101010101" pitchFamily="2" charset="-122"/>
              </a:rPr>
              <a:t>ALUop</a:t>
            </a:r>
            <a:r>
              <a:rPr lang="en-US" altLang="zh-CN" sz="1800">
                <a:solidFill>
                  <a:schemeClr val="accent2"/>
                </a:solidFill>
                <a:latin typeface="Arial" panose="020B0604020202020204" pitchFamily="34" charset="0"/>
                <a:ea typeface="宋体" panose="02010600030101010101" pitchFamily="2" charset="-122"/>
              </a:rPr>
              <a:t>&lt;2&gt;</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48661" name="直接连接符 288949"/>
          <p:cNvSpPr/>
          <p:nvPr/>
        </p:nvSpPr>
        <p:spPr>
          <a:xfrm flipH="1">
            <a:off x="2197100" y="6096000"/>
            <a:ext cx="6502400" cy="0"/>
          </a:xfrm>
          <a:prstGeom prst="line">
            <a:avLst/>
          </a:prstGeom>
          <a:ln w="25400" cap="flat" cmpd="sng">
            <a:solidFill>
              <a:schemeClr val="tx1"/>
            </a:solidFill>
            <a:prstDash val="solid"/>
            <a:round/>
            <a:headEnd type="triangle" w="med" len="med"/>
            <a:tailEnd type="none" w="med" len="med"/>
          </a:ln>
        </p:spPr>
      </p:sp>
      <p:sp>
        <p:nvSpPr>
          <p:cNvPr id="148662" name="矩形 288950"/>
          <p:cNvSpPr/>
          <p:nvPr/>
        </p:nvSpPr>
        <p:spPr>
          <a:xfrm>
            <a:off x="7377113" y="5791200"/>
            <a:ext cx="13239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2"/>
                </a:solidFill>
                <a:latin typeface="Arial" panose="020B0604020202020204" pitchFamily="34" charset="0"/>
                <a:ea typeface="宋体" panose="02010600030101010101" pitchFamily="2" charset="-122"/>
              </a:rPr>
              <a:t>ALUop</a:t>
            </a:r>
            <a:r>
              <a:rPr lang="en-US" altLang="zh-CN" sz="1800">
                <a:solidFill>
                  <a:schemeClr val="accent2"/>
                </a:solidFill>
                <a:latin typeface="Arial" panose="020B0604020202020204" pitchFamily="34" charset="0"/>
                <a:ea typeface="宋体" panose="02010600030101010101" pitchFamily="2" charset="-122"/>
              </a:rPr>
              <a:t>&lt;1&gt;</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48663" name="直接连接符 288951"/>
          <p:cNvSpPr/>
          <p:nvPr/>
        </p:nvSpPr>
        <p:spPr>
          <a:xfrm flipH="1">
            <a:off x="5397500" y="6400800"/>
            <a:ext cx="3302000" cy="0"/>
          </a:xfrm>
          <a:prstGeom prst="line">
            <a:avLst/>
          </a:prstGeom>
          <a:ln w="25400" cap="flat" cmpd="sng">
            <a:solidFill>
              <a:schemeClr val="tx1"/>
            </a:solidFill>
            <a:prstDash val="solid"/>
            <a:round/>
            <a:headEnd type="triangle" w="med" len="med"/>
            <a:tailEnd type="none" w="med" len="med"/>
          </a:ln>
        </p:spPr>
      </p:sp>
      <p:sp>
        <p:nvSpPr>
          <p:cNvPr id="148664" name="矩形 288952"/>
          <p:cNvSpPr/>
          <p:nvPr/>
        </p:nvSpPr>
        <p:spPr>
          <a:xfrm>
            <a:off x="7377113" y="6096000"/>
            <a:ext cx="13239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2"/>
                </a:solidFill>
                <a:latin typeface="Arial" panose="020B0604020202020204" pitchFamily="34" charset="0"/>
                <a:ea typeface="宋体" panose="02010600030101010101" pitchFamily="2" charset="-122"/>
              </a:rPr>
              <a:t>ALUop</a:t>
            </a:r>
            <a:r>
              <a:rPr lang="en-US" altLang="zh-CN" sz="1800">
                <a:solidFill>
                  <a:schemeClr val="accent2"/>
                </a:solidFill>
                <a:latin typeface="Arial" panose="020B0604020202020204" pitchFamily="34" charset="0"/>
                <a:ea typeface="宋体" panose="02010600030101010101" pitchFamily="2" charset="-122"/>
              </a:rPr>
              <a:t>&lt;0&gt;</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48665" name="直接连接符 288953"/>
          <p:cNvSpPr/>
          <p:nvPr/>
        </p:nvSpPr>
        <p:spPr>
          <a:xfrm flipH="1">
            <a:off x="2197100" y="3276600"/>
            <a:ext cx="4445000" cy="0"/>
          </a:xfrm>
          <a:prstGeom prst="line">
            <a:avLst/>
          </a:prstGeom>
          <a:ln w="25400" cap="flat" cmpd="sng">
            <a:solidFill>
              <a:schemeClr val="tx1"/>
            </a:solidFill>
            <a:prstDash val="solid"/>
            <a:round/>
            <a:headEnd type="none" w="med" len="med"/>
            <a:tailEnd type="none" w="med" len="med"/>
          </a:ln>
        </p:spPr>
      </p:sp>
      <p:sp>
        <p:nvSpPr>
          <p:cNvPr id="148666" name="直接连接符 288954"/>
          <p:cNvSpPr/>
          <p:nvPr/>
        </p:nvSpPr>
        <p:spPr>
          <a:xfrm flipH="1">
            <a:off x="3263900" y="3429000"/>
            <a:ext cx="3454400" cy="0"/>
          </a:xfrm>
          <a:prstGeom prst="line">
            <a:avLst/>
          </a:prstGeom>
          <a:ln w="25400" cap="flat" cmpd="sng">
            <a:solidFill>
              <a:schemeClr val="tx1"/>
            </a:solidFill>
            <a:prstDash val="solid"/>
            <a:round/>
            <a:headEnd type="none" w="med" len="med"/>
            <a:tailEnd type="none" w="med" len="med"/>
          </a:ln>
        </p:spPr>
      </p:sp>
      <p:sp>
        <p:nvSpPr>
          <p:cNvPr id="148667" name="直接连接符 288955"/>
          <p:cNvSpPr/>
          <p:nvPr/>
        </p:nvSpPr>
        <p:spPr>
          <a:xfrm flipH="1">
            <a:off x="4330700" y="3581400"/>
            <a:ext cx="2768600" cy="0"/>
          </a:xfrm>
          <a:prstGeom prst="line">
            <a:avLst/>
          </a:prstGeom>
          <a:ln w="25400" cap="flat" cmpd="sng">
            <a:solidFill>
              <a:schemeClr val="tx1"/>
            </a:solidFill>
            <a:prstDash val="solid"/>
            <a:round/>
            <a:headEnd type="none" w="med" len="med"/>
            <a:tailEnd type="none" w="med" len="med"/>
          </a:ln>
        </p:spPr>
      </p:sp>
      <p:sp>
        <p:nvSpPr>
          <p:cNvPr id="148668" name="椭圆 288956"/>
          <p:cNvSpPr/>
          <p:nvPr/>
        </p:nvSpPr>
        <p:spPr>
          <a:xfrm>
            <a:off x="2139950" y="32067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69" name="椭圆 288957"/>
          <p:cNvSpPr/>
          <p:nvPr/>
        </p:nvSpPr>
        <p:spPr>
          <a:xfrm>
            <a:off x="3206750" y="33591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70" name="椭圆 288958"/>
          <p:cNvSpPr/>
          <p:nvPr/>
        </p:nvSpPr>
        <p:spPr>
          <a:xfrm>
            <a:off x="4273550" y="35115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71" name="椭圆 288959"/>
          <p:cNvSpPr/>
          <p:nvPr/>
        </p:nvSpPr>
        <p:spPr>
          <a:xfrm>
            <a:off x="1073150" y="37401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72" name="椭圆 288960"/>
          <p:cNvSpPr/>
          <p:nvPr/>
        </p:nvSpPr>
        <p:spPr>
          <a:xfrm>
            <a:off x="3206750" y="40449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73" name="椭圆 288961"/>
          <p:cNvSpPr/>
          <p:nvPr/>
        </p:nvSpPr>
        <p:spPr>
          <a:xfrm>
            <a:off x="4273550" y="43497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74" name="椭圆 288962"/>
          <p:cNvSpPr/>
          <p:nvPr/>
        </p:nvSpPr>
        <p:spPr>
          <a:xfrm>
            <a:off x="5340350" y="46545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75" name="椭圆 288963"/>
          <p:cNvSpPr/>
          <p:nvPr/>
        </p:nvSpPr>
        <p:spPr>
          <a:xfrm>
            <a:off x="6407150" y="49593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76" name="直接连接符 288964"/>
          <p:cNvSpPr/>
          <p:nvPr/>
        </p:nvSpPr>
        <p:spPr>
          <a:xfrm flipH="1">
            <a:off x="3263900" y="5334000"/>
            <a:ext cx="3454400" cy="0"/>
          </a:xfrm>
          <a:prstGeom prst="line">
            <a:avLst/>
          </a:prstGeom>
          <a:ln w="25400" cap="flat" cmpd="sng">
            <a:solidFill>
              <a:schemeClr val="tx1"/>
            </a:solidFill>
            <a:prstDash val="solid"/>
            <a:round/>
            <a:headEnd type="none" w="med" len="med"/>
            <a:tailEnd type="none" w="med" len="med"/>
          </a:ln>
        </p:spPr>
      </p:sp>
      <p:sp>
        <p:nvSpPr>
          <p:cNvPr id="148677" name="直接连接符 288965"/>
          <p:cNvSpPr/>
          <p:nvPr/>
        </p:nvSpPr>
        <p:spPr>
          <a:xfrm flipH="1">
            <a:off x="4330700" y="5486400"/>
            <a:ext cx="2387600" cy="0"/>
          </a:xfrm>
          <a:prstGeom prst="line">
            <a:avLst/>
          </a:prstGeom>
          <a:ln w="25400" cap="flat" cmpd="sng">
            <a:solidFill>
              <a:schemeClr val="tx1"/>
            </a:solidFill>
            <a:prstDash val="solid"/>
            <a:round/>
            <a:headEnd type="none" w="med" len="med"/>
            <a:tailEnd type="none" w="med" len="med"/>
          </a:ln>
        </p:spPr>
      </p:sp>
      <p:sp>
        <p:nvSpPr>
          <p:cNvPr id="148678" name="椭圆 288966"/>
          <p:cNvSpPr/>
          <p:nvPr/>
        </p:nvSpPr>
        <p:spPr>
          <a:xfrm>
            <a:off x="4273550" y="54165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79" name="椭圆 288967"/>
          <p:cNvSpPr/>
          <p:nvPr/>
        </p:nvSpPr>
        <p:spPr>
          <a:xfrm>
            <a:off x="3206750" y="52641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80" name="椭圆 288968"/>
          <p:cNvSpPr/>
          <p:nvPr/>
        </p:nvSpPr>
        <p:spPr>
          <a:xfrm>
            <a:off x="1073150" y="57213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81" name="椭圆 288969"/>
          <p:cNvSpPr/>
          <p:nvPr/>
        </p:nvSpPr>
        <p:spPr>
          <a:xfrm>
            <a:off x="2139950" y="60261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82" name="椭圆 288970"/>
          <p:cNvSpPr/>
          <p:nvPr/>
        </p:nvSpPr>
        <p:spPr>
          <a:xfrm>
            <a:off x="5340350" y="6330950"/>
            <a:ext cx="139700" cy="139700"/>
          </a:xfrm>
          <a:prstGeom prst="ellipse">
            <a:avLst/>
          </a:prstGeom>
          <a:solidFill>
            <a:schemeClr val="tx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288972" name="组合 288971"/>
          <p:cNvGrpSpPr/>
          <p:nvPr/>
        </p:nvGrpSpPr>
        <p:grpSpPr>
          <a:xfrm>
            <a:off x="506413" y="652463"/>
            <a:ext cx="8709025" cy="1800225"/>
            <a:chOff x="192" y="2651"/>
            <a:chExt cx="5367" cy="814"/>
          </a:xfrm>
        </p:grpSpPr>
        <p:sp>
          <p:nvSpPr>
            <p:cNvPr id="148684" name="矩形 288972"/>
            <p:cNvSpPr/>
            <p:nvPr/>
          </p:nvSpPr>
          <p:spPr>
            <a:xfrm>
              <a:off x="192" y="2651"/>
              <a:ext cx="4224" cy="814"/>
            </a:xfrm>
            <a:prstGeom prst="rect">
              <a:avLst/>
            </a:prstGeom>
            <a:noFill/>
            <a:ln w="50800" cap="flat" cmpd="sng">
              <a:solidFill>
                <a:srgbClr val="FE9AAB"/>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48685" name="直接连接符 288973"/>
            <p:cNvSpPr/>
            <p:nvPr/>
          </p:nvSpPr>
          <p:spPr>
            <a:xfrm flipH="1">
              <a:off x="4425" y="3017"/>
              <a:ext cx="229" cy="28"/>
            </a:xfrm>
            <a:prstGeom prst="line">
              <a:avLst/>
            </a:prstGeom>
            <a:ln w="50800" cap="flat" cmpd="sng">
              <a:solidFill>
                <a:srgbClr val="FE9AAB"/>
              </a:solidFill>
              <a:prstDash val="solid"/>
              <a:round/>
              <a:headEnd type="none" w="med" len="med"/>
              <a:tailEnd type="triangle" w="med" len="med"/>
            </a:ln>
          </p:spPr>
        </p:sp>
        <p:sp>
          <p:nvSpPr>
            <p:cNvPr id="148686" name="文本框 288974"/>
            <p:cNvSpPr txBox="1"/>
            <p:nvPr/>
          </p:nvSpPr>
          <p:spPr>
            <a:xfrm>
              <a:off x="4663" y="2898"/>
              <a:ext cx="896" cy="166"/>
            </a:xfrm>
            <a:prstGeom prst="rect">
              <a:avLst/>
            </a:prstGeom>
            <a:noFill/>
            <a:ln w="50800">
              <a:noFill/>
            </a:ln>
          </p:spPr>
          <p:txBody>
            <a:bodyPr anchor="t" anchorCtr="0">
              <a:spAutoFit/>
            </a:bodyPr>
            <a:p>
              <a:pPr eaLnBrk="0" hangingPunct="0">
                <a:spcBef>
                  <a:spcPct val="50000"/>
                </a:spcBef>
              </a:pPr>
              <a:r>
                <a:rPr lang="zh-CN" altLang="en-US" sz="1800" dirty="0">
                  <a:solidFill>
                    <a:schemeClr val="accent1"/>
                  </a:solidFill>
                  <a:latin typeface="Arial" panose="020B0604020202020204" pitchFamily="34" charset="0"/>
                  <a:ea typeface="宋体" panose="02010600030101010101" pitchFamily="2" charset="-122"/>
                </a:rPr>
                <a:t>指令译码器</a:t>
              </a:r>
              <a:endParaRPr lang="zh-CN" altLang="en-US" sz="1800" dirty="0">
                <a:solidFill>
                  <a:schemeClr val="accent1"/>
                </a:solidFill>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8972"/>
                                        </p:tgtEl>
                                        <p:attrNameLst>
                                          <p:attrName>style.visibility</p:attrName>
                                        </p:attrNameLst>
                                      </p:cBhvr>
                                      <p:to>
                                        <p:strVal val="visible"/>
                                      </p:to>
                                    </p:set>
                                    <p:animEffect transition="in" filter="blinds(horizontal)">
                                      <p:cBhvr>
                                        <p:cTn id="7" dur="500"/>
                                        <p:tgtEl>
                                          <p:spTgt spid="288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标题 290817"/>
          <p:cNvSpPr>
            <a:spLocks noGrp="1"/>
          </p:cNvSpPr>
          <p:nvPr>
            <p:ph type="title"/>
          </p:nvPr>
        </p:nvSpPr>
        <p:spPr>
          <a:xfrm>
            <a:off x="444500" y="203200"/>
            <a:ext cx="7416800" cy="479425"/>
          </a:xfrm>
          <a:ln/>
        </p:spPr>
        <p:txBody>
          <a:bodyPr vert="horz" wrap="square" lIns="63500" tIns="25400" rIns="63500" bIns="25400" anchor="t" anchorCtr="0">
            <a:spAutoFit/>
          </a:bodyPr>
          <a:p>
            <a:r>
              <a:rPr lang="zh-CN" altLang="en-US" sz="3200" dirty="0">
                <a:ea typeface="宋体" panose="02010600030101010101" pitchFamily="2" charset="-122"/>
              </a:rPr>
              <a:t>执行前述</a:t>
            </a:r>
            <a:r>
              <a:rPr lang="en-US" altLang="zh-CN" sz="3200">
                <a:ea typeface="宋体" panose="02010600030101010101" pitchFamily="2" charset="-122"/>
              </a:rPr>
              <a:t>7</a:t>
            </a:r>
            <a:r>
              <a:rPr lang="zh-CN" altLang="en-US" sz="3200" dirty="0">
                <a:ea typeface="宋体" panose="02010600030101010101" pitchFamily="2" charset="-122"/>
              </a:rPr>
              <a:t>条指令的完整的单周期处理器</a:t>
            </a:r>
            <a:endParaRPr lang="zh-CN" altLang="en-US" sz="3200" dirty="0">
              <a:ea typeface="宋体" panose="02010600030101010101" pitchFamily="2" charset="-122"/>
            </a:endParaRPr>
          </a:p>
        </p:txBody>
      </p:sp>
      <p:grpSp>
        <p:nvGrpSpPr>
          <p:cNvPr id="150530" name="组合 290818"/>
          <p:cNvGrpSpPr/>
          <p:nvPr/>
        </p:nvGrpSpPr>
        <p:grpSpPr>
          <a:xfrm>
            <a:off x="5029200" y="3654425"/>
            <a:ext cx="457200" cy="1136650"/>
            <a:chOff x="3168" y="2302"/>
            <a:chExt cx="288" cy="716"/>
          </a:xfrm>
        </p:grpSpPr>
        <p:sp>
          <p:nvSpPr>
            <p:cNvPr id="150531" name="直接连接符 290819"/>
            <p:cNvSpPr/>
            <p:nvPr/>
          </p:nvSpPr>
          <p:spPr>
            <a:xfrm>
              <a:off x="3168" y="2302"/>
              <a:ext cx="0" cy="163"/>
            </a:xfrm>
            <a:prstGeom prst="line">
              <a:avLst/>
            </a:prstGeom>
            <a:ln w="25400" cap="flat" cmpd="sng">
              <a:solidFill>
                <a:schemeClr val="tx1"/>
              </a:solidFill>
              <a:prstDash val="solid"/>
              <a:round/>
              <a:headEnd type="none" w="med" len="med"/>
              <a:tailEnd type="none" w="med" len="med"/>
            </a:ln>
          </p:spPr>
        </p:sp>
        <p:sp>
          <p:nvSpPr>
            <p:cNvPr id="150532" name="直接连接符 290820"/>
            <p:cNvSpPr/>
            <p:nvPr/>
          </p:nvSpPr>
          <p:spPr>
            <a:xfrm>
              <a:off x="3176" y="2302"/>
              <a:ext cx="272" cy="163"/>
            </a:xfrm>
            <a:prstGeom prst="line">
              <a:avLst/>
            </a:prstGeom>
            <a:ln w="25400" cap="flat" cmpd="sng">
              <a:solidFill>
                <a:schemeClr val="tx1"/>
              </a:solidFill>
              <a:prstDash val="solid"/>
              <a:round/>
              <a:headEnd type="none" w="med" len="med"/>
              <a:tailEnd type="none" w="med" len="med"/>
            </a:ln>
          </p:spPr>
        </p:sp>
        <p:sp>
          <p:nvSpPr>
            <p:cNvPr id="150533" name="直接连接符 290821"/>
            <p:cNvSpPr/>
            <p:nvPr/>
          </p:nvSpPr>
          <p:spPr>
            <a:xfrm>
              <a:off x="3176" y="2481"/>
              <a:ext cx="128" cy="74"/>
            </a:xfrm>
            <a:prstGeom prst="line">
              <a:avLst/>
            </a:prstGeom>
            <a:ln w="25400" cap="flat" cmpd="sng">
              <a:solidFill>
                <a:schemeClr val="tx1"/>
              </a:solidFill>
              <a:prstDash val="solid"/>
              <a:round/>
              <a:headEnd type="none" w="med" len="med"/>
              <a:tailEnd type="none" w="med" len="med"/>
            </a:ln>
          </p:spPr>
        </p:sp>
        <p:sp>
          <p:nvSpPr>
            <p:cNvPr id="150534" name="直接连接符 290822"/>
            <p:cNvSpPr/>
            <p:nvPr/>
          </p:nvSpPr>
          <p:spPr>
            <a:xfrm>
              <a:off x="3312" y="2571"/>
              <a:ext cx="0" cy="163"/>
            </a:xfrm>
            <a:prstGeom prst="line">
              <a:avLst/>
            </a:prstGeom>
            <a:ln w="25400" cap="flat" cmpd="sng">
              <a:solidFill>
                <a:schemeClr val="tx1"/>
              </a:solidFill>
              <a:prstDash val="solid"/>
              <a:round/>
              <a:headEnd type="none" w="med" len="med"/>
              <a:tailEnd type="none" w="med" len="med"/>
            </a:ln>
          </p:spPr>
        </p:sp>
        <p:sp>
          <p:nvSpPr>
            <p:cNvPr id="150535" name="直接连接符 290823"/>
            <p:cNvSpPr/>
            <p:nvPr/>
          </p:nvSpPr>
          <p:spPr>
            <a:xfrm>
              <a:off x="3456" y="2481"/>
              <a:ext cx="0" cy="342"/>
            </a:xfrm>
            <a:prstGeom prst="line">
              <a:avLst/>
            </a:prstGeom>
            <a:ln w="25400" cap="flat" cmpd="sng">
              <a:solidFill>
                <a:schemeClr val="tx1"/>
              </a:solidFill>
              <a:prstDash val="solid"/>
              <a:round/>
              <a:headEnd type="none" w="med" len="med"/>
              <a:tailEnd type="none" w="med" len="med"/>
            </a:ln>
          </p:spPr>
        </p:sp>
        <p:sp>
          <p:nvSpPr>
            <p:cNvPr id="150536" name="直接连接符 290824"/>
            <p:cNvSpPr/>
            <p:nvPr/>
          </p:nvSpPr>
          <p:spPr>
            <a:xfrm flipV="1">
              <a:off x="3176" y="2734"/>
              <a:ext cx="128" cy="105"/>
            </a:xfrm>
            <a:prstGeom prst="line">
              <a:avLst/>
            </a:prstGeom>
            <a:ln w="25400" cap="flat" cmpd="sng">
              <a:solidFill>
                <a:schemeClr val="tx1"/>
              </a:solidFill>
              <a:prstDash val="solid"/>
              <a:round/>
              <a:headEnd type="none" w="med" len="med"/>
              <a:tailEnd type="none" w="med" len="med"/>
            </a:ln>
          </p:spPr>
        </p:sp>
        <p:sp>
          <p:nvSpPr>
            <p:cNvPr id="150537" name="直接连接符 290825"/>
            <p:cNvSpPr/>
            <p:nvPr/>
          </p:nvSpPr>
          <p:spPr>
            <a:xfrm>
              <a:off x="3168" y="2839"/>
              <a:ext cx="0" cy="163"/>
            </a:xfrm>
            <a:prstGeom prst="line">
              <a:avLst/>
            </a:prstGeom>
            <a:ln w="25400" cap="flat" cmpd="sng">
              <a:solidFill>
                <a:schemeClr val="tx1"/>
              </a:solidFill>
              <a:prstDash val="solid"/>
              <a:round/>
              <a:headEnd type="none" w="med" len="med"/>
              <a:tailEnd type="none" w="med" len="med"/>
            </a:ln>
          </p:spPr>
        </p:sp>
        <p:sp>
          <p:nvSpPr>
            <p:cNvPr id="150538" name="直接连接符 290826"/>
            <p:cNvSpPr/>
            <p:nvPr/>
          </p:nvSpPr>
          <p:spPr>
            <a:xfrm flipV="1">
              <a:off x="3176" y="2823"/>
              <a:ext cx="272" cy="195"/>
            </a:xfrm>
            <a:prstGeom prst="line">
              <a:avLst/>
            </a:prstGeom>
            <a:ln w="25400" cap="flat" cmpd="sng">
              <a:solidFill>
                <a:schemeClr val="tx1"/>
              </a:solidFill>
              <a:prstDash val="solid"/>
              <a:round/>
              <a:headEnd type="none" w="med" len="med"/>
              <a:tailEnd type="none" w="med" len="med"/>
            </a:ln>
          </p:spPr>
        </p:sp>
      </p:grpSp>
      <p:sp>
        <p:nvSpPr>
          <p:cNvPr id="150539" name="直接连接符 290827"/>
          <p:cNvSpPr/>
          <p:nvPr/>
        </p:nvSpPr>
        <p:spPr>
          <a:xfrm flipH="1">
            <a:off x="5473700" y="4210050"/>
            <a:ext cx="2311400" cy="0"/>
          </a:xfrm>
          <a:prstGeom prst="line">
            <a:avLst/>
          </a:prstGeom>
          <a:ln w="25400" cap="flat" cmpd="sng">
            <a:solidFill>
              <a:schemeClr val="tx1"/>
            </a:solidFill>
            <a:prstDash val="solid"/>
            <a:round/>
            <a:headEnd type="triangle" w="med" len="med"/>
            <a:tailEnd type="none" w="med" len="med"/>
          </a:ln>
        </p:spPr>
      </p:sp>
      <p:sp>
        <p:nvSpPr>
          <p:cNvPr id="150540" name="直接连接符 290828"/>
          <p:cNvSpPr/>
          <p:nvPr/>
        </p:nvSpPr>
        <p:spPr>
          <a:xfrm flipH="1">
            <a:off x="5861050" y="4146550"/>
            <a:ext cx="88900" cy="128588"/>
          </a:xfrm>
          <a:prstGeom prst="line">
            <a:avLst/>
          </a:prstGeom>
          <a:ln w="12700" cap="flat" cmpd="sng">
            <a:solidFill>
              <a:schemeClr val="tx1"/>
            </a:solidFill>
            <a:prstDash val="solid"/>
            <a:round/>
            <a:headEnd type="none" w="med" len="med"/>
            <a:tailEnd type="none" w="med" len="med"/>
          </a:ln>
        </p:spPr>
      </p:sp>
      <p:sp>
        <p:nvSpPr>
          <p:cNvPr id="150541" name="矩形 290829"/>
          <p:cNvSpPr/>
          <p:nvPr/>
        </p:nvSpPr>
        <p:spPr>
          <a:xfrm>
            <a:off x="5548313" y="42084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50542" name="直接连接符 290830"/>
          <p:cNvSpPr/>
          <p:nvPr/>
        </p:nvSpPr>
        <p:spPr>
          <a:xfrm>
            <a:off x="5257800" y="3289300"/>
            <a:ext cx="0" cy="482600"/>
          </a:xfrm>
          <a:prstGeom prst="line">
            <a:avLst/>
          </a:prstGeom>
          <a:ln w="25400" cap="flat" cmpd="sng">
            <a:solidFill>
              <a:schemeClr val="tx1"/>
            </a:solidFill>
            <a:prstDash val="solid"/>
            <a:round/>
            <a:headEnd type="none" w="med" len="med"/>
            <a:tailEnd type="triangle" w="med" len="med"/>
          </a:ln>
        </p:spPr>
      </p:sp>
      <p:sp>
        <p:nvSpPr>
          <p:cNvPr id="150543" name="矩形 290831"/>
          <p:cNvSpPr/>
          <p:nvPr/>
        </p:nvSpPr>
        <p:spPr>
          <a:xfrm>
            <a:off x="4308475" y="3148013"/>
            <a:ext cx="1023938" cy="363537"/>
          </a:xfrm>
          <a:prstGeom prst="rect">
            <a:avLst/>
          </a:prstGeom>
          <a:noFill/>
          <a:ln w="12700">
            <a:noFill/>
          </a:ln>
        </p:spPr>
        <p:txBody>
          <a:bodyPr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544" name="矩形 290832"/>
          <p:cNvSpPr/>
          <p:nvPr/>
        </p:nvSpPr>
        <p:spPr>
          <a:xfrm>
            <a:off x="973138" y="46005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50545" name="矩形 290833"/>
          <p:cNvSpPr/>
          <p:nvPr/>
        </p:nvSpPr>
        <p:spPr>
          <a:xfrm>
            <a:off x="671513" y="3781425"/>
            <a:ext cx="803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busW</a:t>
            </a:r>
            <a:endParaRPr lang="en-US" altLang="zh-CN" sz="1800">
              <a:latin typeface="Arial" panose="020B0604020202020204" pitchFamily="34" charset="0"/>
              <a:ea typeface="宋体" panose="02010600030101010101" pitchFamily="2" charset="-122"/>
            </a:endParaRPr>
          </a:p>
        </p:txBody>
      </p:sp>
      <p:sp>
        <p:nvSpPr>
          <p:cNvPr id="150546" name="矩形 290834"/>
          <p:cNvSpPr/>
          <p:nvPr/>
        </p:nvSpPr>
        <p:spPr>
          <a:xfrm>
            <a:off x="1755775" y="3654425"/>
            <a:ext cx="1431925" cy="11303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547" name="直接连接符 290835"/>
          <p:cNvSpPr/>
          <p:nvPr/>
        </p:nvSpPr>
        <p:spPr>
          <a:xfrm>
            <a:off x="1793875" y="4560888"/>
            <a:ext cx="250825" cy="63500"/>
          </a:xfrm>
          <a:prstGeom prst="line">
            <a:avLst/>
          </a:prstGeom>
          <a:ln w="25400" cap="flat" cmpd="sng">
            <a:solidFill>
              <a:schemeClr val="tx1"/>
            </a:solidFill>
            <a:prstDash val="solid"/>
            <a:round/>
            <a:headEnd type="none" w="med" len="med"/>
            <a:tailEnd type="none" w="med" len="med"/>
          </a:ln>
        </p:spPr>
      </p:sp>
      <p:sp>
        <p:nvSpPr>
          <p:cNvPr id="150548" name="直接连接符 290836"/>
          <p:cNvSpPr/>
          <p:nvPr/>
        </p:nvSpPr>
        <p:spPr>
          <a:xfrm flipH="1">
            <a:off x="1768475" y="4649788"/>
            <a:ext cx="301625" cy="98425"/>
          </a:xfrm>
          <a:prstGeom prst="line">
            <a:avLst/>
          </a:prstGeom>
          <a:ln w="25400" cap="flat" cmpd="sng">
            <a:solidFill>
              <a:schemeClr val="tx1"/>
            </a:solidFill>
            <a:prstDash val="solid"/>
            <a:round/>
            <a:headEnd type="none" w="med" len="med"/>
            <a:tailEnd type="none" w="med" len="med"/>
          </a:ln>
        </p:spPr>
      </p:sp>
      <p:sp>
        <p:nvSpPr>
          <p:cNvPr id="150549" name="椭圆 290837"/>
          <p:cNvSpPr/>
          <p:nvPr/>
        </p:nvSpPr>
        <p:spPr>
          <a:xfrm>
            <a:off x="1603375" y="4595813"/>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550" name="矩形 290838"/>
          <p:cNvSpPr/>
          <p:nvPr/>
        </p:nvSpPr>
        <p:spPr>
          <a:xfrm>
            <a:off x="1203325" y="3140075"/>
            <a:ext cx="917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RegWr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551" name="直接连接符 290839"/>
          <p:cNvSpPr/>
          <p:nvPr/>
        </p:nvSpPr>
        <p:spPr>
          <a:xfrm flipH="1">
            <a:off x="749300" y="4140200"/>
            <a:ext cx="1016000" cy="0"/>
          </a:xfrm>
          <a:prstGeom prst="line">
            <a:avLst/>
          </a:prstGeom>
          <a:ln w="25400" cap="flat" cmpd="sng">
            <a:solidFill>
              <a:schemeClr val="tx1"/>
            </a:solidFill>
            <a:prstDash val="solid"/>
            <a:round/>
            <a:headEnd type="triangle" w="med" len="med"/>
            <a:tailEnd type="none" w="med" len="med"/>
          </a:ln>
        </p:spPr>
      </p:sp>
      <p:sp>
        <p:nvSpPr>
          <p:cNvPr id="150552" name="直接连接符 290840"/>
          <p:cNvSpPr/>
          <p:nvPr/>
        </p:nvSpPr>
        <p:spPr>
          <a:xfrm flipH="1">
            <a:off x="1289050" y="4075113"/>
            <a:ext cx="88900" cy="128587"/>
          </a:xfrm>
          <a:prstGeom prst="line">
            <a:avLst/>
          </a:prstGeom>
          <a:ln w="12700" cap="flat" cmpd="sng">
            <a:solidFill>
              <a:schemeClr val="tx1"/>
            </a:solidFill>
            <a:prstDash val="solid"/>
            <a:round/>
            <a:headEnd type="none" w="med" len="med"/>
            <a:tailEnd type="none" w="med" len="med"/>
          </a:ln>
        </p:spPr>
      </p:sp>
      <p:sp>
        <p:nvSpPr>
          <p:cNvPr id="150553" name="矩形 290841"/>
          <p:cNvSpPr/>
          <p:nvPr/>
        </p:nvSpPr>
        <p:spPr>
          <a:xfrm>
            <a:off x="976313" y="4137025"/>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50554" name="直接连接符 290842"/>
          <p:cNvSpPr/>
          <p:nvPr/>
        </p:nvSpPr>
        <p:spPr>
          <a:xfrm>
            <a:off x="3213100" y="3784600"/>
            <a:ext cx="1803400" cy="0"/>
          </a:xfrm>
          <a:prstGeom prst="line">
            <a:avLst/>
          </a:prstGeom>
          <a:ln w="25400" cap="flat" cmpd="sng">
            <a:solidFill>
              <a:schemeClr val="tx1"/>
            </a:solidFill>
            <a:prstDash val="solid"/>
            <a:round/>
            <a:headEnd type="none" w="med" len="med"/>
            <a:tailEnd type="triangle" w="med" len="med"/>
          </a:ln>
        </p:spPr>
      </p:sp>
      <p:sp>
        <p:nvSpPr>
          <p:cNvPr id="150555" name="直接连接符 290843"/>
          <p:cNvSpPr/>
          <p:nvPr/>
        </p:nvSpPr>
        <p:spPr>
          <a:xfrm flipH="1">
            <a:off x="4184650" y="3719513"/>
            <a:ext cx="88900" cy="130175"/>
          </a:xfrm>
          <a:prstGeom prst="line">
            <a:avLst/>
          </a:prstGeom>
          <a:ln w="12700" cap="flat" cmpd="sng">
            <a:solidFill>
              <a:schemeClr val="tx1"/>
            </a:solidFill>
            <a:prstDash val="solid"/>
            <a:round/>
            <a:headEnd type="none" w="med" len="med"/>
            <a:tailEnd type="none" w="med" len="med"/>
          </a:ln>
        </p:spPr>
      </p:sp>
      <p:sp>
        <p:nvSpPr>
          <p:cNvPr id="150556" name="矩形 290844"/>
          <p:cNvSpPr/>
          <p:nvPr/>
        </p:nvSpPr>
        <p:spPr>
          <a:xfrm>
            <a:off x="3871913" y="38528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50557" name="矩形 290845"/>
          <p:cNvSpPr/>
          <p:nvPr/>
        </p:nvSpPr>
        <p:spPr>
          <a:xfrm>
            <a:off x="3567113" y="3497263"/>
            <a:ext cx="7524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busA</a:t>
            </a:r>
            <a:endParaRPr lang="en-US" altLang="zh-CN" sz="1800">
              <a:latin typeface="Arial" panose="020B0604020202020204" pitchFamily="34" charset="0"/>
              <a:ea typeface="宋体" panose="02010600030101010101" pitchFamily="2" charset="-122"/>
            </a:endParaRPr>
          </a:p>
        </p:txBody>
      </p:sp>
      <p:sp>
        <p:nvSpPr>
          <p:cNvPr id="150558" name="直接连接符 290846"/>
          <p:cNvSpPr/>
          <p:nvPr/>
        </p:nvSpPr>
        <p:spPr>
          <a:xfrm flipV="1">
            <a:off x="1905000" y="3416300"/>
            <a:ext cx="0" cy="238125"/>
          </a:xfrm>
          <a:prstGeom prst="line">
            <a:avLst/>
          </a:prstGeom>
          <a:ln w="25400" cap="flat" cmpd="sng">
            <a:solidFill>
              <a:schemeClr val="tx1"/>
            </a:solidFill>
            <a:prstDash val="solid"/>
            <a:round/>
            <a:headEnd type="none" w="med" len="med"/>
            <a:tailEnd type="none" w="med" len="med"/>
          </a:ln>
        </p:spPr>
      </p:sp>
      <p:sp>
        <p:nvSpPr>
          <p:cNvPr id="150559" name="直接连接符 290847"/>
          <p:cNvSpPr/>
          <p:nvPr/>
        </p:nvSpPr>
        <p:spPr>
          <a:xfrm>
            <a:off x="3213100" y="4484688"/>
            <a:ext cx="965200" cy="0"/>
          </a:xfrm>
          <a:prstGeom prst="line">
            <a:avLst/>
          </a:prstGeom>
          <a:ln w="25400" cap="flat" cmpd="sng">
            <a:solidFill>
              <a:schemeClr val="tx1"/>
            </a:solidFill>
            <a:prstDash val="solid"/>
            <a:round/>
            <a:headEnd type="none" w="med" len="med"/>
            <a:tailEnd type="triangle" w="med" len="med"/>
          </a:ln>
        </p:spPr>
      </p:sp>
      <p:sp>
        <p:nvSpPr>
          <p:cNvPr id="150560" name="直接连接符 290848"/>
          <p:cNvSpPr/>
          <p:nvPr/>
        </p:nvSpPr>
        <p:spPr>
          <a:xfrm flipV="1">
            <a:off x="3663950" y="4337050"/>
            <a:ext cx="139700" cy="241300"/>
          </a:xfrm>
          <a:prstGeom prst="line">
            <a:avLst/>
          </a:prstGeom>
          <a:ln w="12700" cap="flat" cmpd="sng">
            <a:solidFill>
              <a:schemeClr val="tx1"/>
            </a:solidFill>
            <a:prstDash val="solid"/>
            <a:round/>
            <a:headEnd type="none" w="med" len="med"/>
            <a:tailEnd type="none" w="med" len="med"/>
          </a:ln>
        </p:spPr>
      </p:sp>
      <p:sp>
        <p:nvSpPr>
          <p:cNvPr id="150561" name="矩形 290849"/>
          <p:cNvSpPr/>
          <p:nvPr/>
        </p:nvSpPr>
        <p:spPr>
          <a:xfrm>
            <a:off x="3262313" y="448151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50562" name="矩形 290850"/>
          <p:cNvSpPr/>
          <p:nvPr/>
        </p:nvSpPr>
        <p:spPr>
          <a:xfrm>
            <a:off x="3186113" y="4197350"/>
            <a:ext cx="7524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busB</a:t>
            </a:r>
            <a:endParaRPr lang="en-US" altLang="zh-CN" sz="1800">
              <a:latin typeface="Arial" panose="020B0604020202020204" pitchFamily="34" charset="0"/>
              <a:ea typeface="宋体" panose="02010600030101010101" pitchFamily="2" charset="-122"/>
            </a:endParaRPr>
          </a:p>
        </p:txBody>
      </p:sp>
      <p:sp>
        <p:nvSpPr>
          <p:cNvPr id="150563" name="直接连接符 290851"/>
          <p:cNvSpPr/>
          <p:nvPr/>
        </p:nvSpPr>
        <p:spPr>
          <a:xfrm flipH="1">
            <a:off x="1130300" y="4637088"/>
            <a:ext cx="482600" cy="0"/>
          </a:xfrm>
          <a:prstGeom prst="line">
            <a:avLst/>
          </a:prstGeom>
          <a:ln w="25400" cap="flat" cmpd="sng">
            <a:solidFill>
              <a:schemeClr val="tx1"/>
            </a:solidFill>
            <a:prstDash val="solid"/>
            <a:round/>
            <a:headEnd type="none" w="med" len="med"/>
            <a:tailEnd type="none" w="med" len="med"/>
          </a:ln>
        </p:spPr>
      </p:sp>
      <p:sp>
        <p:nvSpPr>
          <p:cNvPr id="150564" name="直接连接符 290852"/>
          <p:cNvSpPr/>
          <p:nvPr/>
        </p:nvSpPr>
        <p:spPr>
          <a:xfrm>
            <a:off x="3048000" y="3228975"/>
            <a:ext cx="0" cy="400050"/>
          </a:xfrm>
          <a:prstGeom prst="line">
            <a:avLst/>
          </a:prstGeom>
          <a:ln w="25400" cap="flat" cmpd="sng">
            <a:solidFill>
              <a:schemeClr val="tx1"/>
            </a:solidFill>
            <a:prstDash val="solid"/>
            <a:round/>
            <a:headEnd type="none" w="med" len="med"/>
            <a:tailEnd type="none" w="med" len="med"/>
          </a:ln>
        </p:spPr>
      </p:sp>
      <p:sp>
        <p:nvSpPr>
          <p:cNvPr id="150565" name="直接连接符 290853"/>
          <p:cNvSpPr/>
          <p:nvPr/>
        </p:nvSpPr>
        <p:spPr>
          <a:xfrm flipV="1">
            <a:off x="2978150" y="3351213"/>
            <a:ext cx="139700" cy="155575"/>
          </a:xfrm>
          <a:prstGeom prst="line">
            <a:avLst/>
          </a:prstGeom>
          <a:ln w="12700" cap="flat" cmpd="sng">
            <a:solidFill>
              <a:schemeClr val="tx1"/>
            </a:solidFill>
            <a:prstDash val="solid"/>
            <a:round/>
            <a:headEnd type="none" w="med" len="med"/>
            <a:tailEnd type="none" w="med" len="med"/>
          </a:ln>
        </p:spPr>
      </p:sp>
      <p:sp>
        <p:nvSpPr>
          <p:cNvPr id="150566" name="矩形 290854"/>
          <p:cNvSpPr/>
          <p:nvPr/>
        </p:nvSpPr>
        <p:spPr>
          <a:xfrm>
            <a:off x="28051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50567" name="直接连接符 290855"/>
          <p:cNvSpPr/>
          <p:nvPr/>
        </p:nvSpPr>
        <p:spPr>
          <a:xfrm>
            <a:off x="2209800" y="3016250"/>
            <a:ext cx="0" cy="612775"/>
          </a:xfrm>
          <a:prstGeom prst="line">
            <a:avLst/>
          </a:prstGeom>
          <a:ln w="25400" cap="flat" cmpd="sng">
            <a:solidFill>
              <a:schemeClr val="tx1"/>
            </a:solidFill>
            <a:prstDash val="solid"/>
            <a:round/>
            <a:headEnd type="none" w="med" len="med"/>
            <a:tailEnd type="none" w="med" len="med"/>
          </a:ln>
        </p:spPr>
      </p:sp>
      <p:sp>
        <p:nvSpPr>
          <p:cNvPr id="150568" name="直接连接符 290856"/>
          <p:cNvSpPr/>
          <p:nvPr/>
        </p:nvSpPr>
        <p:spPr>
          <a:xfrm flipV="1">
            <a:off x="2139950" y="3351213"/>
            <a:ext cx="139700" cy="155575"/>
          </a:xfrm>
          <a:prstGeom prst="line">
            <a:avLst/>
          </a:prstGeom>
          <a:ln w="12700" cap="flat" cmpd="sng">
            <a:solidFill>
              <a:schemeClr val="tx1"/>
            </a:solidFill>
            <a:prstDash val="solid"/>
            <a:round/>
            <a:headEnd type="none" w="med" len="med"/>
            <a:tailEnd type="none" w="med" len="med"/>
          </a:ln>
        </p:spPr>
      </p:sp>
      <p:sp>
        <p:nvSpPr>
          <p:cNvPr id="150569" name="矩形 290857"/>
          <p:cNvSpPr/>
          <p:nvPr/>
        </p:nvSpPr>
        <p:spPr>
          <a:xfrm>
            <a:off x="1966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50570" name="直接连接符 290858"/>
          <p:cNvSpPr/>
          <p:nvPr/>
        </p:nvSpPr>
        <p:spPr>
          <a:xfrm>
            <a:off x="2590800" y="3228975"/>
            <a:ext cx="0" cy="400050"/>
          </a:xfrm>
          <a:prstGeom prst="line">
            <a:avLst/>
          </a:prstGeom>
          <a:ln w="25400" cap="flat" cmpd="sng">
            <a:solidFill>
              <a:schemeClr val="tx1"/>
            </a:solidFill>
            <a:prstDash val="solid"/>
            <a:round/>
            <a:headEnd type="none" w="med" len="med"/>
            <a:tailEnd type="none" w="med" len="med"/>
          </a:ln>
        </p:spPr>
      </p:sp>
      <p:sp>
        <p:nvSpPr>
          <p:cNvPr id="150571" name="直接连接符 290859"/>
          <p:cNvSpPr/>
          <p:nvPr/>
        </p:nvSpPr>
        <p:spPr>
          <a:xfrm flipV="1">
            <a:off x="2520950" y="3351213"/>
            <a:ext cx="139700" cy="155575"/>
          </a:xfrm>
          <a:prstGeom prst="line">
            <a:avLst/>
          </a:prstGeom>
          <a:ln w="12700" cap="flat" cmpd="sng">
            <a:solidFill>
              <a:schemeClr val="tx1"/>
            </a:solidFill>
            <a:prstDash val="solid"/>
            <a:round/>
            <a:headEnd type="none" w="med" len="med"/>
            <a:tailEnd type="none" w="med" len="med"/>
          </a:ln>
        </p:spPr>
      </p:sp>
      <p:sp>
        <p:nvSpPr>
          <p:cNvPr id="150572" name="矩形 290860"/>
          <p:cNvSpPr/>
          <p:nvPr/>
        </p:nvSpPr>
        <p:spPr>
          <a:xfrm>
            <a:off x="2347913" y="32131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50573" name="矩形 290861"/>
          <p:cNvSpPr/>
          <p:nvPr/>
        </p:nvSpPr>
        <p:spPr>
          <a:xfrm>
            <a:off x="1966913" y="3640138"/>
            <a:ext cx="5238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150574" name="矩形 290862"/>
          <p:cNvSpPr/>
          <p:nvPr/>
        </p:nvSpPr>
        <p:spPr>
          <a:xfrm>
            <a:off x="2424113" y="3640138"/>
            <a:ext cx="4730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150575" name="矩形 290863"/>
          <p:cNvSpPr/>
          <p:nvPr/>
        </p:nvSpPr>
        <p:spPr>
          <a:xfrm>
            <a:off x="2805113" y="3640138"/>
            <a:ext cx="4857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150576" name="矩形 290864"/>
          <p:cNvSpPr/>
          <p:nvPr/>
        </p:nvSpPr>
        <p:spPr>
          <a:xfrm>
            <a:off x="1966913" y="3924300"/>
            <a:ext cx="1222375" cy="63817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pPr eaLnBrk="0" hangingPunct="0"/>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150577" name="直接连接符 290865"/>
          <p:cNvSpPr/>
          <p:nvPr/>
        </p:nvSpPr>
        <p:spPr>
          <a:xfrm flipH="1">
            <a:off x="749300" y="6172200"/>
            <a:ext cx="7797800" cy="0"/>
          </a:xfrm>
          <a:prstGeom prst="line">
            <a:avLst/>
          </a:prstGeom>
          <a:ln w="25400" cap="flat" cmpd="sng">
            <a:solidFill>
              <a:schemeClr val="tx1"/>
            </a:solidFill>
            <a:prstDash val="solid"/>
            <a:round/>
            <a:headEnd type="none" w="med" len="med"/>
            <a:tailEnd type="none" w="med" len="med"/>
          </a:ln>
        </p:spPr>
      </p:sp>
      <p:sp>
        <p:nvSpPr>
          <p:cNvPr id="150578" name="直接连接符 290866"/>
          <p:cNvSpPr/>
          <p:nvPr/>
        </p:nvSpPr>
        <p:spPr>
          <a:xfrm flipV="1">
            <a:off x="762000" y="4127500"/>
            <a:ext cx="0" cy="2057400"/>
          </a:xfrm>
          <a:prstGeom prst="line">
            <a:avLst/>
          </a:prstGeom>
          <a:ln w="25400" cap="flat" cmpd="sng">
            <a:solidFill>
              <a:schemeClr val="tx1"/>
            </a:solidFill>
            <a:prstDash val="solid"/>
            <a:round/>
            <a:headEnd type="none" w="med" len="med"/>
            <a:tailEnd type="none" w="med" len="med"/>
          </a:ln>
        </p:spPr>
      </p:sp>
      <p:sp>
        <p:nvSpPr>
          <p:cNvPr id="150579" name="矩形 290867"/>
          <p:cNvSpPr/>
          <p:nvPr/>
        </p:nvSpPr>
        <p:spPr>
          <a:xfrm>
            <a:off x="2576513" y="3000375"/>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50580" name="矩形 290868"/>
          <p:cNvSpPr/>
          <p:nvPr/>
        </p:nvSpPr>
        <p:spPr>
          <a:xfrm>
            <a:off x="2347913" y="2360613"/>
            <a:ext cx="4222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nvGrpSpPr>
          <p:cNvPr id="150581" name="组合 290869"/>
          <p:cNvGrpSpPr/>
          <p:nvPr/>
        </p:nvGrpSpPr>
        <p:grpSpPr>
          <a:xfrm>
            <a:off x="4191000" y="4203700"/>
            <a:ext cx="304800" cy="1227138"/>
            <a:chOff x="2640" y="2648"/>
            <a:chExt cx="192" cy="773"/>
          </a:xfrm>
        </p:grpSpPr>
        <p:sp>
          <p:nvSpPr>
            <p:cNvPr id="150582" name="直接连接符 290870"/>
            <p:cNvSpPr/>
            <p:nvPr/>
          </p:nvSpPr>
          <p:spPr>
            <a:xfrm>
              <a:off x="2640" y="2648"/>
              <a:ext cx="0" cy="757"/>
            </a:xfrm>
            <a:prstGeom prst="line">
              <a:avLst/>
            </a:prstGeom>
            <a:ln w="25400" cap="flat" cmpd="sng">
              <a:solidFill>
                <a:schemeClr val="tx1"/>
              </a:solidFill>
              <a:prstDash val="solid"/>
              <a:round/>
              <a:headEnd type="none" w="med" len="med"/>
              <a:tailEnd type="none" w="med" len="med"/>
            </a:ln>
          </p:spPr>
        </p:sp>
        <p:sp>
          <p:nvSpPr>
            <p:cNvPr id="150583" name="直接连接符 290871"/>
            <p:cNvSpPr/>
            <p:nvPr/>
          </p:nvSpPr>
          <p:spPr>
            <a:xfrm>
              <a:off x="2648" y="2648"/>
              <a:ext cx="176" cy="86"/>
            </a:xfrm>
            <a:prstGeom prst="line">
              <a:avLst/>
            </a:prstGeom>
            <a:ln w="25400" cap="flat" cmpd="sng">
              <a:solidFill>
                <a:schemeClr val="tx1"/>
              </a:solidFill>
              <a:prstDash val="solid"/>
              <a:round/>
              <a:headEnd type="none" w="med" len="med"/>
              <a:tailEnd type="none" w="med" len="med"/>
            </a:ln>
          </p:spPr>
        </p:sp>
        <p:sp>
          <p:nvSpPr>
            <p:cNvPr id="150584" name="直接连接符 290872"/>
            <p:cNvSpPr/>
            <p:nvPr/>
          </p:nvSpPr>
          <p:spPr>
            <a:xfrm flipV="1">
              <a:off x="2648" y="3303"/>
              <a:ext cx="176" cy="118"/>
            </a:xfrm>
            <a:prstGeom prst="line">
              <a:avLst/>
            </a:prstGeom>
            <a:ln w="25400" cap="flat" cmpd="sng">
              <a:solidFill>
                <a:schemeClr val="tx1"/>
              </a:solidFill>
              <a:prstDash val="solid"/>
              <a:round/>
              <a:headEnd type="none" w="med" len="med"/>
              <a:tailEnd type="none" w="med" len="med"/>
            </a:ln>
          </p:spPr>
        </p:sp>
        <p:sp>
          <p:nvSpPr>
            <p:cNvPr id="150585" name="直接连接符 290873"/>
            <p:cNvSpPr/>
            <p:nvPr/>
          </p:nvSpPr>
          <p:spPr>
            <a:xfrm>
              <a:off x="2832" y="2750"/>
              <a:ext cx="0" cy="553"/>
            </a:xfrm>
            <a:prstGeom prst="line">
              <a:avLst/>
            </a:prstGeom>
            <a:ln w="25400" cap="flat" cmpd="sng">
              <a:solidFill>
                <a:schemeClr val="tx1"/>
              </a:solidFill>
              <a:prstDash val="solid"/>
              <a:round/>
              <a:headEnd type="none" w="med" len="med"/>
              <a:tailEnd type="none" w="med" len="med"/>
            </a:ln>
          </p:spPr>
        </p:sp>
      </p:grpSp>
      <p:grpSp>
        <p:nvGrpSpPr>
          <p:cNvPr id="150586" name="组合 290874"/>
          <p:cNvGrpSpPr/>
          <p:nvPr/>
        </p:nvGrpSpPr>
        <p:grpSpPr>
          <a:xfrm>
            <a:off x="1473200" y="2754313"/>
            <a:ext cx="1168400" cy="284162"/>
            <a:chOff x="928" y="1735"/>
            <a:chExt cx="736" cy="179"/>
          </a:xfrm>
        </p:grpSpPr>
        <p:sp>
          <p:nvSpPr>
            <p:cNvPr id="150587" name="直接连接符 290875"/>
            <p:cNvSpPr/>
            <p:nvPr/>
          </p:nvSpPr>
          <p:spPr>
            <a:xfrm flipH="1">
              <a:off x="928" y="1735"/>
              <a:ext cx="736" cy="0"/>
            </a:xfrm>
            <a:prstGeom prst="line">
              <a:avLst/>
            </a:prstGeom>
            <a:ln w="25400" cap="flat" cmpd="sng">
              <a:solidFill>
                <a:schemeClr val="tx1"/>
              </a:solidFill>
              <a:prstDash val="solid"/>
              <a:round/>
              <a:headEnd type="none" w="med" len="med"/>
              <a:tailEnd type="none" w="med" len="med"/>
            </a:ln>
          </p:spPr>
        </p:sp>
        <p:sp>
          <p:nvSpPr>
            <p:cNvPr id="150588" name="直接连接符 290876"/>
            <p:cNvSpPr/>
            <p:nvPr/>
          </p:nvSpPr>
          <p:spPr>
            <a:xfrm flipH="1">
              <a:off x="1552" y="1743"/>
              <a:ext cx="112" cy="163"/>
            </a:xfrm>
            <a:prstGeom prst="line">
              <a:avLst/>
            </a:prstGeom>
            <a:ln w="25400" cap="flat" cmpd="sng">
              <a:solidFill>
                <a:schemeClr val="tx1"/>
              </a:solidFill>
              <a:prstDash val="solid"/>
              <a:round/>
              <a:headEnd type="none" w="med" len="med"/>
              <a:tailEnd type="none" w="med" len="med"/>
            </a:ln>
          </p:spPr>
        </p:sp>
        <p:sp>
          <p:nvSpPr>
            <p:cNvPr id="150589" name="直接连接符 290877"/>
            <p:cNvSpPr/>
            <p:nvPr/>
          </p:nvSpPr>
          <p:spPr>
            <a:xfrm>
              <a:off x="944" y="1743"/>
              <a:ext cx="80" cy="163"/>
            </a:xfrm>
            <a:prstGeom prst="line">
              <a:avLst/>
            </a:prstGeom>
            <a:ln w="25400" cap="flat" cmpd="sng">
              <a:solidFill>
                <a:schemeClr val="tx1"/>
              </a:solidFill>
              <a:prstDash val="solid"/>
              <a:round/>
              <a:headEnd type="none" w="med" len="med"/>
              <a:tailEnd type="none" w="med" len="med"/>
            </a:ln>
          </p:spPr>
        </p:sp>
        <p:sp>
          <p:nvSpPr>
            <p:cNvPr id="150590" name="直接连接符 290878"/>
            <p:cNvSpPr/>
            <p:nvPr/>
          </p:nvSpPr>
          <p:spPr>
            <a:xfrm flipH="1">
              <a:off x="1024" y="1914"/>
              <a:ext cx="544" cy="0"/>
            </a:xfrm>
            <a:prstGeom prst="line">
              <a:avLst/>
            </a:prstGeom>
            <a:ln w="25400" cap="flat" cmpd="sng">
              <a:solidFill>
                <a:schemeClr val="tx1"/>
              </a:solidFill>
              <a:prstDash val="solid"/>
              <a:round/>
              <a:headEnd type="none" w="med" len="med"/>
              <a:tailEnd type="none" w="med" len="med"/>
            </a:ln>
          </p:spPr>
        </p:sp>
      </p:grpSp>
      <p:sp>
        <p:nvSpPr>
          <p:cNvPr id="150591" name="矩形 290879"/>
          <p:cNvSpPr/>
          <p:nvPr/>
        </p:nvSpPr>
        <p:spPr>
          <a:xfrm>
            <a:off x="2986088" y="3000375"/>
            <a:ext cx="422275" cy="363538"/>
          </a:xfrm>
          <a:prstGeom prst="rect">
            <a:avLst/>
          </a:prstGeom>
          <a:noFill/>
          <a:ln w="12700">
            <a:noFill/>
          </a:ln>
        </p:spPr>
        <p:txBody>
          <a:bodyPr wrap="none" lIns="90488" tIns="44450" rIns="90488" bIns="44450" anchor="t" anchorCtr="0">
            <a:spAutoFit/>
          </a:bodyPr>
          <a:p>
            <a:pPr algn="ct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50592" name="直接连接符 290880"/>
          <p:cNvSpPr/>
          <p:nvPr/>
        </p:nvSpPr>
        <p:spPr>
          <a:xfrm>
            <a:off x="2362200" y="2517775"/>
            <a:ext cx="0" cy="188913"/>
          </a:xfrm>
          <a:prstGeom prst="line">
            <a:avLst/>
          </a:prstGeom>
          <a:ln w="25400" cap="flat" cmpd="sng">
            <a:solidFill>
              <a:schemeClr val="tx1"/>
            </a:solidFill>
            <a:prstDash val="solid"/>
            <a:round/>
            <a:headEnd type="none" w="med" len="med"/>
            <a:tailEnd type="none" w="med" len="med"/>
          </a:ln>
        </p:spPr>
      </p:sp>
      <p:sp>
        <p:nvSpPr>
          <p:cNvPr id="150593" name="直接连接符 290881"/>
          <p:cNvSpPr/>
          <p:nvPr/>
        </p:nvSpPr>
        <p:spPr>
          <a:xfrm>
            <a:off x="1752600" y="2517775"/>
            <a:ext cx="0" cy="188913"/>
          </a:xfrm>
          <a:prstGeom prst="line">
            <a:avLst/>
          </a:prstGeom>
          <a:ln w="25400" cap="flat" cmpd="sng">
            <a:solidFill>
              <a:schemeClr val="tx1"/>
            </a:solidFill>
            <a:prstDash val="solid"/>
            <a:round/>
            <a:headEnd type="none" w="med" len="med"/>
            <a:tailEnd type="none" w="med" len="med"/>
          </a:ln>
        </p:spPr>
      </p:sp>
      <p:sp>
        <p:nvSpPr>
          <p:cNvPr id="150594" name="矩形 290882"/>
          <p:cNvSpPr/>
          <p:nvPr/>
        </p:nvSpPr>
        <p:spPr>
          <a:xfrm>
            <a:off x="1738313" y="2360613"/>
            <a:ext cx="48577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50595" name="直接连接符 290883"/>
          <p:cNvSpPr/>
          <p:nvPr/>
        </p:nvSpPr>
        <p:spPr>
          <a:xfrm flipH="1">
            <a:off x="1054100" y="2895600"/>
            <a:ext cx="558800" cy="0"/>
          </a:xfrm>
          <a:prstGeom prst="line">
            <a:avLst/>
          </a:prstGeom>
          <a:ln w="25400" cap="flat" cmpd="sng">
            <a:solidFill>
              <a:schemeClr val="tx1"/>
            </a:solidFill>
            <a:prstDash val="solid"/>
            <a:round/>
            <a:headEnd type="triangle" w="med" len="med"/>
            <a:tailEnd type="none" w="med" len="med"/>
          </a:ln>
        </p:spPr>
      </p:sp>
      <p:sp>
        <p:nvSpPr>
          <p:cNvPr id="150596" name="矩形 290884"/>
          <p:cNvSpPr/>
          <p:nvPr/>
        </p:nvSpPr>
        <p:spPr>
          <a:xfrm>
            <a:off x="366713" y="2568575"/>
            <a:ext cx="9810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597" name="矩形 290885"/>
          <p:cNvSpPr/>
          <p:nvPr/>
        </p:nvSpPr>
        <p:spPr>
          <a:xfrm>
            <a:off x="3136900" y="4889500"/>
            <a:ext cx="355600" cy="9652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598" name="矩形 290886"/>
          <p:cNvSpPr/>
          <p:nvPr/>
        </p:nvSpPr>
        <p:spPr>
          <a:xfrm rot="5400000">
            <a:off x="3036888" y="5221288"/>
            <a:ext cx="5365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Ext</a:t>
            </a:r>
            <a:endParaRPr lang="en-US" altLang="zh-CN" sz="1800">
              <a:latin typeface="Arial" panose="020B0604020202020204" pitchFamily="34" charset="0"/>
              <a:ea typeface="宋体" panose="02010600030101010101" pitchFamily="2" charset="-122"/>
            </a:endParaRPr>
          </a:p>
        </p:txBody>
      </p:sp>
      <p:sp>
        <p:nvSpPr>
          <p:cNvPr id="150599" name="矩形 290887"/>
          <p:cNvSpPr/>
          <p:nvPr/>
        </p:nvSpPr>
        <p:spPr>
          <a:xfrm rot="5400000">
            <a:off x="3975100" y="4613275"/>
            <a:ext cx="6381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50600" name="矩形 290888"/>
          <p:cNvSpPr/>
          <p:nvPr/>
        </p:nvSpPr>
        <p:spPr>
          <a:xfrm>
            <a:off x="1776413" y="2751138"/>
            <a:ext cx="6381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50601" name="直接连接符 290889"/>
          <p:cNvSpPr/>
          <p:nvPr/>
        </p:nvSpPr>
        <p:spPr>
          <a:xfrm>
            <a:off x="3517900" y="5276850"/>
            <a:ext cx="660400" cy="0"/>
          </a:xfrm>
          <a:prstGeom prst="line">
            <a:avLst/>
          </a:prstGeom>
          <a:ln w="25400" cap="flat" cmpd="sng">
            <a:solidFill>
              <a:schemeClr val="tx1"/>
            </a:solidFill>
            <a:prstDash val="solid"/>
            <a:round/>
            <a:headEnd type="none" w="med" len="med"/>
            <a:tailEnd type="triangle" w="med" len="med"/>
          </a:ln>
        </p:spPr>
      </p:sp>
      <p:sp>
        <p:nvSpPr>
          <p:cNvPr id="150602" name="矩形 290890"/>
          <p:cNvSpPr/>
          <p:nvPr/>
        </p:nvSpPr>
        <p:spPr>
          <a:xfrm>
            <a:off x="3509963" y="5308600"/>
            <a:ext cx="434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50603" name="直接连接符 290891"/>
          <p:cNvSpPr/>
          <p:nvPr/>
        </p:nvSpPr>
        <p:spPr>
          <a:xfrm flipH="1">
            <a:off x="3803650" y="5211763"/>
            <a:ext cx="88900" cy="130175"/>
          </a:xfrm>
          <a:prstGeom prst="line">
            <a:avLst/>
          </a:prstGeom>
          <a:ln w="12700" cap="flat" cmpd="sng">
            <a:solidFill>
              <a:schemeClr val="tx1"/>
            </a:solidFill>
            <a:prstDash val="solid"/>
            <a:round/>
            <a:headEnd type="none" w="med" len="med"/>
            <a:tailEnd type="none" w="med" len="med"/>
          </a:ln>
        </p:spPr>
      </p:sp>
      <p:sp>
        <p:nvSpPr>
          <p:cNvPr id="150604" name="直接连接符 290892"/>
          <p:cNvSpPr/>
          <p:nvPr/>
        </p:nvSpPr>
        <p:spPr>
          <a:xfrm>
            <a:off x="2146300" y="5418138"/>
            <a:ext cx="965200" cy="0"/>
          </a:xfrm>
          <a:prstGeom prst="line">
            <a:avLst/>
          </a:prstGeom>
          <a:ln w="25400" cap="flat" cmpd="sng">
            <a:solidFill>
              <a:schemeClr val="tx1"/>
            </a:solidFill>
            <a:prstDash val="solid"/>
            <a:round/>
            <a:headEnd type="none" w="med" len="med"/>
            <a:tailEnd type="triangle" w="med" len="med"/>
          </a:ln>
        </p:spPr>
      </p:sp>
      <p:sp>
        <p:nvSpPr>
          <p:cNvPr id="150605" name="直接连接符 290893"/>
          <p:cNvSpPr/>
          <p:nvPr/>
        </p:nvSpPr>
        <p:spPr>
          <a:xfrm flipH="1">
            <a:off x="2584450" y="5354638"/>
            <a:ext cx="88900" cy="128587"/>
          </a:xfrm>
          <a:prstGeom prst="line">
            <a:avLst/>
          </a:prstGeom>
          <a:ln w="12700" cap="flat" cmpd="sng">
            <a:solidFill>
              <a:schemeClr val="tx1"/>
            </a:solidFill>
            <a:prstDash val="solid"/>
            <a:round/>
            <a:headEnd type="none" w="med" len="med"/>
            <a:tailEnd type="none" w="med" len="med"/>
          </a:ln>
        </p:spPr>
      </p:sp>
      <p:sp>
        <p:nvSpPr>
          <p:cNvPr id="150606" name="矩形 290894"/>
          <p:cNvSpPr/>
          <p:nvPr/>
        </p:nvSpPr>
        <p:spPr>
          <a:xfrm>
            <a:off x="2271713" y="5414963"/>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50607" name="矩形 290895"/>
          <p:cNvSpPr/>
          <p:nvPr/>
        </p:nvSpPr>
        <p:spPr>
          <a:xfrm>
            <a:off x="1433513" y="5273675"/>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50608" name="直接连接符 290896"/>
          <p:cNvSpPr/>
          <p:nvPr/>
        </p:nvSpPr>
        <p:spPr>
          <a:xfrm>
            <a:off x="4343400" y="5360988"/>
            <a:ext cx="0" cy="400050"/>
          </a:xfrm>
          <a:prstGeom prst="line">
            <a:avLst/>
          </a:prstGeom>
          <a:ln w="25400" cap="flat" cmpd="sng">
            <a:solidFill>
              <a:schemeClr val="tx1"/>
            </a:solidFill>
            <a:prstDash val="solid"/>
            <a:round/>
            <a:headEnd type="triangle" w="med" len="med"/>
            <a:tailEnd type="none" w="med" len="med"/>
          </a:ln>
        </p:spPr>
      </p:sp>
      <p:sp>
        <p:nvSpPr>
          <p:cNvPr id="150609" name="矩形 290897"/>
          <p:cNvSpPr/>
          <p:nvPr/>
        </p:nvSpPr>
        <p:spPr>
          <a:xfrm>
            <a:off x="3948113" y="5781675"/>
            <a:ext cx="10191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610" name="直接连接符 290898"/>
          <p:cNvSpPr/>
          <p:nvPr/>
        </p:nvSpPr>
        <p:spPr>
          <a:xfrm>
            <a:off x="4508500" y="4637088"/>
            <a:ext cx="508000" cy="0"/>
          </a:xfrm>
          <a:prstGeom prst="line">
            <a:avLst/>
          </a:prstGeom>
          <a:ln w="25400" cap="flat" cmpd="sng">
            <a:solidFill>
              <a:schemeClr val="tx1"/>
            </a:solidFill>
            <a:prstDash val="solid"/>
            <a:round/>
            <a:headEnd type="none" w="med" len="med"/>
            <a:tailEnd type="triangle" w="med" len="med"/>
          </a:ln>
        </p:spPr>
      </p:sp>
      <p:sp>
        <p:nvSpPr>
          <p:cNvPr id="150611" name="直接连接符 290899"/>
          <p:cNvSpPr/>
          <p:nvPr/>
        </p:nvSpPr>
        <p:spPr>
          <a:xfrm>
            <a:off x="8534400" y="4506913"/>
            <a:ext cx="0" cy="1652587"/>
          </a:xfrm>
          <a:prstGeom prst="line">
            <a:avLst/>
          </a:prstGeom>
          <a:ln w="25400" cap="flat" cmpd="sng">
            <a:solidFill>
              <a:schemeClr val="tx1"/>
            </a:solidFill>
            <a:prstDash val="solid"/>
            <a:round/>
            <a:headEnd type="none" w="med" len="med"/>
            <a:tailEnd type="none" w="med" len="med"/>
          </a:ln>
        </p:spPr>
      </p:sp>
      <p:sp>
        <p:nvSpPr>
          <p:cNvPr id="150612" name="直接连接符 290900"/>
          <p:cNvSpPr/>
          <p:nvPr/>
        </p:nvSpPr>
        <p:spPr>
          <a:xfrm>
            <a:off x="3352800" y="5862638"/>
            <a:ext cx="0" cy="471487"/>
          </a:xfrm>
          <a:prstGeom prst="line">
            <a:avLst/>
          </a:prstGeom>
          <a:ln w="25400" cap="flat" cmpd="sng">
            <a:solidFill>
              <a:schemeClr val="tx1"/>
            </a:solidFill>
            <a:prstDash val="solid"/>
            <a:round/>
            <a:headEnd type="triangle" w="med" len="med"/>
            <a:tailEnd type="none" w="med" len="med"/>
          </a:ln>
        </p:spPr>
      </p:sp>
      <p:sp>
        <p:nvSpPr>
          <p:cNvPr id="150613" name="矩形 290901"/>
          <p:cNvSpPr/>
          <p:nvPr/>
        </p:nvSpPr>
        <p:spPr>
          <a:xfrm>
            <a:off x="3109913" y="6267450"/>
            <a:ext cx="8540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ExtOp</a:t>
            </a:r>
            <a:endParaRPr lang="en-US" altLang="zh-CN" sz="1800">
              <a:solidFill>
                <a:schemeClr val="accent1"/>
              </a:solidFill>
              <a:latin typeface="Arial" panose="020B0604020202020204" pitchFamily="34" charset="0"/>
              <a:ea typeface="宋体" panose="02010600030101010101" pitchFamily="2" charset="-122"/>
            </a:endParaRPr>
          </a:p>
        </p:txBody>
      </p:sp>
      <p:grpSp>
        <p:nvGrpSpPr>
          <p:cNvPr id="150614" name="组合 290902"/>
          <p:cNvGrpSpPr/>
          <p:nvPr/>
        </p:nvGrpSpPr>
        <p:grpSpPr>
          <a:xfrm>
            <a:off x="7772400" y="3938588"/>
            <a:ext cx="304800" cy="1255712"/>
            <a:chOff x="4896" y="2481"/>
            <a:chExt cx="192" cy="791"/>
          </a:xfrm>
        </p:grpSpPr>
        <p:sp>
          <p:nvSpPr>
            <p:cNvPr id="150615" name="直接连接符 290903"/>
            <p:cNvSpPr/>
            <p:nvPr/>
          </p:nvSpPr>
          <p:spPr>
            <a:xfrm>
              <a:off x="4896" y="2481"/>
              <a:ext cx="0" cy="775"/>
            </a:xfrm>
            <a:prstGeom prst="line">
              <a:avLst/>
            </a:prstGeom>
            <a:ln w="25400" cap="flat" cmpd="sng">
              <a:solidFill>
                <a:schemeClr val="tx1"/>
              </a:solidFill>
              <a:prstDash val="solid"/>
              <a:round/>
              <a:headEnd type="none" w="med" len="med"/>
              <a:tailEnd type="none" w="med" len="med"/>
            </a:ln>
          </p:spPr>
        </p:sp>
        <p:sp>
          <p:nvSpPr>
            <p:cNvPr id="150616" name="直接连接符 290904"/>
            <p:cNvSpPr/>
            <p:nvPr/>
          </p:nvSpPr>
          <p:spPr>
            <a:xfrm>
              <a:off x="4904" y="2481"/>
              <a:ext cx="176" cy="90"/>
            </a:xfrm>
            <a:prstGeom prst="line">
              <a:avLst/>
            </a:prstGeom>
            <a:ln w="25400" cap="flat" cmpd="sng">
              <a:solidFill>
                <a:schemeClr val="tx1"/>
              </a:solidFill>
              <a:prstDash val="solid"/>
              <a:round/>
              <a:headEnd type="none" w="med" len="med"/>
              <a:tailEnd type="none" w="med" len="med"/>
            </a:ln>
          </p:spPr>
        </p:sp>
        <p:sp>
          <p:nvSpPr>
            <p:cNvPr id="150617" name="直接连接符 290905"/>
            <p:cNvSpPr/>
            <p:nvPr/>
          </p:nvSpPr>
          <p:spPr>
            <a:xfrm flipV="1">
              <a:off x="4904" y="3150"/>
              <a:ext cx="176" cy="122"/>
            </a:xfrm>
            <a:prstGeom prst="line">
              <a:avLst/>
            </a:prstGeom>
            <a:ln w="25400" cap="flat" cmpd="sng">
              <a:solidFill>
                <a:schemeClr val="tx1"/>
              </a:solidFill>
              <a:prstDash val="solid"/>
              <a:round/>
              <a:headEnd type="none" w="med" len="med"/>
              <a:tailEnd type="none" w="med" len="med"/>
            </a:ln>
          </p:spPr>
        </p:sp>
        <p:sp>
          <p:nvSpPr>
            <p:cNvPr id="150618" name="直接连接符 290906"/>
            <p:cNvSpPr/>
            <p:nvPr/>
          </p:nvSpPr>
          <p:spPr>
            <a:xfrm>
              <a:off x="5088" y="2587"/>
              <a:ext cx="0" cy="563"/>
            </a:xfrm>
            <a:prstGeom prst="line">
              <a:avLst/>
            </a:prstGeom>
            <a:ln w="25400" cap="flat" cmpd="sng">
              <a:solidFill>
                <a:schemeClr val="tx1"/>
              </a:solidFill>
              <a:prstDash val="solid"/>
              <a:round/>
              <a:headEnd type="none" w="med" len="med"/>
              <a:tailEnd type="none" w="med" len="med"/>
            </a:ln>
          </p:spPr>
        </p:sp>
      </p:grpSp>
      <p:sp>
        <p:nvSpPr>
          <p:cNvPr id="150619" name="矩形 290907"/>
          <p:cNvSpPr/>
          <p:nvPr/>
        </p:nvSpPr>
        <p:spPr>
          <a:xfrm rot="5400000">
            <a:off x="7542213" y="4471988"/>
            <a:ext cx="638175" cy="365125"/>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Mux</a:t>
            </a:r>
            <a:endParaRPr lang="en-US" altLang="zh-CN" sz="1800">
              <a:latin typeface="Arial" panose="020B0604020202020204" pitchFamily="34" charset="0"/>
              <a:ea typeface="宋体" panose="02010600030101010101" pitchFamily="2" charset="-122"/>
            </a:endParaRPr>
          </a:p>
        </p:txBody>
      </p:sp>
      <p:sp>
        <p:nvSpPr>
          <p:cNvPr id="150620" name="直接连接符 290908"/>
          <p:cNvSpPr/>
          <p:nvPr/>
        </p:nvSpPr>
        <p:spPr>
          <a:xfrm flipV="1">
            <a:off x="7924800" y="3559175"/>
            <a:ext cx="0" cy="450850"/>
          </a:xfrm>
          <a:prstGeom prst="line">
            <a:avLst/>
          </a:prstGeom>
          <a:ln w="25400" cap="flat" cmpd="sng">
            <a:solidFill>
              <a:schemeClr val="tx1"/>
            </a:solidFill>
            <a:prstDash val="solid"/>
            <a:round/>
            <a:headEnd type="triangle" w="med" len="med"/>
            <a:tailEnd type="none" w="med" len="med"/>
          </a:ln>
        </p:spPr>
      </p:sp>
      <p:sp>
        <p:nvSpPr>
          <p:cNvPr id="150621" name="矩形 290909"/>
          <p:cNvSpPr/>
          <p:nvPr/>
        </p:nvSpPr>
        <p:spPr>
          <a:xfrm>
            <a:off x="7794625" y="3335338"/>
            <a:ext cx="1349375" cy="363537"/>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MemtoReg</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622" name="直接连接符 290910"/>
          <p:cNvSpPr/>
          <p:nvPr/>
        </p:nvSpPr>
        <p:spPr>
          <a:xfrm>
            <a:off x="8089900" y="4494213"/>
            <a:ext cx="431800" cy="0"/>
          </a:xfrm>
          <a:prstGeom prst="line">
            <a:avLst/>
          </a:prstGeom>
          <a:ln w="25400" cap="flat" cmpd="sng">
            <a:solidFill>
              <a:schemeClr val="tx1"/>
            </a:solidFill>
            <a:prstDash val="solid"/>
            <a:round/>
            <a:headEnd type="none" w="med" len="med"/>
            <a:tailEnd type="none" w="med" len="med"/>
          </a:ln>
        </p:spPr>
      </p:sp>
      <p:sp>
        <p:nvSpPr>
          <p:cNvPr id="150623" name="矩形 290911"/>
          <p:cNvSpPr/>
          <p:nvPr/>
        </p:nvSpPr>
        <p:spPr>
          <a:xfrm>
            <a:off x="6022975" y="4862513"/>
            <a:ext cx="1127125" cy="1128712"/>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624" name="直接连接符 290912"/>
          <p:cNvSpPr/>
          <p:nvPr/>
        </p:nvSpPr>
        <p:spPr>
          <a:xfrm flipH="1">
            <a:off x="5397500" y="5845175"/>
            <a:ext cx="482600" cy="0"/>
          </a:xfrm>
          <a:prstGeom prst="line">
            <a:avLst/>
          </a:prstGeom>
          <a:ln w="25400" cap="flat" cmpd="sng">
            <a:solidFill>
              <a:schemeClr val="tx1"/>
            </a:solidFill>
            <a:prstDash val="solid"/>
            <a:round/>
            <a:headEnd type="none" w="med" len="med"/>
            <a:tailEnd type="none" w="med" len="med"/>
          </a:ln>
        </p:spPr>
      </p:sp>
      <p:sp>
        <p:nvSpPr>
          <p:cNvPr id="150625" name="矩形 290913"/>
          <p:cNvSpPr/>
          <p:nvPr/>
        </p:nvSpPr>
        <p:spPr>
          <a:xfrm>
            <a:off x="5329238" y="54895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50626" name="矩形 290914"/>
          <p:cNvSpPr/>
          <p:nvPr/>
        </p:nvSpPr>
        <p:spPr>
          <a:xfrm>
            <a:off x="4633913" y="5060950"/>
            <a:ext cx="9302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Data</a:t>
            </a:r>
            <a:r>
              <a:rPr lang="en-US" altLang="zh-CN" b="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In</a:t>
            </a:r>
            <a:endParaRPr lang="en-US" altLang="zh-CN" sz="1800">
              <a:latin typeface="Arial" panose="020B0604020202020204" pitchFamily="34" charset="0"/>
              <a:ea typeface="宋体" panose="02010600030101010101" pitchFamily="2" charset="-122"/>
            </a:endParaRPr>
          </a:p>
        </p:txBody>
      </p:sp>
      <p:sp>
        <p:nvSpPr>
          <p:cNvPr id="150627" name="直接连接符 290915"/>
          <p:cNvSpPr/>
          <p:nvPr/>
        </p:nvSpPr>
        <p:spPr>
          <a:xfrm>
            <a:off x="6061075" y="5768975"/>
            <a:ext cx="250825" cy="63500"/>
          </a:xfrm>
          <a:prstGeom prst="line">
            <a:avLst/>
          </a:prstGeom>
          <a:ln w="25400" cap="flat" cmpd="sng">
            <a:solidFill>
              <a:schemeClr val="tx1"/>
            </a:solidFill>
            <a:prstDash val="solid"/>
            <a:round/>
            <a:headEnd type="none" w="med" len="med"/>
            <a:tailEnd type="none" w="med" len="med"/>
          </a:ln>
        </p:spPr>
      </p:sp>
      <p:sp>
        <p:nvSpPr>
          <p:cNvPr id="150628" name="直接连接符 290916"/>
          <p:cNvSpPr/>
          <p:nvPr/>
        </p:nvSpPr>
        <p:spPr>
          <a:xfrm flipH="1">
            <a:off x="6035675" y="5857875"/>
            <a:ext cx="301625" cy="98425"/>
          </a:xfrm>
          <a:prstGeom prst="line">
            <a:avLst/>
          </a:prstGeom>
          <a:ln w="25400" cap="flat" cmpd="sng">
            <a:solidFill>
              <a:schemeClr val="tx1"/>
            </a:solidFill>
            <a:prstDash val="solid"/>
            <a:round/>
            <a:headEnd type="none" w="med" len="med"/>
            <a:tailEnd type="none" w="med" len="med"/>
          </a:ln>
        </p:spPr>
      </p:sp>
      <p:sp>
        <p:nvSpPr>
          <p:cNvPr id="150629" name="椭圆 290917"/>
          <p:cNvSpPr/>
          <p:nvPr/>
        </p:nvSpPr>
        <p:spPr>
          <a:xfrm>
            <a:off x="5870575" y="58039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630" name="矩形 290918"/>
          <p:cNvSpPr/>
          <p:nvPr/>
        </p:nvSpPr>
        <p:spPr>
          <a:xfrm>
            <a:off x="6003925" y="4845050"/>
            <a:ext cx="7778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WrEn</a:t>
            </a:r>
            <a:endParaRPr lang="en-US" altLang="zh-CN" sz="1800">
              <a:latin typeface="Arial" panose="020B0604020202020204" pitchFamily="34" charset="0"/>
              <a:ea typeface="宋体" panose="02010600030101010101" pitchFamily="2" charset="-122"/>
            </a:endParaRPr>
          </a:p>
        </p:txBody>
      </p:sp>
      <p:sp>
        <p:nvSpPr>
          <p:cNvPr id="150631" name="直接连接符 290919"/>
          <p:cNvSpPr/>
          <p:nvPr/>
        </p:nvSpPr>
        <p:spPr>
          <a:xfrm flipH="1">
            <a:off x="5016500" y="5062538"/>
            <a:ext cx="1016000" cy="0"/>
          </a:xfrm>
          <a:prstGeom prst="line">
            <a:avLst/>
          </a:prstGeom>
          <a:ln w="25400" cap="flat" cmpd="sng">
            <a:solidFill>
              <a:schemeClr val="tx1"/>
            </a:solidFill>
            <a:prstDash val="solid"/>
            <a:round/>
            <a:headEnd type="triangle" w="med" len="med"/>
            <a:tailEnd type="none" w="med" len="med"/>
          </a:ln>
        </p:spPr>
      </p:sp>
      <p:sp>
        <p:nvSpPr>
          <p:cNvPr id="150632" name="直接连接符 290920"/>
          <p:cNvSpPr/>
          <p:nvPr/>
        </p:nvSpPr>
        <p:spPr>
          <a:xfrm flipH="1">
            <a:off x="5556250" y="4999038"/>
            <a:ext cx="88900" cy="128587"/>
          </a:xfrm>
          <a:prstGeom prst="line">
            <a:avLst/>
          </a:prstGeom>
          <a:ln w="12700" cap="flat" cmpd="sng">
            <a:solidFill>
              <a:schemeClr val="tx1"/>
            </a:solidFill>
            <a:prstDash val="solid"/>
            <a:round/>
            <a:headEnd type="none" w="med" len="med"/>
            <a:tailEnd type="none" w="med" len="med"/>
          </a:ln>
        </p:spPr>
      </p:sp>
      <p:sp>
        <p:nvSpPr>
          <p:cNvPr id="150633" name="矩形 290921"/>
          <p:cNvSpPr/>
          <p:nvPr/>
        </p:nvSpPr>
        <p:spPr>
          <a:xfrm>
            <a:off x="5434013" y="4711700"/>
            <a:ext cx="434975" cy="363538"/>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50634" name="直接连接符 290922"/>
          <p:cNvSpPr/>
          <p:nvPr/>
        </p:nvSpPr>
        <p:spPr>
          <a:xfrm flipV="1">
            <a:off x="6324600" y="3559175"/>
            <a:ext cx="0" cy="1303338"/>
          </a:xfrm>
          <a:prstGeom prst="line">
            <a:avLst/>
          </a:prstGeom>
          <a:ln w="25400" cap="flat" cmpd="sng">
            <a:solidFill>
              <a:schemeClr val="tx1"/>
            </a:solidFill>
            <a:prstDash val="solid"/>
            <a:round/>
            <a:headEnd type="triangle" w="med" len="med"/>
            <a:tailEnd type="none" w="med" len="med"/>
          </a:ln>
        </p:spPr>
      </p:sp>
      <p:sp>
        <p:nvSpPr>
          <p:cNvPr id="150635" name="直接连接符 290923"/>
          <p:cNvSpPr/>
          <p:nvPr/>
        </p:nvSpPr>
        <p:spPr>
          <a:xfrm>
            <a:off x="6858000" y="4222750"/>
            <a:ext cx="0" cy="614363"/>
          </a:xfrm>
          <a:prstGeom prst="line">
            <a:avLst/>
          </a:prstGeom>
          <a:ln w="25400" cap="flat" cmpd="sng">
            <a:solidFill>
              <a:schemeClr val="tx1"/>
            </a:solidFill>
            <a:prstDash val="solid"/>
            <a:round/>
            <a:headEnd type="none" w="med" len="med"/>
            <a:tailEnd type="triangle" w="med" len="med"/>
          </a:ln>
        </p:spPr>
      </p:sp>
      <p:sp>
        <p:nvSpPr>
          <p:cNvPr id="150636" name="矩形 290924"/>
          <p:cNvSpPr/>
          <p:nvPr/>
        </p:nvSpPr>
        <p:spPr>
          <a:xfrm>
            <a:off x="6615113" y="4846638"/>
            <a:ext cx="57467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Adr</a:t>
            </a:r>
            <a:endParaRPr lang="en-US" altLang="zh-CN" sz="1800">
              <a:latin typeface="Arial" panose="020B0604020202020204" pitchFamily="34" charset="0"/>
              <a:ea typeface="宋体" panose="02010600030101010101" pitchFamily="2" charset="-122"/>
            </a:endParaRPr>
          </a:p>
        </p:txBody>
      </p:sp>
      <p:sp>
        <p:nvSpPr>
          <p:cNvPr id="150637" name="矩形 290925"/>
          <p:cNvSpPr/>
          <p:nvPr/>
        </p:nvSpPr>
        <p:spPr>
          <a:xfrm>
            <a:off x="6015038" y="5202238"/>
            <a:ext cx="10572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50638" name="直接连接符 290926"/>
          <p:cNvSpPr/>
          <p:nvPr/>
        </p:nvSpPr>
        <p:spPr>
          <a:xfrm>
            <a:off x="7327900" y="5013325"/>
            <a:ext cx="431800" cy="0"/>
          </a:xfrm>
          <a:prstGeom prst="line">
            <a:avLst/>
          </a:prstGeom>
          <a:ln w="25400" cap="flat" cmpd="sng">
            <a:solidFill>
              <a:schemeClr val="tx1"/>
            </a:solidFill>
            <a:prstDash val="solid"/>
            <a:round/>
            <a:headEnd type="none" w="med" len="med"/>
            <a:tailEnd type="triangle" w="med" len="med"/>
          </a:ln>
        </p:spPr>
      </p:sp>
      <p:sp>
        <p:nvSpPr>
          <p:cNvPr id="150639" name="直接连接符 290927"/>
          <p:cNvSpPr/>
          <p:nvPr/>
        </p:nvSpPr>
        <p:spPr>
          <a:xfrm>
            <a:off x="7315200" y="5041900"/>
            <a:ext cx="0" cy="434975"/>
          </a:xfrm>
          <a:prstGeom prst="line">
            <a:avLst/>
          </a:prstGeom>
          <a:ln w="25400" cap="flat" cmpd="sng">
            <a:solidFill>
              <a:schemeClr val="tx1"/>
            </a:solidFill>
            <a:prstDash val="solid"/>
            <a:round/>
            <a:headEnd type="none" w="med" len="med"/>
            <a:tailEnd type="none" w="med" len="med"/>
          </a:ln>
        </p:spPr>
      </p:sp>
      <p:sp>
        <p:nvSpPr>
          <p:cNvPr id="150640" name="直接连接符 290928"/>
          <p:cNvSpPr/>
          <p:nvPr/>
        </p:nvSpPr>
        <p:spPr>
          <a:xfrm flipH="1">
            <a:off x="7150100" y="5489575"/>
            <a:ext cx="177800" cy="0"/>
          </a:xfrm>
          <a:prstGeom prst="line">
            <a:avLst/>
          </a:prstGeom>
          <a:ln w="25400" cap="flat" cmpd="sng">
            <a:solidFill>
              <a:schemeClr val="tx1"/>
            </a:solidFill>
            <a:prstDash val="solid"/>
            <a:round/>
            <a:headEnd type="none" w="med" len="med"/>
            <a:tailEnd type="none" w="med" len="med"/>
          </a:ln>
        </p:spPr>
      </p:sp>
      <p:sp>
        <p:nvSpPr>
          <p:cNvPr id="150641" name="直接连接符 290929"/>
          <p:cNvSpPr/>
          <p:nvPr/>
        </p:nvSpPr>
        <p:spPr>
          <a:xfrm flipH="1">
            <a:off x="7385050" y="4948238"/>
            <a:ext cx="88900" cy="128587"/>
          </a:xfrm>
          <a:prstGeom prst="line">
            <a:avLst/>
          </a:prstGeom>
          <a:ln w="12700" cap="flat" cmpd="sng">
            <a:solidFill>
              <a:schemeClr val="tx1"/>
            </a:solidFill>
            <a:prstDash val="solid"/>
            <a:round/>
            <a:headEnd type="none" w="med" len="med"/>
            <a:tailEnd type="none" w="med" len="med"/>
          </a:ln>
        </p:spPr>
      </p:sp>
      <p:sp>
        <p:nvSpPr>
          <p:cNvPr id="150642" name="矩形 290930"/>
          <p:cNvSpPr/>
          <p:nvPr/>
        </p:nvSpPr>
        <p:spPr>
          <a:xfrm>
            <a:off x="7148513" y="4649788"/>
            <a:ext cx="434975" cy="363537"/>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50643" name="矩形 290931"/>
          <p:cNvSpPr/>
          <p:nvPr/>
        </p:nvSpPr>
        <p:spPr>
          <a:xfrm>
            <a:off x="6310313" y="3513138"/>
            <a:ext cx="1006475" cy="363537"/>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MemWr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644" name="直接连接符 290932"/>
          <p:cNvSpPr/>
          <p:nvPr/>
        </p:nvSpPr>
        <p:spPr>
          <a:xfrm>
            <a:off x="3810000" y="4508500"/>
            <a:ext cx="0" cy="541338"/>
          </a:xfrm>
          <a:prstGeom prst="line">
            <a:avLst/>
          </a:prstGeom>
          <a:ln w="25400" cap="flat" cmpd="sng">
            <a:solidFill>
              <a:schemeClr val="tx1"/>
            </a:solidFill>
            <a:prstDash val="solid"/>
            <a:round/>
            <a:headEnd type="none" w="med" len="med"/>
            <a:tailEnd type="none" w="med" len="med"/>
          </a:ln>
        </p:spPr>
      </p:sp>
      <p:sp>
        <p:nvSpPr>
          <p:cNvPr id="150645" name="直接连接符 290933"/>
          <p:cNvSpPr/>
          <p:nvPr/>
        </p:nvSpPr>
        <p:spPr>
          <a:xfrm>
            <a:off x="3805238" y="5054600"/>
            <a:ext cx="1211262" cy="7938"/>
          </a:xfrm>
          <a:prstGeom prst="line">
            <a:avLst/>
          </a:prstGeom>
          <a:ln w="25400" cap="flat" cmpd="sng">
            <a:solidFill>
              <a:schemeClr val="tx1"/>
            </a:solidFill>
            <a:prstDash val="solid"/>
            <a:round/>
            <a:headEnd type="none" w="med" len="med"/>
            <a:tailEnd type="none" w="med" len="med"/>
          </a:ln>
        </p:spPr>
      </p:sp>
      <p:sp>
        <p:nvSpPr>
          <p:cNvPr id="150646" name="矩形 290934"/>
          <p:cNvSpPr/>
          <p:nvPr/>
        </p:nvSpPr>
        <p:spPr>
          <a:xfrm rot="5400000">
            <a:off x="5021263" y="4068763"/>
            <a:ext cx="650875" cy="365125"/>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150647" name="矩形 290935"/>
          <p:cNvSpPr/>
          <p:nvPr/>
        </p:nvSpPr>
        <p:spPr>
          <a:xfrm>
            <a:off x="4575175" y="1993900"/>
            <a:ext cx="1203325" cy="873125"/>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648" name="直接连接符 290936"/>
          <p:cNvSpPr/>
          <p:nvPr/>
        </p:nvSpPr>
        <p:spPr>
          <a:xfrm flipH="1">
            <a:off x="3949700" y="2720975"/>
            <a:ext cx="482600" cy="0"/>
          </a:xfrm>
          <a:prstGeom prst="line">
            <a:avLst/>
          </a:prstGeom>
          <a:ln w="25400" cap="flat" cmpd="sng">
            <a:solidFill>
              <a:schemeClr val="tx1"/>
            </a:solidFill>
            <a:prstDash val="solid"/>
            <a:round/>
            <a:headEnd type="none" w="med" len="med"/>
            <a:tailEnd type="none" w="med" len="med"/>
          </a:ln>
        </p:spPr>
      </p:sp>
      <p:sp>
        <p:nvSpPr>
          <p:cNvPr id="150649" name="直接连接符 290937"/>
          <p:cNvSpPr/>
          <p:nvPr/>
        </p:nvSpPr>
        <p:spPr>
          <a:xfrm>
            <a:off x="4613275" y="2644775"/>
            <a:ext cx="250825" cy="63500"/>
          </a:xfrm>
          <a:prstGeom prst="line">
            <a:avLst/>
          </a:prstGeom>
          <a:ln w="25400" cap="flat" cmpd="sng">
            <a:solidFill>
              <a:schemeClr val="tx1"/>
            </a:solidFill>
            <a:prstDash val="solid"/>
            <a:round/>
            <a:headEnd type="none" w="med" len="med"/>
            <a:tailEnd type="none" w="med" len="med"/>
          </a:ln>
        </p:spPr>
      </p:sp>
      <p:sp>
        <p:nvSpPr>
          <p:cNvPr id="150650" name="直接连接符 290938"/>
          <p:cNvSpPr/>
          <p:nvPr/>
        </p:nvSpPr>
        <p:spPr>
          <a:xfrm flipH="1">
            <a:off x="4587875" y="2733675"/>
            <a:ext cx="301625" cy="98425"/>
          </a:xfrm>
          <a:prstGeom prst="line">
            <a:avLst/>
          </a:prstGeom>
          <a:ln w="25400" cap="flat" cmpd="sng">
            <a:solidFill>
              <a:schemeClr val="tx1"/>
            </a:solidFill>
            <a:prstDash val="solid"/>
            <a:round/>
            <a:headEnd type="none" w="med" len="med"/>
            <a:tailEnd type="none" w="med" len="med"/>
          </a:ln>
        </p:spPr>
      </p:sp>
      <p:sp>
        <p:nvSpPr>
          <p:cNvPr id="150651" name="椭圆 290939"/>
          <p:cNvSpPr/>
          <p:nvPr/>
        </p:nvSpPr>
        <p:spPr>
          <a:xfrm>
            <a:off x="4422775" y="2679700"/>
            <a:ext cx="127000" cy="117475"/>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652" name="矩形 290940"/>
          <p:cNvSpPr/>
          <p:nvPr/>
        </p:nvSpPr>
        <p:spPr>
          <a:xfrm>
            <a:off x="4494213" y="2078038"/>
            <a:ext cx="13620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Fetch</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Unit</a:t>
            </a:r>
            <a:endParaRPr lang="en-US" altLang="zh-CN" sz="1800">
              <a:latin typeface="Arial" panose="020B0604020202020204" pitchFamily="34" charset="0"/>
              <a:ea typeface="宋体" panose="02010600030101010101" pitchFamily="2" charset="-122"/>
            </a:endParaRPr>
          </a:p>
        </p:txBody>
      </p:sp>
      <p:sp>
        <p:nvSpPr>
          <p:cNvPr id="150653" name="矩形 290941"/>
          <p:cNvSpPr/>
          <p:nvPr/>
        </p:nvSpPr>
        <p:spPr>
          <a:xfrm>
            <a:off x="3500438" y="2530475"/>
            <a:ext cx="5365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rgbClr val="A50021"/>
                </a:solidFill>
                <a:latin typeface="Arial" panose="020B0604020202020204" pitchFamily="34" charset="0"/>
                <a:ea typeface="宋体" panose="02010600030101010101" pitchFamily="2" charset="-122"/>
              </a:rPr>
              <a:t>Clk</a:t>
            </a:r>
            <a:endParaRPr lang="en-US" altLang="zh-CN" sz="1800">
              <a:solidFill>
                <a:srgbClr val="A50021"/>
              </a:solidFill>
              <a:latin typeface="Arial" panose="020B0604020202020204" pitchFamily="34" charset="0"/>
              <a:ea typeface="宋体" panose="02010600030101010101" pitchFamily="2" charset="-122"/>
            </a:endParaRPr>
          </a:p>
        </p:txBody>
      </p:sp>
      <p:sp>
        <p:nvSpPr>
          <p:cNvPr id="150654" name="直接连接符 290942"/>
          <p:cNvSpPr/>
          <p:nvPr/>
        </p:nvSpPr>
        <p:spPr>
          <a:xfrm flipV="1">
            <a:off x="5638800" y="2882900"/>
            <a:ext cx="0" cy="1168400"/>
          </a:xfrm>
          <a:prstGeom prst="line">
            <a:avLst/>
          </a:prstGeom>
          <a:ln w="25400" cap="flat" cmpd="sng">
            <a:solidFill>
              <a:schemeClr val="tx1"/>
            </a:solidFill>
            <a:prstDash val="solid"/>
            <a:round/>
            <a:headEnd type="none" w="med" len="med"/>
            <a:tailEnd type="triangle" w="med" len="med"/>
          </a:ln>
        </p:spPr>
      </p:sp>
      <p:sp>
        <p:nvSpPr>
          <p:cNvPr id="150655" name="直接连接符 290943"/>
          <p:cNvSpPr/>
          <p:nvPr/>
        </p:nvSpPr>
        <p:spPr>
          <a:xfrm flipH="1">
            <a:off x="5473700" y="4038600"/>
            <a:ext cx="177800" cy="0"/>
          </a:xfrm>
          <a:prstGeom prst="line">
            <a:avLst/>
          </a:prstGeom>
          <a:ln w="25400" cap="flat" cmpd="sng">
            <a:solidFill>
              <a:schemeClr val="tx1"/>
            </a:solidFill>
            <a:prstDash val="solid"/>
            <a:round/>
            <a:headEnd type="none" w="med" len="med"/>
            <a:tailEnd type="none" w="med" len="med"/>
          </a:ln>
        </p:spPr>
      </p:sp>
      <p:sp>
        <p:nvSpPr>
          <p:cNvPr id="150656" name="矩形 290944"/>
          <p:cNvSpPr/>
          <p:nvPr/>
        </p:nvSpPr>
        <p:spPr>
          <a:xfrm>
            <a:off x="5624513" y="3505200"/>
            <a:ext cx="6762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2"/>
                </a:solidFill>
                <a:latin typeface="Arial" panose="020B0604020202020204" pitchFamily="34" charset="0"/>
                <a:ea typeface="宋体" panose="02010600030101010101" pitchFamily="2" charset="-122"/>
              </a:rPr>
              <a:t>Zero</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50657" name="直接连接符 290945"/>
          <p:cNvSpPr/>
          <p:nvPr/>
        </p:nvSpPr>
        <p:spPr>
          <a:xfrm>
            <a:off x="5803900" y="2133600"/>
            <a:ext cx="2489200" cy="0"/>
          </a:xfrm>
          <a:prstGeom prst="line">
            <a:avLst/>
          </a:prstGeom>
          <a:ln w="25400" cap="flat" cmpd="sng">
            <a:solidFill>
              <a:schemeClr val="tx1"/>
            </a:solidFill>
            <a:prstDash val="solid"/>
            <a:round/>
            <a:headEnd type="none" w="med" len="med"/>
            <a:tailEnd type="triangle" w="med" len="med"/>
          </a:ln>
        </p:spPr>
      </p:sp>
      <p:sp>
        <p:nvSpPr>
          <p:cNvPr id="150658" name="矩形 290946"/>
          <p:cNvSpPr/>
          <p:nvPr/>
        </p:nvSpPr>
        <p:spPr>
          <a:xfrm>
            <a:off x="5853113" y="1820863"/>
            <a:ext cx="2066925" cy="363537"/>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Instruction&lt;31:0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50659" name="直接连接符 290947"/>
          <p:cNvSpPr/>
          <p:nvPr/>
        </p:nvSpPr>
        <p:spPr>
          <a:xfrm>
            <a:off x="3975100" y="2438400"/>
            <a:ext cx="584200" cy="0"/>
          </a:xfrm>
          <a:prstGeom prst="line">
            <a:avLst/>
          </a:prstGeom>
          <a:ln w="25400" cap="flat" cmpd="sng">
            <a:solidFill>
              <a:schemeClr val="tx1"/>
            </a:solidFill>
            <a:prstDash val="solid"/>
            <a:round/>
            <a:headEnd type="none" w="med" len="med"/>
            <a:tailEnd type="triangle" w="med" len="med"/>
          </a:ln>
        </p:spPr>
      </p:sp>
      <p:sp>
        <p:nvSpPr>
          <p:cNvPr id="150660" name="直接连接符 290948"/>
          <p:cNvSpPr/>
          <p:nvPr/>
        </p:nvSpPr>
        <p:spPr>
          <a:xfrm>
            <a:off x="3975100" y="2133600"/>
            <a:ext cx="584200" cy="0"/>
          </a:xfrm>
          <a:prstGeom prst="line">
            <a:avLst/>
          </a:prstGeom>
          <a:ln w="25400" cap="flat" cmpd="sng">
            <a:solidFill>
              <a:schemeClr val="tx1"/>
            </a:solidFill>
            <a:prstDash val="solid"/>
            <a:round/>
            <a:headEnd type="none" w="med" len="med"/>
            <a:tailEnd type="triangle" w="med" len="med"/>
          </a:ln>
        </p:spPr>
      </p:sp>
      <p:sp>
        <p:nvSpPr>
          <p:cNvPr id="150661" name="矩形 290949"/>
          <p:cNvSpPr/>
          <p:nvPr/>
        </p:nvSpPr>
        <p:spPr>
          <a:xfrm>
            <a:off x="3424238" y="2225675"/>
            <a:ext cx="7905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1"/>
                </a:solidFill>
                <a:latin typeface="Arial" panose="020B0604020202020204" pitchFamily="34" charset="0"/>
                <a:ea typeface="宋体" panose="02010600030101010101" pitchFamily="2" charset="-122"/>
              </a:rPr>
              <a:t>Jump</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662" name="矩形 290950"/>
          <p:cNvSpPr/>
          <p:nvPr/>
        </p:nvSpPr>
        <p:spPr>
          <a:xfrm>
            <a:off x="3271838" y="1844675"/>
            <a:ext cx="968375" cy="363538"/>
          </a:xfrm>
          <a:prstGeom prst="rect">
            <a:avLst/>
          </a:prstGeom>
          <a:noFill/>
          <a:ln w="12700">
            <a:noFill/>
          </a:ln>
        </p:spPr>
        <p:txBody>
          <a:bodyPr wrap="none" lIns="90488" tIns="44450" rIns="90488" bIns="44450" anchor="t" anchorCtr="0">
            <a:spAutoFit/>
          </a:bodyPr>
          <a:p>
            <a:pPr eaLnBrk="0" hangingPunct="0"/>
            <a:r>
              <a:rPr lang="en-US" altLang="zh-CN" sz="1800">
                <a:solidFill>
                  <a:schemeClr val="accent1"/>
                </a:solidFill>
                <a:latin typeface="Arial" panose="020B0604020202020204" pitchFamily="34" charset="0"/>
                <a:ea typeface="宋体" panose="02010600030101010101" pitchFamily="2" charset="-122"/>
              </a:rPr>
              <a:t>Branch</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663" name="矩形 290951"/>
          <p:cNvSpPr/>
          <p:nvPr/>
        </p:nvSpPr>
        <p:spPr>
          <a:xfrm>
            <a:off x="7732713" y="40386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50664" name="矩形 290952"/>
          <p:cNvSpPr/>
          <p:nvPr/>
        </p:nvSpPr>
        <p:spPr>
          <a:xfrm>
            <a:off x="7732713" y="48180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50665" name="矩形 290953"/>
          <p:cNvSpPr/>
          <p:nvPr/>
        </p:nvSpPr>
        <p:spPr>
          <a:xfrm>
            <a:off x="4151313" y="42672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50666" name="矩形 290954"/>
          <p:cNvSpPr/>
          <p:nvPr/>
        </p:nvSpPr>
        <p:spPr>
          <a:xfrm>
            <a:off x="4151313" y="5046663"/>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50667" name="矩形 290955"/>
          <p:cNvSpPr/>
          <p:nvPr/>
        </p:nvSpPr>
        <p:spPr>
          <a:xfrm>
            <a:off x="22812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0</a:t>
            </a:r>
            <a:endParaRPr lang="zh-CN" altLang="en-US" b="0" dirty="0">
              <a:latin typeface="Times New Roman" panose="02020603050405020304" pitchFamily="18" charset="0"/>
              <a:ea typeface="宋体" panose="02010600030101010101" pitchFamily="2" charset="-122"/>
            </a:endParaRPr>
          </a:p>
        </p:txBody>
      </p:sp>
      <p:sp>
        <p:nvSpPr>
          <p:cNvPr id="150668" name="矩形 290956"/>
          <p:cNvSpPr/>
          <p:nvPr/>
        </p:nvSpPr>
        <p:spPr>
          <a:xfrm>
            <a:off x="1595438" y="2717800"/>
            <a:ext cx="282575" cy="333375"/>
          </a:xfrm>
          <a:prstGeom prst="rect">
            <a:avLst/>
          </a:prstGeom>
          <a:noFill/>
          <a:ln w="12700">
            <a:noFill/>
          </a:ln>
        </p:spPr>
        <p:txBody>
          <a:bodyPr wrap="none" lIns="90488" tIns="44450" rIns="90488" bIns="44450" anchor="t" anchorCtr="0">
            <a:spAutoFit/>
          </a:bodyPr>
          <a:p>
            <a:pPr eaLnBrk="0" hangingPunct="0"/>
            <a:r>
              <a:rPr lang="zh-CN" altLang="en-US" b="0" dirty="0">
                <a:latin typeface="Times New Roman" panose="02020603050405020304" pitchFamily="18" charset="0"/>
                <a:ea typeface="宋体" panose="02010600030101010101" pitchFamily="2" charset="-122"/>
              </a:rPr>
              <a:t>1</a:t>
            </a:r>
            <a:endParaRPr lang="zh-CN" altLang="en-US" b="0" dirty="0">
              <a:latin typeface="Times New Roman" panose="02020603050405020304" pitchFamily="18" charset="0"/>
              <a:ea typeface="宋体" panose="02010600030101010101" pitchFamily="2" charset="-122"/>
            </a:endParaRPr>
          </a:p>
        </p:txBody>
      </p:sp>
      <p:sp>
        <p:nvSpPr>
          <p:cNvPr id="150669" name="直接连接符 290957"/>
          <p:cNvSpPr/>
          <p:nvPr/>
        </p:nvSpPr>
        <p:spPr>
          <a:xfrm>
            <a:off x="6096000" y="2146300"/>
            <a:ext cx="0" cy="889000"/>
          </a:xfrm>
          <a:prstGeom prst="line">
            <a:avLst/>
          </a:prstGeom>
          <a:ln w="25400" cap="flat" cmpd="sng">
            <a:solidFill>
              <a:schemeClr val="tx1"/>
            </a:solidFill>
            <a:prstDash val="solid"/>
            <a:round/>
            <a:headEnd type="none" w="med" len="med"/>
            <a:tailEnd type="triangle" w="med" len="med"/>
          </a:ln>
        </p:spPr>
      </p:sp>
      <p:sp>
        <p:nvSpPr>
          <p:cNvPr id="150670" name="矩形 290958"/>
          <p:cNvSpPr/>
          <p:nvPr/>
        </p:nvSpPr>
        <p:spPr>
          <a:xfrm rot="5400000">
            <a:off x="57546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&lt;21:25&gt;</a:t>
            </a:r>
            <a:endParaRPr lang="zh-CN" altLang="en-US" sz="1800" dirty="0">
              <a:latin typeface="Arial" panose="020B0604020202020204" pitchFamily="34" charset="0"/>
              <a:ea typeface="宋体" panose="02010600030101010101" pitchFamily="2" charset="-122"/>
            </a:endParaRPr>
          </a:p>
        </p:txBody>
      </p:sp>
      <p:sp>
        <p:nvSpPr>
          <p:cNvPr id="150671" name="矩形 290959"/>
          <p:cNvSpPr/>
          <p:nvPr/>
        </p:nvSpPr>
        <p:spPr>
          <a:xfrm rot="5400000">
            <a:off x="62880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&lt;16:20&gt;</a:t>
            </a:r>
            <a:endParaRPr lang="zh-CN" altLang="en-US" sz="1800" dirty="0">
              <a:latin typeface="Arial" panose="020B0604020202020204" pitchFamily="34" charset="0"/>
              <a:ea typeface="宋体" panose="02010600030101010101" pitchFamily="2" charset="-122"/>
            </a:endParaRPr>
          </a:p>
        </p:txBody>
      </p:sp>
      <p:sp>
        <p:nvSpPr>
          <p:cNvPr id="150672" name="矩形 290960"/>
          <p:cNvSpPr/>
          <p:nvPr/>
        </p:nvSpPr>
        <p:spPr>
          <a:xfrm rot="5400000">
            <a:off x="6821488" y="2420938"/>
            <a:ext cx="1031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&lt;11:15&gt;</a:t>
            </a:r>
            <a:endParaRPr lang="zh-CN" altLang="en-US" sz="1800" dirty="0">
              <a:latin typeface="Arial" panose="020B0604020202020204" pitchFamily="34" charset="0"/>
              <a:ea typeface="宋体" panose="02010600030101010101" pitchFamily="2" charset="-122"/>
            </a:endParaRPr>
          </a:p>
        </p:txBody>
      </p:sp>
      <p:sp>
        <p:nvSpPr>
          <p:cNvPr id="150673" name="矩形 290961"/>
          <p:cNvSpPr/>
          <p:nvPr/>
        </p:nvSpPr>
        <p:spPr>
          <a:xfrm rot="5400000">
            <a:off x="7367588" y="2408238"/>
            <a:ext cx="904875" cy="365125"/>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&lt;0:15&gt;</a:t>
            </a:r>
            <a:endParaRPr lang="zh-CN" altLang="en-US" sz="1800" dirty="0">
              <a:latin typeface="Arial" panose="020B0604020202020204" pitchFamily="34" charset="0"/>
              <a:ea typeface="宋体" panose="02010600030101010101" pitchFamily="2" charset="-122"/>
            </a:endParaRPr>
          </a:p>
        </p:txBody>
      </p:sp>
      <p:sp>
        <p:nvSpPr>
          <p:cNvPr id="150674" name="直接连接符 290962"/>
          <p:cNvSpPr/>
          <p:nvPr/>
        </p:nvSpPr>
        <p:spPr>
          <a:xfrm>
            <a:off x="6629400" y="2146300"/>
            <a:ext cx="0" cy="889000"/>
          </a:xfrm>
          <a:prstGeom prst="line">
            <a:avLst/>
          </a:prstGeom>
          <a:ln w="25400" cap="flat" cmpd="sng">
            <a:solidFill>
              <a:schemeClr val="tx1"/>
            </a:solidFill>
            <a:prstDash val="solid"/>
            <a:round/>
            <a:headEnd type="none" w="med" len="med"/>
            <a:tailEnd type="triangle" w="med" len="med"/>
          </a:ln>
        </p:spPr>
      </p:sp>
      <p:sp>
        <p:nvSpPr>
          <p:cNvPr id="150675" name="直接连接符 290963"/>
          <p:cNvSpPr/>
          <p:nvPr/>
        </p:nvSpPr>
        <p:spPr>
          <a:xfrm>
            <a:off x="7162800" y="2146300"/>
            <a:ext cx="0" cy="889000"/>
          </a:xfrm>
          <a:prstGeom prst="line">
            <a:avLst/>
          </a:prstGeom>
          <a:ln w="25400" cap="flat" cmpd="sng">
            <a:solidFill>
              <a:schemeClr val="tx1"/>
            </a:solidFill>
            <a:prstDash val="solid"/>
            <a:round/>
            <a:headEnd type="none" w="med" len="med"/>
            <a:tailEnd type="triangle" w="med" len="med"/>
          </a:ln>
        </p:spPr>
      </p:sp>
      <p:sp>
        <p:nvSpPr>
          <p:cNvPr id="150676" name="直接连接符 290964"/>
          <p:cNvSpPr/>
          <p:nvPr/>
        </p:nvSpPr>
        <p:spPr>
          <a:xfrm>
            <a:off x="7696200" y="2146300"/>
            <a:ext cx="0" cy="889000"/>
          </a:xfrm>
          <a:prstGeom prst="line">
            <a:avLst/>
          </a:prstGeom>
          <a:ln w="25400" cap="flat" cmpd="sng">
            <a:solidFill>
              <a:schemeClr val="tx1"/>
            </a:solidFill>
            <a:prstDash val="solid"/>
            <a:round/>
            <a:headEnd type="none" w="med" len="med"/>
            <a:tailEnd type="triangle" w="med" len="med"/>
          </a:ln>
        </p:spPr>
      </p:sp>
      <p:sp>
        <p:nvSpPr>
          <p:cNvPr id="150677" name="矩形 290965"/>
          <p:cNvSpPr/>
          <p:nvPr/>
        </p:nvSpPr>
        <p:spPr>
          <a:xfrm>
            <a:off x="7453313" y="2971800"/>
            <a:ext cx="9048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Imm16</a:t>
            </a:r>
            <a:endParaRPr lang="en-US" altLang="zh-CN" sz="1800">
              <a:latin typeface="Arial" panose="020B0604020202020204" pitchFamily="34" charset="0"/>
              <a:ea typeface="宋体" panose="02010600030101010101" pitchFamily="2" charset="-122"/>
            </a:endParaRPr>
          </a:p>
        </p:txBody>
      </p:sp>
      <p:sp>
        <p:nvSpPr>
          <p:cNvPr id="150678" name="矩形 290966"/>
          <p:cNvSpPr/>
          <p:nvPr/>
        </p:nvSpPr>
        <p:spPr>
          <a:xfrm>
            <a:off x="6919913" y="2971800"/>
            <a:ext cx="4857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sp>
        <p:nvSpPr>
          <p:cNvPr id="150679" name="矩形 290967"/>
          <p:cNvSpPr/>
          <p:nvPr/>
        </p:nvSpPr>
        <p:spPr>
          <a:xfrm>
            <a:off x="6462713" y="2971800"/>
            <a:ext cx="4730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50680" name="矩形 290968"/>
          <p:cNvSpPr/>
          <p:nvPr/>
        </p:nvSpPr>
        <p:spPr>
          <a:xfrm>
            <a:off x="5929313" y="2971800"/>
            <a:ext cx="4222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50681" name="矩形 290969"/>
          <p:cNvSpPr/>
          <p:nvPr/>
        </p:nvSpPr>
        <p:spPr>
          <a:xfrm>
            <a:off x="1460500" y="850900"/>
            <a:ext cx="965200" cy="1270000"/>
          </a:xfrm>
          <a:prstGeom prst="rect">
            <a:avLst/>
          </a:prstGeom>
          <a:noFill/>
          <a:ln w="25400" cap="flat" cmpd="sng">
            <a:solidFill>
              <a:schemeClr val="accent2"/>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682" name="矩形 290970"/>
          <p:cNvSpPr/>
          <p:nvPr/>
        </p:nvSpPr>
        <p:spPr>
          <a:xfrm>
            <a:off x="1443038" y="1273175"/>
            <a:ext cx="9937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Main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Control</a:t>
            </a:r>
            <a:endParaRPr lang="en-US" altLang="zh-CN" sz="1800">
              <a:latin typeface="Arial" panose="020B0604020202020204" pitchFamily="34" charset="0"/>
              <a:ea typeface="宋体" panose="02010600030101010101" pitchFamily="2" charset="-122"/>
            </a:endParaRPr>
          </a:p>
        </p:txBody>
      </p:sp>
      <p:sp>
        <p:nvSpPr>
          <p:cNvPr id="150683" name="直接连接符 290971"/>
          <p:cNvSpPr/>
          <p:nvPr/>
        </p:nvSpPr>
        <p:spPr>
          <a:xfrm>
            <a:off x="546100" y="1524000"/>
            <a:ext cx="889000" cy="0"/>
          </a:xfrm>
          <a:prstGeom prst="line">
            <a:avLst/>
          </a:prstGeom>
          <a:ln w="25400" cap="flat" cmpd="sng">
            <a:solidFill>
              <a:schemeClr val="tx1"/>
            </a:solidFill>
            <a:prstDash val="solid"/>
            <a:round/>
            <a:headEnd type="none" w="med" len="med"/>
            <a:tailEnd type="triangle" w="med" len="med"/>
          </a:ln>
        </p:spPr>
      </p:sp>
      <p:sp>
        <p:nvSpPr>
          <p:cNvPr id="150684" name="直接连接符 290972"/>
          <p:cNvSpPr/>
          <p:nvPr/>
        </p:nvSpPr>
        <p:spPr>
          <a:xfrm flipH="1">
            <a:off x="908050" y="1377950"/>
            <a:ext cx="165100" cy="292100"/>
          </a:xfrm>
          <a:prstGeom prst="line">
            <a:avLst/>
          </a:prstGeom>
          <a:ln w="12700" cap="flat" cmpd="sng">
            <a:solidFill>
              <a:schemeClr val="tx1"/>
            </a:solidFill>
            <a:prstDash val="solid"/>
            <a:round/>
            <a:headEnd type="none" w="med" len="med"/>
            <a:tailEnd type="none" w="med" len="med"/>
          </a:ln>
        </p:spPr>
      </p:sp>
      <p:sp>
        <p:nvSpPr>
          <p:cNvPr id="150685" name="矩形 290973"/>
          <p:cNvSpPr/>
          <p:nvPr/>
        </p:nvSpPr>
        <p:spPr>
          <a:xfrm>
            <a:off x="519113" y="1219200"/>
            <a:ext cx="460375" cy="363538"/>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sp>
        <p:nvSpPr>
          <p:cNvPr id="150686" name="矩形 290974"/>
          <p:cNvSpPr/>
          <p:nvPr/>
        </p:nvSpPr>
        <p:spPr>
          <a:xfrm>
            <a:off x="671513" y="15240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150687" name="矩形 290975"/>
          <p:cNvSpPr/>
          <p:nvPr/>
        </p:nvSpPr>
        <p:spPr>
          <a:xfrm>
            <a:off x="6032500" y="774700"/>
            <a:ext cx="965200" cy="736600"/>
          </a:xfrm>
          <a:prstGeom prst="rect">
            <a:avLst/>
          </a:prstGeom>
          <a:noFill/>
          <a:ln w="25400" cap="flat" cmpd="sng">
            <a:solidFill>
              <a:schemeClr val="accent2"/>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0688" name="矩形 290976"/>
          <p:cNvSpPr/>
          <p:nvPr/>
        </p:nvSpPr>
        <p:spPr>
          <a:xfrm>
            <a:off x="6015038" y="858838"/>
            <a:ext cx="993775" cy="6381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Control</a:t>
            </a:r>
            <a:endParaRPr lang="en-US" altLang="zh-CN" sz="1800">
              <a:latin typeface="Arial" panose="020B0604020202020204" pitchFamily="34" charset="0"/>
              <a:ea typeface="宋体" panose="02010600030101010101" pitchFamily="2" charset="-122"/>
            </a:endParaRPr>
          </a:p>
        </p:txBody>
      </p:sp>
      <p:sp>
        <p:nvSpPr>
          <p:cNvPr id="150689" name="矩形 290977"/>
          <p:cNvSpPr/>
          <p:nvPr/>
        </p:nvSpPr>
        <p:spPr>
          <a:xfrm>
            <a:off x="5014913" y="1066800"/>
            <a:ext cx="663575" cy="363538"/>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sp>
        <p:nvSpPr>
          <p:cNvPr id="150690" name="直接连接符 290978"/>
          <p:cNvSpPr/>
          <p:nvPr/>
        </p:nvSpPr>
        <p:spPr>
          <a:xfrm flipH="1">
            <a:off x="5480050" y="1225550"/>
            <a:ext cx="165100" cy="292100"/>
          </a:xfrm>
          <a:prstGeom prst="line">
            <a:avLst/>
          </a:prstGeom>
          <a:ln w="12700" cap="flat" cmpd="sng">
            <a:solidFill>
              <a:schemeClr val="tx1"/>
            </a:solidFill>
            <a:prstDash val="solid"/>
            <a:round/>
            <a:headEnd type="none" w="med" len="med"/>
            <a:tailEnd type="none" w="med" len="med"/>
          </a:ln>
        </p:spPr>
      </p:sp>
      <p:sp>
        <p:nvSpPr>
          <p:cNvPr id="150691" name="矩形 290979"/>
          <p:cNvSpPr/>
          <p:nvPr/>
        </p:nvSpPr>
        <p:spPr>
          <a:xfrm>
            <a:off x="5243513" y="13716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150692" name="直接连接符 290980"/>
          <p:cNvSpPr/>
          <p:nvPr/>
        </p:nvSpPr>
        <p:spPr>
          <a:xfrm>
            <a:off x="2451100" y="990600"/>
            <a:ext cx="3556000" cy="0"/>
          </a:xfrm>
          <a:prstGeom prst="line">
            <a:avLst/>
          </a:prstGeom>
          <a:ln w="25400" cap="flat" cmpd="sng">
            <a:solidFill>
              <a:srgbClr val="0000FF"/>
            </a:solidFill>
            <a:prstDash val="solid"/>
            <a:round/>
            <a:headEnd type="none" w="med" len="med"/>
            <a:tailEnd type="triangle" w="med" len="med"/>
          </a:ln>
        </p:spPr>
      </p:sp>
      <p:sp>
        <p:nvSpPr>
          <p:cNvPr id="150693" name="直接连接符 290981"/>
          <p:cNvSpPr/>
          <p:nvPr/>
        </p:nvSpPr>
        <p:spPr>
          <a:xfrm flipH="1">
            <a:off x="4108450" y="844550"/>
            <a:ext cx="165100" cy="292100"/>
          </a:xfrm>
          <a:prstGeom prst="line">
            <a:avLst/>
          </a:prstGeom>
          <a:ln w="12700" cap="flat" cmpd="sng">
            <a:solidFill>
              <a:schemeClr val="tx1"/>
            </a:solidFill>
            <a:prstDash val="solid"/>
            <a:round/>
            <a:headEnd type="none" w="med" len="med"/>
            <a:tailEnd type="none" w="med" len="med"/>
          </a:ln>
        </p:spPr>
      </p:sp>
      <p:sp>
        <p:nvSpPr>
          <p:cNvPr id="150694" name="矩形 290982"/>
          <p:cNvSpPr/>
          <p:nvPr/>
        </p:nvSpPr>
        <p:spPr>
          <a:xfrm>
            <a:off x="3871913" y="9906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a:t>
            </a:r>
            <a:endParaRPr lang="zh-CN" altLang="en-US" sz="1800" dirty="0">
              <a:latin typeface="Arial" panose="020B0604020202020204" pitchFamily="34" charset="0"/>
              <a:ea typeface="宋体" panose="02010600030101010101" pitchFamily="2" charset="-122"/>
            </a:endParaRPr>
          </a:p>
        </p:txBody>
      </p:sp>
      <p:sp>
        <p:nvSpPr>
          <p:cNvPr id="150695" name="矩形 290983"/>
          <p:cNvSpPr/>
          <p:nvPr/>
        </p:nvSpPr>
        <p:spPr>
          <a:xfrm>
            <a:off x="2500313" y="685800"/>
            <a:ext cx="9302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2"/>
                </a:solidFill>
                <a:latin typeface="Arial" panose="020B0604020202020204" pitchFamily="34" charset="0"/>
                <a:ea typeface="宋体" panose="02010600030101010101" pitchFamily="2" charset="-122"/>
              </a:rPr>
              <a:t>ALUop</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50696" name="直接连接符 290984"/>
          <p:cNvSpPr/>
          <p:nvPr/>
        </p:nvSpPr>
        <p:spPr>
          <a:xfrm flipH="1">
            <a:off x="5016500" y="1371600"/>
            <a:ext cx="1016000" cy="0"/>
          </a:xfrm>
          <a:prstGeom prst="line">
            <a:avLst/>
          </a:prstGeom>
          <a:ln w="25400" cap="flat" cmpd="sng">
            <a:solidFill>
              <a:schemeClr val="tx1"/>
            </a:solidFill>
            <a:prstDash val="solid"/>
            <a:round/>
            <a:headEnd type="triangle" w="med" len="med"/>
            <a:tailEnd type="none" w="med" len="med"/>
          </a:ln>
        </p:spPr>
      </p:sp>
      <p:sp>
        <p:nvSpPr>
          <p:cNvPr id="150697" name="矩形 290985"/>
          <p:cNvSpPr/>
          <p:nvPr/>
        </p:nvSpPr>
        <p:spPr>
          <a:xfrm>
            <a:off x="6996113" y="914400"/>
            <a:ext cx="9429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ALUctr</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698" name="直接连接符 290986"/>
          <p:cNvSpPr/>
          <p:nvPr/>
        </p:nvSpPr>
        <p:spPr>
          <a:xfrm flipH="1">
            <a:off x="7689850" y="1073150"/>
            <a:ext cx="165100" cy="292100"/>
          </a:xfrm>
          <a:prstGeom prst="line">
            <a:avLst/>
          </a:prstGeom>
          <a:ln w="12700" cap="flat" cmpd="sng">
            <a:solidFill>
              <a:schemeClr val="tx1"/>
            </a:solidFill>
            <a:prstDash val="solid"/>
            <a:round/>
            <a:headEnd type="none" w="med" len="med"/>
            <a:tailEnd type="none" w="med" len="med"/>
          </a:ln>
        </p:spPr>
      </p:sp>
      <p:sp>
        <p:nvSpPr>
          <p:cNvPr id="150699" name="直接连接符 290987"/>
          <p:cNvSpPr/>
          <p:nvPr/>
        </p:nvSpPr>
        <p:spPr>
          <a:xfrm flipH="1">
            <a:off x="6997700" y="1219200"/>
            <a:ext cx="1168400" cy="0"/>
          </a:xfrm>
          <a:prstGeom prst="line">
            <a:avLst/>
          </a:prstGeom>
          <a:ln w="25400" cap="flat" cmpd="sng">
            <a:solidFill>
              <a:schemeClr val="tx1"/>
            </a:solidFill>
            <a:prstDash val="solid"/>
            <a:round/>
            <a:headEnd type="triangle" w="med" len="med"/>
            <a:tailEnd type="none" w="med" len="med"/>
          </a:ln>
        </p:spPr>
      </p:sp>
      <p:sp>
        <p:nvSpPr>
          <p:cNvPr id="150700" name="矩形 290988"/>
          <p:cNvSpPr/>
          <p:nvPr/>
        </p:nvSpPr>
        <p:spPr>
          <a:xfrm>
            <a:off x="7453313" y="1219200"/>
            <a:ext cx="307975" cy="363538"/>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a:t>
            </a:r>
            <a:endParaRPr lang="zh-CN" altLang="en-US" sz="1800" dirty="0">
              <a:latin typeface="Arial" panose="020B0604020202020204" pitchFamily="34" charset="0"/>
              <a:ea typeface="宋体" panose="02010600030101010101" pitchFamily="2" charset="-122"/>
            </a:endParaRPr>
          </a:p>
        </p:txBody>
      </p:sp>
      <p:sp>
        <p:nvSpPr>
          <p:cNvPr id="150701" name="直接连接符 290989"/>
          <p:cNvSpPr/>
          <p:nvPr/>
        </p:nvSpPr>
        <p:spPr>
          <a:xfrm>
            <a:off x="2451100" y="1371600"/>
            <a:ext cx="1270000" cy="0"/>
          </a:xfrm>
          <a:prstGeom prst="line">
            <a:avLst/>
          </a:prstGeom>
          <a:ln w="25400" cap="flat" cmpd="sng">
            <a:solidFill>
              <a:schemeClr val="tx1"/>
            </a:solidFill>
            <a:prstDash val="solid"/>
            <a:round/>
            <a:headEnd type="none" w="med" len="med"/>
            <a:tailEnd type="triangle" w="med" len="med"/>
          </a:ln>
        </p:spPr>
      </p:sp>
      <p:sp>
        <p:nvSpPr>
          <p:cNvPr id="150702" name="矩形 290990"/>
          <p:cNvSpPr/>
          <p:nvPr/>
        </p:nvSpPr>
        <p:spPr>
          <a:xfrm>
            <a:off x="2500313" y="1066800"/>
            <a:ext cx="9810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RegDst</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703" name="直接连接符 290991"/>
          <p:cNvSpPr/>
          <p:nvPr/>
        </p:nvSpPr>
        <p:spPr>
          <a:xfrm>
            <a:off x="2451100" y="1752600"/>
            <a:ext cx="1270000" cy="0"/>
          </a:xfrm>
          <a:prstGeom prst="line">
            <a:avLst/>
          </a:prstGeom>
          <a:ln w="25400" cap="flat" cmpd="sng">
            <a:solidFill>
              <a:schemeClr val="tx1"/>
            </a:solidFill>
            <a:prstDash val="solid"/>
            <a:round/>
            <a:headEnd type="none" w="med" len="med"/>
            <a:tailEnd type="triangle" w="med" len="med"/>
          </a:ln>
        </p:spPr>
      </p:sp>
      <p:sp>
        <p:nvSpPr>
          <p:cNvPr id="150704" name="矩形 290992"/>
          <p:cNvSpPr/>
          <p:nvPr/>
        </p:nvSpPr>
        <p:spPr>
          <a:xfrm>
            <a:off x="2500313" y="1447800"/>
            <a:ext cx="1019175" cy="363538"/>
          </a:xfrm>
          <a:prstGeom prst="rect">
            <a:avLst/>
          </a:prstGeom>
          <a:noFill/>
          <a:ln w="12700">
            <a:noFill/>
          </a:ln>
        </p:spPr>
        <p:txBody>
          <a:bodyPr wrap="none" lIns="90488" tIns="44450" rIns="90488" bIns="44450" anchor="t" anchorCtr="0">
            <a:spAutoFit/>
          </a:bodyPr>
          <a:p>
            <a:pPr eaLnBrk="0" hangingPunct="0"/>
            <a:r>
              <a:rPr lang="en-US" altLang="zh-CN" sz="1800" dirty="0" err="1">
                <a:solidFill>
                  <a:schemeClr val="accent1"/>
                </a:solidFill>
                <a:latin typeface="Arial" panose="020B0604020202020204" pitchFamily="34" charset="0"/>
                <a:ea typeface="宋体" panose="02010600030101010101" pitchFamily="2" charset="-122"/>
              </a:rPr>
              <a:t>ALUSrc</a:t>
            </a:r>
            <a:endParaRPr lang="en-US" altLang="zh-CN" sz="1800">
              <a:solidFill>
                <a:schemeClr val="accent1"/>
              </a:solidFill>
              <a:latin typeface="Arial" panose="020B0604020202020204" pitchFamily="34" charset="0"/>
              <a:ea typeface="宋体" panose="02010600030101010101" pitchFamily="2" charset="-122"/>
            </a:endParaRPr>
          </a:p>
        </p:txBody>
      </p:sp>
      <p:sp>
        <p:nvSpPr>
          <p:cNvPr id="150705" name="矩形 290993"/>
          <p:cNvSpPr/>
          <p:nvPr/>
        </p:nvSpPr>
        <p:spPr>
          <a:xfrm>
            <a:off x="2805113" y="1619250"/>
            <a:ext cx="300037" cy="881063"/>
          </a:xfrm>
          <a:prstGeom prst="rect">
            <a:avLst/>
          </a:prstGeom>
          <a:noFill/>
          <a:ln w="12700">
            <a:noFill/>
          </a:ln>
        </p:spPr>
        <p:txBody>
          <a:bodyPr lIns="90488" tIns="44450" rIns="90488" bIns="44450" anchor="t" anchorCtr="0">
            <a:spAutoFit/>
          </a:bodyPr>
          <a:p>
            <a:pPr eaLnBrk="0" hangingPunct="0"/>
            <a:r>
              <a:rPr lang="zh-CN" altLang="en-US" sz="2800" dirty="0">
                <a:solidFill>
                  <a:srgbClr val="339933"/>
                </a:solidFill>
                <a:latin typeface="Times New Roman" panose="02020603050405020304" pitchFamily="18" charset="0"/>
                <a:ea typeface="宋体" panose="02010600030101010101" pitchFamily="2" charset="-122"/>
              </a:rPr>
              <a:t>:</a:t>
            </a:r>
            <a:endParaRPr lang="zh-CN" altLang="en-US" sz="2800" dirty="0">
              <a:solidFill>
                <a:srgbClr val="339933"/>
              </a:solidFill>
              <a:latin typeface="Times New Roman" panose="02020603050405020304" pitchFamily="18" charset="0"/>
              <a:ea typeface="宋体" panose="02010600030101010101" pitchFamily="2" charset="-122"/>
            </a:endParaRPr>
          </a:p>
          <a:p>
            <a:pPr eaLnBrk="0" hangingPunct="0"/>
            <a:endParaRPr lang="en-US" altLang="zh-CN" sz="2400">
              <a:latin typeface="Times New Roman" panose="02020603050405020304" pitchFamily="18" charset="0"/>
              <a:ea typeface="宋体" panose="02010600030101010101" pitchFamily="2" charset="-122"/>
            </a:endParaRPr>
          </a:p>
        </p:txBody>
      </p:sp>
      <p:sp>
        <p:nvSpPr>
          <p:cNvPr id="150706" name="矩形 290994"/>
          <p:cNvSpPr/>
          <p:nvPr/>
        </p:nvSpPr>
        <p:spPr>
          <a:xfrm>
            <a:off x="4037013" y="1389063"/>
            <a:ext cx="125412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Instr</a:t>
            </a:r>
            <a:r>
              <a:rPr lang="en-US" altLang="zh-CN" sz="1800">
                <a:latin typeface="Arial" panose="020B0604020202020204" pitchFamily="34" charset="0"/>
                <a:ea typeface="宋体" panose="02010600030101010101" pitchFamily="2" charset="-122"/>
              </a:rPr>
              <a:t>&lt;5:0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50707" name="矩形 290995"/>
          <p:cNvSpPr/>
          <p:nvPr/>
        </p:nvSpPr>
        <p:spPr>
          <a:xfrm>
            <a:off x="74613" y="1757363"/>
            <a:ext cx="150812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Instr</a:t>
            </a:r>
            <a:r>
              <a:rPr lang="en-US" altLang="zh-CN" sz="1800">
                <a:latin typeface="Arial" panose="020B0604020202020204" pitchFamily="34" charset="0"/>
                <a:ea typeface="宋体" panose="02010600030101010101" pitchFamily="2" charset="-122"/>
              </a:rPr>
              <a:t>&lt;31:26</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
        <p:nvSpPr>
          <p:cNvPr id="150708" name="矩形 290996"/>
          <p:cNvSpPr/>
          <p:nvPr/>
        </p:nvSpPr>
        <p:spPr>
          <a:xfrm>
            <a:off x="1052513" y="5478463"/>
            <a:ext cx="1381125" cy="363537"/>
          </a:xfrm>
          <a:prstGeom prst="rect">
            <a:avLst/>
          </a:prstGeom>
          <a:noFill/>
          <a:ln w="12700">
            <a:noFill/>
          </a:ln>
        </p:spPr>
        <p:txBody>
          <a:bodyPr wrap="none" lIns="90488" tIns="44450" rIns="90488" bIns="44450" anchor="t" anchorCtr="0">
            <a:spAutoFit/>
          </a:bodyPr>
          <a:p>
            <a:pPr eaLnBrk="0" hangingPunct="0"/>
            <a:r>
              <a:rPr lang="en-US" altLang="zh-CN" sz="1800" dirty="0" err="1">
                <a:latin typeface="Arial" panose="020B0604020202020204" pitchFamily="34" charset="0"/>
                <a:ea typeface="宋体" panose="02010600030101010101" pitchFamily="2" charset="-122"/>
              </a:rPr>
              <a:t>Instr</a:t>
            </a:r>
            <a:r>
              <a:rPr lang="en-US" altLang="zh-CN" sz="1800">
                <a:latin typeface="Arial" panose="020B0604020202020204" pitchFamily="34" charset="0"/>
                <a:ea typeface="宋体" panose="02010600030101010101" pitchFamily="2" charset="-122"/>
              </a:rPr>
              <a:t>&lt;15:0</a:t>
            </a:r>
            <a:r>
              <a:rPr lang="en-US" altLang="zh-CN" b="0">
                <a:latin typeface="Times New Roman" panose="02020603050405020304" pitchFamily="18" charset="0"/>
                <a:ea typeface="宋体" panose="02010600030101010101" pitchFamily="2" charset="-122"/>
              </a:rPr>
              <a:t>&gt;</a:t>
            </a:r>
            <a:endParaRPr lang="en-US" altLang="zh-CN" b="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7" name="矩形 292865"/>
          <p:cNvSpPr/>
          <p:nvPr/>
        </p:nvSpPr>
        <p:spPr>
          <a:xfrm>
            <a:off x="1066800" y="3657600"/>
            <a:ext cx="77724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78" name="矩形 292866"/>
          <p:cNvSpPr/>
          <p:nvPr/>
        </p:nvSpPr>
        <p:spPr>
          <a:xfrm>
            <a:off x="838200" y="3200400"/>
            <a:ext cx="80010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79" name="矩形 292867"/>
          <p:cNvSpPr/>
          <p:nvPr/>
        </p:nvSpPr>
        <p:spPr>
          <a:xfrm>
            <a:off x="838200" y="4114800"/>
            <a:ext cx="80010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0" name="矩形 292868"/>
          <p:cNvSpPr/>
          <p:nvPr/>
        </p:nvSpPr>
        <p:spPr>
          <a:xfrm>
            <a:off x="838200" y="4648200"/>
            <a:ext cx="80010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1" name="矩形 292869"/>
          <p:cNvSpPr/>
          <p:nvPr/>
        </p:nvSpPr>
        <p:spPr>
          <a:xfrm>
            <a:off x="838200" y="5181600"/>
            <a:ext cx="80010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2" name="矩形 292870"/>
          <p:cNvSpPr/>
          <p:nvPr/>
        </p:nvSpPr>
        <p:spPr>
          <a:xfrm>
            <a:off x="838200" y="5715000"/>
            <a:ext cx="80010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3" name="矩形 292871"/>
          <p:cNvSpPr/>
          <p:nvPr/>
        </p:nvSpPr>
        <p:spPr>
          <a:xfrm>
            <a:off x="838200" y="6248400"/>
            <a:ext cx="80010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4" name="矩形 292872"/>
          <p:cNvSpPr/>
          <p:nvPr/>
        </p:nvSpPr>
        <p:spPr>
          <a:xfrm>
            <a:off x="838200" y="2743200"/>
            <a:ext cx="80010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5" name="矩形 292873"/>
          <p:cNvSpPr/>
          <p:nvPr/>
        </p:nvSpPr>
        <p:spPr>
          <a:xfrm>
            <a:off x="838200" y="2286000"/>
            <a:ext cx="80010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6" name="矩形 292874"/>
          <p:cNvSpPr/>
          <p:nvPr/>
        </p:nvSpPr>
        <p:spPr>
          <a:xfrm>
            <a:off x="1066800" y="1752600"/>
            <a:ext cx="77724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7" name="矩形 292875"/>
          <p:cNvSpPr/>
          <p:nvPr/>
        </p:nvSpPr>
        <p:spPr>
          <a:xfrm>
            <a:off x="609600" y="1219200"/>
            <a:ext cx="8229600" cy="228600"/>
          </a:xfrm>
          <a:prstGeom prst="rect">
            <a:avLst/>
          </a:prstGeom>
          <a:solidFill>
            <a:srgbClr val="EAEAEA"/>
          </a:solidFill>
          <a:ln w="12700">
            <a:noFill/>
          </a:ln>
        </p:spPr>
        <p:txBody>
          <a:bodyPr anchor="t" anchorCtr="0"/>
          <a:p>
            <a:pPr eaLnBrk="0" hangingPunct="0"/>
            <a:endParaRPr lang="zh-CN" altLang="en-US">
              <a:latin typeface="Arial" panose="020B0604020202020204" pitchFamily="34" charset="0"/>
            </a:endParaRPr>
          </a:p>
        </p:txBody>
      </p:sp>
      <p:sp>
        <p:nvSpPr>
          <p:cNvPr id="152588" name="标题 292876"/>
          <p:cNvSpPr>
            <a:spLocks noGrp="1"/>
          </p:cNvSpPr>
          <p:nvPr>
            <p:ph type="title"/>
          </p:nvPr>
        </p:nvSpPr>
        <p:spPr>
          <a:xfrm>
            <a:off x="774700" y="165100"/>
            <a:ext cx="7940675" cy="425450"/>
          </a:xfrm>
          <a:ln/>
        </p:spPr>
        <p:txBody>
          <a:bodyPr vert="horz" wrap="square" lIns="63500" tIns="25400" rIns="63500" bIns="25400" anchor="t" anchorCtr="0">
            <a:spAutoFit/>
          </a:bodyPr>
          <a:p>
            <a:r>
              <a:rPr lang="en-US" altLang="zh-CN" sz="2800" dirty="0" err="1">
                <a:ea typeface="宋体" panose="02010600030101010101" pitchFamily="2" charset="-122"/>
              </a:rPr>
              <a:t>lw</a:t>
            </a:r>
            <a:r>
              <a:rPr lang="zh-CN" altLang="en-US" sz="2800" dirty="0">
                <a:ea typeface="宋体" panose="02010600030101010101" pitchFamily="2" charset="-122"/>
              </a:rPr>
              <a:t>指令的执行时间最长</a:t>
            </a:r>
            <a:r>
              <a:rPr lang="en-US" altLang="zh-CN" sz="2800">
                <a:ea typeface="宋体" panose="02010600030101010101" pitchFamily="2" charset="-122"/>
              </a:rPr>
              <a:t>, </a:t>
            </a:r>
            <a:r>
              <a:rPr lang="zh-CN" altLang="en-US" sz="2800" dirty="0">
                <a:ea typeface="宋体" panose="02010600030101010101" pitchFamily="2" charset="-122"/>
              </a:rPr>
              <a:t>它所花时间作为</a:t>
            </a:r>
            <a:r>
              <a:rPr lang="zh-CN" altLang="en-US" sz="2800" dirty="0">
                <a:solidFill>
                  <a:schemeClr val="accent1"/>
                </a:solidFill>
                <a:ea typeface="宋体" panose="02010600030101010101" pitchFamily="2" charset="-122"/>
              </a:rPr>
              <a:t>时钟周期</a:t>
            </a:r>
            <a:endParaRPr lang="zh-CN" altLang="en-US" sz="2800" dirty="0">
              <a:solidFill>
                <a:schemeClr val="accent1"/>
              </a:solidFill>
              <a:ea typeface="宋体" panose="02010600030101010101" pitchFamily="2" charset="-122"/>
            </a:endParaRPr>
          </a:p>
        </p:txBody>
      </p:sp>
      <p:sp>
        <p:nvSpPr>
          <p:cNvPr id="152589" name="直接连接符 292877"/>
          <p:cNvSpPr/>
          <p:nvPr/>
        </p:nvSpPr>
        <p:spPr>
          <a:xfrm>
            <a:off x="469900" y="685800"/>
            <a:ext cx="1193800" cy="0"/>
          </a:xfrm>
          <a:prstGeom prst="line">
            <a:avLst/>
          </a:prstGeom>
          <a:ln w="25400" cap="flat" cmpd="sng">
            <a:solidFill>
              <a:schemeClr val="tx1"/>
            </a:solidFill>
            <a:prstDash val="solid"/>
            <a:round/>
            <a:headEnd type="none" w="med" len="med"/>
            <a:tailEnd type="none" w="med" len="med"/>
          </a:ln>
        </p:spPr>
      </p:sp>
      <p:sp>
        <p:nvSpPr>
          <p:cNvPr id="152590" name="直接连接符 292878"/>
          <p:cNvSpPr/>
          <p:nvPr/>
        </p:nvSpPr>
        <p:spPr>
          <a:xfrm>
            <a:off x="1676400" y="698500"/>
            <a:ext cx="0" cy="203200"/>
          </a:xfrm>
          <a:prstGeom prst="line">
            <a:avLst/>
          </a:prstGeom>
          <a:ln w="25400" cap="flat" cmpd="sng">
            <a:solidFill>
              <a:schemeClr val="tx1"/>
            </a:solidFill>
            <a:prstDash val="solid"/>
            <a:round/>
            <a:headEnd type="none" w="med" len="med"/>
            <a:tailEnd type="none" w="med" len="med"/>
          </a:ln>
        </p:spPr>
      </p:sp>
      <p:sp>
        <p:nvSpPr>
          <p:cNvPr id="152591" name="直接连接符 292879"/>
          <p:cNvSpPr/>
          <p:nvPr/>
        </p:nvSpPr>
        <p:spPr>
          <a:xfrm>
            <a:off x="1689100" y="914400"/>
            <a:ext cx="3022600" cy="0"/>
          </a:xfrm>
          <a:prstGeom prst="line">
            <a:avLst/>
          </a:prstGeom>
          <a:ln w="25400" cap="flat" cmpd="sng">
            <a:solidFill>
              <a:schemeClr val="tx1"/>
            </a:solidFill>
            <a:prstDash val="solid"/>
            <a:round/>
            <a:headEnd type="none" w="med" len="med"/>
            <a:tailEnd type="none" w="med" len="med"/>
          </a:ln>
        </p:spPr>
      </p:sp>
      <p:sp>
        <p:nvSpPr>
          <p:cNvPr id="152592" name="直接连接符 292880"/>
          <p:cNvSpPr/>
          <p:nvPr/>
        </p:nvSpPr>
        <p:spPr>
          <a:xfrm>
            <a:off x="4724400" y="698500"/>
            <a:ext cx="0" cy="203200"/>
          </a:xfrm>
          <a:prstGeom prst="line">
            <a:avLst/>
          </a:prstGeom>
          <a:ln w="25400" cap="flat" cmpd="sng">
            <a:solidFill>
              <a:schemeClr val="tx1"/>
            </a:solidFill>
            <a:prstDash val="solid"/>
            <a:round/>
            <a:headEnd type="none" w="med" len="med"/>
            <a:tailEnd type="none" w="med" len="med"/>
          </a:ln>
        </p:spPr>
      </p:sp>
      <p:sp>
        <p:nvSpPr>
          <p:cNvPr id="152593" name="直接连接符 292881"/>
          <p:cNvSpPr/>
          <p:nvPr/>
        </p:nvSpPr>
        <p:spPr>
          <a:xfrm>
            <a:off x="4737100" y="685800"/>
            <a:ext cx="3403600" cy="0"/>
          </a:xfrm>
          <a:prstGeom prst="line">
            <a:avLst/>
          </a:prstGeom>
          <a:ln w="25400" cap="flat" cmpd="sng">
            <a:solidFill>
              <a:schemeClr val="tx1"/>
            </a:solidFill>
            <a:prstDash val="solid"/>
            <a:round/>
            <a:headEnd type="none" w="med" len="med"/>
            <a:tailEnd type="none" w="med" len="med"/>
          </a:ln>
        </p:spPr>
      </p:sp>
      <p:sp>
        <p:nvSpPr>
          <p:cNvPr id="152594" name="直接连接符 292882"/>
          <p:cNvSpPr/>
          <p:nvPr/>
        </p:nvSpPr>
        <p:spPr>
          <a:xfrm>
            <a:off x="8153400" y="698500"/>
            <a:ext cx="0" cy="203200"/>
          </a:xfrm>
          <a:prstGeom prst="line">
            <a:avLst/>
          </a:prstGeom>
          <a:ln w="25400" cap="flat" cmpd="sng">
            <a:solidFill>
              <a:schemeClr val="tx1"/>
            </a:solidFill>
            <a:prstDash val="solid"/>
            <a:round/>
            <a:headEnd type="none" w="med" len="med"/>
            <a:tailEnd type="none" w="med" len="med"/>
          </a:ln>
        </p:spPr>
      </p:sp>
      <p:sp>
        <p:nvSpPr>
          <p:cNvPr id="152595" name="直接连接符 292883"/>
          <p:cNvSpPr/>
          <p:nvPr/>
        </p:nvSpPr>
        <p:spPr>
          <a:xfrm>
            <a:off x="8166100" y="914400"/>
            <a:ext cx="660400" cy="0"/>
          </a:xfrm>
          <a:prstGeom prst="line">
            <a:avLst/>
          </a:prstGeom>
          <a:ln w="25400" cap="flat" cmpd="sng">
            <a:solidFill>
              <a:schemeClr val="tx1"/>
            </a:solidFill>
            <a:prstDash val="solid"/>
            <a:round/>
            <a:headEnd type="none" w="med" len="med"/>
            <a:tailEnd type="none" w="med" len="med"/>
          </a:ln>
        </p:spPr>
      </p:sp>
      <p:sp>
        <p:nvSpPr>
          <p:cNvPr id="152596" name="矩形 292884"/>
          <p:cNvSpPr/>
          <p:nvPr/>
        </p:nvSpPr>
        <p:spPr>
          <a:xfrm>
            <a:off x="138113" y="709613"/>
            <a:ext cx="457200" cy="301625"/>
          </a:xfrm>
          <a:prstGeom prst="rect">
            <a:avLst/>
          </a:prstGeom>
          <a:noFill/>
          <a:ln w="12700">
            <a:noFill/>
          </a:ln>
        </p:spPr>
        <p:txBody>
          <a:bodyPr wrap="none"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Clk</a:t>
            </a:r>
            <a:endParaRPr lang="en-US" altLang="zh-CN" sz="1400">
              <a:latin typeface="Times New Roman" panose="02020603050405020304" pitchFamily="18" charset="0"/>
              <a:ea typeface="宋体" panose="02010600030101010101" pitchFamily="2" charset="-122"/>
            </a:endParaRPr>
          </a:p>
        </p:txBody>
      </p:sp>
      <p:sp>
        <p:nvSpPr>
          <p:cNvPr id="152597" name="直接连接符 292885"/>
          <p:cNvSpPr/>
          <p:nvPr/>
        </p:nvSpPr>
        <p:spPr>
          <a:xfrm>
            <a:off x="609600" y="1219200"/>
            <a:ext cx="1206500" cy="0"/>
          </a:xfrm>
          <a:prstGeom prst="line">
            <a:avLst/>
          </a:prstGeom>
          <a:ln w="25400" cap="flat" cmpd="sng">
            <a:solidFill>
              <a:schemeClr val="tx1"/>
            </a:solidFill>
            <a:prstDash val="solid"/>
            <a:round/>
            <a:headEnd type="none" w="med" len="med"/>
            <a:tailEnd type="none" w="med" len="med"/>
          </a:ln>
        </p:spPr>
      </p:sp>
      <p:sp>
        <p:nvSpPr>
          <p:cNvPr id="152598" name="直接连接符 292886"/>
          <p:cNvSpPr/>
          <p:nvPr/>
        </p:nvSpPr>
        <p:spPr>
          <a:xfrm>
            <a:off x="1841500" y="1231900"/>
            <a:ext cx="127000" cy="203200"/>
          </a:xfrm>
          <a:prstGeom prst="line">
            <a:avLst/>
          </a:prstGeom>
          <a:ln w="25400" cap="flat" cmpd="sng">
            <a:solidFill>
              <a:schemeClr val="tx1"/>
            </a:solidFill>
            <a:prstDash val="solid"/>
            <a:round/>
            <a:headEnd type="none" w="med" len="med"/>
            <a:tailEnd type="none" w="med" len="med"/>
          </a:ln>
        </p:spPr>
      </p:sp>
      <p:sp>
        <p:nvSpPr>
          <p:cNvPr id="152599" name="直接连接符 292887"/>
          <p:cNvSpPr/>
          <p:nvPr/>
        </p:nvSpPr>
        <p:spPr>
          <a:xfrm>
            <a:off x="609600" y="1447800"/>
            <a:ext cx="1206500" cy="0"/>
          </a:xfrm>
          <a:prstGeom prst="line">
            <a:avLst/>
          </a:prstGeom>
          <a:ln w="25400" cap="flat" cmpd="sng">
            <a:solidFill>
              <a:schemeClr val="tx1"/>
            </a:solidFill>
            <a:prstDash val="solid"/>
            <a:round/>
            <a:headEnd type="none" w="med" len="med"/>
            <a:tailEnd type="none" w="med" len="med"/>
          </a:ln>
        </p:spPr>
      </p:sp>
      <p:sp>
        <p:nvSpPr>
          <p:cNvPr id="152600" name="直接连接符 292888"/>
          <p:cNvSpPr/>
          <p:nvPr/>
        </p:nvSpPr>
        <p:spPr>
          <a:xfrm flipV="1">
            <a:off x="1841500" y="1206500"/>
            <a:ext cx="127000" cy="254000"/>
          </a:xfrm>
          <a:prstGeom prst="line">
            <a:avLst/>
          </a:prstGeom>
          <a:ln w="25400" cap="flat" cmpd="sng">
            <a:solidFill>
              <a:schemeClr val="tx1"/>
            </a:solidFill>
            <a:prstDash val="solid"/>
            <a:round/>
            <a:headEnd type="none" w="med" len="med"/>
            <a:tailEnd type="none" w="med" len="med"/>
          </a:ln>
        </p:spPr>
      </p:sp>
      <p:sp>
        <p:nvSpPr>
          <p:cNvPr id="152601" name="直接连接符 292889"/>
          <p:cNvSpPr/>
          <p:nvPr/>
        </p:nvSpPr>
        <p:spPr>
          <a:xfrm>
            <a:off x="1993900" y="1219200"/>
            <a:ext cx="6299200" cy="0"/>
          </a:xfrm>
          <a:prstGeom prst="line">
            <a:avLst/>
          </a:prstGeom>
          <a:ln w="25400" cap="flat" cmpd="sng">
            <a:solidFill>
              <a:schemeClr val="tx1"/>
            </a:solidFill>
            <a:prstDash val="solid"/>
            <a:round/>
            <a:headEnd type="none" w="med" len="med"/>
            <a:tailEnd type="none" w="med" len="med"/>
          </a:ln>
        </p:spPr>
      </p:sp>
      <p:sp>
        <p:nvSpPr>
          <p:cNvPr id="152602" name="矩形 292890"/>
          <p:cNvSpPr/>
          <p:nvPr/>
        </p:nvSpPr>
        <p:spPr>
          <a:xfrm>
            <a:off x="138113" y="1219200"/>
            <a:ext cx="452437"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PC</a:t>
            </a:r>
            <a:endParaRPr lang="en-US" altLang="zh-CN" sz="1400">
              <a:latin typeface="Times New Roman" panose="02020603050405020304" pitchFamily="18" charset="0"/>
              <a:ea typeface="宋体" panose="02010600030101010101" pitchFamily="2" charset="-122"/>
            </a:endParaRPr>
          </a:p>
        </p:txBody>
      </p:sp>
      <p:sp>
        <p:nvSpPr>
          <p:cNvPr id="152603" name="直接连接符 292891"/>
          <p:cNvSpPr/>
          <p:nvPr/>
        </p:nvSpPr>
        <p:spPr>
          <a:xfrm>
            <a:off x="1993900" y="1447800"/>
            <a:ext cx="6299200" cy="0"/>
          </a:xfrm>
          <a:prstGeom prst="line">
            <a:avLst/>
          </a:prstGeom>
          <a:ln w="25400" cap="flat" cmpd="sng">
            <a:solidFill>
              <a:schemeClr val="tx1"/>
            </a:solidFill>
            <a:prstDash val="solid"/>
            <a:round/>
            <a:headEnd type="none" w="med" len="med"/>
            <a:tailEnd type="none" w="med" len="med"/>
          </a:ln>
        </p:spPr>
      </p:sp>
      <p:sp>
        <p:nvSpPr>
          <p:cNvPr id="152604" name="直接连接符 292892"/>
          <p:cNvSpPr/>
          <p:nvPr/>
        </p:nvSpPr>
        <p:spPr>
          <a:xfrm>
            <a:off x="1676400" y="1003300"/>
            <a:ext cx="0" cy="5613400"/>
          </a:xfrm>
          <a:prstGeom prst="line">
            <a:avLst/>
          </a:prstGeom>
          <a:ln w="25400" cap="flat" cmpd="sng">
            <a:solidFill>
              <a:schemeClr val="tx1"/>
            </a:solidFill>
            <a:prstDash val="lgDash"/>
            <a:round/>
            <a:headEnd type="none" w="med" len="med"/>
            <a:tailEnd type="none" w="med" len="med"/>
          </a:ln>
        </p:spPr>
      </p:sp>
      <p:sp>
        <p:nvSpPr>
          <p:cNvPr id="152605" name="直接连接符 292893"/>
          <p:cNvSpPr/>
          <p:nvPr/>
        </p:nvSpPr>
        <p:spPr>
          <a:xfrm>
            <a:off x="8153400" y="1003300"/>
            <a:ext cx="0" cy="5537200"/>
          </a:xfrm>
          <a:prstGeom prst="line">
            <a:avLst/>
          </a:prstGeom>
          <a:ln w="25400" cap="flat" cmpd="sng">
            <a:solidFill>
              <a:schemeClr val="tx1"/>
            </a:solidFill>
            <a:prstDash val="lgDash"/>
            <a:round/>
            <a:headEnd type="none" w="med" len="med"/>
            <a:tailEnd type="none" w="med" len="med"/>
          </a:ln>
        </p:spPr>
      </p:sp>
      <p:sp>
        <p:nvSpPr>
          <p:cNvPr id="152606" name="直接连接符 292894"/>
          <p:cNvSpPr/>
          <p:nvPr/>
        </p:nvSpPr>
        <p:spPr>
          <a:xfrm>
            <a:off x="8318500" y="1231900"/>
            <a:ext cx="127000" cy="203200"/>
          </a:xfrm>
          <a:prstGeom prst="line">
            <a:avLst/>
          </a:prstGeom>
          <a:ln w="25400" cap="flat" cmpd="sng">
            <a:solidFill>
              <a:schemeClr val="tx1"/>
            </a:solidFill>
            <a:prstDash val="solid"/>
            <a:round/>
            <a:headEnd type="none" w="med" len="med"/>
            <a:tailEnd type="none" w="med" len="med"/>
          </a:ln>
        </p:spPr>
      </p:sp>
      <p:sp>
        <p:nvSpPr>
          <p:cNvPr id="152607" name="直接连接符 292895"/>
          <p:cNvSpPr/>
          <p:nvPr/>
        </p:nvSpPr>
        <p:spPr>
          <a:xfrm flipV="1">
            <a:off x="8318500" y="1206500"/>
            <a:ext cx="127000" cy="254000"/>
          </a:xfrm>
          <a:prstGeom prst="line">
            <a:avLst/>
          </a:prstGeom>
          <a:ln w="25400" cap="flat" cmpd="sng">
            <a:solidFill>
              <a:schemeClr val="tx1"/>
            </a:solidFill>
            <a:prstDash val="solid"/>
            <a:round/>
            <a:headEnd type="none" w="med" len="med"/>
            <a:tailEnd type="none" w="med" len="med"/>
          </a:ln>
        </p:spPr>
      </p:sp>
      <p:sp>
        <p:nvSpPr>
          <p:cNvPr id="152608" name="直接连接符 292896"/>
          <p:cNvSpPr/>
          <p:nvPr/>
        </p:nvSpPr>
        <p:spPr>
          <a:xfrm>
            <a:off x="1079500" y="1752600"/>
            <a:ext cx="2032000" cy="0"/>
          </a:xfrm>
          <a:prstGeom prst="line">
            <a:avLst/>
          </a:prstGeom>
          <a:ln w="25400" cap="flat" cmpd="sng">
            <a:solidFill>
              <a:schemeClr val="tx1"/>
            </a:solidFill>
            <a:prstDash val="solid"/>
            <a:round/>
            <a:headEnd type="none" w="med" len="med"/>
            <a:tailEnd type="none" w="med" len="med"/>
          </a:ln>
        </p:spPr>
      </p:sp>
      <p:sp>
        <p:nvSpPr>
          <p:cNvPr id="152609" name="直接连接符 292897"/>
          <p:cNvSpPr/>
          <p:nvPr/>
        </p:nvSpPr>
        <p:spPr>
          <a:xfrm>
            <a:off x="3136900" y="1765300"/>
            <a:ext cx="127000" cy="203200"/>
          </a:xfrm>
          <a:prstGeom prst="line">
            <a:avLst/>
          </a:prstGeom>
          <a:ln w="25400" cap="flat" cmpd="sng">
            <a:solidFill>
              <a:schemeClr val="tx1"/>
            </a:solidFill>
            <a:prstDash val="solid"/>
            <a:round/>
            <a:headEnd type="none" w="med" len="med"/>
            <a:tailEnd type="none" w="med" len="med"/>
          </a:ln>
        </p:spPr>
      </p:sp>
      <p:sp>
        <p:nvSpPr>
          <p:cNvPr id="152610" name="直接连接符 292898"/>
          <p:cNvSpPr/>
          <p:nvPr/>
        </p:nvSpPr>
        <p:spPr>
          <a:xfrm>
            <a:off x="1079500" y="1981200"/>
            <a:ext cx="2032000" cy="0"/>
          </a:xfrm>
          <a:prstGeom prst="line">
            <a:avLst/>
          </a:prstGeom>
          <a:ln w="25400" cap="flat" cmpd="sng">
            <a:solidFill>
              <a:schemeClr val="tx1"/>
            </a:solidFill>
            <a:prstDash val="solid"/>
            <a:round/>
            <a:headEnd type="none" w="med" len="med"/>
            <a:tailEnd type="none" w="med" len="med"/>
          </a:ln>
        </p:spPr>
      </p:sp>
      <p:sp>
        <p:nvSpPr>
          <p:cNvPr id="152611" name="直接连接符 292899"/>
          <p:cNvSpPr/>
          <p:nvPr/>
        </p:nvSpPr>
        <p:spPr>
          <a:xfrm flipV="1">
            <a:off x="3136900" y="1739900"/>
            <a:ext cx="127000" cy="254000"/>
          </a:xfrm>
          <a:prstGeom prst="line">
            <a:avLst/>
          </a:prstGeom>
          <a:ln w="25400" cap="flat" cmpd="sng">
            <a:solidFill>
              <a:schemeClr val="tx1"/>
            </a:solidFill>
            <a:prstDash val="solid"/>
            <a:round/>
            <a:headEnd type="none" w="med" len="med"/>
            <a:tailEnd type="none" w="med" len="med"/>
          </a:ln>
        </p:spPr>
      </p:sp>
      <p:sp>
        <p:nvSpPr>
          <p:cNvPr id="152612" name="直接连接符 292900"/>
          <p:cNvSpPr/>
          <p:nvPr/>
        </p:nvSpPr>
        <p:spPr>
          <a:xfrm>
            <a:off x="3289300" y="1752600"/>
            <a:ext cx="5537200" cy="0"/>
          </a:xfrm>
          <a:prstGeom prst="line">
            <a:avLst/>
          </a:prstGeom>
          <a:ln w="25400" cap="flat" cmpd="sng">
            <a:solidFill>
              <a:schemeClr val="tx1"/>
            </a:solidFill>
            <a:prstDash val="solid"/>
            <a:round/>
            <a:headEnd type="none" w="med" len="med"/>
            <a:tailEnd type="none" w="med" len="med"/>
          </a:ln>
        </p:spPr>
      </p:sp>
      <p:sp>
        <p:nvSpPr>
          <p:cNvPr id="152613" name="矩形 292901"/>
          <p:cNvSpPr/>
          <p:nvPr/>
        </p:nvSpPr>
        <p:spPr>
          <a:xfrm>
            <a:off x="153988" y="1633538"/>
            <a:ext cx="1139825" cy="514350"/>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Rs</a:t>
            </a:r>
            <a:r>
              <a:rPr lang="en-US" altLang="zh-CN" sz="1400" b="0">
                <a:latin typeface="Times New Roman" panose="02020603050405020304" pitchFamily="18" charset="0"/>
                <a:ea typeface="宋体" panose="02010600030101010101" pitchFamily="2" charset="-122"/>
              </a:rPr>
              <a:t>, </a:t>
            </a:r>
            <a:r>
              <a:rPr lang="en-US" altLang="zh-CN" sz="1400" dirty="0" err="1">
                <a:latin typeface="Times New Roman" panose="02020603050405020304" pitchFamily="18" charset="0"/>
                <a:ea typeface="宋体" panose="02010600030101010101" pitchFamily="2" charset="-122"/>
              </a:rPr>
              <a:t>Rt</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Rd</a:t>
            </a:r>
            <a:r>
              <a:rPr lang="en-US" altLang="zh-CN" sz="1400" b="0">
                <a:latin typeface="Times New Roman" panose="02020603050405020304" pitchFamily="18" charset="0"/>
                <a:ea typeface="宋体" panose="02010600030101010101" pitchFamily="2" charset="-122"/>
              </a:rPr>
              <a:t>,</a:t>
            </a:r>
            <a:endParaRPr lang="en-US" altLang="zh-CN" sz="1400" b="0">
              <a:latin typeface="Times New Roman" panose="02020603050405020304" pitchFamily="18" charset="0"/>
              <a:ea typeface="宋体" panose="02010600030101010101" pitchFamily="2" charset="-122"/>
            </a:endParaRPr>
          </a:p>
          <a:p>
            <a:pPr eaLnBrk="0" hangingPunct="0"/>
            <a:r>
              <a:rPr lang="en-US" altLang="zh-CN" sz="1400">
                <a:latin typeface="Times New Roman" panose="02020603050405020304" pitchFamily="18" charset="0"/>
                <a:ea typeface="宋体" panose="02010600030101010101" pitchFamily="2" charset="-122"/>
              </a:rPr>
              <a:t>Op</a:t>
            </a:r>
            <a:r>
              <a:rPr lang="en-US" altLang="zh-CN" sz="1400" b="0">
                <a:latin typeface="Times New Roman" panose="02020603050405020304" pitchFamily="18" charset="0"/>
                <a:ea typeface="宋体" panose="02010600030101010101" pitchFamily="2" charset="-122"/>
              </a:rPr>
              <a:t>, </a:t>
            </a:r>
            <a:r>
              <a:rPr lang="en-US" altLang="zh-CN" sz="1400" dirty="0" err="1">
                <a:latin typeface="Times New Roman" panose="02020603050405020304" pitchFamily="18" charset="0"/>
                <a:ea typeface="宋体" panose="02010600030101010101" pitchFamily="2" charset="-122"/>
              </a:rPr>
              <a:t>Func</a:t>
            </a:r>
            <a:endParaRPr lang="en-US" altLang="zh-CN" sz="1400">
              <a:latin typeface="Times New Roman" panose="02020603050405020304" pitchFamily="18" charset="0"/>
              <a:ea typeface="宋体" panose="02010600030101010101" pitchFamily="2" charset="-122"/>
            </a:endParaRPr>
          </a:p>
        </p:txBody>
      </p:sp>
      <p:sp>
        <p:nvSpPr>
          <p:cNvPr id="152614" name="直接连接符 292902"/>
          <p:cNvSpPr/>
          <p:nvPr/>
        </p:nvSpPr>
        <p:spPr>
          <a:xfrm>
            <a:off x="3289300" y="1981200"/>
            <a:ext cx="5537200" cy="0"/>
          </a:xfrm>
          <a:prstGeom prst="line">
            <a:avLst/>
          </a:prstGeom>
          <a:ln w="25400" cap="flat" cmpd="sng">
            <a:solidFill>
              <a:schemeClr val="tx1"/>
            </a:solidFill>
            <a:prstDash val="solid"/>
            <a:round/>
            <a:headEnd type="none" w="med" len="med"/>
            <a:tailEnd type="none" w="med" len="med"/>
          </a:ln>
        </p:spPr>
      </p:sp>
      <p:sp>
        <p:nvSpPr>
          <p:cNvPr id="152615" name="直接连接符 292903"/>
          <p:cNvSpPr/>
          <p:nvPr/>
        </p:nvSpPr>
        <p:spPr>
          <a:xfrm>
            <a:off x="1905000" y="1003300"/>
            <a:ext cx="0" cy="660400"/>
          </a:xfrm>
          <a:prstGeom prst="line">
            <a:avLst/>
          </a:prstGeom>
          <a:ln w="25400" cap="flat" cmpd="sng">
            <a:solidFill>
              <a:schemeClr val="tx1"/>
            </a:solidFill>
            <a:prstDash val="dash"/>
            <a:round/>
            <a:headEnd type="none" w="med" len="med"/>
            <a:tailEnd type="none" w="med" len="med"/>
          </a:ln>
        </p:spPr>
      </p:sp>
      <p:sp>
        <p:nvSpPr>
          <p:cNvPr id="292905" name="矩形 292904"/>
          <p:cNvSpPr/>
          <p:nvPr/>
        </p:nvSpPr>
        <p:spPr>
          <a:xfrm>
            <a:off x="2347913" y="938213"/>
            <a:ext cx="860425" cy="301625"/>
          </a:xfrm>
          <a:prstGeom prst="rect">
            <a:avLst/>
          </a:prstGeom>
          <a:noFill/>
          <a:ln w="12700">
            <a:noFill/>
          </a:ln>
        </p:spPr>
        <p:txBody>
          <a:bodyPr wrap="none" lIns="90488" tIns="44450" rIns="90488" bIns="44450" anchor="t" anchorCtr="0">
            <a:spAutoFit/>
          </a:bodyPr>
          <a:p>
            <a:pPr eaLnBrk="0" hangingPunct="0"/>
            <a:r>
              <a:rPr lang="en-US" altLang="zh-CN" sz="1400" dirty="0" err="1">
                <a:solidFill>
                  <a:schemeClr val="accent1"/>
                </a:solidFill>
                <a:latin typeface="Times New Roman" panose="02020603050405020304" pitchFamily="18" charset="0"/>
                <a:ea typeface="宋体" panose="02010600030101010101" pitchFamily="2" charset="-122"/>
              </a:rPr>
              <a:t>Clk</a:t>
            </a:r>
            <a:r>
              <a:rPr lang="en-US" altLang="zh-CN" sz="1400">
                <a:solidFill>
                  <a:schemeClr val="accent1"/>
                </a:solidFill>
                <a:latin typeface="Times New Roman" panose="02020603050405020304" pitchFamily="18" charset="0"/>
                <a:ea typeface="宋体" panose="02010600030101010101" pitchFamily="2" charset="-122"/>
              </a:rPr>
              <a:t>-to-Q</a:t>
            </a:r>
            <a:endParaRPr lang="en-US" altLang="zh-CN" sz="1400">
              <a:solidFill>
                <a:schemeClr val="accent1"/>
              </a:solidFill>
              <a:latin typeface="Times New Roman" panose="02020603050405020304" pitchFamily="18" charset="0"/>
              <a:ea typeface="宋体" panose="02010600030101010101" pitchFamily="2" charset="-122"/>
            </a:endParaRPr>
          </a:p>
        </p:txBody>
      </p:sp>
      <p:sp>
        <p:nvSpPr>
          <p:cNvPr id="152617" name="直接连接符 292905"/>
          <p:cNvSpPr/>
          <p:nvPr/>
        </p:nvSpPr>
        <p:spPr>
          <a:xfrm flipH="1">
            <a:off x="1892300" y="1066800"/>
            <a:ext cx="482600" cy="0"/>
          </a:xfrm>
          <a:prstGeom prst="line">
            <a:avLst/>
          </a:prstGeom>
          <a:ln w="25400" cap="flat" cmpd="sng">
            <a:solidFill>
              <a:schemeClr val="tx1"/>
            </a:solidFill>
            <a:prstDash val="solid"/>
            <a:round/>
            <a:headEnd type="none" w="med" len="med"/>
            <a:tailEnd type="triangle" w="med" len="med"/>
          </a:ln>
        </p:spPr>
      </p:sp>
      <p:sp>
        <p:nvSpPr>
          <p:cNvPr id="152618" name="直接连接符 292906"/>
          <p:cNvSpPr/>
          <p:nvPr/>
        </p:nvSpPr>
        <p:spPr>
          <a:xfrm flipH="1">
            <a:off x="1206500" y="1066800"/>
            <a:ext cx="482600" cy="0"/>
          </a:xfrm>
          <a:prstGeom prst="line">
            <a:avLst/>
          </a:prstGeom>
          <a:ln w="25400" cap="flat" cmpd="sng">
            <a:solidFill>
              <a:schemeClr val="tx1"/>
            </a:solidFill>
            <a:prstDash val="solid"/>
            <a:round/>
            <a:headEnd type="triangle" w="med" len="med"/>
            <a:tailEnd type="none" w="med" len="med"/>
          </a:ln>
        </p:spPr>
      </p:sp>
      <p:sp>
        <p:nvSpPr>
          <p:cNvPr id="152619" name="直接连接符 292907"/>
          <p:cNvSpPr/>
          <p:nvPr/>
        </p:nvSpPr>
        <p:spPr>
          <a:xfrm>
            <a:off x="838200" y="2286000"/>
            <a:ext cx="3416300" cy="0"/>
          </a:xfrm>
          <a:prstGeom prst="line">
            <a:avLst/>
          </a:prstGeom>
          <a:ln w="25400" cap="flat" cmpd="sng">
            <a:solidFill>
              <a:schemeClr val="tx1"/>
            </a:solidFill>
            <a:prstDash val="solid"/>
            <a:round/>
            <a:headEnd type="none" w="med" len="med"/>
            <a:tailEnd type="none" w="med" len="med"/>
          </a:ln>
        </p:spPr>
      </p:sp>
      <p:sp>
        <p:nvSpPr>
          <p:cNvPr id="152620" name="直接连接符 292908"/>
          <p:cNvSpPr/>
          <p:nvPr/>
        </p:nvSpPr>
        <p:spPr>
          <a:xfrm>
            <a:off x="4279900" y="2298700"/>
            <a:ext cx="127000" cy="203200"/>
          </a:xfrm>
          <a:prstGeom prst="line">
            <a:avLst/>
          </a:prstGeom>
          <a:ln w="25400" cap="flat" cmpd="sng">
            <a:solidFill>
              <a:schemeClr val="tx1"/>
            </a:solidFill>
            <a:prstDash val="solid"/>
            <a:round/>
            <a:headEnd type="none" w="med" len="med"/>
            <a:tailEnd type="none" w="med" len="med"/>
          </a:ln>
        </p:spPr>
      </p:sp>
      <p:sp>
        <p:nvSpPr>
          <p:cNvPr id="152621" name="直接连接符 292909"/>
          <p:cNvSpPr/>
          <p:nvPr/>
        </p:nvSpPr>
        <p:spPr>
          <a:xfrm>
            <a:off x="838200" y="2514600"/>
            <a:ext cx="3416300" cy="0"/>
          </a:xfrm>
          <a:prstGeom prst="line">
            <a:avLst/>
          </a:prstGeom>
          <a:ln w="25400" cap="flat" cmpd="sng">
            <a:solidFill>
              <a:schemeClr val="tx1"/>
            </a:solidFill>
            <a:prstDash val="solid"/>
            <a:round/>
            <a:headEnd type="none" w="med" len="med"/>
            <a:tailEnd type="none" w="med" len="med"/>
          </a:ln>
        </p:spPr>
      </p:sp>
      <p:sp>
        <p:nvSpPr>
          <p:cNvPr id="152622" name="直接连接符 292910"/>
          <p:cNvSpPr/>
          <p:nvPr/>
        </p:nvSpPr>
        <p:spPr>
          <a:xfrm flipV="1">
            <a:off x="4279900" y="2273300"/>
            <a:ext cx="127000" cy="254000"/>
          </a:xfrm>
          <a:prstGeom prst="line">
            <a:avLst/>
          </a:prstGeom>
          <a:ln w="25400" cap="flat" cmpd="sng">
            <a:solidFill>
              <a:schemeClr val="tx1"/>
            </a:solidFill>
            <a:prstDash val="solid"/>
            <a:round/>
            <a:headEnd type="none" w="med" len="med"/>
            <a:tailEnd type="none" w="med" len="med"/>
          </a:ln>
        </p:spPr>
      </p:sp>
      <p:sp>
        <p:nvSpPr>
          <p:cNvPr id="152623" name="直接连接符 292911"/>
          <p:cNvSpPr/>
          <p:nvPr/>
        </p:nvSpPr>
        <p:spPr>
          <a:xfrm>
            <a:off x="4432300" y="2286000"/>
            <a:ext cx="4394200" cy="0"/>
          </a:xfrm>
          <a:prstGeom prst="line">
            <a:avLst/>
          </a:prstGeom>
          <a:ln w="25400" cap="flat" cmpd="sng">
            <a:solidFill>
              <a:schemeClr val="tx1"/>
            </a:solidFill>
            <a:prstDash val="solid"/>
            <a:round/>
            <a:headEnd type="none" w="med" len="med"/>
            <a:tailEnd type="none" w="med" len="med"/>
          </a:ln>
        </p:spPr>
      </p:sp>
      <p:sp>
        <p:nvSpPr>
          <p:cNvPr id="152624" name="直接连接符 292912"/>
          <p:cNvSpPr/>
          <p:nvPr/>
        </p:nvSpPr>
        <p:spPr>
          <a:xfrm>
            <a:off x="4432300" y="2514600"/>
            <a:ext cx="4394200" cy="0"/>
          </a:xfrm>
          <a:prstGeom prst="line">
            <a:avLst/>
          </a:prstGeom>
          <a:ln w="25400" cap="flat" cmpd="sng">
            <a:solidFill>
              <a:schemeClr val="tx1"/>
            </a:solidFill>
            <a:prstDash val="solid"/>
            <a:round/>
            <a:headEnd type="none" w="med" len="med"/>
            <a:tailEnd type="none" w="med" len="med"/>
          </a:ln>
        </p:spPr>
      </p:sp>
      <p:sp>
        <p:nvSpPr>
          <p:cNvPr id="152625" name="直接连接符 292913"/>
          <p:cNvSpPr/>
          <p:nvPr/>
        </p:nvSpPr>
        <p:spPr>
          <a:xfrm>
            <a:off x="838200" y="4648200"/>
            <a:ext cx="4330700" cy="0"/>
          </a:xfrm>
          <a:prstGeom prst="line">
            <a:avLst/>
          </a:prstGeom>
          <a:ln w="25400" cap="flat" cmpd="sng">
            <a:solidFill>
              <a:schemeClr val="tx1"/>
            </a:solidFill>
            <a:prstDash val="solid"/>
            <a:round/>
            <a:headEnd type="none" w="med" len="med"/>
            <a:tailEnd type="none" w="med" len="med"/>
          </a:ln>
        </p:spPr>
      </p:sp>
      <p:sp>
        <p:nvSpPr>
          <p:cNvPr id="152626" name="直接连接符 292914"/>
          <p:cNvSpPr/>
          <p:nvPr/>
        </p:nvSpPr>
        <p:spPr>
          <a:xfrm>
            <a:off x="5194300" y="4660900"/>
            <a:ext cx="127000" cy="203200"/>
          </a:xfrm>
          <a:prstGeom prst="line">
            <a:avLst/>
          </a:prstGeom>
          <a:ln w="25400" cap="flat" cmpd="sng">
            <a:solidFill>
              <a:schemeClr val="tx1"/>
            </a:solidFill>
            <a:prstDash val="solid"/>
            <a:round/>
            <a:headEnd type="none" w="med" len="med"/>
            <a:tailEnd type="none" w="med" len="med"/>
          </a:ln>
        </p:spPr>
      </p:sp>
      <p:sp>
        <p:nvSpPr>
          <p:cNvPr id="152627" name="直接连接符 292915"/>
          <p:cNvSpPr/>
          <p:nvPr/>
        </p:nvSpPr>
        <p:spPr>
          <a:xfrm>
            <a:off x="838200" y="4876800"/>
            <a:ext cx="4330700" cy="0"/>
          </a:xfrm>
          <a:prstGeom prst="line">
            <a:avLst/>
          </a:prstGeom>
          <a:ln w="25400" cap="flat" cmpd="sng">
            <a:solidFill>
              <a:schemeClr val="tx1"/>
            </a:solidFill>
            <a:prstDash val="solid"/>
            <a:round/>
            <a:headEnd type="none" w="med" len="med"/>
            <a:tailEnd type="none" w="med" len="med"/>
          </a:ln>
        </p:spPr>
      </p:sp>
      <p:sp>
        <p:nvSpPr>
          <p:cNvPr id="152628" name="直接连接符 292916"/>
          <p:cNvSpPr/>
          <p:nvPr/>
        </p:nvSpPr>
        <p:spPr>
          <a:xfrm flipV="1">
            <a:off x="5194300" y="4635500"/>
            <a:ext cx="127000" cy="254000"/>
          </a:xfrm>
          <a:prstGeom prst="line">
            <a:avLst/>
          </a:prstGeom>
          <a:ln w="25400" cap="flat" cmpd="sng">
            <a:solidFill>
              <a:schemeClr val="tx1"/>
            </a:solidFill>
            <a:prstDash val="solid"/>
            <a:round/>
            <a:headEnd type="none" w="med" len="med"/>
            <a:tailEnd type="none" w="med" len="med"/>
          </a:ln>
        </p:spPr>
      </p:sp>
      <p:sp>
        <p:nvSpPr>
          <p:cNvPr id="152629" name="直接连接符 292917"/>
          <p:cNvSpPr/>
          <p:nvPr/>
        </p:nvSpPr>
        <p:spPr>
          <a:xfrm>
            <a:off x="5346700" y="4876800"/>
            <a:ext cx="3479800" cy="0"/>
          </a:xfrm>
          <a:prstGeom prst="line">
            <a:avLst/>
          </a:prstGeom>
          <a:ln w="25400" cap="flat" cmpd="sng">
            <a:solidFill>
              <a:schemeClr val="tx1"/>
            </a:solidFill>
            <a:prstDash val="solid"/>
            <a:round/>
            <a:headEnd type="none" w="med" len="med"/>
            <a:tailEnd type="none" w="med" len="med"/>
          </a:ln>
        </p:spPr>
      </p:sp>
      <p:sp>
        <p:nvSpPr>
          <p:cNvPr id="152630" name="直接连接符 292918"/>
          <p:cNvSpPr/>
          <p:nvPr/>
        </p:nvSpPr>
        <p:spPr>
          <a:xfrm>
            <a:off x="838200" y="5181600"/>
            <a:ext cx="4178300" cy="0"/>
          </a:xfrm>
          <a:prstGeom prst="line">
            <a:avLst/>
          </a:prstGeom>
          <a:ln w="25400" cap="flat" cmpd="sng">
            <a:solidFill>
              <a:schemeClr val="tx1"/>
            </a:solidFill>
            <a:prstDash val="solid"/>
            <a:round/>
            <a:headEnd type="none" w="med" len="med"/>
            <a:tailEnd type="none" w="med" len="med"/>
          </a:ln>
        </p:spPr>
      </p:sp>
      <p:sp>
        <p:nvSpPr>
          <p:cNvPr id="152631" name="直接连接符 292919"/>
          <p:cNvSpPr/>
          <p:nvPr/>
        </p:nvSpPr>
        <p:spPr>
          <a:xfrm>
            <a:off x="5041900" y="5194300"/>
            <a:ext cx="127000" cy="203200"/>
          </a:xfrm>
          <a:prstGeom prst="line">
            <a:avLst/>
          </a:prstGeom>
          <a:ln w="25400" cap="flat" cmpd="sng">
            <a:solidFill>
              <a:schemeClr val="tx1"/>
            </a:solidFill>
            <a:prstDash val="solid"/>
            <a:round/>
            <a:headEnd type="none" w="med" len="med"/>
            <a:tailEnd type="none" w="med" len="med"/>
          </a:ln>
        </p:spPr>
      </p:sp>
      <p:sp>
        <p:nvSpPr>
          <p:cNvPr id="152632" name="直接连接符 292920"/>
          <p:cNvSpPr/>
          <p:nvPr/>
        </p:nvSpPr>
        <p:spPr>
          <a:xfrm>
            <a:off x="838200" y="5410200"/>
            <a:ext cx="4178300" cy="0"/>
          </a:xfrm>
          <a:prstGeom prst="line">
            <a:avLst/>
          </a:prstGeom>
          <a:ln w="25400" cap="flat" cmpd="sng">
            <a:solidFill>
              <a:schemeClr val="tx1"/>
            </a:solidFill>
            <a:prstDash val="solid"/>
            <a:round/>
            <a:headEnd type="none" w="med" len="med"/>
            <a:tailEnd type="none" w="med" len="med"/>
          </a:ln>
        </p:spPr>
      </p:sp>
      <p:sp>
        <p:nvSpPr>
          <p:cNvPr id="152633" name="直接连接符 292921"/>
          <p:cNvSpPr/>
          <p:nvPr/>
        </p:nvSpPr>
        <p:spPr>
          <a:xfrm flipV="1">
            <a:off x="5041900" y="5168900"/>
            <a:ext cx="127000" cy="254000"/>
          </a:xfrm>
          <a:prstGeom prst="line">
            <a:avLst/>
          </a:prstGeom>
          <a:ln w="25400" cap="flat" cmpd="sng">
            <a:solidFill>
              <a:schemeClr val="tx1"/>
            </a:solidFill>
            <a:prstDash val="solid"/>
            <a:round/>
            <a:headEnd type="none" w="med" len="med"/>
            <a:tailEnd type="none" w="med" len="med"/>
          </a:ln>
        </p:spPr>
      </p:sp>
      <p:sp>
        <p:nvSpPr>
          <p:cNvPr id="152634" name="直接连接符 292922"/>
          <p:cNvSpPr/>
          <p:nvPr/>
        </p:nvSpPr>
        <p:spPr>
          <a:xfrm>
            <a:off x="5194300" y="5181600"/>
            <a:ext cx="3632200" cy="0"/>
          </a:xfrm>
          <a:prstGeom prst="line">
            <a:avLst/>
          </a:prstGeom>
          <a:ln w="25400" cap="flat" cmpd="sng">
            <a:solidFill>
              <a:schemeClr val="tx1"/>
            </a:solidFill>
            <a:prstDash val="solid"/>
            <a:round/>
            <a:headEnd type="none" w="med" len="med"/>
            <a:tailEnd type="none" w="med" len="med"/>
          </a:ln>
        </p:spPr>
      </p:sp>
      <p:sp>
        <p:nvSpPr>
          <p:cNvPr id="152635" name="直接连接符 292923"/>
          <p:cNvSpPr/>
          <p:nvPr/>
        </p:nvSpPr>
        <p:spPr>
          <a:xfrm>
            <a:off x="5194300" y="5410200"/>
            <a:ext cx="3632200" cy="0"/>
          </a:xfrm>
          <a:prstGeom prst="line">
            <a:avLst/>
          </a:prstGeom>
          <a:ln w="25400" cap="flat" cmpd="sng">
            <a:solidFill>
              <a:schemeClr val="tx1"/>
            </a:solidFill>
            <a:prstDash val="solid"/>
            <a:round/>
            <a:headEnd type="none" w="med" len="med"/>
            <a:tailEnd type="none" w="med" len="med"/>
          </a:ln>
        </p:spPr>
      </p:sp>
      <p:sp>
        <p:nvSpPr>
          <p:cNvPr id="152636" name="矩形 292924"/>
          <p:cNvSpPr/>
          <p:nvPr/>
        </p:nvSpPr>
        <p:spPr>
          <a:xfrm>
            <a:off x="138113" y="2251075"/>
            <a:ext cx="774700" cy="301625"/>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ALUctr</a:t>
            </a:r>
            <a:endParaRPr lang="en-US" altLang="zh-CN" sz="1400">
              <a:latin typeface="Times New Roman" panose="02020603050405020304" pitchFamily="18" charset="0"/>
              <a:ea typeface="宋体" panose="02010600030101010101" pitchFamily="2" charset="-122"/>
            </a:endParaRPr>
          </a:p>
        </p:txBody>
      </p:sp>
      <p:sp>
        <p:nvSpPr>
          <p:cNvPr id="152637" name="直接连接符 292925"/>
          <p:cNvSpPr/>
          <p:nvPr/>
        </p:nvSpPr>
        <p:spPr>
          <a:xfrm>
            <a:off x="3200400" y="1536700"/>
            <a:ext cx="0" cy="3022600"/>
          </a:xfrm>
          <a:prstGeom prst="line">
            <a:avLst/>
          </a:prstGeom>
          <a:ln w="25400" cap="flat" cmpd="sng">
            <a:solidFill>
              <a:schemeClr val="tx1"/>
            </a:solidFill>
            <a:prstDash val="dash"/>
            <a:round/>
            <a:headEnd type="none" w="med" len="med"/>
            <a:tailEnd type="none" w="med" len="med"/>
          </a:ln>
        </p:spPr>
      </p:sp>
      <p:sp>
        <p:nvSpPr>
          <p:cNvPr id="292927" name="矩形 292926"/>
          <p:cNvSpPr/>
          <p:nvPr/>
        </p:nvSpPr>
        <p:spPr>
          <a:xfrm>
            <a:off x="3262313" y="1471613"/>
            <a:ext cx="2717800" cy="301625"/>
          </a:xfrm>
          <a:prstGeom prst="rect">
            <a:avLst/>
          </a:prstGeom>
          <a:noFill/>
          <a:ln w="12700">
            <a:noFill/>
          </a:ln>
        </p:spPr>
        <p:txBody>
          <a:bodyPr wrap="none" lIns="90488" tIns="44450" rIns="90488" bIns="44450" anchor="t" anchorCtr="0">
            <a:spAutoFit/>
          </a:bodyPr>
          <a:p>
            <a:pPr eaLnBrk="0" hangingPunct="0"/>
            <a:r>
              <a:rPr lang="en-US" altLang="zh-CN" sz="1400">
                <a:solidFill>
                  <a:schemeClr val="accent1"/>
                </a:solidFill>
                <a:latin typeface="Times New Roman" panose="02020603050405020304" pitchFamily="18" charset="0"/>
                <a:ea typeface="宋体" panose="02010600030101010101" pitchFamily="2" charset="-122"/>
              </a:rPr>
              <a:t>Instruction Memory Access Time</a:t>
            </a:r>
            <a:endParaRPr lang="en-US" altLang="zh-CN" sz="1400">
              <a:solidFill>
                <a:schemeClr val="accent1"/>
              </a:solidFill>
              <a:latin typeface="Times New Roman" panose="02020603050405020304" pitchFamily="18" charset="0"/>
              <a:ea typeface="宋体" panose="02010600030101010101" pitchFamily="2" charset="-122"/>
            </a:endParaRPr>
          </a:p>
        </p:txBody>
      </p:sp>
      <p:sp>
        <p:nvSpPr>
          <p:cNvPr id="152639" name="直接连接符 292927"/>
          <p:cNvSpPr/>
          <p:nvPr/>
        </p:nvSpPr>
        <p:spPr>
          <a:xfrm>
            <a:off x="1917700" y="1600200"/>
            <a:ext cx="1270000" cy="0"/>
          </a:xfrm>
          <a:prstGeom prst="line">
            <a:avLst/>
          </a:prstGeom>
          <a:ln w="25400" cap="flat" cmpd="sng">
            <a:solidFill>
              <a:schemeClr val="tx1"/>
            </a:solidFill>
            <a:prstDash val="solid"/>
            <a:round/>
            <a:headEnd type="triangle" w="med" len="med"/>
            <a:tailEnd type="triangle" w="med" len="med"/>
          </a:ln>
        </p:spPr>
      </p:sp>
      <p:sp>
        <p:nvSpPr>
          <p:cNvPr id="152640" name="矩形 292928"/>
          <p:cNvSpPr/>
          <p:nvPr/>
        </p:nvSpPr>
        <p:spPr>
          <a:xfrm>
            <a:off x="2043113" y="2251075"/>
            <a:ext cx="11557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 Value</a:t>
            </a:r>
            <a:endParaRPr lang="en-US" altLang="zh-CN" sz="1400">
              <a:latin typeface="Times New Roman" panose="02020603050405020304" pitchFamily="18" charset="0"/>
              <a:ea typeface="宋体" panose="02010600030101010101" pitchFamily="2" charset="-122"/>
            </a:endParaRPr>
          </a:p>
        </p:txBody>
      </p:sp>
      <p:sp>
        <p:nvSpPr>
          <p:cNvPr id="152641" name="矩形 292929"/>
          <p:cNvSpPr/>
          <p:nvPr/>
        </p:nvSpPr>
        <p:spPr>
          <a:xfrm>
            <a:off x="4862513" y="22510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 Value</a:t>
            </a:r>
            <a:endParaRPr lang="en-US" altLang="zh-CN" sz="1400">
              <a:latin typeface="Times New Roman" panose="02020603050405020304" pitchFamily="18" charset="0"/>
              <a:ea typeface="宋体" panose="02010600030101010101" pitchFamily="2" charset="-122"/>
            </a:endParaRPr>
          </a:p>
        </p:txBody>
      </p:sp>
      <p:sp>
        <p:nvSpPr>
          <p:cNvPr id="152642" name="直接连接符 292930"/>
          <p:cNvSpPr/>
          <p:nvPr/>
        </p:nvSpPr>
        <p:spPr>
          <a:xfrm>
            <a:off x="4343400" y="2070100"/>
            <a:ext cx="0" cy="3175000"/>
          </a:xfrm>
          <a:prstGeom prst="line">
            <a:avLst/>
          </a:prstGeom>
          <a:ln w="25400" cap="flat" cmpd="sng">
            <a:solidFill>
              <a:schemeClr val="tx1"/>
            </a:solidFill>
            <a:prstDash val="dash"/>
            <a:round/>
            <a:headEnd type="none" w="med" len="med"/>
            <a:tailEnd type="none" w="med" len="med"/>
          </a:ln>
        </p:spPr>
      </p:sp>
      <p:sp>
        <p:nvSpPr>
          <p:cNvPr id="152643" name="直接连接符 292931"/>
          <p:cNvSpPr/>
          <p:nvPr/>
        </p:nvSpPr>
        <p:spPr>
          <a:xfrm>
            <a:off x="838200" y="4114800"/>
            <a:ext cx="3416300" cy="0"/>
          </a:xfrm>
          <a:prstGeom prst="line">
            <a:avLst/>
          </a:prstGeom>
          <a:ln w="25400" cap="flat" cmpd="sng">
            <a:solidFill>
              <a:schemeClr val="tx1"/>
            </a:solidFill>
            <a:prstDash val="solid"/>
            <a:round/>
            <a:headEnd type="none" w="med" len="med"/>
            <a:tailEnd type="none" w="med" len="med"/>
          </a:ln>
        </p:spPr>
      </p:sp>
      <p:sp>
        <p:nvSpPr>
          <p:cNvPr id="152644" name="直接连接符 292932"/>
          <p:cNvSpPr/>
          <p:nvPr/>
        </p:nvSpPr>
        <p:spPr>
          <a:xfrm>
            <a:off x="4279900" y="4127500"/>
            <a:ext cx="127000" cy="203200"/>
          </a:xfrm>
          <a:prstGeom prst="line">
            <a:avLst/>
          </a:prstGeom>
          <a:ln w="25400" cap="flat" cmpd="sng">
            <a:solidFill>
              <a:schemeClr val="tx1"/>
            </a:solidFill>
            <a:prstDash val="solid"/>
            <a:round/>
            <a:headEnd type="none" w="med" len="med"/>
            <a:tailEnd type="none" w="med" len="med"/>
          </a:ln>
        </p:spPr>
      </p:sp>
      <p:sp>
        <p:nvSpPr>
          <p:cNvPr id="152645" name="直接连接符 292933"/>
          <p:cNvSpPr/>
          <p:nvPr/>
        </p:nvSpPr>
        <p:spPr>
          <a:xfrm>
            <a:off x="838200" y="4343400"/>
            <a:ext cx="3568700" cy="0"/>
          </a:xfrm>
          <a:prstGeom prst="line">
            <a:avLst/>
          </a:prstGeom>
          <a:ln w="25400" cap="flat" cmpd="sng">
            <a:solidFill>
              <a:schemeClr val="tx1"/>
            </a:solidFill>
            <a:prstDash val="solid"/>
            <a:round/>
            <a:headEnd type="none" w="med" len="med"/>
            <a:tailEnd type="none" w="med" len="med"/>
          </a:ln>
        </p:spPr>
      </p:sp>
      <p:sp>
        <p:nvSpPr>
          <p:cNvPr id="152646" name="直接连接符 292934"/>
          <p:cNvSpPr/>
          <p:nvPr/>
        </p:nvSpPr>
        <p:spPr>
          <a:xfrm>
            <a:off x="4432300" y="4343400"/>
            <a:ext cx="4394200" cy="0"/>
          </a:xfrm>
          <a:prstGeom prst="line">
            <a:avLst/>
          </a:prstGeom>
          <a:ln w="25400" cap="flat" cmpd="sng">
            <a:solidFill>
              <a:schemeClr val="tx1"/>
            </a:solidFill>
            <a:prstDash val="solid"/>
            <a:round/>
            <a:headEnd type="none" w="med" len="med"/>
            <a:tailEnd type="none" w="med" len="med"/>
          </a:ln>
        </p:spPr>
      </p:sp>
      <p:sp>
        <p:nvSpPr>
          <p:cNvPr id="152647" name="矩形 292935"/>
          <p:cNvSpPr/>
          <p:nvPr/>
        </p:nvSpPr>
        <p:spPr>
          <a:xfrm>
            <a:off x="138113" y="4079875"/>
            <a:ext cx="774700" cy="301625"/>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RegWr</a:t>
            </a:r>
            <a:endParaRPr lang="en-US" altLang="zh-CN" sz="1400">
              <a:latin typeface="Times New Roman" panose="02020603050405020304" pitchFamily="18" charset="0"/>
              <a:ea typeface="宋体" panose="02010600030101010101" pitchFamily="2" charset="-122"/>
            </a:endParaRPr>
          </a:p>
        </p:txBody>
      </p:sp>
      <p:sp>
        <p:nvSpPr>
          <p:cNvPr id="152648" name="矩形 292936"/>
          <p:cNvSpPr/>
          <p:nvPr/>
        </p:nvSpPr>
        <p:spPr>
          <a:xfrm>
            <a:off x="2043113" y="4079875"/>
            <a:ext cx="11430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49" name="矩形 292937"/>
          <p:cNvSpPr/>
          <p:nvPr/>
        </p:nvSpPr>
        <p:spPr>
          <a:xfrm>
            <a:off x="4862513" y="40798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 Value</a:t>
            </a:r>
            <a:endParaRPr lang="en-US" altLang="zh-CN" sz="1400">
              <a:latin typeface="Times New Roman" panose="02020603050405020304" pitchFamily="18" charset="0"/>
              <a:ea typeface="宋体" panose="02010600030101010101" pitchFamily="2" charset="-122"/>
            </a:endParaRPr>
          </a:p>
        </p:txBody>
      </p:sp>
      <p:sp>
        <p:nvSpPr>
          <p:cNvPr id="152650" name="直接连接符 292938"/>
          <p:cNvSpPr/>
          <p:nvPr/>
        </p:nvSpPr>
        <p:spPr>
          <a:xfrm>
            <a:off x="3213100" y="2133600"/>
            <a:ext cx="1117600" cy="0"/>
          </a:xfrm>
          <a:prstGeom prst="line">
            <a:avLst/>
          </a:prstGeom>
          <a:ln w="25400" cap="flat" cmpd="sng">
            <a:solidFill>
              <a:schemeClr val="tx1"/>
            </a:solidFill>
            <a:prstDash val="solid"/>
            <a:round/>
            <a:headEnd type="triangle" w="med" len="med"/>
            <a:tailEnd type="triangle" w="med" len="med"/>
          </a:ln>
        </p:spPr>
      </p:sp>
      <p:sp>
        <p:nvSpPr>
          <p:cNvPr id="292940" name="矩形 292939"/>
          <p:cNvSpPr/>
          <p:nvPr/>
        </p:nvSpPr>
        <p:spPr>
          <a:xfrm>
            <a:off x="4329113" y="2005013"/>
            <a:ext cx="2378075" cy="301625"/>
          </a:xfrm>
          <a:prstGeom prst="rect">
            <a:avLst/>
          </a:prstGeom>
          <a:noFill/>
          <a:ln w="12700">
            <a:noFill/>
          </a:ln>
        </p:spPr>
        <p:txBody>
          <a:bodyPr wrap="none" lIns="90488" tIns="44450" rIns="90488" bIns="44450" anchor="t" anchorCtr="0">
            <a:spAutoFit/>
          </a:bodyPr>
          <a:p>
            <a:pPr eaLnBrk="0" hangingPunct="0"/>
            <a:r>
              <a:rPr lang="en-US" altLang="zh-CN" sz="1400">
                <a:solidFill>
                  <a:schemeClr val="accent1"/>
                </a:solidFill>
                <a:latin typeface="Times New Roman" panose="02020603050405020304" pitchFamily="18" charset="0"/>
                <a:ea typeface="宋体" panose="02010600030101010101" pitchFamily="2" charset="-122"/>
              </a:rPr>
              <a:t>Delay through Control Logic</a:t>
            </a:r>
            <a:endParaRPr lang="en-US" altLang="zh-CN" sz="1400">
              <a:solidFill>
                <a:schemeClr val="accent1"/>
              </a:solidFill>
              <a:latin typeface="Times New Roman" panose="02020603050405020304" pitchFamily="18" charset="0"/>
              <a:ea typeface="宋体" panose="02010600030101010101" pitchFamily="2" charset="-122"/>
            </a:endParaRPr>
          </a:p>
        </p:txBody>
      </p:sp>
      <p:sp>
        <p:nvSpPr>
          <p:cNvPr id="152652" name="直接连接符 292940"/>
          <p:cNvSpPr/>
          <p:nvPr/>
        </p:nvSpPr>
        <p:spPr>
          <a:xfrm>
            <a:off x="5346700" y="4648200"/>
            <a:ext cx="3479800" cy="0"/>
          </a:xfrm>
          <a:prstGeom prst="line">
            <a:avLst/>
          </a:prstGeom>
          <a:ln w="25400" cap="flat" cmpd="sng">
            <a:solidFill>
              <a:schemeClr val="tx1"/>
            </a:solidFill>
            <a:prstDash val="solid"/>
            <a:round/>
            <a:headEnd type="none" w="med" len="med"/>
            <a:tailEnd type="none" w="med" len="med"/>
          </a:ln>
        </p:spPr>
      </p:sp>
      <p:sp>
        <p:nvSpPr>
          <p:cNvPr id="152653" name="矩形 292941"/>
          <p:cNvSpPr/>
          <p:nvPr/>
        </p:nvSpPr>
        <p:spPr>
          <a:xfrm>
            <a:off x="138113" y="4613275"/>
            <a:ext cx="698500" cy="301625"/>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busA</a:t>
            </a:r>
            <a:endParaRPr lang="en-US" altLang="zh-CN" sz="1400">
              <a:latin typeface="Times New Roman" panose="02020603050405020304" pitchFamily="18" charset="0"/>
              <a:ea typeface="宋体" panose="02010600030101010101" pitchFamily="2" charset="-122"/>
            </a:endParaRPr>
          </a:p>
        </p:txBody>
      </p:sp>
      <p:sp>
        <p:nvSpPr>
          <p:cNvPr id="152654" name="直接连接符 292942"/>
          <p:cNvSpPr/>
          <p:nvPr/>
        </p:nvSpPr>
        <p:spPr>
          <a:xfrm>
            <a:off x="5257800" y="4432300"/>
            <a:ext cx="0" cy="1346200"/>
          </a:xfrm>
          <a:prstGeom prst="line">
            <a:avLst/>
          </a:prstGeom>
          <a:ln w="25400" cap="flat" cmpd="sng">
            <a:solidFill>
              <a:schemeClr val="tx1"/>
            </a:solidFill>
            <a:prstDash val="dash"/>
            <a:round/>
            <a:headEnd type="none" w="med" len="med"/>
            <a:tailEnd type="none" w="med" len="med"/>
          </a:ln>
        </p:spPr>
      </p:sp>
      <p:sp>
        <p:nvSpPr>
          <p:cNvPr id="152655" name="直接连接符 292943"/>
          <p:cNvSpPr/>
          <p:nvPr/>
        </p:nvSpPr>
        <p:spPr>
          <a:xfrm>
            <a:off x="3213100" y="4495800"/>
            <a:ext cx="2032000" cy="0"/>
          </a:xfrm>
          <a:prstGeom prst="line">
            <a:avLst/>
          </a:prstGeom>
          <a:ln w="25400" cap="flat" cmpd="sng">
            <a:solidFill>
              <a:schemeClr val="tx1"/>
            </a:solidFill>
            <a:prstDash val="solid"/>
            <a:round/>
            <a:headEnd type="triangle" w="med" len="med"/>
            <a:tailEnd type="triangle" w="med" len="med"/>
          </a:ln>
        </p:spPr>
      </p:sp>
      <p:sp>
        <p:nvSpPr>
          <p:cNvPr id="292945" name="矩形 292944"/>
          <p:cNvSpPr/>
          <p:nvPr/>
        </p:nvSpPr>
        <p:spPr>
          <a:xfrm>
            <a:off x="5243513" y="4367213"/>
            <a:ext cx="2135187" cy="301625"/>
          </a:xfrm>
          <a:prstGeom prst="rect">
            <a:avLst/>
          </a:prstGeom>
          <a:noFill/>
          <a:ln w="12700">
            <a:noFill/>
          </a:ln>
        </p:spPr>
        <p:txBody>
          <a:bodyPr wrap="none" lIns="90488" tIns="44450" rIns="90488" bIns="44450" anchor="t" anchorCtr="0">
            <a:spAutoFit/>
          </a:bodyPr>
          <a:p>
            <a:pPr eaLnBrk="0" hangingPunct="0"/>
            <a:r>
              <a:rPr lang="en-US" altLang="zh-CN" sz="1400">
                <a:solidFill>
                  <a:schemeClr val="accent1"/>
                </a:solidFill>
                <a:latin typeface="Times New Roman" panose="02020603050405020304" pitchFamily="18" charset="0"/>
                <a:ea typeface="宋体" panose="02010600030101010101" pitchFamily="2" charset="-122"/>
              </a:rPr>
              <a:t>Register File Access Time</a:t>
            </a:r>
            <a:endParaRPr lang="en-US" altLang="zh-CN" sz="1400">
              <a:solidFill>
                <a:schemeClr val="accent1"/>
              </a:solidFill>
              <a:latin typeface="Times New Roman" panose="02020603050405020304" pitchFamily="18" charset="0"/>
              <a:ea typeface="宋体" panose="02010600030101010101" pitchFamily="2" charset="-122"/>
            </a:endParaRPr>
          </a:p>
        </p:txBody>
      </p:sp>
      <p:sp>
        <p:nvSpPr>
          <p:cNvPr id="152657" name="矩形 292945"/>
          <p:cNvSpPr/>
          <p:nvPr/>
        </p:nvSpPr>
        <p:spPr>
          <a:xfrm>
            <a:off x="2119313" y="4613275"/>
            <a:ext cx="14351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58" name="矩形 292946"/>
          <p:cNvSpPr/>
          <p:nvPr/>
        </p:nvSpPr>
        <p:spPr>
          <a:xfrm>
            <a:off x="6005513" y="46132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59" name="矩形 292947"/>
          <p:cNvSpPr/>
          <p:nvPr/>
        </p:nvSpPr>
        <p:spPr>
          <a:xfrm>
            <a:off x="138113" y="5146675"/>
            <a:ext cx="774700" cy="301625"/>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busB</a:t>
            </a:r>
            <a:endParaRPr lang="en-US" altLang="zh-CN" sz="1400">
              <a:latin typeface="Times New Roman" panose="02020603050405020304" pitchFamily="18" charset="0"/>
              <a:ea typeface="宋体" panose="02010600030101010101" pitchFamily="2" charset="-122"/>
            </a:endParaRPr>
          </a:p>
        </p:txBody>
      </p:sp>
      <p:sp>
        <p:nvSpPr>
          <p:cNvPr id="152660" name="直接连接符 292948"/>
          <p:cNvSpPr/>
          <p:nvPr/>
        </p:nvSpPr>
        <p:spPr>
          <a:xfrm>
            <a:off x="6096000" y="5499100"/>
            <a:ext cx="0" cy="1117600"/>
          </a:xfrm>
          <a:prstGeom prst="line">
            <a:avLst/>
          </a:prstGeom>
          <a:ln w="25400" cap="flat" cmpd="sng">
            <a:solidFill>
              <a:schemeClr val="tx1"/>
            </a:solidFill>
            <a:prstDash val="dash"/>
            <a:round/>
            <a:headEnd type="none" w="med" len="med"/>
            <a:tailEnd type="none" w="med" len="med"/>
          </a:ln>
        </p:spPr>
      </p:sp>
      <p:sp>
        <p:nvSpPr>
          <p:cNvPr id="152661" name="直接连接符 292949"/>
          <p:cNvSpPr/>
          <p:nvPr/>
        </p:nvSpPr>
        <p:spPr>
          <a:xfrm>
            <a:off x="5270500" y="5562600"/>
            <a:ext cx="812800" cy="0"/>
          </a:xfrm>
          <a:prstGeom prst="line">
            <a:avLst/>
          </a:prstGeom>
          <a:ln w="25400" cap="flat" cmpd="sng">
            <a:solidFill>
              <a:schemeClr val="tx1"/>
            </a:solidFill>
            <a:prstDash val="solid"/>
            <a:round/>
            <a:headEnd type="triangle" w="med" len="med"/>
            <a:tailEnd type="triangle" w="med" len="med"/>
          </a:ln>
        </p:spPr>
      </p:sp>
      <p:sp>
        <p:nvSpPr>
          <p:cNvPr id="292951" name="矩形 292950"/>
          <p:cNvSpPr/>
          <p:nvPr/>
        </p:nvSpPr>
        <p:spPr>
          <a:xfrm>
            <a:off x="6081713" y="5434013"/>
            <a:ext cx="1036637" cy="301625"/>
          </a:xfrm>
          <a:prstGeom prst="rect">
            <a:avLst/>
          </a:prstGeom>
          <a:noFill/>
          <a:ln w="12700">
            <a:noFill/>
          </a:ln>
        </p:spPr>
        <p:txBody>
          <a:bodyPr wrap="none" lIns="90488" tIns="44450" rIns="90488" bIns="44450" anchor="t" anchorCtr="0">
            <a:spAutoFit/>
          </a:bodyPr>
          <a:p>
            <a:pPr eaLnBrk="0" hangingPunct="0"/>
            <a:r>
              <a:rPr lang="en-US" altLang="zh-CN" sz="1400">
                <a:solidFill>
                  <a:schemeClr val="accent1"/>
                </a:solidFill>
                <a:latin typeface="Times New Roman" panose="02020603050405020304" pitchFamily="18" charset="0"/>
                <a:ea typeface="宋体" panose="02010600030101010101" pitchFamily="2" charset="-122"/>
              </a:rPr>
              <a:t>ALU Delay</a:t>
            </a:r>
            <a:endParaRPr lang="en-US" altLang="zh-CN" sz="1400">
              <a:solidFill>
                <a:schemeClr val="accent1"/>
              </a:solidFill>
              <a:latin typeface="Times New Roman" panose="02020603050405020304" pitchFamily="18" charset="0"/>
              <a:ea typeface="宋体" panose="02010600030101010101" pitchFamily="2" charset="-122"/>
            </a:endParaRPr>
          </a:p>
        </p:txBody>
      </p:sp>
      <p:sp>
        <p:nvSpPr>
          <p:cNvPr id="152663" name="矩形 292951"/>
          <p:cNvSpPr/>
          <p:nvPr/>
        </p:nvSpPr>
        <p:spPr>
          <a:xfrm>
            <a:off x="2119313" y="5146675"/>
            <a:ext cx="1587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 Value</a:t>
            </a:r>
            <a:endParaRPr lang="en-US" altLang="zh-CN" sz="1400">
              <a:latin typeface="Times New Roman" panose="02020603050405020304" pitchFamily="18" charset="0"/>
              <a:ea typeface="宋体" panose="02010600030101010101" pitchFamily="2" charset="-122"/>
            </a:endParaRPr>
          </a:p>
        </p:txBody>
      </p:sp>
      <p:sp>
        <p:nvSpPr>
          <p:cNvPr id="152664" name="矩形 292952"/>
          <p:cNvSpPr/>
          <p:nvPr/>
        </p:nvSpPr>
        <p:spPr>
          <a:xfrm>
            <a:off x="6005513" y="51466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65" name="矩形 292953"/>
          <p:cNvSpPr/>
          <p:nvPr/>
        </p:nvSpPr>
        <p:spPr>
          <a:xfrm>
            <a:off x="2043113" y="1717675"/>
            <a:ext cx="10541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66" name="直接连接符 292954"/>
          <p:cNvSpPr/>
          <p:nvPr/>
        </p:nvSpPr>
        <p:spPr>
          <a:xfrm>
            <a:off x="8470900" y="1219200"/>
            <a:ext cx="355600" cy="0"/>
          </a:xfrm>
          <a:prstGeom prst="line">
            <a:avLst/>
          </a:prstGeom>
          <a:ln w="25400" cap="flat" cmpd="sng">
            <a:solidFill>
              <a:schemeClr val="tx1"/>
            </a:solidFill>
            <a:prstDash val="solid"/>
            <a:round/>
            <a:headEnd type="none" w="med" len="med"/>
            <a:tailEnd type="none" w="med" len="med"/>
          </a:ln>
        </p:spPr>
      </p:sp>
      <p:sp>
        <p:nvSpPr>
          <p:cNvPr id="152667" name="直接连接符 292955"/>
          <p:cNvSpPr/>
          <p:nvPr/>
        </p:nvSpPr>
        <p:spPr>
          <a:xfrm>
            <a:off x="8470900" y="1447800"/>
            <a:ext cx="355600" cy="0"/>
          </a:xfrm>
          <a:prstGeom prst="line">
            <a:avLst/>
          </a:prstGeom>
          <a:ln w="25400" cap="flat" cmpd="sng">
            <a:solidFill>
              <a:schemeClr val="tx1"/>
            </a:solidFill>
            <a:prstDash val="solid"/>
            <a:round/>
            <a:headEnd type="none" w="med" len="med"/>
            <a:tailEnd type="none" w="med" len="med"/>
          </a:ln>
        </p:spPr>
      </p:sp>
      <p:sp>
        <p:nvSpPr>
          <p:cNvPr id="152668" name="矩形 292956"/>
          <p:cNvSpPr/>
          <p:nvPr/>
        </p:nvSpPr>
        <p:spPr>
          <a:xfrm>
            <a:off x="3567113" y="17176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 Value</a:t>
            </a:r>
            <a:endParaRPr lang="en-US" altLang="zh-CN" sz="1400">
              <a:latin typeface="Times New Roman" panose="02020603050405020304" pitchFamily="18" charset="0"/>
              <a:ea typeface="宋体" panose="02010600030101010101" pitchFamily="2" charset="-122"/>
            </a:endParaRPr>
          </a:p>
        </p:txBody>
      </p:sp>
      <p:sp>
        <p:nvSpPr>
          <p:cNvPr id="152669" name="矩形 292957"/>
          <p:cNvSpPr/>
          <p:nvPr/>
        </p:nvSpPr>
        <p:spPr>
          <a:xfrm>
            <a:off x="2119313" y="11842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70" name="矩形 292958"/>
          <p:cNvSpPr/>
          <p:nvPr/>
        </p:nvSpPr>
        <p:spPr>
          <a:xfrm>
            <a:off x="595313" y="1184275"/>
            <a:ext cx="927100" cy="514350"/>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71" name="椭圆 292959"/>
          <p:cNvSpPr/>
          <p:nvPr/>
        </p:nvSpPr>
        <p:spPr>
          <a:xfrm>
            <a:off x="8083550" y="4197350"/>
            <a:ext cx="139700" cy="215900"/>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2672" name="直接连接符 292961"/>
          <p:cNvSpPr/>
          <p:nvPr/>
        </p:nvSpPr>
        <p:spPr>
          <a:xfrm>
            <a:off x="838200" y="2743200"/>
            <a:ext cx="7988300" cy="0"/>
          </a:xfrm>
          <a:prstGeom prst="line">
            <a:avLst/>
          </a:prstGeom>
          <a:ln w="25400" cap="flat" cmpd="sng">
            <a:solidFill>
              <a:schemeClr val="tx1"/>
            </a:solidFill>
            <a:prstDash val="solid"/>
            <a:round/>
            <a:headEnd type="none" w="med" len="med"/>
            <a:tailEnd type="none" w="med" len="med"/>
          </a:ln>
        </p:spPr>
      </p:sp>
      <p:sp>
        <p:nvSpPr>
          <p:cNvPr id="152673" name="直接连接符 292962"/>
          <p:cNvSpPr/>
          <p:nvPr/>
        </p:nvSpPr>
        <p:spPr>
          <a:xfrm>
            <a:off x="838200" y="2971800"/>
            <a:ext cx="3416300" cy="0"/>
          </a:xfrm>
          <a:prstGeom prst="line">
            <a:avLst/>
          </a:prstGeom>
          <a:ln w="25400" cap="flat" cmpd="sng">
            <a:solidFill>
              <a:schemeClr val="tx1"/>
            </a:solidFill>
            <a:prstDash val="solid"/>
            <a:round/>
            <a:headEnd type="none" w="med" len="med"/>
            <a:tailEnd type="none" w="med" len="med"/>
          </a:ln>
        </p:spPr>
      </p:sp>
      <p:sp>
        <p:nvSpPr>
          <p:cNvPr id="152674" name="直接连接符 292963"/>
          <p:cNvSpPr/>
          <p:nvPr/>
        </p:nvSpPr>
        <p:spPr>
          <a:xfrm flipV="1">
            <a:off x="4279900" y="2730500"/>
            <a:ext cx="127000" cy="254000"/>
          </a:xfrm>
          <a:prstGeom prst="line">
            <a:avLst/>
          </a:prstGeom>
          <a:ln w="25400" cap="flat" cmpd="sng">
            <a:solidFill>
              <a:schemeClr val="tx1"/>
            </a:solidFill>
            <a:prstDash val="solid"/>
            <a:round/>
            <a:headEnd type="none" w="med" len="med"/>
            <a:tailEnd type="none" w="med" len="med"/>
          </a:ln>
        </p:spPr>
      </p:sp>
      <p:sp>
        <p:nvSpPr>
          <p:cNvPr id="152675" name="矩形 292964"/>
          <p:cNvSpPr/>
          <p:nvPr/>
        </p:nvSpPr>
        <p:spPr>
          <a:xfrm>
            <a:off x="138113" y="2708275"/>
            <a:ext cx="927100" cy="301625"/>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ExtOp</a:t>
            </a:r>
            <a:endParaRPr lang="en-US" altLang="zh-CN" sz="1400">
              <a:latin typeface="Times New Roman" panose="02020603050405020304" pitchFamily="18" charset="0"/>
              <a:ea typeface="宋体" panose="02010600030101010101" pitchFamily="2" charset="-122"/>
            </a:endParaRPr>
          </a:p>
        </p:txBody>
      </p:sp>
      <p:sp>
        <p:nvSpPr>
          <p:cNvPr id="152676" name="矩形 292965"/>
          <p:cNvSpPr/>
          <p:nvPr/>
        </p:nvSpPr>
        <p:spPr>
          <a:xfrm>
            <a:off x="2043113" y="2708275"/>
            <a:ext cx="11684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77" name="矩形 292966"/>
          <p:cNvSpPr/>
          <p:nvPr/>
        </p:nvSpPr>
        <p:spPr>
          <a:xfrm>
            <a:off x="4862513" y="27082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 Value</a:t>
            </a:r>
            <a:endParaRPr lang="en-US" altLang="zh-CN" sz="1400">
              <a:latin typeface="Times New Roman" panose="02020603050405020304" pitchFamily="18" charset="0"/>
              <a:ea typeface="宋体" panose="02010600030101010101" pitchFamily="2" charset="-122"/>
            </a:endParaRPr>
          </a:p>
        </p:txBody>
      </p:sp>
      <p:sp>
        <p:nvSpPr>
          <p:cNvPr id="152678" name="直接连接符 292967"/>
          <p:cNvSpPr/>
          <p:nvPr/>
        </p:nvSpPr>
        <p:spPr>
          <a:xfrm>
            <a:off x="838200" y="3200400"/>
            <a:ext cx="7988300" cy="0"/>
          </a:xfrm>
          <a:prstGeom prst="line">
            <a:avLst/>
          </a:prstGeom>
          <a:ln w="25400" cap="flat" cmpd="sng">
            <a:solidFill>
              <a:schemeClr val="tx1"/>
            </a:solidFill>
            <a:prstDash val="solid"/>
            <a:round/>
            <a:headEnd type="none" w="med" len="med"/>
            <a:tailEnd type="none" w="med" len="med"/>
          </a:ln>
        </p:spPr>
      </p:sp>
      <p:sp>
        <p:nvSpPr>
          <p:cNvPr id="152679" name="直接连接符 292968"/>
          <p:cNvSpPr/>
          <p:nvPr/>
        </p:nvSpPr>
        <p:spPr>
          <a:xfrm>
            <a:off x="838200" y="3429000"/>
            <a:ext cx="3416300" cy="0"/>
          </a:xfrm>
          <a:prstGeom prst="line">
            <a:avLst/>
          </a:prstGeom>
          <a:ln w="25400" cap="flat" cmpd="sng">
            <a:solidFill>
              <a:schemeClr val="tx1"/>
            </a:solidFill>
            <a:prstDash val="solid"/>
            <a:round/>
            <a:headEnd type="none" w="med" len="med"/>
            <a:tailEnd type="none" w="med" len="med"/>
          </a:ln>
        </p:spPr>
      </p:sp>
      <p:sp>
        <p:nvSpPr>
          <p:cNvPr id="152680" name="直接连接符 292969"/>
          <p:cNvSpPr/>
          <p:nvPr/>
        </p:nvSpPr>
        <p:spPr>
          <a:xfrm flipV="1">
            <a:off x="4279900" y="3187700"/>
            <a:ext cx="127000" cy="254000"/>
          </a:xfrm>
          <a:prstGeom prst="line">
            <a:avLst/>
          </a:prstGeom>
          <a:ln w="25400" cap="flat" cmpd="sng">
            <a:solidFill>
              <a:schemeClr val="tx1"/>
            </a:solidFill>
            <a:prstDash val="solid"/>
            <a:round/>
            <a:headEnd type="none" w="med" len="med"/>
            <a:tailEnd type="none" w="med" len="med"/>
          </a:ln>
        </p:spPr>
      </p:sp>
      <p:sp>
        <p:nvSpPr>
          <p:cNvPr id="152681" name="矩形 292970"/>
          <p:cNvSpPr/>
          <p:nvPr/>
        </p:nvSpPr>
        <p:spPr>
          <a:xfrm>
            <a:off x="138113" y="3165475"/>
            <a:ext cx="927100" cy="301625"/>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ALUSrc</a:t>
            </a:r>
            <a:endParaRPr lang="en-US" altLang="zh-CN" sz="1400">
              <a:latin typeface="Times New Roman" panose="02020603050405020304" pitchFamily="18" charset="0"/>
              <a:ea typeface="宋体" panose="02010600030101010101" pitchFamily="2" charset="-122"/>
            </a:endParaRPr>
          </a:p>
        </p:txBody>
      </p:sp>
      <p:sp>
        <p:nvSpPr>
          <p:cNvPr id="152682" name="矩形 292971"/>
          <p:cNvSpPr/>
          <p:nvPr/>
        </p:nvSpPr>
        <p:spPr>
          <a:xfrm>
            <a:off x="2043113" y="3165475"/>
            <a:ext cx="13208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 Value</a:t>
            </a:r>
            <a:endParaRPr lang="en-US" altLang="zh-CN" sz="1400">
              <a:latin typeface="Times New Roman" panose="02020603050405020304" pitchFamily="18" charset="0"/>
              <a:ea typeface="宋体" panose="02010600030101010101" pitchFamily="2" charset="-122"/>
            </a:endParaRPr>
          </a:p>
        </p:txBody>
      </p:sp>
      <p:sp>
        <p:nvSpPr>
          <p:cNvPr id="152683" name="矩形 292972"/>
          <p:cNvSpPr/>
          <p:nvPr/>
        </p:nvSpPr>
        <p:spPr>
          <a:xfrm>
            <a:off x="4862513" y="31654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 Value</a:t>
            </a:r>
            <a:endParaRPr lang="en-US" altLang="zh-CN" sz="1400">
              <a:latin typeface="Times New Roman" panose="02020603050405020304" pitchFamily="18" charset="0"/>
              <a:ea typeface="宋体" panose="02010600030101010101" pitchFamily="2" charset="-122"/>
            </a:endParaRPr>
          </a:p>
        </p:txBody>
      </p:sp>
      <p:sp>
        <p:nvSpPr>
          <p:cNvPr id="152684" name="直接连接符 292973"/>
          <p:cNvSpPr/>
          <p:nvPr/>
        </p:nvSpPr>
        <p:spPr>
          <a:xfrm>
            <a:off x="1066800" y="3657600"/>
            <a:ext cx="7759700" cy="0"/>
          </a:xfrm>
          <a:prstGeom prst="line">
            <a:avLst/>
          </a:prstGeom>
          <a:ln w="25400" cap="flat" cmpd="sng">
            <a:solidFill>
              <a:schemeClr val="tx1"/>
            </a:solidFill>
            <a:prstDash val="solid"/>
            <a:round/>
            <a:headEnd type="none" w="med" len="med"/>
            <a:tailEnd type="none" w="med" len="med"/>
          </a:ln>
        </p:spPr>
      </p:sp>
      <p:sp>
        <p:nvSpPr>
          <p:cNvPr id="152685" name="直接连接符 292974"/>
          <p:cNvSpPr/>
          <p:nvPr/>
        </p:nvSpPr>
        <p:spPr>
          <a:xfrm>
            <a:off x="1066800" y="3886200"/>
            <a:ext cx="3187700" cy="0"/>
          </a:xfrm>
          <a:prstGeom prst="line">
            <a:avLst/>
          </a:prstGeom>
          <a:ln w="25400" cap="flat" cmpd="sng">
            <a:solidFill>
              <a:schemeClr val="tx1"/>
            </a:solidFill>
            <a:prstDash val="solid"/>
            <a:round/>
            <a:headEnd type="none" w="med" len="med"/>
            <a:tailEnd type="none" w="med" len="med"/>
          </a:ln>
        </p:spPr>
      </p:sp>
      <p:sp>
        <p:nvSpPr>
          <p:cNvPr id="152686" name="直接连接符 292975"/>
          <p:cNvSpPr/>
          <p:nvPr/>
        </p:nvSpPr>
        <p:spPr>
          <a:xfrm flipV="1">
            <a:off x="4279900" y="3644900"/>
            <a:ext cx="127000" cy="254000"/>
          </a:xfrm>
          <a:prstGeom prst="line">
            <a:avLst/>
          </a:prstGeom>
          <a:ln w="25400" cap="flat" cmpd="sng">
            <a:solidFill>
              <a:schemeClr val="tx1"/>
            </a:solidFill>
            <a:prstDash val="solid"/>
            <a:round/>
            <a:headEnd type="none" w="med" len="med"/>
            <a:tailEnd type="none" w="med" len="med"/>
          </a:ln>
        </p:spPr>
      </p:sp>
      <p:sp>
        <p:nvSpPr>
          <p:cNvPr id="152687" name="矩形 292976"/>
          <p:cNvSpPr/>
          <p:nvPr/>
        </p:nvSpPr>
        <p:spPr>
          <a:xfrm>
            <a:off x="138113" y="3622675"/>
            <a:ext cx="1079500" cy="301625"/>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MemtoReg</a:t>
            </a:r>
            <a:endParaRPr lang="en-US" altLang="zh-CN" sz="1400">
              <a:latin typeface="Times New Roman" panose="02020603050405020304" pitchFamily="18" charset="0"/>
              <a:ea typeface="宋体" panose="02010600030101010101" pitchFamily="2" charset="-122"/>
            </a:endParaRPr>
          </a:p>
        </p:txBody>
      </p:sp>
      <p:sp>
        <p:nvSpPr>
          <p:cNvPr id="152688" name="矩形 292977"/>
          <p:cNvSpPr/>
          <p:nvPr/>
        </p:nvSpPr>
        <p:spPr>
          <a:xfrm>
            <a:off x="2043113" y="3622675"/>
            <a:ext cx="13843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a:t>
            </a:r>
            <a:r>
              <a:rPr lang="en-US" altLang="zh-CN" sz="1400" b="0">
                <a:latin typeface="Times New Roman" panose="02020603050405020304" pitchFamily="18" charset="0"/>
                <a:ea typeface="宋体" panose="02010600030101010101" pitchFamily="2" charset="-122"/>
              </a:rPr>
              <a:t>e</a:t>
            </a:r>
            <a:endParaRPr lang="en-US" altLang="zh-CN" sz="1400" b="0">
              <a:latin typeface="Times New Roman" panose="02020603050405020304" pitchFamily="18" charset="0"/>
              <a:ea typeface="宋体" panose="02010600030101010101" pitchFamily="2" charset="-122"/>
            </a:endParaRPr>
          </a:p>
        </p:txBody>
      </p:sp>
      <p:sp>
        <p:nvSpPr>
          <p:cNvPr id="152689" name="矩形 292978"/>
          <p:cNvSpPr/>
          <p:nvPr/>
        </p:nvSpPr>
        <p:spPr>
          <a:xfrm>
            <a:off x="4862513" y="36226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 Value</a:t>
            </a:r>
            <a:endParaRPr lang="en-US" altLang="zh-CN" sz="1400">
              <a:latin typeface="Times New Roman" panose="02020603050405020304" pitchFamily="18" charset="0"/>
              <a:ea typeface="宋体" panose="02010600030101010101" pitchFamily="2" charset="-122"/>
            </a:endParaRPr>
          </a:p>
        </p:txBody>
      </p:sp>
      <p:sp>
        <p:nvSpPr>
          <p:cNvPr id="152690" name="直接连接符 292979"/>
          <p:cNvSpPr/>
          <p:nvPr/>
        </p:nvSpPr>
        <p:spPr>
          <a:xfrm>
            <a:off x="838200" y="5715000"/>
            <a:ext cx="5168900" cy="0"/>
          </a:xfrm>
          <a:prstGeom prst="line">
            <a:avLst/>
          </a:prstGeom>
          <a:ln w="25400" cap="flat" cmpd="sng">
            <a:solidFill>
              <a:schemeClr val="tx1"/>
            </a:solidFill>
            <a:prstDash val="solid"/>
            <a:round/>
            <a:headEnd type="none" w="med" len="med"/>
            <a:tailEnd type="none" w="med" len="med"/>
          </a:ln>
        </p:spPr>
      </p:sp>
      <p:sp>
        <p:nvSpPr>
          <p:cNvPr id="152691" name="直接连接符 292980"/>
          <p:cNvSpPr/>
          <p:nvPr/>
        </p:nvSpPr>
        <p:spPr>
          <a:xfrm>
            <a:off x="6032500" y="5727700"/>
            <a:ext cx="127000" cy="203200"/>
          </a:xfrm>
          <a:prstGeom prst="line">
            <a:avLst/>
          </a:prstGeom>
          <a:ln w="25400" cap="flat" cmpd="sng">
            <a:solidFill>
              <a:schemeClr val="tx1"/>
            </a:solidFill>
            <a:prstDash val="solid"/>
            <a:round/>
            <a:headEnd type="none" w="med" len="med"/>
            <a:tailEnd type="none" w="med" len="med"/>
          </a:ln>
        </p:spPr>
      </p:sp>
      <p:sp>
        <p:nvSpPr>
          <p:cNvPr id="152692" name="直接连接符 292981"/>
          <p:cNvSpPr/>
          <p:nvPr/>
        </p:nvSpPr>
        <p:spPr>
          <a:xfrm>
            <a:off x="838200" y="5943600"/>
            <a:ext cx="5168900" cy="0"/>
          </a:xfrm>
          <a:prstGeom prst="line">
            <a:avLst/>
          </a:prstGeom>
          <a:ln w="25400" cap="flat" cmpd="sng">
            <a:solidFill>
              <a:schemeClr val="tx1"/>
            </a:solidFill>
            <a:prstDash val="solid"/>
            <a:round/>
            <a:headEnd type="none" w="med" len="med"/>
            <a:tailEnd type="none" w="med" len="med"/>
          </a:ln>
        </p:spPr>
      </p:sp>
      <p:sp>
        <p:nvSpPr>
          <p:cNvPr id="152693" name="直接连接符 292982"/>
          <p:cNvSpPr/>
          <p:nvPr/>
        </p:nvSpPr>
        <p:spPr>
          <a:xfrm flipV="1">
            <a:off x="6032500" y="5702300"/>
            <a:ext cx="127000" cy="254000"/>
          </a:xfrm>
          <a:prstGeom prst="line">
            <a:avLst/>
          </a:prstGeom>
          <a:ln w="25400" cap="flat" cmpd="sng">
            <a:solidFill>
              <a:schemeClr val="tx1"/>
            </a:solidFill>
            <a:prstDash val="solid"/>
            <a:round/>
            <a:headEnd type="none" w="med" len="med"/>
            <a:tailEnd type="none" w="med" len="med"/>
          </a:ln>
        </p:spPr>
      </p:sp>
      <p:sp>
        <p:nvSpPr>
          <p:cNvPr id="152694" name="直接连接符 292983"/>
          <p:cNvSpPr/>
          <p:nvPr/>
        </p:nvSpPr>
        <p:spPr>
          <a:xfrm>
            <a:off x="6184900" y="5715000"/>
            <a:ext cx="2641600" cy="0"/>
          </a:xfrm>
          <a:prstGeom prst="line">
            <a:avLst/>
          </a:prstGeom>
          <a:ln w="25400" cap="flat" cmpd="sng">
            <a:solidFill>
              <a:schemeClr val="tx1"/>
            </a:solidFill>
            <a:prstDash val="solid"/>
            <a:round/>
            <a:headEnd type="none" w="med" len="med"/>
            <a:tailEnd type="none" w="med" len="med"/>
          </a:ln>
        </p:spPr>
      </p:sp>
      <p:sp>
        <p:nvSpPr>
          <p:cNvPr id="152695" name="直接连接符 292984"/>
          <p:cNvSpPr/>
          <p:nvPr/>
        </p:nvSpPr>
        <p:spPr>
          <a:xfrm>
            <a:off x="6184900" y="5943600"/>
            <a:ext cx="2641600" cy="0"/>
          </a:xfrm>
          <a:prstGeom prst="line">
            <a:avLst/>
          </a:prstGeom>
          <a:ln w="25400" cap="flat" cmpd="sng">
            <a:solidFill>
              <a:schemeClr val="tx1"/>
            </a:solidFill>
            <a:prstDash val="solid"/>
            <a:round/>
            <a:headEnd type="none" w="med" len="med"/>
            <a:tailEnd type="none" w="med" len="med"/>
          </a:ln>
        </p:spPr>
      </p:sp>
      <p:sp>
        <p:nvSpPr>
          <p:cNvPr id="152696" name="矩形 292985"/>
          <p:cNvSpPr/>
          <p:nvPr/>
        </p:nvSpPr>
        <p:spPr>
          <a:xfrm>
            <a:off x="138113" y="5680075"/>
            <a:ext cx="774700" cy="514350"/>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Address</a:t>
            </a:r>
            <a:endParaRPr lang="en-US" altLang="zh-CN" sz="1400">
              <a:latin typeface="Times New Roman" panose="02020603050405020304" pitchFamily="18" charset="0"/>
              <a:ea typeface="宋体" panose="02010600030101010101" pitchFamily="2" charset="-122"/>
            </a:endParaRPr>
          </a:p>
        </p:txBody>
      </p:sp>
      <p:sp>
        <p:nvSpPr>
          <p:cNvPr id="152697" name="矩形 292986"/>
          <p:cNvSpPr/>
          <p:nvPr/>
        </p:nvSpPr>
        <p:spPr>
          <a:xfrm>
            <a:off x="2119313" y="5680075"/>
            <a:ext cx="12827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Old</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98" name="矩形 292987"/>
          <p:cNvSpPr/>
          <p:nvPr/>
        </p:nvSpPr>
        <p:spPr>
          <a:xfrm>
            <a:off x="6996113" y="56800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a:t>
            </a:r>
            <a:r>
              <a:rPr lang="en-US" altLang="zh-CN" sz="1400" b="0">
                <a:latin typeface="Times New Roman" panose="02020603050405020304" pitchFamily="18" charset="0"/>
                <a:ea typeface="宋体" panose="02010600030101010101" pitchFamily="2" charset="-122"/>
              </a:rPr>
              <a:t> </a:t>
            </a:r>
            <a:r>
              <a:rPr lang="en-US" altLang="zh-CN" sz="1400">
                <a:latin typeface="Times New Roman" panose="02020603050405020304" pitchFamily="18" charset="0"/>
                <a:ea typeface="宋体" panose="02010600030101010101" pitchFamily="2" charset="-122"/>
              </a:rPr>
              <a:t>Value</a:t>
            </a:r>
            <a:endParaRPr lang="en-US" altLang="zh-CN" sz="1400">
              <a:latin typeface="Times New Roman" panose="02020603050405020304" pitchFamily="18" charset="0"/>
              <a:ea typeface="宋体" panose="02010600030101010101" pitchFamily="2" charset="-122"/>
            </a:endParaRPr>
          </a:p>
        </p:txBody>
      </p:sp>
      <p:sp>
        <p:nvSpPr>
          <p:cNvPr id="152699" name="直接连接符 292988"/>
          <p:cNvSpPr/>
          <p:nvPr/>
        </p:nvSpPr>
        <p:spPr>
          <a:xfrm>
            <a:off x="838200" y="6248400"/>
            <a:ext cx="6540500" cy="0"/>
          </a:xfrm>
          <a:prstGeom prst="line">
            <a:avLst/>
          </a:prstGeom>
          <a:ln w="25400" cap="flat" cmpd="sng">
            <a:solidFill>
              <a:schemeClr val="tx1"/>
            </a:solidFill>
            <a:prstDash val="solid"/>
            <a:round/>
            <a:headEnd type="none" w="med" len="med"/>
            <a:tailEnd type="none" w="med" len="med"/>
          </a:ln>
        </p:spPr>
      </p:sp>
      <p:sp>
        <p:nvSpPr>
          <p:cNvPr id="152700" name="直接连接符 292989"/>
          <p:cNvSpPr/>
          <p:nvPr/>
        </p:nvSpPr>
        <p:spPr>
          <a:xfrm>
            <a:off x="7404100" y="6261100"/>
            <a:ext cx="127000" cy="203200"/>
          </a:xfrm>
          <a:prstGeom prst="line">
            <a:avLst/>
          </a:prstGeom>
          <a:ln w="25400" cap="flat" cmpd="sng">
            <a:solidFill>
              <a:schemeClr val="tx1"/>
            </a:solidFill>
            <a:prstDash val="solid"/>
            <a:round/>
            <a:headEnd type="none" w="med" len="med"/>
            <a:tailEnd type="none" w="med" len="med"/>
          </a:ln>
        </p:spPr>
      </p:sp>
      <p:sp>
        <p:nvSpPr>
          <p:cNvPr id="152701" name="直接连接符 292990"/>
          <p:cNvSpPr/>
          <p:nvPr/>
        </p:nvSpPr>
        <p:spPr>
          <a:xfrm>
            <a:off x="838200" y="6477000"/>
            <a:ext cx="6540500" cy="0"/>
          </a:xfrm>
          <a:prstGeom prst="line">
            <a:avLst/>
          </a:prstGeom>
          <a:ln w="25400" cap="flat" cmpd="sng">
            <a:solidFill>
              <a:schemeClr val="tx1"/>
            </a:solidFill>
            <a:prstDash val="solid"/>
            <a:round/>
            <a:headEnd type="none" w="med" len="med"/>
            <a:tailEnd type="none" w="med" len="med"/>
          </a:ln>
        </p:spPr>
      </p:sp>
      <p:sp>
        <p:nvSpPr>
          <p:cNvPr id="152702" name="直接连接符 292991"/>
          <p:cNvSpPr/>
          <p:nvPr/>
        </p:nvSpPr>
        <p:spPr>
          <a:xfrm flipV="1">
            <a:off x="7404100" y="6235700"/>
            <a:ext cx="127000" cy="254000"/>
          </a:xfrm>
          <a:prstGeom prst="line">
            <a:avLst/>
          </a:prstGeom>
          <a:ln w="25400" cap="flat" cmpd="sng">
            <a:solidFill>
              <a:schemeClr val="tx1"/>
            </a:solidFill>
            <a:prstDash val="solid"/>
            <a:round/>
            <a:headEnd type="none" w="med" len="med"/>
            <a:tailEnd type="none" w="med" len="med"/>
          </a:ln>
        </p:spPr>
      </p:sp>
      <p:sp>
        <p:nvSpPr>
          <p:cNvPr id="152703" name="直接连接符 292992"/>
          <p:cNvSpPr/>
          <p:nvPr/>
        </p:nvSpPr>
        <p:spPr>
          <a:xfrm>
            <a:off x="7556500" y="6248400"/>
            <a:ext cx="1270000" cy="0"/>
          </a:xfrm>
          <a:prstGeom prst="line">
            <a:avLst/>
          </a:prstGeom>
          <a:ln w="25400" cap="flat" cmpd="sng">
            <a:solidFill>
              <a:schemeClr val="tx1"/>
            </a:solidFill>
            <a:prstDash val="solid"/>
            <a:round/>
            <a:headEnd type="none" w="med" len="med"/>
            <a:tailEnd type="none" w="med" len="med"/>
          </a:ln>
        </p:spPr>
      </p:sp>
      <p:sp>
        <p:nvSpPr>
          <p:cNvPr id="152704" name="直接连接符 292993"/>
          <p:cNvSpPr/>
          <p:nvPr/>
        </p:nvSpPr>
        <p:spPr>
          <a:xfrm>
            <a:off x="7556500" y="6477000"/>
            <a:ext cx="1270000" cy="0"/>
          </a:xfrm>
          <a:prstGeom prst="line">
            <a:avLst/>
          </a:prstGeom>
          <a:ln w="25400" cap="flat" cmpd="sng">
            <a:solidFill>
              <a:schemeClr val="tx1"/>
            </a:solidFill>
            <a:prstDash val="solid"/>
            <a:round/>
            <a:headEnd type="none" w="med" len="med"/>
            <a:tailEnd type="none" w="med" len="med"/>
          </a:ln>
        </p:spPr>
      </p:sp>
      <p:sp>
        <p:nvSpPr>
          <p:cNvPr id="152705" name="矩形 292994"/>
          <p:cNvSpPr/>
          <p:nvPr/>
        </p:nvSpPr>
        <p:spPr>
          <a:xfrm>
            <a:off x="138113" y="6213475"/>
            <a:ext cx="774700" cy="301625"/>
          </a:xfrm>
          <a:prstGeom prst="rect">
            <a:avLst/>
          </a:prstGeom>
          <a:noFill/>
          <a:ln w="12700">
            <a:noFill/>
          </a:ln>
        </p:spPr>
        <p:txBody>
          <a:bodyPr lIns="90488" tIns="44450" rIns="90488" bIns="44450" anchor="t" anchorCtr="0">
            <a:spAutoFit/>
          </a:bodyPr>
          <a:p>
            <a:pPr eaLnBrk="0" hangingPunct="0"/>
            <a:r>
              <a:rPr lang="en-US" altLang="zh-CN" sz="1400" dirty="0" err="1">
                <a:latin typeface="Times New Roman" panose="02020603050405020304" pitchFamily="18" charset="0"/>
                <a:ea typeface="宋体" panose="02010600030101010101" pitchFamily="2" charset="-122"/>
              </a:rPr>
              <a:t>busW</a:t>
            </a:r>
            <a:endParaRPr lang="en-US" altLang="zh-CN" sz="1400">
              <a:latin typeface="Times New Roman" panose="02020603050405020304" pitchFamily="18" charset="0"/>
              <a:ea typeface="宋体" panose="02010600030101010101" pitchFamily="2" charset="-122"/>
            </a:endParaRPr>
          </a:p>
        </p:txBody>
      </p:sp>
      <p:sp>
        <p:nvSpPr>
          <p:cNvPr id="152706" name="直接连接符 292995"/>
          <p:cNvSpPr/>
          <p:nvPr/>
        </p:nvSpPr>
        <p:spPr>
          <a:xfrm>
            <a:off x="6108700" y="6096000"/>
            <a:ext cx="1270000" cy="0"/>
          </a:xfrm>
          <a:prstGeom prst="line">
            <a:avLst/>
          </a:prstGeom>
          <a:ln w="25400" cap="flat" cmpd="sng">
            <a:solidFill>
              <a:schemeClr val="tx1"/>
            </a:solidFill>
            <a:prstDash val="solid"/>
            <a:round/>
            <a:headEnd type="triangle" w="med" len="med"/>
            <a:tailEnd type="triangle" w="med" len="med"/>
          </a:ln>
        </p:spPr>
      </p:sp>
      <p:sp>
        <p:nvSpPr>
          <p:cNvPr id="152707" name="矩形 292996"/>
          <p:cNvSpPr/>
          <p:nvPr/>
        </p:nvSpPr>
        <p:spPr>
          <a:xfrm>
            <a:off x="2119313" y="6213475"/>
            <a:ext cx="927100" cy="301625"/>
          </a:xfrm>
          <a:prstGeom prst="rect">
            <a:avLst/>
          </a:prstGeom>
          <a:noFill/>
          <a:ln w="12700">
            <a:noFill/>
          </a:ln>
        </p:spPr>
        <p:txBody>
          <a:bodyPr lIns="90488" tIns="44450" rIns="90488" bIns="44450" anchor="t" anchorCtr="0">
            <a:spAutoFit/>
          </a:bodyPr>
          <a:p>
            <a:pPr eaLnBrk="0" hangingPunct="0"/>
            <a:r>
              <a:rPr lang="en-US" altLang="zh-CN" sz="1400" b="0">
                <a:latin typeface="Times New Roman" panose="02020603050405020304" pitchFamily="18" charset="0"/>
                <a:ea typeface="宋体" panose="02010600030101010101" pitchFamily="2" charset="-122"/>
              </a:rPr>
              <a:t>Old Value</a:t>
            </a:r>
            <a:endParaRPr lang="en-US" altLang="zh-CN" sz="1400" b="0">
              <a:latin typeface="Times New Roman" panose="02020603050405020304" pitchFamily="18" charset="0"/>
              <a:ea typeface="宋体" panose="02010600030101010101" pitchFamily="2" charset="-122"/>
            </a:endParaRPr>
          </a:p>
        </p:txBody>
      </p:sp>
      <p:sp>
        <p:nvSpPr>
          <p:cNvPr id="152708" name="矩形 292997"/>
          <p:cNvSpPr/>
          <p:nvPr/>
        </p:nvSpPr>
        <p:spPr>
          <a:xfrm>
            <a:off x="7529513" y="6213475"/>
            <a:ext cx="1079500" cy="301625"/>
          </a:xfrm>
          <a:prstGeom prst="rect">
            <a:avLst/>
          </a:prstGeom>
          <a:noFill/>
          <a:ln w="12700">
            <a:noFill/>
          </a:ln>
        </p:spPr>
        <p:txBody>
          <a:bodyPr lIns="90488" tIns="44450" rIns="90488" bIns="44450" anchor="t" anchorCtr="0">
            <a:spAutoFit/>
          </a:bodyPr>
          <a:p>
            <a:pPr eaLnBrk="0" hangingPunct="0"/>
            <a:r>
              <a:rPr lang="en-US" altLang="zh-CN" sz="1400">
                <a:latin typeface="Times New Roman" panose="02020603050405020304" pitchFamily="18" charset="0"/>
                <a:ea typeface="宋体" panose="02010600030101010101" pitchFamily="2" charset="-122"/>
              </a:rPr>
              <a:t>New</a:t>
            </a:r>
            <a:endParaRPr lang="en-US" altLang="zh-CN" sz="1400">
              <a:latin typeface="Times New Roman" panose="02020603050405020304" pitchFamily="18" charset="0"/>
              <a:ea typeface="宋体" panose="02010600030101010101" pitchFamily="2" charset="-122"/>
            </a:endParaRPr>
          </a:p>
        </p:txBody>
      </p:sp>
      <p:sp>
        <p:nvSpPr>
          <p:cNvPr id="152709" name="椭圆 292998"/>
          <p:cNvSpPr/>
          <p:nvPr/>
        </p:nvSpPr>
        <p:spPr>
          <a:xfrm>
            <a:off x="8083550" y="6102350"/>
            <a:ext cx="139700" cy="444500"/>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52710" name="直接连接符 292999"/>
          <p:cNvSpPr/>
          <p:nvPr/>
        </p:nvSpPr>
        <p:spPr>
          <a:xfrm>
            <a:off x="5105400" y="4965700"/>
            <a:ext cx="0" cy="584200"/>
          </a:xfrm>
          <a:prstGeom prst="line">
            <a:avLst/>
          </a:prstGeom>
          <a:ln w="25400" cap="flat" cmpd="sng">
            <a:solidFill>
              <a:schemeClr val="tx1"/>
            </a:solidFill>
            <a:prstDash val="dash"/>
            <a:round/>
            <a:headEnd type="none" w="med" len="med"/>
            <a:tailEnd type="none" w="med" len="med"/>
          </a:ln>
        </p:spPr>
      </p:sp>
      <p:sp>
        <p:nvSpPr>
          <p:cNvPr id="152711" name="直接连接符 293000"/>
          <p:cNvSpPr/>
          <p:nvPr/>
        </p:nvSpPr>
        <p:spPr>
          <a:xfrm>
            <a:off x="4356100" y="5029200"/>
            <a:ext cx="736600" cy="0"/>
          </a:xfrm>
          <a:prstGeom prst="line">
            <a:avLst/>
          </a:prstGeom>
          <a:ln w="25400" cap="flat" cmpd="sng">
            <a:solidFill>
              <a:schemeClr val="tx1"/>
            </a:solidFill>
            <a:prstDash val="solid"/>
            <a:round/>
            <a:headEnd type="triangle" w="med" len="med"/>
            <a:tailEnd type="triangle" w="med" len="med"/>
          </a:ln>
        </p:spPr>
      </p:sp>
      <p:sp>
        <p:nvSpPr>
          <p:cNvPr id="293002" name="矩形 293001"/>
          <p:cNvSpPr/>
          <p:nvPr/>
        </p:nvSpPr>
        <p:spPr>
          <a:xfrm>
            <a:off x="1890713" y="4900613"/>
            <a:ext cx="2609850" cy="301625"/>
          </a:xfrm>
          <a:prstGeom prst="rect">
            <a:avLst/>
          </a:prstGeom>
          <a:noFill/>
          <a:ln w="12700">
            <a:noFill/>
          </a:ln>
        </p:spPr>
        <p:txBody>
          <a:bodyPr wrap="none" lIns="90488" tIns="44450" rIns="90488" bIns="44450" anchor="t" anchorCtr="0">
            <a:spAutoFit/>
          </a:bodyPr>
          <a:p>
            <a:pPr eaLnBrk="0" hangingPunct="0"/>
            <a:r>
              <a:rPr lang="en-US" altLang="zh-CN" sz="1400">
                <a:solidFill>
                  <a:schemeClr val="accent1"/>
                </a:solidFill>
                <a:latin typeface="Times New Roman" panose="02020603050405020304" pitchFamily="18" charset="0"/>
                <a:ea typeface="宋体" panose="02010600030101010101" pitchFamily="2" charset="-122"/>
              </a:rPr>
              <a:t>Delay through Extender &amp; </a:t>
            </a:r>
            <a:r>
              <a:rPr lang="en-US" altLang="zh-CN" sz="1400" dirty="0" err="1">
                <a:solidFill>
                  <a:schemeClr val="accent1"/>
                </a:solidFill>
                <a:latin typeface="Times New Roman" panose="02020603050405020304" pitchFamily="18" charset="0"/>
                <a:ea typeface="宋体" panose="02010600030101010101" pitchFamily="2" charset="-122"/>
              </a:rPr>
              <a:t>Mux</a:t>
            </a:r>
            <a:endParaRPr lang="en-US" altLang="zh-CN" sz="1400">
              <a:solidFill>
                <a:schemeClr val="accent1"/>
              </a:solidFill>
              <a:latin typeface="Times New Roman" panose="02020603050405020304" pitchFamily="18" charset="0"/>
              <a:ea typeface="宋体" panose="02010600030101010101" pitchFamily="2" charset="-122"/>
            </a:endParaRPr>
          </a:p>
        </p:txBody>
      </p:sp>
      <p:sp>
        <p:nvSpPr>
          <p:cNvPr id="293003" name="椭圆 293002"/>
          <p:cNvSpPr/>
          <p:nvPr/>
        </p:nvSpPr>
        <p:spPr>
          <a:xfrm>
            <a:off x="4197350" y="2597150"/>
            <a:ext cx="215900" cy="977900"/>
          </a:xfrm>
          <a:prstGeom prst="ellipse">
            <a:avLst/>
          </a:prstGeom>
          <a:noFill/>
          <a:ln w="12700" cap="flat" cmpd="sng">
            <a:solidFill>
              <a:schemeClr val="accent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293004" name="任意多边形 293003"/>
          <p:cNvSpPr/>
          <p:nvPr/>
        </p:nvSpPr>
        <p:spPr>
          <a:xfrm>
            <a:off x="4419600" y="3055938"/>
            <a:ext cx="298450" cy="1974850"/>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12700" cap="rnd" cmpd="sng">
            <a:solidFill>
              <a:schemeClr val="accent1"/>
            </a:solidFill>
            <a:prstDash val="solid"/>
            <a:round/>
            <a:headEnd type="none" w="med" len="med"/>
            <a:tailEnd type="triangle" w="med" len="med"/>
          </a:ln>
        </p:spPr>
        <p:txBody>
          <a:bodyPr/>
          <a:p>
            <a:endParaRPr lang="zh-CN" altLang="en-US"/>
          </a:p>
        </p:txBody>
      </p:sp>
      <p:grpSp>
        <p:nvGrpSpPr>
          <p:cNvPr id="293009" name="组合 293008"/>
          <p:cNvGrpSpPr/>
          <p:nvPr/>
        </p:nvGrpSpPr>
        <p:grpSpPr>
          <a:xfrm>
            <a:off x="6232525" y="3657600"/>
            <a:ext cx="1914525" cy="2516188"/>
            <a:chOff x="3926" y="2304"/>
            <a:chExt cx="1206" cy="1585"/>
          </a:xfrm>
        </p:grpSpPr>
        <p:sp>
          <p:nvSpPr>
            <p:cNvPr id="152716" name="任意多边形 292960"/>
            <p:cNvSpPr/>
            <p:nvPr/>
          </p:nvSpPr>
          <p:spPr>
            <a:xfrm>
              <a:off x="4608" y="2405"/>
              <a:ext cx="524" cy="1484"/>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12700" cap="rnd" cmpd="sng">
              <a:solidFill>
                <a:schemeClr val="accent1"/>
              </a:solidFill>
              <a:prstDash val="solid"/>
              <a:round/>
              <a:headEnd type="none" w="med" len="med"/>
              <a:tailEnd type="triangle" w="med" len="med"/>
            </a:ln>
          </p:spPr>
          <p:txBody>
            <a:bodyPr/>
            <a:p>
              <a:endParaRPr lang="zh-CN" altLang="en-US"/>
            </a:p>
          </p:txBody>
        </p:sp>
        <p:sp>
          <p:nvSpPr>
            <p:cNvPr id="152717" name="任意多边形 293004"/>
            <p:cNvSpPr/>
            <p:nvPr/>
          </p:nvSpPr>
          <p:spPr>
            <a:xfrm>
              <a:off x="4848" y="2549"/>
              <a:ext cx="236" cy="92"/>
            </a:xfrm>
            <a:custGeom>
              <a:avLst/>
              <a:gdLst/>
              <a:ahLst/>
              <a:cxnLst>
                <a:cxn ang="270">
                  <a:pos x="0" y="0"/>
                </a:cxn>
                <a:cxn ang="90">
                  <a:pos x="21600" y="21600"/>
                </a:cxn>
                <a:cxn ang="90">
                  <a:pos x="0" y="21600"/>
                </a:cxn>
              </a:cxnLst>
              <a:pathLst>
                <a:path w="21600" h="21600" fill="none">
                  <a:moveTo>
                    <a:pt x="0" y="0"/>
                  </a:moveTo>
                  <a:cubicBezTo>
                    <a:pt x="11929" y="0"/>
                    <a:pt x="21600" y="9671"/>
                    <a:pt x="21600" y="21600"/>
                  </a:cubicBezTo>
                </a:path>
                <a:path w="21600" h="21600" stroke="0">
                  <a:moveTo>
                    <a:pt x="0" y="0"/>
                  </a:moveTo>
                  <a:cubicBezTo>
                    <a:pt x="11929" y="0"/>
                    <a:pt x="21600" y="9671"/>
                    <a:pt x="21600" y="21600"/>
                  </a:cubicBezTo>
                  <a:lnTo>
                    <a:pt x="0" y="21600"/>
                  </a:lnTo>
                  <a:close/>
                </a:path>
              </a:pathLst>
            </a:custGeom>
            <a:noFill/>
            <a:ln w="12700" cap="rnd" cmpd="sng">
              <a:solidFill>
                <a:schemeClr val="accent1"/>
              </a:solidFill>
              <a:prstDash val="solid"/>
              <a:round/>
              <a:headEnd type="none" w="med" len="med"/>
              <a:tailEnd type="triangle" w="med" len="med"/>
            </a:ln>
          </p:spPr>
          <p:txBody>
            <a:bodyPr/>
            <a:p>
              <a:endParaRPr lang="zh-CN" altLang="en-US"/>
            </a:p>
          </p:txBody>
        </p:sp>
        <p:sp>
          <p:nvSpPr>
            <p:cNvPr id="152718" name="矩形 293005"/>
            <p:cNvSpPr/>
            <p:nvPr/>
          </p:nvSpPr>
          <p:spPr>
            <a:xfrm>
              <a:off x="3926" y="2304"/>
              <a:ext cx="859" cy="364"/>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Times New Roman" panose="02020603050405020304" pitchFamily="18" charset="0"/>
                  <a:ea typeface="宋体" panose="02010600030101010101" pitchFamily="2" charset="-122"/>
                </a:rPr>
                <a:t>Register</a:t>
              </a:r>
              <a:endParaRPr lang="en-US" altLang="zh-CN">
                <a:solidFill>
                  <a:schemeClr val="accent2"/>
                </a:solidFill>
                <a:latin typeface="Times New Roman" panose="02020603050405020304" pitchFamily="18" charset="0"/>
                <a:ea typeface="宋体" panose="02010600030101010101" pitchFamily="2" charset="-122"/>
              </a:endParaRPr>
            </a:p>
            <a:p>
              <a:pPr algn="ctr" eaLnBrk="0" hangingPunct="0"/>
              <a:r>
                <a:rPr lang="en-US" altLang="zh-CN">
                  <a:solidFill>
                    <a:schemeClr val="accent2"/>
                  </a:solidFill>
                  <a:latin typeface="Times New Roman" panose="02020603050405020304" pitchFamily="18" charset="0"/>
                  <a:ea typeface="宋体" panose="02010600030101010101" pitchFamily="2" charset="-122"/>
                </a:rPr>
                <a:t>Write Occurs</a:t>
              </a:r>
              <a:endParaRPr lang="en-US" altLang="zh-CN">
                <a:solidFill>
                  <a:schemeClr val="accent2"/>
                </a:solidFill>
                <a:latin typeface="Times New Roman" panose="02020603050405020304" pitchFamily="18" charset="0"/>
                <a:ea typeface="宋体" panose="02010600030101010101" pitchFamily="2" charset="-122"/>
              </a:endParaRPr>
            </a:p>
          </p:txBody>
        </p:sp>
      </p:grpSp>
      <p:sp>
        <p:nvSpPr>
          <p:cNvPr id="152719" name="直接连接符 293006"/>
          <p:cNvSpPr/>
          <p:nvPr/>
        </p:nvSpPr>
        <p:spPr>
          <a:xfrm>
            <a:off x="7467600" y="6032500"/>
            <a:ext cx="0" cy="584200"/>
          </a:xfrm>
          <a:prstGeom prst="line">
            <a:avLst/>
          </a:prstGeom>
          <a:ln w="25400" cap="flat" cmpd="sng">
            <a:solidFill>
              <a:schemeClr val="tx1"/>
            </a:solidFill>
            <a:prstDash val="dash"/>
            <a:round/>
            <a:headEnd type="none" w="med" len="med"/>
            <a:tailEnd type="none" w="med" len="med"/>
          </a:ln>
        </p:spPr>
      </p:sp>
      <p:sp>
        <p:nvSpPr>
          <p:cNvPr id="293008" name="矩形 293007"/>
          <p:cNvSpPr/>
          <p:nvPr/>
        </p:nvSpPr>
        <p:spPr>
          <a:xfrm>
            <a:off x="3871913" y="5967413"/>
            <a:ext cx="2233612" cy="301625"/>
          </a:xfrm>
          <a:prstGeom prst="rect">
            <a:avLst/>
          </a:prstGeom>
          <a:noFill/>
          <a:ln w="12700">
            <a:noFill/>
          </a:ln>
        </p:spPr>
        <p:txBody>
          <a:bodyPr wrap="none" lIns="90488" tIns="44450" rIns="90488" bIns="44450" anchor="t" anchorCtr="0">
            <a:spAutoFit/>
          </a:bodyPr>
          <a:p>
            <a:pPr eaLnBrk="0" hangingPunct="0"/>
            <a:r>
              <a:rPr lang="en-US" altLang="zh-CN" sz="1400">
                <a:solidFill>
                  <a:schemeClr val="accent1"/>
                </a:solidFill>
                <a:latin typeface="Times New Roman" panose="02020603050405020304" pitchFamily="18" charset="0"/>
                <a:ea typeface="宋体" panose="02010600030101010101" pitchFamily="2" charset="-122"/>
              </a:rPr>
              <a:t>Data Memory Access Time</a:t>
            </a:r>
            <a:endParaRPr lang="en-US" altLang="zh-CN" sz="1400">
              <a:solidFill>
                <a:schemeClr val="accent1"/>
              </a:solidFill>
              <a:latin typeface="Times New Roman" panose="02020603050405020304" pitchFamily="18" charset="0"/>
              <a:ea typeface="宋体" panose="02010600030101010101" pitchFamily="2" charset="-122"/>
            </a:endParaRPr>
          </a:p>
        </p:txBody>
      </p:sp>
      <p:sp>
        <p:nvSpPr>
          <p:cNvPr id="293010" name="矩形 293009"/>
          <p:cNvSpPr/>
          <p:nvPr/>
        </p:nvSpPr>
        <p:spPr>
          <a:xfrm>
            <a:off x="8369300" y="1195388"/>
            <a:ext cx="611188" cy="304800"/>
          </a:xfrm>
          <a:prstGeom prst="rect">
            <a:avLst/>
          </a:prstGeom>
          <a:noFill/>
          <a:ln w="25400">
            <a:noFill/>
          </a:ln>
        </p:spPr>
        <p:txBody>
          <a:bodyPr wrap="none" anchor="t" anchorCtr="0">
            <a:spAutoFit/>
          </a:bodyPr>
          <a:p>
            <a:pPr algn="ctr" eaLnBrk="0" hangingPunct="0"/>
            <a:r>
              <a:rPr lang="en-US" altLang="zh-CN" sz="1400">
                <a:solidFill>
                  <a:srgbClr val="FF0000"/>
                </a:solidFill>
                <a:latin typeface="Times New Roman" panose="02020603050405020304" pitchFamily="18" charset="0"/>
                <a:ea typeface="宋体" panose="02010600030101010101" pitchFamily="2" charset="-122"/>
              </a:rPr>
              <a:t>PC+4</a:t>
            </a:r>
            <a:endParaRPr lang="zh-CN" altLang="en-US" sz="1400" dirty="0">
              <a:solidFill>
                <a:srgbClr val="FF0000"/>
              </a:solidFill>
              <a:latin typeface="Times New Roman" panose="02020603050405020304" pitchFamily="18" charset="0"/>
              <a:ea typeface="宋体" panose="02010600030101010101" pitchFamily="2" charset="-122"/>
            </a:endParaRPr>
          </a:p>
        </p:txBody>
      </p:sp>
      <p:grpSp>
        <p:nvGrpSpPr>
          <p:cNvPr id="293011" name="组合 293010"/>
          <p:cNvGrpSpPr/>
          <p:nvPr/>
        </p:nvGrpSpPr>
        <p:grpSpPr>
          <a:xfrm>
            <a:off x="6850063" y="811213"/>
            <a:ext cx="1322387" cy="304800"/>
            <a:chOff x="4315" y="511"/>
            <a:chExt cx="833" cy="192"/>
          </a:xfrm>
        </p:grpSpPr>
        <p:sp>
          <p:nvSpPr>
            <p:cNvPr id="152723" name="文本框 293011"/>
            <p:cNvSpPr txBox="1"/>
            <p:nvPr/>
          </p:nvSpPr>
          <p:spPr>
            <a:xfrm>
              <a:off x="4315" y="511"/>
              <a:ext cx="833" cy="192"/>
            </a:xfrm>
            <a:prstGeom prst="rect">
              <a:avLst/>
            </a:prstGeom>
            <a:noFill/>
            <a:ln w="25400">
              <a:noFill/>
            </a:ln>
          </p:spPr>
          <p:txBody>
            <a:bodyPr anchor="t" anchorCtr="0">
              <a:spAutoFit/>
            </a:bodyPr>
            <a:p>
              <a:pPr algn="ctr" eaLnBrk="0" hangingPunct="0">
                <a:spcBef>
                  <a:spcPct val="50000"/>
                </a:spcBef>
              </a:pPr>
              <a:r>
                <a:rPr lang="en-US" altLang="zh-CN" sz="1400">
                  <a:solidFill>
                    <a:srgbClr val="0000FF"/>
                  </a:solidFill>
                  <a:latin typeface="Times New Roman" panose="02020603050405020304" pitchFamily="18" charset="0"/>
                  <a:ea typeface="宋体" panose="02010600030101010101" pitchFamily="2" charset="-122"/>
                </a:rPr>
                <a:t>PC+4     PC</a:t>
              </a:r>
              <a:r>
                <a:rPr lang="en-US" altLang="zh-CN" sz="1400" b="0">
                  <a:solidFill>
                    <a:srgbClr val="0000FF"/>
                  </a:solidFill>
                  <a:latin typeface="Times New Roman" panose="02020603050405020304" pitchFamily="18" charset="0"/>
                  <a:ea typeface="宋体" panose="02010600030101010101" pitchFamily="2" charset="-122"/>
                </a:rPr>
                <a:t>  </a:t>
              </a:r>
              <a:endParaRPr lang="en-US" altLang="zh-CN" sz="1400" b="0">
                <a:solidFill>
                  <a:srgbClr val="0000FF"/>
                </a:solidFill>
                <a:latin typeface="Times New Roman" panose="02020603050405020304" pitchFamily="18" charset="0"/>
                <a:ea typeface="宋体" panose="02010600030101010101" pitchFamily="2" charset="-122"/>
              </a:endParaRPr>
            </a:p>
          </p:txBody>
        </p:sp>
        <p:sp>
          <p:nvSpPr>
            <p:cNvPr id="152724" name="直接连接符 293012"/>
            <p:cNvSpPr/>
            <p:nvPr/>
          </p:nvSpPr>
          <p:spPr>
            <a:xfrm>
              <a:off x="4726" y="612"/>
              <a:ext cx="137" cy="0"/>
            </a:xfrm>
            <a:prstGeom prst="line">
              <a:avLst/>
            </a:prstGeom>
            <a:ln w="19050" cap="flat" cmpd="sng">
              <a:solidFill>
                <a:srgbClr val="0000FF"/>
              </a:solidFill>
              <a:prstDash val="solid"/>
              <a:round/>
              <a:headEnd type="none" w="med" len="med"/>
              <a:tailEnd type="triangle" w="med" len="med"/>
            </a:ln>
          </p:spPr>
        </p:sp>
      </p:grpSp>
      <p:sp>
        <p:nvSpPr>
          <p:cNvPr id="152725" name="直接连接符 293013"/>
          <p:cNvSpPr/>
          <p:nvPr/>
        </p:nvSpPr>
        <p:spPr>
          <a:xfrm>
            <a:off x="8391525" y="987425"/>
            <a:ext cx="0" cy="660400"/>
          </a:xfrm>
          <a:prstGeom prst="line">
            <a:avLst/>
          </a:prstGeom>
          <a:ln w="25400" cap="flat" cmpd="sng">
            <a:solidFill>
              <a:srgbClr val="0000FF"/>
            </a:solidFill>
            <a:prstDash val="dash"/>
            <a:round/>
            <a:headEnd type="none" w="med" len="med"/>
            <a:tailEnd type="none" w="med" len="med"/>
          </a:ln>
        </p:spPr>
      </p:sp>
      <p:sp>
        <p:nvSpPr>
          <p:cNvPr id="152726" name="直接连接符 293014"/>
          <p:cNvSpPr/>
          <p:nvPr/>
        </p:nvSpPr>
        <p:spPr>
          <a:xfrm flipH="1">
            <a:off x="6850063" y="885825"/>
            <a:ext cx="30162" cy="2146300"/>
          </a:xfrm>
          <a:prstGeom prst="line">
            <a:avLst/>
          </a:prstGeom>
          <a:ln w="25400" cap="flat" cmpd="sng">
            <a:solidFill>
              <a:srgbClr val="0000FF"/>
            </a:solidFill>
            <a:prstDash val="dash"/>
            <a:round/>
            <a:headEnd type="none" w="med" len="med"/>
            <a:tailEnd type="none" w="med" len="med"/>
          </a:ln>
        </p:spPr>
      </p:sp>
      <p:sp>
        <p:nvSpPr>
          <p:cNvPr id="152727" name="直接连接符 293015"/>
          <p:cNvSpPr/>
          <p:nvPr/>
        </p:nvSpPr>
        <p:spPr>
          <a:xfrm>
            <a:off x="6880225" y="1103313"/>
            <a:ext cx="1262063" cy="0"/>
          </a:xfrm>
          <a:prstGeom prst="line">
            <a:avLst/>
          </a:prstGeom>
          <a:ln w="28575" cap="flat" cmpd="sng">
            <a:solidFill>
              <a:schemeClr val="tx1"/>
            </a:solidFill>
            <a:prstDash val="solid"/>
            <a:round/>
            <a:headEnd type="triangl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2905"/>
                                        </p:tgtEl>
                                        <p:attrNameLst>
                                          <p:attrName>style.visibility</p:attrName>
                                        </p:attrNameLst>
                                      </p:cBhvr>
                                      <p:to>
                                        <p:strVal val="visible"/>
                                      </p:to>
                                    </p:set>
                                    <p:animEffect transition="in" filter="blinds(horizontal)">
                                      <p:cBhvr>
                                        <p:cTn id="7" dur="500"/>
                                        <p:tgtEl>
                                          <p:spTgt spid="29290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2927"/>
                                        </p:tgtEl>
                                        <p:attrNameLst>
                                          <p:attrName>style.visibility</p:attrName>
                                        </p:attrNameLst>
                                      </p:cBhvr>
                                      <p:to>
                                        <p:strVal val="visible"/>
                                      </p:to>
                                    </p:set>
                                    <p:animEffect transition="in" filter="blinds(horizontal)">
                                      <p:cBhvr>
                                        <p:cTn id="12" dur="500"/>
                                        <p:tgtEl>
                                          <p:spTgt spid="29292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2940"/>
                                        </p:tgtEl>
                                        <p:attrNameLst>
                                          <p:attrName>style.visibility</p:attrName>
                                        </p:attrNameLst>
                                      </p:cBhvr>
                                      <p:to>
                                        <p:strVal val="visible"/>
                                      </p:to>
                                    </p:set>
                                    <p:animEffect transition="in" filter="blinds(horizontal)">
                                      <p:cBhvr>
                                        <p:cTn id="17" dur="500"/>
                                        <p:tgtEl>
                                          <p:spTgt spid="29294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93002"/>
                                        </p:tgtEl>
                                        <p:attrNameLst>
                                          <p:attrName>style.visibility</p:attrName>
                                        </p:attrNameLst>
                                      </p:cBhvr>
                                      <p:to>
                                        <p:strVal val="visible"/>
                                      </p:to>
                                    </p:set>
                                    <p:animEffect transition="in" filter="blinds(horizontal)">
                                      <p:cBhvr>
                                        <p:cTn id="22" dur="500"/>
                                        <p:tgtEl>
                                          <p:spTgt spid="29300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93004"/>
                                        </p:tgtEl>
                                        <p:attrNameLst>
                                          <p:attrName>style.visibility</p:attrName>
                                        </p:attrNameLst>
                                      </p:cBhvr>
                                      <p:to>
                                        <p:strVal val="visible"/>
                                      </p:to>
                                    </p:set>
                                    <p:animEffect transition="in" filter="blinds(horizontal)">
                                      <p:cBhvr>
                                        <p:cTn id="27" dur="500"/>
                                        <p:tgtEl>
                                          <p:spTgt spid="293004"/>
                                        </p:tgtEl>
                                      </p:cBhvr>
                                    </p:animEffect>
                                  </p:childTnLst>
                                </p:cTn>
                              </p:par>
                              <p:par>
                                <p:cTn id="28" presetID="3" presetClass="entr" presetSubtype="10" fill="hold" nodeType="withEffect">
                                  <p:stCondLst>
                                    <p:cond delay="0"/>
                                  </p:stCondLst>
                                  <p:childTnLst>
                                    <p:set>
                                      <p:cBhvr>
                                        <p:cTn id="29" dur="1" fill="hold">
                                          <p:stCondLst>
                                            <p:cond delay="0"/>
                                          </p:stCondLst>
                                        </p:cTn>
                                        <p:tgtEl>
                                          <p:spTgt spid="293003"/>
                                        </p:tgtEl>
                                        <p:attrNameLst>
                                          <p:attrName>style.visibility</p:attrName>
                                        </p:attrNameLst>
                                      </p:cBhvr>
                                      <p:to>
                                        <p:strVal val="visible"/>
                                      </p:to>
                                    </p:set>
                                    <p:animEffect transition="in" filter="blinds(horizontal)">
                                      <p:cBhvr>
                                        <p:cTn id="30" dur="500"/>
                                        <p:tgtEl>
                                          <p:spTgt spid="29300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92945"/>
                                        </p:tgtEl>
                                        <p:attrNameLst>
                                          <p:attrName>style.visibility</p:attrName>
                                        </p:attrNameLst>
                                      </p:cBhvr>
                                      <p:to>
                                        <p:strVal val="visible"/>
                                      </p:to>
                                    </p:set>
                                    <p:animEffect transition="in" filter="blinds(horizontal)">
                                      <p:cBhvr>
                                        <p:cTn id="35" dur="500"/>
                                        <p:tgtEl>
                                          <p:spTgt spid="29294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92951"/>
                                        </p:tgtEl>
                                        <p:attrNameLst>
                                          <p:attrName>style.visibility</p:attrName>
                                        </p:attrNameLst>
                                      </p:cBhvr>
                                      <p:to>
                                        <p:strVal val="visible"/>
                                      </p:to>
                                    </p:set>
                                    <p:animEffect transition="in" filter="blinds(horizontal)">
                                      <p:cBhvr>
                                        <p:cTn id="40" dur="500"/>
                                        <p:tgtEl>
                                          <p:spTgt spid="29295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93008"/>
                                        </p:tgtEl>
                                        <p:attrNameLst>
                                          <p:attrName>style.visibility</p:attrName>
                                        </p:attrNameLst>
                                      </p:cBhvr>
                                      <p:to>
                                        <p:strVal val="visible"/>
                                      </p:to>
                                    </p:set>
                                    <p:animEffect transition="in" filter="blinds(horizontal)">
                                      <p:cBhvr>
                                        <p:cTn id="45" dur="500"/>
                                        <p:tgtEl>
                                          <p:spTgt spid="29300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93009"/>
                                        </p:tgtEl>
                                        <p:attrNameLst>
                                          <p:attrName>style.visibility</p:attrName>
                                        </p:attrNameLst>
                                      </p:cBhvr>
                                      <p:to>
                                        <p:strVal val="visible"/>
                                      </p:to>
                                    </p:set>
                                    <p:animEffect transition="in" filter="blinds(horizontal)">
                                      <p:cBhvr>
                                        <p:cTn id="50" dur="500"/>
                                        <p:tgtEl>
                                          <p:spTgt spid="29300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293011"/>
                                        </p:tgtEl>
                                        <p:attrNameLst>
                                          <p:attrName>style.visibility</p:attrName>
                                        </p:attrNameLst>
                                      </p:cBhvr>
                                      <p:to>
                                        <p:strVal val="visible"/>
                                      </p:to>
                                    </p:set>
                                    <p:animEffect transition="in" filter="blinds(horizontal)">
                                      <p:cBhvr>
                                        <p:cTn id="55" dur="500"/>
                                        <p:tgtEl>
                                          <p:spTgt spid="293011"/>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293010"/>
                                        </p:tgtEl>
                                        <p:attrNameLst>
                                          <p:attrName>style.visibility</p:attrName>
                                        </p:attrNameLst>
                                      </p:cBhvr>
                                      <p:to>
                                        <p:strVal val="visible"/>
                                      </p:to>
                                    </p:set>
                                    <p:animEffect transition="in" filter="blinds(horizontal)">
                                      <p:cBhvr>
                                        <p:cTn id="60" dur="500"/>
                                        <p:tgtEl>
                                          <p:spTgt spid="293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905" grpId="0"/>
      <p:bldP spid="292927" grpId="0"/>
      <p:bldP spid="292940" grpId="0"/>
      <p:bldP spid="292945" grpId="0"/>
      <p:bldP spid="292951" grpId="0"/>
      <p:bldP spid="293002" grpId="0"/>
      <p:bldP spid="293008" grpId="0"/>
      <p:bldP spid="293010"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5" name="标题 374785"/>
          <p:cNvSpPr>
            <a:spLocks noGrp="1"/>
          </p:cNvSpPr>
          <p:nvPr>
            <p:ph type="title"/>
          </p:nvPr>
        </p:nvSpPr>
        <p:spPr>
          <a:ln/>
        </p:spPr>
        <p:txBody>
          <a:bodyPr lIns="63500" tIns="25400" rIns="63500" bIns="25400" anchor="t" anchorCtr="0">
            <a:spAutoFit/>
          </a:bodyPr>
          <a:p>
            <a:r>
              <a:rPr lang="zh-CN" altLang="en-US" dirty="0">
                <a:ea typeface="宋体" panose="02010600030101010101" pitchFamily="2" charset="-122"/>
              </a:rPr>
              <a:t>单周期计算机的性能</a:t>
            </a:r>
            <a:endParaRPr lang="zh-CN" altLang="en-US" dirty="0">
              <a:ea typeface="宋体" panose="02010600030101010101" pitchFamily="2" charset="-122"/>
            </a:endParaRPr>
          </a:p>
        </p:txBody>
      </p:sp>
      <p:sp>
        <p:nvSpPr>
          <p:cNvPr id="374787" name="内容占位符 374786"/>
          <p:cNvSpPr>
            <a:spLocks noGrp="1"/>
          </p:cNvSpPr>
          <p:nvPr>
            <p:ph idx="1"/>
          </p:nvPr>
        </p:nvSpPr>
        <p:spPr>
          <a:xfrm>
            <a:off x="300038" y="1362075"/>
            <a:ext cx="8034337" cy="4200525"/>
          </a:xfrm>
          <a:ln/>
        </p:spPr>
        <p:txBody>
          <a:bodyPr wrap="square" lIns="63500" tIns="25400" rIns="63500" bIns="25400" anchor="t" anchorCtr="0">
            <a:spAutoFit/>
          </a:bodyPr>
          <a:p>
            <a:pPr>
              <a:lnSpc>
                <a:spcPct val="130000"/>
              </a:lnSpc>
              <a:spcBef>
                <a:spcPct val="15000"/>
              </a:spcBef>
            </a:pPr>
            <a:r>
              <a:rPr lang="zh-CN" altLang="en-US" sz="2400" b="0" dirty="0">
                <a:latin typeface="黑体" panose="02010609060101010101" pitchFamily="49" charset="-122"/>
                <a:ea typeface="黑体" panose="02010609060101010101" pitchFamily="49" charset="-122"/>
              </a:rPr>
              <a:t>单周期处理器的</a:t>
            </a:r>
            <a:r>
              <a:rPr lang="en-US" altLang="zh-CN" sz="2400" b="0">
                <a:latin typeface="黑体" panose="02010609060101010101" pitchFamily="49" charset="-122"/>
                <a:ea typeface="黑体" panose="02010609060101010101" pitchFamily="49" charset="-122"/>
              </a:rPr>
              <a:t>CPI</a:t>
            </a:r>
            <a:r>
              <a:rPr lang="zh-CN" altLang="en-US" sz="2400" b="0" dirty="0">
                <a:latin typeface="黑体" panose="02010609060101010101" pitchFamily="49" charset="-122"/>
                <a:ea typeface="黑体" panose="02010609060101010101" pitchFamily="49" charset="-122"/>
              </a:rPr>
              <a:t>为多少？</a:t>
            </a:r>
            <a:endParaRPr lang="zh-CN" altLang="en-US" sz="2400" b="0" dirty="0">
              <a:latin typeface="黑体" panose="02010609060101010101" pitchFamily="49" charset="-122"/>
              <a:ea typeface="黑体" panose="02010609060101010101" pitchFamily="49" charset="-122"/>
            </a:endParaRPr>
          </a:p>
          <a:p>
            <a:pPr lvl="1">
              <a:lnSpc>
                <a:spcPct val="130000"/>
              </a:lnSpc>
              <a:spcBef>
                <a:spcPct val="15000"/>
              </a:spcBef>
            </a:pPr>
            <a:r>
              <a:rPr lang="zh-CN" altLang="en-US" sz="2400" b="0" dirty="0">
                <a:latin typeface="黑体" panose="02010609060101010101" pitchFamily="49" charset="-122"/>
                <a:ea typeface="黑体" panose="02010609060101010101" pitchFamily="49" charset="-122"/>
              </a:rPr>
              <a:t>其他条件一定的情况下，</a:t>
            </a:r>
            <a:r>
              <a:rPr lang="en-US" altLang="zh-CN" sz="2400" b="0">
                <a:latin typeface="黑体" panose="02010609060101010101" pitchFamily="49" charset="-122"/>
                <a:ea typeface="黑体" panose="02010609060101010101" pitchFamily="49" charset="-122"/>
              </a:rPr>
              <a:t>CPI</a:t>
            </a:r>
            <a:r>
              <a:rPr lang="zh-CN" altLang="en-US" sz="2400" b="0" dirty="0">
                <a:latin typeface="黑体" panose="02010609060101010101" pitchFamily="49" charset="-122"/>
                <a:ea typeface="黑体" panose="02010609060101010101" pitchFamily="49" charset="-122"/>
              </a:rPr>
              <a:t>越小，则性能越好！</a:t>
            </a:r>
            <a:endParaRPr lang="zh-CN" altLang="en-US" sz="2400" b="0" dirty="0">
              <a:latin typeface="黑体" panose="02010609060101010101" pitchFamily="49" charset="-122"/>
              <a:ea typeface="黑体" panose="02010609060101010101" pitchFamily="49" charset="-122"/>
            </a:endParaRPr>
          </a:p>
          <a:p>
            <a:pPr lvl="1">
              <a:lnSpc>
                <a:spcPct val="130000"/>
              </a:lnSpc>
              <a:spcBef>
                <a:spcPct val="15000"/>
              </a:spcBef>
            </a:pPr>
            <a:r>
              <a:rPr lang="en-US" altLang="zh-CN" sz="2400" b="0">
                <a:latin typeface="黑体" panose="02010609060101010101" pitchFamily="49" charset="-122"/>
                <a:ea typeface="黑体" panose="02010609060101010101" pitchFamily="49" charset="-122"/>
              </a:rPr>
              <a:t>CPI=1</a:t>
            </a:r>
            <a:r>
              <a:rPr lang="zh-CN" altLang="en-US" sz="2400" b="0" dirty="0">
                <a:latin typeface="黑体" panose="02010609060101010101" pitchFamily="49" charset="-122"/>
                <a:ea typeface="黑体" panose="02010609060101010101" pitchFamily="49" charset="-122"/>
              </a:rPr>
              <a:t>，不是很好吗？</a:t>
            </a:r>
            <a:endParaRPr lang="zh-CN" altLang="en-US" sz="2400" b="0" dirty="0">
              <a:latin typeface="黑体" panose="02010609060101010101" pitchFamily="49" charset="-122"/>
              <a:ea typeface="黑体" panose="02010609060101010101" pitchFamily="49" charset="-122"/>
            </a:endParaRPr>
          </a:p>
          <a:p>
            <a:pPr>
              <a:lnSpc>
                <a:spcPct val="130000"/>
              </a:lnSpc>
              <a:spcBef>
                <a:spcPct val="15000"/>
              </a:spcBef>
            </a:pPr>
            <a:r>
              <a:rPr lang="zh-CN" altLang="en-US" sz="2400" b="0" dirty="0">
                <a:latin typeface="黑体" panose="02010609060101010101" pitchFamily="49" charset="-122"/>
                <a:ea typeface="黑体" panose="02010609060101010101" pitchFamily="49" charset="-122"/>
              </a:rPr>
              <a:t>单周期处理器的性能会不会很好？为什么？</a:t>
            </a:r>
            <a:endParaRPr lang="zh-CN" altLang="en-US" sz="2400" b="0" dirty="0">
              <a:latin typeface="黑体" panose="02010609060101010101" pitchFamily="49" charset="-122"/>
              <a:ea typeface="黑体" panose="02010609060101010101" pitchFamily="49" charset="-122"/>
            </a:endParaRPr>
          </a:p>
          <a:p>
            <a:pPr lvl="1">
              <a:lnSpc>
                <a:spcPct val="130000"/>
              </a:lnSpc>
              <a:spcBef>
                <a:spcPct val="15000"/>
              </a:spcBef>
            </a:pPr>
            <a:r>
              <a:rPr lang="zh-CN" altLang="en-US" sz="2400" b="0" dirty="0">
                <a:latin typeface="黑体" panose="02010609060101010101" pitchFamily="49" charset="-122"/>
                <a:ea typeface="黑体" panose="02010609060101010101" pitchFamily="49" charset="-122"/>
              </a:rPr>
              <a:t>计算机的性能除</a:t>
            </a:r>
            <a:r>
              <a:rPr lang="en-US" altLang="zh-CN" sz="2400" b="0">
                <a:latin typeface="黑体" panose="02010609060101010101" pitchFamily="49" charset="-122"/>
                <a:ea typeface="黑体" panose="02010609060101010101" pitchFamily="49" charset="-122"/>
              </a:rPr>
              <a:t>CPI</a:t>
            </a:r>
            <a:r>
              <a:rPr lang="zh-CN" altLang="en-US" sz="2400" b="0" dirty="0">
                <a:latin typeface="黑体" panose="02010609060101010101" pitchFamily="49" charset="-122"/>
                <a:ea typeface="黑体" panose="02010609060101010101" pitchFamily="49" charset="-122"/>
              </a:rPr>
              <a:t>外，还取决于时钟周期的宽度</a:t>
            </a:r>
            <a:endParaRPr lang="zh-CN" altLang="en-US" sz="2400" b="0" dirty="0">
              <a:latin typeface="黑体" panose="02010609060101010101" pitchFamily="49" charset="-122"/>
              <a:ea typeface="黑体" panose="02010609060101010101" pitchFamily="49" charset="-122"/>
            </a:endParaRPr>
          </a:p>
          <a:p>
            <a:pPr lvl="1">
              <a:lnSpc>
                <a:spcPct val="130000"/>
              </a:lnSpc>
              <a:spcBef>
                <a:spcPct val="15000"/>
              </a:spcBef>
            </a:pPr>
            <a:r>
              <a:rPr lang="zh-CN" altLang="en-US" sz="2400" b="0" dirty="0">
                <a:latin typeface="黑体" panose="02010609060101010101" pitchFamily="49" charset="-122"/>
                <a:ea typeface="黑体" panose="02010609060101010101" pitchFamily="49" charset="-122"/>
              </a:rPr>
              <a:t>单周期处理器的时钟宽度为最复杂指令的执行时间</a:t>
            </a:r>
            <a:endParaRPr lang="zh-CN" altLang="en-US" sz="2400" b="0" dirty="0">
              <a:latin typeface="黑体" panose="02010609060101010101" pitchFamily="49" charset="-122"/>
              <a:ea typeface="黑体" panose="02010609060101010101" pitchFamily="49" charset="-122"/>
            </a:endParaRPr>
          </a:p>
          <a:p>
            <a:pPr lvl="1">
              <a:lnSpc>
                <a:spcPct val="130000"/>
              </a:lnSpc>
              <a:spcBef>
                <a:spcPct val="15000"/>
              </a:spcBef>
            </a:pPr>
            <a:r>
              <a:rPr lang="zh-CN" altLang="en-US" sz="2400" b="0" dirty="0">
                <a:latin typeface="黑体" panose="02010609060101010101" pitchFamily="49" charset="-122"/>
                <a:ea typeface="黑体" panose="02010609060101010101" pitchFamily="49" charset="-122"/>
              </a:rPr>
              <a:t>很多指令可以在更短的时间内完成</a:t>
            </a:r>
            <a:endParaRPr lang="zh-CN" altLang="en-US" sz="2400" b="0" dirty="0">
              <a:latin typeface="黑体" panose="02010609060101010101" pitchFamily="49" charset="-122"/>
              <a:ea typeface="黑体" panose="02010609060101010101" pitchFamily="49" charset="-122"/>
            </a:endParaRPr>
          </a:p>
          <a:p>
            <a:pPr>
              <a:buNone/>
            </a:pPr>
            <a:endParaRPr lang="zh-CN" altLang="en-US" sz="2400" b="0" dirty="0">
              <a:latin typeface="黑体" panose="02010609060101010101" pitchFamily="49" charset="-122"/>
              <a:ea typeface="黑体" panose="02010609060101010101" pitchFamily="49" charset="-122"/>
            </a:endParaRPr>
          </a:p>
        </p:txBody>
      </p:sp>
      <p:sp>
        <p:nvSpPr>
          <p:cNvPr id="374789" name="文本框 374788"/>
          <p:cNvSpPr txBox="1"/>
          <p:nvPr/>
        </p:nvSpPr>
        <p:spPr>
          <a:xfrm>
            <a:off x="4730750" y="1327150"/>
            <a:ext cx="1409700" cy="457200"/>
          </a:xfrm>
          <a:prstGeom prst="rect">
            <a:avLst/>
          </a:prstGeom>
          <a:noFill/>
          <a:ln w="50800">
            <a:noFill/>
          </a:ln>
        </p:spPr>
        <p:txBody>
          <a:bodyPr anchor="t" anchorCtr="0">
            <a:spAutoFit/>
          </a:bodyPr>
          <a:p>
            <a:pPr eaLnBrk="0" hangingPunct="0">
              <a:spcBef>
                <a:spcPct val="50000"/>
              </a:spcBef>
            </a:pPr>
            <a:r>
              <a:rPr lang="en-US" altLang="zh-CN" sz="2400">
                <a:solidFill>
                  <a:schemeClr val="accent1"/>
                </a:solidFill>
                <a:latin typeface="Times New Roman" panose="02020603050405020304" pitchFamily="18" charset="0"/>
                <a:ea typeface="宋体" panose="02010600030101010101" pitchFamily="2" charset="-122"/>
              </a:rPr>
              <a:t>CPI=1!</a:t>
            </a:r>
            <a:endParaRPr lang="en-US" altLang="zh-CN" sz="2400">
              <a:solidFill>
                <a:schemeClr val="accent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4789"/>
                                        </p:tgtEl>
                                        <p:attrNameLst>
                                          <p:attrName>style.visibility</p:attrName>
                                        </p:attrNameLst>
                                      </p:cBhvr>
                                      <p:to>
                                        <p:strVal val="visible"/>
                                      </p:to>
                                    </p:set>
                                    <p:animEffect transition="in" filter="blinds(horizontal)">
                                      <p:cBhvr>
                                        <p:cTn id="7" dur="500"/>
                                        <p:tgtEl>
                                          <p:spTgt spid="37478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4787">
                                            <p:txEl>
                                              <p:charRg st="15" end="39"/>
                                            </p:txEl>
                                          </p:spTgt>
                                        </p:tgtEl>
                                        <p:attrNameLst>
                                          <p:attrName>style.visibility</p:attrName>
                                        </p:attrNameLst>
                                      </p:cBhvr>
                                      <p:to>
                                        <p:strVal val="visible"/>
                                      </p:to>
                                    </p:set>
                                    <p:animEffect transition="in" filter="blinds(horizontal)">
                                      <p:cBhvr>
                                        <p:cTn id="12" dur="500"/>
                                        <p:tgtEl>
                                          <p:spTgt spid="374787">
                                            <p:txEl>
                                              <p:charRg st="15" end="3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4787">
                                            <p:txEl>
                                              <p:charRg st="39" end="52"/>
                                            </p:txEl>
                                          </p:spTgt>
                                        </p:tgtEl>
                                        <p:attrNameLst>
                                          <p:attrName>style.visibility</p:attrName>
                                        </p:attrNameLst>
                                      </p:cBhvr>
                                      <p:to>
                                        <p:strVal val="visible"/>
                                      </p:to>
                                    </p:set>
                                    <p:animEffect transition="in" filter="blinds(horizontal)">
                                      <p:cBhvr>
                                        <p:cTn id="17" dur="500"/>
                                        <p:tgtEl>
                                          <p:spTgt spid="374787">
                                            <p:txEl>
                                              <p:charRg st="39" end="5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4787">
                                            <p:txEl>
                                              <p:charRg st="72" end="96"/>
                                            </p:txEl>
                                          </p:spTgt>
                                        </p:tgtEl>
                                        <p:attrNameLst>
                                          <p:attrName>style.visibility</p:attrName>
                                        </p:attrNameLst>
                                      </p:cBhvr>
                                      <p:to>
                                        <p:strVal val="visible"/>
                                      </p:to>
                                    </p:set>
                                    <p:animEffect transition="in" filter="blinds(horizontal)">
                                      <p:cBhvr>
                                        <p:cTn id="22" dur="500"/>
                                        <p:tgtEl>
                                          <p:spTgt spid="374787">
                                            <p:txEl>
                                              <p:charRg st="72" end="9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4787">
                                            <p:txEl>
                                              <p:charRg st="96" end="119"/>
                                            </p:txEl>
                                          </p:spTgt>
                                        </p:tgtEl>
                                        <p:attrNameLst>
                                          <p:attrName>style.visibility</p:attrName>
                                        </p:attrNameLst>
                                      </p:cBhvr>
                                      <p:to>
                                        <p:strVal val="visible"/>
                                      </p:to>
                                    </p:set>
                                    <p:animEffect transition="in" filter="blinds(horizontal)">
                                      <p:cBhvr>
                                        <p:cTn id="27" dur="500"/>
                                        <p:tgtEl>
                                          <p:spTgt spid="374787">
                                            <p:txEl>
                                              <p:charRg st="96" end="11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4787">
                                            <p:txEl>
                                              <p:charRg st="119" end="135"/>
                                            </p:txEl>
                                          </p:spTgt>
                                        </p:tgtEl>
                                        <p:attrNameLst>
                                          <p:attrName>style.visibility</p:attrName>
                                        </p:attrNameLst>
                                      </p:cBhvr>
                                      <p:to>
                                        <p:strVal val="visible"/>
                                      </p:to>
                                    </p:set>
                                    <p:animEffect transition="in" filter="blinds(horizontal)">
                                      <p:cBhvr>
                                        <p:cTn id="32" dur="500"/>
                                        <p:tgtEl>
                                          <p:spTgt spid="374787">
                                            <p:txEl>
                                              <p:charRg st="119"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标题 415745"/>
          <p:cNvSpPr>
            <a:spLocks noGrp="1"/>
          </p:cNvSpPr>
          <p:nvPr>
            <p:ph type="title"/>
          </p:nvPr>
        </p:nvSpPr>
        <p:spPr>
          <a:ln/>
        </p:spPr>
        <p:txBody>
          <a:bodyPr lIns="63500" tIns="25400" rIns="63500" bIns="25400" anchor="t" anchorCtr="0">
            <a:spAutoFit/>
          </a:bodyPr>
          <a:p>
            <a:r>
              <a:rPr lang="zh-CN" altLang="en-US" dirty="0">
                <a:ea typeface="宋体" panose="02010600030101010101" pitchFamily="2" charset="-122"/>
              </a:rPr>
              <a:t>单周期计算机的性能</a:t>
            </a:r>
            <a:endParaRPr lang="zh-CN" altLang="en-US" dirty="0">
              <a:ea typeface="宋体" panose="02010600030101010101" pitchFamily="2" charset="-122"/>
            </a:endParaRPr>
          </a:p>
        </p:txBody>
      </p:sp>
      <p:sp>
        <p:nvSpPr>
          <p:cNvPr id="415748" name="文本框 415747"/>
          <p:cNvSpPr txBox="1"/>
          <p:nvPr/>
        </p:nvSpPr>
        <p:spPr>
          <a:xfrm>
            <a:off x="328613" y="779463"/>
            <a:ext cx="8305800" cy="5151437"/>
          </a:xfrm>
          <a:prstGeom prst="rect">
            <a:avLst/>
          </a:prstGeom>
          <a:noFill/>
          <a:ln w="50800">
            <a:noFill/>
          </a:ln>
        </p:spPr>
        <p:txBody>
          <a:bodyPr anchor="t" anchorCtr="0">
            <a:spAutoFit/>
          </a:bodyPr>
          <a:p>
            <a:pPr eaLnBrk="0" hangingPunct="0">
              <a:lnSpc>
                <a:spcPct val="125000"/>
              </a:lnSpc>
              <a:spcBef>
                <a:spcPct val="20000"/>
              </a:spcBef>
            </a:pPr>
            <a:r>
              <a:rPr lang="zh-CN" altLang="en-US" sz="2200" dirty="0">
                <a:solidFill>
                  <a:schemeClr val="accent2"/>
                </a:solidFill>
                <a:latin typeface="Arial" panose="020B0604020202020204" pitchFamily="34" charset="0"/>
                <a:ea typeface="黑体" panose="02010609060101010101" pitchFamily="49" charset="-122"/>
              </a:rPr>
              <a:t>假设在单周期处理器中，各主要功能单元的操作时间为：</a:t>
            </a:r>
            <a:endParaRPr lang="zh-CN" altLang="en-US" sz="2200" dirty="0">
              <a:solidFill>
                <a:schemeClr val="accent2"/>
              </a:solidFill>
              <a:latin typeface="Arial" panose="020B0604020202020204" pitchFamily="34" charset="0"/>
              <a:ea typeface="黑体" panose="02010609060101010101" pitchFamily="49" charset="-122"/>
            </a:endParaRPr>
          </a:p>
          <a:p>
            <a:pPr eaLnBrk="0" hangingPunct="0">
              <a:lnSpc>
                <a:spcPct val="125000"/>
              </a:lnSpc>
              <a:spcBef>
                <a:spcPct val="20000"/>
              </a:spcBef>
              <a:buChar char="•"/>
            </a:pPr>
            <a:r>
              <a:rPr lang="zh-CN" altLang="en-US" sz="2200" dirty="0">
                <a:solidFill>
                  <a:schemeClr val="accent2"/>
                </a:solidFill>
                <a:latin typeface="Arial" panose="020B0604020202020204" pitchFamily="34" charset="0"/>
                <a:ea typeface="黑体" panose="02010609060101010101" pitchFamily="49" charset="-122"/>
              </a:rPr>
              <a:t> </a:t>
            </a:r>
            <a:r>
              <a:rPr lang="zh-CN" altLang="en-US" sz="2200" dirty="0">
                <a:solidFill>
                  <a:srgbClr val="008000"/>
                </a:solidFill>
                <a:latin typeface="Arial" panose="020B0604020202020204" pitchFamily="34" charset="0"/>
                <a:ea typeface="黑体" panose="02010609060101010101" pitchFamily="49" charset="-122"/>
              </a:rPr>
              <a:t>存储单元：</a:t>
            </a:r>
            <a:r>
              <a:rPr lang="en-US" altLang="zh-CN" sz="2200">
                <a:solidFill>
                  <a:srgbClr val="008000"/>
                </a:solidFill>
                <a:latin typeface="Arial" panose="020B0604020202020204" pitchFamily="34" charset="0"/>
                <a:ea typeface="黑体" panose="02010609060101010101" pitchFamily="49" charset="-122"/>
              </a:rPr>
              <a:t>200ps</a:t>
            </a:r>
            <a:endParaRPr lang="en-US" altLang="zh-CN" sz="2200">
              <a:solidFill>
                <a:srgbClr val="008000"/>
              </a:solidFill>
              <a:latin typeface="Arial" panose="020B0604020202020204" pitchFamily="34" charset="0"/>
              <a:ea typeface="黑体" panose="02010609060101010101" pitchFamily="49" charset="-122"/>
            </a:endParaRPr>
          </a:p>
          <a:p>
            <a:pPr eaLnBrk="0" hangingPunct="0">
              <a:lnSpc>
                <a:spcPct val="125000"/>
              </a:lnSpc>
              <a:spcBef>
                <a:spcPct val="20000"/>
              </a:spcBef>
              <a:buChar char="•"/>
            </a:pPr>
            <a:r>
              <a:rPr lang="en-US" altLang="zh-CN" sz="2200">
                <a:solidFill>
                  <a:srgbClr val="008000"/>
                </a:solidFill>
                <a:latin typeface="Arial" panose="020B0604020202020204" pitchFamily="34" charset="0"/>
                <a:ea typeface="黑体" panose="02010609060101010101" pitchFamily="49" charset="-122"/>
              </a:rPr>
              <a:t> ALU</a:t>
            </a:r>
            <a:r>
              <a:rPr lang="zh-CN" altLang="en-US" sz="2200" dirty="0">
                <a:solidFill>
                  <a:srgbClr val="008000"/>
                </a:solidFill>
                <a:latin typeface="Arial" panose="020B0604020202020204" pitchFamily="34" charset="0"/>
                <a:ea typeface="黑体" panose="02010609060101010101" pitchFamily="49" charset="-122"/>
              </a:rPr>
              <a:t>和加法器：</a:t>
            </a:r>
            <a:r>
              <a:rPr lang="en-US" altLang="zh-CN" sz="2200">
                <a:solidFill>
                  <a:srgbClr val="008000"/>
                </a:solidFill>
                <a:latin typeface="Arial" panose="020B0604020202020204" pitchFamily="34" charset="0"/>
                <a:ea typeface="黑体" panose="02010609060101010101" pitchFamily="49" charset="-122"/>
              </a:rPr>
              <a:t>100ps</a:t>
            </a:r>
            <a:endParaRPr lang="en-US" altLang="zh-CN" sz="2200">
              <a:solidFill>
                <a:srgbClr val="008000"/>
              </a:solidFill>
              <a:latin typeface="Arial" panose="020B0604020202020204" pitchFamily="34" charset="0"/>
              <a:ea typeface="黑体" panose="02010609060101010101" pitchFamily="49" charset="-122"/>
            </a:endParaRPr>
          </a:p>
          <a:p>
            <a:pPr eaLnBrk="0" hangingPunct="0">
              <a:lnSpc>
                <a:spcPct val="125000"/>
              </a:lnSpc>
              <a:spcBef>
                <a:spcPct val="20000"/>
              </a:spcBef>
              <a:buChar char="•"/>
            </a:pPr>
            <a:r>
              <a:rPr lang="zh-CN" altLang="en-US" sz="2200" dirty="0">
                <a:solidFill>
                  <a:srgbClr val="008000"/>
                </a:solidFill>
                <a:latin typeface="Arial" panose="020B0604020202020204" pitchFamily="34" charset="0"/>
                <a:ea typeface="黑体" panose="02010609060101010101" pitchFamily="49" charset="-122"/>
              </a:rPr>
              <a:t> 寄存器堆（读</a:t>
            </a:r>
            <a:r>
              <a:rPr lang="en-US" altLang="zh-CN" sz="2200">
                <a:solidFill>
                  <a:srgbClr val="008000"/>
                </a:solidFill>
                <a:latin typeface="Arial" panose="020B0604020202020204" pitchFamily="34" charset="0"/>
                <a:ea typeface="黑体" panose="02010609060101010101" pitchFamily="49" charset="-122"/>
              </a:rPr>
              <a:t>/</a:t>
            </a:r>
            <a:r>
              <a:rPr lang="zh-CN" altLang="en-US" sz="2200" dirty="0">
                <a:solidFill>
                  <a:srgbClr val="008000"/>
                </a:solidFill>
                <a:latin typeface="Arial" panose="020B0604020202020204" pitchFamily="34" charset="0"/>
                <a:ea typeface="黑体" panose="02010609060101010101" pitchFamily="49" charset="-122"/>
              </a:rPr>
              <a:t>写）：</a:t>
            </a:r>
            <a:r>
              <a:rPr lang="en-US" altLang="zh-CN" sz="2200">
                <a:solidFill>
                  <a:srgbClr val="008000"/>
                </a:solidFill>
                <a:latin typeface="Arial" panose="020B0604020202020204" pitchFamily="34" charset="0"/>
                <a:ea typeface="黑体" panose="02010609060101010101" pitchFamily="49" charset="-122"/>
              </a:rPr>
              <a:t>50ps</a:t>
            </a:r>
            <a:endParaRPr lang="en-US" altLang="zh-CN" sz="2200">
              <a:solidFill>
                <a:srgbClr val="008000"/>
              </a:solidFill>
              <a:latin typeface="Arial" panose="020B0604020202020204" pitchFamily="34" charset="0"/>
              <a:ea typeface="黑体" panose="02010609060101010101" pitchFamily="49" charset="-122"/>
            </a:endParaRPr>
          </a:p>
          <a:p>
            <a:pPr eaLnBrk="0" hangingPunct="0">
              <a:lnSpc>
                <a:spcPct val="125000"/>
              </a:lnSpc>
              <a:spcBef>
                <a:spcPct val="20000"/>
              </a:spcBef>
            </a:pPr>
            <a:r>
              <a:rPr lang="zh-CN" altLang="en-US" sz="2200" dirty="0">
                <a:solidFill>
                  <a:schemeClr val="accent2"/>
                </a:solidFill>
                <a:latin typeface="Arial" panose="020B0604020202020204" pitchFamily="34" charset="0"/>
                <a:ea typeface="黑体" panose="02010609060101010101" pitchFamily="49" charset="-122"/>
              </a:rPr>
              <a:t>假设</a:t>
            </a:r>
            <a:r>
              <a:rPr lang="en-US" altLang="zh-CN" sz="2200">
                <a:solidFill>
                  <a:schemeClr val="accent2"/>
                </a:solidFill>
                <a:latin typeface="Arial" panose="020B0604020202020204" pitchFamily="34" charset="0"/>
                <a:ea typeface="黑体" panose="02010609060101010101" pitchFamily="49" charset="-122"/>
              </a:rPr>
              <a:t>MUX</a:t>
            </a:r>
            <a:r>
              <a:rPr lang="zh-CN" altLang="en-US" sz="2200" dirty="0">
                <a:solidFill>
                  <a:schemeClr val="accent2"/>
                </a:solidFill>
                <a:latin typeface="Arial" panose="020B0604020202020204" pitchFamily="34" charset="0"/>
                <a:ea typeface="黑体" panose="02010609060101010101" pitchFamily="49" charset="-122"/>
              </a:rPr>
              <a:t>、控制单元、</a:t>
            </a:r>
            <a:r>
              <a:rPr lang="en-US" altLang="zh-CN" sz="2200">
                <a:solidFill>
                  <a:schemeClr val="accent2"/>
                </a:solidFill>
                <a:latin typeface="Arial" panose="020B0604020202020204" pitchFamily="34" charset="0"/>
                <a:ea typeface="黑体" panose="02010609060101010101" pitchFamily="49" charset="-122"/>
              </a:rPr>
              <a:t>PC</a:t>
            </a:r>
            <a:r>
              <a:rPr lang="zh-CN" altLang="en-US" sz="2200" dirty="0">
                <a:solidFill>
                  <a:schemeClr val="accent2"/>
                </a:solidFill>
                <a:latin typeface="Arial" panose="020B0604020202020204" pitchFamily="34" charset="0"/>
                <a:ea typeface="黑体" panose="02010609060101010101" pitchFamily="49" charset="-122"/>
              </a:rPr>
              <a:t>、扩展器和传输线路都没有延迟，则下面实现方式中，哪个更快？快多少？</a:t>
            </a:r>
            <a:endParaRPr lang="zh-CN" altLang="en-US" sz="2200" dirty="0">
              <a:solidFill>
                <a:schemeClr val="accent2"/>
              </a:solidFill>
              <a:latin typeface="Arial" panose="020B0604020202020204" pitchFamily="34" charset="0"/>
              <a:ea typeface="黑体" panose="02010609060101010101" pitchFamily="49" charset="-122"/>
            </a:endParaRPr>
          </a:p>
          <a:p>
            <a:pPr eaLnBrk="0" hangingPunct="0">
              <a:lnSpc>
                <a:spcPct val="125000"/>
              </a:lnSpc>
              <a:spcBef>
                <a:spcPct val="20000"/>
              </a:spcBef>
            </a:pPr>
            <a:r>
              <a:rPr lang="zh-CN" altLang="en-US" sz="2200" dirty="0">
                <a:solidFill>
                  <a:srgbClr val="008000"/>
                </a:solidFill>
                <a:latin typeface="Arial" panose="020B0604020202020204" pitchFamily="34" charset="0"/>
                <a:ea typeface="黑体" panose="02010609060101010101" pitchFamily="49" charset="-122"/>
              </a:rPr>
              <a:t>（</a:t>
            </a:r>
            <a:r>
              <a:rPr lang="en-US" altLang="zh-CN" sz="2200">
                <a:solidFill>
                  <a:srgbClr val="008000"/>
                </a:solidFill>
                <a:latin typeface="Arial" panose="020B0604020202020204" pitchFamily="34" charset="0"/>
                <a:ea typeface="黑体" panose="02010609060101010101" pitchFamily="49" charset="-122"/>
              </a:rPr>
              <a:t>1</a:t>
            </a:r>
            <a:r>
              <a:rPr lang="zh-CN" altLang="en-US" sz="2200" dirty="0">
                <a:solidFill>
                  <a:srgbClr val="008000"/>
                </a:solidFill>
                <a:latin typeface="Arial" panose="020B0604020202020204" pitchFamily="34" charset="0"/>
                <a:ea typeface="黑体" panose="02010609060101010101" pitchFamily="49" charset="-122"/>
              </a:rPr>
              <a:t>）每条指令在一个固定长度的时钟周期内完成</a:t>
            </a:r>
            <a:endParaRPr lang="zh-CN" altLang="en-US" sz="2200" dirty="0">
              <a:solidFill>
                <a:srgbClr val="008000"/>
              </a:solidFill>
              <a:latin typeface="Arial" panose="020B0604020202020204" pitchFamily="34" charset="0"/>
              <a:ea typeface="黑体" panose="02010609060101010101" pitchFamily="49" charset="-122"/>
            </a:endParaRPr>
          </a:p>
          <a:p>
            <a:pPr eaLnBrk="0" hangingPunct="0">
              <a:lnSpc>
                <a:spcPct val="125000"/>
              </a:lnSpc>
              <a:spcBef>
                <a:spcPct val="20000"/>
              </a:spcBef>
            </a:pPr>
            <a:r>
              <a:rPr lang="zh-CN" altLang="en-US" sz="2200" dirty="0">
                <a:solidFill>
                  <a:srgbClr val="008000"/>
                </a:solidFill>
                <a:latin typeface="Arial" panose="020B0604020202020204" pitchFamily="34" charset="0"/>
                <a:ea typeface="黑体" panose="02010609060101010101" pitchFamily="49" charset="-122"/>
              </a:rPr>
              <a:t>（</a:t>
            </a:r>
            <a:r>
              <a:rPr lang="en-US" altLang="zh-CN" sz="2200">
                <a:solidFill>
                  <a:srgbClr val="008000"/>
                </a:solidFill>
                <a:latin typeface="Arial" panose="020B0604020202020204" pitchFamily="34" charset="0"/>
                <a:ea typeface="黑体" panose="02010609060101010101" pitchFamily="49" charset="-122"/>
              </a:rPr>
              <a:t>2</a:t>
            </a:r>
            <a:r>
              <a:rPr lang="zh-CN" altLang="en-US" sz="2200" dirty="0">
                <a:solidFill>
                  <a:srgbClr val="008000"/>
                </a:solidFill>
                <a:latin typeface="Arial" panose="020B0604020202020204" pitchFamily="34" charset="0"/>
                <a:ea typeface="黑体" panose="02010609060101010101" pitchFamily="49" charset="-122"/>
              </a:rPr>
              <a:t>）每条指令在一个时钟周期内完成，但时钟周期仅为指令所需，是可变的</a:t>
            </a:r>
            <a:r>
              <a:rPr lang="zh-CN" altLang="en-US" sz="2200" dirty="0">
                <a:solidFill>
                  <a:srgbClr val="009900"/>
                </a:solidFill>
                <a:latin typeface="Arial" panose="020B0604020202020204" pitchFamily="34" charset="0"/>
                <a:ea typeface="黑体" panose="02010609060101010101" pitchFamily="49" charset="-122"/>
              </a:rPr>
              <a:t>（实际不可行，只是为了比较）</a:t>
            </a:r>
            <a:endParaRPr lang="zh-CN" altLang="en-US" sz="2200" dirty="0">
              <a:solidFill>
                <a:srgbClr val="009900"/>
              </a:solidFill>
              <a:latin typeface="Arial" panose="020B0604020202020204" pitchFamily="34" charset="0"/>
              <a:ea typeface="黑体" panose="02010609060101010101" pitchFamily="49" charset="-122"/>
            </a:endParaRPr>
          </a:p>
          <a:p>
            <a:pPr eaLnBrk="0" hangingPunct="0">
              <a:lnSpc>
                <a:spcPct val="125000"/>
              </a:lnSpc>
              <a:spcBef>
                <a:spcPct val="20000"/>
              </a:spcBef>
            </a:pPr>
            <a:r>
              <a:rPr lang="zh-CN" altLang="en-US" sz="2200" dirty="0">
                <a:solidFill>
                  <a:schemeClr val="accent2"/>
                </a:solidFill>
                <a:latin typeface="Arial" panose="020B0604020202020204" pitchFamily="34" charset="0"/>
                <a:ea typeface="黑体" panose="02010609060101010101" pitchFamily="49" charset="-122"/>
              </a:rPr>
              <a:t>假设有</a:t>
            </a:r>
            <a:r>
              <a:rPr lang="en-US" altLang="zh-CN" sz="2200">
                <a:solidFill>
                  <a:schemeClr val="accent2"/>
                </a:solidFill>
                <a:latin typeface="Arial" panose="020B0604020202020204" pitchFamily="34" charset="0"/>
                <a:ea typeface="黑体" panose="02010609060101010101" pitchFamily="49" charset="-122"/>
              </a:rPr>
              <a:t>25%</a:t>
            </a:r>
            <a:r>
              <a:rPr lang="zh-CN" altLang="en-US" sz="2200" dirty="0">
                <a:solidFill>
                  <a:schemeClr val="accent2"/>
                </a:solidFill>
                <a:latin typeface="Arial" panose="020B0604020202020204" pitchFamily="34" charset="0"/>
                <a:ea typeface="黑体" panose="02010609060101010101" pitchFamily="49" charset="-122"/>
              </a:rPr>
              <a:t>取数、</a:t>
            </a:r>
            <a:r>
              <a:rPr lang="en-US" altLang="zh-CN" sz="2200">
                <a:solidFill>
                  <a:schemeClr val="accent2"/>
                </a:solidFill>
                <a:latin typeface="Arial" panose="020B0604020202020204" pitchFamily="34" charset="0"/>
                <a:ea typeface="黑体" panose="02010609060101010101" pitchFamily="49" charset="-122"/>
              </a:rPr>
              <a:t>10%</a:t>
            </a:r>
            <a:r>
              <a:rPr lang="zh-CN" altLang="en-US" sz="2200" dirty="0">
                <a:solidFill>
                  <a:schemeClr val="accent2"/>
                </a:solidFill>
                <a:latin typeface="Arial" panose="020B0604020202020204" pitchFamily="34" charset="0"/>
                <a:ea typeface="黑体" panose="02010609060101010101" pitchFamily="49" charset="-122"/>
              </a:rPr>
              <a:t>存数、</a:t>
            </a:r>
            <a:r>
              <a:rPr lang="en-US" altLang="zh-CN" sz="2200">
                <a:solidFill>
                  <a:schemeClr val="accent2"/>
                </a:solidFill>
                <a:latin typeface="Arial" panose="020B0604020202020204" pitchFamily="34" charset="0"/>
                <a:ea typeface="黑体" panose="02010609060101010101" pitchFamily="49" charset="-122"/>
              </a:rPr>
              <a:t>45%ALU</a:t>
            </a:r>
            <a:r>
              <a:rPr lang="zh-CN" altLang="en-US" sz="2200" dirty="0">
                <a:solidFill>
                  <a:schemeClr val="accent2"/>
                </a:solidFill>
                <a:latin typeface="Arial" panose="020B0604020202020204" pitchFamily="34" charset="0"/>
                <a:ea typeface="黑体" panose="02010609060101010101" pitchFamily="49" charset="-122"/>
              </a:rPr>
              <a:t>、</a:t>
            </a:r>
            <a:r>
              <a:rPr lang="en-US" altLang="zh-CN" sz="2200">
                <a:solidFill>
                  <a:schemeClr val="accent2"/>
                </a:solidFill>
                <a:latin typeface="Arial" panose="020B0604020202020204" pitchFamily="34" charset="0"/>
                <a:ea typeface="黑体" panose="02010609060101010101" pitchFamily="49" charset="-122"/>
              </a:rPr>
              <a:t>15%</a:t>
            </a:r>
            <a:r>
              <a:rPr lang="zh-CN" altLang="en-US" sz="2200" dirty="0">
                <a:solidFill>
                  <a:schemeClr val="accent2"/>
                </a:solidFill>
                <a:latin typeface="Arial" panose="020B0604020202020204" pitchFamily="34" charset="0"/>
                <a:ea typeface="黑体" panose="02010609060101010101" pitchFamily="49" charset="-122"/>
              </a:rPr>
              <a:t>分支、</a:t>
            </a:r>
            <a:r>
              <a:rPr lang="en-US" altLang="zh-CN" sz="2200">
                <a:solidFill>
                  <a:schemeClr val="accent2"/>
                </a:solidFill>
                <a:latin typeface="Arial" panose="020B0604020202020204" pitchFamily="34" charset="0"/>
                <a:ea typeface="黑体" panose="02010609060101010101" pitchFamily="49" charset="-122"/>
              </a:rPr>
              <a:t>5%</a:t>
            </a:r>
            <a:r>
              <a:rPr lang="zh-CN" altLang="en-US" sz="2200" dirty="0">
                <a:solidFill>
                  <a:schemeClr val="accent2"/>
                </a:solidFill>
                <a:latin typeface="Arial" panose="020B0604020202020204" pitchFamily="34" charset="0"/>
                <a:ea typeface="黑体" panose="02010609060101010101" pitchFamily="49" charset="-122"/>
              </a:rPr>
              <a:t>跳转指令</a:t>
            </a:r>
            <a:endParaRPr lang="zh-CN" altLang="en-US" sz="2200" dirty="0">
              <a:solidFill>
                <a:schemeClr val="accent2"/>
              </a:solidFill>
              <a:latin typeface="Arial" panose="020B0604020202020204" pitchFamily="34" charset="0"/>
              <a:ea typeface="黑体" panose="02010609060101010101" pitchFamily="49" charset="-122"/>
            </a:endParaRPr>
          </a:p>
          <a:p>
            <a:pPr eaLnBrk="0" hangingPunct="0">
              <a:spcBef>
                <a:spcPct val="20000"/>
              </a:spcBef>
            </a:pPr>
            <a:endParaRPr lang="zh-CN" altLang="en-US" sz="2200" dirty="0">
              <a:solidFill>
                <a:schemeClr val="accent2"/>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5748">
                                            <p:txEl>
                                              <p:charRg st="0" end="26"/>
                                            </p:txEl>
                                          </p:spTgt>
                                        </p:tgtEl>
                                        <p:attrNameLst>
                                          <p:attrName>style.visibility</p:attrName>
                                        </p:attrNameLst>
                                      </p:cBhvr>
                                      <p:to>
                                        <p:strVal val="visible"/>
                                      </p:to>
                                    </p:set>
                                    <p:animEffect transition="in" filter="blinds(horizontal)">
                                      <p:cBhvr>
                                        <p:cTn id="7" dur="500"/>
                                        <p:tgtEl>
                                          <p:spTgt spid="415748">
                                            <p:txEl>
                                              <p:char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5748">
                                            <p:txEl>
                                              <p:charRg st="26" end="38"/>
                                            </p:txEl>
                                          </p:spTgt>
                                        </p:tgtEl>
                                        <p:attrNameLst>
                                          <p:attrName>style.visibility</p:attrName>
                                        </p:attrNameLst>
                                      </p:cBhvr>
                                      <p:to>
                                        <p:strVal val="visible"/>
                                      </p:to>
                                    </p:set>
                                    <p:animEffect transition="in" filter="blinds(horizontal)">
                                      <p:cBhvr>
                                        <p:cTn id="12" dur="500"/>
                                        <p:tgtEl>
                                          <p:spTgt spid="415748">
                                            <p:txEl>
                                              <p:charRg st="26" end="38"/>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15748">
                                            <p:txEl>
                                              <p:charRg st="38" end="53"/>
                                            </p:txEl>
                                          </p:spTgt>
                                        </p:tgtEl>
                                        <p:attrNameLst>
                                          <p:attrName>style.visibility</p:attrName>
                                        </p:attrNameLst>
                                      </p:cBhvr>
                                      <p:to>
                                        <p:strVal val="visible"/>
                                      </p:to>
                                    </p:set>
                                    <p:animEffect transition="in" filter="blinds(horizontal)">
                                      <p:cBhvr>
                                        <p:cTn id="15" dur="500"/>
                                        <p:tgtEl>
                                          <p:spTgt spid="415748">
                                            <p:txEl>
                                              <p:charRg st="38" end="5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5748">
                                            <p:txEl>
                                              <p:charRg st="53" end="69"/>
                                            </p:txEl>
                                          </p:spTgt>
                                        </p:tgtEl>
                                        <p:attrNameLst>
                                          <p:attrName>style.visibility</p:attrName>
                                        </p:attrNameLst>
                                      </p:cBhvr>
                                      <p:to>
                                        <p:strVal val="visible"/>
                                      </p:to>
                                    </p:set>
                                    <p:animEffect transition="in" filter="blinds(horizontal)">
                                      <p:cBhvr>
                                        <p:cTn id="18" dur="500"/>
                                        <p:tgtEl>
                                          <p:spTgt spid="415748">
                                            <p:txEl>
                                              <p:charRg st="53" end="6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15748">
                                            <p:txEl>
                                              <p:charRg st="69" end="116"/>
                                            </p:txEl>
                                          </p:spTgt>
                                        </p:tgtEl>
                                        <p:attrNameLst>
                                          <p:attrName>style.visibility</p:attrName>
                                        </p:attrNameLst>
                                      </p:cBhvr>
                                      <p:to>
                                        <p:strVal val="visible"/>
                                      </p:to>
                                    </p:set>
                                    <p:animEffect transition="in" filter="blinds(horizontal)">
                                      <p:cBhvr>
                                        <p:cTn id="23" dur="500"/>
                                        <p:tgtEl>
                                          <p:spTgt spid="415748">
                                            <p:txEl>
                                              <p:charRg st="69" end="11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15748">
                                            <p:txEl>
                                              <p:charRg st="116" end="139"/>
                                            </p:txEl>
                                          </p:spTgt>
                                        </p:tgtEl>
                                        <p:attrNameLst>
                                          <p:attrName>style.visibility</p:attrName>
                                        </p:attrNameLst>
                                      </p:cBhvr>
                                      <p:to>
                                        <p:strVal val="visible"/>
                                      </p:to>
                                    </p:set>
                                    <p:animEffect transition="in" filter="blinds(horizontal)">
                                      <p:cBhvr>
                                        <p:cTn id="28" dur="500"/>
                                        <p:tgtEl>
                                          <p:spTgt spid="415748">
                                            <p:txEl>
                                              <p:charRg st="116" end="139"/>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15748">
                                            <p:txEl>
                                              <p:charRg st="139" end="188"/>
                                            </p:txEl>
                                          </p:spTgt>
                                        </p:tgtEl>
                                        <p:attrNameLst>
                                          <p:attrName>style.visibility</p:attrName>
                                        </p:attrNameLst>
                                      </p:cBhvr>
                                      <p:to>
                                        <p:strVal val="visible"/>
                                      </p:to>
                                    </p:set>
                                    <p:animEffect transition="in" filter="blinds(horizontal)">
                                      <p:cBhvr>
                                        <p:cTn id="33" dur="500"/>
                                        <p:tgtEl>
                                          <p:spTgt spid="415748">
                                            <p:txEl>
                                              <p:charRg st="139" end="18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15748">
                                            <p:txEl>
                                              <p:charRg st="188" end="223"/>
                                            </p:txEl>
                                          </p:spTgt>
                                        </p:tgtEl>
                                        <p:attrNameLst>
                                          <p:attrName>style.visibility</p:attrName>
                                        </p:attrNameLst>
                                      </p:cBhvr>
                                      <p:to>
                                        <p:strVal val="visible"/>
                                      </p:to>
                                    </p:set>
                                    <p:animEffect transition="in" filter="blinds(horizontal)">
                                      <p:cBhvr>
                                        <p:cTn id="38" dur="500"/>
                                        <p:tgtEl>
                                          <p:spTgt spid="415748">
                                            <p:txEl>
                                              <p:charRg st="188" end="2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3" name="标题 375809"/>
          <p:cNvSpPr>
            <a:spLocks noGrp="1"/>
          </p:cNvSpPr>
          <p:nvPr>
            <p:ph type="title"/>
          </p:nvPr>
        </p:nvSpPr>
        <p:spPr>
          <a:ln/>
        </p:spPr>
        <p:txBody>
          <a:bodyPr lIns="63500" tIns="25400" rIns="63500" bIns="25400" anchor="t" anchorCtr="0">
            <a:spAutoFit/>
          </a:bodyPr>
          <a:p>
            <a:r>
              <a:rPr lang="zh-CN" altLang="en-US" dirty="0">
                <a:ea typeface="宋体" panose="02010600030101010101" pitchFamily="2" charset="-122"/>
              </a:rPr>
              <a:t>单周期计算机的性能</a:t>
            </a:r>
            <a:endParaRPr lang="zh-CN" altLang="en-US" dirty="0">
              <a:ea typeface="宋体" panose="02010600030101010101" pitchFamily="2" charset="-122"/>
            </a:endParaRPr>
          </a:p>
        </p:txBody>
      </p:sp>
      <p:sp>
        <p:nvSpPr>
          <p:cNvPr id="156674" name="文本占位符 375810"/>
          <p:cNvSpPr>
            <a:spLocks noGrp="1"/>
          </p:cNvSpPr>
          <p:nvPr>
            <p:ph type="body" sz="half" idx="1"/>
          </p:nvPr>
        </p:nvSpPr>
        <p:spPr>
          <a:xfrm>
            <a:off x="495300" y="714375"/>
            <a:ext cx="7575550" cy="625475"/>
          </a:xfrm>
          <a:ln/>
        </p:spPr>
        <p:txBody>
          <a:bodyPr wrap="square" lIns="63500" tIns="25400" rIns="63500" bIns="25400" anchor="t" anchorCtr="0">
            <a:spAutoFit/>
          </a:bodyPr>
          <a:p>
            <a:pPr defTabSz="914400">
              <a:buClrTx/>
              <a:buSzPct val="100000"/>
              <a:buFontTx/>
              <a:buNone/>
            </a:pPr>
            <a:r>
              <a:rPr lang="zh-CN" altLang="en-US" sz="1600" dirty="0">
                <a:solidFill>
                  <a:srgbClr val="009900"/>
                </a:solidFill>
                <a:ea typeface="宋体" panose="02010600030101010101" pitchFamily="2" charset="-122"/>
              </a:rPr>
              <a:t>解：</a:t>
            </a:r>
            <a:r>
              <a:rPr lang="en-US" altLang="zh-CN" sz="1600">
                <a:solidFill>
                  <a:srgbClr val="009900"/>
                </a:solidFill>
                <a:ea typeface="宋体" panose="02010600030101010101" pitchFamily="2" charset="-122"/>
              </a:rPr>
              <a:t>CPU</a:t>
            </a:r>
            <a:r>
              <a:rPr lang="zh-CN" altLang="en-US" sz="1600" dirty="0">
                <a:solidFill>
                  <a:srgbClr val="009900"/>
                </a:solidFill>
                <a:ea typeface="宋体" panose="02010600030101010101" pitchFamily="2" charset="-122"/>
              </a:rPr>
              <a:t>执行时间</a:t>
            </a:r>
            <a:r>
              <a:rPr lang="en-US" altLang="zh-CN" sz="1600">
                <a:solidFill>
                  <a:srgbClr val="009900"/>
                </a:solidFill>
                <a:ea typeface="宋体" panose="02010600030101010101" pitchFamily="2" charset="-122"/>
              </a:rPr>
              <a:t>=</a:t>
            </a:r>
            <a:r>
              <a:rPr lang="zh-CN" altLang="en-US" sz="1600" dirty="0">
                <a:solidFill>
                  <a:srgbClr val="009900"/>
                </a:solidFill>
                <a:ea typeface="宋体" panose="02010600030101010101" pitchFamily="2" charset="-122"/>
              </a:rPr>
              <a:t>指令条数 </a:t>
            </a:r>
            <a:r>
              <a:rPr lang="en-US" altLang="zh-CN" sz="1600">
                <a:solidFill>
                  <a:srgbClr val="009900"/>
                </a:solidFill>
                <a:ea typeface="宋体" panose="02010600030101010101" pitchFamily="2" charset="-122"/>
              </a:rPr>
              <a:t>x CPI x </a:t>
            </a:r>
            <a:r>
              <a:rPr lang="zh-CN" altLang="en-US" sz="1600" dirty="0">
                <a:solidFill>
                  <a:srgbClr val="009900"/>
                </a:solidFill>
                <a:ea typeface="宋体" panose="02010600030101010101" pitchFamily="2" charset="-122"/>
              </a:rPr>
              <a:t>时钟周期</a:t>
            </a:r>
            <a:r>
              <a:rPr lang="en-US" altLang="zh-CN" sz="1600">
                <a:solidFill>
                  <a:srgbClr val="009900"/>
                </a:solidFill>
                <a:ea typeface="宋体" panose="02010600030101010101" pitchFamily="2" charset="-122"/>
              </a:rPr>
              <a:t>=</a:t>
            </a:r>
            <a:r>
              <a:rPr lang="zh-CN" altLang="en-US" sz="1600" dirty="0">
                <a:solidFill>
                  <a:srgbClr val="009900"/>
                </a:solidFill>
                <a:ea typeface="宋体" panose="02010600030101010101" pitchFamily="2" charset="-122"/>
              </a:rPr>
              <a:t>指令条数 </a:t>
            </a:r>
            <a:r>
              <a:rPr lang="en-US" altLang="zh-CN" sz="1600">
                <a:solidFill>
                  <a:srgbClr val="009900"/>
                </a:solidFill>
                <a:ea typeface="宋体" panose="02010600030101010101" pitchFamily="2" charset="-122"/>
              </a:rPr>
              <a:t>x </a:t>
            </a:r>
            <a:r>
              <a:rPr lang="zh-CN" altLang="en-US" sz="1600" dirty="0">
                <a:solidFill>
                  <a:srgbClr val="009900"/>
                </a:solidFill>
                <a:ea typeface="宋体" panose="02010600030101010101" pitchFamily="2" charset="-122"/>
              </a:rPr>
              <a:t>时钟周期</a:t>
            </a:r>
            <a:endParaRPr lang="zh-CN" altLang="en-US" sz="1600" dirty="0">
              <a:solidFill>
                <a:srgbClr val="009900"/>
              </a:solidFill>
              <a:ea typeface="宋体" panose="02010600030101010101" pitchFamily="2" charset="-122"/>
            </a:endParaRPr>
          </a:p>
          <a:p>
            <a:pPr defTabSz="914400">
              <a:buClrTx/>
              <a:buSzPct val="100000"/>
              <a:buFontTx/>
              <a:buNone/>
            </a:pPr>
            <a:r>
              <a:rPr lang="en-US" altLang="zh-CN" sz="1600">
                <a:solidFill>
                  <a:srgbClr val="009900"/>
                </a:solidFill>
                <a:ea typeface="宋体" panose="02010600030101010101" pitchFamily="2" charset="-122"/>
              </a:rPr>
              <a:t>        </a:t>
            </a:r>
            <a:r>
              <a:rPr lang="zh-CN" altLang="en-US" sz="1600" dirty="0">
                <a:solidFill>
                  <a:srgbClr val="009900"/>
                </a:solidFill>
                <a:ea typeface="宋体" panose="02010600030101010101" pitchFamily="2" charset="-122"/>
              </a:rPr>
              <a:t>两种方案的指令条数都一样，</a:t>
            </a:r>
            <a:r>
              <a:rPr lang="en-US" altLang="zh-CN" sz="1600">
                <a:solidFill>
                  <a:srgbClr val="009900"/>
                </a:solidFill>
                <a:ea typeface="宋体" panose="02010600030101010101" pitchFamily="2" charset="-122"/>
              </a:rPr>
              <a:t>CPI</a:t>
            </a:r>
            <a:r>
              <a:rPr lang="zh-CN" altLang="en-US" sz="1600" dirty="0">
                <a:solidFill>
                  <a:srgbClr val="009900"/>
                </a:solidFill>
                <a:ea typeface="宋体" panose="02010600030101010101" pitchFamily="2" charset="-122"/>
              </a:rPr>
              <a:t>都为</a:t>
            </a:r>
            <a:r>
              <a:rPr lang="en-US" altLang="zh-CN" sz="1600">
                <a:solidFill>
                  <a:srgbClr val="009900"/>
                </a:solidFill>
                <a:ea typeface="宋体" panose="02010600030101010101" pitchFamily="2" charset="-122"/>
              </a:rPr>
              <a:t>1</a:t>
            </a:r>
            <a:r>
              <a:rPr lang="zh-CN" altLang="en-US" sz="1600" dirty="0">
                <a:solidFill>
                  <a:srgbClr val="009900"/>
                </a:solidFill>
                <a:ea typeface="宋体" panose="02010600030101010101" pitchFamily="2" charset="-122"/>
              </a:rPr>
              <a:t>，所以只要比较时钟周期宽度即可。</a:t>
            </a:r>
            <a:endParaRPr lang="zh-CN" altLang="en-US" sz="1600" dirty="0">
              <a:solidFill>
                <a:srgbClr val="009900"/>
              </a:solidFill>
              <a:ea typeface="宋体" panose="02010600030101010101" pitchFamily="2" charset="-122"/>
            </a:endParaRPr>
          </a:p>
        </p:txBody>
      </p:sp>
      <p:pic>
        <p:nvPicPr>
          <p:cNvPr id="156675" name="内容占位符 375812"/>
          <p:cNvPicPr>
            <a:picLocks noGrp="1" noChangeAspect="1"/>
          </p:cNvPicPr>
          <p:nvPr>
            <p:ph sz="quarter" idx="2"/>
          </p:nvPr>
        </p:nvPicPr>
        <p:blipFill>
          <a:blip r:embed="rId1"/>
          <a:stretch>
            <a:fillRect/>
          </a:stretch>
        </p:blipFill>
        <p:spPr>
          <a:xfrm>
            <a:off x="377825" y="1428750"/>
            <a:ext cx="8459788" cy="2565400"/>
          </a:xfrm>
          <a:ln w="50800"/>
        </p:spPr>
      </p:pic>
      <p:pic>
        <p:nvPicPr>
          <p:cNvPr id="156676" name="内容占位符 375814"/>
          <p:cNvPicPr>
            <a:picLocks noGrp="1" noChangeAspect="1"/>
          </p:cNvPicPr>
          <p:nvPr>
            <p:ph sz="quarter" idx="3"/>
          </p:nvPr>
        </p:nvPicPr>
        <p:blipFill>
          <a:blip r:embed="rId2"/>
          <a:stretch>
            <a:fillRect/>
          </a:stretch>
        </p:blipFill>
        <p:spPr>
          <a:xfrm>
            <a:off x="398463" y="4294188"/>
            <a:ext cx="8361362" cy="2305050"/>
          </a:xfrm>
          <a:ln w="50800"/>
        </p:spPr>
      </p:pic>
      <p:sp>
        <p:nvSpPr>
          <p:cNvPr id="156677" name="文本框 375816"/>
          <p:cNvSpPr txBox="1"/>
          <p:nvPr/>
        </p:nvSpPr>
        <p:spPr>
          <a:xfrm>
            <a:off x="434975" y="3946525"/>
            <a:ext cx="5341938" cy="336550"/>
          </a:xfrm>
          <a:prstGeom prst="rect">
            <a:avLst/>
          </a:prstGeom>
          <a:noFill/>
          <a:ln w="50800">
            <a:noFill/>
          </a:ln>
        </p:spPr>
        <p:txBody>
          <a:bodyPr anchor="t" anchorCtr="0">
            <a:spAutoFit/>
          </a:bodyPr>
          <a:p>
            <a:pPr eaLnBrk="0" hangingPunct="0">
              <a:spcBef>
                <a:spcPct val="50000"/>
              </a:spcBef>
            </a:pPr>
            <a:r>
              <a:rPr lang="zh-CN" altLang="en-US" dirty="0">
                <a:solidFill>
                  <a:srgbClr val="009900"/>
                </a:solidFill>
                <a:latin typeface="Times New Roman" panose="02020603050405020304" pitchFamily="18" charset="0"/>
                <a:ea typeface="宋体" panose="02010600030101010101" pitchFamily="2" charset="-122"/>
              </a:rPr>
              <a:t>各指令类型要求的时间长度为：</a:t>
            </a:r>
            <a:endParaRPr lang="zh-CN" altLang="en-US" dirty="0">
              <a:solidFill>
                <a:srgbClr val="009900"/>
              </a:solidFill>
              <a:latin typeface="Times New Roman" panose="02020603050405020304" pitchFamily="18" charset="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标题 378881"/>
          <p:cNvSpPr>
            <a:spLocks noGrp="1"/>
          </p:cNvSpPr>
          <p:nvPr>
            <p:ph type="title"/>
          </p:nvPr>
        </p:nvSpPr>
        <p:spPr>
          <a:ln/>
        </p:spPr>
        <p:txBody>
          <a:bodyPr lIns="63500" tIns="25400" rIns="63500" bIns="25400" anchor="t" anchorCtr="0">
            <a:spAutoFit/>
          </a:bodyPr>
          <a:p>
            <a:r>
              <a:rPr lang="zh-CN" altLang="en-US" dirty="0">
                <a:ea typeface="宋体" panose="02010600030101010101" pitchFamily="2" charset="-122"/>
              </a:rPr>
              <a:t>单周期计算机的性能</a:t>
            </a:r>
            <a:endParaRPr lang="zh-CN" altLang="en-US" dirty="0">
              <a:ea typeface="宋体" panose="02010600030101010101" pitchFamily="2" charset="-122"/>
            </a:endParaRPr>
          </a:p>
        </p:txBody>
      </p:sp>
      <p:sp>
        <p:nvSpPr>
          <p:cNvPr id="157698" name="文本占位符 378882"/>
          <p:cNvSpPr>
            <a:spLocks noGrp="1"/>
          </p:cNvSpPr>
          <p:nvPr>
            <p:ph idx="1"/>
          </p:nvPr>
        </p:nvSpPr>
        <p:spPr>
          <a:xfrm>
            <a:off x="277813" y="874713"/>
            <a:ext cx="8510587" cy="2182812"/>
          </a:xfrm>
          <a:ln/>
        </p:spPr>
        <p:txBody>
          <a:bodyPr wrap="square" lIns="63500" tIns="25400" rIns="63500" bIns="25400" anchor="t" anchorCtr="0">
            <a:spAutoFit/>
          </a:bodyPr>
          <a:p>
            <a:pPr>
              <a:buNone/>
            </a:pPr>
            <a:r>
              <a:rPr lang="zh-CN" altLang="en-US" dirty="0">
                <a:ea typeface="宋体" panose="02010600030101010101" pitchFamily="2" charset="-122"/>
              </a:rPr>
              <a:t>对于方式（</a:t>
            </a:r>
            <a:r>
              <a:rPr lang="en-US" altLang="zh-CN">
                <a:ea typeface="宋体" panose="02010600030101010101" pitchFamily="2" charset="-122"/>
              </a:rPr>
              <a:t>1</a:t>
            </a:r>
            <a:r>
              <a:rPr lang="zh-CN" altLang="en-US" dirty="0">
                <a:ea typeface="宋体" panose="02010600030101010101" pitchFamily="2" charset="-122"/>
              </a:rPr>
              <a:t>），时钟周期由最长指令来决定，应该是</a:t>
            </a:r>
            <a:r>
              <a:rPr lang="en-US" altLang="zh-CN">
                <a:ea typeface="宋体" panose="02010600030101010101" pitchFamily="2" charset="-122"/>
              </a:rPr>
              <a:t>load</a:t>
            </a:r>
            <a:r>
              <a:rPr lang="zh-CN" altLang="en-US" dirty="0">
                <a:ea typeface="宋体" panose="02010600030101010101" pitchFamily="2" charset="-122"/>
              </a:rPr>
              <a:t>指令，为</a:t>
            </a:r>
            <a:r>
              <a:rPr lang="en-US" altLang="zh-CN">
                <a:ea typeface="宋体" panose="02010600030101010101" pitchFamily="2" charset="-122"/>
              </a:rPr>
              <a:t>600ps</a:t>
            </a:r>
            <a:endParaRPr lang="en-US" altLang="zh-CN">
              <a:ea typeface="宋体" panose="02010600030101010101" pitchFamily="2" charset="-122"/>
            </a:endParaRPr>
          </a:p>
          <a:p>
            <a:pPr>
              <a:buNone/>
            </a:pPr>
            <a:r>
              <a:rPr lang="zh-CN" altLang="en-US" dirty="0">
                <a:ea typeface="宋体" panose="02010600030101010101" pitchFamily="2" charset="-122"/>
              </a:rPr>
              <a:t>对于方式（</a:t>
            </a:r>
            <a:r>
              <a:rPr lang="en-US" altLang="zh-CN">
                <a:ea typeface="宋体" panose="02010600030101010101" pitchFamily="2" charset="-122"/>
              </a:rPr>
              <a:t>2</a:t>
            </a:r>
            <a:r>
              <a:rPr lang="zh-CN" altLang="en-US" dirty="0">
                <a:ea typeface="宋体" panose="02010600030101010101" pitchFamily="2" charset="-122"/>
              </a:rPr>
              <a:t>），时钟周期取各条指令所需时间，时钟周期从</a:t>
            </a:r>
            <a:r>
              <a:rPr lang="en-US" altLang="zh-CN">
                <a:ea typeface="宋体" panose="02010600030101010101" pitchFamily="2" charset="-122"/>
              </a:rPr>
              <a:t>600ps</a:t>
            </a:r>
            <a:r>
              <a:rPr lang="zh-CN" altLang="en-US" dirty="0">
                <a:ea typeface="宋体" panose="02010600030101010101" pitchFamily="2" charset="-122"/>
              </a:rPr>
              <a:t>至</a:t>
            </a:r>
            <a:r>
              <a:rPr lang="en-US" altLang="zh-CN">
                <a:ea typeface="宋体" panose="02010600030101010101" pitchFamily="2" charset="-122"/>
              </a:rPr>
              <a:t>200ps</a:t>
            </a:r>
            <a:endParaRPr lang="en-US" altLang="zh-CN">
              <a:ea typeface="宋体" panose="02010600030101010101" pitchFamily="2" charset="-122"/>
            </a:endParaRPr>
          </a:p>
          <a:p>
            <a:pPr>
              <a:buNone/>
            </a:pPr>
            <a:r>
              <a:rPr lang="zh-CN" altLang="en-US" dirty="0">
                <a:ea typeface="宋体" panose="02010600030101010101" pitchFamily="2" charset="-122"/>
              </a:rPr>
              <a:t>根据各类指令的频度，计算出平均时钟周期长度为：</a:t>
            </a:r>
            <a:endParaRPr lang="zh-CN" altLang="en-US" dirty="0">
              <a:ea typeface="宋体" panose="02010600030101010101" pitchFamily="2" charset="-122"/>
            </a:endParaRPr>
          </a:p>
          <a:p>
            <a:pPr>
              <a:buNone/>
            </a:pPr>
            <a:r>
              <a:rPr lang="en-US" altLang="zh-CN">
                <a:ea typeface="宋体" panose="02010600030101010101" pitchFamily="2" charset="-122"/>
              </a:rPr>
              <a:t>CPU</a:t>
            </a:r>
            <a:r>
              <a:rPr lang="zh-CN" altLang="en-US" dirty="0">
                <a:ea typeface="宋体" panose="02010600030101010101" pitchFamily="2" charset="-122"/>
              </a:rPr>
              <a:t>时钟周期</a:t>
            </a:r>
            <a:r>
              <a:rPr lang="en-US" altLang="zh-CN">
                <a:ea typeface="宋体" panose="02010600030101010101" pitchFamily="2" charset="-122"/>
              </a:rPr>
              <a:t>=600x25%+550x10%+400x45%+350x15%+200x5%=447.5ps</a:t>
            </a:r>
            <a:endParaRPr lang="en-US" altLang="zh-CN">
              <a:ea typeface="宋体" panose="02010600030101010101" pitchFamily="2" charset="-122"/>
            </a:endParaRPr>
          </a:p>
          <a:p>
            <a:pPr>
              <a:buNone/>
            </a:pPr>
            <a:endParaRPr lang="en-US" altLang="zh-CN">
              <a:ea typeface="宋体" panose="02010600030101010101" pitchFamily="2" charset="-122"/>
            </a:endParaRPr>
          </a:p>
          <a:p>
            <a:pPr>
              <a:buNone/>
            </a:pPr>
            <a:r>
              <a:rPr lang="en-US" altLang="zh-CN">
                <a:ea typeface="宋体" panose="02010600030101010101" pitchFamily="2" charset="-122"/>
              </a:rPr>
              <a:t>CPU</a:t>
            </a:r>
            <a:r>
              <a:rPr lang="zh-CN" altLang="en-US" dirty="0">
                <a:ea typeface="宋体" panose="02010600030101010101" pitchFamily="2" charset="-122"/>
              </a:rPr>
              <a:t>性能比</a:t>
            </a:r>
            <a:r>
              <a:rPr lang="en-US" altLang="zh-CN">
                <a:ea typeface="宋体" panose="02010600030101010101" pitchFamily="2" charset="-122"/>
              </a:rPr>
              <a:t>=                                           =                                        =              =1.34</a:t>
            </a:r>
            <a:endParaRPr lang="en-US" altLang="zh-CN">
              <a:ea typeface="宋体" panose="02010600030101010101" pitchFamily="2" charset="-122"/>
            </a:endParaRPr>
          </a:p>
        </p:txBody>
      </p:sp>
      <p:sp>
        <p:nvSpPr>
          <p:cNvPr id="157699" name="文本框 378883"/>
          <p:cNvSpPr txBox="1"/>
          <p:nvPr/>
        </p:nvSpPr>
        <p:spPr>
          <a:xfrm>
            <a:off x="1814513" y="2509838"/>
            <a:ext cx="2627312" cy="336550"/>
          </a:xfrm>
          <a:prstGeom prst="rect">
            <a:avLst/>
          </a:prstGeom>
          <a:noFill/>
          <a:ln w="50800">
            <a:noFill/>
          </a:ln>
        </p:spPr>
        <p:txBody>
          <a:bodyPr anchor="t" anchorCtr="0">
            <a:spAutoFit/>
          </a:bodyPr>
          <a:p>
            <a:pPr eaLnBrk="0" hangingPunct="0">
              <a:spcBef>
                <a:spcPct val="50000"/>
              </a:spcBef>
            </a:pPr>
            <a:r>
              <a:rPr lang="zh-CN" altLang="en-US" dirty="0">
                <a:latin typeface="Arial" panose="020B0604020202020204" pitchFamily="34" charset="0"/>
                <a:ea typeface="宋体" panose="02010600030101010101" pitchFamily="2" charset="-122"/>
              </a:rPr>
              <a:t>方式</a:t>
            </a:r>
            <a:r>
              <a:rPr lang="en-US" altLang="zh-CN">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的</a:t>
            </a:r>
            <a:r>
              <a:rPr lang="en-US" altLang="zh-CN">
                <a:latin typeface="Arial" panose="020B0604020202020204" pitchFamily="34" charset="0"/>
                <a:ea typeface="宋体" panose="02010600030101010101" pitchFamily="2" charset="-122"/>
              </a:rPr>
              <a:t>CPU</a:t>
            </a:r>
            <a:r>
              <a:rPr lang="zh-CN" altLang="en-US" dirty="0">
                <a:latin typeface="Arial" panose="020B0604020202020204" pitchFamily="34" charset="0"/>
                <a:ea typeface="宋体" panose="02010600030101010101" pitchFamily="2" charset="-122"/>
              </a:rPr>
              <a:t>执行时间</a:t>
            </a:r>
            <a:endParaRPr lang="zh-CN" altLang="en-US" dirty="0">
              <a:latin typeface="Arial" panose="020B0604020202020204" pitchFamily="34" charset="0"/>
              <a:ea typeface="宋体" panose="02010600030101010101" pitchFamily="2" charset="-122"/>
            </a:endParaRPr>
          </a:p>
        </p:txBody>
      </p:sp>
      <p:sp>
        <p:nvSpPr>
          <p:cNvPr id="157700" name="文本框 378884"/>
          <p:cNvSpPr txBox="1"/>
          <p:nvPr/>
        </p:nvSpPr>
        <p:spPr>
          <a:xfrm>
            <a:off x="1793875" y="2892425"/>
            <a:ext cx="2627313" cy="336550"/>
          </a:xfrm>
          <a:prstGeom prst="rect">
            <a:avLst/>
          </a:prstGeom>
          <a:noFill/>
          <a:ln w="50800">
            <a:noFill/>
          </a:ln>
        </p:spPr>
        <p:txBody>
          <a:bodyPr anchor="t" anchorCtr="0">
            <a:spAutoFit/>
          </a:bodyPr>
          <a:p>
            <a:pPr eaLnBrk="0" hangingPunct="0">
              <a:spcBef>
                <a:spcPct val="50000"/>
              </a:spcBef>
            </a:pPr>
            <a:r>
              <a:rPr lang="zh-CN" altLang="en-US" dirty="0">
                <a:latin typeface="Arial" panose="020B0604020202020204" pitchFamily="34" charset="0"/>
                <a:ea typeface="宋体" panose="02010600030101010101" pitchFamily="2" charset="-122"/>
              </a:rPr>
              <a:t>方式</a:t>
            </a:r>
            <a:r>
              <a:rPr lang="en-US" altLang="zh-CN">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的</a:t>
            </a:r>
            <a:r>
              <a:rPr lang="en-US" altLang="zh-CN">
                <a:latin typeface="Arial" panose="020B0604020202020204" pitchFamily="34" charset="0"/>
                <a:ea typeface="宋体" panose="02010600030101010101" pitchFamily="2" charset="-122"/>
              </a:rPr>
              <a:t>CPU</a:t>
            </a:r>
            <a:r>
              <a:rPr lang="zh-CN" altLang="en-US" dirty="0">
                <a:latin typeface="Arial" panose="020B0604020202020204" pitchFamily="34" charset="0"/>
                <a:ea typeface="宋体" panose="02010600030101010101" pitchFamily="2" charset="-122"/>
              </a:rPr>
              <a:t>执行时间</a:t>
            </a:r>
            <a:endParaRPr lang="zh-CN" altLang="en-US" dirty="0">
              <a:latin typeface="Arial" panose="020B0604020202020204" pitchFamily="34" charset="0"/>
              <a:ea typeface="宋体" panose="02010600030101010101" pitchFamily="2" charset="-122"/>
            </a:endParaRPr>
          </a:p>
        </p:txBody>
      </p:sp>
      <p:sp>
        <p:nvSpPr>
          <p:cNvPr id="157701" name="直接连接符 378885"/>
          <p:cNvSpPr/>
          <p:nvPr/>
        </p:nvSpPr>
        <p:spPr>
          <a:xfrm>
            <a:off x="1785938" y="2887663"/>
            <a:ext cx="2306637" cy="0"/>
          </a:xfrm>
          <a:prstGeom prst="line">
            <a:avLst/>
          </a:prstGeom>
          <a:ln w="28575" cap="flat" cmpd="sng">
            <a:solidFill>
              <a:schemeClr val="tx1"/>
            </a:solidFill>
            <a:prstDash val="solid"/>
            <a:round/>
            <a:headEnd type="none" w="med" len="med"/>
            <a:tailEnd type="none" w="med" len="med"/>
          </a:ln>
        </p:spPr>
      </p:sp>
      <p:sp>
        <p:nvSpPr>
          <p:cNvPr id="157702" name="文本框 378886"/>
          <p:cNvSpPr txBox="1"/>
          <p:nvPr/>
        </p:nvSpPr>
        <p:spPr>
          <a:xfrm>
            <a:off x="4694238" y="2501900"/>
            <a:ext cx="2627312" cy="336550"/>
          </a:xfrm>
          <a:prstGeom prst="rect">
            <a:avLst/>
          </a:prstGeom>
          <a:noFill/>
          <a:ln w="50800">
            <a:noFill/>
          </a:ln>
        </p:spPr>
        <p:txBody>
          <a:bodyPr anchor="t" anchorCtr="0">
            <a:spAutoFit/>
          </a:bodyPr>
          <a:p>
            <a:pPr eaLnBrk="0" hangingPunct="0">
              <a:spcBef>
                <a:spcPct val="50000"/>
              </a:spcBef>
            </a:pPr>
            <a:r>
              <a:rPr lang="zh-CN" altLang="en-US" dirty="0">
                <a:latin typeface="Arial" panose="020B0604020202020204" pitchFamily="34" charset="0"/>
                <a:ea typeface="宋体" panose="02010600030101010101" pitchFamily="2" charset="-122"/>
              </a:rPr>
              <a:t>方式</a:t>
            </a:r>
            <a:r>
              <a:rPr lang="en-US" altLang="zh-CN">
                <a:latin typeface="Arial" panose="020B0604020202020204" pitchFamily="34" charset="0"/>
                <a:ea typeface="宋体" panose="02010600030101010101" pitchFamily="2" charset="-122"/>
              </a:rPr>
              <a:t>(1)</a:t>
            </a:r>
            <a:r>
              <a:rPr lang="zh-CN" altLang="en-US" dirty="0">
                <a:latin typeface="Arial" panose="020B0604020202020204" pitchFamily="34" charset="0"/>
                <a:ea typeface="宋体" panose="02010600030101010101" pitchFamily="2" charset="-122"/>
              </a:rPr>
              <a:t>的</a:t>
            </a:r>
            <a:r>
              <a:rPr lang="en-US" altLang="zh-CN">
                <a:latin typeface="Arial" panose="020B0604020202020204" pitchFamily="34" charset="0"/>
                <a:ea typeface="宋体" panose="02010600030101010101" pitchFamily="2" charset="-122"/>
              </a:rPr>
              <a:t>CPU </a:t>
            </a:r>
            <a:r>
              <a:rPr lang="zh-CN" altLang="en-US" dirty="0">
                <a:latin typeface="Arial" panose="020B0604020202020204" pitchFamily="34" charset="0"/>
                <a:ea typeface="宋体" panose="02010600030101010101" pitchFamily="2" charset="-122"/>
              </a:rPr>
              <a:t>时钟周期</a:t>
            </a:r>
            <a:endParaRPr lang="zh-CN" altLang="en-US" dirty="0">
              <a:latin typeface="Arial" panose="020B0604020202020204" pitchFamily="34" charset="0"/>
              <a:ea typeface="宋体" panose="02010600030101010101" pitchFamily="2" charset="-122"/>
            </a:endParaRPr>
          </a:p>
        </p:txBody>
      </p:sp>
      <p:sp>
        <p:nvSpPr>
          <p:cNvPr id="157703" name="文本框 378887"/>
          <p:cNvSpPr txBox="1"/>
          <p:nvPr/>
        </p:nvSpPr>
        <p:spPr>
          <a:xfrm>
            <a:off x="4673600" y="2884488"/>
            <a:ext cx="2627313" cy="336550"/>
          </a:xfrm>
          <a:prstGeom prst="rect">
            <a:avLst/>
          </a:prstGeom>
          <a:noFill/>
          <a:ln w="50800">
            <a:noFill/>
          </a:ln>
        </p:spPr>
        <p:txBody>
          <a:bodyPr anchor="t" anchorCtr="0">
            <a:spAutoFit/>
          </a:bodyPr>
          <a:p>
            <a:pPr eaLnBrk="0" hangingPunct="0">
              <a:spcBef>
                <a:spcPct val="50000"/>
              </a:spcBef>
            </a:pPr>
            <a:r>
              <a:rPr lang="zh-CN" altLang="en-US" dirty="0">
                <a:latin typeface="Arial" panose="020B0604020202020204" pitchFamily="34" charset="0"/>
                <a:ea typeface="宋体" panose="02010600030101010101" pitchFamily="2" charset="-122"/>
              </a:rPr>
              <a:t>方式</a:t>
            </a:r>
            <a:r>
              <a:rPr lang="en-US" altLang="zh-CN">
                <a:latin typeface="Arial" panose="020B0604020202020204" pitchFamily="34" charset="0"/>
                <a:ea typeface="宋体" panose="02010600030101010101" pitchFamily="2" charset="-122"/>
              </a:rPr>
              <a:t>(2)</a:t>
            </a:r>
            <a:r>
              <a:rPr lang="zh-CN" altLang="en-US" dirty="0">
                <a:latin typeface="Arial" panose="020B0604020202020204" pitchFamily="34" charset="0"/>
                <a:ea typeface="宋体" panose="02010600030101010101" pitchFamily="2" charset="-122"/>
              </a:rPr>
              <a:t>的</a:t>
            </a:r>
            <a:r>
              <a:rPr lang="en-US" altLang="zh-CN">
                <a:latin typeface="Arial" panose="020B0604020202020204" pitchFamily="34" charset="0"/>
                <a:ea typeface="宋体" panose="02010600030101010101" pitchFamily="2" charset="-122"/>
              </a:rPr>
              <a:t>CPU </a:t>
            </a:r>
            <a:r>
              <a:rPr lang="zh-CN" altLang="en-US" dirty="0">
                <a:latin typeface="Arial" panose="020B0604020202020204" pitchFamily="34" charset="0"/>
                <a:ea typeface="宋体" panose="02010600030101010101" pitchFamily="2" charset="-122"/>
              </a:rPr>
              <a:t>时钟周期</a:t>
            </a:r>
            <a:endParaRPr lang="zh-CN" altLang="en-US" dirty="0">
              <a:latin typeface="Arial" panose="020B0604020202020204" pitchFamily="34" charset="0"/>
              <a:ea typeface="宋体" panose="02010600030101010101" pitchFamily="2" charset="-122"/>
            </a:endParaRPr>
          </a:p>
        </p:txBody>
      </p:sp>
      <p:sp>
        <p:nvSpPr>
          <p:cNvPr id="157704" name="直接连接符 378888"/>
          <p:cNvSpPr/>
          <p:nvPr/>
        </p:nvSpPr>
        <p:spPr>
          <a:xfrm>
            <a:off x="4665663" y="2879725"/>
            <a:ext cx="2306637" cy="0"/>
          </a:xfrm>
          <a:prstGeom prst="line">
            <a:avLst/>
          </a:prstGeom>
          <a:ln w="28575" cap="flat" cmpd="sng">
            <a:solidFill>
              <a:schemeClr val="tx1"/>
            </a:solidFill>
            <a:prstDash val="solid"/>
            <a:round/>
            <a:headEnd type="none" w="med" len="med"/>
            <a:tailEnd type="none" w="med" len="med"/>
          </a:ln>
        </p:spPr>
      </p:sp>
      <p:sp>
        <p:nvSpPr>
          <p:cNvPr id="157705" name="文本框 378889"/>
          <p:cNvSpPr txBox="1"/>
          <p:nvPr/>
        </p:nvSpPr>
        <p:spPr>
          <a:xfrm>
            <a:off x="7407275" y="2500313"/>
            <a:ext cx="668338" cy="336550"/>
          </a:xfrm>
          <a:prstGeom prst="rect">
            <a:avLst/>
          </a:prstGeom>
          <a:noFill/>
          <a:ln w="50800">
            <a:noFill/>
          </a:ln>
        </p:spPr>
        <p:txBody>
          <a:bodyPr anchor="t" anchorCtr="0">
            <a:spAutoFit/>
          </a:bodyPr>
          <a:p>
            <a:pPr eaLnBrk="0" hangingPunct="0">
              <a:spcBef>
                <a:spcPct val="50000"/>
              </a:spcBef>
            </a:pPr>
            <a:r>
              <a:rPr lang="en-US" altLang="zh-CN">
                <a:latin typeface="Arial" panose="020B0604020202020204" pitchFamily="34" charset="0"/>
                <a:ea typeface="宋体" panose="02010600030101010101" pitchFamily="2" charset="-122"/>
              </a:rPr>
              <a:t>600</a:t>
            </a:r>
            <a:endParaRPr lang="en-US" altLang="zh-CN">
              <a:latin typeface="Arial" panose="020B0604020202020204" pitchFamily="34" charset="0"/>
              <a:ea typeface="宋体" panose="02010600030101010101" pitchFamily="2" charset="-122"/>
            </a:endParaRPr>
          </a:p>
        </p:txBody>
      </p:sp>
      <p:sp>
        <p:nvSpPr>
          <p:cNvPr id="157706" name="文本框 378890"/>
          <p:cNvSpPr txBox="1"/>
          <p:nvPr/>
        </p:nvSpPr>
        <p:spPr>
          <a:xfrm>
            <a:off x="7386638" y="2882900"/>
            <a:ext cx="841375" cy="336550"/>
          </a:xfrm>
          <a:prstGeom prst="rect">
            <a:avLst/>
          </a:prstGeom>
          <a:noFill/>
          <a:ln w="50800">
            <a:noFill/>
          </a:ln>
        </p:spPr>
        <p:txBody>
          <a:bodyPr anchor="t" anchorCtr="0">
            <a:spAutoFit/>
          </a:bodyPr>
          <a:p>
            <a:pPr eaLnBrk="0" hangingPunct="0">
              <a:spcBef>
                <a:spcPct val="50000"/>
              </a:spcBef>
            </a:pPr>
            <a:r>
              <a:rPr lang="en-US" altLang="zh-CN">
                <a:latin typeface="Arial" panose="020B0604020202020204" pitchFamily="34" charset="0"/>
                <a:ea typeface="宋体" panose="02010600030101010101" pitchFamily="2" charset="-122"/>
              </a:rPr>
              <a:t>447.5</a:t>
            </a:r>
            <a:endParaRPr lang="en-US" altLang="zh-CN">
              <a:latin typeface="Arial" panose="020B0604020202020204" pitchFamily="34" charset="0"/>
              <a:ea typeface="宋体" panose="02010600030101010101" pitchFamily="2" charset="-122"/>
            </a:endParaRPr>
          </a:p>
        </p:txBody>
      </p:sp>
      <p:sp>
        <p:nvSpPr>
          <p:cNvPr id="157707" name="直接连接符 378891"/>
          <p:cNvSpPr/>
          <p:nvPr/>
        </p:nvSpPr>
        <p:spPr>
          <a:xfrm>
            <a:off x="7335838" y="2878138"/>
            <a:ext cx="709612" cy="0"/>
          </a:xfrm>
          <a:prstGeom prst="line">
            <a:avLst/>
          </a:prstGeom>
          <a:ln w="28575" cap="flat" cmpd="sng">
            <a:solidFill>
              <a:schemeClr val="tx1"/>
            </a:solidFill>
            <a:prstDash val="solid"/>
            <a:round/>
            <a:headEnd type="none" w="med" len="med"/>
            <a:tailEnd type="none" w="med" len="med"/>
          </a:ln>
        </p:spPr>
      </p:sp>
      <p:sp>
        <p:nvSpPr>
          <p:cNvPr id="378893" name="文本框 378892"/>
          <p:cNvSpPr txBox="1"/>
          <p:nvPr/>
        </p:nvSpPr>
        <p:spPr>
          <a:xfrm>
            <a:off x="623888" y="3613150"/>
            <a:ext cx="6953250" cy="366713"/>
          </a:xfrm>
          <a:prstGeom prst="rect">
            <a:avLst/>
          </a:prstGeom>
          <a:noFill/>
          <a:ln w="50800">
            <a:noFill/>
          </a:ln>
        </p:spPr>
        <p:txBody>
          <a:bodyPr anchor="t" anchorCtr="0">
            <a:spAutoFit/>
          </a:bodyPr>
          <a:p>
            <a:pPr eaLnBrk="0" hangingPunct="0">
              <a:spcBef>
                <a:spcPct val="50000"/>
              </a:spcBef>
            </a:pPr>
            <a:r>
              <a:rPr lang="zh-CN" altLang="en-US" sz="1800" dirty="0">
                <a:solidFill>
                  <a:srgbClr val="A50021"/>
                </a:solidFill>
                <a:latin typeface="Times New Roman" panose="02020603050405020304" pitchFamily="18" charset="0"/>
                <a:ea typeface="宋体" panose="02010600030101010101" pitchFamily="2" charset="-122"/>
              </a:rPr>
              <a:t>由此可见，可变时钟周期的性能是定长周期的</a:t>
            </a:r>
            <a:r>
              <a:rPr lang="en-US" altLang="zh-CN" sz="1800">
                <a:solidFill>
                  <a:srgbClr val="A50021"/>
                </a:solidFill>
                <a:latin typeface="Times New Roman" panose="02020603050405020304" pitchFamily="18" charset="0"/>
                <a:ea typeface="宋体" panose="02010600030101010101" pitchFamily="2" charset="-122"/>
              </a:rPr>
              <a:t>1.34</a:t>
            </a:r>
            <a:r>
              <a:rPr lang="zh-CN" altLang="en-US" sz="1800" dirty="0">
                <a:solidFill>
                  <a:srgbClr val="A50021"/>
                </a:solidFill>
                <a:latin typeface="Times New Roman" panose="02020603050405020304" pitchFamily="18" charset="0"/>
                <a:ea typeface="宋体" panose="02010600030101010101" pitchFamily="2" charset="-122"/>
              </a:rPr>
              <a:t>倍！</a:t>
            </a:r>
            <a:endParaRPr lang="zh-CN" altLang="en-US" sz="1800" dirty="0">
              <a:solidFill>
                <a:srgbClr val="A50021"/>
              </a:solidFill>
              <a:latin typeface="Times New Roman" panose="02020603050405020304" pitchFamily="18" charset="0"/>
              <a:ea typeface="宋体" panose="02010600030101010101" pitchFamily="2" charset="-122"/>
            </a:endParaRPr>
          </a:p>
        </p:txBody>
      </p:sp>
      <p:sp>
        <p:nvSpPr>
          <p:cNvPr id="378894" name="文本框 378893"/>
          <p:cNvSpPr txBox="1"/>
          <p:nvPr/>
        </p:nvSpPr>
        <p:spPr>
          <a:xfrm>
            <a:off x="493713" y="4078288"/>
            <a:ext cx="7372350" cy="641350"/>
          </a:xfrm>
          <a:prstGeom prst="rect">
            <a:avLst/>
          </a:prstGeom>
          <a:noFill/>
          <a:ln w="50800">
            <a:noFill/>
          </a:ln>
        </p:spPr>
        <p:txBody>
          <a:bodyPr anchor="t" anchorCtr="0">
            <a:spAutoFit/>
          </a:bodyPr>
          <a:p>
            <a:pPr eaLnBrk="0" hangingPunct="0">
              <a:spcBef>
                <a:spcPct val="50000"/>
              </a:spcBef>
            </a:pPr>
            <a:r>
              <a:rPr lang="zh-CN" altLang="en-US" sz="1800" dirty="0">
                <a:latin typeface="Times New Roman" panose="02020603050405020304" pitchFamily="18" charset="0"/>
                <a:ea typeface="宋体" panose="02010600030101010101" pitchFamily="2" charset="-122"/>
              </a:rPr>
              <a:t>但是，对每类指令采用可变长时钟周期实现非常困难，而且所带来的额外开销会很大，不合算！</a:t>
            </a:r>
            <a:endParaRPr lang="zh-CN" altLang="en-US" sz="1800" dirty="0">
              <a:latin typeface="Times New Roman" panose="02020603050405020304" pitchFamily="18" charset="0"/>
              <a:ea typeface="宋体" panose="02010600030101010101" pitchFamily="2" charset="-122"/>
            </a:endParaRPr>
          </a:p>
        </p:txBody>
      </p:sp>
      <p:sp>
        <p:nvSpPr>
          <p:cNvPr id="378895" name="文本框 378894"/>
          <p:cNvSpPr txBox="1"/>
          <p:nvPr/>
        </p:nvSpPr>
        <p:spPr>
          <a:xfrm>
            <a:off x="1303338" y="5419725"/>
            <a:ext cx="5902325" cy="696913"/>
          </a:xfrm>
          <a:prstGeom prst="rect">
            <a:avLst/>
          </a:prstGeom>
          <a:noFill/>
          <a:ln w="50800">
            <a:noFill/>
          </a:ln>
        </p:spPr>
        <p:txBody>
          <a:bodyPr anchor="t" anchorCtr="0">
            <a:spAutoFit/>
          </a:bodyPr>
          <a:p>
            <a:pPr eaLnBrk="0" hangingPunct="0">
              <a:spcBef>
                <a:spcPct val="20000"/>
              </a:spcBef>
            </a:pPr>
            <a:r>
              <a:rPr lang="zh-CN" altLang="en-US" sz="1800" dirty="0">
                <a:solidFill>
                  <a:schemeClr val="accent2"/>
                </a:solidFill>
                <a:latin typeface="Times New Roman" panose="02020603050405020304" pitchFamily="18" charset="0"/>
                <a:ea typeface="宋体" panose="02010600030101010101" pitchFamily="2" charset="-122"/>
              </a:rPr>
              <a:t>下一讲介绍多周期数据通路和控制器，其特点是：</a:t>
            </a:r>
            <a:endParaRPr lang="zh-CN" altLang="en-US" sz="1800" dirty="0">
              <a:solidFill>
                <a:schemeClr val="accent2"/>
              </a:solidFill>
              <a:latin typeface="Times New Roman" panose="02020603050405020304" pitchFamily="18" charset="0"/>
              <a:ea typeface="宋体" panose="02010600030101010101" pitchFamily="2" charset="-122"/>
            </a:endParaRPr>
          </a:p>
          <a:p>
            <a:pPr eaLnBrk="0" hangingPunct="0">
              <a:spcBef>
                <a:spcPct val="20000"/>
              </a:spcBef>
            </a:pPr>
            <a:r>
              <a:rPr lang="zh-CN" altLang="en-US" sz="1800" dirty="0">
                <a:solidFill>
                  <a:schemeClr val="accent2"/>
                </a:solidFill>
                <a:latin typeface="Times New Roman" panose="02020603050405020304" pitchFamily="18" charset="0"/>
                <a:ea typeface="宋体" panose="02010600030101010101" pitchFamily="2" charset="-122"/>
              </a:rPr>
              <a:t>时钟周期固定、时钟周期数可变</a:t>
            </a:r>
            <a:endParaRPr lang="zh-CN" altLang="en-US" sz="1800" dirty="0">
              <a:solidFill>
                <a:schemeClr val="accent2"/>
              </a:solidFill>
              <a:latin typeface="Times New Roman" panose="02020603050405020304" pitchFamily="18" charset="0"/>
              <a:ea typeface="宋体" panose="02010600030101010101" pitchFamily="2" charset="-122"/>
            </a:endParaRPr>
          </a:p>
        </p:txBody>
      </p:sp>
      <p:sp>
        <p:nvSpPr>
          <p:cNvPr id="378896" name="文本框 378895"/>
          <p:cNvSpPr txBox="1"/>
          <p:nvPr/>
        </p:nvSpPr>
        <p:spPr>
          <a:xfrm>
            <a:off x="568325" y="4838700"/>
            <a:ext cx="8026400" cy="366713"/>
          </a:xfrm>
          <a:prstGeom prst="rect">
            <a:avLst/>
          </a:prstGeom>
          <a:noFill/>
          <a:ln w="50800">
            <a:noFill/>
          </a:ln>
        </p:spPr>
        <p:txBody>
          <a:bodyPr anchor="t" anchorCtr="0">
            <a:spAutoFit/>
          </a:bodyPr>
          <a:p>
            <a:pPr eaLnBrk="0" hangingPunct="0">
              <a:spcBef>
                <a:spcPct val="50000"/>
              </a:spcBef>
            </a:pPr>
            <a:r>
              <a:rPr lang="zh-CN" altLang="en-US" sz="1800" dirty="0">
                <a:solidFill>
                  <a:srgbClr val="008000"/>
                </a:solidFill>
                <a:latin typeface="Times New Roman" panose="02020603050405020304" pitchFamily="18" charset="0"/>
                <a:ea typeface="宋体" panose="02010600030101010101" pitchFamily="2" charset="-122"/>
              </a:rPr>
              <a:t>早期的小指令集计算机用过单周期实现技术，但现代计算机都不采用。</a:t>
            </a:r>
            <a:endParaRPr lang="zh-CN" altLang="en-US" sz="1800" dirty="0">
              <a:solidFill>
                <a:srgbClr val="008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893"/>
                                        </p:tgtEl>
                                        <p:attrNameLst>
                                          <p:attrName>style.visibility</p:attrName>
                                        </p:attrNameLst>
                                      </p:cBhvr>
                                      <p:to>
                                        <p:strVal val="visible"/>
                                      </p:to>
                                    </p:set>
                                    <p:animEffect transition="in" filter="blinds(horizontal)">
                                      <p:cBhvr>
                                        <p:cTn id="7" dur="500"/>
                                        <p:tgtEl>
                                          <p:spTgt spid="3788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894"/>
                                        </p:tgtEl>
                                        <p:attrNameLst>
                                          <p:attrName>style.visibility</p:attrName>
                                        </p:attrNameLst>
                                      </p:cBhvr>
                                      <p:to>
                                        <p:strVal val="visible"/>
                                      </p:to>
                                    </p:set>
                                    <p:animEffect transition="in" filter="blinds(horizontal)">
                                      <p:cBhvr>
                                        <p:cTn id="12" dur="500"/>
                                        <p:tgtEl>
                                          <p:spTgt spid="37889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896"/>
                                        </p:tgtEl>
                                        <p:attrNameLst>
                                          <p:attrName>style.visibility</p:attrName>
                                        </p:attrNameLst>
                                      </p:cBhvr>
                                      <p:to>
                                        <p:strVal val="visible"/>
                                      </p:to>
                                    </p:set>
                                    <p:animEffect transition="in" filter="blinds(horizontal)">
                                      <p:cBhvr>
                                        <p:cTn id="17" dur="500"/>
                                        <p:tgtEl>
                                          <p:spTgt spid="37889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8895"/>
                                        </p:tgtEl>
                                        <p:attrNameLst>
                                          <p:attrName>style.visibility</p:attrName>
                                        </p:attrNameLst>
                                      </p:cBhvr>
                                      <p:to>
                                        <p:strVal val="visible"/>
                                      </p:to>
                                    </p:set>
                                    <p:animEffect transition="in" filter="blinds(horizontal)">
                                      <p:cBhvr>
                                        <p:cTn id="22" dur="500"/>
                                        <p:tgtEl>
                                          <p:spTgt spid="378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93" grpId="0"/>
      <p:bldP spid="378894" grpId="0"/>
      <p:bldP spid="378895" grpId="0"/>
      <p:bldP spid="37889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1" name="标题 312321"/>
          <p:cNvSpPr>
            <a:spLocks noGrp="1"/>
          </p:cNvSpPr>
          <p:nvPr>
            <p:ph type="title"/>
          </p:nvPr>
        </p:nvSpPr>
        <p:spPr>
          <a:xfrm>
            <a:off x="444500" y="203200"/>
            <a:ext cx="3259138" cy="531813"/>
          </a:xfrm>
          <a:ln/>
        </p:spPr>
        <p:txBody>
          <a:bodyPr wrap="square" lIns="63500" tIns="25400" rIns="63500" bIns="25400" anchor="t" anchorCtr="0">
            <a:spAutoFit/>
          </a:bodyPr>
          <a:p>
            <a:r>
              <a:rPr lang="zh-CN" altLang="en-US" dirty="0">
                <a:ea typeface="宋体" panose="02010600030101010101" pitchFamily="2" charset="-122"/>
              </a:rPr>
              <a:t>第三讲 小结</a:t>
            </a:r>
            <a:endParaRPr lang="zh-CN" altLang="en-US" dirty="0">
              <a:ea typeface="宋体" panose="02010600030101010101" pitchFamily="2" charset="-122"/>
            </a:endParaRPr>
          </a:p>
        </p:txBody>
      </p:sp>
      <p:sp>
        <p:nvSpPr>
          <p:cNvPr id="312324" name="内容占位符 312323"/>
          <p:cNvSpPr>
            <a:spLocks noGrp="1"/>
          </p:cNvSpPr>
          <p:nvPr>
            <p:ph idx="1"/>
          </p:nvPr>
        </p:nvSpPr>
        <p:spPr>
          <a:xfrm>
            <a:off x="393700" y="649288"/>
            <a:ext cx="8191500" cy="5889625"/>
          </a:xfrm>
          <a:ln/>
        </p:spPr>
        <p:txBody>
          <a:bodyPr vert="horz" wrap="square" lIns="63500" tIns="25400" rIns="63500" bIns="25400" anchor="t" anchorCtr="0">
            <a:spAutoFit/>
          </a:bodyPr>
          <a:p>
            <a:pPr marL="342900" indent="-342900"/>
            <a:r>
              <a:rPr lang="zh-CN" altLang="en-US" dirty="0">
                <a:ea typeface="宋体" panose="02010600030101010101" pitchFamily="2" charset="-122"/>
              </a:rPr>
              <a:t>考察每条指令在单周期数据通路中的执行过程</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每条指令在一个时钟周期内完成</a:t>
            </a:r>
            <a:endParaRPr lang="zh-CN" altLang="en-US" dirty="0">
              <a:ea typeface="宋体" panose="02010600030101010101" pitchFamily="2" charset="-122"/>
            </a:endParaRPr>
          </a:p>
          <a:p>
            <a:pPr marL="742950" lvl="1" indent="-285750"/>
            <a:r>
              <a:rPr lang="zh-CN" altLang="en-US" dirty="0">
                <a:ea typeface="宋体" panose="02010600030101010101" pitchFamily="2" charset="-122"/>
              </a:rPr>
              <a:t>每个时钟到来时，都开始进入取指令操作</a:t>
            </a:r>
            <a:endParaRPr lang="zh-CN" altLang="en-US" dirty="0">
              <a:ea typeface="宋体" panose="02010600030101010101" pitchFamily="2" charset="-122"/>
            </a:endParaRPr>
          </a:p>
          <a:p>
            <a:pPr marL="1143000" lvl="2" indent="-228600"/>
            <a:r>
              <a:rPr lang="zh-CN" altLang="en-US" dirty="0">
                <a:ea typeface="宋体" panose="02010600030101010101" pitchFamily="2" charset="-122"/>
              </a:rPr>
              <a:t>经过</a:t>
            </a:r>
            <a:r>
              <a:rPr lang="en-US" altLang="zh-CN" dirty="0" err="1">
                <a:ea typeface="宋体" panose="02010600030101010101" pitchFamily="2" charset="-122"/>
              </a:rPr>
              <a:t>clk</a:t>
            </a:r>
            <a:r>
              <a:rPr lang="en-US" altLang="zh-CN">
                <a:ea typeface="宋体" panose="02010600030101010101" pitchFamily="2" charset="-122"/>
              </a:rPr>
              <a:t>-to-Q</a:t>
            </a:r>
            <a:r>
              <a:rPr lang="zh-CN" altLang="en-US" dirty="0">
                <a:ea typeface="宋体" panose="02010600030101010101" pitchFamily="2" charset="-122"/>
              </a:rPr>
              <a:t>，</a:t>
            </a:r>
            <a:r>
              <a:rPr lang="en-US" altLang="zh-CN">
                <a:ea typeface="宋体" panose="02010600030101010101" pitchFamily="2" charset="-122"/>
              </a:rPr>
              <a:t>PC</a:t>
            </a:r>
            <a:r>
              <a:rPr lang="zh-CN" altLang="en-US" dirty="0">
                <a:ea typeface="宋体" panose="02010600030101010101" pitchFamily="2" charset="-122"/>
              </a:rPr>
              <a:t>得到新值，经过</a:t>
            </a:r>
            <a:r>
              <a:rPr lang="en-US" altLang="zh-CN">
                <a:ea typeface="宋体" panose="02010600030101010101" pitchFamily="2" charset="-122"/>
              </a:rPr>
              <a:t>access time</a:t>
            </a:r>
            <a:r>
              <a:rPr lang="zh-CN" altLang="en-US" dirty="0">
                <a:ea typeface="宋体" panose="02010600030101010101" pitchFamily="2" charset="-122"/>
              </a:rPr>
              <a:t>后得到当前指令</a:t>
            </a:r>
            <a:endParaRPr lang="zh-CN" altLang="en-US" dirty="0">
              <a:ea typeface="宋体" panose="02010600030101010101" pitchFamily="2" charset="-122"/>
            </a:endParaRPr>
          </a:p>
          <a:p>
            <a:pPr marL="1143000" lvl="2" indent="-228600"/>
            <a:r>
              <a:rPr lang="zh-CN" altLang="en-US" dirty="0">
                <a:ea typeface="宋体" panose="02010600030101010101" pitchFamily="2" charset="-122"/>
              </a:rPr>
              <a:t>按三种方式分别计算下条指令地址，在</a:t>
            </a:r>
            <a:r>
              <a:rPr lang="en-US" altLang="zh-CN">
                <a:ea typeface="宋体" panose="02010600030101010101" pitchFamily="2" charset="-122"/>
              </a:rPr>
              <a:t>branch / zero / jump</a:t>
            </a:r>
            <a:r>
              <a:rPr lang="zh-CN" altLang="en-US" dirty="0">
                <a:ea typeface="宋体" panose="02010600030101010101" pitchFamily="2" charset="-122"/>
              </a:rPr>
              <a:t>的控制下，选择其中之一送到</a:t>
            </a:r>
            <a:r>
              <a:rPr lang="en-US" altLang="zh-CN">
                <a:ea typeface="宋体" panose="02010600030101010101" pitchFamily="2" charset="-122"/>
              </a:rPr>
              <a:t>PC</a:t>
            </a:r>
            <a:r>
              <a:rPr lang="zh-CN" altLang="en-US" dirty="0">
                <a:ea typeface="宋体" panose="02010600030101010101" pitchFamily="2" charset="-122"/>
              </a:rPr>
              <a:t>输入端，但不会马上写到</a:t>
            </a:r>
            <a:r>
              <a:rPr lang="en-US" altLang="zh-CN">
                <a:ea typeface="宋体" panose="02010600030101010101" pitchFamily="2" charset="-122"/>
              </a:rPr>
              <a:t>PC</a:t>
            </a:r>
            <a:r>
              <a:rPr lang="zh-CN" altLang="en-US" dirty="0">
                <a:ea typeface="宋体" panose="02010600030101010101" pitchFamily="2" charset="-122"/>
              </a:rPr>
              <a:t>中，一直到下个时钟到达时，才会更新</a:t>
            </a:r>
            <a:r>
              <a:rPr lang="en-US" altLang="zh-CN">
                <a:ea typeface="宋体" panose="02010600030101010101" pitchFamily="2" charset="-122"/>
              </a:rPr>
              <a:t>PC</a:t>
            </a:r>
            <a:r>
              <a:rPr lang="zh-CN" altLang="en-US" dirty="0">
                <a:ea typeface="宋体" panose="02010600030101010101" pitchFamily="2" charset="-122"/>
              </a:rPr>
              <a:t>。三种下址方式为：</a:t>
            </a:r>
            <a:endParaRPr lang="zh-CN" altLang="en-US" dirty="0">
              <a:ea typeface="宋体" panose="02010600030101010101" pitchFamily="2" charset="-122"/>
            </a:endParaRPr>
          </a:p>
          <a:p>
            <a:pPr marL="1600200" lvl="3" indent="-228600"/>
            <a:r>
              <a:rPr lang="en-US" altLang="zh-CN" sz="1800" b="1">
                <a:latin typeface="Arial" panose="020B0604020202020204" pitchFamily="34" charset="0"/>
                <a:ea typeface="宋体" panose="02010600030101010101" pitchFamily="2" charset="-122"/>
              </a:rPr>
              <a:t>branch=jump=0</a:t>
            </a:r>
            <a:r>
              <a:rPr lang="zh-CN" altLang="en-US" sz="1800" b="1" dirty="0">
                <a:latin typeface="Arial" panose="020B0604020202020204" pitchFamily="34" charset="0"/>
                <a:ea typeface="宋体" panose="02010600030101010101" pitchFamily="2" charset="-122"/>
              </a:rPr>
              <a:t>：</a:t>
            </a:r>
            <a:r>
              <a:rPr lang="en-US" altLang="zh-CN" sz="1800" b="1">
                <a:latin typeface="Arial" panose="020B0604020202020204" pitchFamily="34" charset="0"/>
                <a:ea typeface="宋体" panose="02010600030101010101" pitchFamily="2" charset="-122"/>
              </a:rPr>
              <a:t>PC+4</a:t>
            </a:r>
            <a:endParaRPr lang="en-US" altLang="zh-CN" sz="1800" b="1">
              <a:latin typeface="Arial" panose="020B0604020202020204" pitchFamily="34" charset="0"/>
              <a:ea typeface="宋体" panose="02010600030101010101" pitchFamily="2" charset="-122"/>
            </a:endParaRPr>
          </a:p>
          <a:p>
            <a:pPr marL="1600200" lvl="3" indent="-228600"/>
            <a:r>
              <a:rPr lang="en-US" altLang="zh-CN" sz="1800" b="1">
                <a:latin typeface="Arial" panose="020B0604020202020204" pitchFamily="34" charset="0"/>
                <a:ea typeface="宋体" panose="02010600030101010101" pitchFamily="2" charset="-122"/>
              </a:rPr>
              <a:t>branch=zero=1</a:t>
            </a:r>
            <a:r>
              <a:rPr lang="zh-CN" altLang="en-US" sz="1800" b="1" dirty="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PC+4+signExt[imm16]*4</a:t>
            </a:r>
            <a:endParaRPr lang="en-US" altLang="zh-CN" sz="1800" b="1">
              <a:latin typeface="Arial" panose="020B0604020202020204" pitchFamily="34" charset="0"/>
              <a:ea typeface="宋体" panose="02010600030101010101" pitchFamily="2" charset="-122"/>
            </a:endParaRPr>
          </a:p>
          <a:p>
            <a:pPr marL="1600200" lvl="3" indent="-228600"/>
            <a:r>
              <a:rPr lang="en-US" altLang="zh-CN" sz="1800" b="1">
                <a:latin typeface="Arial" panose="020B0604020202020204" pitchFamily="34" charset="0"/>
                <a:ea typeface="宋体" panose="02010600030101010101" pitchFamily="2" charset="-122"/>
              </a:rPr>
              <a:t>jump=1</a:t>
            </a:r>
            <a:r>
              <a:rPr lang="zh-CN" altLang="en-US" sz="1800" b="1" dirty="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PC&lt;31:28&gt; </a:t>
            </a:r>
            <a:r>
              <a:rPr lang="en-US" altLang="zh-CN" sz="1800" b="1" dirty="0" err="1">
                <a:latin typeface="Arial" panose="020B0604020202020204" pitchFamily="34" charset="0"/>
                <a:ea typeface="宋体" panose="02010600030101010101" pitchFamily="2" charset="-122"/>
              </a:rPr>
              <a:t>concat</a:t>
            </a:r>
            <a:r>
              <a:rPr lang="en-US" altLang="zh-CN" sz="1800" b="1">
                <a:latin typeface="Arial" panose="020B0604020202020204" pitchFamily="34" charset="0"/>
                <a:ea typeface="宋体" panose="02010600030101010101" pitchFamily="2" charset="-122"/>
              </a:rPr>
              <a:t>  target&lt;25:0&gt; </a:t>
            </a:r>
            <a:r>
              <a:rPr lang="en-US" altLang="zh-CN" sz="1800" b="1" dirty="0" err="1">
                <a:latin typeface="Arial" panose="020B0604020202020204" pitchFamily="34" charset="0"/>
                <a:ea typeface="宋体" panose="02010600030101010101" pitchFamily="2" charset="-122"/>
              </a:rPr>
              <a:t>concat</a:t>
            </a:r>
            <a:r>
              <a:rPr lang="en-US" altLang="zh-CN" sz="1800" b="1">
                <a:latin typeface="Arial" panose="020B0604020202020204" pitchFamily="34" charset="0"/>
                <a:ea typeface="宋体" panose="02010600030101010101" pitchFamily="2" charset="-122"/>
              </a:rPr>
              <a:t> “00”</a:t>
            </a:r>
            <a:r>
              <a:rPr lang="en-US" altLang="zh-CN">
                <a:ea typeface="宋体" panose="02010600030101010101" pitchFamily="2" charset="-122"/>
              </a:rPr>
              <a:t> </a:t>
            </a:r>
            <a:endParaRPr lang="en-US" altLang="zh-CN">
              <a:ea typeface="宋体" panose="02010600030101010101" pitchFamily="2" charset="-122"/>
            </a:endParaRPr>
          </a:p>
          <a:p>
            <a:pPr marL="742950" lvl="1" indent="-285750"/>
            <a:r>
              <a:rPr lang="zh-CN" altLang="en-US" dirty="0">
                <a:ea typeface="宋体" panose="02010600030101010101" pitchFamily="2" charset="-122"/>
              </a:rPr>
              <a:t>指令取出后被译码，产生指令对应的控制信号</a:t>
            </a:r>
            <a:endParaRPr lang="zh-CN" altLang="en-US" dirty="0">
              <a:ea typeface="宋体" panose="02010600030101010101" pitchFamily="2" charset="-122"/>
            </a:endParaRPr>
          </a:p>
          <a:p>
            <a:pPr marL="1143000" lvl="2" indent="-228600"/>
            <a:r>
              <a:rPr lang="en-US" altLang="zh-CN">
                <a:ea typeface="宋体" panose="02010600030101010101" pitchFamily="2" charset="-122"/>
              </a:rPr>
              <a:t>R-type</a:t>
            </a:r>
            <a:r>
              <a:rPr lang="zh-CN" altLang="en-US" dirty="0">
                <a:ea typeface="宋体" panose="02010600030101010101" pitchFamily="2" charset="-122"/>
              </a:rPr>
              <a:t>指令：</a:t>
            </a:r>
            <a:r>
              <a:rPr lang="en-US" altLang="zh-CN">
                <a:ea typeface="宋体" panose="02010600030101010101" pitchFamily="2" charset="-122"/>
              </a:rPr>
              <a:t>rd</a:t>
            </a:r>
            <a:r>
              <a:rPr lang="zh-CN" altLang="en-US" dirty="0">
                <a:ea typeface="宋体" panose="02010600030101010101" pitchFamily="2" charset="-122"/>
              </a:rPr>
              <a:t>为目的寄存器，无访存操作，</a:t>
            </a:r>
            <a:r>
              <a:rPr lang="en-US" altLang="zh-CN">
                <a:ea typeface="宋体" panose="02010600030101010101" pitchFamily="2" charset="-122"/>
              </a:rPr>
              <a:t>……</a:t>
            </a:r>
            <a:endParaRPr lang="en-US" altLang="zh-CN">
              <a:ea typeface="宋体" panose="02010600030101010101" pitchFamily="2" charset="-122"/>
            </a:endParaRPr>
          </a:p>
          <a:p>
            <a:pPr marL="1143000" lvl="2" indent="-228600"/>
            <a:r>
              <a:rPr lang="en-US" altLang="zh-CN" dirty="0" err="1">
                <a:ea typeface="宋体" panose="02010600030101010101" pitchFamily="2" charset="-122"/>
              </a:rPr>
              <a:t>ori</a:t>
            </a:r>
            <a:r>
              <a:rPr lang="zh-CN" altLang="en-US" dirty="0">
                <a:ea typeface="宋体" panose="02010600030101010101" pitchFamily="2" charset="-122"/>
              </a:rPr>
              <a:t>指令：</a:t>
            </a:r>
            <a:r>
              <a:rPr lang="en-US" altLang="zh-CN" dirty="0" err="1">
                <a:ea typeface="宋体" panose="02010600030101010101" pitchFamily="2" charset="-122"/>
              </a:rPr>
              <a:t>rt</a:t>
            </a:r>
            <a:r>
              <a:rPr lang="zh-CN" altLang="en-US" dirty="0">
                <a:ea typeface="宋体" panose="02010600030101010101" pitchFamily="2" charset="-122"/>
              </a:rPr>
              <a:t>为目的寄存器，</a:t>
            </a:r>
            <a:r>
              <a:rPr lang="en-US" altLang="zh-CN">
                <a:ea typeface="宋体" panose="02010600030101010101" pitchFamily="2" charset="-122"/>
              </a:rPr>
              <a:t>0</a:t>
            </a:r>
            <a:r>
              <a:rPr lang="zh-CN" altLang="en-US" dirty="0">
                <a:ea typeface="宋体" panose="02010600030101010101" pitchFamily="2" charset="-122"/>
              </a:rPr>
              <a:t>扩展，无访存操作，</a:t>
            </a:r>
            <a:r>
              <a:rPr lang="en-US" altLang="zh-CN">
                <a:ea typeface="宋体" panose="02010600030101010101" pitchFamily="2" charset="-122"/>
              </a:rPr>
              <a:t>……</a:t>
            </a:r>
            <a:endParaRPr lang="en-US" altLang="zh-CN">
              <a:ea typeface="宋体" panose="02010600030101010101" pitchFamily="2" charset="-122"/>
            </a:endParaRPr>
          </a:p>
          <a:p>
            <a:pPr marL="1143000" lvl="2" indent="-228600"/>
            <a:r>
              <a:rPr lang="en-US" altLang="zh-CN" dirty="0" err="1">
                <a:ea typeface="宋体" panose="02010600030101010101" pitchFamily="2" charset="-122"/>
              </a:rPr>
              <a:t>lw</a:t>
            </a:r>
            <a:r>
              <a:rPr lang="zh-CN" altLang="en-US" dirty="0">
                <a:ea typeface="宋体" panose="02010600030101010101" pitchFamily="2" charset="-122"/>
              </a:rPr>
              <a:t>指令： </a:t>
            </a:r>
            <a:r>
              <a:rPr lang="en-US" altLang="zh-CN" dirty="0" err="1">
                <a:ea typeface="宋体" panose="02010600030101010101" pitchFamily="2" charset="-122"/>
              </a:rPr>
              <a:t>rt</a:t>
            </a:r>
            <a:r>
              <a:rPr lang="zh-CN" altLang="en-US" dirty="0">
                <a:ea typeface="宋体" panose="02010600030101010101" pitchFamily="2" charset="-122"/>
              </a:rPr>
              <a:t>为目的寄存器，计算地址、符号扩展，读内存，</a:t>
            </a:r>
            <a:r>
              <a:rPr lang="en-US" altLang="zh-CN">
                <a:ea typeface="宋体" panose="02010600030101010101" pitchFamily="2" charset="-122"/>
              </a:rPr>
              <a:t>……</a:t>
            </a:r>
            <a:endParaRPr lang="en-US" altLang="zh-CN">
              <a:ea typeface="宋体" panose="02010600030101010101" pitchFamily="2" charset="-122"/>
            </a:endParaRPr>
          </a:p>
          <a:p>
            <a:pPr marL="1143000" lvl="2" indent="-228600"/>
            <a:r>
              <a:rPr lang="en-US" altLang="zh-CN" dirty="0" err="1">
                <a:ea typeface="宋体" panose="02010600030101010101" pitchFamily="2" charset="-122"/>
              </a:rPr>
              <a:t>sw</a:t>
            </a:r>
            <a:r>
              <a:rPr lang="zh-CN" altLang="en-US" dirty="0">
                <a:ea typeface="宋体" panose="02010600030101010101" pitchFamily="2" charset="-122"/>
              </a:rPr>
              <a:t>指令： </a:t>
            </a:r>
            <a:r>
              <a:rPr lang="en-US" altLang="zh-CN" dirty="0" err="1">
                <a:ea typeface="宋体" panose="02010600030101010101" pitchFamily="2" charset="-122"/>
              </a:rPr>
              <a:t>rt</a:t>
            </a:r>
            <a:r>
              <a:rPr lang="zh-CN" altLang="en-US" dirty="0">
                <a:ea typeface="宋体" panose="02010600030101010101" pitchFamily="2" charset="-122"/>
              </a:rPr>
              <a:t>为源寄存器，计算地址、符号扩展，写内存，</a:t>
            </a:r>
            <a:r>
              <a:rPr lang="en-US" altLang="zh-CN">
                <a:ea typeface="宋体" panose="02010600030101010101" pitchFamily="2" charset="-122"/>
              </a:rPr>
              <a:t>……</a:t>
            </a:r>
            <a:endParaRPr lang="en-US" altLang="zh-CN">
              <a:ea typeface="宋体" panose="02010600030101010101" pitchFamily="2" charset="-122"/>
            </a:endParaRPr>
          </a:p>
          <a:p>
            <a:pPr marL="342900" indent="-342900"/>
            <a:r>
              <a:rPr lang="zh-CN" altLang="en-US" dirty="0">
                <a:ea typeface="宋体" panose="02010600030101010101" pitchFamily="2" charset="-122"/>
              </a:rPr>
              <a:t>汇总每条指令控制信号的取值，生成真值表，写出逻辑表达式，设计主控制逻辑和</a:t>
            </a:r>
            <a:r>
              <a:rPr lang="en-US" altLang="zh-CN">
                <a:ea typeface="宋体" panose="02010600030101010101" pitchFamily="2" charset="-122"/>
              </a:rPr>
              <a:t>ALU</a:t>
            </a:r>
            <a:r>
              <a:rPr lang="zh-CN" altLang="en-US" dirty="0">
                <a:ea typeface="宋体" panose="02010600030101010101" pitchFamily="2" charset="-122"/>
              </a:rPr>
              <a:t>局部控制逻辑</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2324">
                                            <p:txEl>
                                              <p:charRg st="21" end="36"/>
                                            </p:txEl>
                                          </p:spTgt>
                                        </p:tgtEl>
                                        <p:attrNameLst>
                                          <p:attrName>style.visibility</p:attrName>
                                        </p:attrNameLst>
                                      </p:cBhvr>
                                      <p:to>
                                        <p:strVal val="visible"/>
                                      </p:to>
                                    </p:set>
                                    <p:animEffect transition="in" filter="blinds(horizontal)">
                                      <p:cBhvr>
                                        <p:cTn id="7" dur="500"/>
                                        <p:tgtEl>
                                          <p:spTgt spid="312324">
                                            <p:txEl>
                                              <p:charRg st="21" end="36"/>
                                            </p:txEl>
                                          </p:spTgt>
                                        </p:tgtEl>
                                      </p:cBhvr>
                                    </p:animEffect>
                                  </p:childTnLst>
                                  <p:subTnLst>
                                    <p:animClr clrSpc="rgb" dir="cw">
                                      <p:cBhvr override="childStyle">
                                        <p:cTn dur="1" fill="hold" display="0" masterRel="nextClick" afterEffect="1"/>
                                        <p:tgtEl>
                                          <p:spTgt spid="312324">
                                            <p:txEl>
                                              <p:charRg st="21" end="36"/>
                                            </p:txEl>
                                          </p:spTgt>
                                        </p:tgtEl>
                                        <p:attrNameLst>
                                          <p:attrName>ppt_c</p:attrName>
                                        </p:attrNameLst>
                                      </p:cBhvr>
                                      <p:to>
                                        <a:srgbClr val="6D6D6D"/>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2324">
                                            <p:txEl>
                                              <p:charRg st="36" end="55"/>
                                            </p:txEl>
                                          </p:spTgt>
                                        </p:tgtEl>
                                        <p:attrNameLst>
                                          <p:attrName>style.visibility</p:attrName>
                                        </p:attrNameLst>
                                      </p:cBhvr>
                                      <p:to>
                                        <p:strVal val="visible"/>
                                      </p:to>
                                    </p:set>
                                    <p:animEffect transition="in" filter="blinds(horizontal)">
                                      <p:cBhvr>
                                        <p:cTn id="12" dur="500"/>
                                        <p:tgtEl>
                                          <p:spTgt spid="312324">
                                            <p:txEl>
                                              <p:charRg st="36" end="55"/>
                                            </p:txEl>
                                          </p:spTgt>
                                        </p:tgtEl>
                                      </p:cBhvr>
                                    </p:animEffect>
                                  </p:childTnLst>
                                  <p:subTnLst>
                                    <p:animClr clrSpc="rgb" dir="cw">
                                      <p:cBhvr override="childStyle">
                                        <p:cTn dur="1" fill="hold" display="0" masterRel="nextClick" afterEffect="1"/>
                                        <p:tgtEl>
                                          <p:spTgt spid="312324">
                                            <p:txEl>
                                              <p:charRg st="36" end="55"/>
                                            </p:txEl>
                                          </p:spTgt>
                                        </p:tgtEl>
                                        <p:attrNameLst>
                                          <p:attrName>ppt_c</p:attrName>
                                        </p:attrNameLst>
                                      </p:cBhvr>
                                      <p:to>
                                        <a:srgbClr val="6D6D6D"/>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12324">
                                            <p:txEl>
                                              <p:charRg st="55" end="94"/>
                                            </p:txEl>
                                          </p:spTgt>
                                        </p:tgtEl>
                                        <p:attrNameLst>
                                          <p:attrName>style.visibility</p:attrName>
                                        </p:attrNameLst>
                                      </p:cBhvr>
                                      <p:to>
                                        <p:strVal val="visible"/>
                                      </p:to>
                                    </p:set>
                                    <p:animEffect transition="in" filter="blinds(horizontal)">
                                      <p:cBhvr>
                                        <p:cTn id="17" dur="500"/>
                                        <p:tgtEl>
                                          <p:spTgt spid="312324">
                                            <p:txEl>
                                              <p:charRg st="55" end="94"/>
                                            </p:txEl>
                                          </p:spTgt>
                                        </p:tgtEl>
                                      </p:cBhvr>
                                    </p:animEffect>
                                  </p:childTnLst>
                                  <p:subTnLst>
                                    <p:animClr clrSpc="rgb" dir="cw">
                                      <p:cBhvr override="childStyle">
                                        <p:cTn dur="1" fill="hold" display="0" masterRel="nextClick" afterEffect="1"/>
                                        <p:tgtEl>
                                          <p:spTgt spid="312324">
                                            <p:txEl>
                                              <p:charRg st="55" end="94"/>
                                            </p:txEl>
                                          </p:spTgt>
                                        </p:tgtEl>
                                        <p:attrNameLst>
                                          <p:attrName>ppt_c</p:attrName>
                                        </p:attrNameLst>
                                      </p:cBhvr>
                                      <p:to>
                                        <a:srgbClr val="6D6D6D"/>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12324">
                                            <p:txEl>
                                              <p:charRg st="94" end="188"/>
                                            </p:txEl>
                                          </p:spTgt>
                                        </p:tgtEl>
                                        <p:attrNameLst>
                                          <p:attrName>style.visibility</p:attrName>
                                        </p:attrNameLst>
                                      </p:cBhvr>
                                      <p:to>
                                        <p:strVal val="visible"/>
                                      </p:to>
                                    </p:set>
                                    <p:animEffect transition="in" filter="blinds(horizontal)">
                                      <p:cBhvr>
                                        <p:cTn id="22" dur="500"/>
                                        <p:tgtEl>
                                          <p:spTgt spid="312324">
                                            <p:txEl>
                                              <p:charRg st="94" end="188"/>
                                            </p:txEl>
                                          </p:spTgt>
                                        </p:tgtEl>
                                      </p:cBhvr>
                                    </p:animEffect>
                                  </p:childTnLst>
                                  <p:subTnLst>
                                    <p:animClr clrSpc="rgb" dir="cw">
                                      <p:cBhvr override="childStyle">
                                        <p:cTn dur="1" fill="hold" display="0" masterRel="nextClick" afterEffect="1"/>
                                        <p:tgtEl>
                                          <p:spTgt spid="312324">
                                            <p:txEl>
                                              <p:charRg st="94" end="188"/>
                                            </p:txEl>
                                          </p:spTgt>
                                        </p:tgtEl>
                                        <p:attrNameLst>
                                          <p:attrName>ppt_c</p:attrName>
                                        </p:attrNameLst>
                                      </p:cBhvr>
                                      <p:to>
                                        <a:srgbClr val="6D6D6D"/>
                                      </p:to>
                                    </p:animClr>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12324">
                                            <p:txEl>
                                              <p:charRg st="188" end="207"/>
                                            </p:txEl>
                                          </p:spTgt>
                                        </p:tgtEl>
                                        <p:attrNameLst>
                                          <p:attrName>style.visibility</p:attrName>
                                        </p:attrNameLst>
                                      </p:cBhvr>
                                      <p:to>
                                        <p:strVal val="visible"/>
                                      </p:to>
                                    </p:set>
                                    <p:animEffect transition="in" filter="blinds(horizontal)">
                                      <p:cBhvr>
                                        <p:cTn id="27" dur="500"/>
                                        <p:tgtEl>
                                          <p:spTgt spid="312324">
                                            <p:txEl>
                                              <p:charRg st="188" end="207"/>
                                            </p:txEl>
                                          </p:spTgt>
                                        </p:tgtEl>
                                      </p:cBhvr>
                                    </p:animEffect>
                                  </p:childTnLst>
                                  <p:subTnLst>
                                    <p:animClr clrSpc="rgb" dir="cw">
                                      <p:cBhvr override="childStyle">
                                        <p:cTn dur="1" fill="hold" display="0" masterRel="nextClick" afterEffect="1"/>
                                        <p:tgtEl>
                                          <p:spTgt spid="312324">
                                            <p:txEl>
                                              <p:charRg st="188" end="207"/>
                                            </p:txEl>
                                          </p:spTgt>
                                        </p:tgtEl>
                                        <p:attrNameLst>
                                          <p:attrName>ppt_c</p:attrName>
                                        </p:attrNameLst>
                                      </p:cBhvr>
                                      <p:to>
                                        <a:srgbClr val="6D6D6D"/>
                                      </p:to>
                                    </p:animClr>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12324">
                                            <p:txEl>
                                              <p:charRg st="207" end="244"/>
                                            </p:txEl>
                                          </p:spTgt>
                                        </p:tgtEl>
                                        <p:attrNameLst>
                                          <p:attrName>style.visibility</p:attrName>
                                        </p:attrNameLst>
                                      </p:cBhvr>
                                      <p:to>
                                        <p:strVal val="visible"/>
                                      </p:to>
                                    </p:set>
                                    <p:animEffect transition="in" filter="blinds(horizontal)">
                                      <p:cBhvr>
                                        <p:cTn id="32" dur="500"/>
                                        <p:tgtEl>
                                          <p:spTgt spid="312324">
                                            <p:txEl>
                                              <p:charRg st="207" end="244"/>
                                            </p:txEl>
                                          </p:spTgt>
                                        </p:tgtEl>
                                      </p:cBhvr>
                                    </p:animEffect>
                                  </p:childTnLst>
                                  <p:subTnLst>
                                    <p:animClr clrSpc="rgb" dir="cw">
                                      <p:cBhvr override="childStyle">
                                        <p:cTn dur="1" fill="hold" display="0" masterRel="nextClick" afterEffect="1"/>
                                        <p:tgtEl>
                                          <p:spTgt spid="312324">
                                            <p:txEl>
                                              <p:charRg st="207" end="244"/>
                                            </p:txEl>
                                          </p:spTgt>
                                        </p:tgtEl>
                                        <p:attrNameLst>
                                          <p:attrName>ppt_c</p:attrName>
                                        </p:attrNameLst>
                                      </p:cBhvr>
                                      <p:to>
                                        <a:srgbClr val="6D6D6D"/>
                                      </p:to>
                                    </p:animClr>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12324">
                                            <p:txEl>
                                              <p:charRg st="244" end="296"/>
                                            </p:txEl>
                                          </p:spTgt>
                                        </p:tgtEl>
                                        <p:attrNameLst>
                                          <p:attrName>style.visibility</p:attrName>
                                        </p:attrNameLst>
                                      </p:cBhvr>
                                      <p:to>
                                        <p:strVal val="visible"/>
                                      </p:to>
                                    </p:set>
                                    <p:animEffect transition="in" filter="blinds(horizontal)">
                                      <p:cBhvr>
                                        <p:cTn id="37" dur="500"/>
                                        <p:tgtEl>
                                          <p:spTgt spid="312324">
                                            <p:txEl>
                                              <p:charRg st="244" end="296"/>
                                            </p:txEl>
                                          </p:spTgt>
                                        </p:tgtEl>
                                      </p:cBhvr>
                                    </p:animEffect>
                                  </p:childTnLst>
                                  <p:subTnLst>
                                    <p:animClr clrSpc="rgb" dir="cw">
                                      <p:cBhvr override="childStyle">
                                        <p:cTn dur="1" fill="hold" display="0" masterRel="nextClick" afterEffect="1"/>
                                        <p:tgtEl>
                                          <p:spTgt spid="312324">
                                            <p:txEl>
                                              <p:charRg st="244" end="296"/>
                                            </p:txEl>
                                          </p:spTgt>
                                        </p:tgtEl>
                                        <p:attrNameLst>
                                          <p:attrName>ppt_c</p:attrName>
                                        </p:attrNameLst>
                                      </p:cBhvr>
                                      <p:to>
                                        <a:srgbClr val="6D6D6D"/>
                                      </p:to>
                                    </p:animClr>
                                  </p:sub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12324">
                                            <p:txEl>
                                              <p:charRg st="296" end="317"/>
                                            </p:txEl>
                                          </p:spTgt>
                                        </p:tgtEl>
                                        <p:attrNameLst>
                                          <p:attrName>style.visibility</p:attrName>
                                        </p:attrNameLst>
                                      </p:cBhvr>
                                      <p:to>
                                        <p:strVal val="visible"/>
                                      </p:to>
                                    </p:set>
                                    <p:animEffect transition="in" filter="blinds(horizontal)">
                                      <p:cBhvr>
                                        <p:cTn id="42" dur="500"/>
                                        <p:tgtEl>
                                          <p:spTgt spid="312324">
                                            <p:txEl>
                                              <p:charRg st="296" end="317"/>
                                            </p:txEl>
                                          </p:spTgt>
                                        </p:tgtEl>
                                      </p:cBhvr>
                                    </p:animEffect>
                                  </p:childTnLst>
                                  <p:subTnLst>
                                    <p:animClr clrSpc="rgb" dir="cw">
                                      <p:cBhvr override="childStyle">
                                        <p:cTn dur="1" fill="hold" display="0" masterRel="nextClick" afterEffect="1"/>
                                        <p:tgtEl>
                                          <p:spTgt spid="312324">
                                            <p:txEl>
                                              <p:charRg st="296" end="317"/>
                                            </p:txEl>
                                          </p:spTgt>
                                        </p:tgtEl>
                                        <p:attrNameLst>
                                          <p:attrName>ppt_c</p:attrName>
                                        </p:attrNameLst>
                                      </p:cBhvr>
                                      <p:to>
                                        <a:srgbClr val="6D6D6D"/>
                                      </p:to>
                                    </p:animClr>
                                  </p:sub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12324">
                                            <p:txEl>
                                              <p:charRg st="317" end="344"/>
                                            </p:txEl>
                                          </p:spTgt>
                                        </p:tgtEl>
                                        <p:attrNameLst>
                                          <p:attrName>style.visibility</p:attrName>
                                        </p:attrNameLst>
                                      </p:cBhvr>
                                      <p:to>
                                        <p:strVal val="visible"/>
                                      </p:to>
                                    </p:set>
                                    <p:animEffect transition="in" filter="blinds(horizontal)">
                                      <p:cBhvr>
                                        <p:cTn id="47" dur="500"/>
                                        <p:tgtEl>
                                          <p:spTgt spid="312324">
                                            <p:txEl>
                                              <p:charRg st="317" end="344"/>
                                            </p:txEl>
                                          </p:spTgt>
                                        </p:tgtEl>
                                      </p:cBhvr>
                                    </p:animEffect>
                                  </p:childTnLst>
                                  <p:subTnLst>
                                    <p:animClr clrSpc="rgb" dir="cw">
                                      <p:cBhvr override="childStyle">
                                        <p:cTn dur="1" fill="hold" display="0" masterRel="nextClick" afterEffect="1"/>
                                        <p:tgtEl>
                                          <p:spTgt spid="312324">
                                            <p:txEl>
                                              <p:charRg st="317" end="344"/>
                                            </p:txEl>
                                          </p:spTgt>
                                        </p:tgtEl>
                                        <p:attrNameLst>
                                          <p:attrName>ppt_c</p:attrName>
                                        </p:attrNameLst>
                                      </p:cBhvr>
                                      <p:to>
                                        <a:srgbClr val="6D6D6D"/>
                                      </p:to>
                                    </p:animClr>
                                  </p:sub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12324">
                                            <p:txEl>
                                              <p:charRg st="344" end="372"/>
                                            </p:txEl>
                                          </p:spTgt>
                                        </p:tgtEl>
                                        <p:attrNameLst>
                                          <p:attrName>style.visibility</p:attrName>
                                        </p:attrNameLst>
                                      </p:cBhvr>
                                      <p:to>
                                        <p:strVal val="visible"/>
                                      </p:to>
                                    </p:set>
                                    <p:animEffect transition="in" filter="blinds(horizontal)">
                                      <p:cBhvr>
                                        <p:cTn id="52" dur="500"/>
                                        <p:tgtEl>
                                          <p:spTgt spid="312324">
                                            <p:txEl>
                                              <p:charRg st="344" end="372"/>
                                            </p:txEl>
                                          </p:spTgt>
                                        </p:tgtEl>
                                      </p:cBhvr>
                                    </p:animEffect>
                                  </p:childTnLst>
                                  <p:subTnLst>
                                    <p:animClr clrSpc="rgb" dir="cw">
                                      <p:cBhvr override="childStyle">
                                        <p:cTn dur="1" fill="hold" display="0" masterRel="nextClick" afterEffect="1"/>
                                        <p:tgtEl>
                                          <p:spTgt spid="312324">
                                            <p:txEl>
                                              <p:charRg st="344" end="372"/>
                                            </p:txEl>
                                          </p:spTgt>
                                        </p:tgtEl>
                                        <p:attrNameLst>
                                          <p:attrName>ppt_c</p:attrName>
                                        </p:attrNameLst>
                                      </p:cBhvr>
                                      <p:to>
                                        <a:srgbClr val="6D6D6D"/>
                                      </p:to>
                                    </p:animClr>
                                  </p:sub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12324">
                                            <p:txEl>
                                              <p:charRg st="372" end="404"/>
                                            </p:txEl>
                                          </p:spTgt>
                                        </p:tgtEl>
                                        <p:attrNameLst>
                                          <p:attrName>style.visibility</p:attrName>
                                        </p:attrNameLst>
                                      </p:cBhvr>
                                      <p:to>
                                        <p:strVal val="visible"/>
                                      </p:to>
                                    </p:set>
                                    <p:animEffect transition="in" filter="blinds(horizontal)">
                                      <p:cBhvr>
                                        <p:cTn id="57" dur="500"/>
                                        <p:tgtEl>
                                          <p:spTgt spid="312324">
                                            <p:txEl>
                                              <p:charRg st="372" end="404"/>
                                            </p:txEl>
                                          </p:spTgt>
                                        </p:tgtEl>
                                      </p:cBhvr>
                                    </p:animEffect>
                                  </p:childTnLst>
                                  <p:subTnLst>
                                    <p:animClr clrSpc="rgb" dir="cw">
                                      <p:cBhvr override="childStyle">
                                        <p:cTn dur="1" fill="hold" display="0" masterRel="nextClick" afterEffect="1"/>
                                        <p:tgtEl>
                                          <p:spTgt spid="312324">
                                            <p:txEl>
                                              <p:charRg st="372" end="404"/>
                                            </p:txEl>
                                          </p:spTgt>
                                        </p:tgtEl>
                                        <p:attrNameLst>
                                          <p:attrName>ppt_c</p:attrName>
                                        </p:attrNameLst>
                                      </p:cBhvr>
                                      <p:to>
                                        <a:srgbClr val="6D6D6D"/>
                                      </p:to>
                                    </p:animClr>
                                  </p:sub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12324">
                                            <p:txEl>
                                              <p:charRg st="404" end="435"/>
                                            </p:txEl>
                                          </p:spTgt>
                                        </p:tgtEl>
                                        <p:attrNameLst>
                                          <p:attrName>style.visibility</p:attrName>
                                        </p:attrNameLst>
                                      </p:cBhvr>
                                      <p:to>
                                        <p:strVal val="visible"/>
                                      </p:to>
                                    </p:set>
                                    <p:animEffect transition="in" filter="blinds(horizontal)">
                                      <p:cBhvr>
                                        <p:cTn id="62" dur="500"/>
                                        <p:tgtEl>
                                          <p:spTgt spid="312324">
                                            <p:txEl>
                                              <p:charRg st="404" end="435"/>
                                            </p:txEl>
                                          </p:spTgt>
                                        </p:tgtEl>
                                      </p:cBhvr>
                                    </p:animEffect>
                                  </p:childTnLst>
                                  <p:subTnLst>
                                    <p:animClr clrSpc="rgb" dir="cw">
                                      <p:cBhvr override="childStyle">
                                        <p:cTn dur="1" fill="hold" display="0" masterRel="nextClick" afterEffect="1"/>
                                        <p:tgtEl>
                                          <p:spTgt spid="312324">
                                            <p:txEl>
                                              <p:charRg st="404" end="435"/>
                                            </p:txEl>
                                          </p:spTgt>
                                        </p:tgtEl>
                                        <p:attrNameLst>
                                          <p:attrName>ppt_c</p:attrName>
                                        </p:attrNameLst>
                                      </p:cBhvr>
                                      <p:to>
                                        <a:srgbClr val="6D6D6D"/>
                                      </p:to>
                                    </p:animClr>
                                  </p:sub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1232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内容占位符 2"/>
          <p:cNvSpPr>
            <a:spLocks noGrp="1"/>
          </p:cNvSpPr>
          <p:nvPr>
            <p:ph idx="1"/>
          </p:nvPr>
        </p:nvSpPr>
        <p:spPr>
          <a:ln/>
        </p:spPr>
        <p:txBody>
          <a:bodyPr lIns="63500" tIns="25400" rIns="63500" bIns="25400" anchor="t" anchorCtr="0">
            <a:spAutoFit/>
          </a:bodyPr>
          <a:p>
            <a:endParaRPr lang="zh-CN" altLang="en-US"/>
          </a:p>
        </p:txBody>
      </p:sp>
      <p:sp>
        <p:nvSpPr>
          <p:cNvPr id="2" name="标题 1"/>
          <p:cNvSpPr/>
          <p:nvPr>
            <p:ph type="title"/>
          </p:nvPr>
        </p:nvSpPr>
        <p:spPr/>
        <p:txBody>
          <a:bodyPr/>
          <a:p>
            <a:endParaRPr lang="zh-CN" altLang="en-US"/>
          </a:p>
        </p:txBody>
      </p:sp>
      <p:sp>
        <p:nvSpPr>
          <p:cNvPr id="3" name="标题 312321"/>
          <p:cNvSpPr>
            <a:spLocks noGrp="1"/>
          </p:cNvSpPr>
          <p:nvPr/>
        </p:nvSpPr>
        <p:spPr>
          <a:xfrm>
            <a:off x="1342390" y="3162935"/>
            <a:ext cx="6053138" cy="532130"/>
          </a:xfrm>
          <a:prstGeom prst="rect">
            <a:avLst/>
          </a:prstGeom>
          <a:noFill/>
          <a:ln w="12700">
            <a:noFill/>
          </a:ln>
        </p:spPr>
        <p:txBody>
          <a:bodyPr wrap="square" lIns="63500" tIns="25400" rIns="63500" bIns="25400" anchor="t" anchorCtr="0">
            <a:spAutoFit/>
          </a:bodyPr>
          <a:lstStyle>
            <a:lvl1pPr marL="0" lvl="0" indent="0" algn="ctr" defTabSz="914400" rtl="0" eaLnBrk="0" fontAlgn="base" latinLnBrk="0" hangingPunct="0">
              <a:lnSpc>
                <a:spcPct val="87000"/>
              </a:lnSpc>
              <a:spcBef>
                <a:spcPct val="0"/>
              </a:spcBef>
              <a:spcAft>
                <a:spcPct val="0"/>
              </a:spcAft>
              <a:buNone/>
              <a:defRPr sz="3600" b="1" i="0" u="none" kern="1200" baseline="0">
                <a:solidFill>
                  <a:srgbClr val="CC3300"/>
                </a:solidFill>
                <a:latin typeface="+mj-lt"/>
                <a:ea typeface="+mj-ea"/>
                <a:cs typeface="+mj-cs"/>
              </a:defRPr>
            </a:lvl1pPr>
          </a:lstStyle>
          <a:p>
            <a:r>
              <a:rPr lang="zh-CN" altLang="en-US" dirty="0">
                <a:ea typeface="宋体" panose="02010600030101010101" pitchFamily="2" charset="-122"/>
              </a:rPr>
              <a:t>第四讲 流水线初探</a:t>
            </a:r>
            <a:endParaRPr lang="en-US" altLang="zh-CN" dirty="0">
              <a:ea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69" name="标题 548865"/>
          <p:cNvSpPr>
            <a:spLocks noGrp="1"/>
          </p:cNvSpPr>
          <p:nvPr>
            <p:ph type="title"/>
          </p:nvPr>
        </p:nvSpPr>
        <p:spPr>
          <a:xfrm>
            <a:off x="268288" y="158750"/>
            <a:ext cx="7781925" cy="422275"/>
          </a:xfrm>
          <a:ln/>
        </p:spPr>
        <p:txBody>
          <a:bodyPr vert="horz" wrap="square" lIns="63500" tIns="25400" rIns="63500" bIns="25400" anchor="t" anchorCtr="0">
            <a:spAutoFit/>
          </a:bodyPr>
          <a:p>
            <a:pPr algn="l"/>
            <a:r>
              <a:rPr lang="zh-CN" altLang="en-US" sz="2800" dirty="0">
                <a:ea typeface="微软雅黑" panose="020B0503020204020204" pitchFamily="34" charset="-122"/>
              </a:rPr>
              <a:t>单周期数据通路中的关键路径 </a:t>
            </a:r>
            <a:r>
              <a:rPr lang="en-US" altLang="zh-CN" sz="2800">
                <a:ea typeface="宋体" panose="02010600030101010101" pitchFamily="2" charset="-122"/>
              </a:rPr>
              <a:t>( Load</a:t>
            </a:r>
            <a:r>
              <a:rPr lang="zh-CN" altLang="en-US" sz="2800" dirty="0"/>
              <a:t>操作</a:t>
            </a:r>
            <a:r>
              <a:rPr lang="zh-CN" altLang="en-US" sz="2800" dirty="0">
                <a:ea typeface="宋体" panose="02010600030101010101" pitchFamily="2" charset="-122"/>
              </a:rPr>
              <a:t> </a:t>
            </a:r>
            <a:r>
              <a:rPr lang="en-US" altLang="zh-CN" sz="2800">
                <a:ea typeface="宋体" panose="02010600030101010101" pitchFamily="2" charset="-122"/>
              </a:rPr>
              <a:t>)</a:t>
            </a:r>
            <a:endParaRPr lang="en-US" altLang="zh-CN" sz="2800">
              <a:ea typeface="宋体" panose="02010600030101010101" pitchFamily="2" charset="-122"/>
            </a:endParaRPr>
          </a:p>
        </p:txBody>
      </p:sp>
      <p:grpSp>
        <p:nvGrpSpPr>
          <p:cNvPr id="160770" name="组合 548867"/>
          <p:cNvGrpSpPr/>
          <p:nvPr/>
        </p:nvGrpSpPr>
        <p:grpSpPr>
          <a:xfrm>
            <a:off x="217488" y="2252663"/>
            <a:ext cx="8780462" cy="4356100"/>
            <a:chOff x="137" y="1419"/>
            <a:chExt cx="5531" cy="2744"/>
          </a:xfrm>
        </p:grpSpPr>
        <p:sp>
          <p:nvSpPr>
            <p:cNvPr id="160771" name="直接连接符 548868"/>
            <p:cNvSpPr/>
            <p:nvPr/>
          </p:nvSpPr>
          <p:spPr>
            <a:xfrm>
              <a:off x="2345" y="3683"/>
              <a:ext cx="688" cy="0"/>
            </a:xfrm>
            <a:prstGeom prst="line">
              <a:avLst/>
            </a:prstGeom>
            <a:ln w="50800" cap="flat" cmpd="sng">
              <a:solidFill>
                <a:schemeClr val="accent1"/>
              </a:solidFill>
              <a:prstDash val="solid"/>
              <a:round/>
              <a:headEnd type="none" w="med" len="med"/>
              <a:tailEnd type="triangle" w="med" len="med"/>
            </a:ln>
          </p:spPr>
        </p:sp>
        <p:sp>
          <p:nvSpPr>
            <p:cNvPr id="160772" name="矩形 548869"/>
            <p:cNvSpPr/>
            <p:nvPr/>
          </p:nvSpPr>
          <p:spPr>
            <a:xfrm>
              <a:off x="1087" y="3518"/>
              <a:ext cx="338"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160773" name="矩形 548870"/>
            <p:cNvSpPr/>
            <p:nvPr/>
          </p:nvSpPr>
          <p:spPr>
            <a:xfrm>
              <a:off x="1504" y="3048"/>
              <a:ext cx="818" cy="748"/>
            </a:xfrm>
            <a:prstGeom prst="rect">
              <a:avLst/>
            </a:prstGeom>
            <a:noFill/>
            <a:ln w="508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0774" name="直接连接符 548871"/>
            <p:cNvSpPr/>
            <p:nvPr/>
          </p:nvSpPr>
          <p:spPr>
            <a:xfrm>
              <a:off x="1518" y="3652"/>
              <a:ext cx="128" cy="53"/>
            </a:xfrm>
            <a:prstGeom prst="line">
              <a:avLst/>
            </a:prstGeom>
            <a:ln w="25400" cap="flat" cmpd="sng">
              <a:solidFill>
                <a:schemeClr val="tx1"/>
              </a:solidFill>
              <a:prstDash val="solid"/>
              <a:round/>
              <a:headEnd type="none" w="med" len="med"/>
              <a:tailEnd type="none" w="med" len="med"/>
            </a:ln>
          </p:spPr>
        </p:sp>
        <p:sp>
          <p:nvSpPr>
            <p:cNvPr id="160775" name="直接连接符 548872"/>
            <p:cNvSpPr/>
            <p:nvPr/>
          </p:nvSpPr>
          <p:spPr>
            <a:xfrm flipH="1">
              <a:off x="1502" y="3712"/>
              <a:ext cx="135" cy="68"/>
            </a:xfrm>
            <a:prstGeom prst="line">
              <a:avLst/>
            </a:prstGeom>
            <a:ln w="25400" cap="flat" cmpd="sng">
              <a:solidFill>
                <a:schemeClr val="tx1"/>
              </a:solidFill>
              <a:prstDash val="solid"/>
              <a:round/>
              <a:headEnd type="none" w="med" len="med"/>
              <a:tailEnd type="none" w="med" len="med"/>
            </a:ln>
          </p:spPr>
        </p:sp>
        <p:sp>
          <p:nvSpPr>
            <p:cNvPr id="160776" name="椭圆 548873"/>
            <p:cNvSpPr/>
            <p:nvPr/>
          </p:nvSpPr>
          <p:spPr>
            <a:xfrm>
              <a:off x="1408" y="3676"/>
              <a:ext cx="72"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0777" name="直接连接符 548874"/>
            <p:cNvSpPr/>
            <p:nvPr/>
          </p:nvSpPr>
          <p:spPr>
            <a:xfrm flipH="1">
              <a:off x="1131" y="3704"/>
              <a:ext cx="283" cy="0"/>
            </a:xfrm>
            <a:prstGeom prst="line">
              <a:avLst/>
            </a:prstGeom>
            <a:ln w="25400" cap="flat" cmpd="sng">
              <a:solidFill>
                <a:schemeClr val="tx1"/>
              </a:solidFill>
              <a:prstDash val="solid"/>
              <a:round/>
              <a:headEnd type="none" w="med" len="med"/>
              <a:tailEnd type="none" w="med" len="med"/>
            </a:ln>
          </p:spPr>
        </p:sp>
        <p:sp>
          <p:nvSpPr>
            <p:cNvPr id="160778" name="直接连接符 548875"/>
            <p:cNvSpPr/>
            <p:nvPr/>
          </p:nvSpPr>
          <p:spPr>
            <a:xfrm>
              <a:off x="1609" y="2385"/>
              <a:ext cx="8" cy="656"/>
            </a:xfrm>
            <a:prstGeom prst="line">
              <a:avLst/>
            </a:prstGeom>
            <a:ln w="50800" cap="flat" cmpd="sng">
              <a:solidFill>
                <a:schemeClr val="accent1"/>
              </a:solidFill>
              <a:prstDash val="solid"/>
              <a:round/>
              <a:headEnd type="none" w="med" len="med"/>
              <a:tailEnd type="triangle" w="med" len="med"/>
            </a:ln>
          </p:spPr>
        </p:sp>
        <p:sp>
          <p:nvSpPr>
            <p:cNvPr id="160779" name="直接连接符 548876"/>
            <p:cNvSpPr/>
            <p:nvPr/>
          </p:nvSpPr>
          <p:spPr>
            <a:xfrm flipV="1">
              <a:off x="1565" y="2644"/>
              <a:ext cx="119" cy="131"/>
            </a:xfrm>
            <a:prstGeom prst="line">
              <a:avLst/>
            </a:prstGeom>
            <a:ln w="12700" cap="flat" cmpd="sng">
              <a:solidFill>
                <a:schemeClr val="tx1"/>
              </a:solidFill>
              <a:prstDash val="solid"/>
              <a:round/>
              <a:headEnd type="none" w="med" len="med"/>
              <a:tailEnd type="none" w="med" len="med"/>
            </a:ln>
          </p:spPr>
        </p:sp>
        <p:sp>
          <p:nvSpPr>
            <p:cNvPr id="160780" name="矩形 548877"/>
            <p:cNvSpPr/>
            <p:nvPr/>
          </p:nvSpPr>
          <p:spPr>
            <a:xfrm>
              <a:off x="1455" y="2552"/>
              <a:ext cx="233" cy="229"/>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60781" name="矩形 548878"/>
            <p:cNvSpPr/>
            <p:nvPr/>
          </p:nvSpPr>
          <p:spPr>
            <a:xfrm>
              <a:off x="1519" y="3032"/>
              <a:ext cx="330"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Rw</a:t>
              </a:r>
              <a:endParaRPr lang="en-US" altLang="zh-CN" sz="1800">
                <a:latin typeface="Arial" panose="020B0604020202020204" pitchFamily="34" charset="0"/>
                <a:ea typeface="宋体" panose="02010600030101010101" pitchFamily="2" charset="-122"/>
              </a:endParaRPr>
            </a:p>
          </p:txBody>
        </p:sp>
        <p:sp>
          <p:nvSpPr>
            <p:cNvPr id="160782" name="矩形 548879"/>
            <p:cNvSpPr/>
            <p:nvPr/>
          </p:nvSpPr>
          <p:spPr>
            <a:xfrm>
              <a:off x="1786" y="3032"/>
              <a:ext cx="298"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Ra</a:t>
              </a:r>
              <a:endParaRPr lang="en-US" altLang="zh-CN" sz="1800">
                <a:latin typeface="Arial" panose="020B0604020202020204" pitchFamily="34" charset="0"/>
                <a:ea typeface="宋体" panose="02010600030101010101" pitchFamily="2" charset="-122"/>
              </a:endParaRPr>
            </a:p>
          </p:txBody>
        </p:sp>
        <p:sp>
          <p:nvSpPr>
            <p:cNvPr id="160783" name="矩形 548880"/>
            <p:cNvSpPr/>
            <p:nvPr/>
          </p:nvSpPr>
          <p:spPr>
            <a:xfrm>
              <a:off x="2055" y="3032"/>
              <a:ext cx="306"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Rb</a:t>
              </a:r>
              <a:endParaRPr lang="en-US" altLang="zh-CN" sz="1800">
                <a:latin typeface="Arial" panose="020B0604020202020204" pitchFamily="34" charset="0"/>
                <a:ea typeface="宋体" panose="02010600030101010101" pitchFamily="2" charset="-122"/>
              </a:endParaRPr>
            </a:p>
          </p:txBody>
        </p:sp>
        <p:sp>
          <p:nvSpPr>
            <p:cNvPr id="160784" name="矩形 548881"/>
            <p:cNvSpPr/>
            <p:nvPr/>
          </p:nvSpPr>
          <p:spPr>
            <a:xfrm>
              <a:off x="1561" y="3224"/>
              <a:ext cx="770" cy="402"/>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 </a:t>
              </a:r>
              <a:r>
                <a:rPr lang="zh-CN" altLang="en-US" sz="1800" dirty="0">
                  <a:latin typeface="Arial" panose="020B0604020202020204" pitchFamily="34" charset="0"/>
                  <a:ea typeface="宋体" panose="02010600030101010101" pitchFamily="2" charset="-122"/>
                </a:rPr>
                <a:t>32-</a:t>
              </a:r>
              <a:r>
                <a:rPr lang="en-US" altLang="zh-CN" sz="1800">
                  <a:latin typeface="Arial" panose="020B0604020202020204" pitchFamily="34" charset="0"/>
                  <a:ea typeface="宋体" panose="02010600030101010101" pitchFamily="2" charset="-122"/>
                </a:rPr>
                <a:t>bit</a:t>
              </a:r>
              <a:endParaRPr lang="en-US" altLang="zh-CN" sz="1800">
                <a:latin typeface="Arial" panose="020B0604020202020204" pitchFamily="34" charset="0"/>
                <a:ea typeface="宋体" panose="02010600030101010101" pitchFamily="2" charset="-122"/>
              </a:endParaRPr>
            </a:p>
            <a:p>
              <a:pPr eaLnBrk="0" hangingPunct="0"/>
              <a:r>
                <a:rPr lang="en-US" altLang="zh-CN" sz="1800">
                  <a:latin typeface="Arial" panose="020B0604020202020204" pitchFamily="34" charset="0"/>
                  <a:ea typeface="宋体" panose="02010600030101010101" pitchFamily="2" charset="-122"/>
                </a:rPr>
                <a:t>Registers</a:t>
              </a:r>
              <a:endParaRPr lang="en-US" altLang="zh-CN" sz="1800">
                <a:latin typeface="Arial" panose="020B0604020202020204" pitchFamily="34" charset="0"/>
                <a:ea typeface="宋体" panose="02010600030101010101" pitchFamily="2" charset="-122"/>
              </a:endParaRPr>
            </a:p>
          </p:txBody>
        </p:sp>
        <p:sp>
          <p:nvSpPr>
            <p:cNvPr id="160785" name="矩形 548882"/>
            <p:cNvSpPr/>
            <p:nvPr/>
          </p:nvSpPr>
          <p:spPr>
            <a:xfrm>
              <a:off x="1340" y="2408"/>
              <a:ext cx="30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nvGrpSpPr>
            <p:cNvPr id="160786" name="组合 548883"/>
            <p:cNvGrpSpPr/>
            <p:nvPr/>
          </p:nvGrpSpPr>
          <p:grpSpPr>
            <a:xfrm>
              <a:off x="3033" y="3040"/>
              <a:ext cx="288" cy="768"/>
              <a:chOff x="3057" y="2968"/>
              <a:chExt cx="288" cy="768"/>
            </a:xfrm>
          </p:grpSpPr>
          <p:sp>
            <p:nvSpPr>
              <p:cNvPr id="160787" name="直接连接符 548884"/>
              <p:cNvSpPr/>
              <p:nvPr/>
            </p:nvSpPr>
            <p:spPr>
              <a:xfrm>
                <a:off x="3057" y="2968"/>
                <a:ext cx="0" cy="176"/>
              </a:xfrm>
              <a:prstGeom prst="line">
                <a:avLst/>
              </a:prstGeom>
              <a:ln w="25400" cap="flat" cmpd="sng">
                <a:solidFill>
                  <a:schemeClr val="tx1"/>
                </a:solidFill>
                <a:prstDash val="solid"/>
                <a:round/>
                <a:headEnd type="none" w="med" len="med"/>
                <a:tailEnd type="none" w="med" len="med"/>
              </a:ln>
            </p:spPr>
          </p:sp>
          <p:sp>
            <p:nvSpPr>
              <p:cNvPr id="160788" name="直接连接符 548885"/>
              <p:cNvSpPr/>
              <p:nvPr/>
            </p:nvSpPr>
            <p:spPr>
              <a:xfrm>
                <a:off x="3065" y="2968"/>
                <a:ext cx="272" cy="176"/>
              </a:xfrm>
              <a:prstGeom prst="line">
                <a:avLst/>
              </a:prstGeom>
              <a:ln w="25400" cap="flat" cmpd="sng">
                <a:solidFill>
                  <a:schemeClr val="tx1"/>
                </a:solidFill>
                <a:prstDash val="solid"/>
                <a:round/>
                <a:headEnd type="none" w="med" len="med"/>
                <a:tailEnd type="none" w="med" len="med"/>
              </a:ln>
            </p:spPr>
          </p:sp>
          <p:sp>
            <p:nvSpPr>
              <p:cNvPr id="160789" name="直接连接符 548886"/>
              <p:cNvSpPr/>
              <p:nvPr/>
            </p:nvSpPr>
            <p:spPr>
              <a:xfrm>
                <a:off x="3065" y="3160"/>
                <a:ext cx="128" cy="80"/>
              </a:xfrm>
              <a:prstGeom prst="line">
                <a:avLst/>
              </a:prstGeom>
              <a:ln w="25400" cap="flat" cmpd="sng">
                <a:solidFill>
                  <a:schemeClr val="tx1"/>
                </a:solidFill>
                <a:prstDash val="solid"/>
                <a:round/>
                <a:headEnd type="none" w="med" len="med"/>
                <a:tailEnd type="none" w="med" len="med"/>
              </a:ln>
            </p:spPr>
          </p:sp>
          <p:sp>
            <p:nvSpPr>
              <p:cNvPr id="160790" name="直接连接符 548887"/>
              <p:cNvSpPr/>
              <p:nvPr/>
            </p:nvSpPr>
            <p:spPr>
              <a:xfrm>
                <a:off x="3201" y="3256"/>
                <a:ext cx="0" cy="176"/>
              </a:xfrm>
              <a:prstGeom prst="line">
                <a:avLst/>
              </a:prstGeom>
              <a:ln w="25400" cap="flat" cmpd="sng">
                <a:solidFill>
                  <a:schemeClr val="tx1"/>
                </a:solidFill>
                <a:prstDash val="solid"/>
                <a:round/>
                <a:headEnd type="none" w="med" len="med"/>
                <a:tailEnd type="none" w="med" len="med"/>
              </a:ln>
            </p:spPr>
          </p:sp>
          <p:sp>
            <p:nvSpPr>
              <p:cNvPr id="160791" name="直接连接符 548888"/>
              <p:cNvSpPr/>
              <p:nvPr/>
            </p:nvSpPr>
            <p:spPr>
              <a:xfrm>
                <a:off x="3345" y="3160"/>
                <a:ext cx="0" cy="368"/>
              </a:xfrm>
              <a:prstGeom prst="line">
                <a:avLst/>
              </a:prstGeom>
              <a:ln w="25400" cap="flat" cmpd="sng">
                <a:solidFill>
                  <a:schemeClr val="tx1"/>
                </a:solidFill>
                <a:prstDash val="solid"/>
                <a:round/>
                <a:headEnd type="none" w="med" len="med"/>
                <a:tailEnd type="none" w="med" len="med"/>
              </a:ln>
            </p:spPr>
          </p:sp>
          <p:sp>
            <p:nvSpPr>
              <p:cNvPr id="160792" name="直接连接符 548889"/>
              <p:cNvSpPr/>
              <p:nvPr/>
            </p:nvSpPr>
            <p:spPr>
              <a:xfrm flipV="1">
                <a:off x="3065" y="3432"/>
                <a:ext cx="128" cy="112"/>
              </a:xfrm>
              <a:prstGeom prst="line">
                <a:avLst/>
              </a:prstGeom>
              <a:ln w="25400" cap="flat" cmpd="sng">
                <a:solidFill>
                  <a:schemeClr val="tx1"/>
                </a:solidFill>
                <a:prstDash val="solid"/>
                <a:round/>
                <a:headEnd type="none" w="med" len="med"/>
                <a:tailEnd type="none" w="med" len="med"/>
              </a:ln>
            </p:spPr>
          </p:sp>
          <p:sp>
            <p:nvSpPr>
              <p:cNvPr id="160793" name="直接连接符 548890"/>
              <p:cNvSpPr/>
              <p:nvPr/>
            </p:nvSpPr>
            <p:spPr>
              <a:xfrm>
                <a:off x="3057" y="3544"/>
                <a:ext cx="0" cy="176"/>
              </a:xfrm>
              <a:prstGeom prst="line">
                <a:avLst/>
              </a:prstGeom>
              <a:ln w="25400" cap="flat" cmpd="sng">
                <a:solidFill>
                  <a:schemeClr val="tx1"/>
                </a:solidFill>
                <a:prstDash val="solid"/>
                <a:round/>
                <a:headEnd type="none" w="med" len="med"/>
                <a:tailEnd type="none" w="med" len="med"/>
              </a:ln>
            </p:spPr>
          </p:sp>
          <p:sp>
            <p:nvSpPr>
              <p:cNvPr id="160794" name="直接连接符 548891"/>
              <p:cNvSpPr/>
              <p:nvPr/>
            </p:nvSpPr>
            <p:spPr>
              <a:xfrm flipV="1">
                <a:off x="3065" y="3528"/>
                <a:ext cx="272" cy="208"/>
              </a:xfrm>
              <a:prstGeom prst="line">
                <a:avLst/>
              </a:prstGeom>
              <a:ln w="25400" cap="flat" cmpd="sng">
                <a:solidFill>
                  <a:schemeClr val="tx1"/>
                </a:solidFill>
                <a:prstDash val="solid"/>
                <a:round/>
                <a:headEnd type="none" w="med" len="med"/>
                <a:tailEnd type="none" w="med" len="med"/>
              </a:ln>
            </p:spPr>
          </p:sp>
        </p:grpSp>
        <p:sp>
          <p:nvSpPr>
            <p:cNvPr id="160795" name="矩形 548892"/>
            <p:cNvSpPr/>
            <p:nvPr/>
          </p:nvSpPr>
          <p:spPr>
            <a:xfrm rot="5400000">
              <a:off x="3034" y="3286"/>
              <a:ext cx="410"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ALU</a:t>
              </a:r>
              <a:endParaRPr lang="en-US" altLang="zh-CN" sz="1800">
                <a:latin typeface="Arial" panose="020B0604020202020204" pitchFamily="34" charset="0"/>
                <a:ea typeface="宋体" panose="02010600030101010101" pitchFamily="2" charset="-122"/>
              </a:endParaRPr>
            </a:p>
          </p:txBody>
        </p:sp>
        <p:sp>
          <p:nvSpPr>
            <p:cNvPr id="160796" name="矩形 548893"/>
            <p:cNvSpPr/>
            <p:nvPr/>
          </p:nvSpPr>
          <p:spPr>
            <a:xfrm>
              <a:off x="4028" y="3844"/>
              <a:ext cx="338"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160797" name="矩形 548894"/>
            <p:cNvSpPr/>
            <p:nvPr/>
          </p:nvSpPr>
          <p:spPr>
            <a:xfrm>
              <a:off x="3613" y="3405"/>
              <a:ext cx="686" cy="229"/>
            </a:xfrm>
            <a:prstGeom prst="rect">
              <a:avLst/>
            </a:prstGeom>
            <a:noFill/>
            <a:ln w="12700">
              <a:noFill/>
            </a:ln>
          </p:spPr>
          <p:txBody>
            <a:bodyPr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DataIn</a:t>
              </a:r>
              <a:endParaRPr lang="en-US" altLang="zh-CN" sz="1800">
                <a:latin typeface="Arial" panose="020B0604020202020204" pitchFamily="34" charset="0"/>
                <a:ea typeface="宋体" panose="02010600030101010101" pitchFamily="2" charset="-122"/>
              </a:endParaRPr>
            </a:p>
          </p:txBody>
        </p:sp>
        <p:sp>
          <p:nvSpPr>
            <p:cNvPr id="160798" name="矩形 548895"/>
            <p:cNvSpPr/>
            <p:nvPr/>
          </p:nvSpPr>
          <p:spPr>
            <a:xfrm>
              <a:off x="4217" y="3075"/>
              <a:ext cx="757" cy="685"/>
            </a:xfrm>
            <a:prstGeom prst="rect">
              <a:avLst/>
            </a:prstGeom>
            <a:noFill/>
            <a:ln w="508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0799" name="直接连接符 548896"/>
            <p:cNvSpPr/>
            <p:nvPr/>
          </p:nvSpPr>
          <p:spPr>
            <a:xfrm flipV="1">
              <a:off x="4252" y="3653"/>
              <a:ext cx="78" cy="110"/>
            </a:xfrm>
            <a:prstGeom prst="line">
              <a:avLst/>
            </a:prstGeom>
            <a:ln w="25400" cap="flat" cmpd="sng">
              <a:solidFill>
                <a:schemeClr val="tx1"/>
              </a:solidFill>
              <a:prstDash val="solid"/>
              <a:round/>
              <a:headEnd type="none" w="med" len="med"/>
              <a:tailEnd type="none" w="med" len="med"/>
            </a:ln>
          </p:spPr>
        </p:sp>
        <p:sp>
          <p:nvSpPr>
            <p:cNvPr id="160800" name="直接连接符 548897"/>
            <p:cNvSpPr/>
            <p:nvPr/>
          </p:nvSpPr>
          <p:spPr>
            <a:xfrm>
              <a:off x="4322" y="3644"/>
              <a:ext cx="60" cy="103"/>
            </a:xfrm>
            <a:prstGeom prst="line">
              <a:avLst/>
            </a:prstGeom>
            <a:ln w="25400" cap="flat" cmpd="sng">
              <a:solidFill>
                <a:schemeClr val="tx1"/>
              </a:solidFill>
              <a:prstDash val="solid"/>
              <a:round/>
              <a:headEnd type="none" w="med" len="med"/>
              <a:tailEnd type="none" w="med" len="med"/>
            </a:ln>
          </p:spPr>
        </p:sp>
        <p:sp>
          <p:nvSpPr>
            <p:cNvPr id="160801" name="椭圆 548898"/>
            <p:cNvSpPr/>
            <p:nvPr/>
          </p:nvSpPr>
          <p:spPr>
            <a:xfrm>
              <a:off x="4276" y="3784"/>
              <a:ext cx="81" cy="69"/>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0802" name="矩形 548899"/>
            <p:cNvSpPr/>
            <p:nvPr/>
          </p:nvSpPr>
          <p:spPr>
            <a:xfrm>
              <a:off x="4994" y="3173"/>
              <a:ext cx="674"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DataOut</a:t>
              </a:r>
              <a:endParaRPr lang="en-US" altLang="zh-CN" sz="1800">
                <a:latin typeface="Arial" panose="020B0604020202020204" pitchFamily="34" charset="0"/>
                <a:ea typeface="宋体" panose="02010600030101010101" pitchFamily="2" charset="-122"/>
              </a:endParaRPr>
            </a:p>
          </p:txBody>
        </p:sp>
        <p:sp>
          <p:nvSpPr>
            <p:cNvPr id="160803" name="直接连接符 548900"/>
            <p:cNvSpPr/>
            <p:nvPr/>
          </p:nvSpPr>
          <p:spPr>
            <a:xfrm>
              <a:off x="4321" y="3848"/>
              <a:ext cx="5" cy="176"/>
            </a:xfrm>
            <a:prstGeom prst="line">
              <a:avLst/>
            </a:prstGeom>
            <a:ln w="25400" cap="flat" cmpd="sng">
              <a:solidFill>
                <a:schemeClr val="tx1"/>
              </a:solidFill>
              <a:prstDash val="solid"/>
              <a:round/>
              <a:headEnd type="none" w="med" len="med"/>
              <a:tailEnd type="none" w="med" len="med"/>
            </a:ln>
          </p:spPr>
        </p:sp>
        <p:sp>
          <p:nvSpPr>
            <p:cNvPr id="160804" name="直接连接符 548901"/>
            <p:cNvSpPr/>
            <p:nvPr/>
          </p:nvSpPr>
          <p:spPr>
            <a:xfrm flipV="1">
              <a:off x="3334" y="3299"/>
              <a:ext cx="896" cy="0"/>
            </a:xfrm>
            <a:prstGeom prst="line">
              <a:avLst/>
            </a:prstGeom>
            <a:ln w="50800" cap="flat" cmpd="sng">
              <a:solidFill>
                <a:schemeClr val="accent1"/>
              </a:solidFill>
              <a:prstDash val="solid"/>
              <a:round/>
              <a:headEnd type="none" w="med" len="med"/>
              <a:tailEnd type="triangle" w="med" len="med"/>
            </a:ln>
          </p:spPr>
        </p:sp>
        <p:sp>
          <p:nvSpPr>
            <p:cNvPr id="160805" name="矩形 548902"/>
            <p:cNvSpPr/>
            <p:nvPr/>
          </p:nvSpPr>
          <p:spPr>
            <a:xfrm>
              <a:off x="3534" y="2913"/>
              <a:ext cx="690" cy="402"/>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160806" name="矩形 548903"/>
            <p:cNvSpPr/>
            <p:nvPr/>
          </p:nvSpPr>
          <p:spPr>
            <a:xfrm>
              <a:off x="4259" y="3080"/>
              <a:ext cx="666" cy="5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Ideal</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Data</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60807" name="矩形 548904"/>
            <p:cNvSpPr/>
            <p:nvPr/>
          </p:nvSpPr>
          <p:spPr>
            <a:xfrm>
              <a:off x="567" y="2046"/>
              <a:ext cx="782" cy="757"/>
            </a:xfrm>
            <a:prstGeom prst="rect">
              <a:avLst/>
            </a:prstGeom>
            <a:noFill/>
            <a:ln w="508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0808" name="矩形 548905"/>
            <p:cNvSpPr/>
            <p:nvPr/>
          </p:nvSpPr>
          <p:spPr>
            <a:xfrm>
              <a:off x="1543" y="2176"/>
              <a:ext cx="115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 bus</a:t>
              </a:r>
              <a:endParaRPr lang="en-US" altLang="zh-CN" sz="1800">
                <a:latin typeface="Arial" panose="020B0604020202020204" pitchFamily="34" charset="0"/>
                <a:ea typeface="宋体" panose="02010600030101010101" pitchFamily="2" charset="-122"/>
              </a:endParaRPr>
            </a:p>
          </p:txBody>
        </p:sp>
        <p:sp>
          <p:nvSpPr>
            <p:cNvPr id="160809" name="直接连接符 548906"/>
            <p:cNvSpPr/>
            <p:nvPr/>
          </p:nvSpPr>
          <p:spPr>
            <a:xfrm>
              <a:off x="1384" y="2376"/>
              <a:ext cx="878" cy="0"/>
            </a:xfrm>
            <a:prstGeom prst="line">
              <a:avLst/>
            </a:prstGeom>
            <a:ln w="50800" cap="flat" cmpd="sng">
              <a:solidFill>
                <a:schemeClr val="accent1"/>
              </a:solidFill>
              <a:prstDash val="solid"/>
              <a:round/>
              <a:headEnd type="none" w="med" len="med"/>
              <a:tailEnd type="none" w="med" len="med"/>
            </a:ln>
          </p:spPr>
        </p:sp>
        <p:sp>
          <p:nvSpPr>
            <p:cNvPr id="160810" name="直接连接符 548907"/>
            <p:cNvSpPr/>
            <p:nvPr/>
          </p:nvSpPr>
          <p:spPr>
            <a:xfrm>
              <a:off x="929" y="1728"/>
              <a:ext cx="0" cy="323"/>
            </a:xfrm>
            <a:prstGeom prst="line">
              <a:avLst/>
            </a:prstGeom>
            <a:ln w="50800" cap="flat" cmpd="sng">
              <a:solidFill>
                <a:schemeClr val="accent1"/>
              </a:solidFill>
              <a:prstDash val="solid"/>
              <a:round/>
              <a:headEnd type="none" w="med" len="med"/>
              <a:tailEnd type="triangle" w="med" len="med"/>
            </a:ln>
          </p:spPr>
        </p:sp>
        <p:sp>
          <p:nvSpPr>
            <p:cNvPr id="160811" name="矩形 548908"/>
            <p:cNvSpPr/>
            <p:nvPr/>
          </p:nvSpPr>
          <p:spPr>
            <a:xfrm>
              <a:off x="914" y="1760"/>
              <a:ext cx="1466"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Instruction</a:t>
              </a:r>
              <a:r>
                <a:rPr lang="en-US" altLang="zh-CN">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Address</a:t>
              </a:r>
              <a:endParaRPr lang="en-US" altLang="zh-CN" sz="1800">
                <a:latin typeface="Arial" panose="020B0604020202020204" pitchFamily="34" charset="0"/>
                <a:ea typeface="宋体" panose="02010600030101010101" pitchFamily="2" charset="-122"/>
              </a:endParaRPr>
            </a:p>
          </p:txBody>
        </p:sp>
        <p:sp>
          <p:nvSpPr>
            <p:cNvPr id="160812" name="矩形 548909"/>
            <p:cNvSpPr/>
            <p:nvPr/>
          </p:nvSpPr>
          <p:spPr>
            <a:xfrm>
              <a:off x="527" y="2144"/>
              <a:ext cx="858" cy="575"/>
            </a:xfrm>
            <a:prstGeom prst="rect">
              <a:avLst/>
            </a:prstGeom>
            <a:noFill/>
            <a:ln w="12700">
              <a:noFill/>
            </a:ln>
          </p:spPr>
          <p:txBody>
            <a:bodyPr wrap="none" lIns="90488" tIns="44450" rIns="90488" bIns="44450" anchor="t" anchorCtr="0">
              <a:spAutoFit/>
            </a:bodyPr>
            <a:p>
              <a:pPr algn="ctr" eaLnBrk="0" hangingPunct="0"/>
              <a:r>
                <a:rPr lang="en-US" altLang="zh-CN" sz="1800">
                  <a:latin typeface="Arial" panose="020B0604020202020204" pitchFamily="34" charset="0"/>
                  <a:ea typeface="宋体" panose="02010600030101010101" pitchFamily="2" charset="-122"/>
                </a:rPr>
                <a:t>Ideal</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Instruction</a:t>
              </a:r>
              <a:endParaRPr lang="en-US" altLang="zh-CN" sz="1800">
                <a:latin typeface="Arial" panose="020B0604020202020204" pitchFamily="34" charset="0"/>
                <a:ea typeface="宋体" panose="02010600030101010101" pitchFamily="2" charset="-122"/>
              </a:endParaRPr>
            </a:p>
            <a:p>
              <a:pPr algn="ctr" eaLnBrk="0" hangingPunct="0"/>
              <a:r>
                <a:rPr lang="en-US" altLang="zh-CN" sz="1800">
                  <a:latin typeface="Arial" panose="020B0604020202020204" pitchFamily="34" charset="0"/>
                  <a:ea typeface="宋体" panose="02010600030101010101" pitchFamily="2" charset="-122"/>
                </a:rPr>
                <a:t>Memory</a:t>
              </a:r>
              <a:endParaRPr lang="en-US" altLang="zh-CN" sz="1800">
                <a:latin typeface="Arial" panose="020B0604020202020204" pitchFamily="34" charset="0"/>
                <a:ea typeface="宋体" panose="02010600030101010101" pitchFamily="2" charset="-122"/>
              </a:endParaRPr>
            </a:p>
          </p:txBody>
        </p:sp>
        <p:sp>
          <p:nvSpPr>
            <p:cNvPr id="160813" name="矩形 548910"/>
            <p:cNvSpPr/>
            <p:nvPr/>
          </p:nvSpPr>
          <p:spPr>
            <a:xfrm>
              <a:off x="137" y="1419"/>
              <a:ext cx="338"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Clk</a:t>
              </a:r>
              <a:endParaRPr lang="en-US" altLang="zh-CN" sz="1800">
                <a:latin typeface="Arial" panose="020B0604020202020204" pitchFamily="34" charset="0"/>
                <a:ea typeface="宋体" panose="02010600030101010101" pitchFamily="2" charset="-122"/>
              </a:endParaRPr>
            </a:p>
          </p:txBody>
        </p:sp>
        <p:sp>
          <p:nvSpPr>
            <p:cNvPr id="160814" name="矩形 548911"/>
            <p:cNvSpPr/>
            <p:nvPr/>
          </p:nvSpPr>
          <p:spPr>
            <a:xfrm>
              <a:off x="556" y="1548"/>
              <a:ext cx="748" cy="166"/>
            </a:xfrm>
            <a:prstGeom prst="rect">
              <a:avLst/>
            </a:prstGeom>
            <a:noFill/>
            <a:ln w="508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0815" name="直接连接符 548912"/>
            <p:cNvSpPr/>
            <p:nvPr/>
          </p:nvSpPr>
          <p:spPr>
            <a:xfrm>
              <a:off x="548" y="1588"/>
              <a:ext cx="128" cy="32"/>
            </a:xfrm>
            <a:prstGeom prst="line">
              <a:avLst/>
            </a:prstGeom>
            <a:ln w="25400" cap="flat" cmpd="sng">
              <a:solidFill>
                <a:schemeClr val="tx1"/>
              </a:solidFill>
              <a:prstDash val="solid"/>
              <a:round/>
              <a:headEnd type="none" w="med" len="med"/>
              <a:tailEnd type="none" w="med" len="med"/>
            </a:ln>
          </p:spPr>
        </p:sp>
        <p:sp>
          <p:nvSpPr>
            <p:cNvPr id="160816" name="直接连接符 548913"/>
            <p:cNvSpPr/>
            <p:nvPr/>
          </p:nvSpPr>
          <p:spPr>
            <a:xfrm flipH="1">
              <a:off x="532" y="1636"/>
              <a:ext cx="160" cy="32"/>
            </a:xfrm>
            <a:prstGeom prst="line">
              <a:avLst/>
            </a:prstGeom>
            <a:ln w="25400" cap="flat" cmpd="sng">
              <a:solidFill>
                <a:schemeClr val="tx1"/>
              </a:solidFill>
              <a:prstDash val="solid"/>
              <a:round/>
              <a:headEnd type="none" w="med" len="med"/>
              <a:tailEnd type="none" w="med" len="med"/>
            </a:ln>
          </p:spPr>
        </p:sp>
        <p:sp>
          <p:nvSpPr>
            <p:cNvPr id="160817" name="椭圆 548914"/>
            <p:cNvSpPr/>
            <p:nvPr/>
          </p:nvSpPr>
          <p:spPr>
            <a:xfrm>
              <a:off x="452" y="1588"/>
              <a:ext cx="80" cy="80"/>
            </a:xfrm>
            <a:prstGeom prst="ellipse">
              <a:avLst/>
            </a:prstGeom>
            <a:noFill/>
            <a:ln w="254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0818" name="直接连接符 548915"/>
            <p:cNvSpPr/>
            <p:nvPr/>
          </p:nvSpPr>
          <p:spPr>
            <a:xfrm flipH="1">
              <a:off x="208" y="1629"/>
              <a:ext cx="229" cy="0"/>
            </a:xfrm>
            <a:prstGeom prst="line">
              <a:avLst/>
            </a:prstGeom>
            <a:ln w="25400" cap="flat" cmpd="sng">
              <a:solidFill>
                <a:schemeClr val="tx1"/>
              </a:solidFill>
              <a:prstDash val="solid"/>
              <a:round/>
              <a:headEnd type="none" w="med" len="med"/>
              <a:tailEnd type="none" w="med" len="med"/>
            </a:ln>
          </p:spPr>
        </p:sp>
        <p:sp>
          <p:nvSpPr>
            <p:cNvPr id="160819" name="矩形 548916"/>
            <p:cNvSpPr/>
            <p:nvPr/>
          </p:nvSpPr>
          <p:spPr>
            <a:xfrm>
              <a:off x="795" y="1523"/>
              <a:ext cx="31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PC</a:t>
              </a:r>
              <a:endParaRPr lang="en-US" altLang="zh-CN" sz="1800">
                <a:latin typeface="Arial" panose="020B0604020202020204" pitchFamily="34" charset="0"/>
                <a:ea typeface="宋体" panose="02010600030101010101" pitchFamily="2" charset="-122"/>
              </a:endParaRPr>
            </a:p>
          </p:txBody>
        </p:sp>
        <p:sp>
          <p:nvSpPr>
            <p:cNvPr id="160820" name="直接连接符 548917"/>
            <p:cNvSpPr/>
            <p:nvPr/>
          </p:nvSpPr>
          <p:spPr>
            <a:xfrm>
              <a:off x="1897" y="2375"/>
              <a:ext cx="0" cy="647"/>
            </a:xfrm>
            <a:prstGeom prst="line">
              <a:avLst/>
            </a:prstGeom>
            <a:ln w="50800" cap="flat" cmpd="sng">
              <a:solidFill>
                <a:schemeClr val="accent1"/>
              </a:solidFill>
              <a:prstDash val="solid"/>
              <a:round/>
              <a:headEnd type="none" w="med" len="med"/>
              <a:tailEnd type="triangle" w="med" len="med"/>
            </a:ln>
          </p:spPr>
        </p:sp>
        <p:sp>
          <p:nvSpPr>
            <p:cNvPr id="160821" name="直接连接符 548918"/>
            <p:cNvSpPr/>
            <p:nvPr/>
          </p:nvSpPr>
          <p:spPr>
            <a:xfrm flipV="1">
              <a:off x="1853" y="2644"/>
              <a:ext cx="119" cy="131"/>
            </a:xfrm>
            <a:prstGeom prst="line">
              <a:avLst/>
            </a:prstGeom>
            <a:ln w="12700" cap="flat" cmpd="sng">
              <a:solidFill>
                <a:schemeClr val="tx1"/>
              </a:solidFill>
              <a:prstDash val="solid"/>
              <a:round/>
              <a:headEnd type="none" w="med" len="med"/>
              <a:tailEnd type="none" w="med" len="med"/>
            </a:ln>
          </p:spPr>
        </p:sp>
        <p:sp>
          <p:nvSpPr>
            <p:cNvPr id="160822" name="矩形 548919"/>
            <p:cNvSpPr/>
            <p:nvPr/>
          </p:nvSpPr>
          <p:spPr>
            <a:xfrm>
              <a:off x="1759" y="2552"/>
              <a:ext cx="233" cy="229"/>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60823" name="矩形 548920"/>
            <p:cNvSpPr/>
            <p:nvPr/>
          </p:nvSpPr>
          <p:spPr>
            <a:xfrm>
              <a:off x="1636" y="2408"/>
              <a:ext cx="298"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sp>
          <p:nvSpPr>
            <p:cNvPr id="160824" name="直接连接符 548921"/>
            <p:cNvSpPr/>
            <p:nvPr/>
          </p:nvSpPr>
          <p:spPr>
            <a:xfrm>
              <a:off x="2233" y="2385"/>
              <a:ext cx="0" cy="646"/>
            </a:xfrm>
            <a:prstGeom prst="line">
              <a:avLst/>
            </a:prstGeom>
            <a:ln w="50800" cap="flat" cmpd="sng">
              <a:solidFill>
                <a:schemeClr val="accent1"/>
              </a:solidFill>
              <a:prstDash val="solid"/>
              <a:round/>
              <a:headEnd type="none" w="med" len="med"/>
              <a:tailEnd type="triangle" w="med" len="med"/>
            </a:ln>
          </p:spPr>
        </p:sp>
        <p:sp>
          <p:nvSpPr>
            <p:cNvPr id="160825" name="直接连接符 548922"/>
            <p:cNvSpPr/>
            <p:nvPr/>
          </p:nvSpPr>
          <p:spPr>
            <a:xfrm flipV="1">
              <a:off x="2189" y="2644"/>
              <a:ext cx="119" cy="131"/>
            </a:xfrm>
            <a:prstGeom prst="line">
              <a:avLst/>
            </a:prstGeom>
            <a:ln w="12700" cap="flat" cmpd="sng">
              <a:solidFill>
                <a:schemeClr val="tx1"/>
              </a:solidFill>
              <a:prstDash val="solid"/>
              <a:round/>
              <a:headEnd type="none" w="med" len="med"/>
              <a:tailEnd type="none" w="med" len="med"/>
            </a:ln>
          </p:spPr>
        </p:sp>
        <p:sp>
          <p:nvSpPr>
            <p:cNvPr id="160826" name="矩形 548923"/>
            <p:cNvSpPr/>
            <p:nvPr/>
          </p:nvSpPr>
          <p:spPr>
            <a:xfrm>
              <a:off x="2087" y="2552"/>
              <a:ext cx="233" cy="229"/>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endParaRPr lang="zh-CN" altLang="en-US" sz="1800" dirty="0">
                <a:latin typeface="Arial" panose="020B0604020202020204" pitchFamily="34" charset="0"/>
                <a:ea typeface="宋体" panose="02010600030101010101" pitchFamily="2" charset="-122"/>
              </a:endParaRPr>
            </a:p>
          </p:txBody>
        </p:sp>
        <p:sp>
          <p:nvSpPr>
            <p:cNvPr id="160827" name="矩形 548924"/>
            <p:cNvSpPr/>
            <p:nvPr/>
          </p:nvSpPr>
          <p:spPr>
            <a:xfrm>
              <a:off x="1988" y="2408"/>
              <a:ext cx="266"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sp>
          <p:nvSpPr>
            <p:cNvPr id="160828" name="直接连接符 548925"/>
            <p:cNvSpPr/>
            <p:nvPr/>
          </p:nvSpPr>
          <p:spPr>
            <a:xfrm>
              <a:off x="2761" y="2395"/>
              <a:ext cx="0" cy="1280"/>
            </a:xfrm>
            <a:prstGeom prst="line">
              <a:avLst/>
            </a:prstGeom>
            <a:ln w="25400" cap="flat" cmpd="sng">
              <a:solidFill>
                <a:schemeClr val="tx1"/>
              </a:solidFill>
              <a:prstDash val="solid"/>
              <a:round/>
              <a:headEnd type="none" w="med" len="med"/>
              <a:tailEnd type="triangle" w="med" len="med"/>
            </a:ln>
          </p:spPr>
        </p:sp>
        <p:sp>
          <p:nvSpPr>
            <p:cNvPr id="160829" name="直接连接符 548926"/>
            <p:cNvSpPr/>
            <p:nvPr/>
          </p:nvSpPr>
          <p:spPr>
            <a:xfrm flipV="1">
              <a:off x="2717" y="2644"/>
              <a:ext cx="119" cy="131"/>
            </a:xfrm>
            <a:prstGeom prst="line">
              <a:avLst/>
            </a:prstGeom>
            <a:ln w="12700" cap="flat" cmpd="sng">
              <a:solidFill>
                <a:schemeClr val="tx1"/>
              </a:solidFill>
              <a:prstDash val="solid"/>
              <a:round/>
              <a:headEnd type="none" w="med" len="med"/>
              <a:tailEnd type="none" w="med" len="med"/>
            </a:ln>
          </p:spPr>
        </p:sp>
        <p:sp>
          <p:nvSpPr>
            <p:cNvPr id="160830" name="矩形 548927"/>
            <p:cNvSpPr/>
            <p:nvPr/>
          </p:nvSpPr>
          <p:spPr>
            <a:xfrm>
              <a:off x="2527" y="2552"/>
              <a:ext cx="281" cy="229"/>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60831" name="矩形 548928"/>
            <p:cNvSpPr/>
            <p:nvPr/>
          </p:nvSpPr>
          <p:spPr>
            <a:xfrm>
              <a:off x="2388" y="2392"/>
              <a:ext cx="490" cy="229"/>
            </a:xfrm>
            <a:prstGeom prst="rect">
              <a:avLst/>
            </a:prstGeom>
            <a:noFill/>
            <a:ln w="12700">
              <a:noFill/>
            </a:ln>
          </p:spPr>
          <p:txBody>
            <a:bodyPr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Imm</a:t>
              </a:r>
              <a:endParaRPr lang="en-US" altLang="zh-CN" sz="1800">
                <a:latin typeface="Arial" panose="020B0604020202020204" pitchFamily="34" charset="0"/>
                <a:ea typeface="宋体" panose="02010600030101010101" pitchFamily="2" charset="-122"/>
              </a:endParaRPr>
            </a:p>
          </p:txBody>
        </p:sp>
        <p:sp>
          <p:nvSpPr>
            <p:cNvPr id="160832" name="直接连接符 548929"/>
            <p:cNvSpPr/>
            <p:nvPr/>
          </p:nvSpPr>
          <p:spPr>
            <a:xfrm>
              <a:off x="2345" y="3107"/>
              <a:ext cx="688" cy="0"/>
            </a:xfrm>
            <a:prstGeom prst="line">
              <a:avLst/>
            </a:prstGeom>
            <a:ln w="50800" cap="flat" cmpd="sng">
              <a:solidFill>
                <a:schemeClr val="accent1"/>
              </a:solidFill>
              <a:prstDash val="solid"/>
              <a:round/>
              <a:headEnd type="none" w="med" len="med"/>
              <a:tailEnd type="triangle" w="med" len="med"/>
            </a:ln>
          </p:spPr>
        </p:sp>
        <p:sp>
          <p:nvSpPr>
            <p:cNvPr id="160833" name="直接连接符 548930"/>
            <p:cNvSpPr/>
            <p:nvPr/>
          </p:nvSpPr>
          <p:spPr>
            <a:xfrm>
              <a:off x="2617" y="3691"/>
              <a:ext cx="0" cy="176"/>
            </a:xfrm>
            <a:prstGeom prst="line">
              <a:avLst/>
            </a:prstGeom>
            <a:ln w="25400" cap="flat" cmpd="sng">
              <a:solidFill>
                <a:schemeClr val="tx1"/>
              </a:solidFill>
              <a:prstDash val="solid"/>
              <a:round/>
              <a:headEnd type="none" w="med" len="med"/>
              <a:tailEnd type="none" w="med" len="med"/>
            </a:ln>
          </p:spPr>
        </p:sp>
        <p:sp>
          <p:nvSpPr>
            <p:cNvPr id="160834" name="直接连接符 548931"/>
            <p:cNvSpPr/>
            <p:nvPr/>
          </p:nvSpPr>
          <p:spPr>
            <a:xfrm>
              <a:off x="2625" y="3875"/>
              <a:ext cx="800" cy="0"/>
            </a:xfrm>
            <a:prstGeom prst="line">
              <a:avLst/>
            </a:prstGeom>
            <a:ln w="25400" cap="flat" cmpd="sng">
              <a:solidFill>
                <a:schemeClr val="tx1"/>
              </a:solidFill>
              <a:prstDash val="solid"/>
              <a:round/>
              <a:headEnd type="none" w="med" len="med"/>
              <a:tailEnd type="none" w="med" len="med"/>
            </a:ln>
          </p:spPr>
        </p:sp>
        <p:sp>
          <p:nvSpPr>
            <p:cNvPr id="160835" name="直接连接符 548932"/>
            <p:cNvSpPr/>
            <p:nvPr/>
          </p:nvSpPr>
          <p:spPr>
            <a:xfrm>
              <a:off x="3441" y="3635"/>
              <a:ext cx="752" cy="0"/>
            </a:xfrm>
            <a:prstGeom prst="line">
              <a:avLst/>
            </a:prstGeom>
            <a:ln w="25400" cap="flat" cmpd="sng">
              <a:solidFill>
                <a:schemeClr val="tx1"/>
              </a:solidFill>
              <a:prstDash val="solid"/>
              <a:round/>
              <a:headEnd type="none" w="med" len="med"/>
              <a:tailEnd type="triangle" w="med" len="med"/>
            </a:ln>
          </p:spPr>
        </p:sp>
        <p:sp>
          <p:nvSpPr>
            <p:cNvPr id="160836" name="直接连接符 548933"/>
            <p:cNvSpPr/>
            <p:nvPr/>
          </p:nvSpPr>
          <p:spPr>
            <a:xfrm>
              <a:off x="3433" y="3643"/>
              <a:ext cx="0" cy="224"/>
            </a:xfrm>
            <a:prstGeom prst="line">
              <a:avLst/>
            </a:prstGeom>
            <a:ln w="25400" cap="flat" cmpd="sng">
              <a:solidFill>
                <a:schemeClr val="tx1"/>
              </a:solidFill>
              <a:prstDash val="solid"/>
              <a:round/>
              <a:headEnd type="none" w="med" len="med"/>
              <a:tailEnd type="none" w="med" len="med"/>
            </a:ln>
          </p:spPr>
        </p:sp>
        <p:sp>
          <p:nvSpPr>
            <p:cNvPr id="160837" name="直接连接符 548934"/>
            <p:cNvSpPr/>
            <p:nvPr/>
          </p:nvSpPr>
          <p:spPr>
            <a:xfrm flipH="1">
              <a:off x="2805" y="3783"/>
              <a:ext cx="104" cy="136"/>
            </a:xfrm>
            <a:prstGeom prst="line">
              <a:avLst/>
            </a:prstGeom>
            <a:ln w="12700" cap="flat" cmpd="sng">
              <a:solidFill>
                <a:schemeClr val="tx1"/>
              </a:solidFill>
              <a:prstDash val="solid"/>
              <a:round/>
              <a:headEnd type="none" w="med" len="med"/>
              <a:tailEnd type="none" w="med" len="med"/>
            </a:ln>
          </p:spPr>
        </p:sp>
        <p:sp>
          <p:nvSpPr>
            <p:cNvPr id="160838" name="矩形 548935"/>
            <p:cNvSpPr/>
            <p:nvPr/>
          </p:nvSpPr>
          <p:spPr>
            <a:xfrm>
              <a:off x="2704" y="3923"/>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60839" name="直接连接符 548936"/>
            <p:cNvSpPr/>
            <p:nvPr/>
          </p:nvSpPr>
          <p:spPr>
            <a:xfrm flipH="1">
              <a:off x="3429" y="3207"/>
              <a:ext cx="104" cy="136"/>
            </a:xfrm>
            <a:prstGeom prst="line">
              <a:avLst/>
            </a:prstGeom>
            <a:ln w="12700" cap="flat" cmpd="sng">
              <a:solidFill>
                <a:schemeClr val="tx1"/>
              </a:solidFill>
              <a:prstDash val="solid"/>
              <a:round/>
              <a:headEnd type="none" w="med" len="med"/>
              <a:tailEnd type="none" w="med" len="med"/>
            </a:ln>
          </p:spPr>
        </p:sp>
        <p:sp>
          <p:nvSpPr>
            <p:cNvPr id="160840" name="矩形 548937"/>
            <p:cNvSpPr/>
            <p:nvPr/>
          </p:nvSpPr>
          <p:spPr>
            <a:xfrm>
              <a:off x="3328" y="3011"/>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60841" name="直接连接符 548938"/>
            <p:cNvSpPr/>
            <p:nvPr/>
          </p:nvSpPr>
          <p:spPr>
            <a:xfrm flipH="1">
              <a:off x="2517" y="3015"/>
              <a:ext cx="104" cy="136"/>
            </a:xfrm>
            <a:prstGeom prst="line">
              <a:avLst/>
            </a:prstGeom>
            <a:ln w="12700" cap="flat" cmpd="sng">
              <a:solidFill>
                <a:schemeClr val="tx1"/>
              </a:solidFill>
              <a:prstDash val="solid"/>
              <a:round/>
              <a:headEnd type="none" w="med" len="med"/>
              <a:tailEnd type="none" w="med" len="med"/>
            </a:ln>
          </p:spPr>
        </p:sp>
        <p:sp>
          <p:nvSpPr>
            <p:cNvPr id="160842" name="矩形 548939"/>
            <p:cNvSpPr/>
            <p:nvPr/>
          </p:nvSpPr>
          <p:spPr>
            <a:xfrm>
              <a:off x="2416" y="3155"/>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60843" name="直接连接符 548940"/>
            <p:cNvSpPr/>
            <p:nvPr/>
          </p:nvSpPr>
          <p:spPr>
            <a:xfrm>
              <a:off x="4985" y="3395"/>
              <a:ext cx="562" cy="0"/>
            </a:xfrm>
            <a:prstGeom prst="line">
              <a:avLst/>
            </a:prstGeom>
            <a:ln w="50800" cap="flat" cmpd="sng">
              <a:solidFill>
                <a:schemeClr val="accent1"/>
              </a:solidFill>
              <a:prstDash val="solid"/>
              <a:round/>
              <a:headEnd type="none" w="med" len="med"/>
              <a:tailEnd type="none" w="med" len="med"/>
            </a:ln>
          </p:spPr>
        </p:sp>
        <p:sp>
          <p:nvSpPr>
            <p:cNvPr id="160844" name="直接连接符 548941"/>
            <p:cNvSpPr/>
            <p:nvPr/>
          </p:nvSpPr>
          <p:spPr>
            <a:xfrm>
              <a:off x="5545" y="3384"/>
              <a:ext cx="0" cy="763"/>
            </a:xfrm>
            <a:prstGeom prst="line">
              <a:avLst/>
            </a:prstGeom>
            <a:ln w="50800" cap="flat" cmpd="sng">
              <a:solidFill>
                <a:schemeClr val="accent1"/>
              </a:solidFill>
              <a:prstDash val="solid"/>
              <a:round/>
              <a:headEnd type="none" w="med" len="med"/>
              <a:tailEnd type="none" w="med" len="med"/>
            </a:ln>
          </p:spPr>
        </p:sp>
        <p:sp>
          <p:nvSpPr>
            <p:cNvPr id="160845" name="直接连接符 548942"/>
            <p:cNvSpPr/>
            <p:nvPr/>
          </p:nvSpPr>
          <p:spPr>
            <a:xfrm flipH="1">
              <a:off x="873" y="4163"/>
              <a:ext cx="4688" cy="0"/>
            </a:xfrm>
            <a:prstGeom prst="line">
              <a:avLst/>
            </a:prstGeom>
            <a:ln w="50800" cap="flat" cmpd="sng">
              <a:solidFill>
                <a:schemeClr val="accent1"/>
              </a:solidFill>
              <a:prstDash val="solid"/>
              <a:round/>
              <a:headEnd type="none" w="med" len="med"/>
              <a:tailEnd type="none" w="med" len="med"/>
            </a:ln>
          </p:spPr>
        </p:sp>
        <p:sp>
          <p:nvSpPr>
            <p:cNvPr id="160846" name="直接连接符 548943"/>
            <p:cNvSpPr/>
            <p:nvPr/>
          </p:nvSpPr>
          <p:spPr>
            <a:xfrm>
              <a:off x="889" y="3335"/>
              <a:ext cx="0" cy="812"/>
            </a:xfrm>
            <a:prstGeom prst="line">
              <a:avLst/>
            </a:prstGeom>
            <a:ln w="50800" cap="flat" cmpd="sng">
              <a:solidFill>
                <a:schemeClr val="accent1"/>
              </a:solidFill>
              <a:prstDash val="solid"/>
              <a:round/>
              <a:headEnd type="none" w="med" len="med"/>
              <a:tailEnd type="none" w="med" len="med"/>
            </a:ln>
          </p:spPr>
        </p:sp>
        <p:sp>
          <p:nvSpPr>
            <p:cNvPr id="160847" name="直接连接符 548944"/>
            <p:cNvSpPr/>
            <p:nvPr/>
          </p:nvSpPr>
          <p:spPr>
            <a:xfrm>
              <a:off x="886" y="3347"/>
              <a:ext cx="611" cy="0"/>
            </a:xfrm>
            <a:prstGeom prst="line">
              <a:avLst/>
            </a:prstGeom>
            <a:ln w="50800" cap="flat" cmpd="sng">
              <a:solidFill>
                <a:schemeClr val="accent1"/>
              </a:solidFill>
              <a:prstDash val="solid"/>
              <a:round/>
              <a:headEnd type="none" w="med" len="med"/>
              <a:tailEnd type="triangle" w="med" len="med"/>
            </a:ln>
          </p:spPr>
        </p:sp>
        <p:sp>
          <p:nvSpPr>
            <p:cNvPr id="160848" name="直接连接符 548945"/>
            <p:cNvSpPr/>
            <p:nvPr/>
          </p:nvSpPr>
          <p:spPr>
            <a:xfrm flipH="1">
              <a:off x="1125" y="3255"/>
              <a:ext cx="104" cy="136"/>
            </a:xfrm>
            <a:prstGeom prst="line">
              <a:avLst/>
            </a:prstGeom>
            <a:ln w="12700" cap="flat" cmpd="sng">
              <a:solidFill>
                <a:schemeClr val="tx1"/>
              </a:solidFill>
              <a:prstDash val="solid"/>
              <a:round/>
              <a:headEnd type="none" w="med" len="med"/>
              <a:tailEnd type="none" w="med" len="med"/>
            </a:ln>
          </p:spPr>
        </p:sp>
        <p:sp>
          <p:nvSpPr>
            <p:cNvPr id="160849" name="矩形 548946"/>
            <p:cNvSpPr/>
            <p:nvPr/>
          </p:nvSpPr>
          <p:spPr>
            <a:xfrm>
              <a:off x="976" y="3107"/>
              <a:ext cx="274"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32</a:t>
              </a:r>
              <a:endParaRPr lang="zh-CN" altLang="en-US" sz="1800" dirty="0">
                <a:latin typeface="Arial" panose="020B0604020202020204" pitchFamily="34" charset="0"/>
                <a:ea typeface="宋体" panose="02010600030101010101" pitchFamily="2" charset="-122"/>
              </a:endParaRPr>
            </a:p>
          </p:txBody>
        </p:sp>
        <p:sp>
          <p:nvSpPr>
            <p:cNvPr id="160850" name="直接连接符 548947"/>
            <p:cNvSpPr/>
            <p:nvPr/>
          </p:nvSpPr>
          <p:spPr>
            <a:xfrm>
              <a:off x="3577" y="3307"/>
              <a:ext cx="0" cy="848"/>
            </a:xfrm>
            <a:prstGeom prst="line">
              <a:avLst/>
            </a:prstGeom>
            <a:ln w="25400" cap="flat" cmpd="sng">
              <a:solidFill>
                <a:schemeClr val="tx1"/>
              </a:solidFill>
              <a:prstDash val="solid"/>
              <a:round/>
              <a:headEnd type="none" w="med" len="med"/>
              <a:tailEnd type="triangle" w="med" len="med"/>
            </a:ln>
          </p:spPr>
        </p:sp>
        <p:sp>
          <p:nvSpPr>
            <p:cNvPr id="160851" name="直接连接符 548948"/>
            <p:cNvSpPr/>
            <p:nvPr/>
          </p:nvSpPr>
          <p:spPr>
            <a:xfrm>
              <a:off x="2240" y="2376"/>
              <a:ext cx="512" cy="0"/>
            </a:xfrm>
            <a:prstGeom prst="line">
              <a:avLst/>
            </a:prstGeom>
            <a:ln w="25400" cap="flat" cmpd="sng">
              <a:solidFill>
                <a:schemeClr val="tx1"/>
              </a:solidFill>
              <a:prstDash val="solid"/>
              <a:round/>
              <a:headEnd type="none" w="med" len="med"/>
              <a:tailEnd type="none" w="med" len="med"/>
            </a:ln>
          </p:spPr>
        </p:sp>
      </p:grpSp>
      <p:sp>
        <p:nvSpPr>
          <p:cNvPr id="548950" name="矩形 548949"/>
          <p:cNvSpPr/>
          <p:nvPr/>
        </p:nvSpPr>
        <p:spPr>
          <a:xfrm>
            <a:off x="2625725" y="1387475"/>
            <a:ext cx="6213475" cy="1371600"/>
          </a:xfrm>
          <a:prstGeom prst="rect">
            <a:avLst/>
          </a:prstGeom>
          <a:noFill/>
          <a:ln w="12700">
            <a:noFill/>
          </a:ln>
        </p:spPr>
        <p:txBody>
          <a:bodyPr lIns="90488" tIns="44450" rIns="90488" bIns="44450" anchor="t" anchorCtr="0">
            <a:spAutoFit/>
          </a:bodyPr>
          <a:p>
            <a:pPr eaLnBrk="0" hangingPunct="0"/>
            <a:r>
              <a:rPr lang="zh-CN" altLang="en-US" sz="2100" dirty="0">
                <a:solidFill>
                  <a:schemeClr val="accent1"/>
                </a:solidFill>
                <a:latin typeface="微软雅黑" panose="020B0503020204020204" pitchFamily="34" charset="-122"/>
                <a:ea typeface="微软雅黑" panose="020B0503020204020204" pitchFamily="34" charset="-122"/>
              </a:rPr>
              <a:t>关键路径 </a:t>
            </a:r>
            <a:r>
              <a:rPr lang="en-US" altLang="zh-CN" sz="2100">
                <a:solidFill>
                  <a:schemeClr val="accent1"/>
                </a:solidFill>
                <a:latin typeface="微软雅黑" panose="020B0503020204020204" pitchFamily="34" charset="-122"/>
                <a:ea typeface="微软雅黑" panose="020B0503020204020204" pitchFamily="34" charset="-122"/>
              </a:rPr>
              <a:t>(Load)</a:t>
            </a:r>
            <a:r>
              <a:rPr lang="en-US" altLang="zh-CN" sz="2100">
                <a:latin typeface="微软雅黑" panose="020B0503020204020204" pitchFamily="34" charset="-122"/>
                <a:ea typeface="微软雅黑" panose="020B0503020204020204" pitchFamily="34" charset="-122"/>
              </a:rPr>
              <a:t> = </a:t>
            </a:r>
            <a:endParaRPr lang="en-US" altLang="zh-CN" sz="2100">
              <a:latin typeface="微软雅黑" panose="020B0503020204020204" pitchFamily="34" charset="-122"/>
              <a:ea typeface="微软雅黑" panose="020B0503020204020204" pitchFamily="34" charset="-122"/>
            </a:endParaRPr>
          </a:p>
          <a:p>
            <a:pPr eaLnBrk="0" hangingPunct="0"/>
            <a:r>
              <a:rPr lang="en-US" altLang="zh-CN" sz="2100">
                <a:latin typeface="微软雅黑" panose="020B0503020204020204" pitchFamily="34" charset="-122"/>
                <a:ea typeface="微软雅黑" panose="020B0503020204020204" pitchFamily="34" charset="-122"/>
              </a:rPr>
              <a:t>    </a:t>
            </a:r>
            <a:r>
              <a:rPr lang="en-US" altLang="zh-CN" sz="2100" err="1">
                <a:solidFill>
                  <a:schemeClr val="accent2"/>
                </a:solidFill>
                <a:latin typeface="微软雅黑" panose="020B0503020204020204" pitchFamily="34" charset="-122"/>
                <a:ea typeface="微软雅黑" panose="020B0503020204020204" pitchFamily="34" charset="-122"/>
              </a:rPr>
              <a:t>Clk</a:t>
            </a:r>
            <a:r>
              <a:rPr lang="en-US" altLang="zh-CN" sz="2100">
                <a:solidFill>
                  <a:schemeClr val="accent2"/>
                </a:solidFill>
                <a:latin typeface="微软雅黑" panose="020B0503020204020204" pitchFamily="34" charset="-122"/>
                <a:ea typeface="微软雅黑" panose="020B0503020204020204" pitchFamily="34" charset="-122"/>
              </a:rPr>
              <a:t>-to-Q</a:t>
            </a:r>
            <a:r>
              <a:rPr lang="en-US" altLang="zh-CN" sz="2100">
                <a:latin typeface="微软雅黑" panose="020B0503020204020204" pitchFamily="34" charset="-122"/>
                <a:ea typeface="微软雅黑" panose="020B0503020204020204" pitchFamily="34" charset="-122"/>
              </a:rPr>
              <a:t> +</a:t>
            </a:r>
            <a:r>
              <a:rPr lang="zh-CN" altLang="en-US" sz="2100" dirty="0">
                <a:latin typeface="微软雅黑" panose="020B0503020204020204" pitchFamily="34" charset="-122"/>
                <a:ea typeface="微软雅黑" panose="020B0503020204020204" pitchFamily="34" charset="-122"/>
              </a:rPr>
              <a:t> </a:t>
            </a:r>
            <a:r>
              <a:rPr lang="zh-CN" altLang="en-US" sz="2100" dirty="0">
                <a:solidFill>
                  <a:schemeClr val="accent2"/>
                </a:solidFill>
                <a:latin typeface="微软雅黑" panose="020B0503020204020204" pitchFamily="34" charset="-122"/>
                <a:ea typeface="微软雅黑" panose="020B0503020204020204" pitchFamily="34" charset="-122"/>
              </a:rPr>
              <a:t>取指令时间</a:t>
            </a:r>
            <a:r>
              <a:rPr lang="zh-CN" altLang="en-US" sz="2100" dirty="0">
                <a:latin typeface="微软雅黑" panose="020B0503020204020204" pitchFamily="34" charset="-122"/>
                <a:ea typeface="微软雅黑" panose="020B0503020204020204" pitchFamily="34" charset="-122"/>
              </a:rPr>
              <a:t> </a:t>
            </a:r>
            <a:r>
              <a:rPr lang="en-US" altLang="zh-CN" sz="2100">
                <a:latin typeface="微软雅黑" panose="020B0503020204020204" pitchFamily="34" charset="-122"/>
                <a:ea typeface="微软雅黑" panose="020B0503020204020204" pitchFamily="34" charset="-122"/>
              </a:rPr>
              <a:t>+ </a:t>
            </a:r>
            <a:r>
              <a:rPr lang="zh-CN" altLang="en-US" sz="2100" dirty="0">
                <a:solidFill>
                  <a:schemeClr val="accent2"/>
                </a:solidFill>
                <a:latin typeface="微软雅黑" panose="020B0503020204020204" pitchFamily="34" charset="-122"/>
                <a:ea typeface="微软雅黑" panose="020B0503020204020204" pitchFamily="34" charset="-122"/>
              </a:rPr>
              <a:t>取寄存器数据时间</a:t>
            </a:r>
            <a:r>
              <a:rPr lang="zh-CN" altLang="en-US" sz="2100" dirty="0">
                <a:latin typeface="微软雅黑" panose="020B0503020204020204" pitchFamily="34" charset="-122"/>
                <a:ea typeface="微软雅黑" panose="020B0503020204020204" pitchFamily="34" charset="-122"/>
              </a:rPr>
              <a:t> </a:t>
            </a:r>
            <a:r>
              <a:rPr lang="en-US" altLang="zh-CN" sz="2100">
                <a:latin typeface="微软雅黑" panose="020B0503020204020204" pitchFamily="34" charset="-122"/>
                <a:ea typeface="微软雅黑" panose="020B0503020204020204" pitchFamily="34" charset="-122"/>
              </a:rPr>
              <a:t>+</a:t>
            </a:r>
            <a:endParaRPr lang="en-US" altLang="zh-CN" sz="2100">
              <a:latin typeface="微软雅黑" panose="020B0503020204020204" pitchFamily="34" charset="-122"/>
              <a:ea typeface="微软雅黑" panose="020B0503020204020204" pitchFamily="34" charset="-122"/>
            </a:endParaRPr>
          </a:p>
          <a:p>
            <a:pPr eaLnBrk="0" hangingPunct="0"/>
            <a:r>
              <a:rPr lang="en-US" altLang="zh-CN" sz="2100">
                <a:latin typeface="微软雅黑" panose="020B0503020204020204" pitchFamily="34" charset="-122"/>
                <a:ea typeface="微软雅黑" panose="020B0503020204020204" pitchFamily="34" charset="-122"/>
              </a:rPr>
              <a:t>    </a:t>
            </a:r>
            <a:r>
              <a:rPr lang="en-US" altLang="zh-CN" sz="2100">
                <a:solidFill>
                  <a:schemeClr val="accent2"/>
                </a:solidFill>
                <a:latin typeface="微软雅黑" panose="020B0503020204020204" pitchFamily="34" charset="-122"/>
                <a:ea typeface="微软雅黑" panose="020B0503020204020204" pitchFamily="34" charset="-122"/>
              </a:rPr>
              <a:t>ALU </a:t>
            </a:r>
            <a:r>
              <a:rPr lang="zh-CN" altLang="en-US" sz="2100" dirty="0">
                <a:solidFill>
                  <a:schemeClr val="accent2"/>
                </a:solidFill>
                <a:latin typeface="微软雅黑" panose="020B0503020204020204" pitchFamily="34" charset="-122"/>
                <a:ea typeface="微软雅黑" panose="020B0503020204020204" pitchFamily="34" charset="-122"/>
              </a:rPr>
              <a:t>中运算时间</a:t>
            </a:r>
            <a:r>
              <a:rPr lang="zh-CN" altLang="en-US" sz="2100" dirty="0">
                <a:latin typeface="微软雅黑" panose="020B0503020204020204" pitchFamily="34" charset="-122"/>
                <a:ea typeface="微软雅黑" panose="020B0503020204020204" pitchFamily="34" charset="-122"/>
              </a:rPr>
              <a:t> </a:t>
            </a:r>
            <a:r>
              <a:rPr lang="en-US" altLang="zh-CN" sz="2100">
                <a:latin typeface="微软雅黑" panose="020B0503020204020204" pitchFamily="34" charset="-122"/>
                <a:ea typeface="微软雅黑" panose="020B0503020204020204" pitchFamily="34" charset="-122"/>
              </a:rPr>
              <a:t>+ </a:t>
            </a:r>
            <a:r>
              <a:rPr lang="zh-CN" altLang="en-US" sz="2100" dirty="0">
                <a:solidFill>
                  <a:schemeClr val="accent2"/>
                </a:solidFill>
                <a:latin typeface="微软雅黑" panose="020B0503020204020204" pitchFamily="34" charset="-122"/>
                <a:ea typeface="微软雅黑" panose="020B0503020204020204" pitchFamily="34" charset="-122"/>
              </a:rPr>
              <a:t>取存储器数据时间</a:t>
            </a:r>
            <a:r>
              <a:rPr lang="zh-CN" altLang="en-US" sz="2100" dirty="0">
                <a:latin typeface="微软雅黑" panose="020B0503020204020204" pitchFamily="34" charset="-122"/>
                <a:ea typeface="微软雅黑" panose="020B0503020204020204" pitchFamily="34" charset="-122"/>
              </a:rPr>
              <a:t>  </a:t>
            </a:r>
            <a:r>
              <a:rPr lang="en-US" altLang="zh-CN" sz="2100">
                <a:latin typeface="微软雅黑" panose="020B0503020204020204" pitchFamily="34" charset="-122"/>
                <a:ea typeface="微软雅黑" panose="020B0503020204020204" pitchFamily="34" charset="-122"/>
              </a:rPr>
              <a:t>+</a:t>
            </a:r>
            <a:endParaRPr lang="en-US" altLang="zh-CN" sz="2100">
              <a:latin typeface="微软雅黑" panose="020B0503020204020204" pitchFamily="34" charset="-122"/>
              <a:ea typeface="微软雅黑" panose="020B0503020204020204" pitchFamily="34" charset="-122"/>
            </a:endParaRPr>
          </a:p>
          <a:p>
            <a:pPr eaLnBrk="0" hangingPunct="0"/>
            <a:r>
              <a:rPr lang="en-US" altLang="zh-CN" sz="2100">
                <a:latin typeface="微软雅黑" panose="020B0503020204020204" pitchFamily="34" charset="-122"/>
                <a:ea typeface="微软雅黑" panose="020B0503020204020204" pitchFamily="34" charset="-122"/>
              </a:rPr>
              <a:t>    </a:t>
            </a:r>
            <a:r>
              <a:rPr lang="zh-CN" altLang="en-US" sz="2100" dirty="0">
                <a:solidFill>
                  <a:schemeClr val="accent2"/>
                </a:solidFill>
                <a:latin typeface="微软雅黑" panose="020B0503020204020204" pitchFamily="34" charset="-122"/>
                <a:ea typeface="微软雅黑" panose="020B0503020204020204" pitchFamily="34" charset="-122"/>
              </a:rPr>
              <a:t>写寄存器时间（建立时间）</a:t>
            </a:r>
            <a:r>
              <a:rPr lang="en-US" altLang="zh-CN" sz="2100">
                <a:latin typeface="微软雅黑" panose="020B0503020204020204" pitchFamily="34" charset="-122"/>
                <a:ea typeface="微软雅黑" panose="020B0503020204020204" pitchFamily="34" charset="-122"/>
              </a:rPr>
              <a:t>+  </a:t>
            </a:r>
            <a:r>
              <a:rPr lang="zh-CN" altLang="en-US" sz="2100" dirty="0">
                <a:solidFill>
                  <a:schemeClr val="accent2"/>
                </a:solidFill>
                <a:latin typeface="微软雅黑" panose="020B0503020204020204" pitchFamily="34" charset="-122"/>
                <a:ea typeface="微软雅黑" panose="020B0503020204020204" pitchFamily="34" charset="-122"/>
              </a:rPr>
              <a:t>时钟扭斜</a:t>
            </a:r>
            <a:endParaRPr lang="zh-CN" altLang="en-US" sz="2100" dirty="0">
              <a:solidFill>
                <a:schemeClr val="accent2"/>
              </a:solidFill>
              <a:latin typeface="微软雅黑" panose="020B0503020204020204" pitchFamily="34" charset="-122"/>
              <a:ea typeface="微软雅黑" panose="020B0503020204020204" pitchFamily="34" charset="-122"/>
            </a:endParaRPr>
          </a:p>
        </p:txBody>
      </p:sp>
      <p:sp>
        <p:nvSpPr>
          <p:cNvPr id="548951" name="文本框 548950"/>
          <p:cNvSpPr txBox="1"/>
          <p:nvPr/>
        </p:nvSpPr>
        <p:spPr>
          <a:xfrm>
            <a:off x="415925" y="838200"/>
            <a:ext cx="5832475" cy="427038"/>
          </a:xfrm>
          <a:prstGeom prst="rect">
            <a:avLst/>
          </a:prstGeom>
          <a:solidFill>
            <a:schemeClr val="bg1"/>
          </a:solidFill>
          <a:ln w="50800">
            <a:noFill/>
          </a:ln>
        </p:spPr>
        <p:txBody>
          <a:bodyPr anchor="t" anchorCtr="0">
            <a:spAutoFit/>
          </a:bodyPr>
          <a:p>
            <a:pPr eaLnBrk="0" hangingPunct="0">
              <a:spcBef>
                <a:spcPct val="20000"/>
              </a:spcBef>
            </a:pPr>
            <a:r>
              <a:rPr lang="en-US" altLang="zh-CN" sz="2200">
                <a:solidFill>
                  <a:srgbClr val="006600"/>
                </a:solidFill>
                <a:latin typeface="微软雅黑" panose="020B0503020204020204" pitchFamily="34" charset="-122"/>
                <a:ea typeface="微软雅黑" panose="020B0503020204020204" pitchFamily="34" charset="-122"/>
              </a:rPr>
              <a:t>Load</a:t>
            </a:r>
            <a:r>
              <a:rPr lang="zh-CN" altLang="en-US" sz="2200" dirty="0">
                <a:solidFill>
                  <a:srgbClr val="006600"/>
                </a:solidFill>
                <a:latin typeface="微软雅黑" panose="020B0503020204020204" pitchFamily="34" charset="-122"/>
                <a:ea typeface="微软雅黑" panose="020B0503020204020204" pitchFamily="34" charset="-122"/>
              </a:rPr>
              <a:t>操作：</a:t>
            </a:r>
            <a:r>
              <a:rPr lang="en-US" altLang="zh-CN" sz="2200" err="1">
                <a:solidFill>
                  <a:srgbClr val="006600"/>
                </a:solidFill>
                <a:latin typeface="微软雅黑" panose="020B0503020204020204" pitchFamily="34" charset="-122"/>
                <a:ea typeface="微软雅黑" panose="020B0503020204020204" pitchFamily="34" charset="-122"/>
              </a:rPr>
              <a:t>R[Rt</a:t>
            </a:r>
            <a:r>
              <a:rPr lang="en-US" altLang="zh-CN" sz="2200">
                <a:solidFill>
                  <a:srgbClr val="006600"/>
                </a:solidFill>
                <a:latin typeface="微软雅黑" panose="020B0503020204020204" pitchFamily="34" charset="-122"/>
                <a:ea typeface="微软雅黑" panose="020B0503020204020204" pitchFamily="34" charset="-122"/>
              </a:rPr>
              <a:t>] ← M[R[Rs]+Imm16]</a:t>
            </a:r>
            <a:endParaRPr lang="en-US" altLang="en-US" sz="2200">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48951"/>
                                        </p:tgtEl>
                                        <p:attrNameLst>
                                          <p:attrName>style.visibility</p:attrName>
                                        </p:attrNameLst>
                                      </p:cBhvr>
                                      <p:to>
                                        <p:strVal val="visible"/>
                                      </p:to>
                                    </p:set>
                                    <p:animEffect transition="in" filter="blinds(horizontal)">
                                      <p:cBhvr>
                                        <p:cTn id="7" dur="500"/>
                                        <p:tgtEl>
                                          <p:spTgt spid="5489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48950"/>
                                        </p:tgtEl>
                                        <p:attrNameLst>
                                          <p:attrName>style.visibility</p:attrName>
                                        </p:attrNameLst>
                                      </p:cBhvr>
                                      <p:to>
                                        <p:strVal val="visible"/>
                                      </p:to>
                                    </p:set>
                                    <p:animEffect transition="in" filter="blinds(horizontal)">
                                      <p:cBhvr>
                                        <p:cTn id="12" dur="500"/>
                                        <p:tgtEl>
                                          <p:spTgt spid="548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950" grpId="0"/>
      <p:bldP spid="548951"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7" name="标题 528385"/>
          <p:cNvSpPr>
            <a:spLocks noGrp="1"/>
          </p:cNvSpPr>
          <p:nvPr>
            <p:ph type="title"/>
          </p:nvPr>
        </p:nvSpPr>
        <p:spPr>
          <a:xfrm>
            <a:off x="739775" y="142875"/>
            <a:ext cx="7605713" cy="528638"/>
          </a:xfrm>
          <a:ln/>
        </p:spPr>
        <p:txBody>
          <a:bodyPr vert="horz" wrap="square" lIns="63500" tIns="25400" rIns="63500" bIns="25400" anchor="t" anchorCtr="0">
            <a:spAutoFit/>
          </a:bodyPr>
          <a:p>
            <a:r>
              <a:rPr lang="zh-CN" altLang="en-US" dirty="0">
                <a:solidFill>
                  <a:srgbClr val="CC0000"/>
                </a:solidFill>
              </a:rPr>
              <a:t>单周期</a:t>
            </a:r>
            <a:r>
              <a:rPr lang="en-US" altLang="zh-CN">
                <a:solidFill>
                  <a:srgbClr val="CC0000"/>
                </a:solidFill>
              </a:rPr>
              <a:t>, </a:t>
            </a:r>
            <a:r>
              <a:rPr lang="zh-CN" altLang="en-US" dirty="0">
                <a:solidFill>
                  <a:srgbClr val="CC0000"/>
                </a:solidFill>
              </a:rPr>
              <a:t>多周期 和</a:t>
            </a:r>
            <a:r>
              <a:rPr lang="en-US" altLang="zh-CN">
                <a:solidFill>
                  <a:srgbClr val="CC0000"/>
                </a:solidFill>
              </a:rPr>
              <a:t> </a:t>
            </a:r>
            <a:r>
              <a:rPr lang="zh-CN" altLang="en-US" dirty="0">
                <a:solidFill>
                  <a:srgbClr val="CC0000"/>
                </a:solidFill>
              </a:rPr>
              <a:t>流水线比较</a:t>
            </a:r>
            <a:endParaRPr lang="en-US" altLang="zh-CN">
              <a:solidFill>
                <a:srgbClr val="CC0000"/>
              </a:solidFill>
            </a:endParaRPr>
          </a:p>
        </p:txBody>
      </p:sp>
      <p:sp>
        <p:nvSpPr>
          <p:cNvPr id="162818" name="矩形 528386"/>
          <p:cNvSpPr/>
          <p:nvPr/>
        </p:nvSpPr>
        <p:spPr>
          <a:xfrm>
            <a:off x="214313" y="3709988"/>
            <a:ext cx="496887" cy="333375"/>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Clk</a:t>
            </a:r>
            <a:endParaRPr lang="en-US" altLang="zh-CN">
              <a:latin typeface="Times New Roman" panose="02020603050405020304" pitchFamily="18" charset="0"/>
              <a:ea typeface="宋体" panose="02010600030101010101" pitchFamily="2" charset="-122"/>
            </a:endParaRPr>
          </a:p>
        </p:txBody>
      </p:sp>
      <p:sp>
        <p:nvSpPr>
          <p:cNvPr id="162819" name="直接连接符 528387"/>
          <p:cNvSpPr/>
          <p:nvPr/>
        </p:nvSpPr>
        <p:spPr>
          <a:xfrm>
            <a:off x="774700" y="3938588"/>
            <a:ext cx="355600" cy="0"/>
          </a:xfrm>
          <a:prstGeom prst="line">
            <a:avLst/>
          </a:prstGeom>
          <a:ln w="25400" cap="flat" cmpd="sng">
            <a:solidFill>
              <a:schemeClr val="tx1"/>
            </a:solidFill>
            <a:prstDash val="solid"/>
            <a:round/>
            <a:headEnd type="none" w="med" len="med"/>
            <a:tailEnd type="none" w="med" len="med"/>
          </a:ln>
        </p:spPr>
      </p:sp>
      <p:sp>
        <p:nvSpPr>
          <p:cNvPr id="162820" name="直接连接符 528388"/>
          <p:cNvSpPr/>
          <p:nvPr/>
        </p:nvSpPr>
        <p:spPr>
          <a:xfrm>
            <a:off x="762000" y="3722688"/>
            <a:ext cx="0" cy="203200"/>
          </a:xfrm>
          <a:prstGeom prst="line">
            <a:avLst/>
          </a:prstGeom>
          <a:ln w="25400" cap="flat" cmpd="sng">
            <a:solidFill>
              <a:schemeClr val="tx1"/>
            </a:solidFill>
            <a:prstDash val="solid"/>
            <a:round/>
            <a:headEnd type="none" w="med" len="med"/>
            <a:tailEnd type="none" w="med" len="med"/>
          </a:ln>
        </p:spPr>
      </p:sp>
      <p:sp>
        <p:nvSpPr>
          <p:cNvPr id="162821" name="直接连接符 528389"/>
          <p:cNvSpPr/>
          <p:nvPr/>
        </p:nvSpPr>
        <p:spPr>
          <a:xfrm flipV="1">
            <a:off x="1143000" y="3697288"/>
            <a:ext cx="0" cy="254000"/>
          </a:xfrm>
          <a:prstGeom prst="line">
            <a:avLst/>
          </a:prstGeom>
          <a:ln w="25400" cap="flat" cmpd="sng">
            <a:solidFill>
              <a:schemeClr val="tx1"/>
            </a:solidFill>
            <a:prstDash val="solid"/>
            <a:round/>
            <a:headEnd type="none" w="med" len="med"/>
            <a:tailEnd type="none" w="med" len="med"/>
          </a:ln>
        </p:spPr>
      </p:sp>
      <p:sp>
        <p:nvSpPr>
          <p:cNvPr id="162822" name="直接连接符 528390"/>
          <p:cNvSpPr/>
          <p:nvPr/>
        </p:nvSpPr>
        <p:spPr>
          <a:xfrm>
            <a:off x="1155700" y="3709988"/>
            <a:ext cx="355600" cy="0"/>
          </a:xfrm>
          <a:prstGeom prst="line">
            <a:avLst/>
          </a:prstGeom>
          <a:ln w="25400" cap="flat" cmpd="sng">
            <a:solidFill>
              <a:schemeClr val="tx1"/>
            </a:solidFill>
            <a:prstDash val="solid"/>
            <a:round/>
            <a:headEnd type="none" w="med" len="med"/>
            <a:tailEnd type="none" w="med" len="med"/>
          </a:ln>
        </p:spPr>
      </p:sp>
      <p:sp>
        <p:nvSpPr>
          <p:cNvPr id="162823" name="直接连接符 528391"/>
          <p:cNvSpPr/>
          <p:nvPr/>
        </p:nvSpPr>
        <p:spPr>
          <a:xfrm>
            <a:off x="1524000" y="3722688"/>
            <a:ext cx="0" cy="203200"/>
          </a:xfrm>
          <a:prstGeom prst="line">
            <a:avLst/>
          </a:prstGeom>
          <a:ln w="25400" cap="flat" cmpd="sng">
            <a:solidFill>
              <a:schemeClr val="tx1"/>
            </a:solidFill>
            <a:prstDash val="solid"/>
            <a:round/>
            <a:headEnd type="none" w="med" len="med"/>
            <a:tailEnd type="none" w="med" len="med"/>
          </a:ln>
        </p:spPr>
      </p:sp>
      <p:sp>
        <p:nvSpPr>
          <p:cNvPr id="162824" name="直接连接符 528392"/>
          <p:cNvSpPr/>
          <p:nvPr/>
        </p:nvSpPr>
        <p:spPr>
          <a:xfrm>
            <a:off x="393700" y="3709988"/>
            <a:ext cx="355600" cy="0"/>
          </a:xfrm>
          <a:prstGeom prst="line">
            <a:avLst/>
          </a:prstGeom>
          <a:ln w="25400" cap="flat" cmpd="sng">
            <a:solidFill>
              <a:schemeClr val="tx1"/>
            </a:solidFill>
            <a:prstDash val="solid"/>
            <a:round/>
            <a:headEnd type="none" w="med" len="med"/>
            <a:tailEnd type="none" w="med" len="med"/>
          </a:ln>
        </p:spPr>
      </p:sp>
      <p:sp>
        <p:nvSpPr>
          <p:cNvPr id="162825" name="直接连接符 528393"/>
          <p:cNvSpPr/>
          <p:nvPr/>
        </p:nvSpPr>
        <p:spPr>
          <a:xfrm flipV="1">
            <a:off x="762000" y="1601788"/>
            <a:ext cx="0" cy="1549400"/>
          </a:xfrm>
          <a:prstGeom prst="line">
            <a:avLst/>
          </a:prstGeom>
          <a:ln w="25400" cap="flat" cmpd="sng">
            <a:solidFill>
              <a:schemeClr val="tx1"/>
            </a:solidFill>
            <a:prstDash val="sysDot"/>
            <a:round/>
            <a:headEnd type="none" w="med" len="med"/>
            <a:tailEnd type="none" w="med" len="med"/>
          </a:ln>
        </p:spPr>
      </p:sp>
      <p:sp>
        <p:nvSpPr>
          <p:cNvPr id="162826" name="矩形 528394"/>
          <p:cNvSpPr/>
          <p:nvPr/>
        </p:nvSpPr>
        <p:spPr>
          <a:xfrm>
            <a:off x="747713" y="3328988"/>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162827" name="矩形 528395"/>
          <p:cNvSpPr/>
          <p:nvPr/>
        </p:nvSpPr>
        <p:spPr>
          <a:xfrm>
            <a:off x="100013" y="2827338"/>
            <a:ext cx="5102225" cy="347662"/>
          </a:xfrm>
          <a:prstGeom prst="rect">
            <a:avLst/>
          </a:prstGeom>
          <a:noFill/>
          <a:ln w="12700">
            <a:noFill/>
          </a:ln>
        </p:spPr>
        <p:txBody>
          <a:bodyPr wrap="none" lIns="90488" tIns="44450" rIns="90488" bIns="44450" anchor="t" anchorCtr="0">
            <a:spAutoFit/>
          </a:bodyPr>
          <a:p>
            <a:pPr eaLnBrk="0" hangingPunct="0"/>
            <a:r>
              <a:rPr lang="en-US" altLang="zh-CN" sz="1700">
                <a:solidFill>
                  <a:schemeClr val="accent1"/>
                </a:solidFill>
                <a:latin typeface="微软雅黑" panose="020B0503020204020204" pitchFamily="34" charset="-122"/>
                <a:ea typeface="微软雅黑" panose="020B0503020204020204" pitchFamily="34" charset="-122"/>
              </a:rPr>
              <a:t>Multiple Cycle</a:t>
            </a:r>
            <a:r>
              <a:rPr lang="en-US" altLang="zh-CN">
                <a:solidFill>
                  <a:schemeClr val="accent1"/>
                </a:solidFill>
                <a:latin typeface="Times New Roman" panose="02020603050405020304" pitchFamily="18" charset="0"/>
                <a:ea typeface="宋体" panose="02010600030101010101" pitchFamily="2" charset="-122"/>
              </a:rPr>
              <a:t> </a:t>
            </a:r>
            <a:r>
              <a:rPr lang="en-US" altLang="zh-CN" sz="1700">
                <a:solidFill>
                  <a:schemeClr val="accent1"/>
                </a:solidFill>
                <a:latin typeface="微软雅黑" panose="020B0503020204020204" pitchFamily="34" charset="-122"/>
                <a:ea typeface="微软雅黑" panose="020B0503020204020204" pitchFamily="34" charset="-122"/>
              </a:rPr>
              <a:t>Implementation</a:t>
            </a:r>
            <a:r>
              <a:rPr lang="zh-CN" altLang="en-US" sz="1700" dirty="0">
                <a:solidFill>
                  <a:schemeClr val="accent1"/>
                </a:solidFill>
                <a:latin typeface="微软雅黑" panose="020B0503020204020204" pitchFamily="34" charset="-122"/>
                <a:ea typeface="微软雅黑" panose="020B0503020204020204" pitchFamily="34" charset="-122"/>
              </a:rPr>
              <a:t>（多周期实现）</a:t>
            </a:r>
            <a:r>
              <a:rPr lang="en-US" altLang="zh-CN">
                <a:solidFill>
                  <a:schemeClr val="accent1"/>
                </a:solidFill>
                <a:latin typeface="Times New Roman" panose="02020603050405020304" pitchFamily="18" charset="0"/>
                <a:ea typeface="宋体" panose="02010600030101010101" pitchFamily="2" charset="-122"/>
              </a:rPr>
              <a:t>:</a:t>
            </a:r>
            <a:endParaRPr lang="en-US" altLang="zh-CN">
              <a:solidFill>
                <a:schemeClr val="accent1"/>
              </a:solidFill>
              <a:latin typeface="Times New Roman" panose="02020603050405020304" pitchFamily="18" charset="0"/>
              <a:ea typeface="宋体" panose="02010600030101010101" pitchFamily="2" charset="-122"/>
            </a:endParaRPr>
          </a:p>
        </p:txBody>
      </p:sp>
      <p:grpSp>
        <p:nvGrpSpPr>
          <p:cNvPr id="162828" name="组合 528396"/>
          <p:cNvGrpSpPr/>
          <p:nvPr/>
        </p:nvGrpSpPr>
        <p:grpSpPr>
          <a:xfrm>
            <a:off x="774700" y="4424363"/>
            <a:ext cx="3784600" cy="333375"/>
            <a:chOff x="488" y="2544"/>
            <a:chExt cx="2384" cy="210"/>
          </a:xfrm>
        </p:grpSpPr>
        <p:grpSp>
          <p:nvGrpSpPr>
            <p:cNvPr id="162829" name="组合 528397"/>
            <p:cNvGrpSpPr/>
            <p:nvPr/>
          </p:nvGrpSpPr>
          <p:grpSpPr>
            <a:xfrm>
              <a:off x="488" y="2544"/>
              <a:ext cx="466" cy="210"/>
              <a:chOff x="488" y="2544"/>
              <a:chExt cx="466" cy="210"/>
            </a:xfrm>
          </p:grpSpPr>
          <p:sp>
            <p:nvSpPr>
              <p:cNvPr id="162830" name="矩形 528398"/>
              <p:cNvSpPr/>
              <p:nvPr/>
            </p:nvSpPr>
            <p:spPr>
              <a:xfrm>
                <a:off x="48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831" name="矩形 528399"/>
              <p:cNvSpPr/>
              <p:nvPr/>
            </p:nvSpPr>
            <p:spPr>
              <a:xfrm>
                <a:off x="519" y="2544"/>
                <a:ext cx="435"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62832" name="组合 528400"/>
            <p:cNvGrpSpPr/>
            <p:nvPr/>
          </p:nvGrpSpPr>
          <p:grpSpPr>
            <a:xfrm>
              <a:off x="968" y="2544"/>
              <a:ext cx="464" cy="210"/>
              <a:chOff x="968" y="2544"/>
              <a:chExt cx="464" cy="210"/>
            </a:xfrm>
          </p:grpSpPr>
          <p:sp>
            <p:nvSpPr>
              <p:cNvPr id="162833" name="矩形 528401"/>
              <p:cNvSpPr/>
              <p:nvPr/>
            </p:nvSpPr>
            <p:spPr>
              <a:xfrm>
                <a:off x="96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834" name="矩形 528402"/>
              <p:cNvSpPr/>
              <p:nvPr/>
            </p:nvSpPr>
            <p:spPr>
              <a:xfrm>
                <a:off x="1047" y="2544"/>
                <a:ext cx="327"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endParaRPr lang="en-US" altLang="zh-CN">
                  <a:latin typeface="Times New Roman" panose="02020603050405020304" pitchFamily="18" charset="0"/>
                  <a:ea typeface="宋体" panose="02010600030101010101" pitchFamily="2" charset="-122"/>
                </a:endParaRPr>
              </a:p>
            </p:txBody>
          </p:sp>
        </p:grpSp>
        <p:grpSp>
          <p:nvGrpSpPr>
            <p:cNvPr id="162835" name="组合 528403"/>
            <p:cNvGrpSpPr/>
            <p:nvPr/>
          </p:nvGrpSpPr>
          <p:grpSpPr>
            <a:xfrm>
              <a:off x="1448" y="2544"/>
              <a:ext cx="464" cy="210"/>
              <a:chOff x="1448" y="2544"/>
              <a:chExt cx="464" cy="210"/>
            </a:xfrm>
          </p:grpSpPr>
          <p:sp>
            <p:nvSpPr>
              <p:cNvPr id="162836" name="矩形 528404"/>
              <p:cNvSpPr/>
              <p:nvPr/>
            </p:nvSpPr>
            <p:spPr>
              <a:xfrm>
                <a:off x="144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837" name="矩形 528405"/>
              <p:cNvSpPr/>
              <p:nvPr/>
            </p:nvSpPr>
            <p:spPr>
              <a:xfrm>
                <a:off x="1479" y="2544"/>
                <a:ext cx="377"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62838" name="组合 528406"/>
            <p:cNvGrpSpPr/>
            <p:nvPr/>
          </p:nvGrpSpPr>
          <p:grpSpPr>
            <a:xfrm>
              <a:off x="1928" y="2544"/>
              <a:ext cx="464" cy="210"/>
              <a:chOff x="1928" y="2544"/>
              <a:chExt cx="464" cy="210"/>
            </a:xfrm>
          </p:grpSpPr>
          <p:sp>
            <p:nvSpPr>
              <p:cNvPr id="162839" name="矩形 528407"/>
              <p:cNvSpPr/>
              <p:nvPr/>
            </p:nvSpPr>
            <p:spPr>
              <a:xfrm>
                <a:off x="192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840" name="矩形 528408"/>
              <p:cNvSpPr/>
              <p:nvPr/>
            </p:nvSpPr>
            <p:spPr>
              <a:xfrm>
                <a:off x="1959" y="2544"/>
                <a:ext cx="399"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Mem</a:t>
                </a:r>
                <a:endParaRPr lang="en-US" altLang="zh-CN">
                  <a:latin typeface="Times New Roman" panose="02020603050405020304" pitchFamily="18" charset="0"/>
                  <a:ea typeface="宋体" panose="02010600030101010101" pitchFamily="2" charset="-122"/>
                </a:endParaRPr>
              </a:p>
            </p:txBody>
          </p:sp>
        </p:grpSp>
        <p:grpSp>
          <p:nvGrpSpPr>
            <p:cNvPr id="162841" name="组合 528409"/>
            <p:cNvGrpSpPr/>
            <p:nvPr/>
          </p:nvGrpSpPr>
          <p:grpSpPr>
            <a:xfrm>
              <a:off x="2408" y="2544"/>
              <a:ext cx="464" cy="210"/>
              <a:chOff x="2408" y="2544"/>
              <a:chExt cx="464" cy="210"/>
            </a:xfrm>
          </p:grpSpPr>
          <p:sp>
            <p:nvSpPr>
              <p:cNvPr id="162842" name="矩形 528410"/>
              <p:cNvSpPr/>
              <p:nvPr/>
            </p:nvSpPr>
            <p:spPr>
              <a:xfrm>
                <a:off x="240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843" name="矩形 528411"/>
              <p:cNvSpPr/>
              <p:nvPr/>
            </p:nvSpPr>
            <p:spPr>
              <a:xfrm>
                <a:off x="2487" y="2544"/>
                <a:ext cx="299"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Wr</a:t>
                </a:r>
                <a:endParaRPr lang="en-US" altLang="zh-CN">
                  <a:latin typeface="Times New Roman" panose="02020603050405020304" pitchFamily="18" charset="0"/>
                  <a:ea typeface="宋体" panose="02010600030101010101" pitchFamily="2" charset="-122"/>
                </a:endParaRPr>
              </a:p>
            </p:txBody>
          </p:sp>
        </p:grpSp>
      </p:grpSp>
      <p:sp>
        <p:nvSpPr>
          <p:cNvPr id="162844" name="直接连接符 528412"/>
          <p:cNvSpPr/>
          <p:nvPr/>
        </p:nvSpPr>
        <p:spPr>
          <a:xfrm>
            <a:off x="1536700" y="3938588"/>
            <a:ext cx="355600" cy="0"/>
          </a:xfrm>
          <a:prstGeom prst="line">
            <a:avLst/>
          </a:prstGeom>
          <a:ln w="25400" cap="flat" cmpd="sng">
            <a:solidFill>
              <a:schemeClr val="tx1"/>
            </a:solidFill>
            <a:prstDash val="solid"/>
            <a:round/>
            <a:headEnd type="none" w="med" len="med"/>
            <a:tailEnd type="none" w="med" len="med"/>
          </a:ln>
        </p:spPr>
      </p:sp>
      <p:sp>
        <p:nvSpPr>
          <p:cNvPr id="162845" name="直接连接符 528413"/>
          <p:cNvSpPr/>
          <p:nvPr/>
        </p:nvSpPr>
        <p:spPr>
          <a:xfrm flipV="1">
            <a:off x="1905000" y="3697288"/>
            <a:ext cx="0" cy="254000"/>
          </a:xfrm>
          <a:prstGeom prst="line">
            <a:avLst/>
          </a:prstGeom>
          <a:ln w="25400" cap="flat" cmpd="sng">
            <a:solidFill>
              <a:schemeClr val="tx1"/>
            </a:solidFill>
            <a:prstDash val="solid"/>
            <a:round/>
            <a:headEnd type="none" w="med" len="med"/>
            <a:tailEnd type="none" w="med" len="med"/>
          </a:ln>
        </p:spPr>
      </p:sp>
      <p:sp>
        <p:nvSpPr>
          <p:cNvPr id="162846" name="直接连接符 528414"/>
          <p:cNvSpPr/>
          <p:nvPr/>
        </p:nvSpPr>
        <p:spPr>
          <a:xfrm>
            <a:off x="1917700" y="3709988"/>
            <a:ext cx="355600" cy="0"/>
          </a:xfrm>
          <a:prstGeom prst="line">
            <a:avLst/>
          </a:prstGeom>
          <a:ln w="25400" cap="flat" cmpd="sng">
            <a:solidFill>
              <a:schemeClr val="tx1"/>
            </a:solidFill>
            <a:prstDash val="solid"/>
            <a:round/>
            <a:headEnd type="none" w="med" len="med"/>
            <a:tailEnd type="none" w="med" len="med"/>
          </a:ln>
        </p:spPr>
      </p:sp>
      <p:sp>
        <p:nvSpPr>
          <p:cNvPr id="162847" name="直接连接符 528415"/>
          <p:cNvSpPr/>
          <p:nvPr/>
        </p:nvSpPr>
        <p:spPr>
          <a:xfrm>
            <a:off x="2286000" y="3722688"/>
            <a:ext cx="0" cy="203200"/>
          </a:xfrm>
          <a:prstGeom prst="line">
            <a:avLst/>
          </a:prstGeom>
          <a:ln w="25400" cap="flat" cmpd="sng">
            <a:solidFill>
              <a:schemeClr val="tx1"/>
            </a:solidFill>
            <a:prstDash val="solid"/>
            <a:round/>
            <a:headEnd type="none" w="med" len="med"/>
            <a:tailEnd type="none" w="med" len="med"/>
          </a:ln>
        </p:spPr>
      </p:sp>
      <p:sp>
        <p:nvSpPr>
          <p:cNvPr id="162848" name="直接连接符 528416"/>
          <p:cNvSpPr/>
          <p:nvPr/>
        </p:nvSpPr>
        <p:spPr>
          <a:xfrm flipV="1">
            <a:off x="1524000" y="3316288"/>
            <a:ext cx="0" cy="330200"/>
          </a:xfrm>
          <a:prstGeom prst="line">
            <a:avLst/>
          </a:prstGeom>
          <a:ln w="25400" cap="flat" cmpd="sng">
            <a:solidFill>
              <a:schemeClr val="tx1"/>
            </a:solidFill>
            <a:prstDash val="sysDot"/>
            <a:round/>
            <a:headEnd type="none" w="med" len="med"/>
            <a:tailEnd type="none" w="med" len="med"/>
          </a:ln>
        </p:spPr>
      </p:sp>
      <p:sp>
        <p:nvSpPr>
          <p:cNvPr id="162849" name="矩形 528417"/>
          <p:cNvSpPr/>
          <p:nvPr/>
        </p:nvSpPr>
        <p:spPr>
          <a:xfrm>
            <a:off x="1509713" y="3328988"/>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162850" name="直接连接符 528418"/>
          <p:cNvSpPr/>
          <p:nvPr/>
        </p:nvSpPr>
        <p:spPr>
          <a:xfrm>
            <a:off x="2298700" y="3938588"/>
            <a:ext cx="355600" cy="0"/>
          </a:xfrm>
          <a:prstGeom prst="line">
            <a:avLst/>
          </a:prstGeom>
          <a:ln w="25400" cap="flat" cmpd="sng">
            <a:solidFill>
              <a:schemeClr val="tx1"/>
            </a:solidFill>
            <a:prstDash val="solid"/>
            <a:round/>
            <a:headEnd type="none" w="med" len="med"/>
            <a:tailEnd type="none" w="med" len="med"/>
          </a:ln>
        </p:spPr>
      </p:sp>
      <p:sp>
        <p:nvSpPr>
          <p:cNvPr id="162851" name="直接连接符 528419"/>
          <p:cNvSpPr/>
          <p:nvPr/>
        </p:nvSpPr>
        <p:spPr>
          <a:xfrm flipV="1">
            <a:off x="2667000" y="3697288"/>
            <a:ext cx="0" cy="254000"/>
          </a:xfrm>
          <a:prstGeom prst="line">
            <a:avLst/>
          </a:prstGeom>
          <a:ln w="25400" cap="flat" cmpd="sng">
            <a:solidFill>
              <a:schemeClr val="tx1"/>
            </a:solidFill>
            <a:prstDash val="solid"/>
            <a:round/>
            <a:headEnd type="none" w="med" len="med"/>
            <a:tailEnd type="none" w="med" len="med"/>
          </a:ln>
        </p:spPr>
      </p:sp>
      <p:sp>
        <p:nvSpPr>
          <p:cNvPr id="162852" name="直接连接符 528420"/>
          <p:cNvSpPr/>
          <p:nvPr/>
        </p:nvSpPr>
        <p:spPr>
          <a:xfrm>
            <a:off x="2679700" y="3709988"/>
            <a:ext cx="355600" cy="0"/>
          </a:xfrm>
          <a:prstGeom prst="line">
            <a:avLst/>
          </a:prstGeom>
          <a:ln w="25400" cap="flat" cmpd="sng">
            <a:solidFill>
              <a:schemeClr val="tx1"/>
            </a:solidFill>
            <a:prstDash val="solid"/>
            <a:round/>
            <a:headEnd type="none" w="med" len="med"/>
            <a:tailEnd type="none" w="med" len="med"/>
          </a:ln>
        </p:spPr>
      </p:sp>
      <p:sp>
        <p:nvSpPr>
          <p:cNvPr id="162853" name="直接连接符 528421"/>
          <p:cNvSpPr/>
          <p:nvPr/>
        </p:nvSpPr>
        <p:spPr>
          <a:xfrm>
            <a:off x="3048000" y="3722688"/>
            <a:ext cx="0" cy="203200"/>
          </a:xfrm>
          <a:prstGeom prst="line">
            <a:avLst/>
          </a:prstGeom>
          <a:ln w="25400" cap="flat" cmpd="sng">
            <a:solidFill>
              <a:schemeClr val="tx1"/>
            </a:solidFill>
            <a:prstDash val="solid"/>
            <a:round/>
            <a:headEnd type="none" w="med" len="med"/>
            <a:tailEnd type="none" w="med" len="med"/>
          </a:ln>
        </p:spPr>
      </p:sp>
      <p:sp>
        <p:nvSpPr>
          <p:cNvPr id="162854" name="直接连接符 528422"/>
          <p:cNvSpPr/>
          <p:nvPr/>
        </p:nvSpPr>
        <p:spPr>
          <a:xfrm flipV="1">
            <a:off x="2286000" y="3316288"/>
            <a:ext cx="0" cy="330200"/>
          </a:xfrm>
          <a:prstGeom prst="line">
            <a:avLst/>
          </a:prstGeom>
          <a:ln w="25400" cap="flat" cmpd="sng">
            <a:solidFill>
              <a:schemeClr val="tx1"/>
            </a:solidFill>
            <a:prstDash val="sysDot"/>
            <a:round/>
            <a:headEnd type="none" w="med" len="med"/>
            <a:tailEnd type="none" w="med" len="med"/>
          </a:ln>
        </p:spPr>
      </p:sp>
      <p:sp>
        <p:nvSpPr>
          <p:cNvPr id="162855" name="矩形 528423"/>
          <p:cNvSpPr/>
          <p:nvPr/>
        </p:nvSpPr>
        <p:spPr>
          <a:xfrm>
            <a:off x="2271713" y="3328988"/>
            <a:ext cx="773112" cy="333375"/>
          </a:xfrm>
          <a:prstGeom prst="rect">
            <a:avLst/>
          </a:prstGeom>
          <a:noFill/>
          <a:ln w="12700">
            <a:noFill/>
          </a:ln>
        </p:spPr>
        <p:txBody>
          <a:bodyPr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3</a:t>
            </a:r>
            <a:endParaRPr lang="en-US" altLang="zh-CN">
              <a:latin typeface="Times New Roman" panose="02020603050405020304" pitchFamily="18" charset="0"/>
              <a:ea typeface="宋体" panose="02010600030101010101" pitchFamily="2" charset="-122"/>
            </a:endParaRPr>
          </a:p>
        </p:txBody>
      </p:sp>
      <p:sp>
        <p:nvSpPr>
          <p:cNvPr id="162856" name="直接连接符 528424"/>
          <p:cNvSpPr/>
          <p:nvPr/>
        </p:nvSpPr>
        <p:spPr>
          <a:xfrm>
            <a:off x="3060700" y="3938588"/>
            <a:ext cx="355600" cy="0"/>
          </a:xfrm>
          <a:prstGeom prst="line">
            <a:avLst/>
          </a:prstGeom>
          <a:ln w="25400" cap="flat" cmpd="sng">
            <a:solidFill>
              <a:schemeClr val="tx1"/>
            </a:solidFill>
            <a:prstDash val="solid"/>
            <a:round/>
            <a:headEnd type="none" w="med" len="med"/>
            <a:tailEnd type="none" w="med" len="med"/>
          </a:ln>
        </p:spPr>
      </p:sp>
      <p:sp>
        <p:nvSpPr>
          <p:cNvPr id="162857" name="直接连接符 528425"/>
          <p:cNvSpPr/>
          <p:nvPr/>
        </p:nvSpPr>
        <p:spPr>
          <a:xfrm flipV="1">
            <a:off x="3429000" y="3697288"/>
            <a:ext cx="0" cy="254000"/>
          </a:xfrm>
          <a:prstGeom prst="line">
            <a:avLst/>
          </a:prstGeom>
          <a:ln w="25400" cap="flat" cmpd="sng">
            <a:solidFill>
              <a:schemeClr val="tx1"/>
            </a:solidFill>
            <a:prstDash val="solid"/>
            <a:round/>
            <a:headEnd type="none" w="med" len="med"/>
            <a:tailEnd type="none" w="med" len="med"/>
          </a:ln>
        </p:spPr>
      </p:sp>
      <p:sp>
        <p:nvSpPr>
          <p:cNvPr id="162858" name="直接连接符 528426"/>
          <p:cNvSpPr/>
          <p:nvPr/>
        </p:nvSpPr>
        <p:spPr>
          <a:xfrm>
            <a:off x="3441700" y="3709988"/>
            <a:ext cx="355600" cy="0"/>
          </a:xfrm>
          <a:prstGeom prst="line">
            <a:avLst/>
          </a:prstGeom>
          <a:ln w="25400" cap="flat" cmpd="sng">
            <a:solidFill>
              <a:schemeClr val="tx1"/>
            </a:solidFill>
            <a:prstDash val="solid"/>
            <a:round/>
            <a:headEnd type="none" w="med" len="med"/>
            <a:tailEnd type="none" w="med" len="med"/>
          </a:ln>
        </p:spPr>
      </p:sp>
      <p:sp>
        <p:nvSpPr>
          <p:cNvPr id="162859" name="直接连接符 528427"/>
          <p:cNvSpPr/>
          <p:nvPr/>
        </p:nvSpPr>
        <p:spPr>
          <a:xfrm>
            <a:off x="3810000" y="3722688"/>
            <a:ext cx="0" cy="203200"/>
          </a:xfrm>
          <a:prstGeom prst="line">
            <a:avLst/>
          </a:prstGeom>
          <a:ln w="25400" cap="flat" cmpd="sng">
            <a:solidFill>
              <a:schemeClr val="tx1"/>
            </a:solidFill>
            <a:prstDash val="solid"/>
            <a:round/>
            <a:headEnd type="none" w="med" len="med"/>
            <a:tailEnd type="none" w="med" len="med"/>
          </a:ln>
        </p:spPr>
      </p:sp>
      <p:sp>
        <p:nvSpPr>
          <p:cNvPr id="162860" name="直接连接符 528428"/>
          <p:cNvSpPr/>
          <p:nvPr/>
        </p:nvSpPr>
        <p:spPr>
          <a:xfrm flipV="1">
            <a:off x="3048000" y="3316288"/>
            <a:ext cx="0" cy="330200"/>
          </a:xfrm>
          <a:prstGeom prst="line">
            <a:avLst/>
          </a:prstGeom>
          <a:ln w="25400" cap="flat" cmpd="sng">
            <a:solidFill>
              <a:schemeClr val="tx1"/>
            </a:solidFill>
            <a:prstDash val="sysDot"/>
            <a:round/>
            <a:headEnd type="none" w="med" len="med"/>
            <a:tailEnd type="none" w="med" len="med"/>
          </a:ln>
        </p:spPr>
      </p:sp>
      <p:sp>
        <p:nvSpPr>
          <p:cNvPr id="162861" name="矩形 528429"/>
          <p:cNvSpPr/>
          <p:nvPr/>
        </p:nvSpPr>
        <p:spPr>
          <a:xfrm>
            <a:off x="3033713" y="3328988"/>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4</a:t>
            </a:r>
            <a:endParaRPr lang="en-US" altLang="zh-CN">
              <a:latin typeface="Times New Roman" panose="02020603050405020304" pitchFamily="18" charset="0"/>
              <a:ea typeface="宋体" panose="02010600030101010101" pitchFamily="2" charset="-122"/>
            </a:endParaRPr>
          </a:p>
        </p:txBody>
      </p:sp>
      <p:sp>
        <p:nvSpPr>
          <p:cNvPr id="162862" name="直接连接符 528430"/>
          <p:cNvSpPr/>
          <p:nvPr/>
        </p:nvSpPr>
        <p:spPr>
          <a:xfrm>
            <a:off x="3822700" y="3938588"/>
            <a:ext cx="355600" cy="0"/>
          </a:xfrm>
          <a:prstGeom prst="line">
            <a:avLst/>
          </a:prstGeom>
          <a:ln w="25400" cap="flat" cmpd="sng">
            <a:solidFill>
              <a:schemeClr val="tx1"/>
            </a:solidFill>
            <a:prstDash val="solid"/>
            <a:round/>
            <a:headEnd type="none" w="med" len="med"/>
            <a:tailEnd type="none" w="med" len="med"/>
          </a:ln>
        </p:spPr>
      </p:sp>
      <p:sp>
        <p:nvSpPr>
          <p:cNvPr id="162863" name="直接连接符 528431"/>
          <p:cNvSpPr/>
          <p:nvPr/>
        </p:nvSpPr>
        <p:spPr>
          <a:xfrm flipV="1">
            <a:off x="4191000" y="3697288"/>
            <a:ext cx="0" cy="254000"/>
          </a:xfrm>
          <a:prstGeom prst="line">
            <a:avLst/>
          </a:prstGeom>
          <a:ln w="25400" cap="flat" cmpd="sng">
            <a:solidFill>
              <a:schemeClr val="tx1"/>
            </a:solidFill>
            <a:prstDash val="solid"/>
            <a:round/>
            <a:headEnd type="none" w="med" len="med"/>
            <a:tailEnd type="none" w="med" len="med"/>
          </a:ln>
        </p:spPr>
      </p:sp>
      <p:sp>
        <p:nvSpPr>
          <p:cNvPr id="162864" name="直接连接符 528432"/>
          <p:cNvSpPr/>
          <p:nvPr/>
        </p:nvSpPr>
        <p:spPr>
          <a:xfrm>
            <a:off x="4203700" y="3709988"/>
            <a:ext cx="355600" cy="0"/>
          </a:xfrm>
          <a:prstGeom prst="line">
            <a:avLst/>
          </a:prstGeom>
          <a:ln w="25400" cap="flat" cmpd="sng">
            <a:solidFill>
              <a:schemeClr val="tx1"/>
            </a:solidFill>
            <a:prstDash val="solid"/>
            <a:round/>
            <a:headEnd type="none" w="med" len="med"/>
            <a:tailEnd type="none" w="med" len="med"/>
          </a:ln>
        </p:spPr>
      </p:sp>
      <p:sp>
        <p:nvSpPr>
          <p:cNvPr id="162865" name="直接连接符 528433"/>
          <p:cNvSpPr/>
          <p:nvPr/>
        </p:nvSpPr>
        <p:spPr>
          <a:xfrm>
            <a:off x="4572000" y="3722688"/>
            <a:ext cx="0" cy="203200"/>
          </a:xfrm>
          <a:prstGeom prst="line">
            <a:avLst/>
          </a:prstGeom>
          <a:ln w="25400" cap="flat" cmpd="sng">
            <a:solidFill>
              <a:schemeClr val="tx1"/>
            </a:solidFill>
            <a:prstDash val="solid"/>
            <a:round/>
            <a:headEnd type="none" w="med" len="med"/>
            <a:tailEnd type="none" w="med" len="med"/>
          </a:ln>
        </p:spPr>
      </p:sp>
      <p:sp>
        <p:nvSpPr>
          <p:cNvPr id="162866" name="直接连接符 528434"/>
          <p:cNvSpPr/>
          <p:nvPr/>
        </p:nvSpPr>
        <p:spPr>
          <a:xfrm flipV="1">
            <a:off x="3810000" y="3316288"/>
            <a:ext cx="0" cy="330200"/>
          </a:xfrm>
          <a:prstGeom prst="line">
            <a:avLst/>
          </a:prstGeom>
          <a:ln w="25400" cap="flat" cmpd="sng">
            <a:solidFill>
              <a:schemeClr val="tx1"/>
            </a:solidFill>
            <a:prstDash val="sysDot"/>
            <a:round/>
            <a:headEnd type="none" w="med" len="med"/>
            <a:tailEnd type="none" w="med" len="med"/>
          </a:ln>
        </p:spPr>
      </p:sp>
      <p:sp>
        <p:nvSpPr>
          <p:cNvPr id="162867" name="矩形 528435"/>
          <p:cNvSpPr/>
          <p:nvPr/>
        </p:nvSpPr>
        <p:spPr>
          <a:xfrm>
            <a:off x="3795713" y="3328988"/>
            <a:ext cx="773112" cy="333375"/>
          </a:xfrm>
          <a:prstGeom prst="rect">
            <a:avLst/>
          </a:prstGeom>
          <a:noFill/>
          <a:ln w="12700">
            <a:noFill/>
          </a:ln>
        </p:spPr>
        <p:txBody>
          <a:bodyPr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5</a:t>
            </a:r>
            <a:endParaRPr lang="en-US" altLang="zh-CN">
              <a:latin typeface="Times New Roman" panose="02020603050405020304" pitchFamily="18" charset="0"/>
              <a:ea typeface="宋体" panose="02010600030101010101" pitchFamily="2" charset="-122"/>
            </a:endParaRPr>
          </a:p>
        </p:txBody>
      </p:sp>
      <p:sp>
        <p:nvSpPr>
          <p:cNvPr id="162868" name="直接连接符 528436"/>
          <p:cNvSpPr/>
          <p:nvPr/>
        </p:nvSpPr>
        <p:spPr>
          <a:xfrm>
            <a:off x="4584700" y="3938588"/>
            <a:ext cx="355600" cy="0"/>
          </a:xfrm>
          <a:prstGeom prst="line">
            <a:avLst/>
          </a:prstGeom>
          <a:ln w="25400" cap="flat" cmpd="sng">
            <a:solidFill>
              <a:schemeClr val="tx1"/>
            </a:solidFill>
            <a:prstDash val="solid"/>
            <a:round/>
            <a:headEnd type="none" w="med" len="med"/>
            <a:tailEnd type="none" w="med" len="med"/>
          </a:ln>
        </p:spPr>
      </p:sp>
      <p:sp>
        <p:nvSpPr>
          <p:cNvPr id="162869" name="直接连接符 528437"/>
          <p:cNvSpPr/>
          <p:nvPr/>
        </p:nvSpPr>
        <p:spPr>
          <a:xfrm flipV="1">
            <a:off x="4953000" y="3697288"/>
            <a:ext cx="0" cy="254000"/>
          </a:xfrm>
          <a:prstGeom prst="line">
            <a:avLst/>
          </a:prstGeom>
          <a:ln w="25400" cap="flat" cmpd="sng">
            <a:solidFill>
              <a:schemeClr val="tx1"/>
            </a:solidFill>
            <a:prstDash val="solid"/>
            <a:round/>
            <a:headEnd type="none" w="med" len="med"/>
            <a:tailEnd type="none" w="med" len="med"/>
          </a:ln>
        </p:spPr>
      </p:sp>
      <p:sp>
        <p:nvSpPr>
          <p:cNvPr id="162870" name="直接连接符 528438"/>
          <p:cNvSpPr/>
          <p:nvPr/>
        </p:nvSpPr>
        <p:spPr>
          <a:xfrm>
            <a:off x="4965700" y="3709988"/>
            <a:ext cx="355600" cy="0"/>
          </a:xfrm>
          <a:prstGeom prst="line">
            <a:avLst/>
          </a:prstGeom>
          <a:ln w="25400" cap="flat" cmpd="sng">
            <a:solidFill>
              <a:schemeClr val="tx1"/>
            </a:solidFill>
            <a:prstDash val="solid"/>
            <a:round/>
            <a:headEnd type="none" w="med" len="med"/>
            <a:tailEnd type="none" w="med" len="med"/>
          </a:ln>
        </p:spPr>
      </p:sp>
      <p:sp>
        <p:nvSpPr>
          <p:cNvPr id="162871" name="直接连接符 528439"/>
          <p:cNvSpPr/>
          <p:nvPr/>
        </p:nvSpPr>
        <p:spPr>
          <a:xfrm>
            <a:off x="5334000" y="3722688"/>
            <a:ext cx="0" cy="203200"/>
          </a:xfrm>
          <a:prstGeom prst="line">
            <a:avLst/>
          </a:prstGeom>
          <a:ln w="25400" cap="flat" cmpd="sng">
            <a:solidFill>
              <a:schemeClr val="tx1"/>
            </a:solidFill>
            <a:prstDash val="solid"/>
            <a:round/>
            <a:headEnd type="none" w="med" len="med"/>
            <a:tailEnd type="none" w="med" len="med"/>
          </a:ln>
        </p:spPr>
      </p:sp>
      <p:sp>
        <p:nvSpPr>
          <p:cNvPr id="162872" name="矩形 528440"/>
          <p:cNvSpPr/>
          <p:nvPr/>
        </p:nvSpPr>
        <p:spPr>
          <a:xfrm>
            <a:off x="4557713" y="3328988"/>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162873" name="直接连接符 528441"/>
          <p:cNvSpPr/>
          <p:nvPr/>
        </p:nvSpPr>
        <p:spPr>
          <a:xfrm>
            <a:off x="5346700" y="3938588"/>
            <a:ext cx="355600" cy="0"/>
          </a:xfrm>
          <a:prstGeom prst="line">
            <a:avLst/>
          </a:prstGeom>
          <a:ln w="25400" cap="flat" cmpd="sng">
            <a:solidFill>
              <a:schemeClr val="tx1"/>
            </a:solidFill>
            <a:prstDash val="solid"/>
            <a:round/>
            <a:headEnd type="none" w="med" len="med"/>
            <a:tailEnd type="none" w="med" len="med"/>
          </a:ln>
        </p:spPr>
      </p:sp>
      <p:sp>
        <p:nvSpPr>
          <p:cNvPr id="162874" name="直接连接符 528442"/>
          <p:cNvSpPr/>
          <p:nvPr/>
        </p:nvSpPr>
        <p:spPr>
          <a:xfrm flipV="1">
            <a:off x="5715000" y="3697288"/>
            <a:ext cx="0" cy="254000"/>
          </a:xfrm>
          <a:prstGeom prst="line">
            <a:avLst/>
          </a:prstGeom>
          <a:ln w="25400" cap="flat" cmpd="sng">
            <a:solidFill>
              <a:schemeClr val="tx1"/>
            </a:solidFill>
            <a:prstDash val="solid"/>
            <a:round/>
            <a:headEnd type="none" w="med" len="med"/>
            <a:tailEnd type="none" w="med" len="med"/>
          </a:ln>
        </p:spPr>
      </p:sp>
      <p:sp>
        <p:nvSpPr>
          <p:cNvPr id="162875" name="直接连接符 528443"/>
          <p:cNvSpPr/>
          <p:nvPr/>
        </p:nvSpPr>
        <p:spPr>
          <a:xfrm>
            <a:off x="5727700" y="3709988"/>
            <a:ext cx="355600" cy="0"/>
          </a:xfrm>
          <a:prstGeom prst="line">
            <a:avLst/>
          </a:prstGeom>
          <a:ln w="25400" cap="flat" cmpd="sng">
            <a:solidFill>
              <a:schemeClr val="tx1"/>
            </a:solidFill>
            <a:prstDash val="solid"/>
            <a:round/>
            <a:headEnd type="none" w="med" len="med"/>
            <a:tailEnd type="none" w="med" len="med"/>
          </a:ln>
        </p:spPr>
      </p:sp>
      <p:sp>
        <p:nvSpPr>
          <p:cNvPr id="162876" name="直接连接符 528444"/>
          <p:cNvSpPr/>
          <p:nvPr/>
        </p:nvSpPr>
        <p:spPr>
          <a:xfrm>
            <a:off x="6096000" y="3722688"/>
            <a:ext cx="0" cy="203200"/>
          </a:xfrm>
          <a:prstGeom prst="line">
            <a:avLst/>
          </a:prstGeom>
          <a:ln w="25400" cap="flat" cmpd="sng">
            <a:solidFill>
              <a:schemeClr val="tx1"/>
            </a:solidFill>
            <a:prstDash val="solid"/>
            <a:round/>
            <a:headEnd type="none" w="med" len="med"/>
            <a:tailEnd type="none" w="med" len="med"/>
          </a:ln>
        </p:spPr>
      </p:sp>
      <p:sp>
        <p:nvSpPr>
          <p:cNvPr id="162877" name="直接连接符 528445"/>
          <p:cNvSpPr/>
          <p:nvPr/>
        </p:nvSpPr>
        <p:spPr>
          <a:xfrm flipV="1">
            <a:off x="5334000" y="3316288"/>
            <a:ext cx="0" cy="330200"/>
          </a:xfrm>
          <a:prstGeom prst="line">
            <a:avLst/>
          </a:prstGeom>
          <a:ln w="25400" cap="flat" cmpd="sng">
            <a:solidFill>
              <a:schemeClr val="tx1"/>
            </a:solidFill>
            <a:prstDash val="sysDot"/>
            <a:round/>
            <a:headEnd type="none" w="med" len="med"/>
            <a:tailEnd type="none" w="med" len="med"/>
          </a:ln>
        </p:spPr>
      </p:sp>
      <p:sp>
        <p:nvSpPr>
          <p:cNvPr id="162878" name="矩形 528446"/>
          <p:cNvSpPr/>
          <p:nvPr/>
        </p:nvSpPr>
        <p:spPr>
          <a:xfrm>
            <a:off x="5319713" y="3328988"/>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162879" name="直接连接符 528447"/>
          <p:cNvSpPr/>
          <p:nvPr/>
        </p:nvSpPr>
        <p:spPr>
          <a:xfrm>
            <a:off x="6108700" y="3938588"/>
            <a:ext cx="355600" cy="0"/>
          </a:xfrm>
          <a:prstGeom prst="line">
            <a:avLst/>
          </a:prstGeom>
          <a:ln w="25400" cap="flat" cmpd="sng">
            <a:solidFill>
              <a:schemeClr val="tx1"/>
            </a:solidFill>
            <a:prstDash val="solid"/>
            <a:round/>
            <a:headEnd type="none" w="med" len="med"/>
            <a:tailEnd type="none" w="med" len="med"/>
          </a:ln>
        </p:spPr>
      </p:sp>
      <p:sp>
        <p:nvSpPr>
          <p:cNvPr id="162880" name="直接连接符 528448"/>
          <p:cNvSpPr/>
          <p:nvPr/>
        </p:nvSpPr>
        <p:spPr>
          <a:xfrm flipV="1">
            <a:off x="6477000" y="3697288"/>
            <a:ext cx="0" cy="254000"/>
          </a:xfrm>
          <a:prstGeom prst="line">
            <a:avLst/>
          </a:prstGeom>
          <a:ln w="25400" cap="flat" cmpd="sng">
            <a:solidFill>
              <a:schemeClr val="tx1"/>
            </a:solidFill>
            <a:prstDash val="solid"/>
            <a:round/>
            <a:headEnd type="none" w="med" len="med"/>
            <a:tailEnd type="none" w="med" len="med"/>
          </a:ln>
        </p:spPr>
      </p:sp>
      <p:sp>
        <p:nvSpPr>
          <p:cNvPr id="162881" name="直接连接符 528449"/>
          <p:cNvSpPr/>
          <p:nvPr/>
        </p:nvSpPr>
        <p:spPr>
          <a:xfrm>
            <a:off x="6489700" y="3709988"/>
            <a:ext cx="355600" cy="0"/>
          </a:xfrm>
          <a:prstGeom prst="line">
            <a:avLst/>
          </a:prstGeom>
          <a:ln w="25400" cap="flat" cmpd="sng">
            <a:solidFill>
              <a:schemeClr val="tx1"/>
            </a:solidFill>
            <a:prstDash val="solid"/>
            <a:round/>
            <a:headEnd type="none" w="med" len="med"/>
            <a:tailEnd type="none" w="med" len="med"/>
          </a:ln>
        </p:spPr>
      </p:sp>
      <p:sp>
        <p:nvSpPr>
          <p:cNvPr id="162882" name="直接连接符 528450"/>
          <p:cNvSpPr/>
          <p:nvPr/>
        </p:nvSpPr>
        <p:spPr>
          <a:xfrm>
            <a:off x="6858000" y="3722688"/>
            <a:ext cx="0" cy="203200"/>
          </a:xfrm>
          <a:prstGeom prst="line">
            <a:avLst/>
          </a:prstGeom>
          <a:ln w="25400" cap="flat" cmpd="sng">
            <a:solidFill>
              <a:schemeClr val="tx1"/>
            </a:solidFill>
            <a:prstDash val="solid"/>
            <a:round/>
            <a:headEnd type="none" w="med" len="med"/>
            <a:tailEnd type="none" w="med" len="med"/>
          </a:ln>
        </p:spPr>
      </p:sp>
      <p:sp>
        <p:nvSpPr>
          <p:cNvPr id="162883" name="直接连接符 528451"/>
          <p:cNvSpPr/>
          <p:nvPr/>
        </p:nvSpPr>
        <p:spPr>
          <a:xfrm flipV="1">
            <a:off x="6096000" y="3316288"/>
            <a:ext cx="0" cy="330200"/>
          </a:xfrm>
          <a:prstGeom prst="line">
            <a:avLst/>
          </a:prstGeom>
          <a:ln w="25400" cap="flat" cmpd="sng">
            <a:solidFill>
              <a:schemeClr val="tx1"/>
            </a:solidFill>
            <a:prstDash val="sysDot"/>
            <a:round/>
            <a:headEnd type="none" w="med" len="med"/>
            <a:tailEnd type="none" w="med" len="med"/>
          </a:ln>
        </p:spPr>
      </p:sp>
      <p:sp>
        <p:nvSpPr>
          <p:cNvPr id="162884" name="矩形 528452"/>
          <p:cNvSpPr/>
          <p:nvPr/>
        </p:nvSpPr>
        <p:spPr>
          <a:xfrm>
            <a:off x="6081713" y="3328988"/>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3</a:t>
            </a:r>
            <a:endParaRPr lang="en-US" altLang="zh-CN">
              <a:latin typeface="Times New Roman" panose="02020603050405020304" pitchFamily="18" charset="0"/>
              <a:ea typeface="宋体" panose="02010600030101010101" pitchFamily="2" charset="-122"/>
            </a:endParaRPr>
          </a:p>
        </p:txBody>
      </p:sp>
      <p:sp>
        <p:nvSpPr>
          <p:cNvPr id="162885" name="直接连接符 528453"/>
          <p:cNvSpPr/>
          <p:nvPr/>
        </p:nvSpPr>
        <p:spPr>
          <a:xfrm>
            <a:off x="6870700" y="3938588"/>
            <a:ext cx="355600" cy="0"/>
          </a:xfrm>
          <a:prstGeom prst="line">
            <a:avLst/>
          </a:prstGeom>
          <a:ln w="25400" cap="flat" cmpd="sng">
            <a:solidFill>
              <a:schemeClr val="tx1"/>
            </a:solidFill>
            <a:prstDash val="solid"/>
            <a:round/>
            <a:headEnd type="none" w="med" len="med"/>
            <a:tailEnd type="none" w="med" len="med"/>
          </a:ln>
        </p:spPr>
      </p:sp>
      <p:sp>
        <p:nvSpPr>
          <p:cNvPr id="162886" name="直接连接符 528454"/>
          <p:cNvSpPr/>
          <p:nvPr/>
        </p:nvSpPr>
        <p:spPr>
          <a:xfrm flipV="1">
            <a:off x="7239000" y="3697288"/>
            <a:ext cx="0" cy="254000"/>
          </a:xfrm>
          <a:prstGeom prst="line">
            <a:avLst/>
          </a:prstGeom>
          <a:ln w="25400" cap="flat" cmpd="sng">
            <a:solidFill>
              <a:schemeClr val="tx1"/>
            </a:solidFill>
            <a:prstDash val="solid"/>
            <a:round/>
            <a:headEnd type="none" w="med" len="med"/>
            <a:tailEnd type="none" w="med" len="med"/>
          </a:ln>
        </p:spPr>
      </p:sp>
      <p:sp>
        <p:nvSpPr>
          <p:cNvPr id="162887" name="直接连接符 528455"/>
          <p:cNvSpPr/>
          <p:nvPr/>
        </p:nvSpPr>
        <p:spPr>
          <a:xfrm>
            <a:off x="7251700" y="3709988"/>
            <a:ext cx="355600" cy="0"/>
          </a:xfrm>
          <a:prstGeom prst="line">
            <a:avLst/>
          </a:prstGeom>
          <a:ln w="25400" cap="flat" cmpd="sng">
            <a:solidFill>
              <a:schemeClr val="tx1"/>
            </a:solidFill>
            <a:prstDash val="solid"/>
            <a:round/>
            <a:headEnd type="none" w="med" len="med"/>
            <a:tailEnd type="none" w="med" len="med"/>
          </a:ln>
        </p:spPr>
      </p:sp>
      <p:sp>
        <p:nvSpPr>
          <p:cNvPr id="162888" name="直接连接符 528456"/>
          <p:cNvSpPr/>
          <p:nvPr/>
        </p:nvSpPr>
        <p:spPr>
          <a:xfrm>
            <a:off x="7620000" y="3722688"/>
            <a:ext cx="0" cy="203200"/>
          </a:xfrm>
          <a:prstGeom prst="line">
            <a:avLst/>
          </a:prstGeom>
          <a:ln w="25400" cap="flat" cmpd="sng">
            <a:solidFill>
              <a:schemeClr val="tx1"/>
            </a:solidFill>
            <a:prstDash val="solid"/>
            <a:round/>
            <a:headEnd type="none" w="med" len="med"/>
            <a:tailEnd type="none" w="med" len="med"/>
          </a:ln>
        </p:spPr>
      </p:sp>
      <p:sp>
        <p:nvSpPr>
          <p:cNvPr id="162889" name="直接连接符 528457"/>
          <p:cNvSpPr/>
          <p:nvPr/>
        </p:nvSpPr>
        <p:spPr>
          <a:xfrm flipV="1">
            <a:off x="6858000" y="3316288"/>
            <a:ext cx="0" cy="330200"/>
          </a:xfrm>
          <a:prstGeom prst="line">
            <a:avLst/>
          </a:prstGeom>
          <a:ln w="25400" cap="flat" cmpd="sng">
            <a:solidFill>
              <a:schemeClr val="tx1"/>
            </a:solidFill>
            <a:prstDash val="sysDot"/>
            <a:round/>
            <a:headEnd type="none" w="med" len="med"/>
            <a:tailEnd type="none" w="med" len="med"/>
          </a:ln>
        </p:spPr>
      </p:sp>
      <p:sp>
        <p:nvSpPr>
          <p:cNvPr id="162890" name="矩形 528458"/>
          <p:cNvSpPr/>
          <p:nvPr/>
        </p:nvSpPr>
        <p:spPr>
          <a:xfrm>
            <a:off x="6843713" y="3328988"/>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4</a:t>
            </a:r>
            <a:endParaRPr lang="en-US" altLang="zh-CN">
              <a:latin typeface="Times New Roman" panose="02020603050405020304" pitchFamily="18" charset="0"/>
              <a:ea typeface="宋体" panose="02010600030101010101" pitchFamily="2" charset="-122"/>
            </a:endParaRPr>
          </a:p>
        </p:txBody>
      </p:sp>
      <p:sp>
        <p:nvSpPr>
          <p:cNvPr id="162891" name="直接连接符 528459"/>
          <p:cNvSpPr/>
          <p:nvPr/>
        </p:nvSpPr>
        <p:spPr>
          <a:xfrm>
            <a:off x="7632700" y="3938588"/>
            <a:ext cx="355600" cy="0"/>
          </a:xfrm>
          <a:prstGeom prst="line">
            <a:avLst/>
          </a:prstGeom>
          <a:ln w="25400" cap="flat" cmpd="sng">
            <a:solidFill>
              <a:schemeClr val="tx1"/>
            </a:solidFill>
            <a:prstDash val="solid"/>
            <a:round/>
            <a:headEnd type="none" w="med" len="med"/>
            <a:tailEnd type="none" w="med" len="med"/>
          </a:ln>
        </p:spPr>
      </p:sp>
      <p:sp>
        <p:nvSpPr>
          <p:cNvPr id="162892" name="直接连接符 528460"/>
          <p:cNvSpPr/>
          <p:nvPr/>
        </p:nvSpPr>
        <p:spPr>
          <a:xfrm flipV="1">
            <a:off x="8001000" y="3697288"/>
            <a:ext cx="0" cy="254000"/>
          </a:xfrm>
          <a:prstGeom prst="line">
            <a:avLst/>
          </a:prstGeom>
          <a:ln w="25400" cap="flat" cmpd="sng">
            <a:solidFill>
              <a:schemeClr val="tx1"/>
            </a:solidFill>
            <a:prstDash val="solid"/>
            <a:round/>
            <a:headEnd type="none" w="med" len="med"/>
            <a:tailEnd type="none" w="med" len="med"/>
          </a:ln>
        </p:spPr>
      </p:sp>
      <p:sp>
        <p:nvSpPr>
          <p:cNvPr id="162893" name="直接连接符 528461"/>
          <p:cNvSpPr/>
          <p:nvPr/>
        </p:nvSpPr>
        <p:spPr>
          <a:xfrm>
            <a:off x="8013700" y="3709988"/>
            <a:ext cx="355600" cy="0"/>
          </a:xfrm>
          <a:prstGeom prst="line">
            <a:avLst/>
          </a:prstGeom>
          <a:ln w="25400" cap="flat" cmpd="sng">
            <a:solidFill>
              <a:schemeClr val="tx1"/>
            </a:solidFill>
            <a:prstDash val="solid"/>
            <a:round/>
            <a:headEnd type="none" w="med" len="med"/>
            <a:tailEnd type="none" w="med" len="med"/>
          </a:ln>
        </p:spPr>
      </p:sp>
      <p:sp>
        <p:nvSpPr>
          <p:cNvPr id="162894" name="直接连接符 528462"/>
          <p:cNvSpPr/>
          <p:nvPr/>
        </p:nvSpPr>
        <p:spPr>
          <a:xfrm>
            <a:off x="8382000" y="3722688"/>
            <a:ext cx="0" cy="203200"/>
          </a:xfrm>
          <a:prstGeom prst="line">
            <a:avLst/>
          </a:prstGeom>
          <a:ln w="25400" cap="flat" cmpd="sng">
            <a:solidFill>
              <a:schemeClr val="tx1"/>
            </a:solidFill>
            <a:prstDash val="solid"/>
            <a:round/>
            <a:headEnd type="none" w="med" len="med"/>
            <a:tailEnd type="none" w="med" len="med"/>
          </a:ln>
        </p:spPr>
      </p:sp>
      <p:sp>
        <p:nvSpPr>
          <p:cNvPr id="162895" name="直接连接符 528463"/>
          <p:cNvSpPr/>
          <p:nvPr/>
        </p:nvSpPr>
        <p:spPr>
          <a:xfrm flipV="1">
            <a:off x="7620000" y="3316288"/>
            <a:ext cx="0" cy="330200"/>
          </a:xfrm>
          <a:prstGeom prst="line">
            <a:avLst/>
          </a:prstGeom>
          <a:ln w="25400" cap="flat" cmpd="sng">
            <a:solidFill>
              <a:schemeClr val="tx1"/>
            </a:solidFill>
            <a:prstDash val="sysDot"/>
            <a:round/>
            <a:headEnd type="none" w="med" len="med"/>
            <a:tailEnd type="none" w="med" len="med"/>
          </a:ln>
        </p:spPr>
      </p:sp>
      <p:sp>
        <p:nvSpPr>
          <p:cNvPr id="162896" name="矩形 528464"/>
          <p:cNvSpPr/>
          <p:nvPr/>
        </p:nvSpPr>
        <p:spPr>
          <a:xfrm>
            <a:off x="7529513" y="3328988"/>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162897" name="直接连接符 528465"/>
          <p:cNvSpPr/>
          <p:nvPr/>
        </p:nvSpPr>
        <p:spPr>
          <a:xfrm>
            <a:off x="8394700" y="3938588"/>
            <a:ext cx="355600" cy="0"/>
          </a:xfrm>
          <a:prstGeom prst="line">
            <a:avLst/>
          </a:prstGeom>
          <a:ln w="25400" cap="flat" cmpd="sng">
            <a:solidFill>
              <a:schemeClr val="tx1"/>
            </a:solidFill>
            <a:prstDash val="solid"/>
            <a:round/>
            <a:headEnd type="none" w="med" len="med"/>
            <a:tailEnd type="none" w="med" len="med"/>
          </a:ln>
        </p:spPr>
      </p:sp>
      <p:sp>
        <p:nvSpPr>
          <p:cNvPr id="162898" name="矩形 528466"/>
          <p:cNvSpPr/>
          <p:nvPr/>
        </p:nvSpPr>
        <p:spPr>
          <a:xfrm>
            <a:off x="128588" y="5438775"/>
            <a:ext cx="677862"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2"/>
                </a:solidFill>
                <a:latin typeface="微软雅黑" panose="020B0503020204020204" pitchFamily="34" charset="-122"/>
                <a:ea typeface="微软雅黑" panose="020B0503020204020204" pitchFamily="34" charset="-122"/>
              </a:rPr>
              <a:t>Load</a:t>
            </a:r>
            <a:endParaRPr lang="en-US" altLang="zh-CN">
              <a:solidFill>
                <a:schemeClr val="accent2"/>
              </a:solidFill>
              <a:latin typeface="微软雅黑" panose="020B0503020204020204" pitchFamily="34" charset="-122"/>
              <a:ea typeface="微软雅黑" panose="020B0503020204020204" pitchFamily="34" charset="-122"/>
            </a:endParaRPr>
          </a:p>
        </p:txBody>
      </p:sp>
      <p:grpSp>
        <p:nvGrpSpPr>
          <p:cNvPr id="162899" name="组合 528467"/>
          <p:cNvGrpSpPr/>
          <p:nvPr/>
        </p:nvGrpSpPr>
        <p:grpSpPr>
          <a:xfrm>
            <a:off x="774700" y="5438775"/>
            <a:ext cx="3784600" cy="333375"/>
            <a:chOff x="488" y="3264"/>
            <a:chExt cx="2384" cy="210"/>
          </a:xfrm>
        </p:grpSpPr>
        <p:grpSp>
          <p:nvGrpSpPr>
            <p:cNvPr id="162900" name="组合 528468"/>
            <p:cNvGrpSpPr/>
            <p:nvPr/>
          </p:nvGrpSpPr>
          <p:grpSpPr>
            <a:xfrm>
              <a:off x="488" y="3264"/>
              <a:ext cx="466" cy="210"/>
              <a:chOff x="488" y="3264"/>
              <a:chExt cx="466" cy="210"/>
            </a:xfrm>
          </p:grpSpPr>
          <p:sp>
            <p:nvSpPr>
              <p:cNvPr id="162901" name="矩形 528469"/>
              <p:cNvSpPr/>
              <p:nvPr/>
            </p:nvSpPr>
            <p:spPr>
              <a:xfrm>
                <a:off x="488" y="327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02" name="矩形 528470"/>
              <p:cNvSpPr/>
              <p:nvPr/>
            </p:nvSpPr>
            <p:spPr>
              <a:xfrm>
                <a:off x="519" y="3264"/>
                <a:ext cx="435"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62903" name="组合 528471"/>
            <p:cNvGrpSpPr/>
            <p:nvPr/>
          </p:nvGrpSpPr>
          <p:grpSpPr>
            <a:xfrm>
              <a:off x="968" y="3264"/>
              <a:ext cx="464" cy="210"/>
              <a:chOff x="968" y="3264"/>
              <a:chExt cx="464" cy="210"/>
            </a:xfrm>
          </p:grpSpPr>
          <p:sp>
            <p:nvSpPr>
              <p:cNvPr id="162904" name="矩形 528472"/>
              <p:cNvSpPr/>
              <p:nvPr/>
            </p:nvSpPr>
            <p:spPr>
              <a:xfrm>
                <a:off x="968" y="327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05" name="矩形 528473"/>
              <p:cNvSpPr/>
              <p:nvPr/>
            </p:nvSpPr>
            <p:spPr>
              <a:xfrm>
                <a:off x="1047" y="3264"/>
                <a:ext cx="327"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endParaRPr lang="en-US" altLang="zh-CN">
                  <a:latin typeface="Times New Roman" panose="02020603050405020304" pitchFamily="18" charset="0"/>
                  <a:ea typeface="宋体" panose="02010600030101010101" pitchFamily="2" charset="-122"/>
                </a:endParaRPr>
              </a:p>
            </p:txBody>
          </p:sp>
        </p:grpSp>
        <p:grpSp>
          <p:nvGrpSpPr>
            <p:cNvPr id="162906" name="组合 528474"/>
            <p:cNvGrpSpPr/>
            <p:nvPr/>
          </p:nvGrpSpPr>
          <p:grpSpPr>
            <a:xfrm>
              <a:off x="1448" y="3264"/>
              <a:ext cx="464" cy="210"/>
              <a:chOff x="1448" y="3264"/>
              <a:chExt cx="464" cy="210"/>
            </a:xfrm>
          </p:grpSpPr>
          <p:sp>
            <p:nvSpPr>
              <p:cNvPr id="162907" name="矩形 528475"/>
              <p:cNvSpPr/>
              <p:nvPr/>
            </p:nvSpPr>
            <p:spPr>
              <a:xfrm>
                <a:off x="1448" y="327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08" name="矩形 528476"/>
              <p:cNvSpPr/>
              <p:nvPr/>
            </p:nvSpPr>
            <p:spPr>
              <a:xfrm>
                <a:off x="1479" y="3264"/>
                <a:ext cx="377"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62909" name="组合 528477"/>
            <p:cNvGrpSpPr/>
            <p:nvPr/>
          </p:nvGrpSpPr>
          <p:grpSpPr>
            <a:xfrm>
              <a:off x="1928" y="3264"/>
              <a:ext cx="464" cy="210"/>
              <a:chOff x="1928" y="3264"/>
              <a:chExt cx="464" cy="210"/>
            </a:xfrm>
          </p:grpSpPr>
          <p:sp>
            <p:nvSpPr>
              <p:cNvPr id="162910" name="矩形 528478"/>
              <p:cNvSpPr/>
              <p:nvPr/>
            </p:nvSpPr>
            <p:spPr>
              <a:xfrm>
                <a:off x="1928" y="327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11" name="矩形 528479"/>
              <p:cNvSpPr/>
              <p:nvPr/>
            </p:nvSpPr>
            <p:spPr>
              <a:xfrm>
                <a:off x="1959" y="3264"/>
                <a:ext cx="399"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Mem</a:t>
                </a:r>
                <a:endParaRPr lang="en-US" altLang="zh-CN">
                  <a:latin typeface="Times New Roman" panose="02020603050405020304" pitchFamily="18" charset="0"/>
                  <a:ea typeface="宋体" panose="02010600030101010101" pitchFamily="2" charset="-122"/>
                </a:endParaRPr>
              </a:p>
            </p:txBody>
          </p:sp>
        </p:grpSp>
        <p:grpSp>
          <p:nvGrpSpPr>
            <p:cNvPr id="162912" name="组合 528480"/>
            <p:cNvGrpSpPr/>
            <p:nvPr/>
          </p:nvGrpSpPr>
          <p:grpSpPr>
            <a:xfrm>
              <a:off x="2408" y="3264"/>
              <a:ext cx="464" cy="210"/>
              <a:chOff x="2408" y="3264"/>
              <a:chExt cx="464" cy="210"/>
            </a:xfrm>
          </p:grpSpPr>
          <p:sp>
            <p:nvSpPr>
              <p:cNvPr id="162913" name="矩形 528481"/>
              <p:cNvSpPr/>
              <p:nvPr/>
            </p:nvSpPr>
            <p:spPr>
              <a:xfrm>
                <a:off x="2408" y="327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14" name="矩形 528482"/>
              <p:cNvSpPr/>
              <p:nvPr/>
            </p:nvSpPr>
            <p:spPr>
              <a:xfrm>
                <a:off x="2487" y="3264"/>
                <a:ext cx="299"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Wr</a:t>
                </a:r>
                <a:endParaRPr lang="en-US" altLang="zh-CN">
                  <a:latin typeface="Times New Roman" panose="02020603050405020304" pitchFamily="18" charset="0"/>
                  <a:ea typeface="宋体" panose="02010600030101010101" pitchFamily="2" charset="-122"/>
                </a:endParaRPr>
              </a:p>
            </p:txBody>
          </p:sp>
        </p:grpSp>
      </p:grpSp>
      <p:grpSp>
        <p:nvGrpSpPr>
          <p:cNvPr id="162915" name="组合 528483"/>
          <p:cNvGrpSpPr/>
          <p:nvPr/>
        </p:nvGrpSpPr>
        <p:grpSpPr>
          <a:xfrm>
            <a:off x="4584700" y="4424363"/>
            <a:ext cx="739775" cy="333375"/>
            <a:chOff x="2888" y="2544"/>
            <a:chExt cx="466" cy="210"/>
          </a:xfrm>
        </p:grpSpPr>
        <p:sp>
          <p:nvSpPr>
            <p:cNvPr id="162916" name="矩形 528484"/>
            <p:cNvSpPr/>
            <p:nvPr/>
          </p:nvSpPr>
          <p:spPr>
            <a:xfrm>
              <a:off x="288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17" name="矩形 528485"/>
            <p:cNvSpPr/>
            <p:nvPr/>
          </p:nvSpPr>
          <p:spPr>
            <a:xfrm>
              <a:off x="2919" y="2544"/>
              <a:ext cx="435"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62918" name="组合 528486"/>
          <p:cNvGrpSpPr/>
          <p:nvPr/>
        </p:nvGrpSpPr>
        <p:grpSpPr>
          <a:xfrm>
            <a:off x="5346700" y="4424363"/>
            <a:ext cx="736600" cy="333375"/>
            <a:chOff x="3368" y="2544"/>
            <a:chExt cx="464" cy="210"/>
          </a:xfrm>
        </p:grpSpPr>
        <p:sp>
          <p:nvSpPr>
            <p:cNvPr id="162919" name="矩形 528487"/>
            <p:cNvSpPr/>
            <p:nvPr/>
          </p:nvSpPr>
          <p:spPr>
            <a:xfrm>
              <a:off x="336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20" name="矩形 528488"/>
            <p:cNvSpPr/>
            <p:nvPr/>
          </p:nvSpPr>
          <p:spPr>
            <a:xfrm>
              <a:off x="3447" y="2544"/>
              <a:ext cx="327"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endParaRPr lang="en-US" altLang="zh-CN">
                <a:latin typeface="Times New Roman" panose="02020603050405020304" pitchFamily="18" charset="0"/>
                <a:ea typeface="宋体" panose="02010600030101010101" pitchFamily="2" charset="-122"/>
              </a:endParaRPr>
            </a:p>
          </p:txBody>
        </p:sp>
      </p:grpSp>
      <p:grpSp>
        <p:nvGrpSpPr>
          <p:cNvPr id="162921" name="组合 528489"/>
          <p:cNvGrpSpPr/>
          <p:nvPr/>
        </p:nvGrpSpPr>
        <p:grpSpPr>
          <a:xfrm>
            <a:off x="6108700" y="4424363"/>
            <a:ext cx="736600" cy="333375"/>
            <a:chOff x="3848" y="2544"/>
            <a:chExt cx="464" cy="210"/>
          </a:xfrm>
        </p:grpSpPr>
        <p:sp>
          <p:nvSpPr>
            <p:cNvPr id="162922" name="矩形 528490"/>
            <p:cNvSpPr/>
            <p:nvPr/>
          </p:nvSpPr>
          <p:spPr>
            <a:xfrm>
              <a:off x="384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23" name="矩形 528491"/>
            <p:cNvSpPr/>
            <p:nvPr/>
          </p:nvSpPr>
          <p:spPr>
            <a:xfrm>
              <a:off x="3879" y="2544"/>
              <a:ext cx="377"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62924" name="组合 528492"/>
          <p:cNvGrpSpPr/>
          <p:nvPr/>
        </p:nvGrpSpPr>
        <p:grpSpPr>
          <a:xfrm>
            <a:off x="6870700" y="4424363"/>
            <a:ext cx="736600" cy="333375"/>
            <a:chOff x="4328" y="2544"/>
            <a:chExt cx="464" cy="210"/>
          </a:xfrm>
        </p:grpSpPr>
        <p:sp>
          <p:nvSpPr>
            <p:cNvPr id="162925" name="矩形 528493"/>
            <p:cNvSpPr/>
            <p:nvPr/>
          </p:nvSpPr>
          <p:spPr>
            <a:xfrm>
              <a:off x="432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26" name="矩形 528494"/>
            <p:cNvSpPr/>
            <p:nvPr/>
          </p:nvSpPr>
          <p:spPr>
            <a:xfrm>
              <a:off x="4359" y="2544"/>
              <a:ext cx="399"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Mem</a:t>
              </a:r>
              <a:endParaRPr lang="en-US" altLang="zh-CN">
                <a:latin typeface="Times New Roman" panose="02020603050405020304" pitchFamily="18" charset="0"/>
                <a:ea typeface="宋体" panose="02010600030101010101" pitchFamily="2" charset="-122"/>
              </a:endParaRPr>
            </a:p>
          </p:txBody>
        </p:sp>
      </p:grpSp>
      <p:sp>
        <p:nvSpPr>
          <p:cNvPr id="162927" name="矩形 528495"/>
          <p:cNvSpPr/>
          <p:nvPr/>
        </p:nvSpPr>
        <p:spPr>
          <a:xfrm>
            <a:off x="747713" y="4119563"/>
            <a:ext cx="677862"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2"/>
                </a:solidFill>
                <a:latin typeface="微软雅黑" panose="020B0503020204020204" pitchFamily="34" charset="-122"/>
                <a:ea typeface="微软雅黑" panose="020B0503020204020204" pitchFamily="34" charset="-122"/>
              </a:rPr>
              <a:t>Load</a:t>
            </a:r>
            <a:endParaRPr lang="en-US" altLang="zh-CN">
              <a:solidFill>
                <a:schemeClr val="accent2"/>
              </a:solidFill>
              <a:latin typeface="微软雅黑" panose="020B0503020204020204" pitchFamily="34" charset="-122"/>
              <a:ea typeface="微软雅黑" panose="020B0503020204020204" pitchFamily="34" charset="-122"/>
            </a:endParaRPr>
          </a:p>
        </p:txBody>
      </p:sp>
      <p:sp>
        <p:nvSpPr>
          <p:cNvPr id="162928" name="矩形 528496"/>
          <p:cNvSpPr/>
          <p:nvPr/>
        </p:nvSpPr>
        <p:spPr>
          <a:xfrm>
            <a:off x="4557713" y="4119563"/>
            <a:ext cx="725487"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2"/>
                </a:solidFill>
                <a:latin typeface="微软雅黑" panose="020B0503020204020204" pitchFamily="34" charset="-122"/>
                <a:ea typeface="微软雅黑" panose="020B0503020204020204" pitchFamily="34" charset="-122"/>
              </a:rPr>
              <a:t>Store</a:t>
            </a:r>
            <a:endParaRPr lang="en-US" altLang="zh-CN">
              <a:solidFill>
                <a:schemeClr val="accent2"/>
              </a:solidFill>
              <a:latin typeface="微软雅黑" panose="020B0503020204020204" pitchFamily="34" charset="-122"/>
              <a:ea typeface="微软雅黑" panose="020B0503020204020204" pitchFamily="34" charset="-122"/>
            </a:endParaRPr>
          </a:p>
        </p:txBody>
      </p:sp>
      <p:sp>
        <p:nvSpPr>
          <p:cNvPr id="162929" name="直接连接符 528497"/>
          <p:cNvSpPr/>
          <p:nvPr/>
        </p:nvSpPr>
        <p:spPr>
          <a:xfrm flipV="1">
            <a:off x="4572000" y="3497263"/>
            <a:ext cx="0" cy="939800"/>
          </a:xfrm>
          <a:prstGeom prst="line">
            <a:avLst/>
          </a:prstGeom>
          <a:ln w="25400" cap="flat" cmpd="sng">
            <a:solidFill>
              <a:schemeClr val="tx1"/>
            </a:solidFill>
            <a:prstDash val="sysDot"/>
            <a:round/>
            <a:headEnd type="none" w="med" len="med"/>
            <a:tailEnd type="none" w="med" len="med"/>
          </a:ln>
        </p:spPr>
      </p:sp>
      <p:sp>
        <p:nvSpPr>
          <p:cNvPr id="162930" name="矩形 528498"/>
          <p:cNvSpPr/>
          <p:nvPr/>
        </p:nvSpPr>
        <p:spPr>
          <a:xfrm>
            <a:off x="185738" y="4986338"/>
            <a:ext cx="4437062" cy="347662"/>
          </a:xfrm>
          <a:prstGeom prst="rect">
            <a:avLst/>
          </a:prstGeom>
          <a:noFill/>
          <a:ln w="12700">
            <a:noFill/>
          </a:ln>
        </p:spPr>
        <p:txBody>
          <a:bodyPr wrap="none" lIns="90488" tIns="44450" rIns="90488" bIns="44450" anchor="t" anchorCtr="0">
            <a:spAutoFit/>
          </a:bodyPr>
          <a:p>
            <a:pPr eaLnBrk="0" hangingPunct="0"/>
            <a:r>
              <a:rPr lang="en-US" altLang="zh-CN" sz="1700">
                <a:solidFill>
                  <a:schemeClr val="accent1"/>
                </a:solidFill>
                <a:latin typeface="微软雅黑" panose="020B0503020204020204" pitchFamily="34" charset="-122"/>
                <a:ea typeface="微软雅黑" panose="020B0503020204020204" pitchFamily="34" charset="-122"/>
              </a:rPr>
              <a:t>Pipeline Implementation</a:t>
            </a:r>
            <a:r>
              <a:rPr lang="zh-CN" altLang="en-US" sz="1700" dirty="0">
                <a:solidFill>
                  <a:schemeClr val="accent1"/>
                </a:solidFill>
                <a:latin typeface="微软雅黑" panose="020B0503020204020204" pitchFamily="34" charset="-122"/>
                <a:ea typeface="微软雅黑" panose="020B0503020204020204" pitchFamily="34" charset="-122"/>
              </a:rPr>
              <a:t>（流水线实现）</a:t>
            </a:r>
            <a:r>
              <a:rPr lang="en-US" altLang="zh-CN">
                <a:solidFill>
                  <a:schemeClr val="accent1"/>
                </a:solidFill>
                <a:latin typeface="Times New Roman" panose="02020603050405020304" pitchFamily="18" charset="0"/>
                <a:ea typeface="宋体" panose="02010600030101010101" pitchFamily="2" charset="-122"/>
              </a:rPr>
              <a:t>:</a:t>
            </a:r>
            <a:endParaRPr lang="en-US" altLang="zh-CN">
              <a:solidFill>
                <a:schemeClr val="accent1"/>
              </a:solidFill>
              <a:latin typeface="Times New Roman" panose="02020603050405020304" pitchFamily="18" charset="0"/>
              <a:ea typeface="宋体" panose="02010600030101010101" pitchFamily="2" charset="-122"/>
            </a:endParaRPr>
          </a:p>
        </p:txBody>
      </p:sp>
      <p:grpSp>
        <p:nvGrpSpPr>
          <p:cNvPr id="162931" name="组合 528499"/>
          <p:cNvGrpSpPr/>
          <p:nvPr/>
        </p:nvGrpSpPr>
        <p:grpSpPr>
          <a:xfrm>
            <a:off x="1536700" y="5895975"/>
            <a:ext cx="3784600" cy="333375"/>
            <a:chOff x="968" y="3552"/>
            <a:chExt cx="2384" cy="210"/>
          </a:xfrm>
        </p:grpSpPr>
        <p:grpSp>
          <p:nvGrpSpPr>
            <p:cNvPr id="162932" name="组合 528500"/>
            <p:cNvGrpSpPr/>
            <p:nvPr/>
          </p:nvGrpSpPr>
          <p:grpSpPr>
            <a:xfrm>
              <a:off x="968" y="3552"/>
              <a:ext cx="466" cy="210"/>
              <a:chOff x="968" y="3552"/>
              <a:chExt cx="466" cy="210"/>
            </a:xfrm>
          </p:grpSpPr>
          <p:sp>
            <p:nvSpPr>
              <p:cNvPr id="162933" name="矩形 528501"/>
              <p:cNvSpPr/>
              <p:nvPr/>
            </p:nvSpPr>
            <p:spPr>
              <a:xfrm>
                <a:off x="968" y="3560"/>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34" name="矩形 528502"/>
              <p:cNvSpPr/>
              <p:nvPr/>
            </p:nvSpPr>
            <p:spPr>
              <a:xfrm>
                <a:off x="999" y="3552"/>
                <a:ext cx="435"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62935" name="组合 528503"/>
            <p:cNvGrpSpPr/>
            <p:nvPr/>
          </p:nvGrpSpPr>
          <p:grpSpPr>
            <a:xfrm>
              <a:off x="1448" y="3552"/>
              <a:ext cx="464" cy="210"/>
              <a:chOff x="1448" y="3552"/>
              <a:chExt cx="464" cy="210"/>
            </a:xfrm>
          </p:grpSpPr>
          <p:sp>
            <p:nvSpPr>
              <p:cNvPr id="162936" name="矩形 528504"/>
              <p:cNvSpPr/>
              <p:nvPr/>
            </p:nvSpPr>
            <p:spPr>
              <a:xfrm>
                <a:off x="1448" y="3560"/>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37" name="矩形 528505"/>
              <p:cNvSpPr/>
              <p:nvPr/>
            </p:nvSpPr>
            <p:spPr>
              <a:xfrm>
                <a:off x="1527" y="3552"/>
                <a:ext cx="327"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endParaRPr lang="en-US" altLang="zh-CN">
                  <a:latin typeface="Times New Roman" panose="02020603050405020304" pitchFamily="18" charset="0"/>
                  <a:ea typeface="宋体" panose="02010600030101010101" pitchFamily="2" charset="-122"/>
                </a:endParaRPr>
              </a:p>
            </p:txBody>
          </p:sp>
        </p:grpSp>
        <p:grpSp>
          <p:nvGrpSpPr>
            <p:cNvPr id="162938" name="组合 528506"/>
            <p:cNvGrpSpPr/>
            <p:nvPr/>
          </p:nvGrpSpPr>
          <p:grpSpPr>
            <a:xfrm>
              <a:off x="1928" y="3552"/>
              <a:ext cx="464" cy="210"/>
              <a:chOff x="1928" y="3552"/>
              <a:chExt cx="464" cy="210"/>
            </a:xfrm>
          </p:grpSpPr>
          <p:sp>
            <p:nvSpPr>
              <p:cNvPr id="162939" name="矩形 528507"/>
              <p:cNvSpPr/>
              <p:nvPr/>
            </p:nvSpPr>
            <p:spPr>
              <a:xfrm>
                <a:off x="1928" y="3560"/>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40" name="矩形 528508"/>
              <p:cNvSpPr/>
              <p:nvPr/>
            </p:nvSpPr>
            <p:spPr>
              <a:xfrm>
                <a:off x="1959" y="3552"/>
                <a:ext cx="377"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62941" name="组合 528509"/>
            <p:cNvGrpSpPr/>
            <p:nvPr/>
          </p:nvGrpSpPr>
          <p:grpSpPr>
            <a:xfrm>
              <a:off x="2408" y="3552"/>
              <a:ext cx="464" cy="210"/>
              <a:chOff x="2408" y="3552"/>
              <a:chExt cx="464" cy="210"/>
            </a:xfrm>
          </p:grpSpPr>
          <p:sp>
            <p:nvSpPr>
              <p:cNvPr id="162942" name="矩形 528510"/>
              <p:cNvSpPr/>
              <p:nvPr/>
            </p:nvSpPr>
            <p:spPr>
              <a:xfrm>
                <a:off x="2408" y="3560"/>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43" name="矩形 528511"/>
              <p:cNvSpPr/>
              <p:nvPr/>
            </p:nvSpPr>
            <p:spPr>
              <a:xfrm>
                <a:off x="2439" y="3552"/>
                <a:ext cx="399"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Mem</a:t>
                </a:r>
                <a:endParaRPr lang="en-US" altLang="zh-CN">
                  <a:latin typeface="Times New Roman" panose="02020603050405020304" pitchFamily="18" charset="0"/>
                  <a:ea typeface="宋体" panose="02010600030101010101" pitchFamily="2" charset="-122"/>
                </a:endParaRPr>
              </a:p>
            </p:txBody>
          </p:sp>
        </p:grpSp>
        <p:grpSp>
          <p:nvGrpSpPr>
            <p:cNvPr id="162944" name="组合 528512"/>
            <p:cNvGrpSpPr/>
            <p:nvPr/>
          </p:nvGrpSpPr>
          <p:grpSpPr>
            <a:xfrm>
              <a:off x="2888" y="3552"/>
              <a:ext cx="464" cy="210"/>
              <a:chOff x="2888" y="3552"/>
              <a:chExt cx="464" cy="210"/>
            </a:xfrm>
          </p:grpSpPr>
          <p:sp>
            <p:nvSpPr>
              <p:cNvPr id="162945" name="矩形 528513"/>
              <p:cNvSpPr/>
              <p:nvPr/>
            </p:nvSpPr>
            <p:spPr>
              <a:xfrm>
                <a:off x="2888" y="3560"/>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46" name="矩形 528514"/>
              <p:cNvSpPr/>
              <p:nvPr/>
            </p:nvSpPr>
            <p:spPr>
              <a:xfrm>
                <a:off x="2967" y="3552"/>
                <a:ext cx="299" cy="210"/>
              </a:xfrm>
              <a:prstGeom prst="rect">
                <a:avLst/>
              </a:prstGeom>
              <a:noFill/>
              <a:ln w="12700">
                <a:noFill/>
              </a:ln>
            </p:spPr>
            <p:txBody>
              <a:bodyPr wrap="none" lIns="90488" tIns="44450" rIns="90488" bIns="44450" anchor="t" anchorCtr="0">
                <a:spAutoFit/>
              </a:bodyPr>
              <a:p>
                <a:pPr eaLnBrk="0" hangingPunct="0"/>
                <a:r>
                  <a:rPr lang="en-US" altLang="zh-CN" err="1">
                    <a:solidFill>
                      <a:schemeClr val="accent1"/>
                    </a:solidFill>
                    <a:latin typeface="Times New Roman" panose="02020603050405020304" pitchFamily="18" charset="0"/>
                    <a:ea typeface="宋体" panose="02010600030101010101" pitchFamily="2" charset="-122"/>
                  </a:rPr>
                  <a:t>Wr</a:t>
                </a:r>
                <a:endParaRPr lang="en-US" altLang="zh-CN">
                  <a:solidFill>
                    <a:schemeClr val="accent1"/>
                  </a:solidFill>
                  <a:latin typeface="Times New Roman" panose="02020603050405020304" pitchFamily="18" charset="0"/>
                  <a:ea typeface="宋体" panose="02010600030101010101" pitchFamily="2" charset="-122"/>
                </a:endParaRPr>
              </a:p>
            </p:txBody>
          </p:sp>
        </p:grpSp>
      </p:grpSp>
      <p:sp>
        <p:nvSpPr>
          <p:cNvPr id="162947" name="矩形 528515"/>
          <p:cNvSpPr/>
          <p:nvPr/>
        </p:nvSpPr>
        <p:spPr>
          <a:xfrm>
            <a:off x="847725" y="5895975"/>
            <a:ext cx="725488"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2"/>
                </a:solidFill>
                <a:latin typeface="微软雅黑" panose="020B0503020204020204" pitchFamily="34" charset="-122"/>
                <a:ea typeface="微软雅黑" panose="020B0503020204020204" pitchFamily="34" charset="-122"/>
              </a:rPr>
              <a:t>Store</a:t>
            </a:r>
            <a:endParaRPr lang="en-US" altLang="zh-CN">
              <a:solidFill>
                <a:schemeClr val="accent2"/>
              </a:solidFill>
              <a:latin typeface="微软雅黑" panose="020B0503020204020204" pitchFamily="34" charset="-122"/>
              <a:ea typeface="微软雅黑" panose="020B0503020204020204" pitchFamily="34" charset="-122"/>
            </a:endParaRPr>
          </a:p>
        </p:txBody>
      </p:sp>
      <p:sp>
        <p:nvSpPr>
          <p:cNvPr id="162948" name="直接连接符 528516"/>
          <p:cNvSpPr/>
          <p:nvPr/>
        </p:nvSpPr>
        <p:spPr>
          <a:xfrm flipV="1">
            <a:off x="762000" y="3497263"/>
            <a:ext cx="0" cy="939800"/>
          </a:xfrm>
          <a:prstGeom prst="line">
            <a:avLst/>
          </a:prstGeom>
          <a:ln w="25400" cap="flat" cmpd="sng">
            <a:solidFill>
              <a:schemeClr val="tx1"/>
            </a:solidFill>
            <a:prstDash val="sysDot"/>
            <a:round/>
            <a:headEnd type="none" w="med" len="med"/>
            <a:tailEnd type="none" w="med" len="med"/>
          </a:ln>
        </p:spPr>
      </p:sp>
      <p:sp>
        <p:nvSpPr>
          <p:cNvPr id="162949" name="直接连接符 528517"/>
          <p:cNvSpPr/>
          <p:nvPr/>
        </p:nvSpPr>
        <p:spPr>
          <a:xfrm flipV="1">
            <a:off x="762000" y="4573588"/>
            <a:ext cx="0" cy="787400"/>
          </a:xfrm>
          <a:prstGeom prst="line">
            <a:avLst/>
          </a:prstGeom>
          <a:ln w="25400" cap="flat" cmpd="sng">
            <a:solidFill>
              <a:schemeClr val="tx1"/>
            </a:solidFill>
            <a:prstDash val="sysDot"/>
            <a:round/>
            <a:headEnd type="none" w="med" len="med"/>
            <a:tailEnd type="none" w="med" len="med"/>
          </a:ln>
        </p:spPr>
      </p:sp>
      <p:sp>
        <p:nvSpPr>
          <p:cNvPr id="162950" name="直接连接符 528518"/>
          <p:cNvSpPr/>
          <p:nvPr/>
        </p:nvSpPr>
        <p:spPr>
          <a:xfrm flipV="1">
            <a:off x="4572000" y="4573588"/>
            <a:ext cx="0" cy="787400"/>
          </a:xfrm>
          <a:prstGeom prst="line">
            <a:avLst/>
          </a:prstGeom>
          <a:ln w="25400" cap="flat" cmpd="sng">
            <a:solidFill>
              <a:schemeClr val="tx1"/>
            </a:solidFill>
            <a:prstDash val="sysDot"/>
            <a:round/>
            <a:headEnd type="none" w="med" len="med"/>
            <a:tailEnd type="none" w="med" len="med"/>
          </a:ln>
        </p:spPr>
      </p:sp>
      <p:sp>
        <p:nvSpPr>
          <p:cNvPr id="162951" name="直接连接符 528519"/>
          <p:cNvSpPr/>
          <p:nvPr/>
        </p:nvSpPr>
        <p:spPr>
          <a:xfrm>
            <a:off x="393700" y="1476375"/>
            <a:ext cx="355600" cy="0"/>
          </a:xfrm>
          <a:prstGeom prst="line">
            <a:avLst/>
          </a:prstGeom>
          <a:ln w="25400" cap="flat" cmpd="sng">
            <a:solidFill>
              <a:schemeClr val="tx1"/>
            </a:solidFill>
            <a:prstDash val="solid"/>
            <a:round/>
            <a:headEnd type="none" w="med" len="med"/>
            <a:tailEnd type="none" w="med" len="med"/>
          </a:ln>
        </p:spPr>
      </p:sp>
      <p:sp>
        <p:nvSpPr>
          <p:cNvPr id="162952" name="直接连接符 528520"/>
          <p:cNvSpPr/>
          <p:nvPr/>
        </p:nvSpPr>
        <p:spPr>
          <a:xfrm>
            <a:off x="762000" y="1489075"/>
            <a:ext cx="0" cy="203200"/>
          </a:xfrm>
          <a:prstGeom prst="line">
            <a:avLst/>
          </a:prstGeom>
          <a:ln w="25400" cap="flat" cmpd="sng">
            <a:solidFill>
              <a:schemeClr val="tx1"/>
            </a:solidFill>
            <a:prstDash val="solid"/>
            <a:round/>
            <a:headEnd type="none" w="med" len="med"/>
            <a:tailEnd type="none" w="med" len="med"/>
          </a:ln>
        </p:spPr>
      </p:sp>
      <p:sp>
        <p:nvSpPr>
          <p:cNvPr id="162953" name="直接连接符 528521"/>
          <p:cNvSpPr/>
          <p:nvPr/>
        </p:nvSpPr>
        <p:spPr>
          <a:xfrm flipV="1">
            <a:off x="7620000" y="3497263"/>
            <a:ext cx="0" cy="939800"/>
          </a:xfrm>
          <a:prstGeom prst="line">
            <a:avLst/>
          </a:prstGeom>
          <a:ln w="25400" cap="flat" cmpd="sng">
            <a:solidFill>
              <a:schemeClr val="tx1"/>
            </a:solidFill>
            <a:prstDash val="sysDot"/>
            <a:round/>
            <a:headEnd type="none" w="med" len="med"/>
            <a:tailEnd type="none" w="med" len="med"/>
          </a:ln>
        </p:spPr>
      </p:sp>
      <p:sp>
        <p:nvSpPr>
          <p:cNvPr id="162954" name="直接连接符 528522"/>
          <p:cNvSpPr/>
          <p:nvPr/>
        </p:nvSpPr>
        <p:spPr>
          <a:xfrm flipV="1">
            <a:off x="4572000" y="1601788"/>
            <a:ext cx="0" cy="1549400"/>
          </a:xfrm>
          <a:prstGeom prst="line">
            <a:avLst/>
          </a:prstGeom>
          <a:ln w="25400" cap="flat" cmpd="sng">
            <a:solidFill>
              <a:schemeClr val="tx1"/>
            </a:solidFill>
            <a:prstDash val="sysDot"/>
            <a:round/>
            <a:headEnd type="none" w="med" len="med"/>
            <a:tailEnd type="none" w="med" len="med"/>
          </a:ln>
        </p:spPr>
      </p:sp>
      <p:sp>
        <p:nvSpPr>
          <p:cNvPr id="162955" name="直接连接符 528523"/>
          <p:cNvSpPr/>
          <p:nvPr/>
        </p:nvSpPr>
        <p:spPr>
          <a:xfrm>
            <a:off x="4572000" y="1489075"/>
            <a:ext cx="0" cy="203200"/>
          </a:xfrm>
          <a:prstGeom prst="line">
            <a:avLst/>
          </a:prstGeom>
          <a:ln w="25400" cap="flat" cmpd="sng">
            <a:solidFill>
              <a:schemeClr val="tx1"/>
            </a:solidFill>
            <a:prstDash val="solid"/>
            <a:round/>
            <a:headEnd type="none" w="med" len="med"/>
            <a:tailEnd type="none" w="med" len="med"/>
          </a:ln>
        </p:spPr>
      </p:sp>
      <p:sp>
        <p:nvSpPr>
          <p:cNvPr id="162956" name="直接连接符 528524"/>
          <p:cNvSpPr/>
          <p:nvPr/>
        </p:nvSpPr>
        <p:spPr>
          <a:xfrm flipV="1">
            <a:off x="8382000" y="1601788"/>
            <a:ext cx="0" cy="1549400"/>
          </a:xfrm>
          <a:prstGeom prst="line">
            <a:avLst/>
          </a:prstGeom>
          <a:ln w="25400" cap="flat" cmpd="sng">
            <a:solidFill>
              <a:schemeClr val="tx1"/>
            </a:solidFill>
            <a:prstDash val="sysDot"/>
            <a:round/>
            <a:headEnd type="none" w="med" len="med"/>
            <a:tailEnd type="none" w="med" len="med"/>
          </a:ln>
        </p:spPr>
      </p:sp>
      <p:sp>
        <p:nvSpPr>
          <p:cNvPr id="162957" name="直接连接符 528525"/>
          <p:cNvSpPr/>
          <p:nvPr/>
        </p:nvSpPr>
        <p:spPr>
          <a:xfrm>
            <a:off x="8382000" y="1489075"/>
            <a:ext cx="0" cy="203200"/>
          </a:xfrm>
          <a:prstGeom prst="line">
            <a:avLst/>
          </a:prstGeom>
          <a:ln w="25400" cap="flat" cmpd="sng">
            <a:solidFill>
              <a:schemeClr val="tx1"/>
            </a:solidFill>
            <a:prstDash val="solid"/>
            <a:round/>
            <a:headEnd type="none" w="med" len="med"/>
            <a:tailEnd type="none" w="med" len="med"/>
          </a:ln>
        </p:spPr>
      </p:sp>
      <p:sp>
        <p:nvSpPr>
          <p:cNvPr id="162958" name="直接连接符 528526"/>
          <p:cNvSpPr/>
          <p:nvPr/>
        </p:nvSpPr>
        <p:spPr>
          <a:xfrm>
            <a:off x="774700" y="1704975"/>
            <a:ext cx="1879600" cy="0"/>
          </a:xfrm>
          <a:prstGeom prst="line">
            <a:avLst/>
          </a:prstGeom>
          <a:ln w="25400" cap="flat" cmpd="sng">
            <a:solidFill>
              <a:schemeClr val="tx1"/>
            </a:solidFill>
            <a:prstDash val="solid"/>
            <a:round/>
            <a:headEnd type="none" w="med" len="med"/>
            <a:tailEnd type="none" w="med" len="med"/>
          </a:ln>
        </p:spPr>
      </p:sp>
      <p:sp>
        <p:nvSpPr>
          <p:cNvPr id="162959" name="直接连接符 528527"/>
          <p:cNvSpPr/>
          <p:nvPr/>
        </p:nvSpPr>
        <p:spPr>
          <a:xfrm>
            <a:off x="2679700" y="1476375"/>
            <a:ext cx="1879600" cy="0"/>
          </a:xfrm>
          <a:prstGeom prst="line">
            <a:avLst/>
          </a:prstGeom>
          <a:ln w="25400" cap="flat" cmpd="sng">
            <a:solidFill>
              <a:schemeClr val="tx1"/>
            </a:solidFill>
            <a:prstDash val="solid"/>
            <a:round/>
            <a:headEnd type="none" w="med" len="med"/>
            <a:tailEnd type="none" w="med" len="med"/>
          </a:ln>
        </p:spPr>
      </p:sp>
      <p:sp>
        <p:nvSpPr>
          <p:cNvPr id="162960" name="直接连接符 528528"/>
          <p:cNvSpPr/>
          <p:nvPr/>
        </p:nvSpPr>
        <p:spPr>
          <a:xfrm>
            <a:off x="2667000" y="1489075"/>
            <a:ext cx="0" cy="203200"/>
          </a:xfrm>
          <a:prstGeom prst="line">
            <a:avLst/>
          </a:prstGeom>
          <a:ln w="25400" cap="flat" cmpd="sng">
            <a:solidFill>
              <a:schemeClr val="tx1"/>
            </a:solidFill>
            <a:prstDash val="solid"/>
            <a:round/>
            <a:headEnd type="none" w="med" len="med"/>
            <a:tailEnd type="none" w="med" len="med"/>
          </a:ln>
        </p:spPr>
      </p:sp>
      <p:sp>
        <p:nvSpPr>
          <p:cNvPr id="162961" name="直接连接符 528529"/>
          <p:cNvSpPr/>
          <p:nvPr/>
        </p:nvSpPr>
        <p:spPr>
          <a:xfrm>
            <a:off x="4584700" y="1704975"/>
            <a:ext cx="1879600" cy="0"/>
          </a:xfrm>
          <a:prstGeom prst="line">
            <a:avLst/>
          </a:prstGeom>
          <a:ln w="25400" cap="flat" cmpd="sng">
            <a:solidFill>
              <a:schemeClr val="tx1"/>
            </a:solidFill>
            <a:prstDash val="solid"/>
            <a:round/>
            <a:headEnd type="none" w="med" len="med"/>
            <a:tailEnd type="none" w="med" len="med"/>
          </a:ln>
        </p:spPr>
      </p:sp>
      <p:sp>
        <p:nvSpPr>
          <p:cNvPr id="162962" name="直接连接符 528530"/>
          <p:cNvSpPr/>
          <p:nvPr/>
        </p:nvSpPr>
        <p:spPr>
          <a:xfrm>
            <a:off x="6489700" y="1476375"/>
            <a:ext cx="1879600" cy="0"/>
          </a:xfrm>
          <a:prstGeom prst="line">
            <a:avLst/>
          </a:prstGeom>
          <a:ln w="25400" cap="flat" cmpd="sng">
            <a:solidFill>
              <a:schemeClr val="tx1"/>
            </a:solidFill>
            <a:prstDash val="solid"/>
            <a:round/>
            <a:headEnd type="none" w="med" len="med"/>
            <a:tailEnd type="none" w="med" len="med"/>
          </a:ln>
        </p:spPr>
      </p:sp>
      <p:sp>
        <p:nvSpPr>
          <p:cNvPr id="162963" name="直接连接符 528531"/>
          <p:cNvSpPr/>
          <p:nvPr/>
        </p:nvSpPr>
        <p:spPr>
          <a:xfrm>
            <a:off x="6477000" y="1489075"/>
            <a:ext cx="0" cy="203200"/>
          </a:xfrm>
          <a:prstGeom prst="line">
            <a:avLst/>
          </a:prstGeom>
          <a:ln w="25400" cap="flat" cmpd="sng">
            <a:solidFill>
              <a:schemeClr val="tx1"/>
            </a:solidFill>
            <a:prstDash val="solid"/>
            <a:round/>
            <a:headEnd type="none" w="med" len="med"/>
            <a:tailEnd type="none" w="med" len="med"/>
          </a:ln>
        </p:spPr>
      </p:sp>
      <p:sp>
        <p:nvSpPr>
          <p:cNvPr id="162964" name="直接连接符 528532"/>
          <p:cNvSpPr/>
          <p:nvPr/>
        </p:nvSpPr>
        <p:spPr>
          <a:xfrm>
            <a:off x="8394700" y="1704975"/>
            <a:ext cx="355600" cy="0"/>
          </a:xfrm>
          <a:prstGeom prst="line">
            <a:avLst/>
          </a:prstGeom>
          <a:ln w="25400" cap="flat" cmpd="sng">
            <a:solidFill>
              <a:schemeClr val="tx1"/>
            </a:solidFill>
            <a:prstDash val="solid"/>
            <a:round/>
            <a:headEnd type="none" w="med" len="med"/>
            <a:tailEnd type="none" w="med" len="med"/>
          </a:ln>
        </p:spPr>
      </p:sp>
      <p:sp>
        <p:nvSpPr>
          <p:cNvPr id="162965" name="矩形 528533"/>
          <p:cNvSpPr/>
          <p:nvPr/>
        </p:nvSpPr>
        <p:spPr>
          <a:xfrm>
            <a:off x="290513" y="1476375"/>
            <a:ext cx="496887" cy="333375"/>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Clk</a:t>
            </a:r>
            <a:endParaRPr lang="en-US" altLang="zh-CN">
              <a:latin typeface="Times New Roman" panose="02020603050405020304" pitchFamily="18" charset="0"/>
              <a:ea typeface="宋体" panose="02010600030101010101" pitchFamily="2" charset="-122"/>
            </a:endParaRPr>
          </a:p>
        </p:txBody>
      </p:sp>
      <p:sp>
        <p:nvSpPr>
          <p:cNvPr id="162966" name="矩形 528534"/>
          <p:cNvSpPr/>
          <p:nvPr/>
        </p:nvSpPr>
        <p:spPr>
          <a:xfrm>
            <a:off x="174625" y="812800"/>
            <a:ext cx="6346825" cy="347663"/>
          </a:xfrm>
          <a:prstGeom prst="rect">
            <a:avLst/>
          </a:prstGeom>
          <a:noFill/>
          <a:ln w="12700">
            <a:noFill/>
          </a:ln>
        </p:spPr>
        <p:txBody>
          <a:bodyPr lIns="90488" tIns="44450" rIns="90488" bIns="44450" anchor="t" anchorCtr="0">
            <a:spAutoFit/>
          </a:bodyPr>
          <a:p>
            <a:pPr eaLnBrk="0" hangingPunct="0"/>
            <a:r>
              <a:rPr lang="en-US" altLang="zh-CN" sz="1700">
                <a:solidFill>
                  <a:schemeClr val="accent1"/>
                </a:solidFill>
                <a:latin typeface="微软雅黑" panose="020B0503020204020204" pitchFamily="34" charset="-122"/>
                <a:ea typeface="微软雅黑" panose="020B0503020204020204" pitchFamily="34" charset="-122"/>
              </a:rPr>
              <a:t>Single Cycle Implementation</a:t>
            </a:r>
            <a:r>
              <a:rPr lang="zh-CN" altLang="en-US" sz="1700" dirty="0">
                <a:solidFill>
                  <a:schemeClr val="accent1"/>
                </a:solidFill>
                <a:latin typeface="微软雅黑" panose="020B0503020204020204" pitchFamily="34" charset="-122"/>
                <a:ea typeface="微软雅黑" panose="020B0503020204020204" pitchFamily="34" charset="-122"/>
              </a:rPr>
              <a:t>（单周期实现）：</a:t>
            </a:r>
            <a:endParaRPr lang="en-US" altLang="zh-CN" sz="1700">
              <a:solidFill>
                <a:schemeClr val="accent1"/>
              </a:solidFill>
              <a:latin typeface="微软雅黑" panose="020B0503020204020204" pitchFamily="34" charset="-122"/>
              <a:ea typeface="微软雅黑" panose="020B0503020204020204" pitchFamily="34" charset="-122"/>
            </a:endParaRPr>
          </a:p>
        </p:txBody>
      </p:sp>
      <p:sp>
        <p:nvSpPr>
          <p:cNvPr id="162967" name="矩形 528535"/>
          <p:cNvSpPr/>
          <p:nvPr/>
        </p:nvSpPr>
        <p:spPr>
          <a:xfrm>
            <a:off x="774700" y="2251075"/>
            <a:ext cx="3784600" cy="2794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68" name="矩形 528536"/>
          <p:cNvSpPr/>
          <p:nvPr/>
        </p:nvSpPr>
        <p:spPr>
          <a:xfrm>
            <a:off x="4584700" y="2251075"/>
            <a:ext cx="3784600" cy="2794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69" name="矩形 528537"/>
          <p:cNvSpPr/>
          <p:nvPr/>
        </p:nvSpPr>
        <p:spPr>
          <a:xfrm>
            <a:off x="2119313" y="2238375"/>
            <a:ext cx="677862"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2"/>
                </a:solidFill>
                <a:latin typeface="微软雅黑" panose="020B0503020204020204" pitchFamily="34" charset="-122"/>
                <a:ea typeface="微软雅黑" panose="020B0503020204020204" pitchFamily="34" charset="-122"/>
              </a:rPr>
              <a:t>Load</a:t>
            </a:r>
            <a:endParaRPr lang="en-US" altLang="zh-CN">
              <a:solidFill>
                <a:schemeClr val="accent2"/>
              </a:solidFill>
              <a:latin typeface="微软雅黑" panose="020B0503020204020204" pitchFamily="34" charset="-122"/>
              <a:ea typeface="微软雅黑" panose="020B0503020204020204" pitchFamily="34" charset="-122"/>
            </a:endParaRPr>
          </a:p>
        </p:txBody>
      </p:sp>
      <p:sp>
        <p:nvSpPr>
          <p:cNvPr id="162970" name="矩形 528538"/>
          <p:cNvSpPr/>
          <p:nvPr/>
        </p:nvSpPr>
        <p:spPr>
          <a:xfrm>
            <a:off x="5929313" y="2238375"/>
            <a:ext cx="725487"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2"/>
                </a:solidFill>
                <a:latin typeface="微软雅黑" panose="020B0503020204020204" pitchFamily="34" charset="-122"/>
                <a:ea typeface="微软雅黑" panose="020B0503020204020204" pitchFamily="34" charset="-122"/>
              </a:rPr>
              <a:t>Store</a:t>
            </a:r>
            <a:endParaRPr lang="en-US" altLang="zh-CN">
              <a:solidFill>
                <a:schemeClr val="accent2"/>
              </a:solidFill>
              <a:latin typeface="微软雅黑" panose="020B0503020204020204" pitchFamily="34" charset="-122"/>
              <a:ea typeface="微软雅黑" panose="020B0503020204020204" pitchFamily="34" charset="-122"/>
            </a:endParaRPr>
          </a:p>
        </p:txBody>
      </p:sp>
      <p:sp>
        <p:nvSpPr>
          <p:cNvPr id="162971" name="直接连接符 528539"/>
          <p:cNvSpPr/>
          <p:nvPr/>
        </p:nvSpPr>
        <p:spPr>
          <a:xfrm flipV="1">
            <a:off x="7620000" y="2225675"/>
            <a:ext cx="0" cy="330200"/>
          </a:xfrm>
          <a:prstGeom prst="line">
            <a:avLst/>
          </a:prstGeom>
          <a:ln w="25400" cap="flat" cmpd="sng">
            <a:solidFill>
              <a:schemeClr val="tx1"/>
            </a:solidFill>
            <a:prstDash val="sysDot"/>
            <a:round/>
            <a:headEnd type="none" w="med" len="med"/>
            <a:tailEnd type="none" w="med" len="med"/>
          </a:ln>
        </p:spPr>
      </p:sp>
      <p:sp>
        <p:nvSpPr>
          <p:cNvPr id="162972" name="矩形 528540"/>
          <p:cNvSpPr/>
          <p:nvPr/>
        </p:nvSpPr>
        <p:spPr>
          <a:xfrm>
            <a:off x="7605713" y="2238375"/>
            <a:ext cx="723900"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1"/>
                </a:solidFill>
                <a:latin typeface="Times New Roman" panose="02020603050405020304" pitchFamily="18" charset="0"/>
                <a:ea typeface="宋体" panose="02010600030101010101" pitchFamily="2" charset="-122"/>
              </a:rPr>
              <a:t>Waste</a:t>
            </a:r>
            <a:endParaRPr lang="en-US" altLang="zh-CN">
              <a:solidFill>
                <a:schemeClr val="accent1"/>
              </a:solidFill>
              <a:latin typeface="Times New Roman" panose="02020603050405020304" pitchFamily="18" charset="0"/>
              <a:ea typeface="宋体" panose="02010600030101010101" pitchFamily="2" charset="-122"/>
            </a:endParaRPr>
          </a:p>
        </p:txBody>
      </p:sp>
      <p:grpSp>
        <p:nvGrpSpPr>
          <p:cNvPr id="162973" name="组合 528541"/>
          <p:cNvGrpSpPr/>
          <p:nvPr/>
        </p:nvGrpSpPr>
        <p:grpSpPr>
          <a:xfrm>
            <a:off x="7632700" y="4424363"/>
            <a:ext cx="739775" cy="333375"/>
            <a:chOff x="4808" y="2544"/>
            <a:chExt cx="466" cy="210"/>
          </a:xfrm>
        </p:grpSpPr>
        <p:sp>
          <p:nvSpPr>
            <p:cNvPr id="162974" name="矩形 528542"/>
            <p:cNvSpPr/>
            <p:nvPr/>
          </p:nvSpPr>
          <p:spPr>
            <a:xfrm>
              <a:off x="4808" y="2552"/>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75" name="矩形 528543"/>
            <p:cNvSpPr/>
            <p:nvPr/>
          </p:nvSpPr>
          <p:spPr>
            <a:xfrm>
              <a:off x="4839" y="2544"/>
              <a:ext cx="435"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sp>
        <p:nvSpPr>
          <p:cNvPr id="162976" name="矩形 528544"/>
          <p:cNvSpPr/>
          <p:nvPr/>
        </p:nvSpPr>
        <p:spPr>
          <a:xfrm>
            <a:off x="7721600" y="4090988"/>
            <a:ext cx="866775"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2"/>
                </a:solidFill>
                <a:latin typeface="微软雅黑" panose="020B0503020204020204" pitchFamily="34" charset="-122"/>
                <a:ea typeface="微软雅黑" panose="020B0503020204020204" pitchFamily="34" charset="-122"/>
              </a:rPr>
              <a:t>R-type</a:t>
            </a:r>
            <a:endParaRPr lang="en-US" altLang="zh-CN">
              <a:solidFill>
                <a:schemeClr val="accent2"/>
              </a:solidFill>
              <a:latin typeface="微软雅黑" panose="020B0503020204020204" pitchFamily="34" charset="-122"/>
              <a:ea typeface="微软雅黑" panose="020B0503020204020204" pitchFamily="34" charset="-122"/>
            </a:endParaRPr>
          </a:p>
        </p:txBody>
      </p:sp>
      <p:grpSp>
        <p:nvGrpSpPr>
          <p:cNvPr id="162977" name="组合 528545"/>
          <p:cNvGrpSpPr/>
          <p:nvPr/>
        </p:nvGrpSpPr>
        <p:grpSpPr>
          <a:xfrm>
            <a:off x="2374900" y="6353175"/>
            <a:ext cx="3784600" cy="333375"/>
            <a:chOff x="1496" y="3840"/>
            <a:chExt cx="2384" cy="210"/>
          </a:xfrm>
        </p:grpSpPr>
        <p:grpSp>
          <p:nvGrpSpPr>
            <p:cNvPr id="162978" name="组合 528546"/>
            <p:cNvGrpSpPr/>
            <p:nvPr/>
          </p:nvGrpSpPr>
          <p:grpSpPr>
            <a:xfrm>
              <a:off x="1496" y="3840"/>
              <a:ext cx="466" cy="210"/>
              <a:chOff x="1496" y="3840"/>
              <a:chExt cx="466" cy="210"/>
            </a:xfrm>
          </p:grpSpPr>
          <p:sp>
            <p:nvSpPr>
              <p:cNvPr id="162979" name="矩形 528547"/>
              <p:cNvSpPr/>
              <p:nvPr/>
            </p:nvSpPr>
            <p:spPr>
              <a:xfrm>
                <a:off x="1496" y="3848"/>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80" name="矩形 528548"/>
              <p:cNvSpPr/>
              <p:nvPr/>
            </p:nvSpPr>
            <p:spPr>
              <a:xfrm>
                <a:off x="1527" y="3840"/>
                <a:ext cx="435"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62981" name="组合 528549"/>
            <p:cNvGrpSpPr/>
            <p:nvPr/>
          </p:nvGrpSpPr>
          <p:grpSpPr>
            <a:xfrm>
              <a:off x="1976" y="3840"/>
              <a:ext cx="464" cy="210"/>
              <a:chOff x="1976" y="3840"/>
              <a:chExt cx="464" cy="210"/>
            </a:xfrm>
          </p:grpSpPr>
          <p:sp>
            <p:nvSpPr>
              <p:cNvPr id="162982" name="矩形 528550"/>
              <p:cNvSpPr/>
              <p:nvPr/>
            </p:nvSpPr>
            <p:spPr>
              <a:xfrm>
                <a:off x="1976" y="3848"/>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83" name="矩形 528551"/>
              <p:cNvSpPr/>
              <p:nvPr/>
            </p:nvSpPr>
            <p:spPr>
              <a:xfrm>
                <a:off x="2055" y="3840"/>
                <a:ext cx="327"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endParaRPr lang="en-US" altLang="zh-CN">
                  <a:latin typeface="Times New Roman" panose="02020603050405020304" pitchFamily="18" charset="0"/>
                  <a:ea typeface="宋体" panose="02010600030101010101" pitchFamily="2" charset="-122"/>
                </a:endParaRPr>
              </a:p>
            </p:txBody>
          </p:sp>
        </p:grpSp>
        <p:grpSp>
          <p:nvGrpSpPr>
            <p:cNvPr id="162984" name="组合 528552"/>
            <p:cNvGrpSpPr/>
            <p:nvPr/>
          </p:nvGrpSpPr>
          <p:grpSpPr>
            <a:xfrm>
              <a:off x="2456" y="3840"/>
              <a:ext cx="464" cy="210"/>
              <a:chOff x="2456" y="3840"/>
              <a:chExt cx="464" cy="210"/>
            </a:xfrm>
          </p:grpSpPr>
          <p:sp>
            <p:nvSpPr>
              <p:cNvPr id="162985" name="矩形 528553"/>
              <p:cNvSpPr/>
              <p:nvPr/>
            </p:nvSpPr>
            <p:spPr>
              <a:xfrm>
                <a:off x="2456" y="3848"/>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86" name="矩形 528554"/>
              <p:cNvSpPr/>
              <p:nvPr/>
            </p:nvSpPr>
            <p:spPr>
              <a:xfrm>
                <a:off x="2487" y="3840"/>
                <a:ext cx="377"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62987" name="组合 528555"/>
            <p:cNvGrpSpPr/>
            <p:nvPr/>
          </p:nvGrpSpPr>
          <p:grpSpPr>
            <a:xfrm>
              <a:off x="2936" y="3840"/>
              <a:ext cx="464" cy="210"/>
              <a:chOff x="2936" y="3840"/>
              <a:chExt cx="464" cy="210"/>
            </a:xfrm>
          </p:grpSpPr>
          <p:sp>
            <p:nvSpPr>
              <p:cNvPr id="162988" name="矩形 528556"/>
              <p:cNvSpPr/>
              <p:nvPr/>
            </p:nvSpPr>
            <p:spPr>
              <a:xfrm>
                <a:off x="2936" y="3848"/>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89" name="矩形 528557"/>
              <p:cNvSpPr/>
              <p:nvPr/>
            </p:nvSpPr>
            <p:spPr>
              <a:xfrm>
                <a:off x="2967" y="3840"/>
                <a:ext cx="399" cy="210"/>
              </a:xfrm>
              <a:prstGeom prst="rect">
                <a:avLst/>
              </a:prstGeom>
              <a:noFill/>
              <a:ln w="12700">
                <a:noFill/>
              </a:ln>
            </p:spPr>
            <p:txBody>
              <a:bodyPr wrap="none" lIns="90488" tIns="44450" rIns="90488" bIns="44450" anchor="t" anchorCtr="0">
                <a:spAutoFit/>
              </a:bodyPr>
              <a:p>
                <a:pPr eaLnBrk="0" hangingPunct="0"/>
                <a:r>
                  <a:rPr lang="en-US" altLang="zh-CN" err="1">
                    <a:solidFill>
                      <a:schemeClr val="accent1"/>
                    </a:solidFill>
                    <a:latin typeface="Times New Roman" panose="02020603050405020304" pitchFamily="18" charset="0"/>
                    <a:ea typeface="宋体" panose="02010600030101010101" pitchFamily="2" charset="-122"/>
                  </a:rPr>
                  <a:t>Mem</a:t>
                </a:r>
                <a:endParaRPr lang="en-US" altLang="zh-CN">
                  <a:solidFill>
                    <a:schemeClr val="accent1"/>
                  </a:solidFill>
                  <a:latin typeface="Times New Roman" panose="02020603050405020304" pitchFamily="18" charset="0"/>
                  <a:ea typeface="宋体" panose="02010600030101010101" pitchFamily="2" charset="-122"/>
                </a:endParaRPr>
              </a:p>
            </p:txBody>
          </p:sp>
        </p:grpSp>
        <p:grpSp>
          <p:nvGrpSpPr>
            <p:cNvPr id="162990" name="组合 528558"/>
            <p:cNvGrpSpPr/>
            <p:nvPr/>
          </p:nvGrpSpPr>
          <p:grpSpPr>
            <a:xfrm>
              <a:off x="3416" y="3840"/>
              <a:ext cx="464" cy="210"/>
              <a:chOff x="3416" y="3840"/>
              <a:chExt cx="464" cy="210"/>
            </a:xfrm>
          </p:grpSpPr>
          <p:sp>
            <p:nvSpPr>
              <p:cNvPr id="162991" name="矩形 528559"/>
              <p:cNvSpPr/>
              <p:nvPr/>
            </p:nvSpPr>
            <p:spPr>
              <a:xfrm>
                <a:off x="3416" y="3848"/>
                <a:ext cx="464"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2992" name="矩形 528560"/>
              <p:cNvSpPr/>
              <p:nvPr/>
            </p:nvSpPr>
            <p:spPr>
              <a:xfrm>
                <a:off x="3495" y="3840"/>
                <a:ext cx="299"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Wr</a:t>
                </a:r>
                <a:endParaRPr lang="en-US" altLang="zh-CN">
                  <a:latin typeface="Times New Roman" panose="02020603050405020304" pitchFamily="18" charset="0"/>
                  <a:ea typeface="宋体" panose="02010600030101010101" pitchFamily="2" charset="-122"/>
                </a:endParaRPr>
              </a:p>
            </p:txBody>
          </p:sp>
        </p:grpSp>
      </p:grpSp>
      <p:sp>
        <p:nvSpPr>
          <p:cNvPr id="162993" name="矩形 528561"/>
          <p:cNvSpPr/>
          <p:nvPr/>
        </p:nvSpPr>
        <p:spPr>
          <a:xfrm>
            <a:off x="1519238" y="6353175"/>
            <a:ext cx="866775" cy="333375"/>
          </a:xfrm>
          <a:prstGeom prst="rect">
            <a:avLst/>
          </a:prstGeom>
          <a:noFill/>
          <a:ln w="12700">
            <a:noFill/>
          </a:ln>
        </p:spPr>
        <p:txBody>
          <a:bodyPr wrap="none" lIns="90488" tIns="44450" rIns="90488" bIns="44450" anchor="t" anchorCtr="0">
            <a:spAutoFit/>
          </a:bodyPr>
          <a:p>
            <a:pPr eaLnBrk="0" hangingPunct="0"/>
            <a:r>
              <a:rPr lang="en-US" altLang="zh-CN">
                <a:solidFill>
                  <a:schemeClr val="accent2"/>
                </a:solidFill>
                <a:latin typeface="微软雅黑" panose="020B0503020204020204" pitchFamily="34" charset="-122"/>
                <a:ea typeface="微软雅黑" panose="020B0503020204020204" pitchFamily="34" charset="-122"/>
              </a:rPr>
              <a:t>R-type</a:t>
            </a:r>
            <a:endParaRPr lang="en-US" altLang="zh-CN">
              <a:solidFill>
                <a:schemeClr val="accent2"/>
              </a:solidFill>
              <a:latin typeface="微软雅黑" panose="020B0503020204020204" pitchFamily="34" charset="-122"/>
              <a:ea typeface="微软雅黑" panose="020B0503020204020204" pitchFamily="34" charset="-122"/>
            </a:endParaRPr>
          </a:p>
        </p:txBody>
      </p:sp>
      <p:sp>
        <p:nvSpPr>
          <p:cNvPr id="162994" name="直接连接符 528562"/>
          <p:cNvSpPr/>
          <p:nvPr/>
        </p:nvSpPr>
        <p:spPr>
          <a:xfrm flipV="1">
            <a:off x="762000" y="1158875"/>
            <a:ext cx="0" cy="330200"/>
          </a:xfrm>
          <a:prstGeom prst="line">
            <a:avLst/>
          </a:prstGeom>
          <a:ln w="25400" cap="flat" cmpd="sng">
            <a:solidFill>
              <a:schemeClr val="tx1"/>
            </a:solidFill>
            <a:prstDash val="sysDot"/>
            <a:round/>
            <a:headEnd type="none" w="med" len="med"/>
            <a:tailEnd type="none" w="med" len="med"/>
          </a:ln>
        </p:spPr>
      </p:sp>
      <p:sp>
        <p:nvSpPr>
          <p:cNvPr id="162995" name="矩形 528563"/>
          <p:cNvSpPr/>
          <p:nvPr/>
        </p:nvSpPr>
        <p:spPr>
          <a:xfrm>
            <a:off x="2271713" y="1171575"/>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162996" name="直接连接符 528564"/>
          <p:cNvSpPr/>
          <p:nvPr/>
        </p:nvSpPr>
        <p:spPr>
          <a:xfrm flipV="1">
            <a:off x="4572000" y="1158875"/>
            <a:ext cx="0" cy="330200"/>
          </a:xfrm>
          <a:prstGeom prst="line">
            <a:avLst/>
          </a:prstGeom>
          <a:ln w="25400" cap="flat" cmpd="sng">
            <a:solidFill>
              <a:schemeClr val="tx1"/>
            </a:solidFill>
            <a:prstDash val="sysDot"/>
            <a:round/>
            <a:headEnd type="none" w="med" len="med"/>
            <a:tailEnd type="none" w="med" len="med"/>
          </a:ln>
        </p:spPr>
      </p:sp>
      <p:sp>
        <p:nvSpPr>
          <p:cNvPr id="162997" name="直接连接符 528565"/>
          <p:cNvSpPr/>
          <p:nvPr/>
        </p:nvSpPr>
        <p:spPr>
          <a:xfrm flipV="1">
            <a:off x="8382000" y="1158875"/>
            <a:ext cx="0" cy="330200"/>
          </a:xfrm>
          <a:prstGeom prst="line">
            <a:avLst/>
          </a:prstGeom>
          <a:ln w="25400" cap="flat" cmpd="sng">
            <a:solidFill>
              <a:schemeClr val="tx1"/>
            </a:solidFill>
            <a:prstDash val="sysDot"/>
            <a:round/>
            <a:headEnd type="none" w="med" len="med"/>
            <a:tailEnd type="none" w="med" len="med"/>
          </a:ln>
        </p:spPr>
      </p:sp>
      <p:sp>
        <p:nvSpPr>
          <p:cNvPr id="162998" name="矩形 528566"/>
          <p:cNvSpPr/>
          <p:nvPr/>
        </p:nvSpPr>
        <p:spPr>
          <a:xfrm>
            <a:off x="6081713" y="1171575"/>
            <a:ext cx="742950" cy="333375"/>
          </a:xfrm>
          <a:prstGeom prst="rect">
            <a:avLst/>
          </a:prstGeom>
          <a:noFill/>
          <a:ln w="12700">
            <a:noFill/>
          </a:ln>
        </p:spPr>
        <p:txBody>
          <a:bodyPr wrap="none" lIns="90488" tIns="44450" rIns="90488" bIns="44450" anchor="t" anchorCtr="0">
            <a:spAutoFit/>
          </a:bodyPr>
          <a:p>
            <a:pPr eaLnBrk="0" hangingPunct="0"/>
            <a:r>
              <a:rPr lang="zh-CN" altLang="en-US" dirty="0">
                <a:latin typeface="Times New Roman" panose="02020603050405020304" pitchFamily="18" charset="0"/>
                <a:ea typeface="宋体" panose="02010600030101010101" pitchFamily="2" charset="-122"/>
              </a:rPr>
              <a:t>周期 </a:t>
            </a:r>
            <a:r>
              <a:rPr lang="en-US" altLang="zh-CN">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162999" name="直接连接符 528567"/>
          <p:cNvSpPr/>
          <p:nvPr/>
        </p:nvSpPr>
        <p:spPr>
          <a:xfrm>
            <a:off x="774700" y="1323975"/>
            <a:ext cx="1422400" cy="0"/>
          </a:xfrm>
          <a:prstGeom prst="line">
            <a:avLst/>
          </a:prstGeom>
          <a:ln w="25400" cap="flat" cmpd="sng">
            <a:solidFill>
              <a:schemeClr val="tx1"/>
            </a:solidFill>
            <a:prstDash val="solid"/>
            <a:round/>
            <a:headEnd type="triangle" w="med" len="med"/>
            <a:tailEnd type="none" w="med" len="med"/>
          </a:ln>
        </p:spPr>
      </p:sp>
      <p:sp>
        <p:nvSpPr>
          <p:cNvPr id="163000" name="直接连接符 528568"/>
          <p:cNvSpPr/>
          <p:nvPr/>
        </p:nvSpPr>
        <p:spPr>
          <a:xfrm>
            <a:off x="4584700" y="1323975"/>
            <a:ext cx="1422400" cy="0"/>
          </a:xfrm>
          <a:prstGeom prst="line">
            <a:avLst/>
          </a:prstGeom>
          <a:ln w="25400" cap="flat" cmpd="sng">
            <a:solidFill>
              <a:schemeClr val="tx1"/>
            </a:solidFill>
            <a:prstDash val="solid"/>
            <a:round/>
            <a:headEnd type="triangle" w="med" len="med"/>
            <a:tailEnd type="none" w="med" len="med"/>
          </a:ln>
        </p:spPr>
      </p:sp>
      <p:sp>
        <p:nvSpPr>
          <p:cNvPr id="163001" name="直接连接符 528569"/>
          <p:cNvSpPr/>
          <p:nvPr/>
        </p:nvSpPr>
        <p:spPr>
          <a:xfrm flipH="1">
            <a:off x="6845300" y="1323975"/>
            <a:ext cx="1473200" cy="0"/>
          </a:xfrm>
          <a:prstGeom prst="line">
            <a:avLst/>
          </a:prstGeom>
          <a:ln w="25400" cap="flat" cmpd="sng">
            <a:solidFill>
              <a:schemeClr val="tx1"/>
            </a:solidFill>
            <a:prstDash val="solid"/>
            <a:round/>
            <a:headEnd type="triangle" w="med" len="med"/>
            <a:tailEnd type="none" w="med" len="med"/>
          </a:ln>
        </p:spPr>
      </p:sp>
      <p:sp>
        <p:nvSpPr>
          <p:cNvPr id="163002" name="直接连接符 528570"/>
          <p:cNvSpPr/>
          <p:nvPr/>
        </p:nvSpPr>
        <p:spPr>
          <a:xfrm flipH="1">
            <a:off x="3111500" y="1323975"/>
            <a:ext cx="1473200" cy="0"/>
          </a:xfrm>
          <a:prstGeom prst="line">
            <a:avLst/>
          </a:prstGeom>
          <a:ln w="25400" cap="flat" cmpd="sng">
            <a:solidFill>
              <a:schemeClr val="tx1"/>
            </a:solidFill>
            <a:prstDash val="solid"/>
            <a:round/>
            <a:headEnd type="triangle" w="med" len="med"/>
            <a:tailEnd type="none" w="med" len="med"/>
          </a:ln>
        </p:spPr>
      </p:sp>
      <p:sp>
        <p:nvSpPr>
          <p:cNvPr id="163003" name="文本框 528572"/>
          <p:cNvSpPr txBox="1"/>
          <p:nvPr/>
        </p:nvSpPr>
        <p:spPr>
          <a:xfrm>
            <a:off x="6646863" y="5065713"/>
            <a:ext cx="2133600" cy="1187450"/>
          </a:xfrm>
          <a:prstGeom prst="rect">
            <a:avLst/>
          </a:prstGeom>
          <a:noFill/>
          <a:ln w="50800">
            <a:noFill/>
          </a:ln>
        </p:spPr>
        <p:txBody>
          <a:bodyPr anchor="t" anchorCtr="0">
            <a:spAutoFit/>
          </a:bodyPr>
          <a:p>
            <a:pPr eaLnBrk="0" hangingPunct="0">
              <a:lnSpc>
                <a:spcPct val="120000"/>
              </a:lnSpc>
              <a:spcBef>
                <a:spcPct val="50000"/>
              </a:spcBef>
            </a:pPr>
            <a:r>
              <a:rPr lang="zh-CN" altLang="en-US" sz="2000" dirty="0">
                <a:solidFill>
                  <a:srgbClr val="006600"/>
                </a:solidFill>
                <a:latin typeface="微软雅黑" panose="020B0503020204020204" pitchFamily="34" charset="-122"/>
                <a:ea typeface="微软雅黑" panose="020B0503020204020204" pitchFamily="34" charset="-122"/>
              </a:rPr>
              <a:t>前述的总线结构</a:t>
            </a:r>
            <a:r>
              <a:rPr lang="en-US" altLang="zh-CN" sz="2000">
                <a:solidFill>
                  <a:srgbClr val="006600"/>
                </a:solidFill>
                <a:latin typeface="微软雅黑" panose="020B0503020204020204" pitchFamily="34" charset="-122"/>
                <a:ea typeface="微软雅黑" panose="020B0503020204020204" pitchFamily="34" charset="-122"/>
              </a:rPr>
              <a:t>CPU</a:t>
            </a:r>
            <a:r>
              <a:rPr lang="zh-CN" altLang="en-US" sz="2000" dirty="0">
                <a:solidFill>
                  <a:srgbClr val="006600"/>
                </a:solidFill>
                <a:latin typeface="微软雅黑" panose="020B0503020204020204" pitchFamily="34" charset="-122"/>
                <a:ea typeface="微软雅黑" panose="020B0503020204020204" pitchFamily="34" charset="-122"/>
              </a:rPr>
              <a:t>一定是多周期实现的</a:t>
            </a:r>
            <a:r>
              <a:rPr lang="en-US" altLang="zh-CN" sz="2000">
                <a:solidFill>
                  <a:srgbClr val="006600"/>
                </a:solidFill>
                <a:latin typeface="微软雅黑" panose="020B0503020204020204" pitchFamily="34" charset="-122"/>
                <a:ea typeface="微软雅黑" panose="020B0503020204020204" pitchFamily="34" charset="-122"/>
              </a:rPr>
              <a:t>CPU</a:t>
            </a:r>
            <a:r>
              <a:rPr lang="zh-CN" altLang="en-US" sz="2000" dirty="0">
                <a:solidFill>
                  <a:srgbClr val="006600"/>
                </a:solidFill>
                <a:latin typeface="微软雅黑" panose="020B0503020204020204" pitchFamily="34" charset="-122"/>
                <a:ea typeface="微软雅黑" panose="020B0503020204020204" pitchFamily="34" charset="-122"/>
              </a:rPr>
              <a:t>！</a:t>
            </a:r>
            <a:endParaRPr lang="zh-CN" altLang="en-US" sz="2000" dirty="0">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文本占位符 556033"/>
          <p:cNvSpPr>
            <a:spLocks noGrp="1"/>
          </p:cNvSpPr>
          <p:nvPr>
            <p:ph idx="1"/>
          </p:nvPr>
        </p:nvSpPr>
        <p:spPr>
          <a:xfrm>
            <a:off x="488950" y="1158875"/>
            <a:ext cx="4808538" cy="4451350"/>
          </a:xfrm>
          <a:ln/>
        </p:spPr>
        <p:txBody>
          <a:bodyPr vert="horz" wrap="square" lIns="90488" tIns="44450" rIns="90488" bIns="44450" anchor="t" anchorCtr="0">
            <a:spAutoFit/>
          </a:bodyPr>
          <a:p>
            <a:pPr>
              <a:lnSpc>
                <a:spcPct val="125000"/>
              </a:lnSpc>
              <a:spcBef>
                <a:spcPct val="10000"/>
              </a:spcBef>
            </a:pPr>
            <a:r>
              <a:rPr lang="en-US" altLang="zh-CN" sz="2200">
                <a:ea typeface="宋体" panose="02010600030101010101" pitchFamily="2" charset="-122"/>
              </a:rPr>
              <a:t>Laundry Example</a:t>
            </a:r>
            <a:endParaRPr lang="en-US" altLang="zh-CN" sz="2200">
              <a:ea typeface="宋体" panose="02010600030101010101" pitchFamily="2" charset="-122"/>
            </a:endParaRPr>
          </a:p>
          <a:p>
            <a:pPr lvl="1">
              <a:lnSpc>
                <a:spcPct val="125000"/>
              </a:lnSpc>
              <a:spcBef>
                <a:spcPct val="10000"/>
              </a:spcBef>
            </a:pPr>
            <a:r>
              <a:rPr lang="en-US" altLang="zh-CN" sz="2200">
                <a:ea typeface="宋体" panose="02010600030101010101" pitchFamily="2" charset="-122"/>
              </a:rPr>
              <a:t>Ann, Brian, Cathy, Dave </a:t>
            </a:r>
            <a:br>
              <a:rPr lang="en-US" altLang="zh-CN" sz="2200">
                <a:ea typeface="宋体" panose="02010600030101010101" pitchFamily="2" charset="-122"/>
              </a:rPr>
            </a:br>
            <a:r>
              <a:rPr lang="en-US" altLang="zh-CN" sz="2200">
                <a:ea typeface="宋体" panose="02010600030101010101" pitchFamily="2" charset="-122"/>
              </a:rPr>
              <a:t>each have one load of clothes to </a:t>
            </a:r>
            <a:r>
              <a:rPr lang="en-US" altLang="zh-CN" sz="2200">
                <a:solidFill>
                  <a:srgbClr val="FF0000"/>
                </a:solidFill>
                <a:ea typeface="宋体" panose="02010600030101010101" pitchFamily="2" charset="-122"/>
              </a:rPr>
              <a:t>wash</a:t>
            </a:r>
            <a:r>
              <a:rPr lang="en-US" altLang="zh-CN" sz="2200">
                <a:ea typeface="宋体" panose="02010600030101010101" pitchFamily="2" charset="-122"/>
              </a:rPr>
              <a:t>, </a:t>
            </a:r>
            <a:r>
              <a:rPr lang="en-US" altLang="zh-CN" sz="2200">
                <a:solidFill>
                  <a:srgbClr val="FF0000"/>
                </a:solidFill>
                <a:ea typeface="宋体" panose="02010600030101010101" pitchFamily="2" charset="-122"/>
              </a:rPr>
              <a:t>dry</a:t>
            </a:r>
            <a:r>
              <a:rPr lang="en-US" altLang="zh-CN" sz="2200">
                <a:ea typeface="宋体" panose="02010600030101010101" pitchFamily="2" charset="-122"/>
              </a:rPr>
              <a:t>, and </a:t>
            </a:r>
            <a:r>
              <a:rPr lang="en-US" altLang="zh-CN" sz="2200">
                <a:solidFill>
                  <a:srgbClr val="FF0000"/>
                </a:solidFill>
                <a:ea typeface="宋体" panose="02010600030101010101" pitchFamily="2" charset="-122"/>
              </a:rPr>
              <a:t>fold</a:t>
            </a:r>
            <a:endParaRPr lang="en-US" altLang="zh-CN" sz="2200">
              <a:ea typeface="宋体" panose="02010600030101010101" pitchFamily="2" charset="-122"/>
            </a:endParaRPr>
          </a:p>
          <a:p>
            <a:pPr lvl="1">
              <a:lnSpc>
                <a:spcPct val="125000"/>
              </a:lnSpc>
              <a:spcBef>
                <a:spcPct val="10000"/>
              </a:spcBef>
            </a:pPr>
            <a:r>
              <a:rPr lang="en-US" altLang="zh-CN" sz="2200">
                <a:ea typeface="宋体" panose="02010600030101010101" pitchFamily="2" charset="-122"/>
              </a:rPr>
              <a:t>Washer takes 	</a:t>
            </a:r>
            <a:r>
              <a:rPr lang="en-US" altLang="zh-CN" sz="2200">
                <a:solidFill>
                  <a:schemeClr val="tx1"/>
                </a:solidFill>
                <a:ea typeface="宋体" panose="02010600030101010101" pitchFamily="2" charset="-122"/>
              </a:rPr>
              <a:t>30</a:t>
            </a:r>
            <a:r>
              <a:rPr lang="en-US" altLang="zh-CN" sz="2200">
                <a:ea typeface="宋体" panose="02010600030101010101" pitchFamily="2" charset="-122"/>
              </a:rPr>
              <a:t> minutes</a:t>
            </a:r>
            <a:endParaRPr lang="en-US" altLang="zh-CN" sz="2200">
              <a:ea typeface="宋体" panose="02010600030101010101" pitchFamily="2" charset="-122"/>
            </a:endParaRPr>
          </a:p>
          <a:p>
            <a:pPr lvl="1">
              <a:lnSpc>
                <a:spcPct val="125000"/>
              </a:lnSpc>
              <a:spcBef>
                <a:spcPct val="10000"/>
              </a:spcBef>
            </a:pPr>
            <a:r>
              <a:rPr lang="en-US" altLang="zh-CN" sz="2200">
                <a:ea typeface="宋体" panose="02010600030101010101" pitchFamily="2" charset="-122"/>
              </a:rPr>
              <a:t>Dryer takes 	</a:t>
            </a:r>
            <a:r>
              <a:rPr lang="en-US" altLang="zh-CN" sz="2200">
                <a:solidFill>
                  <a:srgbClr val="000099"/>
                </a:solidFill>
                <a:ea typeface="宋体" panose="02010600030101010101" pitchFamily="2" charset="-122"/>
              </a:rPr>
              <a:t>40</a:t>
            </a:r>
            <a:r>
              <a:rPr lang="en-US" altLang="zh-CN" sz="2200">
                <a:ea typeface="宋体" panose="02010600030101010101" pitchFamily="2" charset="-122"/>
              </a:rPr>
              <a:t> minutes</a:t>
            </a:r>
            <a:endParaRPr lang="en-US" altLang="zh-CN" sz="2200">
              <a:ea typeface="宋体" panose="02010600030101010101" pitchFamily="2" charset="-122"/>
            </a:endParaRPr>
          </a:p>
          <a:p>
            <a:pPr lvl="1">
              <a:lnSpc>
                <a:spcPct val="125000"/>
              </a:lnSpc>
              <a:spcBef>
                <a:spcPct val="10000"/>
              </a:spcBef>
            </a:pPr>
            <a:r>
              <a:rPr lang="en-US" altLang="zh-CN" sz="2200">
                <a:ea typeface="宋体" panose="02010600030101010101" pitchFamily="2" charset="-122"/>
              </a:rPr>
              <a:t>“Folder” takes 	</a:t>
            </a:r>
            <a:r>
              <a:rPr lang="en-US" altLang="zh-CN" sz="2200">
                <a:solidFill>
                  <a:srgbClr val="000099"/>
                </a:solidFill>
                <a:ea typeface="宋体" panose="02010600030101010101" pitchFamily="2" charset="-122"/>
              </a:rPr>
              <a:t>20</a:t>
            </a:r>
            <a:r>
              <a:rPr lang="en-US" altLang="zh-CN" sz="2200">
                <a:ea typeface="宋体" panose="02010600030101010101" pitchFamily="2" charset="-122"/>
              </a:rPr>
              <a:t> minutes</a:t>
            </a:r>
            <a:endParaRPr lang="en-US" altLang="zh-CN" sz="2200">
              <a:ea typeface="宋体" panose="02010600030101010101" pitchFamily="2" charset="-122"/>
            </a:endParaRPr>
          </a:p>
        </p:txBody>
      </p:sp>
      <p:grpSp>
        <p:nvGrpSpPr>
          <p:cNvPr id="164866" name="组合 556034"/>
          <p:cNvGrpSpPr/>
          <p:nvPr/>
        </p:nvGrpSpPr>
        <p:grpSpPr>
          <a:xfrm>
            <a:off x="6540500" y="3362325"/>
            <a:ext cx="673100" cy="800100"/>
            <a:chOff x="4228" y="2820"/>
            <a:chExt cx="424" cy="504"/>
          </a:xfrm>
        </p:grpSpPr>
        <p:grpSp>
          <p:nvGrpSpPr>
            <p:cNvPr id="164867" name="组合 556035"/>
            <p:cNvGrpSpPr/>
            <p:nvPr/>
          </p:nvGrpSpPr>
          <p:grpSpPr>
            <a:xfrm>
              <a:off x="4228" y="2820"/>
              <a:ext cx="424" cy="504"/>
              <a:chOff x="4228" y="2820"/>
              <a:chExt cx="424" cy="504"/>
            </a:xfrm>
          </p:grpSpPr>
          <p:sp>
            <p:nvSpPr>
              <p:cNvPr id="164868" name="立方体 556036"/>
              <p:cNvSpPr/>
              <p:nvPr/>
            </p:nvSpPr>
            <p:spPr>
              <a:xfrm>
                <a:off x="4228" y="2900"/>
                <a:ext cx="424" cy="424"/>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4869" name="立方体 556037"/>
              <p:cNvSpPr/>
              <p:nvPr/>
            </p:nvSpPr>
            <p:spPr>
              <a:xfrm>
                <a:off x="4324" y="2820"/>
                <a:ext cx="328" cy="8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4870" name="椭圆 556038"/>
            <p:cNvSpPr/>
            <p:nvPr/>
          </p:nvSpPr>
          <p:spPr>
            <a:xfrm>
              <a:off x="4356" y="2860"/>
              <a:ext cx="56" cy="32"/>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4871" name="八边形 556039"/>
            <p:cNvSpPr/>
            <p:nvPr/>
          </p:nvSpPr>
          <p:spPr>
            <a:xfrm>
              <a:off x="4280" y="3096"/>
              <a:ext cx="224" cy="96"/>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4872" name="组合 556040"/>
          <p:cNvGrpSpPr/>
          <p:nvPr/>
        </p:nvGrpSpPr>
        <p:grpSpPr>
          <a:xfrm>
            <a:off x="6684963" y="4295775"/>
            <a:ext cx="661987" cy="649288"/>
            <a:chOff x="4319" y="3408"/>
            <a:chExt cx="417" cy="409"/>
          </a:xfrm>
        </p:grpSpPr>
        <p:grpSp>
          <p:nvGrpSpPr>
            <p:cNvPr id="164873" name="组合 556041"/>
            <p:cNvGrpSpPr/>
            <p:nvPr/>
          </p:nvGrpSpPr>
          <p:grpSpPr>
            <a:xfrm>
              <a:off x="4321" y="3601"/>
              <a:ext cx="415" cy="216"/>
              <a:chOff x="4321" y="3601"/>
              <a:chExt cx="415" cy="216"/>
            </a:xfrm>
          </p:grpSpPr>
          <p:sp>
            <p:nvSpPr>
              <p:cNvPr id="164874" name="任意多边形 556042"/>
              <p:cNvSpPr/>
              <p:nvPr/>
            </p:nvSpPr>
            <p:spPr>
              <a:xfrm>
                <a:off x="4523" y="3602"/>
                <a:ext cx="96" cy="215"/>
              </a:xfrm>
              <a:custGeom>
                <a:avLst/>
                <a:gdLst/>
                <a:ahLst/>
                <a:cxnLst/>
                <a:pathLst>
                  <a:path w="96" h="215">
                    <a:moveTo>
                      <a:pt x="69" y="0"/>
                    </a:moveTo>
                    <a:lnTo>
                      <a:pt x="95" y="0"/>
                    </a:lnTo>
                    <a:lnTo>
                      <a:pt x="26" y="214"/>
                    </a:lnTo>
                    <a:lnTo>
                      <a:pt x="0" y="214"/>
                    </a:lnTo>
                    <a:lnTo>
                      <a:pt x="69" y="0"/>
                    </a:lnTo>
                  </a:path>
                </a:pathLst>
              </a:custGeom>
              <a:solidFill>
                <a:srgbClr val="FC0128"/>
              </a:solidFill>
              <a:ln w="12700">
                <a:noFill/>
              </a:ln>
            </p:spPr>
            <p:txBody>
              <a:bodyPr/>
              <a:p>
                <a:endParaRPr lang="zh-CN" altLang="en-US"/>
              </a:p>
            </p:txBody>
          </p:sp>
          <p:sp>
            <p:nvSpPr>
              <p:cNvPr id="164875" name="矩形 556043"/>
              <p:cNvSpPr/>
              <p:nvPr/>
            </p:nvSpPr>
            <p:spPr>
              <a:xfrm>
                <a:off x="4518" y="3601"/>
                <a:ext cx="218" cy="12"/>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4876" name="矩形 556044"/>
              <p:cNvSpPr/>
              <p:nvPr/>
            </p:nvSpPr>
            <p:spPr>
              <a:xfrm>
                <a:off x="4517" y="3692"/>
                <a:ext cx="218" cy="13"/>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4877" name="矩形 556045"/>
              <p:cNvSpPr/>
              <p:nvPr/>
            </p:nvSpPr>
            <p:spPr>
              <a:xfrm>
                <a:off x="4321" y="3692"/>
                <a:ext cx="116" cy="13"/>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grpSp>
          <p:nvGrpSpPr>
            <p:cNvPr id="164878" name="组合 556046"/>
            <p:cNvGrpSpPr/>
            <p:nvPr/>
          </p:nvGrpSpPr>
          <p:grpSpPr>
            <a:xfrm>
              <a:off x="4319" y="3408"/>
              <a:ext cx="217" cy="409"/>
              <a:chOff x="4319" y="3408"/>
              <a:chExt cx="217" cy="409"/>
            </a:xfrm>
          </p:grpSpPr>
          <p:sp>
            <p:nvSpPr>
              <p:cNvPr id="164879" name="椭圆 556047"/>
              <p:cNvSpPr/>
              <p:nvPr/>
            </p:nvSpPr>
            <p:spPr>
              <a:xfrm>
                <a:off x="4403" y="3408"/>
                <a:ext cx="55" cy="55"/>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4880" name="任意多边形 556048"/>
              <p:cNvSpPr/>
              <p:nvPr/>
            </p:nvSpPr>
            <p:spPr>
              <a:xfrm>
                <a:off x="4319" y="3485"/>
                <a:ext cx="217" cy="332"/>
              </a:xfrm>
              <a:custGeom>
                <a:avLst/>
                <a:gdLst/>
                <a:ahLst/>
                <a:cxnLst/>
                <a:pathLst>
                  <a:path w="217" h="332">
                    <a:moveTo>
                      <a:pt x="59" y="25"/>
                    </a:moveTo>
                    <a:lnTo>
                      <a:pt x="2" y="153"/>
                    </a:lnTo>
                    <a:lnTo>
                      <a:pt x="1" y="155"/>
                    </a:lnTo>
                    <a:lnTo>
                      <a:pt x="1" y="157"/>
                    </a:lnTo>
                    <a:lnTo>
                      <a:pt x="0" y="159"/>
                    </a:lnTo>
                    <a:lnTo>
                      <a:pt x="0" y="163"/>
                    </a:lnTo>
                    <a:lnTo>
                      <a:pt x="0" y="165"/>
                    </a:lnTo>
                    <a:lnTo>
                      <a:pt x="0" y="168"/>
                    </a:lnTo>
                    <a:lnTo>
                      <a:pt x="1" y="171"/>
                    </a:lnTo>
                    <a:lnTo>
                      <a:pt x="2" y="174"/>
                    </a:lnTo>
                    <a:lnTo>
                      <a:pt x="3" y="176"/>
                    </a:lnTo>
                    <a:lnTo>
                      <a:pt x="5" y="179"/>
                    </a:lnTo>
                    <a:lnTo>
                      <a:pt x="7" y="181"/>
                    </a:lnTo>
                    <a:lnTo>
                      <a:pt x="9" y="183"/>
                    </a:lnTo>
                    <a:lnTo>
                      <a:pt x="12" y="184"/>
                    </a:lnTo>
                    <a:lnTo>
                      <a:pt x="14" y="186"/>
                    </a:lnTo>
                    <a:lnTo>
                      <a:pt x="15" y="186"/>
                    </a:lnTo>
                    <a:lnTo>
                      <a:pt x="17" y="186"/>
                    </a:lnTo>
                    <a:lnTo>
                      <a:pt x="20" y="186"/>
                    </a:lnTo>
                    <a:lnTo>
                      <a:pt x="23" y="186"/>
                    </a:lnTo>
                    <a:lnTo>
                      <a:pt x="141" y="186"/>
                    </a:lnTo>
                    <a:lnTo>
                      <a:pt x="141" y="331"/>
                    </a:lnTo>
                    <a:lnTo>
                      <a:pt x="178" y="331"/>
                    </a:lnTo>
                    <a:lnTo>
                      <a:pt x="178" y="159"/>
                    </a:lnTo>
                    <a:lnTo>
                      <a:pt x="178" y="157"/>
                    </a:lnTo>
                    <a:lnTo>
                      <a:pt x="177" y="155"/>
                    </a:lnTo>
                    <a:lnTo>
                      <a:pt x="176" y="153"/>
                    </a:lnTo>
                    <a:lnTo>
                      <a:pt x="176" y="152"/>
                    </a:lnTo>
                    <a:lnTo>
                      <a:pt x="175" y="151"/>
                    </a:lnTo>
                    <a:lnTo>
                      <a:pt x="173" y="149"/>
                    </a:lnTo>
                    <a:lnTo>
                      <a:pt x="172" y="148"/>
                    </a:lnTo>
                    <a:lnTo>
                      <a:pt x="170" y="147"/>
                    </a:lnTo>
                    <a:lnTo>
                      <a:pt x="168" y="146"/>
                    </a:lnTo>
                    <a:lnTo>
                      <a:pt x="166" y="145"/>
                    </a:lnTo>
                    <a:lnTo>
                      <a:pt x="164" y="145"/>
                    </a:lnTo>
                    <a:lnTo>
                      <a:pt x="161" y="145"/>
                    </a:lnTo>
                    <a:lnTo>
                      <a:pt x="159" y="145"/>
                    </a:lnTo>
                    <a:lnTo>
                      <a:pt x="157" y="145"/>
                    </a:lnTo>
                    <a:lnTo>
                      <a:pt x="155" y="145"/>
                    </a:lnTo>
                    <a:lnTo>
                      <a:pt x="153" y="145"/>
                    </a:lnTo>
                    <a:lnTo>
                      <a:pt x="85" y="141"/>
                    </a:lnTo>
                    <a:lnTo>
                      <a:pt x="104" y="84"/>
                    </a:lnTo>
                    <a:lnTo>
                      <a:pt x="118" y="104"/>
                    </a:lnTo>
                    <a:lnTo>
                      <a:pt x="201" y="104"/>
                    </a:lnTo>
                    <a:lnTo>
                      <a:pt x="203" y="103"/>
                    </a:lnTo>
                    <a:lnTo>
                      <a:pt x="204" y="103"/>
                    </a:lnTo>
                    <a:lnTo>
                      <a:pt x="206" y="103"/>
                    </a:lnTo>
                    <a:lnTo>
                      <a:pt x="207" y="103"/>
                    </a:lnTo>
                    <a:lnTo>
                      <a:pt x="209" y="101"/>
                    </a:lnTo>
                    <a:lnTo>
                      <a:pt x="211" y="100"/>
                    </a:lnTo>
                    <a:lnTo>
                      <a:pt x="212" y="98"/>
                    </a:lnTo>
                    <a:lnTo>
                      <a:pt x="214" y="97"/>
                    </a:lnTo>
                    <a:lnTo>
                      <a:pt x="215" y="95"/>
                    </a:lnTo>
                    <a:lnTo>
                      <a:pt x="215" y="93"/>
                    </a:lnTo>
                    <a:lnTo>
                      <a:pt x="216" y="91"/>
                    </a:lnTo>
                    <a:lnTo>
                      <a:pt x="216" y="88"/>
                    </a:lnTo>
                    <a:lnTo>
                      <a:pt x="216" y="85"/>
                    </a:lnTo>
                    <a:lnTo>
                      <a:pt x="215" y="83"/>
                    </a:lnTo>
                    <a:lnTo>
                      <a:pt x="214" y="81"/>
                    </a:lnTo>
                    <a:lnTo>
                      <a:pt x="213" y="79"/>
                    </a:lnTo>
                    <a:lnTo>
                      <a:pt x="211" y="77"/>
                    </a:lnTo>
                    <a:lnTo>
                      <a:pt x="210" y="76"/>
                    </a:lnTo>
                    <a:lnTo>
                      <a:pt x="208" y="74"/>
                    </a:lnTo>
                    <a:lnTo>
                      <a:pt x="206" y="73"/>
                    </a:lnTo>
                    <a:lnTo>
                      <a:pt x="205" y="72"/>
                    </a:lnTo>
                    <a:lnTo>
                      <a:pt x="203" y="72"/>
                    </a:lnTo>
                    <a:lnTo>
                      <a:pt x="201" y="72"/>
                    </a:lnTo>
                    <a:lnTo>
                      <a:pt x="137" y="72"/>
                    </a:lnTo>
                    <a:lnTo>
                      <a:pt x="123" y="49"/>
                    </a:lnTo>
                    <a:lnTo>
                      <a:pt x="125" y="47"/>
                    </a:lnTo>
                    <a:lnTo>
                      <a:pt x="126" y="44"/>
                    </a:lnTo>
                    <a:lnTo>
                      <a:pt x="126" y="41"/>
                    </a:lnTo>
                    <a:lnTo>
                      <a:pt x="127" y="38"/>
                    </a:lnTo>
                    <a:lnTo>
                      <a:pt x="127" y="34"/>
                    </a:lnTo>
                    <a:lnTo>
                      <a:pt x="127" y="31"/>
                    </a:lnTo>
                    <a:lnTo>
                      <a:pt x="127" y="27"/>
                    </a:lnTo>
                    <a:lnTo>
                      <a:pt x="126" y="24"/>
                    </a:lnTo>
                    <a:lnTo>
                      <a:pt x="125" y="21"/>
                    </a:lnTo>
                    <a:lnTo>
                      <a:pt x="124" y="20"/>
                    </a:lnTo>
                    <a:lnTo>
                      <a:pt x="123" y="17"/>
                    </a:lnTo>
                    <a:lnTo>
                      <a:pt x="122" y="15"/>
                    </a:lnTo>
                    <a:lnTo>
                      <a:pt x="120" y="12"/>
                    </a:lnTo>
                    <a:lnTo>
                      <a:pt x="118" y="10"/>
                    </a:lnTo>
                    <a:lnTo>
                      <a:pt x="115" y="8"/>
                    </a:lnTo>
                    <a:lnTo>
                      <a:pt x="113" y="6"/>
                    </a:lnTo>
                    <a:lnTo>
                      <a:pt x="110" y="4"/>
                    </a:lnTo>
                    <a:lnTo>
                      <a:pt x="107" y="3"/>
                    </a:lnTo>
                    <a:lnTo>
                      <a:pt x="104" y="1"/>
                    </a:lnTo>
                    <a:lnTo>
                      <a:pt x="100" y="1"/>
                    </a:lnTo>
                    <a:lnTo>
                      <a:pt x="97" y="0"/>
                    </a:lnTo>
                    <a:lnTo>
                      <a:pt x="95" y="0"/>
                    </a:lnTo>
                    <a:lnTo>
                      <a:pt x="91" y="0"/>
                    </a:lnTo>
                    <a:lnTo>
                      <a:pt x="88" y="0"/>
                    </a:lnTo>
                    <a:lnTo>
                      <a:pt x="84" y="1"/>
                    </a:lnTo>
                    <a:lnTo>
                      <a:pt x="81" y="2"/>
                    </a:lnTo>
                    <a:lnTo>
                      <a:pt x="77" y="3"/>
                    </a:lnTo>
                    <a:lnTo>
                      <a:pt x="74" y="5"/>
                    </a:lnTo>
                    <a:lnTo>
                      <a:pt x="70" y="7"/>
                    </a:lnTo>
                    <a:lnTo>
                      <a:pt x="68" y="10"/>
                    </a:lnTo>
                    <a:lnTo>
                      <a:pt x="66" y="13"/>
                    </a:lnTo>
                    <a:lnTo>
                      <a:pt x="64" y="15"/>
                    </a:lnTo>
                    <a:lnTo>
                      <a:pt x="62" y="19"/>
                    </a:lnTo>
                    <a:lnTo>
                      <a:pt x="60" y="21"/>
                    </a:lnTo>
                    <a:lnTo>
                      <a:pt x="59" y="25"/>
                    </a:lnTo>
                  </a:path>
                </a:pathLst>
              </a:custGeom>
              <a:solidFill>
                <a:srgbClr val="FC0128"/>
              </a:solidFill>
              <a:ln w="127000">
                <a:noFill/>
              </a:ln>
            </p:spPr>
            <p:txBody>
              <a:bodyPr/>
              <a:p>
                <a:endParaRPr lang="zh-CN" altLang="en-US"/>
              </a:p>
            </p:txBody>
          </p:sp>
        </p:grpSp>
      </p:grpSp>
      <p:grpSp>
        <p:nvGrpSpPr>
          <p:cNvPr id="164881" name="组合 556049"/>
          <p:cNvGrpSpPr/>
          <p:nvPr/>
        </p:nvGrpSpPr>
        <p:grpSpPr>
          <a:xfrm>
            <a:off x="6515100" y="2289175"/>
            <a:ext cx="673100" cy="800100"/>
            <a:chOff x="4212" y="2144"/>
            <a:chExt cx="424" cy="504"/>
          </a:xfrm>
        </p:grpSpPr>
        <p:grpSp>
          <p:nvGrpSpPr>
            <p:cNvPr id="164882" name="组合 556050"/>
            <p:cNvGrpSpPr/>
            <p:nvPr/>
          </p:nvGrpSpPr>
          <p:grpSpPr>
            <a:xfrm>
              <a:off x="4212" y="2144"/>
              <a:ext cx="424" cy="504"/>
              <a:chOff x="4212" y="2144"/>
              <a:chExt cx="424" cy="504"/>
            </a:xfrm>
          </p:grpSpPr>
          <p:grpSp>
            <p:nvGrpSpPr>
              <p:cNvPr id="164883" name="组合 556051"/>
              <p:cNvGrpSpPr/>
              <p:nvPr/>
            </p:nvGrpSpPr>
            <p:grpSpPr>
              <a:xfrm>
                <a:off x="4212" y="2144"/>
                <a:ext cx="424" cy="504"/>
                <a:chOff x="4212" y="2144"/>
                <a:chExt cx="424" cy="504"/>
              </a:xfrm>
            </p:grpSpPr>
            <p:sp>
              <p:nvSpPr>
                <p:cNvPr id="164884" name="立方体 556052"/>
                <p:cNvSpPr/>
                <p:nvPr/>
              </p:nvSpPr>
              <p:spPr>
                <a:xfrm>
                  <a:off x="4212" y="2224"/>
                  <a:ext cx="424" cy="424"/>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4885" name="立方体 556053"/>
                <p:cNvSpPr/>
                <p:nvPr/>
              </p:nvSpPr>
              <p:spPr>
                <a:xfrm>
                  <a:off x="4308" y="2144"/>
                  <a:ext cx="328" cy="8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4886" name="平行四边形 556054"/>
              <p:cNvSpPr/>
              <p:nvPr/>
            </p:nvSpPr>
            <p:spPr>
              <a:xfrm>
                <a:off x="4296" y="2260"/>
                <a:ext cx="224" cy="32"/>
              </a:xfrm>
              <a:prstGeom prst="parallelogram">
                <a:avLst>
                  <a:gd name="adj" fmla="val 174965"/>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4887" name="椭圆 556055"/>
            <p:cNvSpPr/>
            <p:nvPr/>
          </p:nvSpPr>
          <p:spPr>
            <a:xfrm>
              <a:off x="4540" y="2184"/>
              <a:ext cx="56" cy="32"/>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4888" name="组合 556056"/>
          <p:cNvGrpSpPr/>
          <p:nvPr/>
        </p:nvGrpSpPr>
        <p:grpSpPr>
          <a:xfrm>
            <a:off x="5689600" y="1597025"/>
            <a:ext cx="2224088" cy="534988"/>
            <a:chOff x="3692" y="1708"/>
            <a:chExt cx="1401" cy="337"/>
          </a:xfrm>
        </p:grpSpPr>
        <p:grpSp>
          <p:nvGrpSpPr>
            <p:cNvPr id="164889" name="组合 556057"/>
            <p:cNvGrpSpPr/>
            <p:nvPr/>
          </p:nvGrpSpPr>
          <p:grpSpPr>
            <a:xfrm>
              <a:off x="3692" y="1708"/>
              <a:ext cx="329" cy="337"/>
              <a:chOff x="3692" y="1708"/>
              <a:chExt cx="329" cy="337"/>
            </a:xfrm>
          </p:grpSpPr>
          <p:sp>
            <p:nvSpPr>
              <p:cNvPr id="164890" name="任意多边形 556058"/>
              <p:cNvSpPr/>
              <p:nvPr/>
            </p:nvSpPr>
            <p:spPr>
              <a:xfrm>
                <a:off x="3692" y="1708"/>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4891" name="矩形 556059"/>
              <p:cNvSpPr/>
              <p:nvPr/>
            </p:nvSpPr>
            <p:spPr>
              <a:xfrm>
                <a:off x="3743" y="1759"/>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A</a:t>
                </a:r>
                <a:endParaRPr lang="en-US" altLang="zh-CN" sz="2400">
                  <a:latin typeface="Arial" panose="020B0604020202020204" pitchFamily="34" charset="0"/>
                  <a:ea typeface="宋体" panose="02010600030101010101" pitchFamily="2" charset="-122"/>
                </a:endParaRPr>
              </a:p>
            </p:txBody>
          </p:sp>
        </p:grpSp>
        <p:grpSp>
          <p:nvGrpSpPr>
            <p:cNvPr id="164892" name="组合 556060"/>
            <p:cNvGrpSpPr/>
            <p:nvPr/>
          </p:nvGrpSpPr>
          <p:grpSpPr>
            <a:xfrm>
              <a:off x="4052" y="1708"/>
              <a:ext cx="329" cy="337"/>
              <a:chOff x="4052" y="1708"/>
              <a:chExt cx="329" cy="337"/>
            </a:xfrm>
          </p:grpSpPr>
          <p:sp>
            <p:nvSpPr>
              <p:cNvPr id="164893" name="任意多边形 556061"/>
              <p:cNvSpPr/>
              <p:nvPr/>
            </p:nvSpPr>
            <p:spPr>
              <a:xfrm>
                <a:off x="4052" y="1708"/>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4894" name="矩形 556062"/>
              <p:cNvSpPr/>
              <p:nvPr/>
            </p:nvSpPr>
            <p:spPr>
              <a:xfrm>
                <a:off x="4103" y="1759"/>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B</a:t>
                </a:r>
                <a:endParaRPr lang="en-US" altLang="zh-CN" sz="2400">
                  <a:latin typeface="Arial" panose="020B0604020202020204" pitchFamily="34" charset="0"/>
                  <a:ea typeface="宋体" panose="02010600030101010101" pitchFamily="2" charset="-122"/>
                </a:endParaRPr>
              </a:p>
            </p:txBody>
          </p:sp>
        </p:grpSp>
        <p:grpSp>
          <p:nvGrpSpPr>
            <p:cNvPr id="164895" name="组合 556063"/>
            <p:cNvGrpSpPr/>
            <p:nvPr/>
          </p:nvGrpSpPr>
          <p:grpSpPr>
            <a:xfrm>
              <a:off x="4412" y="1708"/>
              <a:ext cx="329" cy="337"/>
              <a:chOff x="4412" y="1708"/>
              <a:chExt cx="329" cy="337"/>
            </a:xfrm>
          </p:grpSpPr>
          <p:sp>
            <p:nvSpPr>
              <p:cNvPr id="164896" name="任意多边形 556064"/>
              <p:cNvSpPr/>
              <p:nvPr/>
            </p:nvSpPr>
            <p:spPr>
              <a:xfrm>
                <a:off x="4412" y="1708"/>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4897" name="矩形 556065"/>
              <p:cNvSpPr/>
              <p:nvPr/>
            </p:nvSpPr>
            <p:spPr>
              <a:xfrm>
                <a:off x="4463" y="1759"/>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C</a:t>
                </a:r>
                <a:endParaRPr lang="en-US" altLang="zh-CN" sz="2400">
                  <a:latin typeface="Arial" panose="020B0604020202020204" pitchFamily="34" charset="0"/>
                  <a:ea typeface="宋体" panose="02010600030101010101" pitchFamily="2" charset="-122"/>
                </a:endParaRPr>
              </a:p>
            </p:txBody>
          </p:sp>
        </p:grpSp>
        <p:grpSp>
          <p:nvGrpSpPr>
            <p:cNvPr id="164898" name="组合 556066"/>
            <p:cNvGrpSpPr/>
            <p:nvPr/>
          </p:nvGrpSpPr>
          <p:grpSpPr>
            <a:xfrm>
              <a:off x="4764" y="1708"/>
              <a:ext cx="329" cy="337"/>
              <a:chOff x="4764" y="1708"/>
              <a:chExt cx="329" cy="337"/>
            </a:xfrm>
          </p:grpSpPr>
          <p:sp>
            <p:nvSpPr>
              <p:cNvPr id="164899" name="任意多边形 556067"/>
              <p:cNvSpPr/>
              <p:nvPr/>
            </p:nvSpPr>
            <p:spPr>
              <a:xfrm>
                <a:off x="4764" y="1708"/>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4900" name="矩形 556068"/>
              <p:cNvSpPr/>
              <p:nvPr/>
            </p:nvSpPr>
            <p:spPr>
              <a:xfrm>
                <a:off x="4815" y="1759"/>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D</a:t>
                </a:r>
                <a:endParaRPr lang="en-US" altLang="zh-CN" sz="2400">
                  <a:latin typeface="Arial" panose="020B0604020202020204" pitchFamily="34" charset="0"/>
                  <a:ea typeface="宋体" panose="02010600030101010101" pitchFamily="2" charset="-122"/>
                </a:endParaRPr>
              </a:p>
            </p:txBody>
          </p:sp>
        </p:grpSp>
      </p:grpSp>
      <p:sp>
        <p:nvSpPr>
          <p:cNvPr id="164901" name="矩形 556069"/>
          <p:cNvSpPr/>
          <p:nvPr/>
        </p:nvSpPr>
        <p:spPr>
          <a:xfrm>
            <a:off x="685800" y="109538"/>
            <a:ext cx="7772400" cy="762000"/>
          </a:xfrm>
          <a:prstGeom prst="rect">
            <a:avLst/>
          </a:prstGeom>
          <a:noFill/>
          <a:ln w="9525">
            <a:noFill/>
          </a:ln>
        </p:spPr>
        <p:txBody>
          <a:bodyPr anchor="ctr" anchorCtr="0"/>
          <a:p>
            <a:pPr algn="ctr"/>
            <a:endParaRPr lang="en-US" altLang="zh-CN" sz="4400" b="0">
              <a:solidFill>
                <a:schemeClr val="accent2"/>
              </a:solidFill>
              <a:latin typeface="方正舒体" panose="02010601030101010101" pitchFamily="2" charset="-122"/>
              <a:ea typeface="方正舒体" panose="02010601030101010101" pitchFamily="2" charset="-122"/>
            </a:endParaRPr>
          </a:p>
        </p:txBody>
      </p:sp>
      <p:sp>
        <p:nvSpPr>
          <p:cNvPr id="556071" name="矩形 556070"/>
          <p:cNvSpPr/>
          <p:nvPr/>
        </p:nvSpPr>
        <p:spPr>
          <a:xfrm>
            <a:off x="1295400" y="5159375"/>
            <a:ext cx="4157663" cy="519113"/>
          </a:xfrm>
          <a:prstGeom prst="rect">
            <a:avLst/>
          </a:prstGeom>
          <a:noFill/>
          <a:ln w="9525">
            <a:noFill/>
          </a:ln>
        </p:spPr>
        <p:txBody>
          <a:bodyPr wrap="none" anchor="t" anchorCtr="0">
            <a:spAutoFit/>
          </a:bodyPr>
          <a:p>
            <a:pPr eaLnBrk="0" hangingPunct="0"/>
            <a:r>
              <a:rPr lang="en-US" altLang="zh-CN" sz="2800">
                <a:solidFill>
                  <a:schemeClr val="accent2"/>
                </a:solidFill>
                <a:latin typeface="Arial" panose="020B0604020202020204" pitchFamily="34" charset="0"/>
                <a:ea typeface="宋体" panose="02010600030101010101" pitchFamily="2" charset="-122"/>
              </a:rPr>
              <a:t>Pipelining: It’s Natural !</a:t>
            </a:r>
            <a:endParaRPr lang="zh-CN" altLang="en-US" sz="2800">
              <a:solidFill>
                <a:schemeClr val="accent2"/>
              </a:solidFill>
              <a:latin typeface="Arial" panose="020B0604020202020204" pitchFamily="34" charset="0"/>
              <a:ea typeface="宋体" panose="02010600030101010101" pitchFamily="2" charset="-122"/>
            </a:endParaRPr>
          </a:p>
        </p:txBody>
      </p:sp>
      <p:sp>
        <p:nvSpPr>
          <p:cNvPr id="164903" name="标题 556071"/>
          <p:cNvSpPr>
            <a:spLocks noGrp="1"/>
          </p:cNvSpPr>
          <p:nvPr>
            <p:ph type="title"/>
          </p:nvPr>
        </p:nvSpPr>
        <p:spPr>
          <a:xfrm>
            <a:off x="457200" y="152400"/>
            <a:ext cx="7550150" cy="528638"/>
          </a:xfrm>
          <a:ln/>
        </p:spPr>
        <p:txBody>
          <a:bodyPr vert="horz" wrap="square" lIns="63500" tIns="25400" rIns="63500" bIns="25400" anchor="t" anchorCtr="0">
            <a:spAutoFit/>
          </a:bodyPr>
          <a:p>
            <a:r>
              <a:rPr lang="zh-CN" altLang="en-US" dirty="0"/>
              <a:t>一个日常生活中的例子</a:t>
            </a:r>
            <a:r>
              <a:rPr lang="en-US" altLang="zh-CN">
                <a:latin typeface="黑体" panose="02010609060101010101" pitchFamily="49" charset="-122"/>
              </a:rPr>
              <a:t>—</a:t>
            </a:r>
            <a:r>
              <a:rPr lang="zh-CN" altLang="en-US" dirty="0"/>
              <a:t>洗衣服</a:t>
            </a:r>
            <a:endParaRPr lang="zh-CN" altLang="en-US" dirty="0"/>
          </a:p>
        </p:txBody>
      </p:sp>
      <p:sp>
        <p:nvSpPr>
          <p:cNvPr id="556073" name="文本框 556072"/>
          <p:cNvSpPr txBox="1"/>
          <p:nvPr/>
        </p:nvSpPr>
        <p:spPr>
          <a:xfrm>
            <a:off x="450850" y="4456113"/>
            <a:ext cx="5846763" cy="457200"/>
          </a:xfrm>
          <a:prstGeom prst="rect">
            <a:avLst/>
          </a:prstGeom>
          <a:noFill/>
          <a:ln w="12700">
            <a:noFill/>
          </a:ln>
        </p:spPr>
        <p:txBody>
          <a:bodyPr anchor="t" anchorCtr="0">
            <a:spAutoFit/>
          </a:bodyPr>
          <a:p>
            <a:pPr eaLnBrk="0" hangingPunct="0">
              <a:spcBef>
                <a:spcPct val="50000"/>
              </a:spcBef>
            </a:pPr>
            <a:r>
              <a:rPr lang="zh-CN" altLang="en-US" sz="2400" dirty="0">
                <a:solidFill>
                  <a:srgbClr val="990000"/>
                </a:solidFill>
                <a:latin typeface="Times New Roman" panose="02020603050405020304" pitchFamily="18" charset="0"/>
                <a:ea typeface="黑体" panose="02010609060101010101" pitchFamily="49" charset="-122"/>
              </a:rPr>
              <a:t>如果让你来管理洗衣店，你会如何安排？</a:t>
            </a:r>
            <a:endParaRPr lang="zh-CN" altLang="en-US" sz="2400" dirty="0">
              <a:solidFill>
                <a:srgbClr val="99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6073"/>
                                        </p:tgtEl>
                                        <p:attrNameLst>
                                          <p:attrName>style.visibility</p:attrName>
                                        </p:attrNameLst>
                                      </p:cBhvr>
                                      <p:to>
                                        <p:strVal val="visible"/>
                                      </p:to>
                                    </p:set>
                                    <p:animEffect transition="in" filter="blinds(horizontal)">
                                      <p:cBhvr>
                                        <p:cTn id="7" dur="500"/>
                                        <p:tgtEl>
                                          <p:spTgt spid="5560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6071"/>
                                        </p:tgtEl>
                                        <p:attrNameLst>
                                          <p:attrName>style.visibility</p:attrName>
                                        </p:attrNameLst>
                                      </p:cBhvr>
                                      <p:to>
                                        <p:strVal val="visible"/>
                                      </p:to>
                                    </p:set>
                                    <p:animEffect transition="in" filter="blinds(horizontal)">
                                      <p:cBhvr>
                                        <p:cTn id="12" dur="500"/>
                                        <p:tgtEl>
                                          <p:spTgt spid="556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71" grpId="0"/>
      <p:bldP spid="55607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89" name="标题 557057"/>
          <p:cNvSpPr>
            <a:spLocks noGrp="1"/>
          </p:cNvSpPr>
          <p:nvPr>
            <p:ph type="title"/>
          </p:nvPr>
        </p:nvSpPr>
        <p:spPr>
          <a:xfrm>
            <a:off x="933450" y="57150"/>
            <a:ext cx="7366000" cy="512763"/>
          </a:xfrm>
          <a:ln/>
        </p:spPr>
        <p:txBody>
          <a:bodyPr vert="horz" wrap="square" lIns="90488" tIns="44450" rIns="90488" bIns="44450" anchor="ctr" anchorCtr="0">
            <a:spAutoFit/>
          </a:bodyPr>
          <a:p>
            <a:r>
              <a:rPr lang="en-US" altLang="zh-CN"/>
              <a:t>Sequential Laundry</a:t>
            </a:r>
            <a:r>
              <a:rPr lang="en-US" altLang="zh-CN">
                <a:latin typeface="黑体" panose="02010609060101010101" pitchFamily="49" charset="-122"/>
              </a:rPr>
              <a:t>（</a:t>
            </a:r>
            <a:r>
              <a:rPr lang="zh-CN" altLang="en-US" dirty="0">
                <a:latin typeface="黑体" panose="02010609060101010101" pitchFamily="49" charset="-122"/>
              </a:rPr>
              <a:t>串行方式）</a:t>
            </a:r>
            <a:endParaRPr lang="zh-CN" altLang="en-US" dirty="0">
              <a:latin typeface="黑体" panose="02010609060101010101" pitchFamily="49" charset="-122"/>
            </a:endParaRPr>
          </a:p>
        </p:txBody>
      </p:sp>
      <p:sp>
        <p:nvSpPr>
          <p:cNvPr id="557059" name="内容占位符 557058"/>
          <p:cNvSpPr>
            <a:spLocks noGrp="1"/>
          </p:cNvSpPr>
          <p:nvPr>
            <p:ph idx="1"/>
          </p:nvPr>
        </p:nvSpPr>
        <p:spPr>
          <a:xfrm>
            <a:off x="0" y="5353050"/>
            <a:ext cx="8923338" cy="1193800"/>
          </a:xfrm>
          <a:ln/>
        </p:spPr>
        <p:txBody>
          <a:bodyPr vert="horz" wrap="square" lIns="90488" tIns="44450" rIns="90488" bIns="44450" anchor="t" anchorCtr="0">
            <a:spAutoFit/>
          </a:bodyPr>
          <a:p>
            <a:pPr marL="342900" indent="-342900">
              <a:spcBef>
                <a:spcPct val="20000"/>
              </a:spcBef>
            </a:pPr>
            <a:r>
              <a:rPr lang="zh-CN" altLang="en-US" sz="2200" dirty="0">
                <a:latin typeface="微软雅黑" panose="020B0503020204020204" pitchFamily="34" charset="-122"/>
                <a:ea typeface="微软雅黑" panose="020B0503020204020204" pitchFamily="34" charset="-122"/>
              </a:rPr>
              <a:t>串行方式下</a:t>
            </a:r>
            <a:r>
              <a:rPr lang="en-US" altLang="zh-CN" sz="2200">
                <a:latin typeface="微软雅黑" panose="020B0503020204020204" pitchFamily="34" charset="-122"/>
                <a:ea typeface="微软雅黑" panose="020B0503020204020204" pitchFamily="34" charset="-122"/>
              </a:rPr>
              <a:t> 4 </a:t>
            </a:r>
            <a:r>
              <a:rPr lang="zh-CN" altLang="en-US" sz="2200" dirty="0">
                <a:latin typeface="微软雅黑" panose="020B0503020204020204" pitchFamily="34" charset="-122"/>
                <a:ea typeface="微软雅黑" panose="020B0503020204020204" pitchFamily="34" charset="-122"/>
              </a:rPr>
              <a:t>批衣服需花费 </a:t>
            </a:r>
            <a:r>
              <a:rPr lang="en-US" altLang="zh-CN" sz="2200">
                <a:latin typeface="微软雅黑" panose="020B0503020204020204" pitchFamily="34" charset="-122"/>
                <a:ea typeface="微软雅黑" panose="020B0503020204020204" pitchFamily="34" charset="-122"/>
              </a:rPr>
              <a:t>6 </a:t>
            </a:r>
            <a:r>
              <a:rPr lang="zh-CN" altLang="en-US" sz="2200" dirty="0">
                <a:latin typeface="微软雅黑" panose="020B0503020204020204" pitchFamily="34" charset="-122"/>
                <a:ea typeface="微软雅黑" panose="020B0503020204020204" pitchFamily="34" charset="-122"/>
              </a:rPr>
              <a:t>小时（</a:t>
            </a:r>
            <a:r>
              <a:rPr lang="en-US" altLang="zh-CN" sz="2200">
                <a:solidFill>
                  <a:schemeClr val="accent2"/>
                </a:solidFill>
                <a:latin typeface="微软雅黑" panose="020B0503020204020204" pitchFamily="34" charset="-122"/>
                <a:ea typeface="微软雅黑" panose="020B0503020204020204" pitchFamily="34" charset="-122"/>
              </a:rPr>
              <a:t>4x(30+40+20)=360</a:t>
            </a:r>
            <a:r>
              <a:rPr lang="zh-CN" altLang="en-US" sz="2200" dirty="0">
                <a:solidFill>
                  <a:schemeClr val="accent2"/>
                </a:solidFill>
                <a:latin typeface="微软雅黑" panose="020B0503020204020204" pitchFamily="34" charset="-122"/>
                <a:ea typeface="微软雅黑" panose="020B0503020204020204" pitchFamily="34" charset="-122"/>
              </a:rPr>
              <a:t>分钟</a:t>
            </a:r>
            <a:r>
              <a:rPr lang="zh-CN" altLang="en-US"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a:p>
            <a:pPr marL="342900" indent="-342900">
              <a:spcBef>
                <a:spcPct val="20000"/>
              </a:spcBef>
            </a:pPr>
            <a:r>
              <a:rPr lang="en-US" altLang="zh-CN" sz="2200">
                <a:latin typeface="微软雅黑" panose="020B0503020204020204" pitchFamily="34" charset="-122"/>
                <a:ea typeface="微软雅黑" panose="020B0503020204020204" pitchFamily="34" charset="-122"/>
              </a:rPr>
              <a:t>N</a:t>
            </a:r>
            <a:r>
              <a:rPr lang="zh-CN" altLang="en-US" sz="2200" dirty="0">
                <a:latin typeface="微软雅黑" panose="020B0503020204020204" pitchFamily="34" charset="-122"/>
                <a:ea typeface="微软雅黑" panose="020B0503020204020204" pitchFamily="34" charset="-122"/>
              </a:rPr>
              <a:t>批衣服，需花费的时间为</a:t>
            </a:r>
            <a:r>
              <a:rPr lang="en-US" altLang="zh-CN" sz="2200">
                <a:latin typeface="微软雅黑" panose="020B0503020204020204" pitchFamily="34" charset="-122"/>
                <a:ea typeface="微软雅黑" panose="020B0503020204020204" pitchFamily="34" charset="-122"/>
              </a:rPr>
              <a:t>Nx(30+40+20) = 90N</a:t>
            </a:r>
            <a:endParaRPr lang="zh-CN" altLang="en-US" sz="2200" dirty="0">
              <a:latin typeface="微软雅黑" panose="020B0503020204020204" pitchFamily="34" charset="-122"/>
              <a:ea typeface="微软雅黑" panose="020B0503020204020204" pitchFamily="34" charset="-122"/>
            </a:endParaRPr>
          </a:p>
          <a:p>
            <a:pPr marL="342900" indent="-342900">
              <a:spcBef>
                <a:spcPct val="20000"/>
              </a:spcBef>
            </a:pPr>
            <a:r>
              <a:rPr lang="zh-CN" altLang="en-US" sz="2200" dirty="0">
                <a:solidFill>
                  <a:srgbClr val="FF0000"/>
                </a:solidFill>
                <a:latin typeface="微软雅黑" panose="020B0503020204020204" pitchFamily="34" charset="-122"/>
                <a:ea typeface="微软雅黑" panose="020B0503020204020204" pitchFamily="34" charset="-122"/>
              </a:rPr>
              <a:t>如果用流水线方式洗衣服，则花多少时间呢</a:t>
            </a:r>
            <a:r>
              <a:rPr lang="en-US" altLang="zh-CN" sz="2200">
                <a:solidFill>
                  <a:srgbClr val="FF0000"/>
                </a:solidFill>
                <a:latin typeface="微软雅黑" panose="020B0503020204020204" pitchFamily="34" charset="-122"/>
                <a:ea typeface="微软雅黑" panose="020B0503020204020204" pitchFamily="34" charset="-122"/>
              </a:rPr>
              <a:t>? </a:t>
            </a:r>
            <a:endParaRPr lang="en-US" altLang="zh-CN" sz="2200">
              <a:solidFill>
                <a:srgbClr val="FF0000"/>
              </a:solidFill>
              <a:latin typeface="微软雅黑" panose="020B0503020204020204" pitchFamily="34" charset="-122"/>
              <a:ea typeface="微软雅黑" panose="020B0503020204020204" pitchFamily="34" charset="-122"/>
            </a:endParaRPr>
          </a:p>
        </p:txBody>
      </p:sp>
      <p:grpSp>
        <p:nvGrpSpPr>
          <p:cNvPr id="165891" name="组合 557059"/>
          <p:cNvGrpSpPr/>
          <p:nvPr/>
        </p:nvGrpSpPr>
        <p:grpSpPr>
          <a:xfrm>
            <a:off x="844550" y="2386013"/>
            <a:ext cx="522288" cy="534987"/>
            <a:chOff x="532" y="1620"/>
            <a:chExt cx="329" cy="337"/>
          </a:xfrm>
        </p:grpSpPr>
        <p:sp>
          <p:nvSpPr>
            <p:cNvPr id="165892" name="任意多边形 557060"/>
            <p:cNvSpPr/>
            <p:nvPr/>
          </p:nvSpPr>
          <p:spPr>
            <a:xfrm>
              <a:off x="532" y="1620"/>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5893" name="矩形 557061"/>
            <p:cNvSpPr/>
            <p:nvPr/>
          </p:nvSpPr>
          <p:spPr>
            <a:xfrm>
              <a:off x="583" y="1671"/>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A</a:t>
              </a:r>
              <a:endParaRPr lang="en-US" altLang="zh-CN" sz="2400">
                <a:latin typeface="Arial" panose="020B0604020202020204" pitchFamily="34" charset="0"/>
                <a:ea typeface="宋体" panose="02010600030101010101" pitchFamily="2" charset="-122"/>
              </a:endParaRPr>
            </a:p>
          </p:txBody>
        </p:sp>
      </p:grpSp>
      <p:grpSp>
        <p:nvGrpSpPr>
          <p:cNvPr id="165894" name="组合 557062"/>
          <p:cNvGrpSpPr/>
          <p:nvPr/>
        </p:nvGrpSpPr>
        <p:grpSpPr>
          <a:xfrm>
            <a:off x="831850" y="3211513"/>
            <a:ext cx="522288" cy="534987"/>
            <a:chOff x="524" y="2140"/>
            <a:chExt cx="329" cy="337"/>
          </a:xfrm>
        </p:grpSpPr>
        <p:sp>
          <p:nvSpPr>
            <p:cNvPr id="165895" name="任意多边形 557063"/>
            <p:cNvSpPr/>
            <p:nvPr/>
          </p:nvSpPr>
          <p:spPr>
            <a:xfrm>
              <a:off x="524" y="2140"/>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5896" name="矩形 557064"/>
            <p:cNvSpPr/>
            <p:nvPr/>
          </p:nvSpPr>
          <p:spPr>
            <a:xfrm>
              <a:off x="575" y="2191"/>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B</a:t>
              </a:r>
              <a:endParaRPr lang="en-US" altLang="zh-CN" sz="2400">
                <a:latin typeface="Arial" panose="020B0604020202020204" pitchFamily="34" charset="0"/>
                <a:ea typeface="宋体" panose="02010600030101010101" pitchFamily="2" charset="-122"/>
              </a:endParaRPr>
            </a:p>
          </p:txBody>
        </p:sp>
      </p:grpSp>
      <p:grpSp>
        <p:nvGrpSpPr>
          <p:cNvPr id="165897" name="组合 557065"/>
          <p:cNvGrpSpPr/>
          <p:nvPr/>
        </p:nvGrpSpPr>
        <p:grpSpPr>
          <a:xfrm>
            <a:off x="806450" y="3948113"/>
            <a:ext cx="522288" cy="534987"/>
            <a:chOff x="508" y="2604"/>
            <a:chExt cx="329" cy="337"/>
          </a:xfrm>
        </p:grpSpPr>
        <p:sp>
          <p:nvSpPr>
            <p:cNvPr id="165898" name="任意多边形 557066"/>
            <p:cNvSpPr/>
            <p:nvPr/>
          </p:nvSpPr>
          <p:spPr>
            <a:xfrm>
              <a:off x="508" y="2604"/>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5899" name="矩形 557067"/>
            <p:cNvSpPr/>
            <p:nvPr/>
          </p:nvSpPr>
          <p:spPr>
            <a:xfrm>
              <a:off x="559" y="2655"/>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C</a:t>
              </a:r>
              <a:endParaRPr lang="en-US" altLang="zh-CN" sz="2400">
                <a:latin typeface="Arial" panose="020B0604020202020204" pitchFamily="34" charset="0"/>
                <a:ea typeface="宋体" panose="02010600030101010101" pitchFamily="2" charset="-122"/>
              </a:endParaRPr>
            </a:p>
          </p:txBody>
        </p:sp>
      </p:grpSp>
      <p:grpSp>
        <p:nvGrpSpPr>
          <p:cNvPr id="165900" name="组合 557068"/>
          <p:cNvGrpSpPr/>
          <p:nvPr/>
        </p:nvGrpSpPr>
        <p:grpSpPr>
          <a:xfrm>
            <a:off x="793750" y="4697413"/>
            <a:ext cx="522288" cy="534987"/>
            <a:chOff x="500" y="3076"/>
            <a:chExt cx="329" cy="337"/>
          </a:xfrm>
        </p:grpSpPr>
        <p:sp>
          <p:nvSpPr>
            <p:cNvPr id="165901" name="任意多边形 557069"/>
            <p:cNvSpPr/>
            <p:nvPr/>
          </p:nvSpPr>
          <p:spPr>
            <a:xfrm>
              <a:off x="500" y="3076"/>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5902" name="矩形 557070"/>
            <p:cNvSpPr/>
            <p:nvPr/>
          </p:nvSpPr>
          <p:spPr>
            <a:xfrm>
              <a:off x="551" y="3127"/>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D</a:t>
              </a:r>
              <a:endParaRPr lang="en-US" altLang="zh-CN" sz="2400">
                <a:latin typeface="Arial" panose="020B0604020202020204" pitchFamily="34" charset="0"/>
                <a:ea typeface="宋体" panose="02010600030101010101" pitchFamily="2" charset="-122"/>
              </a:endParaRPr>
            </a:p>
          </p:txBody>
        </p:sp>
      </p:grpSp>
      <p:sp>
        <p:nvSpPr>
          <p:cNvPr id="165903" name="矩形 557071"/>
          <p:cNvSpPr/>
          <p:nvPr/>
        </p:nvSpPr>
        <p:spPr>
          <a:xfrm>
            <a:off x="14779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30</a:t>
            </a:r>
            <a:endParaRPr lang="zh-CN" altLang="en-US" sz="2400" dirty="0">
              <a:latin typeface="Arial" panose="020B0604020202020204" pitchFamily="34" charset="0"/>
              <a:ea typeface="宋体" panose="02010600030101010101" pitchFamily="2" charset="-122"/>
            </a:endParaRPr>
          </a:p>
        </p:txBody>
      </p:sp>
      <p:grpSp>
        <p:nvGrpSpPr>
          <p:cNvPr id="165904" name="组合 557072"/>
          <p:cNvGrpSpPr/>
          <p:nvPr/>
        </p:nvGrpSpPr>
        <p:grpSpPr>
          <a:xfrm>
            <a:off x="1511300" y="1884363"/>
            <a:ext cx="1498600" cy="0"/>
            <a:chOff x="952" y="1304"/>
            <a:chExt cx="944" cy="0"/>
          </a:xfrm>
        </p:grpSpPr>
        <p:sp>
          <p:nvSpPr>
            <p:cNvPr id="165905" name="直接连接符 557073"/>
            <p:cNvSpPr/>
            <p:nvPr/>
          </p:nvSpPr>
          <p:spPr>
            <a:xfrm>
              <a:off x="952" y="1304"/>
              <a:ext cx="288" cy="0"/>
            </a:xfrm>
            <a:prstGeom prst="line">
              <a:avLst/>
            </a:prstGeom>
            <a:ln w="50800" cap="flat" cmpd="sng">
              <a:solidFill>
                <a:srgbClr val="F6BF69"/>
              </a:solidFill>
              <a:prstDash val="solid"/>
              <a:round/>
              <a:headEnd type="none" w="med" len="med"/>
              <a:tailEnd type="none" w="med" len="med"/>
            </a:ln>
          </p:spPr>
        </p:sp>
        <p:sp>
          <p:nvSpPr>
            <p:cNvPr id="165906" name="直接连接符 557074"/>
            <p:cNvSpPr/>
            <p:nvPr/>
          </p:nvSpPr>
          <p:spPr>
            <a:xfrm>
              <a:off x="1280" y="1304"/>
              <a:ext cx="360" cy="0"/>
            </a:xfrm>
            <a:prstGeom prst="line">
              <a:avLst/>
            </a:prstGeom>
            <a:ln w="50800" cap="flat" cmpd="sng">
              <a:solidFill>
                <a:srgbClr val="A2C1FE"/>
              </a:solidFill>
              <a:prstDash val="solid"/>
              <a:round/>
              <a:headEnd type="none" w="med" len="med"/>
              <a:tailEnd type="none" w="med" len="med"/>
            </a:ln>
          </p:spPr>
        </p:sp>
        <p:sp>
          <p:nvSpPr>
            <p:cNvPr id="165907" name="直接连接符 557075"/>
            <p:cNvSpPr/>
            <p:nvPr/>
          </p:nvSpPr>
          <p:spPr>
            <a:xfrm>
              <a:off x="1680" y="1304"/>
              <a:ext cx="216" cy="0"/>
            </a:xfrm>
            <a:prstGeom prst="line">
              <a:avLst/>
            </a:prstGeom>
            <a:ln w="50800" cap="flat" cmpd="sng">
              <a:solidFill>
                <a:schemeClr val="hlink"/>
              </a:solidFill>
              <a:prstDash val="solid"/>
              <a:round/>
              <a:headEnd type="none" w="med" len="med"/>
              <a:tailEnd type="none" w="med" len="med"/>
            </a:ln>
          </p:spPr>
        </p:sp>
      </p:grpSp>
      <p:sp>
        <p:nvSpPr>
          <p:cNvPr id="165908" name="矩形 557076"/>
          <p:cNvSpPr/>
          <p:nvPr/>
        </p:nvSpPr>
        <p:spPr>
          <a:xfrm>
            <a:off x="20621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40</a:t>
            </a:r>
            <a:endParaRPr lang="zh-CN" altLang="en-US" sz="2400" dirty="0">
              <a:latin typeface="Arial" panose="020B0604020202020204" pitchFamily="34" charset="0"/>
              <a:ea typeface="宋体" panose="02010600030101010101" pitchFamily="2" charset="-122"/>
            </a:endParaRPr>
          </a:p>
        </p:txBody>
      </p:sp>
      <p:sp>
        <p:nvSpPr>
          <p:cNvPr id="165909" name="矩形 557077"/>
          <p:cNvSpPr/>
          <p:nvPr/>
        </p:nvSpPr>
        <p:spPr>
          <a:xfrm>
            <a:off x="25828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20</a:t>
            </a:r>
            <a:endParaRPr lang="zh-CN" altLang="en-US" sz="2400" dirty="0">
              <a:latin typeface="Arial" panose="020B0604020202020204" pitchFamily="34" charset="0"/>
              <a:ea typeface="宋体" panose="02010600030101010101" pitchFamily="2" charset="-122"/>
            </a:endParaRPr>
          </a:p>
        </p:txBody>
      </p:sp>
      <p:sp>
        <p:nvSpPr>
          <p:cNvPr id="165910" name="直接连接符 557078"/>
          <p:cNvSpPr/>
          <p:nvPr/>
        </p:nvSpPr>
        <p:spPr>
          <a:xfrm>
            <a:off x="2006600" y="1712913"/>
            <a:ext cx="0" cy="304800"/>
          </a:xfrm>
          <a:prstGeom prst="line">
            <a:avLst/>
          </a:prstGeom>
          <a:ln w="12700" cap="flat" cmpd="sng">
            <a:solidFill>
              <a:schemeClr val="tx1"/>
            </a:solidFill>
            <a:prstDash val="solid"/>
            <a:round/>
            <a:headEnd type="none" w="med" len="med"/>
            <a:tailEnd type="none" w="med" len="med"/>
          </a:ln>
        </p:spPr>
      </p:sp>
      <p:sp>
        <p:nvSpPr>
          <p:cNvPr id="165911" name="直接连接符 557079"/>
          <p:cNvSpPr/>
          <p:nvPr/>
        </p:nvSpPr>
        <p:spPr>
          <a:xfrm>
            <a:off x="2641600" y="1712913"/>
            <a:ext cx="0" cy="304800"/>
          </a:xfrm>
          <a:prstGeom prst="line">
            <a:avLst/>
          </a:prstGeom>
          <a:ln w="12700" cap="flat" cmpd="sng">
            <a:solidFill>
              <a:schemeClr val="tx1"/>
            </a:solidFill>
            <a:prstDash val="solid"/>
            <a:round/>
            <a:headEnd type="none" w="med" len="med"/>
            <a:tailEnd type="none" w="med" len="med"/>
          </a:ln>
        </p:spPr>
      </p:sp>
      <p:sp>
        <p:nvSpPr>
          <p:cNvPr id="165912" name="直接连接符 557080"/>
          <p:cNvSpPr/>
          <p:nvPr/>
        </p:nvSpPr>
        <p:spPr>
          <a:xfrm>
            <a:off x="3048000" y="1712913"/>
            <a:ext cx="0" cy="304800"/>
          </a:xfrm>
          <a:prstGeom prst="line">
            <a:avLst/>
          </a:prstGeom>
          <a:ln w="12700" cap="flat" cmpd="sng">
            <a:solidFill>
              <a:schemeClr val="tx1"/>
            </a:solidFill>
            <a:prstDash val="solid"/>
            <a:round/>
            <a:headEnd type="none" w="med" len="med"/>
            <a:tailEnd type="none" w="med" len="med"/>
          </a:ln>
        </p:spPr>
      </p:sp>
      <p:sp>
        <p:nvSpPr>
          <p:cNvPr id="165913" name="矩形 557081"/>
          <p:cNvSpPr/>
          <p:nvPr/>
        </p:nvSpPr>
        <p:spPr>
          <a:xfrm>
            <a:off x="30527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30</a:t>
            </a:r>
            <a:endParaRPr lang="zh-CN" altLang="en-US" sz="2400" dirty="0">
              <a:latin typeface="Arial" panose="020B0604020202020204" pitchFamily="34" charset="0"/>
              <a:ea typeface="宋体" panose="02010600030101010101" pitchFamily="2" charset="-122"/>
            </a:endParaRPr>
          </a:p>
        </p:txBody>
      </p:sp>
      <p:grpSp>
        <p:nvGrpSpPr>
          <p:cNvPr id="165914" name="组合 557082"/>
          <p:cNvGrpSpPr/>
          <p:nvPr/>
        </p:nvGrpSpPr>
        <p:grpSpPr>
          <a:xfrm>
            <a:off x="3086100" y="1884363"/>
            <a:ext cx="1498600" cy="0"/>
            <a:chOff x="1944" y="1304"/>
            <a:chExt cx="944" cy="0"/>
          </a:xfrm>
        </p:grpSpPr>
        <p:sp>
          <p:nvSpPr>
            <p:cNvPr id="165915" name="直接连接符 557083"/>
            <p:cNvSpPr/>
            <p:nvPr/>
          </p:nvSpPr>
          <p:spPr>
            <a:xfrm>
              <a:off x="1944" y="1304"/>
              <a:ext cx="288" cy="0"/>
            </a:xfrm>
            <a:prstGeom prst="line">
              <a:avLst/>
            </a:prstGeom>
            <a:ln w="50800" cap="flat" cmpd="sng">
              <a:solidFill>
                <a:srgbClr val="F6BF69"/>
              </a:solidFill>
              <a:prstDash val="solid"/>
              <a:round/>
              <a:headEnd type="none" w="med" len="med"/>
              <a:tailEnd type="none" w="med" len="med"/>
            </a:ln>
          </p:spPr>
        </p:sp>
        <p:sp>
          <p:nvSpPr>
            <p:cNvPr id="165916" name="直接连接符 557084"/>
            <p:cNvSpPr/>
            <p:nvPr/>
          </p:nvSpPr>
          <p:spPr>
            <a:xfrm>
              <a:off x="2272" y="1304"/>
              <a:ext cx="360" cy="0"/>
            </a:xfrm>
            <a:prstGeom prst="line">
              <a:avLst/>
            </a:prstGeom>
            <a:ln w="50800" cap="flat" cmpd="sng">
              <a:solidFill>
                <a:srgbClr val="A2C1FE"/>
              </a:solidFill>
              <a:prstDash val="solid"/>
              <a:round/>
              <a:headEnd type="none" w="med" len="med"/>
              <a:tailEnd type="none" w="med" len="med"/>
            </a:ln>
          </p:spPr>
        </p:sp>
        <p:sp>
          <p:nvSpPr>
            <p:cNvPr id="165917" name="直接连接符 557085"/>
            <p:cNvSpPr/>
            <p:nvPr/>
          </p:nvSpPr>
          <p:spPr>
            <a:xfrm>
              <a:off x="2672" y="1304"/>
              <a:ext cx="216" cy="0"/>
            </a:xfrm>
            <a:prstGeom prst="line">
              <a:avLst/>
            </a:prstGeom>
            <a:ln w="50800" cap="flat" cmpd="sng">
              <a:solidFill>
                <a:schemeClr val="hlink"/>
              </a:solidFill>
              <a:prstDash val="solid"/>
              <a:round/>
              <a:headEnd type="none" w="med" len="med"/>
              <a:tailEnd type="none" w="med" len="med"/>
            </a:ln>
          </p:spPr>
        </p:sp>
      </p:grpSp>
      <p:sp>
        <p:nvSpPr>
          <p:cNvPr id="165918" name="矩形 557086"/>
          <p:cNvSpPr/>
          <p:nvPr/>
        </p:nvSpPr>
        <p:spPr>
          <a:xfrm>
            <a:off x="36369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40</a:t>
            </a:r>
            <a:endParaRPr lang="zh-CN" altLang="en-US" sz="2400" dirty="0">
              <a:latin typeface="Arial" panose="020B0604020202020204" pitchFamily="34" charset="0"/>
              <a:ea typeface="宋体" panose="02010600030101010101" pitchFamily="2" charset="-122"/>
            </a:endParaRPr>
          </a:p>
        </p:txBody>
      </p:sp>
      <p:sp>
        <p:nvSpPr>
          <p:cNvPr id="165919" name="矩形 557087"/>
          <p:cNvSpPr/>
          <p:nvPr/>
        </p:nvSpPr>
        <p:spPr>
          <a:xfrm>
            <a:off x="41576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20</a:t>
            </a:r>
            <a:endParaRPr lang="zh-CN" altLang="en-US" sz="2400" dirty="0">
              <a:latin typeface="Arial" panose="020B0604020202020204" pitchFamily="34" charset="0"/>
              <a:ea typeface="宋体" panose="02010600030101010101" pitchFamily="2" charset="-122"/>
            </a:endParaRPr>
          </a:p>
        </p:txBody>
      </p:sp>
      <p:sp>
        <p:nvSpPr>
          <p:cNvPr id="165920" name="直接连接符 557088"/>
          <p:cNvSpPr/>
          <p:nvPr/>
        </p:nvSpPr>
        <p:spPr>
          <a:xfrm>
            <a:off x="3581400" y="1712913"/>
            <a:ext cx="0" cy="304800"/>
          </a:xfrm>
          <a:prstGeom prst="line">
            <a:avLst/>
          </a:prstGeom>
          <a:ln w="12700" cap="flat" cmpd="sng">
            <a:solidFill>
              <a:schemeClr val="tx1"/>
            </a:solidFill>
            <a:prstDash val="solid"/>
            <a:round/>
            <a:headEnd type="none" w="med" len="med"/>
            <a:tailEnd type="none" w="med" len="med"/>
          </a:ln>
        </p:spPr>
      </p:sp>
      <p:sp>
        <p:nvSpPr>
          <p:cNvPr id="165921" name="直接连接符 557089"/>
          <p:cNvSpPr/>
          <p:nvPr/>
        </p:nvSpPr>
        <p:spPr>
          <a:xfrm>
            <a:off x="4216400" y="1712913"/>
            <a:ext cx="0" cy="304800"/>
          </a:xfrm>
          <a:prstGeom prst="line">
            <a:avLst/>
          </a:prstGeom>
          <a:ln w="12700" cap="flat" cmpd="sng">
            <a:solidFill>
              <a:schemeClr val="tx1"/>
            </a:solidFill>
            <a:prstDash val="solid"/>
            <a:round/>
            <a:headEnd type="none" w="med" len="med"/>
            <a:tailEnd type="none" w="med" len="med"/>
          </a:ln>
        </p:spPr>
      </p:sp>
      <p:sp>
        <p:nvSpPr>
          <p:cNvPr id="165922" name="直接连接符 557090"/>
          <p:cNvSpPr/>
          <p:nvPr/>
        </p:nvSpPr>
        <p:spPr>
          <a:xfrm>
            <a:off x="4622800" y="1712913"/>
            <a:ext cx="0" cy="304800"/>
          </a:xfrm>
          <a:prstGeom prst="line">
            <a:avLst/>
          </a:prstGeom>
          <a:ln w="12700" cap="flat" cmpd="sng">
            <a:solidFill>
              <a:schemeClr val="tx1"/>
            </a:solidFill>
            <a:prstDash val="solid"/>
            <a:round/>
            <a:headEnd type="none" w="med" len="med"/>
            <a:tailEnd type="none" w="med" len="med"/>
          </a:ln>
        </p:spPr>
      </p:sp>
      <p:sp>
        <p:nvSpPr>
          <p:cNvPr id="165923" name="矩形 557091"/>
          <p:cNvSpPr/>
          <p:nvPr/>
        </p:nvSpPr>
        <p:spPr>
          <a:xfrm>
            <a:off x="46275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30</a:t>
            </a:r>
            <a:endParaRPr lang="zh-CN" altLang="en-US" sz="2400" dirty="0">
              <a:latin typeface="Arial" panose="020B0604020202020204" pitchFamily="34" charset="0"/>
              <a:ea typeface="宋体" panose="02010600030101010101" pitchFamily="2" charset="-122"/>
            </a:endParaRPr>
          </a:p>
        </p:txBody>
      </p:sp>
      <p:grpSp>
        <p:nvGrpSpPr>
          <p:cNvPr id="165924" name="组合 557092"/>
          <p:cNvGrpSpPr/>
          <p:nvPr/>
        </p:nvGrpSpPr>
        <p:grpSpPr>
          <a:xfrm>
            <a:off x="4660900" y="1884363"/>
            <a:ext cx="1498600" cy="0"/>
            <a:chOff x="2936" y="1304"/>
            <a:chExt cx="944" cy="0"/>
          </a:xfrm>
        </p:grpSpPr>
        <p:sp>
          <p:nvSpPr>
            <p:cNvPr id="165925" name="直接连接符 557093"/>
            <p:cNvSpPr/>
            <p:nvPr/>
          </p:nvSpPr>
          <p:spPr>
            <a:xfrm>
              <a:off x="2936" y="1304"/>
              <a:ext cx="288" cy="0"/>
            </a:xfrm>
            <a:prstGeom prst="line">
              <a:avLst/>
            </a:prstGeom>
            <a:ln w="50800" cap="flat" cmpd="sng">
              <a:solidFill>
                <a:srgbClr val="F6BF69"/>
              </a:solidFill>
              <a:prstDash val="solid"/>
              <a:round/>
              <a:headEnd type="none" w="med" len="med"/>
              <a:tailEnd type="none" w="med" len="med"/>
            </a:ln>
          </p:spPr>
        </p:sp>
        <p:sp>
          <p:nvSpPr>
            <p:cNvPr id="165926" name="直接连接符 557094"/>
            <p:cNvSpPr/>
            <p:nvPr/>
          </p:nvSpPr>
          <p:spPr>
            <a:xfrm>
              <a:off x="3264" y="1304"/>
              <a:ext cx="360" cy="0"/>
            </a:xfrm>
            <a:prstGeom prst="line">
              <a:avLst/>
            </a:prstGeom>
            <a:ln w="50800" cap="flat" cmpd="sng">
              <a:solidFill>
                <a:srgbClr val="A2C1FE"/>
              </a:solidFill>
              <a:prstDash val="solid"/>
              <a:round/>
              <a:headEnd type="none" w="med" len="med"/>
              <a:tailEnd type="none" w="med" len="med"/>
            </a:ln>
          </p:spPr>
        </p:sp>
        <p:sp>
          <p:nvSpPr>
            <p:cNvPr id="165927" name="直接连接符 557095"/>
            <p:cNvSpPr/>
            <p:nvPr/>
          </p:nvSpPr>
          <p:spPr>
            <a:xfrm>
              <a:off x="3664" y="1304"/>
              <a:ext cx="216" cy="0"/>
            </a:xfrm>
            <a:prstGeom prst="line">
              <a:avLst/>
            </a:prstGeom>
            <a:ln w="50800" cap="flat" cmpd="sng">
              <a:solidFill>
                <a:schemeClr val="hlink"/>
              </a:solidFill>
              <a:prstDash val="solid"/>
              <a:round/>
              <a:headEnd type="none" w="med" len="med"/>
              <a:tailEnd type="none" w="med" len="med"/>
            </a:ln>
          </p:spPr>
        </p:sp>
      </p:grpSp>
      <p:sp>
        <p:nvSpPr>
          <p:cNvPr id="165928" name="矩形 557096"/>
          <p:cNvSpPr/>
          <p:nvPr/>
        </p:nvSpPr>
        <p:spPr>
          <a:xfrm>
            <a:off x="52117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40</a:t>
            </a:r>
            <a:endParaRPr lang="zh-CN" altLang="en-US" sz="2400" dirty="0">
              <a:latin typeface="Arial" panose="020B0604020202020204" pitchFamily="34" charset="0"/>
              <a:ea typeface="宋体" panose="02010600030101010101" pitchFamily="2" charset="-122"/>
            </a:endParaRPr>
          </a:p>
        </p:txBody>
      </p:sp>
      <p:sp>
        <p:nvSpPr>
          <p:cNvPr id="165929" name="矩形 557097"/>
          <p:cNvSpPr/>
          <p:nvPr/>
        </p:nvSpPr>
        <p:spPr>
          <a:xfrm>
            <a:off x="57324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20</a:t>
            </a:r>
            <a:endParaRPr lang="zh-CN" altLang="en-US" sz="2400" dirty="0">
              <a:latin typeface="Arial" panose="020B0604020202020204" pitchFamily="34" charset="0"/>
              <a:ea typeface="宋体" panose="02010600030101010101" pitchFamily="2" charset="-122"/>
            </a:endParaRPr>
          </a:p>
        </p:txBody>
      </p:sp>
      <p:sp>
        <p:nvSpPr>
          <p:cNvPr id="165930" name="直接连接符 557098"/>
          <p:cNvSpPr/>
          <p:nvPr/>
        </p:nvSpPr>
        <p:spPr>
          <a:xfrm>
            <a:off x="5156200" y="1712913"/>
            <a:ext cx="0" cy="304800"/>
          </a:xfrm>
          <a:prstGeom prst="line">
            <a:avLst/>
          </a:prstGeom>
          <a:ln w="12700" cap="flat" cmpd="sng">
            <a:solidFill>
              <a:schemeClr val="tx1"/>
            </a:solidFill>
            <a:prstDash val="solid"/>
            <a:round/>
            <a:headEnd type="none" w="med" len="med"/>
            <a:tailEnd type="none" w="med" len="med"/>
          </a:ln>
        </p:spPr>
      </p:sp>
      <p:sp>
        <p:nvSpPr>
          <p:cNvPr id="165931" name="直接连接符 557099"/>
          <p:cNvSpPr/>
          <p:nvPr/>
        </p:nvSpPr>
        <p:spPr>
          <a:xfrm>
            <a:off x="5791200" y="1712913"/>
            <a:ext cx="0" cy="304800"/>
          </a:xfrm>
          <a:prstGeom prst="line">
            <a:avLst/>
          </a:prstGeom>
          <a:ln w="12700" cap="flat" cmpd="sng">
            <a:solidFill>
              <a:schemeClr val="tx1"/>
            </a:solidFill>
            <a:prstDash val="solid"/>
            <a:round/>
            <a:headEnd type="none" w="med" len="med"/>
            <a:tailEnd type="none" w="med" len="med"/>
          </a:ln>
        </p:spPr>
      </p:sp>
      <p:sp>
        <p:nvSpPr>
          <p:cNvPr id="165932" name="直接连接符 557100"/>
          <p:cNvSpPr/>
          <p:nvPr/>
        </p:nvSpPr>
        <p:spPr>
          <a:xfrm>
            <a:off x="6197600" y="1712913"/>
            <a:ext cx="0" cy="304800"/>
          </a:xfrm>
          <a:prstGeom prst="line">
            <a:avLst/>
          </a:prstGeom>
          <a:ln w="12700" cap="flat" cmpd="sng">
            <a:solidFill>
              <a:schemeClr val="tx1"/>
            </a:solidFill>
            <a:prstDash val="solid"/>
            <a:round/>
            <a:headEnd type="none" w="med" len="med"/>
            <a:tailEnd type="none" w="med" len="med"/>
          </a:ln>
        </p:spPr>
      </p:sp>
      <p:sp>
        <p:nvSpPr>
          <p:cNvPr id="165933" name="矩形 557101"/>
          <p:cNvSpPr/>
          <p:nvPr/>
        </p:nvSpPr>
        <p:spPr>
          <a:xfrm>
            <a:off x="62023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30</a:t>
            </a:r>
            <a:endParaRPr lang="zh-CN" altLang="en-US" sz="2400" dirty="0">
              <a:latin typeface="Arial" panose="020B0604020202020204" pitchFamily="34" charset="0"/>
              <a:ea typeface="宋体" panose="02010600030101010101" pitchFamily="2" charset="-122"/>
            </a:endParaRPr>
          </a:p>
        </p:txBody>
      </p:sp>
      <p:grpSp>
        <p:nvGrpSpPr>
          <p:cNvPr id="165934" name="组合 557102"/>
          <p:cNvGrpSpPr/>
          <p:nvPr/>
        </p:nvGrpSpPr>
        <p:grpSpPr>
          <a:xfrm>
            <a:off x="6235700" y="1884363"/>
            <a:ext cx="1498600" cy="0"/>
            <a:chOff x="3928" y="1304"/>
            <a:chExt cx="944" cy="0"/>
          </a:xfrm>
        </p:grpSpPr>
        <p:sp>
          <p:nvSpPr>
            <p:cNvPr id="165935" name="直接连接符 557103"/>
            <p:cNvSpPr/>
            <p:nvPr/>
          </p:nvSpPr>
          <p:spPr>
            <a:xfrm>
              <a:off x="3928" y="1304"/>
              <a:ext cx="288" cy="0"/>
            </a:xfrm>
            <a:prstGeom prst="line">
              <a:avLst/>
            </a:prstGeom>
            <a:ln w="50800" cap="flat" cmpd="sng">
              <a:solidFill>
                <a:srgbClr val="F6BF69"/>
              </a:solidFill>
              <a:prstDash val="solid"/>
              <a:round/>
              <a:headEnd type="none" w="med" len="med"/>
              <a:tailEnd type="none" w="med" len="med"/>
            </a:ln>
          </p:spPr>
        </p:sp>
        <p:sp>
          <p:nvSpPr>
            <p:cNvPr id="165936" name="直接连接符 557104"/>
            <p:cNvSpPr/>
            <p:nvPr/>
          </p:nvSpPr>
          <p:spPr>
            <a:xfrm>
              <a:off x="4256" y="1304"/>
              <a:ext cx="360" cy="0"/>
            </a:xfrm>
            <a:prstGeom prst="line">
              <a:avLst/>
            </a:prstGeom>
            <a:ln w="50800" cap="flat" cmpd="sng">
              <a:solidFill>
                <a:srgbClr val="A2C1FE"/>
              </a:solidFill>
              <a:prstDash val="solid"/>
              <a:round/>
              <a:headEnd type="none" w="med" len="med"/>
              <a:tailEnd type="none" w="med" len="med"/>
            </a:ln>
          </p:spPr>
        </p:sp>
        <p:sp>
          <p:nvSpPr>
            <p:cNvPr id="165937" name="直接连接符 557105"/>
            <p:cNvSpPr/>
            <p:nvPr/>
          </p:nvSpPr>
          <p:spPr>
            <a:xfrm>
              <a:off x="4656" y="1304"/>
              <a:ext cx="216" cy="0"/>
            </a:xfrm>
            <a:prstGeom prst="line">
              <a:avLst/>
            </a:prstGeom>
            <a:ln w="50800" cap="flat" cmpd="sng">
              <a:solidFill>
                <a:schemeClr val="hlink"/>
              </a:solidFill>
              <a:prstDash val="solid"/>
              <a:round/>
              <a:headEnd type="none" w="med" len="med"/>
              <a:tailEnd type="none" w="med" len="med"/>
            </a:ln>
          </p:spPr>
        </p:sp>
      </p:grpSp>
      <p:sp>
        <p:nvSpPr>
          <p:cNvPr id="165938" name="矩形 557106"/>
          <p:cNvSpPr/>
          <p:nvPr/>
        </p:nvSpPr>
        <p:spPr>
          <a:xfrm>
            <a:off x="67865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40</a:t>
            </a:r>
            <a:endParaRPr lang="zh-CN" altLang="en-US" sz="2400" dirty="0">
              <a:latin typeface="Arial" panose="020B0604020202020204" pitchFamily="34" charset="0"/>
              <a:ea typeface="宋体" panose="02010600030101010101" pitchFamily="2" charset="-122"/>
            </a:endParaRPr>
          </a:p>
        </p:txBody>
      </p:sp>
      <p:sp>
        <p:nvSpPr>
          <p:cNvPr id="165939" name="矩形 557107"/>
          <p:cNvSpPr/>
          <p:nvPr/>
        </p:nvSpPr>
        <p:spPr>
          <a:xfrm>
            <a:off x="7307263" y="1895475"/>
            <a:ext cx="520700" cy="454025"/>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20</a:t>
            </a:r>
            <a:endParaRPr lang="zh-CN" altLang="en-US" sz="2400" dirty="0">
              <a:latin typeface="Arial" panose="020B0604020202020204" pitchFamily="34" charset="0"/>
              <a:ea typeface="宋体" panose="02010600030101010101" pitchFamily="2" charset="-122"/>
            </a:endParaRPr>
          </a:p>
        </p:txBody>
      </p:sp>
      <p:sp>
        <p:nvSpPr>
          <p:cNvPr id="165940" name="直接连接符 557108"/>
          <p:cNvSpPr/>
          <p:nvPr/>
        </p:nvSpPr>
        <p:spPr>
          <a:xfrm>
            <a:off x="6731000" y="1712913"/>
            <a:ext cx="0" cy="304800"/>
          </a:xfrm>
          <a:prstGeom prst="line">
            <a:avLst/>
          </a:prstGeom>
          <a:ln w="12700" cap="flat" cmpd="sng">
            <a:solidFill>
              <a:schemeClr val="tx1"/>
            </a:solidFill>
            <a:prstDash val="solid"/>
            <a:round/>
            <a:headEnd type="none" w="med" len="med"/>
            <a:tailEnd type="none" w="med" len="med"/>
          </a:ln>
        </p:spPr>
      </p:sp>
      <p:sp>
        <p:nvSpPr>
          <p:cNvPr id="165941" name="直接连接符 557109"/>
          <p:cNvSpPr/>
          <p:nvPr/>
        </p:nvSpPr>
        <p:spPr>
          <a:xfrm>
            <a:off x="7366000" y="1712913"/>
            <a:ext cx="0" cy="304800"/>
          </a:xfrm>
          <a:prstGeom prst="line">
            <a:avLst/>
          </a:prstGeom>
          <a:ln w="12700" cap="flat" cmpd="sng">
            <a:solidFill>
              <a:schemeClr val="tx1"/>
            </a:solidFill>
            <a:prstDash val="solid"/>
            <a:round/>
            <a:headEnd type="none" w="med" len="med"/>
            <a:tailEnd type="none" w="med" len="med"/>
          </a:ln>
        </p:spPr>
      </p:sp>
      <p:sp>
        <p:nvSpPr>
          <p:cNvPr id="165942" name="直接连接符 557110"/>
          <p:cNvSpPr/>
          <p:nvPr/>
        </p:nvSpPr>
        <p:spPr>
          <a:xfrm>
            <a:off x="7772400" y="1712913"/>
            <a:ext cx="0" cy="304800"/>
          </a:xfrm>
          <a:prstGeom prst="line">
            <a:avLst/>
          </a:prstGeom>
          <a:ln w="12700" cap="flat" cmpd="sng">
            <a:solidFill>
              <a:schemeClr val="tx1"/>
            </a:solidFill>
            <a:prstDash val="solid"/>
            <a:round/>
            <a:headEnd type="none" w="med" len="med"/>
            <a:tailEnd type="none" w="med" len="med"/>
          </a:ln>
        </p:spPr>
      </p:sp>
      <p:grpSp>
        <p:nvGrpSpPr>
          <p:cNvPr id="165943" name="组合 557111"/>
          <p:cNvGrpSpPr/>
          <p:nvPr/>
        </p:nvGrpSpPr>
        <p:grpSpPr>
          <a:xfrm>
            <a:off x="1492250" y="2284413"/>
            <a:ext cx="1535113" cy="711200"/>
            <a:chOff x="940" y="1556"/>
            <a:chExt cx="967" cy="448"/>
          </a:xfrm>
        </p:grpSpPr>
        <p:grpSp>
          <p:nvGrpSpPr>
            <p:cNvPr id="165944" name="组合 557112"/>
            <p:cNvGrpSpPr/>
            <p:nvPr/>
          </p:nvGrpSpPr>
          <p:grpSpPr>
            <a:xfrm>
              <a:off x="940" y="1556"/>
              <a:ext cx="305" cy="448"/>
              <a:chOff x="940" y="1556"/>
              <a:chExt cx="305" cy="448"/>
            </a:xfrm>
          </p:grpSpPr>
          <p:grpSp>
            <p:nvGrpSpPr>
              <p:cNvPr id="165945" name="组合 557113"/>
              <p:cNvGrpSpPr/>
              <p:nvPr/>
            </p:nvGrpSpPr>
            <p:grpSpPr>
              <a:xfrm>
                <a:off x="940" y="1556"/>
                <a:ext cx="305" cy="448"/>
                <a:chOff x="940" y="1556"/>
                <a:chExt cx="305" cy="448"/>
              </a:xfrm>
            </p:grpSpPr>
            <p:sp>
              <p:nvSpPr>
                <p:cNvPr id="165946" name="立方体 557114"/>
                <p:cNvSpPr/>
                <p:nvPr/>
              </p:nvSpPr>
              <p:spPr>
                <a:xfrm>
                  <a:off x="940" y="1627"/>
                  <a:ext cx="305" cy="377"/>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47" name="立方体 557115"/>
                <p:cNvSpPr/>
                <p:nvPr/>
              </p:nvSpPr>
              <p:spPr>
                <a:xfrm>
                  <a:off x="1010" y="1556"/>
                  <a:ext cx="235" cy="7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5948" name="平行四边形 557116"/>
              <p:cNvSpPr/>
              <p:nvPr/>
            </p:nvSpPr>
            <p:spPr>
              <a:xfrm>
                <a:off x="1002" y="1660"/>
                <a:ext cx="158" cy="27"/>
              </a:xfrm>
              <a:prstGeom prst="parallelogram">
                <a:avLst>
                  <a:gd name="adj" fmla="val 146267"/>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5949" name="组合 557117"/>
            <p:cNvGrpSpPr/>
            <p:nvPr/>
          </p:nvGrpSpPr>
          <p:grpSpPr>
            <a:xfrm>
              <a:off x="1241" y="1556"/>
              <a:ext cx="378" cy="448"/>
              <a:chOff x="1241" y="1556"/>
              <a:chExt cx="378" cy="448"/>
            </a:xfrm>
          </p:grpSpPr>
          <p:grpSp>
            <p:nvGrpSpPr>
              <p:cNvPr id="165950" name="组合 557118"/>
              <p:cNvGrpSpPr/>
              <p:nvPr/>
            </p:nvGrpSpPr>
            <p:grpSpPr>
              <a:xfrm>
                <a:off x="1241" y="1556"/>
                <a:ext cx="378" cy="448"/>
                <a:chOff x="1241" y="1556"/>
                <a:chExt cx="378" cy="448"/>
              </a:xfrm>
            </p:grpSpPr>
            <p:sp>
              <p:nvSpPr>
                <p:cNvPr id="165951" name="立方体 557119"/>
                <p:cNvSpPr/>
                <p:nvPr/>
              </p:nvSpPr>
              <p:spPr>
                <a:xfrm>
                  <a:off x="1241" y="1627"/>
                  <a:ext cx="378" cy="377"/>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52" name="立方体 557120"/>
                <p:cNvSpPr/>
                <p:nvPr/>
              </p:nvSpPr>
              <p:spPr>
                <a:xfrm>
                  <a:off x="1327" y="1556"/>
                  <a:ext cx="292" cy="7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5953" name="椭圆 557121"/>
              <p:cNvSpPr/>
              <p:nvPr/>
            </p:nvSpPr>
            <p:spPr>
              <a:xfrm>
                <a:off x="1356" y="1592"/>
                <a:ext cx="49" cy="27"/>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54" name="八边形 557122"/>
              <p:cNvSpPr/>
              <p:nvPr/>
            </p:nvSpPr>
            <p:spPr>
              <a:xfrm>
                <a:off x="1288" y="1802"/>
                <a:ext cx="198" cy="84"/>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5955" name="任意多边形 557123"/>
            <p:cNvSpPr/>
            <p:nvPr/>
          </p:nvSpPr>
          <p:spPr>
            <a:xfrm>
              <a:off x="1805" y="1785"/>
              <a:ext cx="86" cy="192"/>
            </a:xfrm>
            <a:custGeom>
              <a:avLst/>
              <a:gdLst/>
              <a:ahLst/>
              <a:cxnLst/>
              <a:pathLst>
                <a:path w="86" h="192">
                  <a:moveTo>
                    <a:pt x="62" y="0"/>
                  </a:moveTo>
                  <a:lnTo>
                    <a:pt x="85" y="0"/>
                  </a:lnTo>
                  <a:lnTo>
                    <a:pt x="23" y="191"/>
                  </a:lnTo>
                  <a:lnTo>
                    <a:pt x="0" y="191"/>
                  </a:lnTo>
                  <a:lnTo>
                    <a:pt x="62" y="0"/>
                  </a:lnTo>
                </a:path>
              </a:pathLst>
            </a:custGeom>
            <a:solidFill>
              <a:srgbClr val="FC0128"/>
            </a:solidFill>
            <a:ln w="12700">
              <a:noFill/>
            </a:ln>
          </p:spPr>
          <p:txBody>
            <a:bodyPr/>
            <a:p>
              <a:endParaRPr lang="zh-CN" altLang="en-US"/>
            </a:p>
          </p:txBody>
        </p:sp>
        <p:sp>
          <p:nvSpPr>
            <p:cNvPr id="165956" name="矩形 557124"/>
            <p:cNvSpPr/>
            <p:nvPr/>
          </p:nvSpPr>
          <p:spPr>
            <a:xfrm>
              <a:off x="1801" y="1785"/>
              <a:ext cx="106"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5957" name="矩形 557125"/>
            <p:cNvSpPr/>
            <p:nvPr/>
          </p:nvSpPr>
          <p:spPr>
            <a:xfrm>
              <a:off x="1808" y="1866"/>
              <a:ext cx="82"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5958" name="矩形 557126"/>
            <p:cNvSpPr/>
            <p:nvPr/>
          </p:nvSpPr>
          <p:spPr>
            <a:xfrm>
              <a:off x="1625" y="1866"/>
              <a:ext cx="103" cy="11"/>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nvGrpSpPr>
            <p:cNvPr id="165959" name="组合 557127"/>
            <p:cNvGrpSpPr/>
            <p:nvPr/>
          </p:nvGrpSpPr>
          <p:grpSpPr>
            <a:xfrm>
              <a:off x="1623" y="1613"/>
              <a:ext cx="194" cy="364"/>
              <a:chOff x="1623" y="1613"/>
              <a:chExt cx="194" cy="364"/>
            </a:xfrm>
          </p:grpSpPr>
          <p:sp>
            <p:nvSpPr>
              <p:cNvPr id="165960" name="椭圆 557128"/>
              <p:cNvSpPr/>
              <p:nvPr/>
            </p:nvSpPr>
            <p:spPr>
              <a:xfrm>
                <a:off x="1699" y="1613"/>
                <a:ext cx="48" cy="48"/>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61" name="任意多边形 557129"/>
              <p:cNvSpPr/>
              <p:nvPr/>
            </p:nvSpPr>
            <p:spPr>
              <a:xfrm>
                <a:off x="1623" y="1681"/>
                <a:ext cx="194" cy="296"/>
              </a:xfrm>
              <a:custGeom>
                <a:avLst/>
                <a:gdLst/>
                <a:ahLst/>
                <a:cxnLst/>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w="127000">
                <a:noFill/>
              </a:ln>
            </p:spPr>
            <p:txBody>
              <a:bodyPr/>
              <a:p>
                <a:endParaRPr lang="zh-CN" altLang="en-US"/>
              </a:p>
            </p:txBody>
          </p:sp>
        </p:grpSp>
      </p:grpSp>
      <p:sp>
        <p:nvSpPr>
          <p:cNvPr id="165962" name="矩形 557130"/>
          <p:cNvSpPr/>
          <p:nvPr/>
        </p:nvSpPr>
        <p:spPr>
          <a:xfrm>
            <a:off x="1116013" y="833438"/>
            <a:ext cx="892175"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6 </a:t>
            </a:r>
            <a:r>
              <a:rPr lang="en-US" altLang="zh-CN" sz="2400">
                <a:latin typeface="Arial" panose="020B0604020202020204" pitchFamily="34" charset="0"/>
                <a:ea typeface="宋体" panose="02010600030101010101" pitchFamily="2" charset="-122"/>
              </a:rPr>
              <a:t>PM</a:t>
            </a:r>
            <a:endParaRPr lang="en-US" altLang="zh-CN" sz="2400">
              <a:latin typeface="Arial" panose="020B0604020202020204" pitchFamily="34" charset="0"/>
              <a:ea typeface="宋体" panose="02010600030101010101" pitchFamily="2" charset="-122"/>
            </a:endParaRPr>
          </a:p>
        </p:txBody>
      </p:sp>
      <p:sp>
        <p:nvSpPr>
          <p:cNvPr id="165963" name="直接连接符 557131"/>
          <p:cNvSpPr/>
          <p:nvPr/>
        </p:nvSpPr>
        <p:spPr>
          <a:xfrm>
            <a:off x="1479550" y="1362075"/>
            <a:ext cx="6324600" cy="0"/>
          </a:xfrm>
          <a:prstGeom prst="line">
            <a:avLst/>
          </a:prstGeom>
          <a:ln w="12700" cap="flat" cmpd="sng">
            <a:solidFill>
              <a:schemeClr val="tx1"/>
            </a:solidFill>
            <a:prstDash val="solid"/>
            <a:round/>
            <a:headEnd type="none" w="med" len="med"/>
            <a:tailEnd type="triangle" w="med" len="med"/>
          </a:ln>
        </p:spPr>
      </p:sp>
      <p:sp>
        <p:nvSpPr>
          <p:cNvPr id="165964" name="直接连接符 557132"/>
          <p:cNvSpPr/>
          <p:nvPr/>
        </p:nvSpPr>
        <p:spPr>
          <a:xfrm>
            <a:off x="1473200" y="1243013"/>
            <a:ext cx="0" cy="304800"/>
          </a:xfrm>
          <a:prstGeom prst="line">
            <a:avLst/>
          </a:prstGeom>
          <a:ln w="12700" cap="flat" cmpd="sng">
            <a:solidFill>
              <a:schemeClr val="tx1"/>
            </a:solidFill>
            <a:prstDash val="solid"/>
            <a:round/>
            <a:headEnd type="none" w="med" len="med"/>
            <a:tailEnd type="none" w="med" len="med"/>
          </a:ln>
        </p:spPr>
      </p:sp>
      <p:sp>
        <p:nvSpPr>
          <p:cNvPr id="165965" name="矩形 557133"/>
          <p:cNvSpPr/>
          <p:nvPr/>
        </p:nvSpPr>
        <p:spPr>
          <a:xfrm>
            <a:off x="2347913" y="846138"/>
            <a:ext cx="350837"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7</a:t>
            </a:r>
            <a:endParaRPr lang="zh-CN" altLang="en-US" sz="2400" dirty="0">
              <a:latin typeface="Arial" panose="020B0604020202020204" pitchFamily="34" charset="0"/>
              <a:ea typeface="宋体" panose="02010600030101010101" pitchFamily="2" charset="-122"/>
            </a:endParaRPr>
          </a:p>
        </p:txBody>
      </p:sp>
      <p:sp>
        <p:nvSpPr>
          <p:cNvPr id="165966" name="矩形 557134"/>
          <p:cNvSpPr/>
          <p:nvPr/>
        </p:nvSpPr>
        <p:spPr>
          <a:xfrm>
            <a:off x="3414713" y="846138"/>
            <a:ext cx="350837"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8</a:t>
            </a:r>
            <a:endParaRPr lang="zh-CN" altLang="en-US" sz="2400" dirty="0">
              <a:latin typeface="Arial" panose="020B0604020202020204" pitchFamily="34" charset="0"/>
              <a:ea typeface="宋体" panose="02010600030101010101" pitchFamily="2" charset="-122"/>
            </a:endParaRPr>
          </a:p>
        </p:txBody>
      </p:sp>
      <p:sp>
        <p:nvSpPr>
          <p:cNvPr id="165967" name="矩形 557135"/>
          <p:cNvSpPr/>
          <p:nvPr/>
        </p:nvSpPr>
        <p:spPr>
          <a:xfrm>
            <a:off x="4430713" y="846138"/>
            <a:ext cx="350837"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9</a:t>
            </a:r>
            <a:endParaRPr lang="zh-CN" altLang="en-US" sz="2400" dirty="0">
              <a:latin typeface="Arial" panose="020B0604020202020204" pitchFamily="34" charset="0"/>
              <a:ea typeface="宋体" panose="02010600030101010101" pitchFamily="2" charset="-122"/>
            </a:endParaRPr>
          </a:p>
        </p:txBody>
      </p:sp>
      <p:sp>
        <p:nvSpPr>
          <p:cNvPr id="165968" name="矩形 557136"/>
          <p:cNvSpPr/>
          <p:nvPr/>
        </p:nvSpPr>
        <p:spPr>
          <a:xfrm>
            <a:off x="5370513" y="858838"/>
            <a:ext cx="520700"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10</a:t>
            </a:r>
            <a:endParaRPr lang="zh-CN" altLang="en-US" sz="2400" dirty="0">
              <a:latin typeface="Arial" panose="020B0604020202020204" pitchFamily="34" charset="0"/>
              <a:ea typeface="宋体" panose="02010600030101010101" pitchFamily="2" charset="-122"/>
            </a:endParaRPr>
          </a:p>
        </p:txBody>
      </p:sp>
      <p:sp>
        <p:nvSpPr>
          <p:cNvPr id="165969" name="矩形 557137"/>
          <p:cNvSpPr/>
          <p:nvPr/>
        </p:nvSpPr>
        <p:spPr>
          <a:xfrm>
            <a:off x="6462713" y="846138"/>
            <a:ext cx="520700"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11</a:t>
            </a:r>
            <a:endParaRPr lang="zh-CN" altLang="en-US" sz="2400" dirty="0">
              <a:latin typeface="Arial" panose="020B0604020202020204" pitchFamily="34" charset="0"/>
              <a:ea typeface="宋体" panose="02010600030101010101" pitchFamily="2" charset="-122"/>
            </a:endParaRPr>
          </a:p>
        </p:txBody>
      </p:sp>
      <p:sp>
        <p:nvSpPr>
          <p:cNvPr id="165970" name="矩形 557138"/>
          <p:cNvSpPr/>
          <p:nvPr/>
        </p:nvSpPr>
        <p:spPr>
          <a:xfrm>
            <a:off x="7137400" y="833438"/>
            <a:ext cx="1447800" cy="454025"/>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Midnight</a:t>
            </a:r>
            <a:endParaRPr lang="en-US" altLang="zh-CN" sz="2400">
              <a:latin typeface="Arial" panose="020B0604020202020204" pitchFamily="34" charset="0"/>
              <a:ea typeface="宋体" panose="02010600030101010101" pitchFamily="2" charset="-122"/>
            </a:endParaRPr>
          </a:p>
        </p:txBody>
      </p:sp>
      <p:grpSp>
        <p:nvGrpSpPr>
          <p:cNvPr id="165971" name="组合 557139"/>
          <p:cNvGrpSpPr/>
          <p:nvPr/>
        </p:nvGrpSpPr>
        <p:grpSpPr>
          <a:xfrm>
            <a:off x="3016250" y="3021013"/>
            <a:ext cx="1535113" cy="711200"/>
            <a:chOff x="1900" y="2020"/>
            <a:chExt cx="967" cy="448"/>
          </a:xfrm>
        </p:grpSpPr>
        <p:grpSp>
          <p:nvGrpSpPr>
            <p:cNvPr id="165972" name="组合 557140"/>
            <p:cNvGrpSpPr/>
            <p:nvPr/>
          </p:nvGrpSpPr>
          <p:grpSpPr>
            <a:xfrm>
              <a:off x="1900" y="2020"/>
              <a:ext cx="305" cy="448"/>
              <a:chOff x="1900" y="2020"/>
              <a:chExt cx="305" cy="448"/>
            </a:xfrm>
          </p:grpSpPr>
          <p:grpSp>
            <p:nvGrpSpPr>
              <p:cNvPr id="165973" name="组合 557141"/>
              <p:cNvGrpSpPr/>
              <p:nvPr/>
            </p:nvGrpSpPr>
            <p:grpSpPr>
              <a:xfrm>
                <a:off x="1900" y="2020"/>
                <a:ext cx="305" cy="448"/>
                <a:chOff x="1900" y="2020"/>
                <a:chExt cx="305" cy="448"/>
              </a:xfrm>
            </p:grpSpPr>
            <p:sp>
              <p:nvSpPr>
                <p:cNvPr id="165974" name="立方体 557142"/>
                <p:cNvSpPr/>
                <p:nvPr/>
              </p:nvSpPr>
              <p:spPr>
                <a:xfrm>
                  <a:off x="1900" y="2091"/>
                  <a:ext cx="305" cy="377"/>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75" name="立方体 557143"/>
                <p:cNvSpPr/>
                <p:nvPr/>
              </p:nvSpPr>
              <p:spPr>
                <a:xfrm>
                  <a:off x="1970" y="2020"/>
                  <a:ext cx="235" cy="7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5976" name="平行四边形 557144"/>
              <p:cNvSpPr/>
              <p:nvPr/>
            </p:nvSpPr>
            <p:spPr>
              <a:xfrm>
                <a:off x="1962" y="2124"/>
                <a:ext cx="158" cy="27"/>
              </a:xfrm>
              <a:prstGeom prst="parallelogram">
                <a:avLst>
                  <a:gd name="adj" fmla="val 146267"/>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5977" name="组合 557145"/>
            <p:cNvGrpSpPr/>
            <p:nvPr/>
          </p:nvGrpSpPr>
          <p:grpSpPr>
            <a:xfrm>
              <a:off x="2201" y="2020"/>
              <a:ext cx="378" cy="448"/>
              <a:chOff x="2201" y="2020"/>
              <a:chExt cx="378" cy="448"/>
            </a:xfrm>
          </p:grpSpPr>
          <p:grpSp>
            <p:nvGrpSpPr>
              <p:cNvPr id="165978" name="组合 557146"/>
              <p:cNvGrpSpPr/>
              <p:nvPr/>
            </p:nvGrpSpPr>
            <p:grpSpPr>
              <a:xfrm>
                <a:off x="2201" y="2020"/>
                <a:ext cx="378" cy="448"/>
                <a:chOff x="2201" y="2020"/>
                <a:chExt cx="378" cy="448"/>
              </a:xfrm>
            </p:grpSpPr>
            <p:sp>
              <p:nvSpPr>
                <p:cNvPr id="165979" name="立方体 557147"/>
                <p:cNvSpPr/>
                <p:nvPr/>
              </p:nvSpPr>
              <p:spPr>
                <a:xfrm>
                  <a:off x="2201" y="2091"/>
                  <a:ext cx="378" cy="377"/>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80" name="立方体 557148"/>
                <p:cNvSpPr/>
                <p:nvPr/>
              </p:nvSpPr>
              <p:spPr>
                <a:xfrm>
                  <a:off x="2287" y="2020"/>
                  <a:ext cx="292" cy="7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5981" name="椭圆 557149"/>
              <p:cNvSpPr/>
              <p:nvPr/>
            </p:nvSpPr>
            <p:spPr>
              <a:xfrm>
                <a:off x="2316" y="2056"/>
                <a:ext cx="49" cy="27"/>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82" name="八边形 557150"/>
              <p:cNvSpPr/>
              <p:nvPr/>
            </p:nvSpPr>
            <p:spPr>
              <a:xfrm>
                <a:off x="2248" y="2266"/>
                <a:ext cx="198" cy="84"/>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5983" name="任意多边形 557151"/>
            <p:cNvSpPr/>
            <p:nvPr/>
          </p:nvSpPr>
          <p:spPr>
            <a:xfrm>
              <a:off x="2765" y="2249"/>
              <a:ext cx="86" cy="192"/>
            </a:xfrm>
            <a:custGeom>
              <a:avLst/>
              <a:gdLst/>
              <a:ahLst/>
              <a:cxnLst/>
              <a:pathLst>
                <a:path w="86" h="192">
                  <a:moveTo>
                    <a:pt x="62" y="0"/>
                  </a:moveTo>
                  <a:lnTo>
                    <a:pt x="85" y="0"/>
                  </a:lnTo>
                  <a:lnTo>
                    <a:pt x="23" y="191"/>
                  </a:lnTo>
                  <a:lnTo>
                    <a:pt x="0" y="191"/>
                  </a:lnTo>
                  <a:lnTo>
                    <a:pt x="62" y="0"/>
                  </a:lnTo>
                </a:path>
              </a:pathLst>
            </a:custGeom>
            <a:solidFill>
              <a:srgbClr val="FC0128"/>
            </a:solidFill>
            <a:ln w="12700">
              <a:noFill/>
            </a:ln>
          </p:spPr>
          <p:txBody>
            <a:bodyPr/>
            <a:p>
              <a:endParaRPr lang="zh-CN" altLang="en-US"/>
            </a:p>
          </p:txBody>
        </p:sp>
        <p:sp>
          <p:nvSpPr>
            <p:cNvPr id="165984" name="矩形 557152"/>
            <p:cNvSpPr/>
            <p:nvPr/>
          </p:nvSpPr>
          <p:spPr>
            <a:xfrm>
              <a:off x="2761" y="2249"/>
              <a:ext cx="106"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5985" name="矩形 557153"/>
            <p:cNvSpPr/>
            <p:nvPr/>
          </p:nvSpPr>
          <p:spPr>
            <a:xfrm>
              <a:off x="2768" y="2330"/>
              <a:ext cx="82"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5986" name="矩形 557154"/>
            <p:cNvSpPr/>
            <p:nvPr/>
          </p:nvSpPr>
          <p:spPr>
            <a:xfrm>
              <a:off x="2585" y="2330"/>
              <a:ext cx="103" cy="11"/>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nvGrpSpPr>
            <p:cNvPr id="165987" name="组合 557155"/>
            <p:cNvGrpSpPr/>
            <p:nvPr/>
          </p:nvGrpSpPr>
          <p:grpSpPr>
            <a:xfrm>
              <a:off x="2583" y="2077"/>
              <a:ext cx="194" cy="364"/>
              <a:chOff x="2583" y="2077"/>
              <a:chExt cx="194" cy="364"/>
            </a:xfrm>
          </p:grpSpPr>
          <p:sp>
            <p:nvSpPr>
              <p:cNvPr id="165988" name="椭圆 557156"/>
              <p:cNvSpPr/>
              <p:nvPr/>
            </p:nvSpPr>
            <p:spPr>
              <a:xfrm>
                <a:off x="2659" y="2077"/>
                <a:ext cx="48" cy="48"/>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89" name="任意多边形 557157"/>
              <p:cNvSpPr/>
              <p:nvPr/>
            </p:nvSpPr>
            <p:spPr>
              <a:xfrm>
                <a:off x="2583" y="2145"/>
                <a:ext cx="194" cy="296"/>
              </a:xfrm>
              <a:custGeom>
                <a:avLst/>
                <a:gdLst/>
                <a:ahLst/>
                <a:cxnLst/>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w="127000">
                <a:noFill/>
              </a:ln>
            </p:spPr>
            <p:txBody>
              <a:bodyPr/>
              <a:p>
                <a:endParaRPr lang="zh-CN" altLang="en-US"/>
              </a:p>
            </p:txBody>
          </p:sp>
        </p:grpSp>
      </p:grpSp>
      <p:grpSp>
        <p:nvGrpSpPr>
          <p:cNvPr id="165990" name="组合 557158"/>
          <p:cNvGrpSpPr/>
          <p:nvPr/>
        </p:nvGrpSpPr>
        <p:grpSpPr>
          <a:xfrm>
            <a:off x="4464050" y="3732213"/>
            <a:ext cx="1535113" cy="711200"/>
            <a:chOff x="2812" y="2468"/>
            <a:chExt cx="967" cy="448"/>
          </a:xfrm>
        </p:grpSpPr>
        <p:grpSp>
          <p:nvGrpSpPr>
            <p:cNvPr id="165991" name="组合 557159"/>
            <p:cNvGrpSpPr/>
            <p:nvPr/>
          </p:nvGrpSpPr>
          <p:grpSpPr>
            <a:xfrm>
              <a:off x="2812" y="2468"/>
              <a:ext cx="305" cy="448"/>
              <a:chOff x="2812" y="2468"/>
              <a:chExt cx="305" cy="448"/>
            </a:xfrm>
          </p:grpSpPr>
          <p:grpSp>
            <p:nvGrpSpPr>
              <p:cNvPr id="165992" name="组合 557160"/>
              <p:cNvGrpSpPr/>
              <p:nvPr/>
            </p:nvGrpSpPr>
            <p:grpSpPr>
              <a:xfrm>
                <a:off x="2812" y="2468"/>
                <a:ext cx="305" cy="448"/>
                <a:chOff x="2812" y="2468"/>
                <a:chExt cx="305" cy="448"/>
              </a:xfrm>
            </p:grpSpPr>
            <p:sp>
              <p:nvSpPr>
                <p:cNvPr id="165993" name="立方体 557161"/>
                <p:cNvSpPr/>
                <p:nvPr/>
              </p:nvSpPr>
              <p:spPr>
                <a:xfrm>
                  <a:off x="2812" y="2539"/>
                  <a:ext cx="305" cy="377"/>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94" name="立方体 557162"/>
                <p:cNvSpPr/>
                <p:nvPr/>
              </p:nvSpPr>
              <p:spPr>
                <a:xfrm>
                  <a:off x="2882" y="2468"/>
                  <a:ext cx="235" cy="7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5995" name="平行四边形 557163"/>
              <p:cNvSpPr/>
              <p:nvPr/>
            </p:nvSpPr>
            <p:spPr>
              <a:xfrm>
                <a:off x="2874" y="2572"/>
                <a:ext cx="158" cy="27"/>
              </a:xfrm>
              <a:prstGeom prst="parallelogram">
                <a:avLst>
                  <a:gd name="adj" fmla="val 146267"/>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5996" name="组合 557164"/>
            <p:cNvGrpSpPr/>
            <p:nvPr/>
          </p:nvGrpSpPr>
          <p:grpSpPr>
            <a:xfrm>
              <a:off x="3113" y="2468"/>
              <a:ext cx="378" cy="448"/>
              <a:chOff x="3113" y="2468"/>
              <a:chExt cx="378" cy="448"/>
            </a:xfrm>
          </p:grpSpPr>
          <p:grpSp>
            <p:nvGrpSpPr>
              <p:cNvPr id="165997" name="组合 557165"/>
              <p:cNvGrpSpPr/>
              <p:nvPr/>
            </p:nvGrpSpPr>
            <p:grpSpPr>
              <a:xfrm>
                <a:off x="3113" y="2468"/>
                <a:ext cx="378" cy="448"/>
                <a:chOff x="3113" y="2468"/>
                <a:chExt cx="378" cy="448"/>
              </a:xfrm>
            </p:grpSpPr>
            <p:sp>
              <p:nvSpPr>
                <p:cNvPr id="165998" name="立方体 557166"/>
                <p:cNvSpPr/>
                <p:nvPr/>
              </p:nvSpPr>
              <p:spPr>
                <a:xfrm>
                  <a:off x="3113" y="2539"/>
                  <a:ext cx="378" cy="377"/>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5999" name="立方体 557167"/>
                <p:cNvSpPr/>
                <p:nvPr/>
              </p:nvSpPr>
              <p:spPr>
                <a:xfrm>
                  <a:off x="3199" y="2468"/>
                  <a:ext cx="292" cy="7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000" name="椭圆 557168"/>
              <p:cNvSpPr/>
              <p:nvPr/>
            </p:nvSpPr>
            <p:spPr>
              <a:xfrm>
                <a:off x="3228" y="2504"/>
                <a:ext cx="49" cy="27"/>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001" name="八边形 557169"/>
              <p:cNvSpPr/>
              <p:nvPr/>
            </p:nvSpPr>
            <p:spPr>
              <a:xfrm>
                <a:off x="3160" y="2714"/>
                <a:ext cx="198" cy="84"/>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002" name="任意多边形 557170"/>
            <p:cNvSpPr/>
            <p:nvPr/>
          </p:nvSpPr>
          <p:spPr>
            <a:xfrm>
              <a:off x="3677" y="2697"/>
              <a:ext cx="86" cy="192"/>
            </a:xfrm>
            <a:custGeom>
              <a:avLst/>
              <a:gdLst/>
              <a:ahLst/>
              <a:cxnLst/>
              <a:pathLst>
                <a:path w="86" h="192">
                  <a:moveTo>
                    <a:pt x="62" y="0"/>
                  </a:moveTo>
                  <a:lnTo>
                    <a:pt x="85" y="0"/>
                  </a:lnTo>
                  <a:lnTo>
                    <a:pt x="23" y="191"/>
                  </a:lnTo>
                  <a:lnTo>
                    <a:pt x="0" y="191"/>
                  </a:lnTo>
                  <a:lnTo>
                    <a:pt x="62" y="0"/>
                  </a:lnTo>
                </a:path>
              </a:pathLst>
            </a:custGeom>
            <a:solidFill>
              <a:srgbClr val="FC0128"/>
            </a:solidFill>
            <a:ln w="12700">
              <a:noFill/>
            </a:ln>
          </p:spPr>
          <p:txBody>
            <a:bodyPr/>
            <a:p>
              <a:endParaRPr lang="zh-CN" altLang="en-US"/>
            </a:p>
          </p:txBody>
        </p:sp>
        <p:sp>
          <p:nvSpPr>
            <p:cNvPr id="166003" name="矩形 557171"/>
            <p:cNvSpPr/>
            <p:nvPr/>
          </p:nvSpPr>
          <p:spPr>
            <a:xfrm>
              <a:off x="3673" y="2697"/>
              <a:ext cx="106"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004" name="矩形 557172"/>
            <p:cNvSpPr/>
            <p:nvPr/>
          </p:nvSpPr>
          <p:spPr>
            <a:xfrm>
              <a:off x="3680" y="2778"/>
              <a:ext cx="82"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005" name="矩形 557173"/>
            <p:cNvSpPr/>
            <p:nvPr/>
          </p:nvSpPr>
          <p:spPr>
            <a:xfrm>
              <a:off x="3497" y="2778"/>
              <a:ext cx="103" cy="11"/>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nvGrpSpPr>
            <p:cNvPr id="166006" name="组合 557174"/>
            <p:cNvGrpSpPr/>
            <p:nvPr/>
          </p:nvGrpSpPr>
          <p:grpSpPr>
            <a:xfrm>
              <a:off x="3495" y="2525"/>
              <a:ext cx="194" cy="364"/>
              <a:chOff x="3495" y="2525"/>
              <a:chExt cx="194" cy="364"/>
            </a:xfrm>
          </p:grpSpPr>
          <p:sp>
            <p:nvSpPr>
              <p:cNvPr id="166007" name="椭圆 557175"/>
              <p:cNvSpPr/>
              <p:nvPr/>
            </p:nvSpPr>
            <p:spPr>
              <a:xfrm>
                <a:off x="3571" y="2525"/>
                <a:ext cx="48" cy="48"/>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008" name="任意多边形 557176"/>
              <p:cNvSpPr/>
              <p:nvPr/>
            </p:nvSpPr>
            <p:spPr>
              <a:xfrm>
                <a:off x="3495" y="2593"/>
                <a:ext cx="194" cy="296"/>
              </a:xfrm>
              <a:custGeom>
                <a:avLst/>
                <a:gdLst/>
                <a:ahLst/>
                <a:cxnLst/>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w="127000">
                <a:noFill/>
              </a:ln>
            </p:spPr>
            <p:txBody>
              <a:bodyPr/>
              <a:p>
                <a:endParaRPr lang="zh-CN" altLang="en-US"/>
              </a:p>
            </p:txBody>
          </p:sp>
        </p:grpSp>
      </p:grpSp>
      <p:grpSp>
        <p:nvGrpSpPr>
          <p:cNvPr id="166009" name="组合 557177"/>
          <p:cNvGrpSpPr/>
          <p:nvPr/>
        </p:nvGrpSpPr>
        <p:grpSpPr>
          <a:xfrm>
            <a:off x="6115050" y="4519613"/>
            <a:ext cx="1535113" cy="711200"/>
            <a:chOff x="3852" y="2964"/>
            <a:chExt cx="967" cy="448"/>
          </a:xfrm>
        </p:grpSpPr>
        <p:grpSp>
          <p:nvGrpSpPr>
            <p:cNvPr id="166010" name="组合 557178"/>
            <p:cNvGrpSpPr/>
            <p:nvPr/>
          </p:nvGrpSpPr>
          <p:grpSpPr>
            <a:xfrm>
              <a:off x="3852" y="2964"/>
              <a:ext cx="305" cy="448"/>
              <a:chOff x="3852" y="2964"/>
              <a:chExt cx="305" cy="448"/>
            </a:xfrm>
          </p:grpSpPr>
          <p:grpSp>
            <p:nvGrpSpPr>
              <p:cNvPr id="166011" name="组合 557179"/>
              <p:cNvGrpSpPr/>
              <p:nvPr/>
            </p:nvGrpSpPr>
            <p:grpSpPr>
              <a:xfrm>
                <a:off x="3852" y="2964"/>
                <a:ext cx="305" cy="448"/>
                <a:chOff x="3852" y="2964"/>
                <a:chExt cx="305" cy="448"/>
              </a:xfrm>
            </p:grpSpPr>
            <p:sp>
              <p:nvSpPr>
                <p:cNvPr id="166012" name="立方体 557180"/>
                <p:cNvSpPr/>
                <p:nvPr/>
              </p:nvSpPr>
              <p:spPr>
                <a:xfrm>
                  <a:off x="3852" y="3035"/>
                  <a:ext cx="305" cy="377"/>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013" name="立方体 557181"/>
                <p:cNvSpPr/>
                <p:nvPr/>
              </p:nvSpPr>
              <p:spPr>
                <a:xfrm>
                  <a:off x="3922" y="2964"/>
                  <a:ext cx="235" cy="7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014" name="平行四边形 557182"/>
              <p:cNvSpPr/>
              <p:nvPr/>
            </p:nvSpPr>
            <p:spPr>
              <a:xfrm>
                <a:off x="3914" y="3068"/>
                <a:ext cx="158" cy="27"/>
              </a:xfrm>
              <a:prstGeom prst="parallelogram">
                <a:avLst>
                  <a:gd name="adj" fmla="val 146267"/>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6015" name="组合 557183"/>
            <p:cNvGrpSpPr/>
            <p:nvPr/>
          </p:nvGrpSpPr>
          <p:grpSpPr>
            <a:xfrm>
              <a:off x="4153" y="2964"/>
              <a:ext cx="378" cy="448"/>
              <a:chOff x="4153" y="2964"/>
              <a:chExt cx="378" cy="448"/>
            </a:xfrm>
          </p:grpSpPr>
          <p:grpSp>
            <p:nvGrpSpPr>
              <p:cNvPr id="166016" name="组合 557184"/>
              <p:cNvGrpSpPr/>
              <p:nvPr/>
            </p:nvGrpSpPr>
            <p:grpSpPr>
              <a:xfrm>
                <a:off x="4153" y="2964"/>
                <a:ext cx="378" cy="448"/>
                <a:chOff x="4153" y="2964"/>
                <a:chExt cx="378" cy="448"/>
              </a:xfrm>
            </p:grpSpPr>
            <p:sp>
              <p:nvSpPr>
                <p:cNvPr id="166017" name="立方体 557185"/>
                <p:cNvSpPr/>
                <p:nvPr/>
              </p:nvSpPr>
              <p:spPr>
                <a:xfrm>
                  <a:off x="4153" y="3035"/>
                  <a:ext cx="378" cy="377"/>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018" name="立方体 557186"/>
                <p:cNvSpPr/>
                <p:nvPr/>
              </p:nvSpPr>
              <p:spPr>
                <a:xfrm>
                  <a:off x="4239" y="2964"/>
                  <a:ext cx="292" cy="7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019" name="椭圆 557187"/>
              <p:cNvSpPr/>
              <p:nvPr/>
            </p:nvSpPr>
            <p:spPr>
              <a:xfrm>
                <a:off x="4268" y="3000"/>
                <a:ext cx="49" cy="27"/>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020" name="八边形 557188"/>
              <p:cNvSpPr/>
              <p:nvPr/>
            </p:nvSpPr>
            <p:spPr>
              <a:xfrm>
                <a:off x="4200" y="3210"/>
                <a:ext cx="198" cy="84"/>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021" name="任意多边形 557189"/>
            <p:cNvSpPr/>
            <p:nvPr/>
          </p:nvSpPr>
          <p:spPr>
            <a:xfrm>
              <a:off x="4717" y="3193"/>
              <a:ext cx="86" cy="192"/>
            </a:xfrm>
            <a:custGeom>
              <a:avLst/>
              <a:gdLst/>
              <a:ahLst/>
              <a:cxnLst/>
              <a:pathLst>
                <a:path w="86" h="192">
                  <a:moveTo>
                    <a:pt x="62" y="0"/>
                  </a:moveTo>
                  <a:lnTo>
                    <a:pt x="85" y="0"/>
                  </a:lnTo>
                  <a:lnTo>
                    <a:pt x="23" y="191"/>
                  </a:lnTo>
                  <a:lnTo>
                    <a:pt x="0" y="191"/>
                  </a:lnTo>
                  <a:lnTo>
                    <a:pt x="62" y="0"/>
                  </a:lnTo>
                </a:path>
              </a:pathLst>
            </a:custGeom>
            <a:solidFill>
              <a:srgbClr val="FC0128"/>
            </a:solidFill>
            <a:ln w="12700">
              <a:noFill/>
            </a:ln>
          </p:spPr>
          <p:txBody>
            <a:bodyPr/>
            <a:p>
              <a:endParaRPr lang="zh-CN" altLang="en-US"/>
            </a:p>
          </p:txBody>
        </p:sp>
        <p:sp>
          <p:nvSpPr>
            <p:cNvPr id="166022" name="矩形 557190"/>
            <p:cNvSpPr/>
            <p:nvPr/>
          </p:nvSpPr>
          <p:spPr>
            <a:xfrm>
              <a:off x="4713" y="3193"/>
              <a:ext cx="106"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023" name="矩形 557191"/>
            <p:cNvSpPr/>
            <p:nvPr/>
          </p:nvSpPr>
          <p:spPr>
            <a:xfrm>
              <a:off x="4720" y="3274"/>
              <a:ext cx="82"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024" name="矩形 557192"/>
            <p:cNvSpPr/>
            <p:nvPr/>
          </p:nvSpPr>
          <p:spPr>
            <a:xfrm>
              <a:off x="4537" y="3274"/>
              <a:ext cx="103" cy="11"/>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nvGrpSpPr>
            <p:cNvPr id="166025" name="组合 557193"/>
            <p:cNvGrpSpPr/>
            <p:nvPr/>
          </p:nvGrpSpPr>
          <p:grpSpPr>
            <a:xfrm>
              <a:off x="4535" y="3021"/>
              <a:ext cx="194" cy="364"/>
              <a:chOff x="4535" y="3021"/>
              <a:chExt cx="194" cy="364"/>
            </a:xfrm>
          </p:grpSpPr>
          <p:sp>
            <p:nvSpPr>
              <p:cNvPr id="166026" name="椭圆 557194"/>
              <p:cNvSpPr/>
              <p:nvPr/>
            </p:nvSpPr>
            <p:spPr>
              <a:xfrm>
                <a:off x="4611" y="3021"/>
                <a:ext cx="48" cy="48"/>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027" name="任意多边形 557195"/>
              <p:cNvSpPr/>
              <p:nvPr/>
            </p:nvSpPr>
            <p:spPr>
              <a:xfrm>
                <a:off x="4535" y="3089"/>
                <a:ext cx="194" cy="296"/>
              </a:xfrm>
              <a:custGeom>
                <a:avLst/>
                <a:gdLst/>
                <a:ahLst/>
                <a:cxnLst/>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w="127000">
                <a:noFill/>
              </a:ln>
            </p:spPr>
            <p:txBody>
              <a:bodyPr/>
              <a:p>
                <a:endParaRPr lang="zh-CN" altLang="en-US"/>
              </a:p>
            </p:txBody>
          </p:sp>
        </p:grpSp>
      </p:grpSp>
      <p:sp>
        <p:nvSpPr>
          <p:cNvPr id="166028" name="矩形 557196"/>
          <p:cNvSpPr/>
          <p:nvPr/>
        </p:nvSpPr>
        <p:spPr>
          <a:xfrm>
            <a:off x="150813" y="2268538"/>
            <a:ext cx="358775" cy="2835275"/>
          </a:xfrm>
          <a:prstGeom prst="rect">
            <a:avLst/>
          </a:prstGeom>
          <a:noFill/>
          <a:ln w="12700">
            <a:noFill/>
          </a:ln>
        </p:spPr>
        <p:txBody>
          <a:bodyPr wrap="none" lIns="90488" tIns="44450" rIns="90488" bIns="44450" anchor="t" anchorCtr="0">
            <a:spAutoFit/>
          </a:bodyPr>
          <a:p>
            <a:pPr algn="ctr" eaLnBrk="0" hangingPunct="0"/>
            <a:r>
              <a:rPr lang="en-US" altLang="zh-CN" sz="1800" b="0" i="1">
                <a:latin typeface="Arial" panose="020B0604020202020204" pitchFamily="34" charset="0"/>
                <a:ea typeface="宋体" panose="02010600030101010101" pitchFamily="2" charset="-122"/>
              </a:rPr>
              <a:t>T</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a</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s</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k</a:t>
            </a:r>
            <a:endParaRPr lang="en-US" altLang="zh-CN" sz="1800" b="0" i="1">
              <a:latin typeface="Arial" panose="020B0604020202020204" pitchFamily="34" charset="0"/>
              <a:ea typeface="宋体" panose="02010600030101010101" pitchFamily="2" charset="-122"/>
            </a:endParaRP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r</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d</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e</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r</a:t>
            </a:r>
            <a:endParaRPr lang="en-US" altLang="zh-CN" sz="1800" b="0" i="1">
              <a:latin typeface="Arial" panose="020B0604020202020204" pitchFamily="34" charset="0"/>
              <a:ea typeface="宋体" panose="02010600030101010101" pitchFamily="2" charset="-122"/>
            </a:endParaRPr>
          </a:p>
        </p:txBody>
      </p:sp>
      <p:sp>
        <p:nvSpPr>
          <p:cNvPr id="166029" name="直接连接符 557197"/>
          <p:cNvSpPr/>
          <p:nvPr/>
        </p:nvSpPr>
        <p:spPr>
          <a:xfrm>
            <a:off x="635000" y="2119313"/>
            <a:ext cx="0" cy="3035300"/>
          </a:xfrm>
          <a:prstGeom prst="line">
            <a:avLst/>
          </a:prstGeom>
          <a:ln w="12700" cap="flat" cmpd="sng">
            <a:solidFill>
              <a:schemeClr val="tx1"/>
            </a:solidFill>
            <a:prstDash val="solid"/>
            <a:round/>
            <a:headEnd type="none" w="med" len="med"/>
            <a:tailEnd type="triangle" w="med" len="med"/>
          </a:ln>
        </p:spPr>
      </p:sp>
      <p:sp>
        <p:nvSpPr>
          <p:cNvPr id="166030" name="矩形 557198"/>
          <p:cNvSpPr/>
          <p:nvPr/>
        </p:nvSpPr>
        <p:spPr>
          <a:xfrm>
            <a:off x="4125913" y="1341438"/>
            <a:ext cx="688975" cy="363537"/>
          </a:xfrm>
          <a:prstGeom prst="rect">
            <a:avLst/>
          </a:prstGeom>
          <a:noFill/>
          <a:ln w="12700">
            <a:noFill/>
          </a:ln>
        </p:spPr>
        <p:txBody>
          <a:bodyPr wrap="none" lIns="90488" tIns="44450" rIns="90488" bIns="44450" anchor="t" anchorCtr="0">
            <a:spAutoFit/>
          </a:bodyPr>
          <a:p>
            <a:pPr eaLnBrk="0" hangingPunct="0"/>
            <a:r>
              <a:rPr lang="en-US" altLang="zh-CN" sz="1800" b="0" i="1">
                <a:latin typeface="Arial" panose="020B0604020202020204" pitchFamily="34" charset="0"/>
                <a:ea typeface="宋体" panose="02010600030101010101" pitchFamily="2" charset="-122"/>
              </a:rPr>
              <a:t>Time</a:t>
            </a:r>
            <a:endParaRPr lang="en-US" altLang="zh-CN" sz="1800" b="0" i="1">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7059">
                                            <p:txEl>
                                              <p:charRg st="0" end="40"/>
                                            </p:txEl>
                                          </p:spTgt>
                                        </p:tgtEl>
                                        <p:attrNameLst>
                                          <p:attrName>style.visibility</p:attrName>
                                        </p:attrNameLst>
                                      </p:cBhvr>
                                      <p:to>
                                        <p:strVal val="visible"/>
                                      </p:to>
                                    </p:set>
                                    <p:animEffect transition="in" filter="blinds(horizontal)">
                                      <p:cBhvr>
                                        <p:cTn id="7" dur="500"/>
                                        <p:tgtEl>
                                          <p:spTgt spid="557059">
                                            <p:txEl>
                                              <p:charRg st="0"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7059">
                                            <p:txEl>
                                              <p:charRg st="40" end="71"/>
                                            </p:txEl>
                                          </p:spTgt>
                                        </p:tgtEl>
                                        <p:attrNameLst>
                                          <p:attrName>style.visibility</p:attrName>
                                        </p:attrNameLst>
                                      </p:cBhvr>
                                      <p:to>
                                        <p:strVal val="visible"/>
                                      </p:to>
                                    </p:set>
                                    <p:animEffect transition="in" filter="blinds(horizontal)">
                                      <p:cBhvr>
                                        <p:cTn id="12" dur="500"/>
                                        <p:tgtEl>
                                          <p:spTgt spid="557059">
                                            <p:txEl>
                                              <p:charRg st="40" end="7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57059">
                                            <p:txEl>
                                              <p:charRg st="71" end="93"/>
                                            </p:txEl>
                                          </p:spTgt>
                                        </p:tgtEl>
                                        <p:attrNameLst>
                                          <p:attrName>style.visibility</p:attrName>
                                        </p:attrNameLst>
                                      </p:cBhvr>
                                      <p:to>
                                        <p:strVal val="visible"/>
                                      </p:to>
                                    </p:set>
                                    <p:animEffect transition="in" filter="blinds(horizontal)">
                                      <p:cBhvr>
                                        <p:cTn id="17" dur="500"/>
                                        <p:tgtEl>
                                          <p:spTgt spid="557059">
                                            <p:txEl>
                                              <p:charRg st="71" end="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3" name="标题 558081"/>
          <p:cNvSpPr>
            <a:spLocks noGrp="1"/>
          </p:cNvSpPr>
          <p:nvPr>
            <p:ph type="title"/>
          </p:nvPr>
        </p:nvSpPr>
        <p:spPr>
          <a:xfrm>
            <a:off x="209550" y="0"/>
            <a:ext cx="9017000" cy="635000"/>
          </a:xfrm>
          <a:ln/>
        </p:spPr>
        <p:txBody>
          <a:bodyPr vert="horz" wrap="square" lIns="90488" tIns="44450" rIns="90488" bIns="44450" anchor="ctr" anchorCtr="0">
            <a:spAutoFit/>
          </a:bodyPr>
          <a:p>
            <a:r>
              <a:rPr lang="en-US" altLang="zh-CN" sz="3500">
                <a:ea typeface="宋体" panose="02010600030101010101" pitchFamily="2" charset="-122"/>
              </a:rPr>
              <a:t>Pipelined Laundry: (Start work ASAP)</a:t>
            </a:r>
            <a:endParaRPr lang="en-US" altLang="zh-CN" sz="3500">
              <a:ea typeface="宋体" panose="02010600030101010101" pitchFamily="2" charset="-122"/>
            </a:endParaRPr>
          </a:p>
        </p:txBody>
      </p:sp>
      <p:sp>
        <p:nvSpPr>
          <p:cNvPr id="558083" name="内容占位符 558082"/>
          <p:cNvSpPr>
            <a:spLocks noGrp="1"/>
          </p:cNvSpPr>
          <p:nvPr>
            <p:ph idx="1"/>
          </p:nvPr>
        </p:nvSpPr>
        <p:spPr>
          <a:xfrm>
            <a:off x="4627563" y="2478088"/>
            <a:ext cx="3967162" cy="401637"/>
          </a:xfrm>
          <a:ln/>
        </p:spPr>
        <p:txBody>
          <a:bodyPr vert="horz" wrap="square" lIns="90488" tIns="44450" rIns="90488" bIns="44450" anchor="t" anchorCtr="0">
            <a:spAutoFit/>
          </a:bodyPr>
          <a:p>
            <a:pPr marL="342900" indent="-342900">
              <a:lnSpc>
                <a:spcPct val="120000"/>
              </a:lnSpc>
              <a:spcBef>
                <a:spcPct val="10000"/>
              </a:spcBef>
              <a:buNone/>
            </a:pPr>
            <a:r>
              <a:rPr lang="zh-CN" altLang="en-US" sz="2200" dirty="0">
                <a:solidFill>
                  <a:srgbClr val="FF0000"/>
                </a:solidFill>
                <a:latin typeface="微软雅黑" panose="020B0503020204020204" pitchFamily="34" charset="-122"/>
                <a:ea typeface="微软雅黑" panose="020B0503020204020204" pitchFamily="34" charset="-122"/>
              </a:rPr>
              <a:t>串行为</a:t>
            </a:r>
            <a:r>
              <a:rPr lang="en-US" altLang="zh-CN" sz="2200">
                <a:solidFill>
                  <a:srgbClr val="FF0000"/>
                </a:solidFill>
                <a:latin typeface="微软雅黑" panose="020B0503020204020204" pitchFamily="34" charset="-122"/>
                <a:ea typeface="微软雅黑" panose="020B0503020204020204" pitchFamily="34" charset="-122"/>
              </a:rPr>
              <a:t>90</a:t>
            </a:r>
            <a:r>
              <a:rPr lang="zh-CN" altLang="en-US" sz="2200" dirty="0">
                <a:solidFill>
                  <a:srgbClr val="FF0000"/>
                </a:solidFill>
                <a:latin typeface="微软雅黑" panose="020B0503020204020204" pitchFamily="34" charset="-122"/>
                <a:ea typeface="微软雅黑" panose="020B0503020204020204" pitchFamily="34" charset="-122"/>
              </a:rPr>
              <a:t>分钟</a:t>
            </a:r>
            <a:r>
              <a:rPr lang="en-US" altLang="zh-CN" sz="2200">
                <a:solidFill>
                  <a:srgbClr val="FF0000"/>
                </a:solidFill>
                <a:latin typeface="微软雅黑" panose="020B0503020204020204" pitchFamily="34" charset="-122"/>
                <a:ea typeface="微软雅黑" panose="020B0503020204020204" pitchFamily="34" charset="-122"/>
              </a:rPr>
              <a:t>x4=6</a:t>
            </a:r>
            <a:r>
              <a:rPr lang="zh-CN" altLang="en-US" sz="2200" dirty="0">
                <a:solidFill>
                  <a:srgbClr val="FF0000"/>
                </a:solidFill>
                <a:latin typeface="微软雅黑" panose="020B0503020204020204" pitchFamily="34" charset="-122"/>
                <a:ea typeface="微软雅黑" panose="020B0503020204020204" pitchFamily="34" charset="-122"/>
              </a:rPr>
              <a:t>小时</a:t>
            </a:r>
            <a:endParaRPr lang="zh-CN" altLang="en-US" sz="2200" dirty="0">
              <a:solidFill>
                <a:srgbClr val="FF0000"/>
              </a:solidFill>
              <a:latin typeface="微软雅黑" panose="020B0503020204020204" pitchFamily="34" charset="-122"/>
              <a:ea typeface="微软雅黑" panose="020B0503020204020204" pitchFamily="34" charset="-122"/>
            </a:endParaRPr>
          </a:p>
          <a:p>
            <a:pPr marL="342900" indent="-342900">
              <a:lnSpc>
                <a:spcPct val="120000"/>
              </a:lnSpc>
              <a:spcBef>
                <a:spcPct val="10000"/>
              </a:spcBef>
              <a:buNone/>
            </a:pPr>
            <a:r>
              <a:rPr lang="en-US" altLang="zh-CN" sz="2200">
                <a:solidFill>
                  <a:srgbClr val="FF0000"/>
                </a:solidFill>
                <a:latin typeface="微软雅黑" panose="020B0503020204020204" pitchFamily="34" charset="-122"/>
                <a:ea typeface="微软雅黑" panose="020B0503020204020204" pitchFamily="34" charset="-122"/>
              </a:rPr>
              <a:t>N</a:t>
            </a:r>
            <a:r>
              <a:rPr lang="zh-CN" altLang="en-US" sz="2200" dirty="0">
                <a:solidFill>
                  <a:srgbClr val="FF0000"/>
                </a:solidFill>
                <a:latin typeface="微软雅黑" panose="020B0503020204020204" pitchFamily="34" charset="-122"/>
                <a:ea typeface="微软雅黑" panose="020B0503020204020204" pitchFamily="34" charset="-122"/>
              </a:rPr>
              <a:t>批则为</a:t>
            </a:r>
            <a:r>
              <a:rPr lang="en-US" altLang="zh-CN" sz="2200">
                <a:solidFill>
                  <a:srgbClr val="FF0000"/>
                </a:solidFill>
                <a:latin typeface="微软雅黑" panose="020B0503020204020204" pitchFamily="34" charset="-122"/>
                <a:ea typeface="微软雅黑" panose="020B0503020204020204" pitchFamily="34" charset="-122"/>
              </a:rPr>
              <a:t>90xN</a:t>
            </a:r>
            <a:r>
              <a:rPr lang="zh-CN" altLang="en-US" sz="2200" dirty="0">
                <a:solidFill>
                  <a:srgbClr val="FF0000"/>
                </a:solidFill>
                <a:latin typeface="微软雅黑" panose="020B0503020204020204" pitchFamily="34" charset="-122"/>
                <a:ea typeface="微软雅黑" panose="020B0503020204020204" pitchFamily="34" charset="-122"/>
              </a:rPr>
              <a:t>分钟</a:t>
            </a:r>
            <a:endParaRPr lang="zh-CN" altLang="en-US" sz="2200" dirty="0">
              <a:solidFill>
                <a:srgbClr val="FF0000"/>
              </a:solidFill>
              <a:latin typeface="微软雅黑" panose="020B0503020204020204" pitchFamily="34" charset="-122"/>
              <a:ea typeface="微软雅黑" panose="020B0503020204020204" pitchFamily="34" charset="-122"/>
            </a:endParaRPr>
          </a:p>
        </p:txBody>
      </p:sp>
      <p:grpSp>
        <p:nvGrpSpPr>
          <p:cNvPr id="166915" name="组合 558083"/>
          <p:cNvGrpSpPr/>
          <p:nvPr/>
        </p:nvGrpSpPr>
        <p:grpSpPr>
          <a:xfrm>
            <a:off x="1079500" y="2338388"/>
            <a:ext cx="522288" cy="534987"/>
            <a:chOff x="712" y="1908"/>
            <a:chExt cx="329" cy="337"/>
          </a:xfrm>
        </p:grpSpPr>
        <p:sp>
          <p:nvSpPr>
            <p:cNvPr id="166916" name="任意多边形 558084"/>
            <p:cNvSpPr/>
            <p:nvPr/>
          </p:nvSpPr>
          <p:spPr>
            <a:xfrm>
              <a:off x="712" y="1908"/>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6917" name="矩形 558085"/>
            <p:cNvSpPr/>
            <p:nvPr/>
          </p:nvSpPr>
          <p:spPr>
            <a:xfrm>
              <a:off x="763" y="1959"/>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A</a:t>
              </a:r>
              <a:endParaRPr lang="en-US" altLang="zh-CN" sz="2400">
                <a:latin typeface="Arial" panose="020B0604020202020204" pitchFamily="34" charset="0"/>
                <a:ea typeface="宋体" panose="02010600030101010101" pitchFamily="2" charset="-122"/>
              </a:endParaRPr>
            </a:p>
          </p:txBody>
        </p:sp>
      </p:grpSp>
      <p:grpSp>
        <p:nvGrpSpPr>
          <p:cNvPr id="166918" name="组合 558086"/>
          <p:cNvGrpSpPr/>
          <p:nvPr/>
        </p:nvGrpSpPr>
        <p:grpSpPr>
          <a:xfrm>
            <a:off x="1066800" y="3189288"/>
            <a:ext cx="522288" cy="534987"/>
            <a:chOff x="704" y="2444"/>
            <a:chExt cx="329" cy="337"/>
          </a:xfrm>
        </p:grpSpPr>
        <p:sp>
          <p:nvSpPr>
            <p:cNvPr id="166919" name="任意多边形 558087"/>
            <p:cNvSpPr/>
            <p:nvPr/>
          </p:nvSpPr>
          <p:spPr>
            <a:xfrm>
              <a:off x="704" y="2444"/>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6920" name="矩形 558088"/>
            <p:cNvSpPr/>
            <p:nvPr/>
          </p:nvSpPr>
          <p:spPr>
            <a:xfrm>
              <a:off x="755" y="2495"/>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B</a:t>
              </a:r>
              <a:endParaRPr lang="en-US" altLang="zh-CN" sz="2400">
                <a:latin typeface="Arial" panose="020B0604020202020204" pitchFamily="34" charset="0"/>
                <a:ea typeface="宋体" panose="02010600030101010101" pitchFamily="2" charset="-122"/>
              </a:endParaRPr>
            </a:p>
          </p:txBody>
        </p:sp>
      </p:grpSp>
      <p:grpSp>
        <p:nvGrpSpPr>
          <p:cNvPr id="166921" name="组合 558089"/>
          <p:cNvGrpSpPr/>
          <p:nvPr/>
        </p:nvGrpSpPr>
        <p:grpSpPr>
          <a:xfrm>
            <a:off x="1028700" y="3938588"/>
            <a:ext cx="522288" cy="534987"/>
            <a:chOff x="680" y="2916"/>
            <a:chExt cx="329" cy="337"/>
          </a:xfrm>
        </p:grpSpPr>
        <p:sp>
          <p:nvSpPr>
            <p:cNvPr id="166922" name="任意多边形 558090"/>
            <p:cNvSpPr/>
            <p:nvPr/>
          </p:nvSpPr>
          <p:spPr>
            <a:xfrm>
              <a:off x="680" y="2916"/>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6923" name="矩形 558091"/>
            <p:cNvSpPr/>
            <p:nvPr/>
          </p:nvSpPr>
          <p:spPr>
            <a:xfrm>
              <a:off x="731" y="2967"/>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C</a:t>
              </a:r>
              <a:endParaRPr lang="en-US" altLang="zh-CN" sz="2400">
                <a:latin typeface="Arial" panose="020B0604020202020204" pitchFamily="34" charset="0"/>
                <a:ea typeface="宋体" panose="02010600030101010101" pitchFamily="2" charset="-122"/>
              </a:endParaRPr>
            </a:p>
          </p:txBody>
        </p:sp>
      </p:grpSp>
      <p:grpSp>
        <p:nvGrpSpPr>
          <p:cNvPr id="166924" name="组合 558092"/>
          <p:cNvGrpSpPr/>
          <p:nvPr/>
        </p:nvGrpSpPr>
        <p:grpSpPr>
          <a:xfrm>
            <a:off x="1028700" y="4662488"/>
            <a:ext cx="522288" cy="534987"/>
            <a:chOff x="680" y="3372"/>
            <a:chExt cx="329" cy="337"/>
          </a:xfrm>
        </p:grpSpPr>
        <p:sp>
          <p:nvSpPr>
            <p:cNvPr id="166925" name="任意多边形 558093"/>
            <p:cNvSpPr/>
            <p:nvPr/>
          </p:nvSpPr>
          <p:spPr>
            <a:xfrm>
              <a:off x="680" y="3372"/>
              <a:ext cx="329" cy="295"/>
            </a:xfrm>
            <a:custGeom>
              <a:avLst/>
              <a:gdLst/>
              <a:ahLst/>
              <a:cxnLst/>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p:spPr>
          <p:txBody>
            <a:bodyPr/>
            <a:p>
              <a:endParaRPr lang="zh-CN" altLang="en-US"/>
            </a:p>
          </p:txBody>
        </p:sp>
        <p:sp>
          <p:nvSpPr>
            <p:cNvPr id="166926" name="矩形 558094"/>
            <p:cNvSpPr/>
            <p:nvPr/>
          </p:nvSpPr>
          <p:spPr>
            <a:xfrm>
              <a:off x="731" y="3423"/>
              <a:ext cx="253" cy="286"/>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D</a:t>
              </a:r>
              <a:endParaRPr lang="en-US" altLang="zh-CN" sz="2400">
                <a:latin typeface="Arial" panose="020B0604020202020204" pitchFamily="34" charset="0"/>
                <a:ea typeface="宋体" panose="02010600030101010101" pitchFamily="2" charset="-122"/>
              </a:endParaRPr>
            </a:p>
          </p:txBody>
        </p:sp>
      </p:grpSp>
      <p:sp>
        <p:nvSpPr>
          <p:cNvPr id="166927" name="矩形 558095"/>
          <p:cNvSpPr/>
          <p:nvPr/>
        </p:nvSpPr>
        <p:spPr>
          <a:xfrm>
            <a:off x="1350963" y="742950"/>
            <a:ext cx="892175"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6 </a:t>
            </a:r>
            <a:r>
              <a:rPr lang="en-US" altLang="zh-CN" sz="2400">
                <a:latin typeface="Arial" panose="020B0604020202020204" pitchFamily="34" charset="0"/>
                <a:ea typeface="宋体" panose="02010600030101010101" pitchFamily="2" charset="-122"/>
              </a:rPr>
              <a:t>PM</a:t>
            </a:r>
            <a:endParaRPr lang="en-US" altLang="zh-CN" sz="2400">
              <a:latin typeface="Arial" panose="020B0604020202020204" pitchFamily="34" charset="0"/>
              <a:ea typeface="宋体" panose="02010600030101010101" pitchFamily="2" charset="-122"/>
            </a:endParaRPr>
          </a:p>
        </p:txBody>
      </p:sp>
      <p:sp>
        <p:nvSpPr>
          <p:cNvPr id="166928" name="直接连接符 558096"/>
          <p:cNvSpPr/>
          <p:nvPr/>
        </p:nvSpPr>
        <p:spPr>
          <a:xfrm>
            <a:off x="1714500" y="1328738"/>
            <a:ext cx="6324600" cy="0"/>
          </a:xfrm>
          <a:prstGeom prst="line">
            <a:avLst/>
          </a:prstGeom>
          <a:ln w="12700" cap="flat" cmpd="sng">
            <a:solidFill>
              <a:schemeClr val="tx1"/>
            </a:solidFill>
            <a:prstDash val="solid"/>
            <a:round/>
            <a:headEnd type="none" w="med" len="med"/>
            <a:tailEnd type="triangle" w="med" len="med"/>
          </a:ln>
        </p:spPr>
      </p:sp>
      <p:sp>
        <p:nvSpPr>
          <p:cNvPr id="166929" name="直接连接符 558097"/>
          <p:cNvSpPr/>
          <p:nvPr/>
        </p:nvSpPr>
        <p:spPr>
          <a:xfrm>
            <a:off x="1708150" y="1195388"/>
            <a:ext cx="0" cy="304800"/>
          </a:xfrm>
          <a:prstGeom prst="line">
            <a:avLst/>
          </a:prstGeom>
          <a:ln w="12700" cap="flat" cmpd="sng">
            <a:solidFill>
              <a:schemeClr val="tx1"/>
            </a:solidFill>
            <a:prstDash val="solid"/>
            <a:round/>
            <a:headEnd type="none" w="med" len="med"/>
            <a:tailEnd type="none" w="med" len="med"/>
          </a:ln>
        </p:spPr>
      </p:sp>
      <p:sp>
        <p:nvSpPr>
          <p:cNvPr id="166930" name="矩形 558098"/>
          <p:cNvSpPr/>
          <p:nvPr/>
        </p:nvSpPr>
        <p:spPr>
          <a:xfrm>
            <a:off x="2582863" y="755650"/>
            <a:ext cx="350837"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7</a:t>
            </a:r>
            <a:endParaRPr lang="zh-CN" altLang="en-US" sz="2400" dirty="0">
              <a:latin typeface="Arial" panose="020B0604020202020204" pitchFamily="34" charset="0"/>
              <a:ea typeface="宋体" panose="02010600030101010101" pitchFamily="2" charset="-122"/>
            </a:endParaRPr>
          </a:p>
        </p:txBody>
      </p:sp>
      <p:sp>
        <p:nvSpPr>
          <p:cNvPr id="166931" name="矩形 558099"/>
          <p:cNvSpPr/>
          <p:nvPr/>
        </p:nvSpPr>
        <p:spPr>
          <a:xfrm>
            <a:off x="3649663" y="755650"/>
            <a:ext cx="350837"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8</a:t>
            </a:r>
            <a:endParaRPr lang="zh-CN" altLang="en-US" sz="2400" dirty="0">
              <a:latin typeface="Arial" panose="020B0604020202020204" pitchFamily="34" charset="0"/>
              <a:ea typeface="宋体" panose="02010600030101010101" pitchFamily="2" charset="-122"/>
            </a:endParaRPr>
          </a:p>
        </p:txBody>
      </p:sp>
      <p:sp>
        <p:nvSpPr>
          <p:cNvPr id="166932" name="矩形 558100"/>
          <p:cNvSpPr/>
          <p:nvPr/>
        </p:nvSpPr>
        <p:spPr>
          <a:xfrm>
            <a:off x="4665663" y="755650"/>
            <a:ext cx="350837"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9</a:t>
            </a:r>
            <a:endParaRPr lang="zh-CN" altLang="en-US" sz="2400" dirty="0">
              <a:latin typeface="Arial" panose="020B0604020202020204" pitchFamily="34" charset="0"/>
              <a:ea typeface="宋体" panose="02010600030101010101" pitchFamily="2" charset="-122"/>
            </a:endParaRPr>
          </a:p>
        </p:txBody>
      </p:sp>
      <p:sp>
        <p:nvSpPr>
          <p:cNvPr id="166933" name="矩形 558101"/>
          <p:cNvSpPr/>
          <p:nvPr/>
        </p:nvSpPr>
        <p:spPr>
          <a:xfrm>
            <a:off x="5605463" y="768350"/>
            <a:ext cx="520700"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10</a:t>
            </a:r>
            <a:endParaRPr lang="zh-CN" altLang="en-US" sz="2400" dirty="0">
              <a:latin typeface="Arial" panose="020B0604020202020204" pitchFamily="34" charset="0"/>
              <a:ea typeface="宋体" panose="02010600030101010101" pitchFamily="2" charset="-122"/>
            </a:endParaRPr>
          </a:p>
        </p:txBody>
      </p:sp>
      <p:sp>
        <p:nvSpPr>
          <p:cNvPr id="166934" name="矩形 558102"/>
          <p:cNvSpPr/>
          <p:nvPr/>
        </p:nvSpPr>
        <p:spPr>
          <a:xfrm>
            <a:off x="6697663" y="755650"/>
            <a:ext cx="520700" cy="454025"/>
          </a:xfrm>
          <a:prstGeom prst="rect">
            <a:avLst/>
          </a:prstGeom>
          <a:noFill/>
          <a:ln w="12700">
            <a:noFill/>
          </a:ln>
        </p:spPr>
        <p:txBody>
          <a:bodyPr wrap="none" lIns="90488" tIns="44450" rIns="90488" bIns="44450" anchor="t" anchorCtr="0">
            <a:spAutoFit/>
          </a:bodyPr>
          <a:p>
            <a:pPr eaLnBrk="0" hangingPunct="0"/>
            <a:r>
              <a:rPr lang="zh-CN" altLang="en-US" sz="2400" dirty="0">
                <a:latin typeface="Arial" panose="020B0604020202020204" pitchFamily="34" charset="0"/>
                <a:ea typeface="宋体" panose="02010600030101010101" pitchFamily="2" charset="-122"/>
              </a:rPr>
              <a:t>11</a:t>
            </a:r>
            <a:endParaRPr lang="zh-CN" altLang="en-US" sz="2400" dirty="0">
              <a:latin typeface="Arial" panose="020B0604020202020204" pitchFamily="34" charset="0"/>
              <a:ea typeface="宋体" panose="02010600030101010101" pitchFamily="2" charset="-122"/>
            </a:endParaRPr>
          </a:p>
        </p:txBody>
      </p:sp>
      <p:sp>
        <p:nvSpPr>
          <p:cNvPr id="166935" name="矩形 558103"/>
          <p:cNvSpPr/>
          <p:nvPr/>
        </p:nvSpPr>
        <p:spPr>
          <a:xfrm>
            <a:off x="7372350" y="742950"/>
            <a:ext cx="1447800" cy="454025"/>
          </a:xfrm>
          <a:prstGeom prst="rect">
            <a:avLst/>
          </a:prstGeom>
          <a:noFill/>
          <a:ln w="12700">
            <a:noFill/>
          </a:ln>
        </p:spPr>
        <p:txBody>
          <a:bodyPr wrap="none" lIns="90488" tIns="44450" rIns="90488" bIns="44450" anchor="t" anchorCtr="0">
            <a:spAutoFit/>
          </a:bodyPr>
          <a:p>
            <a:pPr algn="ctr" eaLnBrk="0" hangingPunct="0"/>
            <a:r>
              <a:rPr lang="en-US" altLang="zh-CN" sz="2400">
                <a:latin typeface="Arial" panose="020B0604020202020204" pitchFamily="34" charset="0"/>
                <a:ea typeface="宋体" panose="02010600030101010101" pitchFamily="2" charset="-122"/>
              </a:rPr>
              <a:t>Midnight</a:t>
            </a:r>
            <a:endParaRPr lang="en-US" altLang="zh-CN" sz="2400">
              <a:latin typeface="Arial" panose="020B0604020202020204" pitchFamily="34" charset="0"/>
              <a:ea typeface="宋体" panose="02010600030101010101" pitchFamily="2" charset="-122"/>
            </a:endParaRPr>
          </a:p>
        </p:txBody>
      </p:sp>
      <p:grpSp>
        <p:nvGrpSpPr>
          <p:cNvPr id="166936" name="组合 558104"/>
          <p:cNvGrpSpPr/>
          <p:nvPr/>
        </p:nvGrpSpPr>
        <p:grpSpPr>
          <a:xfrm>
            <a:off x="1752600" y="2236788"/>
            <a:ext cx="3490913" cy="2933700"/>
            <a:chOff x="1136" y="1844"/>
            <a:chExt cx="2199" cy="1848"/>
          </a:xfrm>
        </p:grpSpPr>
        <p:grpSp>
          <p:nvGrpSpPr>
            <p:cNvPr id="166937" name="组合 558105"/>
            <p:cNvGrpSpPr/>
            <p:nvPr/>
          </p:nvGrpSpPr>
          <p:grpSpPr>
            <a:xfrm>
              <a:off x="1136" y="1844"/>
              <a:ext cx="967" cy="448"/>
              <a:chOff x="1136" y="1844"/>
              <a:chExt cx="967" cy="448"/>
            </a:xfrm>
          </p:grpSpPr>
          <p:grpSp>
            <p:nvGrpSpPr>
              <p:cNvPr id="166938" name="组合 558106"/>
              <p:cNvGrpSpPr/>
              <p:nvPr/>
            </p:nvGrpSpPr>
            <p:grpSpPr>
              <a:xfrm>
                <a:off x="1136" y="1844"/>
                <a:ext cx="305" cy="448"/>
                <a:chOff x="1136" y="1844"/>
                <a:chExt cx="305" cy="448"/>
              </a:xfrm>
            </p:grpSpPr>
            <p:grpSp>
              <p:nvGrpSpPr>
                <p:cNvPr id="166939" name="组合 558107"/>
                <p:cNvGrpSpPr/>
                <p:nvPr/>
              </p:nvGrpSpPr>
              <p:grpSpPr>
                <a:xfrm>
                  <a:off x="1136" y="1844"/>
                  <a:ext cx="305" cy="448"/>
                  <a:chOff x="1136" y="1844"/>
                  <a:chExt cx="305" cy="448"/>
                </a:xfrm>
              </p:grpSpPr>
              <p:sp>
                <p:nvSpPr>
                  <p:cNvPr id="166940" name="立方体 558108"/>
                  <p:cNvSpPr/>
                  <p:nvPr/>
                </p:nvSpPr>
                <p:spPr>
                  <a:xfrm>
                    <a:off x="1136" y="1915"/>
                    <a:ext cx="305" cy="377"/>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41" name="立方体 558109"/>
                  <p:cNvSpPr/>
                  <p:nvPr/>
                </p:nvSpPr>
                <p:spPr>
                  <a:xfrm>
                    <a:off x="1206" y="1844"/>
                    <a:ext cx="235" cy="7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42" name="平行四边形 558110"/>
                <p:cNvSpPr/>
                <p:nvPr/>
              </p:nvSpPr>
              <p:spPr>
                <a:xfrm>
                  <a:off x="1198" y="1948"/>
                  <a:ext cx="158" cy="27"/>
                </a:xfrm>
                <a:prstGeom prst="parallelogram">
                  <a:avLst>
                    <a:gd name="adj" fmla="val 146267"/>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6943" name="组合 558111"/>
              <p:cNvGrpSpPr/>
              <p:nvPr/>
            </p:nvGrpSpPr>
            <p:grpSpPr>
              <a:xfrm>
                <a:off x="1437" y="1844"/>
                <a:ext cx="378" cy="448"/>
                <a:chOff x="1437" y="1844"/>
                <a:chExt cx="378" cy="448"/>
              </a:xfrm>
            </p:grpSpPr>
            <p:grpSp>
              <p:nvGrpSpPr>
                <p:cNvPr id="166944" name="组合 558112"/>
                <p:cNvGrpSpPr/>
                <p:nvPr/>
              </p:nvGrpSpPr>
              <p:grpSpPr>
                <a:xfrm>
                  <a:off x="1437" y="1844"/>
                  <a:ext cx="378" cy="448"/>
                  <a:chOff x="1437" y="1844"/>
                  <a:chExt cx="378" cy="448"/>
                </a:xfrm>
              </p:grpSpPr>
              <p:sp>
                <p:nvSpPr>
                  <p:cNvPr id="166945" name="立方体 558113"/>
                  <p:cNvSpPr/>
                  <p:nvPr/>
                </p:nvSpPr>
                <p:spPr>
                  <a:xfrm>
                    <a:off x="1437" y="1915"/>
                    <a:ext cx="378" cy="377"/>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46" name="立方体 558114"/>
                  <p:cNvSpPr/>
                  <p:nvPr/>
                </p:nvSpPr>
                <p:spPr>
                  <a:xfrm>
                    <a:off x="1523" y="1844"/>
                    <a:ext cx="292" cy="7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47" name="椭圆 558115"/>
                <p:cNvSpPr/>
                <p:nvPr/>
              </p:nvSpPr>
              <p:spPr>
                <a:xfrm>
                  <a:off x="1552" y="1880"/>
                  <a:ext cx="49" cy="27"/>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48" name="八边形 558116"/>
                <p:cNvSpPr/>
                <p:nvPr/>
              </p:nvSpPr>
              <p:spPr>
                <a:xfrm>
                  <a:off x="1484" y="2090"/>
                  <a:ext cx="198" cy="84"/>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49" name="任意多边形 558117"/>
              <p:cNvSpPr/>
              <p:nvPr/>
            </p:nvSpPr>
            <p:spPr>
              <a:xfrm>
                <a:off x="2001" y="2073"/>
                <a:ext cx="86" cy="192"/>
              </a:xfrm>
              <a:custGeom>
                <a:avLst/>
                <a:gdLst/>
                <a:ahLst/>
                <a:cxnLst/>
                <a:pathLst>
                  <a:path w="86" h="192">
                    <a:moveTo>
                      <a:pt x="62" y="0"/>
                    </a:moveTo>
                    <a:lnTo>
                      <a:pt x="85" y="0"/>
                    </a:lnTo>
                    <a:lnTo>
                      <a:pt x="23" y="191"/>
                    </a:lnTo>
                    <a:lnTo>
                      <a:pt x="0" y="191"/>
                    </a:lnTo>
                    <a:lnTo>
                      <a:pt x="62" y="0"/>
                    </a:lnTo>
                  </a:path>
                </a:pathLst>
              </a:custGeom>
              <a:solidFill>
                <a:srgbClr val="FC0128"/>
              </a:solidFill>
              <a:ln w="12700">
                <a:noFill/>
              </a:ln>
            </p:spPr>
            <p:txBody>
              <a:bodyPr/>
              <a:p>
                <a:endParaRPr lang="zh-CN" altLang="en-US"/>
              </a:p>
            </p:txBody>
          </p:sp>
          <p:sp>
            <p:nvSpPr>
              <p:cNvPr id="166950" name="矩形 558118"/>
              <p:cNvSpPr/>
              <p:nvPr/>
            </p:nvSpPr>
            <p:spPr>
              <a:xfrm>
                <a:off x="1997" y="2073"/>
                <a:ext cx="106"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951" name="矩形 558119"/>
              <p:cNvSpPr/>
              <p:nvPr/>
            </p:nvSpPr>
            <p:spPr>
              <a:xfrm>
                <a:off x="2004" y="2154"/>
                <a:ext cx="82"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952" name="矩形 558120"/>
              <p:cNvSpPr/>
              <p:nvPr/>
            </p:nvSpPr>
            <p:spPr>
              <a:xfrm>
                <a:off x="1821" y="2154"/>
                <a:ext cx="103" cy="11"/>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nvGrpSpPr>
              <p:cNvPr id="166953" name="组合 558121"/>
              <p:cNvGrpSpPr/>
              <p:nvPr/>
            </p:nvGrpSpPr>
            <p:grpSpPr>
              <a:xfrm>
                <a:off x="1819" y="1901"/>
                <a:ext cx="194" cy="364"/>
                <a:chOff x="1819" y="1901"/>
                <a:chExt cx="194" cy="364"/>
              </a:xfrm>
            </p:grpSpPr>
            <p:sp>
              <p:nvSpPr>
                <p:cNvPr id="166954" name="椭圆 558122"/>
                <p:cNvSpPr/>
                <p:nvPr/>
              </p:nvSpPr>
              <p:spPr>
                <a:xfrm>
                  <a:off x="1895" y="1901"/>
                  <a:ext cx="48" cy="48"/>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55" name="任意多边形 558123"/>
                <p:cNvSpPr/>
                <p:nvPr/>
              </p:nvSpPr>
              <p:spPr>
                <a:xfrm>
                  <a:off x="1819" y="1969"/>
                  <a:ext cx="194" cy="296"/>
                </a:xfrm>
                <a:custGeom>
                  <a:avLst/>
                  <a:gdLst/>
                  <a:ahLst/>
                  <a:cxnLst/>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w="127000">
                  <a:noFill/>
                </a:ln>
              </p:spPr>
              <p:txBody>
                <a:bodyPr/>
                <a:p>
                  <a:endParaRPr lang="zh-CN" altLang="en-US"/>
                </a:p>
              </p:txBody>
            </p:sp>
          </p:grpSp>
        </p:grpSp>
        <p:grpSp>
          <p:nvGrpSpPr>
            <p:cNvPr id="166956" name="组合 558124"/>
            <p:cNvGrpSpPr/>
            <p:nvPr/>
          </p:nvGrpSpPr>
          <p:grpSpPr>
            <a:xfrm>
              <a:off x="1536" y="2308"/>
              <a:ext cx="967" cy="448"/>
              <a:chOff x="1536" y="2308"/>
              <a:chExt cx="967" cy="448"/>
            </a:xfrm>
          </p:grpSpPr>
          <p:grpSp>
            <p:nvGrpSpPr>
              <p:cNvPr id="166957" name="组合 558125"/>
              <p:cNvGrpSpPr/>
              <p:nvPr/>
            </p:nvGrpSpPr>
            <p:grpSpPr>
              <a:xfrm>
                <a:off x="1536" y="2308"/>
                <a:ext cx="305" cy="448"/>
                <a:chOff x="1536" y="2308"/>
                <a:chExt cx="305" cy="448"/>
              </a:xfrm>
            </p:grpSpPr>
            <p:grpSp>
              <p:nvGrpSpPr>
                <p:cNvPr id="166958" name="组合 558126"/>
                <p:cNvGrpSpPr/>
                <p:nvPr/>
              </p:nvGrpSpPr>
              <p:grpSpPr>
                <a:xfrm>
                  <a:off x="1536" y="2308"/>
                  <a:ext cx="305" cy="448"/>
                  <a:chOff x="1536" y="2308"/>
                  <a:chExt cx="305" cy="448"/>
                </a:xfrm>
              </p:grpSpPr>
              <p:sp>
                <p:nvSpPr>
                  <p:cNvPr id="166959" name="立方体 558127"/>
                  <p:cNvSpPr/>
                  <p:nvPr/>
                </p:nvSpPr>
                <p:spPr>
                  <a:xfrm>
                    <a:off x="1536" y="2379"/>
                    <a:ext cx="305" cy="377"/>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60" name="立方体 558128"/>
                  <p:cNvSpPr/>
                  <p:nvPr/>
                </p:nvSpPr>
                <p:spPr>
                  <a:xfrm>
                    <a:off x="1606" y="2308"/>
                    <a:ext cx="235" cy="7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61" name="平行四边形 558129"/>
                <p:cNvSpPr/>
                <p:nvPr/>
              </p:nvSpPr>
              <p:spPr>
                <a:xfrm>
                  <a:off x="1598" y="2412"/>
                  <a:ext cx="158" cy="27"/>
                </a:xfrm>
                <a:prstGeom prst="parallelogram">
                  <a:avLst>
                    <a:gd name="adj" fmla="val 146267"/>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6962" name="组合 558130"/>
              <p:cNvGrpSpPr/>
              <p:nvPr/>
            </p:nvGrpSpPr>
            <p:grpSpPr>
              <a:xfrm>
                <a:off x="1837" y="2308"/>
                <a:ext cx="378" cy="448"/>
                <a:chOff x="1837" y="2308"/>
                <a:chExt cx="378" cy="448"/>
              </a:xfrm>
            </p:grpSpPr>
            <p:grpSp>
              <p:nvGrpSpPr>
                <p:cNvPr id="166963" name="组合 558131"/>
                <p:cNvGrpSpPr/>
                <p:nvPr/>
              </p:nvGrpSpPr>
              <p:grpSpPr>
                <a:xfrm>
                  <a:off x="1837" y="2308"/>
                  <a:ext cx="378" cy="448"/>
                  <a:chOff x="1837" y="2308"/>
                  <a:chExt cx="378" cy="448"/>
                </a:xfrm>
              </p:grpSpPr>
              <p:sp>
                <p:nvSpPr>
                  <p:cNvPr id="166964" name="立方体 558132"/>
                  <p:cNvSpPr/>
                  <p:nvPr/>
                </p:nvSpPr>
                <p:spPr>
                  <a:xfrm>
                    <a:off x="1837" y="2379"/>
                    <a:ext cx="378" cy="377"/>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65" name="立方体 558133"/>
                  <p:cNvSpPr/>
                  <p:nvPr/>
                </p:nvSpPr>
                <p:spPr>
                  <a:xfrm>
                    <a:off x="1923" y="2308"/>
                    <a:ext cx="292" cy="7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66" name="椭圆 558134"/>
                <p:cNvSpPr/>
                <p:nvPr/>
              </p:nvSpPr>
              <p:spPr>
                <a:xfrm>
                  <a:off x="1952" y="2344"/>
                  <a:ext cx="49" cy="27"/>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67" name="八边形 558135"/>
                <p:cNvSpPr/>
                <p:nvPr/>
              </p:nvSpPr>
              <p:spPr>
                <a:xfrm>
                  <a:off x="1884" y="2554"/>
                  <a:ext cx="198" cy="84"/>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68" name="任意多边形 558136"/>
              <p:cNvSpPr/>
              <p:nvPr/>
            </p:nvSpPr>
            <p:spPr>
              <a:xfrm>
                <a:off x="2401" y="2537"/>
                <a:ext cx="86" cy="192"/>
              </a:xfrm>
              <a:custGeom>
                <a:avLst/>
                <a:gdLst/>
                <a:ahLst/>
                <a:cxnLst/>
                <a:pathLst>
                  <a:path w="86" h="192">
                    <a:moveTo>
                      <a:pt x="62" y="0"/>
                    </a:moveTo>
                    <a:lnTo>
                      <a:pt x="85" y="0"/>
                    </a:lnTo>
                    <a:lnTo>
                      <a:pt x="23" y="191"/>
                    </a:lnTo>
                    <a:lnTo>
                      <a:pt x="0" y="191"/>
                    </a:lnTo>
                    <a:lnTo>
                      <a:pt x="62" y="0"/>
                    </a:lnTo>
                  </a:path>
                </a:pathLst>
              </a:custGeom>
              <a:solidFill>
                <a:srgbClr val="FC0128"/>
              </a:solidFill>
              <a:ln w="12700">
                <a:noFill/>
              </a:ln>
            </p:spPr>
            <p:txBody>
              <a:bodyPr/>
              <a:p>
                <a:endParaRPr lang="zh-CN" altLang="en-US"/>
              </a:p>
            </p:txBody>
          </p:sp>
          <p:sp>
            <p:nvSpPr>
              <p:cNvPr id="166969" name="矩形 558137"/>
              <p:cNvSpPr/>
              <p:nvPr/>
            </p:nvSpPr>
            <p:spPr>
              <a:xfrm>
                <a:off x="2397" y="2537"/>
                <a:ext cx="106"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970" name="矩形 558138"/>
              <p:cNvSpPr/>
              <p:nvPr/>
            </p:nvSpPr>
            <p:spPr>
              <a:xfrm>
                <a:off x="2404" y="2618"/>
                <a:ext cx="82"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971" name="矩形 558139"/>
              <p:cNvSpPr/>
              <p:nvPr/>
            </p:nvSpPr>
            <p:spPr>
              <a:xfrm>
                <a:off x="2221" y="2618"/>
                <a:ext cx="103" cy="11"/>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nvGrpSpPr>
              <p:cNvPr id="166972" name="组合 558140"/>
              <p:cNvGrpSpPr/>
              <p:nvPr/>
            </p:nvGrpSpPr>
            <p:grpSpPr>
              <a:xfrm>
                <a:off x="2219" y="2365"/>
                <a:ext cx="194" cy="364"/>
                <a:chOff x="2219" y="2365"/>
                <a:chExt cx="194" cy="364"/>
              </a:xfrm>
            </p:grpSpPr>
            <p:sp>
              <p:nvSpPr>
                <p:cNvPr id="166973" name="椭圆 558141"/>
                <p:cNvSpPr/>
                <p:nvPr/>
              </p:nvSpPr>
              <p:spPr>
                <a:xfrm>
                  <a:off x="2295" y="2365"/>
                  <a:ext cx="48" cy="48"/>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74" name="任意多边形 558142"/>
                <p:cNvSpPr/>
                <p:nvPr/>
              </p:nvSpPr>
              <p:spPr>
                <a:xfrm>
                  <a:off x="2219" y="2433"/>
                  <a:ext cx="194" cy="296"/>
                </a:xfrm>
                <a:custGeom>
                  <a:avLst/>
                  <a:gdLst/>
                  <a:ahLst/>
                  <a:cxnLst/>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w="127000">
                  <a:noFill/>
                </a:ln>
              </p:spPr>
              <p:txBody>
                <a:bodyPr/>
                <a:p>
                  <a:endParaRPr lang="zh-CN" altLang="en-US"/>
                </a:p>
              </p:txBody>
            </p:sp>
          </p:grpSp>
        </p:grpSp>
        <p:grpSp>
          <p:nvGrpSpPr>
            <p:cNvPr id="166975" name="组合 558143"/>
            <p:cNvGrpSpPr/>
            <p:nvPr/>
          </p:nvGrpSpPr>
          <p:grpSpPr>
            <a:xfrm>
              <a:off x="1952" y="2796"/>
              <a:ext cx="967" cy="448"/>
              <a:chOff x="1952" y="2796"/>
              <a:chExt cx="967" cy="448"/>
            </a:xfrm>
          </p:grpSpPr>
          <p:grpSp>
            <p:nvGrpSpPr>
              <p:cNvPr id="166976" name="组合 558144"/>
              <p:cNvGrpSpPr/>
              <p:nvPr/>
            </p:nvGrpSpPr>
            <p:grpSpPr>
              <a:xfrm>
                <a:off x="1952" y="2796"/>
                <a:ext cx="305" cy="448"/>
                <a:chOff x="1952" y="2796"/>
                <a:chExt cx="305" cy="448"/>
              </a:xfrm>
            </p:grpSpPr>
            <p:grpSp>
              <p:nvGrpSpPr>
                <p:cNvPr id="166977" name="组合 558145"/>
                <p:cNvGrpSpPr/>
                <p:nvPr/>
              </p:nvGrpSpPr>
              <p:grpSpPr>
                <a:xfrm>
                  <a:off x="1952" y="2796"/>
                  <a:ext cx="305" cy="448"/>
                  <a:chOff x="1952" y="2796"/>
                  <a:chExt cx="305" cy="448"/>
                </a:xfrm>
              </p:grpSpPr>
              <p:sp>
                <p:nvSpPr>
                  <p:cNvPr id="166978" name="立方体 558146"/>
                  <p:cNvSpPr/>
                  <p:nvPr/>
                </p:nvSpPr>
                <p:spPr>
                  <a:xfrm>
                    <a:off x="1952" y="2867"/>
                    <a:ext cx="305" cy="377"/>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79" name="立方体 558147"/>
                  <p:cNvSpPr/>
                  <p:nvPr/>
                </p:nvSpPr>
                <p:spPr>
                  <a:xfrm>
                    <a:off x="2022" y="2796"/>
                    <a:ext cx="235" cy="7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80" name="平行四边形 558148"/>
                <p:cNvSpPr/>
                <p:nvPr/>
              </p:nvSpPr>
              <p:spPr>
                <a:xfrm>
                  <a:off x="2014" y="2900"/>
                  <a:ext cx="158" cy="27"/>
                </a:xfrm>
                <a:prstGeom prst="parallelogram">
                  <a:avLst>
                    <a:gd name="adj" fmla="val 146267"/>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6981" name="组合 558149"/>
              <p:cNvGrpSpPr/>
              <p:nvPr/>
            </p:nvGrpSpPr>
            <p:grpSpPr>
              <a:xfrm>
                <a:off x="2253" y="2796"/>
                <a:ext cx="378" cy="448"/>
                <a:chOff x="2253" y="2796"/>
                <a:chExt cx="378" cy="448"/>
              </a:xfrm>
            </p:grpSpPr>
            <p:grpSp>
              <p:nvGrpSpPr>
                <p:cNvPr id="166982" name="组合 558150"/>
                <p:cNvGrpSpPr/>
                <p:nvPr/>
              </p:nvGrpSpPr>
              <p:grpSpPr>
                <a:xfrm>
                  <a:off x="2253" y="2796"/>
                  <a:ext cx="378" cy="448"/>
                  <a:chOff x="2253" y="2796"/>
                  <a:chExt cx="378" cy="448"/>
                </a:xfrm>
              </p:grpSpPr>
              <p:sp>
                <p:nvSpPr>
                  <p:cNvPr id="166983" name="立方体 558151"/>
                  <p:cNvSpPr/>
                  <p:nvPr/>
                </p:nvSpPr>
                <p:spPr>
                  <a:xfrm>
                    <a:off x="2253" y="2867"/>
                    <a:ext cx="378" cy="377"/>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84" name="立方体 558152"/>
                  <p:cNvSpPr/>
                  <p:nvPr/>
                </p:nvSpPr>
                <p:spPr>
                  <a:xfrm>
                    <a:off x="2339" y="2796"/>
                    <a:ext cx="292" cy="7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85" name="椭圆 558153"/>
                <p:cNvSpPr/>
                <p:nvPr/>
              </p:nvSpPr>
              <p:spPr>
                <a:xfrm>
                  <a:off x="2368" y="2832"/>
                  <a:ext cx="49" cy="27"/>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86" name="八边形 558154"/>
                <p:cNvSpPr/>
                <p:nvPr/>
              </p:nvSpPr>
              <p:spPr>
                <a:xfrm>
                  <a:off x="2300" y="3042"/>
                  <a:ext cx="198" cy="84"/>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87" name="任意多边形 558155"/>
              <p:cNvSpPr/>
              <p:nvPr/>
            </p:nvSpPr>
            <p:spPr>
              <a:xfrm>
                <a:off x="2817" y="3025"/>
                <a:ext cx="86" cy="192"/>
              </a:xfrm>
              <a:custGeom>
                <a:avLst/>
                <a:gdLst/>
                <a:ahLst/>
                <a:cxnLst/>
                <a:pathLst>
                  <a:path w="86" h="192">
                    <a:moveTo>
                      <a:pt x="62" y="0"/>
                    </a:moveTo>
                    <a:lnTo>
                      <a:pt x="85" y="0"/>
                    </a:lnTo>
                    <a:lnTo>
                      <a:pt x="23" y="191"/>
                    </a:lnTo>
                    <a:lnTo>
                      <a:pt x="0" y="191"/>
                    </a:lnTo>
                    <a:lnTo>
                      <a:pt x="62" y="0"/>
                    </a:lnTo>
                  </a:path>
                </a:pathLst>
              </a:custGeom>
              <a:solidFill>
                <a:srgbClr val="FC0128"/>
              </a:solidFill>
              <a:ln w="12700">
                <a:noFill/>
              </a:ln>
            </p:spPr>
            <p:txBody>
              <a:bodyPr/>
              <a:p>
                <a:endParaRPr lang="zh-CN" altLang="en-US"/>
              </a:p>
            </p:txBody>
          </p:sp>
          <p:sp>
            <p:nvSpPr>
              <p:cNvPr id="166988" name="矩形 558156"/>
              <p:cNvSpPr/>
              <p:nvPr/>
            </p:nvSpPr>
            <p:spPr>
              <a:xfrm>
                <a:off x="2813" y="3025"/>
                <a:ext cx="106"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989" name="矩形 558157"/>
              <p:cNvSpPr/>
              <p:nvPr/>
            </p:nvSpPr>
            <p:spPr>
              <a:xfrm>
                <a:off x="2820" y="3106"/>
                <a:ext cx="82"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6990" name="矩形 558158"/>
              <p:cNvSpPr/>
              <p:nvPr/>
            </p:nvSpPr>
            <p:spPr>
              <a:xfrm>
                <a:off x="2637" y="3106"/>
                <a:ext cx="103" cy="11"/>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nvGrpSpPr>
              <p:cNvPr id="166991" name="组合 558159"/>
              <p:cNvGrpSpPr/>
              <p:nvPr/>
            </p:nvGrpSpPr>
            <p:grpSpPr>
              <a:xfrm>
                <a:off x="2635" y="2853"/>
                <a:ext cx="194" cy="364"/>
                <a:chOff x="2635" y="2853"/>
                <a:chExt cx="194" cy="364"/>
              </a:xfrm>
            </p:grpSpPr>
            <p:sp>
              <p:nvSpPr>
                <p:cNvPr id="166992" name="椭圆 558160"/>
                <p:cNvSpPr/>
                <p:nvPr/>
              </p:nvSpPr>
              <p:spPr>
                <a:xfrm>
                  <a:off x="2711" y="2853"/>
                  <a:ext cx="48" cy="48"/>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93" name="任意多边形 558161"/>
                <p:cNvSpPr/>
                <p:nvPr/>
              </p:nvSpPr>
              <p:spPr>
                <a:xfrm>
                  <a:off x="2635" y="2921"/>
                  <a:ext cx="194" cy="296"/>
                </a:xfrm>
                <a:custGeom>
                  <a:avLst/>
                  <a:gdLst/>
                  <a:ahLst/>
                  <a:cxnLst/>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w="127000">
                  <a:noFill/>
                </a:ln>
              </p:spPr>
              <p:txBody>
                <a:bodyPr/>
                <a:p>
                  <a:endParaRPr lang="zh-CN" altLang="en-US"/>
                </a:p>
              </p:txBody>
            </p:sp>
          </p:grpSp>
        </p:grpSp>
        <p:grpSp>
          <p:nvGrpSpPr>
            <p:cNvPr id="166994" name="组合 558162"/>
            <p:cNvGrpSpPr/>
            <p:nvPr/>
          </p:nvGrpSpPr>
          <p:grpSpPr>
            <a:xfrm>
              <a:off x="2368" y="3244"/>
              <a:ext cx="967" cy="448"/>
              <a:chOff x="2368" y="3244"/>
              <a:chExt cx="967" cy="448"/>
            </a:xfrm>
          </p:grpSpPr>
          <p:grpSp>
            <p:nvGrpSpPr>
              <p:cNvPr id="166995" name="组合 558163"/>
              <p:cNvGrpSpPr/>
              <p:nvPr/>
            </p:nvGrpSpPr>
            <p:grpSpPr>
              <a:xfrm>
                <a:off x="2368" y="3244"/>
                <a:ext cx="305" cy="448"/>
                <a:chOff x="2368" y="3244"/>
                <a:chExt cx="305" cy="448"/>
              </a:xfrm>
            </p:grpSpPr>
            <p:grpSp>
              <p:nvGrpSpPr>
                <p:cNvPr id="166996" name="组合 558164"/>
                <p:cNvGrpSpPr/>
                <p:nvPr/>
              </p:nvGrpSpPr>
              <p:grpSpPr>
                <a:xfrm>
                  <a:off x="2368" y="3244"/>
                  <a:ext cx="305" cy="448"/>
                  <a:chOff x="2368" y="3244"/>
                  <a:chExt cx="305" cy="448"/>
                </a:xfrm>
              </p:grpSpPr>
              <p:sp>
                <p:nvSpPr>
                  <p:cNvPr id="166997" name="立方体 558165"/>
                  <p:cNvSpPr/>
                  <p:nvPr/>
                </p:nvSpPr>
                <p:spPr>
                  <a:xfrm>
                    <a:off x="2368" y="3315"/>
                    <a:ext cx="305" cy="377"/>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6998" name="立方体 558166"/>
                  <p:cNvSpPr/>
                  <p:nvPr/>
                </p:nvSpPr>
                <p:spPr>
                  <a:xfrm>
                    <a:off x="2438" y="3244"/>
                    <a:ext cx="235" cy="78"/>
                  </a:xfrm>
                  <a:prstGeom prst="cube">
                    <a:avLst>
                      <a:gd name="adj" fmla="val 24995"/>
                    </a:avLst>
                  </a:prstGeom>
                  <a:solidFill>
                    <a:srgbClr val="F6BF69"/>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6999" name="平行四边形 558167"/>
                <p:cNvSpPr/>
                <p:nvPr/>
              </p:nvSpPr>
              <p:spPr>
                <a:xfrm>
                  <a:off x="2430" y="3348"/>
                  <a:ext cx="158" cy="27"/>
                </a:xfrm>
                <a:prstGeom prst="parallelogram">
                  <a:avLst>
                    <a:gd name="adj" fmla="val 146267"/>
                  </a:avLst>
                </a:prstGeom>
                <a:solidFill>
                  <a:srgbClr val="F6BF69"/>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167000" name="组合 558168"/>
              <p:cNvGrpSpPr/>
              <p:nvPr/>
            </p:nvGrpSpPr>
            <p:grpSpPr>
              <a:xfrm>
                <a:off x="2669" y="3244"/>
                <a:ext cx="378" cy="448"/>
                <a:chOff x="2669" y="3244"/>
                <a:chExt cx="378" cy="448"/>
              </a:xfrm>
            </p:grpSpPr>
            <p:grpSp>
              <p:nvGrpSpPr>
                <p:cNvPr id="167001" name="组合 558169"/>
                <p:cNvGrpSpPr/>
                <p:nvPr/>
              </p:nvGrpSpPr>
              <p:grpSpPr>
                <a:xfrm>
                  <a:off x="2669" y="3244"/>
                  <a:ext cx="378" cy="448"/>
                  <a:chOff x="2669" y="3244"/>
                  <a:chExt cx="378" cy="448"/>
                </a:xfrm>
              </p:grpSpPr>
              <p:sp>
                <p:nvSpPr>
                  <p:cNvPr id="167002" name="立方体 558170"/>
                  <p:cNvSpPr/>
                  <p:nvPr/>
                </p:nvSpPr>
                <p:spPr>
                  <a:xfrm>
                    <a:off x="2669" y="3315"/>
                    <a:ext cx="378" cy="377"/>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7003" name="立方体 558171"/>
                  <p:cNvSpPr/>
                  <p:nvPr/>
                </p:nvSpPr>
                <p:spPr>
                  <a:xfrm>
                    <a:off x="2755" y="3244"/>
                    <a:ext cx="292" cy="78"/>
                  </a:xfrm>
                  <a:prstGeom prst="cube">
                    <a:avLst>
                      <a:gd name="adj" fmla="val 24995"/>
                    </a:avLst>
                  </a:prstGeom>
                  <a:solidFill>
                    <a:srgbClr val="A2C1FE"/>
                  </a:solid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7004" name="椭圆 558172"/>
                <p:cNvSpPr/>
                <p:nvPr/>
              </p:nvSpPr>
              <p:spPr>
                <a:xfrm>
                  <a:off x="2784" y="3280"/>
                  <a:ext cx="49" cy="27"/>
                </a:xfrm>
                <a:prstGeom prst="ellipse">
                  <a:avLst/>
                </a:prstGeom>
                <a:solidFill>
                  <a:schemeClr val="bg1"/>
                </a:solid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7005" name="八边形 558173"/>
                <p:cNvSpPr/>
                <p:nvPr/>
              </p:nvSpPr>
              <p:spPr>
                <a:xfrm>
                  <a:off x="2716" y="3490"/>
                  <a:ext cx="198" cy="84"/>
                </a:xfrm>
                <a:prstGeom prst="octagon">
                  <a:avLst>
                    <a:gd name="adj" fmla="val 29282"/>
                  </a:avLst>
                </a:prstGeom>
                <a:solidFill>
                  <a:srgbClr val="A2C1FE"/>
                </a:solid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167006" name="任意多边形 558174"/>
              <p:cNvSpPr/>
              <p:nvPr/>
            </p:nvSpPr>
            <p:spPr>
              <a:xfrm>
                <a:off x="3233" y="3473"/>
                <a:ext cx="86" cy="192"/>
              </a:xfrm>
              <a:custGeom>
                <a:avLst/>
                <a:gdLst/>
                <a:ahLst/>
                <a:cxnLst/>
                <a:pathLst>
                  <a:path w="86" h="192">
                    <a:moveTo>
                      <a:pt x="62" y="0"/>
                    </a:moveTo>
                    <a:lnTo>
                      <a:pt x="85" y="0"/>
                    </a:lnTo>
                    <a:lnTo>
                      <a:pt x="23" y="191"/>
                    </a:lnTo>
                    <a:lnTo>
                      <a:pt x="0" y="191"/>
                    </a:lnTo>
                    <a:lnTo>
                      <a:pt x="62" y="0"/>
                    </a:lnTo>
                  </a:path>
                </a:pathLst>
              </a:custGeom>
              <a:solidFill>
                <a:srgbClr val="FC0128"/>
              </a:solidFill>
              <a:ln w="12700">
                <a:noFill/>
              </a:ln>
            </p:spPr>
            <p:txBody>
              <a:bodyPr/>
              <a:p>
                <a:endParaRPr lang="zh-CN" altLang="en-US"/>
              </a:p>
            </p:txBody>
          </p:sp>
          <p:sp>
            <p:nvSpPr>
              <p:cNvPr id="167007" name="矩形 558175"/>
              <p:cNvSpPr/>
              <p:nvPr/>
            </p:nvSpPr>
            <p:spPr>
              <a:xfrm>
                <a:off x="3229" y="3473"/>
                <a:ext cx="106"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7008" name="矩形 558176"/>
              <p:cNvSpPr/>
              <p:nvPr/>
            </p:nvSpPr>
            <p:spPr>
              <a:xfrm>
                <a:off x="3236" y="3554"/>
                <a:ext cx="82" cy="16"/>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sp>
            <p:nvSpPr>
              <p:cNvPr id="167009" name="矩形 558177"/>
              <p:cNvSpPr/>
              <p:nvPr/>
            </p:nvSpPr>
            <p:spPr>
              <a:xfrm>
                <a:off x="3053" y="3554"/>
                <a:ext cx="103" cy="11"/>
              </a:xfrm>
              <a:prstGeom prst="rect">
                <a:avLst/>
              </a:prstGeom>
              <a:solidFill>
                <a:srgbClr val="FC0128"/>
              </a:solidFill>
              <a:ln w="12700">
                <a:noFill/>
              </a:ln>
            </p:spPr>
            <p:txBody>
              <a:bodyPr anchor="t" anchorCtr="0"/>
              <a:p>
                <a:pPr eaLnBrk="0" hangingPunct="0"/>
                <a:endParaRPr lang="zh-CN" altLang="en-US">
                  <a:latin typeface="Arial" panose="020B0604020202020204" pitchFamily="34" charset="0"/>
                </a:endParaRPr>
              </a:p>
            </p:txBody>
          </p:sp>
          <p:grpSp>
            <p:nvGrpSpPr>
              <p:cNvPr id="167010" name="组合 558178"/>
              <p:cNvGrpSpPr/>
              <p:nvPr/>
            </p:nvGrpSpPr>
            <p:grpSpPr>
              <a:xfrm>
                <a:off x="3051" y="3301"/>
                <a:ext cx="194" cy="364"/>
                <a:chOff x="3051" y="3301"/>
                <a:chExt cx="194" cy="364"/>
              </a:xfrm>
            </p:grpSpPr>
            <p:sp>
              <p:nvSpPr>
                <p:cNvPr id="167011" name="椭圆 558179"/>
                <p:cNvSpPr/>
                <p:nvPr/>
              </p:nvSpPr>
              <p:spPr>
                <a:xfrm>
                  <a:off x="3127" y="3301"/>
                  <a:ext cx="48" cy="48"/>
                </a:xfrm>
                <a:prstGeom prst="ellipse">
                  <a:avLst/>
                </a:prstGeom>
                <a:solidFill>
                  <a:srgbClr val="FC0128"/>
                </a:solidFill>
                <a:ln w="12700" cap="flat" cmpd="sng">
                  <a:solidFill>
                    <a:srgbClr val="00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67012" name="任意多边形 558180"/>
                <p:cNvSpPr/>
                <p:nvPr/>
              </p:nvSpPr>
              <p:spPr>
                <a:xfrm>
                  <a:off x="3051" y="3369"/>
                  <a:ext cx="194" cy="296"/>
                </a:xfrm>
                <a:custGeom>
                  <a:avLst/>
                  <a:gdLst/>
                  <a:ahLst/>
                  <a:cxnLst/>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w="127000">
                  <a:noFill/>
                </a:ln>
              </p:spPr>
              <p:txBody>
                <a:bodyPr/>
                <a:p>
                  <a:endParaRPr lang="zh-CN" altLang="en-US"/>
                </a:p>
              </p:txBody>
            </p:sp>
          </p:grpSp>
        </p:grpSp>
      </p:grpSp>
      <p:sp>
        <p:nvSpPr>
          <p:cNvPr id="167013" name="矩形 558181"/>
          <p:cNvSpPr/>
          <p:nvPr/>
        </p:nvSpPr>
        <p:spPr>
          <a:xfrm>
            <a:off x="385763" y="2220913"/>
            <a:ext cx="358775" cy="2835275"/>
          </a:xfrm>
          <a:prstGeom prst="rect">
            <a:avLst/>
          </a:prstGeom>
          <a:noFill/>
          <a:ln w="12700">
            <a:noFill/>
          </a:ln>
        </p:spPr>
        <p:txBody>
          <a:bodyPr wrap="none" lIns="90488" tIns="44450" rIns="90488" bIns="44450" anchor="t" anchorCtr="0">
            <a:spAutoFit/>
          </a:bodyPr>
          <a:p>
            <a:pPr algn="ctr" eaLnBrk="0" hangingPunct="0"/>
            <a:r>
              <a:rPr lang="en-US" altLang="zh-CN" sz="1800" b="0" i="1">
                <a:latin typeface="Arial" panose="020B0604020202020204" pitchFamily="34" charset="0"/>
                <a:ea typeface="宋体" panose="02010600030101010101" pitchFamily="2" charset="-122"/>
              </a:rPr>
              <a:t>T</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a</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s</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k</a:t>
            </a:r>
            <a:endParaRPr lang="en-US" altLang="zh-CN" sz="1800" b="0" i="1">
              <a:latin typeface="Arial" panose="020B0604020202020204" pitchFamily="34" charset="0"/>
              <a:ea typeface="宋体" panose="02010600030101010101" pitchFamily="2" charset="-122"/>
            </a:endParaRPr>
          </a:p>
          <a:p>
            <a:pPr algn="ctr" eaLnBrk="0" hangingPunct="0"/>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O</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r</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d</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e</a:t>
            </a:r>
            <a:endParaRPr lang="en-US" altLang="zh-CN" sz="1800" b="0" i="1">
              <a:latin typeface="Arial" panose="020B0604020202020204" pitchFamily="34" charset="0"/>
              <a:ea typeface="宋体" panose="02010600030101010101" pitchFamily="2" charset="-122"/>
            </a:endParaRPr>
          </a:p>
          <a:p>
            <a:pPr algn="ctr" eaLnBrk="0" hangingPunct="0"/>
            <a:r>
              <a:rPr lang="en-US" altLang="zh-CN" sz="1800" b="0" i="1">
                <a:latin typeface="Arial" panose="020B0604020202020204" pitchFamily="34" charset="0"/>
                <a:ea typeface="宋体" panose="02010600030101010101" pitchFamily="2" charset="-122"/>
              </a:rPr>
              <a:t>r</a:t>
            </a:r>
            <a:endParaRPr lang="en-US" altLang="zh-CN" sz="1800" b="0" i="1">
              <a:latin typeface="Arial" panose="020B0604020202020204" pitchFamily="34" charset="0"/>
              <a:ea typeface="宋体" panose="02010600030101010101" pitchFamily="2" charset="-122"/>
            </a:endParaRPr>
          </a:p>
        </p:txBody>
      </p:sp>
      <p:sp>
        <p:nvSpPr>
          <p:cNvPr id="167014" name="直接连接符 558182"/>
          <p:cNvSpPr/>
          <p:nvPr/>
        </p:nvSpPr>
        <p:spPr>
          <a:xfrm>
            <a:off x="869950" y="2071688"/>
            <a:ext cx="0" cy="3035300"/>
          </a:xfrm>
          <a:prstGeom prst="line">
            <a:avLst/>
          </a:prstGeom>
          <a:ln w="12700" cap="flat" cmpd="sng">
            <a:solidFill>
              <a:schemeClr val="tx1"/>
            </a:solidFill>
            <a:prstDash val="solid"/>
            <a:round/>
            <a:headEnd type="none" w="med" len="med"/>
            <a:tailEnd type="triangle" w="med" len="med"/>
          </a:ln>
        </p:spPr>
      </p:sp>
      <p:sp>
        <p:nvSpPr>
          <p:cNvPr id="167015" name="矩形 558183"/>
          <p:cNvSpPr/>
          <p:nvPr/>
        </p:nvSpPr>
        <p:spPr>
          <a:xfrm>
            <a:off x="4360863" y="1293813"/>
            <a:ext cx="688975" cy="363537"/>
          </a:xfrm>
          <a:prstGeom prst="rect">
            <a:avLst/>
          </a:prstGeom>
          <a:noFill/>
          <a:ln w="12700">
            <a:noFill/>
          </a:ln>
        </p:spPr>
        <p:txBody>
          <a:bodyPr wrap="none" lIns="90488" tIns="44450" rIns="90488" bIns="44450" anchor="t" anchorCtr="0">
            <a:spAutoFit/>
          </a:bodyPr>
          <a:p>
            <a:pPr eaLnBrk="0" hangingPunct="0"/>
            <a:r>
              <a:rPr lang="en-US" altLang="zh-CN" sz="1800" b="0" i="1">
                <a:latin typeface="Arial" panose="020B0604020202020204" pitchFamily="34" charset="0"/>
                <a:ea typeface="宋体" panose="02010600030101010101" pitchFamily="2" charset="-122"/>
              </a:rPr>
              <a:t>Time</a:t>
            </a:r>
            <a:endParaRPr lang="en-US" altLang="zh-CN" sz="1800" b="0" i="1">
              <a:latin typeface="Arial" panose="020B0604020202020204" pitchFamily="34" charset="0"/>
              <a:ea typeface="宋体" panose="02010600030101010101" pitchFamily="2" charset="-122"/>
            </a:endParaRPr>
          </a:p>
        </p:txBody>
      </p:sp>
      <p:grpSp>
        <p:nvGrpSpPr>
          <p:cNvPr id="167016" name="组合 558184"/>
          <p:cNvGrpSpPr/>
          <p:nvPr/>
        </p:nvGrpSpPr>
        <p:grpSpPr>
          <a:xfrm>
            <a:off x="1712913" y="1665288"/>
            <a:ext cx="3568700" cy="636587"/>
            <a:chOff x="1111" y="1484"/>
            <a:chExt cx="2248" cy="401"/>
          </a:xfrm>
        </p:grpSpPr>
        <p:sp>
          <p:nvSpPr>
            <p:cNvPr id="167017" name="矩形 558185"/>
            <p:cNvSpPr/>
            <p:nvPr/>
          </p:nvSpPr>
          <p:spPr>
            <a:xfrm>
              <a:off x="1111" y="1599"/>
              <a:ext cx="328" cy="286"/>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30</a:t>
              </a:r>
              <a:endParaRPr lang="zh-CN" altLang="en-US" sz="2400" dirty="0">
                <a:latin typeface="Arial" panose="020B0604020202020204" pitchFamily="34" charset="0"/>
                <a:ea typeface="宋体" panose="02010600030101010101" pitchFamily="2" charset="-122"/>
              </a:endParaRPr>
            </a:p>
          </p:txBody>
        </p:sp>
        <p:sp>
          <p:nvSpPr>
            <p:cNvPr id="167018" name="直接连接符 558186"/>
            <p:cNvSpPr/>
            <p:nvPr/>
          </p:nvSpPr>
          <p:spPr>
            <a:xfrm>
              <a:off x="1124" y="1560"/>
              <a:ext cx="288" cy="0"/>
            </a:xfrm>
            <a:prstGeom prst="line">
              <a:avLst/>
            </a:prstGeom>
            <a:ln w="50800" cap="flat" cmpd="sng">
              <a:solidFill>
                <a:srgbClr val="F6BF69"/>
              </a:solidFill>
              <a:prstDash val="solid"/>
              <a:round/>
              <a:headEnd type="none" w="med" len="med"/>
              <a:tailEnd type="none" w="med" len="med"/>
            </a:ln>
          </p:spPr>
        </p:sp>
        <p:sp>
          <p:nvSpPr>
            <p:cNvPr id="167019" name="直接连接符 558187"/>
            <p:cNvSpPr/>
            <p:nvPr/>
          </p:nvSpPr>
          <p:spPr>
            <a:xfrm>
              <a:off x="1444" y="1484"/>
              <a:ext cx="0" cy="192"/>
            </a:xfrm>
            <a:prstGeom prst="line">
              <a:avLst/>
            </a:prstGeom>
            <a:ln w="12700" cap="flat" cmpd="sng">
              <a:solidFill>
                <a:schemeClr val="tx1"/>
              </a:solidFill>
              <a:prstDash val="solid"/>
              <a:round/>
              <a:headEnd type="none" w="med" len="med"/>
              <a:tailEnd type="none" w="med" len="med"/>
            </a:ln>
          </p:spPr>
        </p:sp>
        <p:grpSp>
          <p:nvGrpSpPr>
            <p:cNvPr id="167020" name="组合 558188"/>
            <p:cNvGrpSpPr/>
            <p:nvPr/>
          </p:nvGrpSpPr>
          <p:grpSpPr>
            <a:xfrm>
              <a:off x="1460" y="1484"/>
              <a:ext cx="384" cy="401"/>
              <a:chOff x="1460" y="1484"/>
              <a:chExt cx="384" cy="401"/>
            </a:xfrm>
          </p:grpSpPr>
          <p:sp>
            <p:nvSpPr>
              <p:cNvPr id="167021" name="直接连接符 558189"/>
              <p:cNvSpPr/>
              <p:nvPr/>
            </p:nvSpPr>
            <p:spPr>
              <a:xfrm>
                <a:off x="1460" y="1592"/>
                <a:ext cx="360" cy="0"/>
              </a:xfrm>
              <a:prstGeom prst="line">
                <a:avLst/>
              </a:prstGeom>
              <a:ln w="50800" cap="flat" cmpd="sng">
                <a:solidFill>
                  <a:srgbClr val="A2C1FE"/>
                </a:solidFill>
                <a:prstDash val="solid"/>
                <a:round/>
                <a:headEnd type="none" w="med" len="med"/>
                <a:tailEnd type="none" w="med" len="med"/>
              </a:ln>
            </p:spPr>
          </p:sp>
          <p:sp>
            <p:nvSpPr>
              <p:cNvPr id="167022" name="矩形 558190"/>
              <p:cNvSpPr/>
              <p:nvPr/>
            </p:nvSpPr>
            <p:spPr>
              <a:xfrm>
                <a:off x="1479" y="1599"/>
                <a:ext cx="328" cy="286"/>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40</a:t>
                </a:r>
                <a:endParaRPr lang="zh-CN" altLang="en-US" sz="2400" dirty="0">
                  <a:latin typeface="Arial" panose="020B0604020202020204" pitchFamily="34" charset="0"/>
                  <a:ea typeface="宋体" panose="02010600030101010101" pitchFamily="2" charset="-122"/>
                </a:endParaRPr>
              </a:p>
            </p:txBody>
          </p:sp>
          <p:sp>
            <p:nvSpPr>
              <p:cNvPr id="167023" name="直接连接符 558191"/>
              <p:cNvSpPr/>
              <p:nvPr/>
            </p:nvSpPr>
            <p:spPr>
              <a:xfrm>
                <a:off x="1844" y="1484"/>
                <a:ext cx="0" cy="192"/>
              </a:xfrm>
              <a:prstGeom prst="line">
                <a:avLst/>
              </a:prstGeom>
              <a:ln w="12700" cap="flat" cmpd="sng">
                <a:solidFill>
                  <a:schemeClr val="tx1"/>
                </a:solidFill>
                <a:prstDash val="solid"/>
                <a:round/>
                <a:headEnd type="none" w="med" len="med"/>
                <a:tailEnd type="none" w="med" len="med"/>
              </a:ln>
            </p:spPr>
          </p:sp>
        </p:grpSp>
        <p:grpSp>
          <p:nvGrpSpPr>
            <p:cNvPr id="167024" name="组合 558192"/>
            <p:cNvGrpSpPr/>
            <p:nvPr/>
          </p:nvGrpSpPr>
          <p:grpSpPr>
            <a:xfrm>
              <a:off x="1868" y="1484"/>
              <a:ext cx="384" cy="401"/>
              <a:chOff x="1868" y="1484"/>
              <a:chExt cx="384" cy="401"/>
            </a:xfrm>
          </p:grpSpPr>
          <p:sp>
            <p:nvSpPr>
              <p:cNvPr id="167025" name="直接连接符 558193"/>
              <p:cNvSpPr/>
              <p:nvPr/>
            </p:nvSpPr>
            <p:spPr>
              <a:xfrm>
                <a:off x="1868" y="1592"/>
                <a:ext cx="360" cy="0"/>
              </a:xfrm>
              <a:prstGeom prst="line">
                <a:avLst/>
              </a:prstGeom>
              <a:ln w="50800" cap="flat" cmpd="sng">
                <a:solidFill>
                  <a:srgbClr val="A2C1FE"/>
                </a:solidFill>
                <a:prstDash val="solid"/>
                <a:round/>
                <a:headEnd type="none" w="med" len="med"/>
                <a:tailEnd type="none" w="med" len="med"/>
              </a:ln>
            </p:spPr>
          </p:sp>
          <p:sp>
            <p:nvSpPr>
              <p:cNvPr id="167026" name="矩形 558194"/>
              <p:cNvSpPr/>
              <p:nvPr/>
            </p:nvSpPr>
            <p:spPr>
              <a:xfrm>
                <a:off x="1887" y="1599"/>
                <a:ext cx="328" cy="286"/>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40</a:t>
                </a:r>
                <a:endParaRPr lang="zh-CN" altLang="en-US" sz="2400" dirty="0">
                  <a:latin typeface="Arial" panose="020B0604020202020204" pitchFamily="34" charset="0"/>
                  <a:ea typeface="宋体" panose="02010600030101010101" pitchFamily="2" charset="-122"/>
                </a:endParaRPr>
              </a:p>
            </p:txBody>
          </p:sp>
          <p:sp>
            <p:nvSpPr>
              <p:cNvPr id="167027" name="直接连接符 558195"/>
              <p:cNvSpPr/>
              <p:nvPr/>
            </p:nvSpPr>
            <p:spPr>
              <a:xfrm>
                <a:off x="2252" y="1484"/>
                <a:ext cx="0" cy="192"/>
              </a:xfrm>
              <a:prstGeom prst="line">
                <a:avLst/>
              </a:prstGeom>
              <a:ln w="12700" cap="flat" cmpd="sng">
                <a:solidFill>
                  <a:schemeClr val="tx1"/>
                </a:solidFill>
                <a:prstDash val="solid"/>
                <a:round/>
                <a:headEnd type="none" w="med" len="med"/>
                <a:tailEnd type="none" w="med" len="med"/>
              </a:ln>
            </p:spPr>
          </p:sp>
        </p:grpSp>
        <p:grpSp>
          <p:nvGrpSpPr>
            <p:cNvPr id="167028" name="组合 558196"/>
            <p:cNvGrpSpPr/>
            <p:nvPr/>
          </p:nvGrpSpPr>
          <p:grpSpPr>
            <a:xfrm>
              <a:off x="2276" y="1484"/>
              <a:ext cx="384" cy="401"/>
              <a:chOff x="2276" y="1484"/>
              <a:chExt cx="384" cy="401"/>
            </a:xfrm>
          </p:grpSpPr>
          <p:sp>
            <p:nvSpPr>
              <p:cNvPr id="167029" name="直接连接符 558197"/>
              <p:cNvSpPr/>
              <p:nvPr/>
            </p:nvSpPr>
            <p:spPr>
              <a:xfrm>
                <a:off x="2276" y="1592"/>
                <a:ext cx="360" cy="0"/>
              </a:xfrm>
              <a:prstGeom prst="line">
                <a:avLst/>
              </a:prstGeom>
              <a:ln w="50800" cap="flat" cmpd="sng">
                <a:solidFill>
                  <a:srgbClr val="A2C1FE"/>
                </a:solidFill>
                <a:prstDash val="solid"/>
                <a:round/>
                <a:headEnd type="none" w="med" len="med"/>
                <a:tailEnd type="none" w="med" len="med"/>
              </a:ln>
            </p:spPr>
          </p:sp>
          <p:sp>
            <p:nvSpPr>
              <p:cNvPr id="167030" name="矩形 558198"/>
              <p:cNvSpPr/>
              <p:nvPr/>
            </p:nvSpPr>
            <p:spPr>
              <a:xfrm>
                <a:off x="2295" y="1599"/>
                <a:ext cx="328" cy="286"/>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40</a:t>
                </a:r>
                <a:endParaRPr lang="zh-CN" altLang="en-US" sz="2400" dirty="0">
                  <a:latin typeface="Arial" panose="020B0604020202020204" pitchFamily="34" charset="0"/>
                  <a:ea typeface="宋体" panose="02010600030101010101" pitchFamily="2" charset="-122"/>
                </a:endParaRPr>
              </a:p>
            </p:txBody>
          </p:sp>
          <p:sp>
            <p:nvSpPr>
              <p:cNvPr id="167031" name="直接连接符 558199"/>
              <p:cNvSpPr/>
              <p:nvPr/>
            </p:nvSpPr>
            <p:spPr>
              <a:xfrm>
                <a:off x="2660" y="1484"/>
                <a:ext cx="0" cy="192"/>
              </a:xfrm>
              <a:prstGeom prst="line">
                <a:avLst/>
              </a:prstGeom>
              <a:ln w="12700" cap="flat" cmpd="sng">
                <a:solidFill>
                  <a:schemeClr val="tx1"/>
                </a:solidFill>
                <a:prstDash val="solid"/>
                <a:round/>
                <a:headEnd type="none" w="med" len="med"/>
                <a:tailEnd type="none" w="med" len="med"/>
              </a:ln>
            </p:spPr>
          </p:sp>
        </p:grpSp>
        <p:sp>
          <p:nvSpPr>
            <p:cNvPr id="167032" name="直接连接符 558200"/>
            <p:cNvSpPr/>
            <p:nvPr/>
          </p:nvSpPr>
          <p:spPr>
            <a:xfrm>
              <a:off x="2684" y="1592"/>
              <a:ext cx="360" cy="0"/>
            </a:xfrm>
            <a:prstGeom prst="line">
              <a:avLst/>
            </a:prstGeom>
            <a:ln w="50800" cap="flat" cmpd="sng">
              <a:solidFill>
                <a:srgbClr val="A2C1FE"/>
              </a:solidFill>
              <a:prstDash val="solid"/>
              <a:round/>
              <a:headEnd type="none" w="med" len="med"/>
              <a:tailEnd type="none" w="med" len="med"/>
            </a:ln>
          </p:spPr>
        </p:sp>
        <p:sp>
          <p:nvSpPr>
            <p:cNvPr id="167033" name="直接连接符 558201"/>
            <p:cNvSpPr/>
            <p:nvPr/>
          </p:nvSpPr>
          <p:spPr>
            <a:xfrm>
              <a:off x="3084" y="1624"/>
              <a:ext cx="216" cy="0"/>
            </a:xfrm>
            <a:prstGeom prst="line">
              <a:avLst/>
            </a:prstGeom>
            <a:ln w="50800" cap="flat" cmpd="sng">
              <a:solidFill>
                <a:schemeClr val="hlink"/>
              </a:solidFill>
              <a:prstDash val="solid"/>
              <a:round/>
              <a:headEnd type="none" w="med" len="med"/>
              <a:tailEnd type="none" w="med" len="med"/>
            </a:ln>
          </p:spPr>
        </p:sp>
        <p:sp>
          <p:nvSpPr>
            <p:cNvPr id="167034" name="矩形 558202"/>
            <p:cNvSpPr/>
            <p:nvPr/>
          </p:nvSpPr>
          <p:spPr>
            <a:xfrm>
              <a:off x="2703" y="1599"/>
              <a:ext cx="328" cy="286"/>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40</a:t>
              </a:r>
              <a:endParaRPr lang="zh-CN" altLang="en-US" sz="2400" dirty="0">
                <a:latin typeface="Arial" panose="020B0604020202020204" pitchFamily="34" charset="0"/>
                <a:ea typeface="宋体" panose="02010600030101010101" pitchFamily="2" charset="-122"/>
              </a:endParaRPr>
            </a:p>
          </p:txBody>
        </p:sp>
        <p:sp>
          <p:nvSpPr>
            <p:cNvPr id="167035" name="矩形 558203"/>
            <p:cNvSpPr/>
            <p:nvPr/>
          </p:nvSpPr>
          <p:spPr>
            <a:xfrm>
              <a:off x="3031" y="1599"/>
              <a:ext cx="328" cy="286"/>
            </a:xfrm>
            <a:prstGeom prst="rect">
              <a:avLst/>
            </a:prstGeom>
            <a:noFill/>
            <a:ln w="12700">
              <a:noFill/>
            </a:ln>
          </p:spPr>
          <p:txBody>
            <a:bodyPr wrap="none" lIns="90488" tIns="44450" rIns="90488" bIns="44450" anchor="t" anchorCtr="0">
              <a:spAutoFit/>
            </a:bodyPr>
            <a:p>
              <a:pPr algn="ctr" eaLnBrk="0" hangingPunct="0"/>
              <a:r>
                <a:rPr lang="zh-CN" altLang="en-US" sz="2400" dirty="0">
                  <a:latin typeface="Arial" panose="020B0604020202020204" pitchFamily="34" charset="0"/>
                  <a:ea typeface="宋体" panose="02010600030101010101" pitchFamily="2" charset="-122"/>
                </a:rPr>
                <a:t>20</a:t>
              </a:r>
              <a:endParaRPr lang="zh-CN" altLang="en-US" sz="2400" dirty="0">
                <a:latin typeface="Arial" panose="020B0604020202020204" pitchFamily="34" charset="0"/>
                <a:ea typeface="宋体" panose="02010600030101010101" pitchFamily="2" charset="-122"/>
              </a:endParaRPr>
            </a:p>
          </p:txBody>
        </p:sp>
        <p:sp>
          <p:nvSpPr>
            <p:cNvPr id="167036" name="直接连接符 558204"/>
            <p:cNvSpPr/>
            <p:nvPr/>
          </p:nvSpPr>
          <p:spPr>
            <a:xfrm>
              <a:off x="3068" y="1484"/>
              <a:ext cx="0" cy="192"/>
            </a:xfrm>
            <a:prstGeom prst="line">
              <a:avLst/>
            </a:prstGeom>
            <a:ln w="12700" cap="flat" cmpd="sng">
              <a:solidFill>
                <a:schemeClr val="tx1"/>
              </a:solidFill>
              <a:prstDash val="solid"/>
              <a:round/>
              <a:headEnd type="none" w="med" len="med"/>
              <a:tailEnd type="none" w="med" len="med"/>
            </a:ln>
          </p:spPr>
        </p:sp>
        <p:sp>
          <p:nvSpPr>
            <p:cNvPr id="167037" name="直接连接符 558205"/>
            <p:cNvSpPr/>
            <p:nvPr/>
          </p:nvSpPr>
          <p:spPr>
            <a:xfrm>
              <a:off x="3324" y="1484"/>
              <a:ext cx="0" cy="192"/>
            </a:xfrm>
            <a:prstGeom prst="line">
              <a:avLst/>
            </a:prstGeom>
            <a:ln w="12700" cap="flat" cmpd="sng">
              <a:solidFill>
                <a:schemeClr val="tx1"/>
              </a:solidFill>
              <a:prstDash val="solid"/>
              <a:round/>
              <a:headEnd type="none" w="med" len="med"/>
              <a:tailEnd type="none" w="med" len="med"/>
            </a:ln>
          </p:spPr>
        </p:sp>
        <p:sp>
          <p:nvSpPr>
            <p:cNvPr id="167038" name="直接连接符 558206"/>
            <p:cNvSpPr/>
            <p:nvPr/>
          </p:nvSpPr>
          <p:spPr>
            <a:xfrm>
              <a:off x="1532" y="1560"/>
              <a:ext cx="288" cy="0"/>
            </a:xfrm>
            <a:prstGeom prst="line">
              <a:avLst/>
            </a:prstGeom>
            <a:ln w="50800" cap="flat" cmpd="sng">
              <a:solidFill>
                <a:srgbClr val="F6BF69"/>
              </a:solidFill>
              <a:prstDash val="solid"/>
              <a:round/>
              <a:headEnd type="none" w="med" len="med"/>
              <a:tailEnd type="none" w="med" len="med"/>
            </a:ln>
          </p:spPr>
        </p:sp>
        <p:sp>
          <p:nvSpPr>
            <p:cNvPr id="167039" name="直接连接符 558207"/>
            <p:cNvSpPr/>
            <p:nvPr/>
          </p:nvSpPr>
          <p:spPr>
            <a:xfrm>
              <a:off x="1940" y="1560"/>
              <a:ext cx="288" cy="0"/>
            </a:xfrm>
            <a:prstGeom prst="line">
              <a:avLst/>
            </a:prstGeom>
            <a:ln w="50800" cap="flat" cmpd="sng">
              <a:solidFill>
                <a:srgbClr val="F6BF69"/>
              </a:solidFill>
              <a:prstDash val="solid"/>
              <a:round/>
              <a:headEnd type="none" w="med" len="med"/>
              <a:tailEnd type="none" w="med" len="med"/>
            </a:ln>
          </p:spPr>
        </p:sp>
        <p:sp>
          <p:nvSpPr>
            <p:cNvPr id="167040" name="直接连接符 558208"/>
            <p:cNvSpPr/>
            <p:nvPr/>
          </p:nvSpPr>
          <p:spPr>
            <a:xfrm>
              <a:off x="2348" y="1560"/>
              <a:ext cx="288" cy="0"/>
            </a:xfrm>
            <a:prstGeom prst="line">
              <a:avLst/>
            </a:prstGeom>
            <a:ln w="50800" cap="flat" cmpd="sng">
              <a:solidFill>
                <a:srgbClr val="F6BF69"/>
              </a:solidFill>
              <a:prstDash val="solid"/>
              <a:round/>
              <a:headEnd type="none" w="med" len="med"/>
              <a:tailEnd type="none" w="med" len="med"/>
            </a:ln>
          </p:spPr>
        </p:sp>
        <p:sp>
          <p:nvSpPr>
            <p:cNvPr id="167041" name="直接连接符 558209"/>
            <p:cNvSpPr/>
            <p:nvPr/>
          </p:nvSpPr>
          <p:spPr>
            <a:xfrm>
              <a:off x="1868" y="1624"/>
              <a:ext cx="216" cy="0"/>
            </a:xfrm>
            <a:prstGeom prst="line">
              <a:avLst/>
            </a:prstGeom>
            <a:ln w="50800" cap="flat" cmpd="sng">
              <a:solidFill>
                <a:schemeClr val="hlink"/>
              </a:solidFill>
              <a:prstDash val="solid"/>
              <a:round/>
              <a:headEnd type="none" w="med" len="med"/>
              <a:tailEnd type="none" w="med" len="med"/>
            </a:ln>
          </p:spPr>
        </p:sp>
        <p:sp>
          <p:nvSpPr>
            <p:cNvPr id="167042" name="直接连接符 558210"/>
            <p:cNvSpPr/>
            <p:nvPr/>
          </p:nvSpPr>
          <p:spPr>
            <a:xfrm>
              <a:off x="2276" y="1624"/>
              <a:ext cx="216" cy="0"/>
            </a:xfrm>
            <a:prstGeom prst="line">
              <a:avLst/>
            </a:prstGeom>
            <a:ln w="50800" cap="flat" cmpd="sng">
              <a:solidFill>
                <a:schemeClr val="hlink"/>
              </a:solidFill>
              <a:prstDash val="solid"/>
              <a:round/>
              <a:headEnd type="none" w="med" len="med"/>
              <a:tailEnd type="none" w="med" len="med"/>
            </a:ln>
          </p:spPr>
        </p:sp>
        <p:sp>
          <p:nvSpPr>
            <p:cNvPr id="167043" name="直接连接符 558211"/>
            <p:cNvSpPr/>
            <p:nvPr/>
          </p:nvSpPr>
          <p:spPr>
            <a:xfrm>
              <a:off x="2684" y="1624"/>
              <a:ext cx="216" cy="0"/>
            </a:xfrm>
            <a:prstGeom prst="line">
              <a:avLst/>
            </a:prstGeom>
            <a:ln w="50800" cap="flat" cmpd="sng">
              <a:solidFill>
                <a:schemeClr val="hlink"/>
              </a:solidFill>
              <a:prstDash val="solid"/>
              <a:round/>
              <a:headEnd type="none" w="med" len="med"/>
              <a:tailEnd type="none" w="med" len="med"/>
            </a:ln>
          </p:spPr>
        </p:sp>
      </p:grpSp>
      <p:sp>
        <p:nvSpPr>
          <p:cNvPr id="558213" name="文本框 558212"/>
          <p:cNvSpPr txBox="1"/>
          <p:nvPr/>
        </p:nvSpPr>
        <p:spPr>
          <a:xfrm>
            <a:off x="5581650" y="3668713"/>
            <a:ext cx="3314700" cy="2703512"/>
          </a:xfrm>
          <a:prstGeom prst="rect">
            <a:avLst/>
          </a:prstGeom>
          <a:noFill/>
          <a:ln w="12700">
            <a:noFill/>
          </a:ln>
        </p:spPr>
        <p:txBody>
          <a:bodyPr anchor="t" anchorCtr="0">
            <a:spAutoFit/>
          </a:bodyPr>
          <a:p>
            <a:pPr eaLnBrk="0" hangingPunct="0">
              <a:spcBef>
                <a:spcPct val="20000"/>
              </a:spcBef>
            </a:pPr>
            <a:r>
              <a:rPr lang="zh-CN" altLang="en-US" sz="2200" dirty="0">
                <a:latin typeface="微软雅黑" panose="020B0503020204020204" pitchFamily="34" charset="-122"/>
                <a:ea typeface="微软雅黑" panose="020B0503020204020204" pitchFamily="34" charset="-122"/>
              </a:rPr>
              <a:t>流水线方式下，需</a:t>
            </a:r>
            <a:r>
              <a:rPr lang="en-US" altLang="zh-CN" sz="2200">
                <a:latin typeface="微软雅黑" panose="020B0503020204020204" pitchFamily="34" charset="-122"/>
                <a:ea typeface="微软雅黑" panose="020B0503020204020204" pitchFamily="34" charset="-122"/>
              </a:rPr>
              <a:t>30+4x40+20</a:t>
            </a:r>
            <a:endParaRPr lang="en-US" altLang="zh-CN" sz="2200">
              <a:latin typeface="微软雅黑" panose="020B0503020204020204" pitchFamily="34" charset="-122"/>
              <a:ea typeface="微软雅黑" panose="020B0503020204020204" pitchFamily="34" charset="-122"/>
            </a:endParaRPr>
          </a:p>
          <a:p>
            <a:pPr eaLnBrk="0" hangingPunct="0">
              <a:spcBef>
                <a:spcPct val="20000"/>
              </a:spcBef>
            </a:pPr>
            <a:r>
              <a:rPr lang="en-US" altLang="zh-CN" sz="2200">
                <a:latin typeface="微软雅黑" panose="020B0503020204020204" pitchFamily="34" charset="-122"/>
                <a:ea typeface="微软雅黑" panose="020B0503020204020204" pitchFamily="34" charset="-122"/>
              </a:rPr>
              <a:t>=210</a:t>
            </a:r>
            <a:r>
              <a:rPr lang="zh-CN" altLang="en-US" sz="2200" dirty="0">
                <a:latin typeface="微软雅黑" panose="020B0503020204020204" pitchFamily="34" charset="-122"/>
                <a:ea typeface="微软雅黑" panose="020B0503020204020204" pitchFamily="34" charset="-122"/>
              </a:rPr>
              <a:t>分</a:t>
            </a:r>
            <a:r>
              <a:rPr lang="en-US" altLang="zh-CN" sz="2200">
                <a:latin typeface="微软雅黑" panose="020B0503020204020204" pitchFamily="34" charset="-122"/>
                <a:ea typeface="微软雅黑" panose="020B0503020204020204" pitchFamily="34" charset="-122"/>
              </a:rPr>
              <a:t> (3.5</a:t>
            </a:r>
            <a:r>
              <a:rPr lang="zh-CN" altLang="en-US" sz="2200" dirty="0">
                <a:latin typeface="微软雅黑" panose="020B0503020204020204" pitchFamily="34" charset="-122"/>
                <a:ea typeface="微软雅黑" panose="020B0503020204020204" pitchFamily="34" charset="-122"/>
              </a:rPr>
              <a:t>小时</a:t>
            </a:r>
            <a:r>
              <a:rPr lang="en-US" altLang="zh-CN" sz="2200">
                <a:latin typeface="微软雅黑" panose="020B0503020204020204" pitchFamily="34" charset="-122"/>
                <a:ea typeface="微软雅黑" panose="020B0503020204020204" pitchFamily="34" charset="-122"/>
              </a:rPr>
              <a:t>)</a:t>
            </a:r>
            <a:endParaRPr lang="en-US" altLang="zh-CN" sz="2200">
              <a:latin typeface="微软雅黑" panose="020B0503020204020204" pitchFamily="34" charset="-122"/>
              <a:ea typeface="微软雅黑" panose="020B0503020204020204" pitchFamily="34" charset="-122"/>
            </a:endParaRPr>
          </a:p>
          <a:p>
            <a:pPr eaLnBrk="0" hangingPunct="0">
              <a:spcBef>
                <a:spcPct val="20000"/>
              </a:spcBef>
            </a:pPr>
            <a:r>
              <a:rPr lang="zh-CN" altLang="en-US" sz="2200" dirty="0">
                <a:solidFill>
                  <a:schemeClr val="accent2"/>
                </a:solidFill>
                <a:latin typeface="微软雅黑" panose="020B0503020204020204" pitchFamily="34" charset="-122"/>
                <a:ea typeface="微软雅黑" panose="020B0503020204020204" pitchFamily="34" charset="-122"/>
              </a:rPr>
              <a:t>如果有</a:t>
            </a:r>
            <a:r>
              <a:rPr lang="en-US" altLang="zh-CN" sz="2200">
                <a:solidFill>
                  <a:schemeClr val="accent2"/>
                </a:solidFill>
                <a:latin typeface="微软雅黑" panose="020B0503020204020204" pitchFamily="34" charset="-122"/>
                <a:ea typeface="微软雅黑" panose="020B0503020204020204" pitchFamily="34" charset="-122"/>
              </a:rPr>
              <a:t>N</a:t>
            </a:r>
            <a:r>
              <a:rPr lang="zh-CN" altLang="en-US" sz="2200" dirty="0">
                <a:solidFill>
                  <a:schemeClr val="accent2"/>
                </a:solidFill>
                <a:latin typeface="微软雅黑" panose="020B0503020204020204" pitchFamily="34" charset="-122"/>
                <a:ea typeface="微软雅黑" panose="020B0503020204020204" pitchFamily="34" charset="-122"/>
              </a:rPr>
              <a:t>批衣服呢？</a:t>
            </a:r>
            <a:endParaRPr lang="zh-CN" altLang="en-US" sz="2200" dirty="0">
              <a:solidFill>
                <a:schemeClr val="accent2"/>
              </a:solidFill>
              <a:latin typeface="微软雅黑" panose="020B0503020204020204" pitchFamily="34" charset="-122"/>
              <a:ea typeface="微软雅黑" panose="020B0503020204020204" pitchFamily="34" charset="-122"/>
            </a:endParaRPr>
          </a:p>
          <a:p>
            <a:pPr eaLnBrk="0" hangingPunct="0">
              <a:spcBef>
                <a:spcPct val="20000"/>
              </a:spcBef>
            </a:pPr>
            <a:r>
              <a:rPr lang="en-US" altLang="zh-CN" sz="2200">
                <a:solidFill>
                  <a:schemeClr val="accent2"/>
                </a:solidFill>
                <a:latin typeface="微软雅黑" panose="020B0503020204020204" pitchFamily="34" charset="-122"/>
                <a:ea typeface="微软雅黑" panose="020B0503020204020204" pitchFamily="34" charset="-122"/>
              </a:rPr>
              <a:t>30+Nx40+20</a:t>
            </a:r>
            <a:r>
              <a:rPr lang="zh-CN" altLang="en-US" sz="2200" dirty="0">
                <a:solidFill>
                  <a:schemeClr val="accent2"/>
                </a:solidFill>
                <a:latin typeface="微软雅黑" panose="020B0503020204020204" pitchFamily="34" charset="-122"/>
                <a:ea typeface="微软雅黑" panose="020B0503020204020204" pitchFamily="34" charset="-122"/>
              </a:rPr>
              <a:t>分钟</a:t>
            </a:r>
            <a:endParaRPr lang="zh-CN" altLang="en-US" sz="2200" dirty="0">
              <a:solidFill>
                <a:schemeClr val="accent2"/>
              </a:solidFill>
              <a:latin typeface="微软雅黑" panose="020B0503020204020204" pitchFamily="34" charset="-122"/>
              <a:ea typeface="微软雅黑" panose="020B0503020204020204" pitchFamily="34" charset="-122"/>
            </a:endParaRPr>
          </a:p>
          <a:p>
            <a:pPr eaLnBrk="0" hangingPunct="0">
              <a:spcBef>
                <a:spcPct val="20000"/>
              </a:spcBef>
            </a:pPr>
            <a:r>
              <a:rPr lang="zh-CN" altLang="en-US" sz="2200" dirty="0">
                <a:solidFill>
                  <a:schemeClr val="accent2"/>
                </a:solidFill>
                <a:latin typeface="微软雅黑" panose="020B0503020204020204" pitchFamily="34" charset="-122"/>
                <a:ea typeface="微软雅黑" panose="020B0503020204020204" pitchFamily="34" charset="-122"/>
              </a:rPr>
              <a:t>假定每一步时间均衡，则比串行方式提高约</a:t>
            </a:r>
            <a:r>
              <a:rPr lang="en-US" altLang="zh-CN" sz="2200">
                <a:solidFill>
                  <a:schemeClr val="accent2"/>
                </a:solidFill>
                <a:latin typeface="微软雅黑" panose="020B0503020204020204" pitchFamily="34" charset="-122"/>
                <a:ea typeface="微软雅黑" panose="020B0503020204020204" pitchFamily="34" charset="-122"/>
              </a:rPr>
              <a:t>3</a:t>
            </a:r>
            <a:r>
              <a:rPr lang="zh-CN" altLang="en-US" sz="2200" dirty="0">
                <a:solidFill>
                  <a:schemeClr val="accent2"/>
                </a:solidFill>
                <a:latin typeface="微软雅黑" panose="020B0503020204020204" pitchFamily="34" charset="-122"/>
                <a:ea typeface="微软雅黑" panose="020B0503020204020204" pitchFamily="34" charset="-122"/>
              </a:rPr>
              <a:t>倍！</a:t>
            </a:r>
            <a:endParaRPr lang="en-US" altLang="zh-CN" sz="2200">
              <a:solidFill>
                <a:schemeClr val="accent2"/>
              </a:solidFill>
              <a:latin typeface="Arial" panose="020B0604020202020204" pitchFamily="34" charset="0"/>
              <a:ea typeface="宋体" panose="02010600030101010101" pitchFamily="2" charset="-122"/>
            </a:endParaRPr>
          </a:p>
        </p:txBody>
      </p:sp>
      <p:sp>
        <p:nvSpPr>
          <p:cNvPr id="558214" name="文本框 558213"/>
          <p:cNvSpPr txBox="1"/>
          <p:nvPr/>
        </p:nvSpPr>
        <p:spPr>
          <a:xfrm>
            <a:off x="784225" y="5556250"/>
            <a:ext cx="3602038" cy="762000"/>
          </a:xfrm>
          <a:prstGeom prst="rect">
            <a:avLst/>
          </a:prstGeom>
          <a:noFill/>
          <a:ln w="12700">
            <a:noFill/>
          </a:ln>
        </p:spPr>
        <p:txBody>
          <a:bodyPr anchor="t" anchorCtr="0">
            <a:spAutoFit/>
          </a:bodyPr>
          <a:p>
            <a:pPr eaLnBrk="0" hangingPunct="0">
              <a:spcBef>
                <a:spcPct val="50000"/>
              </a:spcBef>
            </a:pPr>
            <a:r>
              <a:rPr lang="zh-CN" altLang="en-US" sz="2200" dirty="0">
                <a:latin typeface="Times New Roman" panose="02020603050405020304" pitchFamily="18" charset="0"/>
                <a:ea typeface="微软雅黑" panose="020B0503020204020204" pitchFamily="34" charset="-122"/>
              </a:rPr>
              <a:t>流水方式下，所用时间主要与最长阶段的时间有关！</a:t>
            </a:r>
            <a:endParaRPr lang="en-US" altLang="zh-CN" sz="2200">
              <a:latin typeface="Times New Roman" panose="02020603050405020304" pitchFamily="18" charset="0"/>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8083">
                                            <p:txEl>
                                              <p:charRg st="0" end="14"/>
                                            </p:txEl>
                                          </p:spTgt>
                                        </p:tgtEl>
                                        <p:attrNameLst>
                                          <p:attrName>style.visibility</p:attrName>
                                        </p:attrNameLst>
                                      </p:cBhvr>
                                      <p:to>
                                        <p:strVal val="visible"/>
                                      </p:to>
                                    </p:set>
                                    <p:animEffect transition="in" filter="blinds(horizontal)">
                                      <p:cBhvr>
                                        <p:cTn id="7" dur="500"/>
                                        <p:tgtEl>
                                          <p:spTgt spid="558083">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8083">
                                            <p:txEl>
                                              <p:charRg st="14" end="25"/>
                                            </p:txEl>
                                          </p:spTgt>
                                        </p:tgtEl>
                                        <p:attrNameLst>
                                          <p:attrName>style.visibility</p:attrName>
                                        </p:attrNameLst>
                                      </p:cBhvr>
                                      <p:to>
                                        <p:strVal val="visible"/>
                                      </p:to>
                                    </p:set>
                                    <p:animEffect transition="in" filter="blinds(horizontal)">
                                      <p:cBhvr>
                                        <p:cTn id="12" dur="500"/>
                                        <p:tgtEl>
                                          <p:spTgt spid="558083">
                                            <p:txEl>
                                              <p:charRg st="14"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58213">
                                            <p:txEl>
                                              <p:charRg st="0" end="19"/>
                                            </p:txEl>
                                          </p:spTgt>
                                        </p:tgtEl>
                                        <p:attrNameLst>
                                          <p:attrName>style.visibility</p:attrName>
                                        </p:attrNameLst>
                                      </p:cBhvr>
                                      <p:to>
                                        <p:strVal val="visible"/>
                                      </p:to>
                                    </p:set>
                                    <p:animEffect transition="in" filter="blinds(horizontal)">
                                      <p:cBhvr>
                                        <p:cTn id="17" dur="500"/>
                                        <p:tgtEl>
                                          <p:spTgt spid="558213">
                                            <p:txEl>
                                              <p:charRg st="0" end="1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58213">
                                            <p:txEl>
                                              <p:charRg st="19" end="33"/>
                                            </p:txEl>
                                          </p:spTgt>
                                        </p:tgtEl>
                                        <p:attrNameLst>
                                          <p:attrName>style.visibility</p:attrName>
                                        </p:attrNameLst>
                                      </p:cBhvr>
                                      <p:to>
                                        <p:strVal val="visible"/>
                                      </p:to>
                                    </p:set>
                                    <p:animEffect transition="in" filter="blinds(horizontal)">
                                      <p:cBhvr>
                                        <p:cTn id="22" dur="500"/>
                                        <p:tgtEl>
                                          <p:spTgt spid="558213">
                                            <p:txEl>
                                              <p:charRg st="19" end="3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58213">
                                            <p:txEl>
                                              <p:charRg st="33" end="43"/>
                                            </p:txEl>
                                          </p:spTgt>
                                        </p:tgtEl>
                                        <p:attrNameLst>
                                          <p:attrName>style.visibility</p:attrName>
                                        </p:attrNameLst>
                                      </p:cBhvr>
                                      <p:to>
                                        <p:strVal val="visible"/>
                                      </p:to>
                                    </p:set>
                                    <p:animEffect transition="in" filter="blinds(horizontal)">
                                      <p:cBhvr>
                                        <p:cTn id="27" dur="500"/>
                                        <p:tgtEl>
                                          <p:spTgt spid="558213">
                                            <p:txEl>
                                              <p:charRg st="33" end="4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58213">
                                            <p:txEl>
                                              <p:charRg st="43" end="56"/>
                                            </p:txEl>
                                          </p:spTgt>
                                        </p:tgtEl>
                                        <p:attrNameLst>
                                          <p:attrName>style.visibility</p:attrName>
                                        </p:attrNameLst>
                                      </p:cBhvr>
                                      <p:to>
                                        <p:strVal val="visible"/>
                                      </p:to>
                                    </p:set>
                                    <p:animEffect transition="in" filter="blinds(horizontal)">
                                      <p:cBhvr>
                                        <p:cTn id="32" dur="500"/>
                                        <p:tgtEl>
                                          <p:spTgt spid="558213">
                                            <p:txEl>
                                              <p:charRg st="43" end="5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58213">
                                            <p:txEl>
                                              <p:charRg st="56" end="79"/>
                                            </p:txEl>
                                          </p:spTgt>
                                        </p:tgtEl>
                                        <p:attrNameLst>
                                          <p:attrName>style.visibility</p:attrName>
                                        </p:attrNameLst>
                                      </p:cBhvr>
                                      <p:to>
                                        <p:strVal val="visible"/>
                                      </p:to>
                                    </p:set>
                                    <p:animEffect transition="in" filter="blinds(horizontal)">
                                      <p:cBhvr>
                                        <p:cTn id="37" dur="500"/>
                                        <p:tgtEl>
                                          <p:spTgt spid="558213">
                                            <p:txEl>
                                              <p:charRg st="56" end="7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58214">
                                            <p:txEl>
                                              <p:charRg st="0" end="24"/>
                                            </p:txEl>
                                          </p:spTgt>
                                        </p:tgtEl>
                                        <p:attrNameLst>
                                          <p:attrName>style.visibility</p:attrName>
                                        </p:attrNameLst>
                                      </p:cBhvr>
                                      <p:to>
                                        <p:strVal val="visible"/>
                                      </p:to>
                                    </p:set>
                                    <p:animEffect transition="in" filter="blinds(horizontal)">
                                      <p:cBhvr>
                                        <p:cTn id="42" dur="500"/>
                                        <p:tgtEl>
                                          <p:spTgt spid="558214">
                                            <p:txEl>
                                              <p:charRg st="0" end="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7" name="标题 551937"/>
          <p:cNvSpPr>
            <a:spLocks noGrp="1"/>
          </p:cNvSpPr>
          <p:nvPr>
            <p:ph type="title"/>
          </p:nvPr>
        </p:nvSpPr>
        <p:spPr>
          <a:ln/>
        </p:spPr>
        <p:txBody>
          <a:bodyPr lIns="63500" tIns="25400" rIns="63500" bIns="25400" anchor="t" anchorCtr="0">
            <a:spAutoFit/>
          </a:bodyPr>
          <a:p>
            <a:r>
              <a:rPr lang="zh-CN" altLang="en-US" dirty="0"/>
              <a:t>指令流水线的基本概念</a:t>
            </a:r>
            <a:endParaRPr lang="zh-CN" altLang="en-US" dirty="0"/>
          </a:p>
        </p:txBody>
      </p:sp>
      <p:sp>
        <p:nvSpPr>
          <p:cNvPr id="167938" name="文本占位符 551938"/>
          <p:cNvSpPr>
            <a:spLocks noGrp="1"/>
          </p:cNvSpPr>
          <p:nvPr>
            <p:ph idx="1"/>
          </p:nvPr>
        </p:nvSpPr>
        <p:spPr>
          <a:xfrm>
            <a:off x="365125" y="804863"/>
            <a:ext cx="8191500" cy="2482850"/>
          </a:xfrm>
          <a:ln/>
        </p:spPr>
        <p:txBody>
          <a:bodyPr lIns="63500" tIns="25400" rIns="63500" bIns="25400" anchor="t" anchorCtr="0">
            <a:spAutoFit/>
          </a:bodyPr>
          <a:p>
            <a:r>
              <a:rPr lang="zh-CN" altLang="en-US" sz="2200" dirty="0">
                <a:solidFill>
                  <a:schemeClr val="accent1"/>
                </a:solidFill>
                <a:latin typeface="微软雅黑" panose="020B0503020204020204" pitchFamily="34" charset="-122"/>
                <a:ea typeface="微软雅黑" panose="020B0503020204020204" pitchFamily="34" charset="-122"/>
              </a:rPr>
              <a:t>五段流水线</a:t>
            </a:r>
            <a:endParaRPr lang="zh-CN" altLang="en-US" sz="2200" dirty="0">
              <a:solidFill>
                <a:schemeClr val="accent1"/>
              </a:solidFill>
              <a:latin typeface="微软雅黑" panose="020B0503020204020204" pitchFamily="34" charset="-122"/>
              <a:ea typeface="微软雅黑" panose="020B0503020204020204" pitchFamily="34" charset="-122"/>
            </a:endParaRPr>
          </a:p>
          <a:p>
            <a:pPr>
              <a:buNone/>
            </a:pPr>
            <a:r>
              <a:rPr lang="zh-CN" altLang="en-US" sz="22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取指令</a:t>
            </a:r>
            <a:r>
              <a:rPr lang="en-US" altLang="zh-CN" sz="2000">
                <a:solidFill>
                  <a:schemeClr val="accent2"/>
                </a:solidFill>
                <a:latin typeface="微软雅黑" panose="020B0503020204020204" pitchFamily="34" charset="-122"/>
                <a:ea typeface="微软雅黑" panose="020B0503020204020204" pitchFamily="34" charset="-122"/>
              </a:rPr>
              <a:t>(IF)</a:t>
            </a:r>
            <a:r>
              <a:rPr lang="zh-CN" altLang="en-US" sz="2000" dirty="0">
                <a:latin typeface="微软雅黑" panose="020B0503020204020204" pitchFamily="34" charset="-122"/>
                <a:ea typeface="微软雅黑" panose="020B0503020204020204" pitchFamily="34" charset="-122"/>
              </a:rPr>
              <a:t>：根据</a:t>
            </a:r>
            <a:r>
              <a:rPr lang="en-US" altLang="zh-CN" sz="2000">
                <a:latin typeface="微软雅黑" panose="020B0503020204020204" pitchFamily="34" charset="-122"/>
                <a:ea typeface="微软雅黑" panose="020B0503020204020204" pitchFamily="34" charset="-122"/>
              </a:rPr>
              <a:t>PC</a:t>
            </a:r>
            <a:r>
              <a:rPr lang="zh-CN" altLang="en-US" sz="2000" dirty="0">
                <a:latin typeface="微软雅黑" panose="020B0503020204020204" pitchFamily="34" charset="-122"/>
                <a:ea typeface="微软雅黑" panose="020B0503020204020204" pitchFamily="34" charset="-122"/>
              </a:rPr>
              <a:t>的值从存储器取出指令。</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指令译码</a:t>
            </a:r>
            <a:r>
              <a:rPr lang="en-US" altLang="zh-CN" sz="2000">
                <a:solidFill>
                  <a:schemeClr val="accent2"/>
                </a:solidFill>
                <a:latin typeface="微软雅黑" panose="020B0503020204020204" pitchFamily="34" charset="-122"/>
                <a:ea typeface="微软雅黑" panose="020B0503020204020204" pitchFamily="34" charset="-122"/>
              </a:rPr>
              <a:t>(ID)</a:t>
            </a:r>
            <a:r>
              <a:rPr lang="zh-CN" altLang="en-US" sz="2000" dirty="0">
                <a:latin typeface="微软雅黑" panose="020B0503020204020204" pitchFamily="34" charset="-122"/>
                <a:ea typeface="微软雅黑" panose="020B0503020204020204" pitchFamily="34" charset="-122"/>
              </a:rPr>
              <a:t>：产生指令执行所需的控制信号。</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取操作数</a:t>
            </a:r>
            <a:r>
              <a:rPr lang="en-US" altLang="zh-CN" sz="2000">
                <a:solidFill>
                  <a:schemeClr val="accent2"/>
                </a:solidFill>
                <a:latin typeface="微软雅黑" panose="020B0503020204020204" pitchFamily="34" charset="-122"/>
                <a:ea typeface="微软雅黑" panose="020B0503020204020204" pitchFamily="34" charset="-122"/>
              </a:rPr>
              <a:t>(OF)</a:t>
            </a:r>
            <a:r>
              <a:rPr lang="zh-CN" altLang="en-US" sz="2000" dirty="0">
                <a:latin typeface="微软雅黑" panose="020B0503020204020204" pitchFamily="34" charset="-122"/>
                <a:ea typeface="微软雅黑" panose="020B0503020204020204" pitchFamily="34" charset="-122"/>
              </a:rPr>
              <a:t>：读取存储器操作数或寄存器操作数。</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执行</a:t>
            </a:r>
            <a:r>
              <a:rPr lang="en-US" altLang="zh-CN" sz="2000">
                <a:solidFill>
                  <a:schemeClr val="accent2"/>
                </a:solidFill>
                <a:latin typeface="微软雅黑" panose="020B0503020204020204" pitchFamily="34" charset="-122"/>
                <a:ea typeface="微软雅黑" panose="020B0503020204020204" pitchFamily="34" charset="-122"/>
              </a:rPr>
              <a:t>(EX)</a:t>
            </a:r>
            <a:r>
              <a:rPr lang="zh-CN" altLang="en-US" sz="2000" dirty="0">
                <a:latin typeface="微软雅黑" panose="020B0503020204020204" pitchFamily="34" charset="-122"/>
                <a:ea typeface="微软雅黑" panose="020B0503020204020204" pitchFamily="34" charset="-122"/>
              </a:rPr>
              <a:t>：对操作数完成指定操作。</a:t>
            </a:r>
            <a:endParaRPr lang="zh-CN" altLang="en-US" sz="2000" dirty="0">
              <a:latin typeface="微软雅黑" panose="020B0503020204020204" pitchFamily="34" charset="-122"/>
              <a:ea typeface="微软雅黑" panose="020B0503020204020204" pitchFamily="34" charset="-122"/>
            </a:endParaRPr>
          </a:p>
          <a:p>
            <a:pPr>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写回</a:t>
            </a:r>
            <a:r>
              <a:rPr lang="en-US" altLang="zh-CN" sz="2000">
                <a:solidFill>
                  <a:schemeClr val="accent2"/>
                </a:solidFill>
                <a:latin typeface="微软雅黑" panose="020B0503020204020204" pitchFamily="34" charset="-122"/>
                <a:ea typeface="微软雅黑" panose="020B0503020204020204" pitchFamily="34" charset="-122"/>
              </a:rPr>
              <a:t>(WB)</a:t>
            </a:r>
            <a:r>
              <a:rPr lang="zh-CN" altLang="en-US" sz="2000" dirty="0">
                <a:latin typeface="微软雅黑" panose="020B0503020204020204" pitchFamily="34" charset="-122"/>
                <a:ea typeface="微软雅黑" panose="020B0503020204020204" pitchFamily="34" charset="-122"/>
              </a:rPr>
              <a:t>：将操作结果写入存储器或寄存器。</a:t>
            </a:r>
            <a:endParaRPr lang="zh-CN" altLang="en-US" sz="2000" dirty="0">
              <a:latin typeface="微软雅黑" panose="020B0503020204020204" pitchFamily="34" charset="-122"/>
              <a:ea typeface="微软雅黑" panose="020B0503020204020204" pitchFamily="34" charset="-122"/>
            </a:endParaRPr>
          </a:p>
        </p:txBody>
      </p:sp>
      <p:pic>
        <p:nvPicPr>
          <p:cNvPr id="167939" name="图片 551939"/>
          <p:cNvPicPr>
            <a:picLocks noChangeAspect="1"/>
          </p:cNvPicPr>
          <p:nvPr/>
        </p:nvPicPr>
        <p:blipFill>
          <a:blip r:embed="rId1"/>
          <a:stretch>
            <a:fillRect/>
          </a:stretch>
        </p:blipFill>
        <p:spPr>
          <a:xfrm>
            <a:off x="0" y="3454400"/>
            <a:ext cx="8853488" cy="3403600"/>
          </a:xfrm>
          <a:prstGeom prst="rect">
            <a:avLst/>
          </a:prstGeom>
          <a:noFill/>
          <a:ln w="9525">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52969" name="图片 552968"/>
          <p:cNvPicPr>
            <a:picLocks noChangeAspect="1"/>
          </p:cNvPicPr>
          <p:nvPr/>
        </p:nvPicPr>
        <p:blipFill>
          <a:blip r:embed="rId1"/>
          <a:stretch>
            <a:fillRect/>
          </a:stretch>
        </p:blipFill>
        <p:spPr>
          <a:xfrm>
            <a:off x="128588" y="2395538"/>
            <a:ext cx="8782050" cy="4271962"/>
          </a:xfrm>
          <a:prstGeom prst="rect">
            <a:avLst/>
          </a:prstGeom>
          <a:noFill/>
          <a:ln w="9525">
            <a:noFill/>
          </a:ln>
        </p:spPr>
      </p:pic>
      <p:sp>
        <p:nvSpPr>
          <p:cNvPr id="168962" name="标题 552961"/>
          <p:cNvSpPr>
            <a:spLocks noGrp="1"/>
          </p:cNvSpPr>
          <p:nvPr>
            <p:ph type="title"/>
          </p:nvPr>
        </p:nvSpPr>
        <p:spPr>
          <a:ln/>
        </p:spPr>
        <p:txBody>
          <a:bodyPr lIns="63500" tIns="25400" rIns="63500" bIns="25400" anchor="t" anchorCtr="0">
            <a:spAutoFit/>
          </a:bodyPr>
          <a:p>
            <a:r>
              <a:rPr lang="zh-CN" altLang="en-US" dirty="0"/>
              <a:t>单周期数据通路中指令的执行</a:t>
            </a:r>
            <a:endParaRPr lang="zh-CN" altLang="en-US" dirty="0"/>
          </a:p>
        </p:txBody>
      </p:sp>
      <p:sp>
        <p:nvSpPr>
          <p:cNvPr id="552963" name="内容占位符 552962"/>
          <p:cNvSpPr>
            <a:spLocks noGrp="1"/>
          </p:cNvSpPr>
          <p:nvPr>
            <p:ph idx="1"/>
          </p:nvPr>
        </p:nvSpPr>
        <p:spPr>
          <a:xfrm>
            <a:off x="290513" y="817563"/>
            <a:ext cx="8597900" cy="781050"/>
          </a:xfrm>
          <a:ln/>
        </p:spPr>
        <p:txBody>
          <a:bodyPr wrap="square" lIns="63500" tIns="25400" rIns="63500" bIns="25400" anchor="t" anchorCtr="0">
            <a:spAutoFit/>
          </a:bodyPr>
          <a:p>
            <a:pPr>
              <a:lnSpc>
                <a:spcPct val="120000"/>
              </a:lnSpc>
              <a:buNone/>
            </a:pPr>
            <a:r>
              <a:rPr lang="zh-CN" altLang="en-US" sz="2000" dirty="0">
                <a:latin typeface="微软雅黑" panose="020B0503020204020204" pitchFamily="34" charset="-122"/>
                <a:ea typeface="微软雅黑" panose="020B0503020204020204" pitchFamily="34" charset="-122"/>
              </a:rPr>
              <a:t>假定：最复杂指令执行过程 ① 取指：</a:t>
            </a:r>
            <a:r>
              <a:rPr lang="en-US" altLang="zh-CN" sz="2000">
                <a:latin typeface="微软雅黑" panose="020B0503020204020204" pitchFamily="34" charset="-122"/>
                <a:ea typeface="微软雅黑" panose="020B0503020204020204" pitchFamily="34" charset="-122"/>
              </a:rPr>
              <a:t>200ps</a:t>
            </a:r>
            <a:r>
              <a:rPr lang="zh-CN" altLang="en-US" sz="2000" dirty="0">
                <a:latin typeface="微软雅黑" panose="020B0503020204020204" pitchFamily="34" charset="-122"/>
                <a:ea typeface="微软雅黑" panose="020B0503020204020204" pitchFamily="34" charset="-122"/>
              </a:rPr>
              <a:t>；②译码和读操作数：</a:t>
            </a:r>
            <a:r>
              <a:rPr lang="en-US" altLang="zh-CN" sz="2000">
                <a:latin typeface="微软雅黑" panose="020B0503020204020204" pitchFamily="34" charset="-122"/>
                <a:ea typeface="微软雅黑" panose="020B0503020204020204" pitchFamily="34" charset="-122"/>
              </a:rPr>
              <a:t>50ps</a:t>
            </a:r>
            <a:r>
              <a:rPr lang="zh-CN" altLang="en-US" sz="2000" dirty="0">
                <a:latin typeface="微软雅黑" panose="020B0503020204020204" pitchFamily="34" charset="-122"/>
                <a:ea typeface="微软雅黑" panose="020B0503020204020204" pitchFamily="34" charset="-122"/>
              </a:rPr>
              <a:t>；③</a:t>
            </a:r>
            <a:r>
              <a:rPr lang="en-US" altLang="zh-CN" sz="200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操作：</a:t>
            </a:r>
            <a:r>
              <a:rPr lang="en-US" altLang="zh-CN" sz="2000">
                <a:latin typeface="微软雅黑" panose="020B0503020204020204" pitchFamily="34" charset="-122"/>
                <a:ea typeface="微软雅黑" panose="020B0503020204020204" pitchFamily="34" charset="-122"/>
              </a:rPr>
              <a:t>100ps</a:t>
            </a:r>
            <a:r>
              <a:rPr lang="zh-CN" altLang="en-US" sz="2000" dirty="0">
                <a:latin typeface="微软雅黑" panose="020B0503020204020204" pitchFamily="34" charset="-122"/>
                <a:ea typeface="微软雅黑" panose="020B0503020204020204" pitchFamily="34" charset="-122"/>
              </a:rPr>
              <a:t>；④读存储器：</a:t>
            </a:r>
            <a:r>
              <a:rPr lang="en-US" altLang="zh-CN" sz="2000">
                <a:latin typeface="微软雅黑" panose="020B0503020204020204" pitchFamily="34" charset="-122"/>
                <a:ea typeface="微软雅黑" panose="020B0503020204020204" pitchFamily="34" charset="-122"/>
              </a:rPr>
              <a:t>200ps</a:t>
            </a:r>
            <a:r>
              <a:rPr lang="zh-CN" altLang="en-US" sz="2000" dirty="0">
                <a:latin typeface="微软雅黑" panose="020B0503020204020204" pitchFamily="34" charset="-122"/>
                <a:ea typeface="微软雅黑" panose="020B0503020204020204" pitchFamily="34" charset="-122"/>
              </a:rPr>
              <a:t>；⑤结果写寄存器：</a:t>
            </a:r>
            <a:r>
              <a:rPr lang="en-US" altLang="zh-CN" sz="2000">
                <a:latin typeface="微软雅黑" panose="020B0503020204020204" pitchFamily="34" charset="-122"/>
                <a:ea typeface="微软雅黑" panose="020B0503020204020204" pitchFamily="34" charset="-122"/>
              </a:rPr>
              <a:t>50ps</a:t>
            </a:r>
            <a:r>
              <a:rPr lang="zh-CN" altLang="en-US" sz="2000" dirty="0">
                <a:latin typeface="微软雅黑" panose="020B0503020204020204" pitchFamily="34" charset="-122"/>
                <a:ea typeface="微软雅黑" panose="020B0503020204020204" pitchFamily="34" charset="-122"/>
              </a:rPr>
              <a:t>。</a:t>
            </a:r>
            <a:r>
              <a:rPr lang="zh-CN" altLang="en-US" dirty="0">
                <a:ea typeface="宋体" panose="02010600030101010101" pitchFamily="2" charset="-122"/>
              </a:rPr>
              <a:t> </a:t>
            </a:r>
            <a:endParaRPr lang="zh-CN" altLang="en-US" dirty="0">
              <a:ea typeface="宋体" panose="02010600030101010101" pitchFamily="2" charset="-122"/>
            </a:endParaRPr>
          </a:p>
        </p:txBody>
      </p:sp>
      <p:sp>
        <p:nvSpPr>
          <p:cNvPr id="552966" name="文本框 552965"/>
          <p:cNvSpPr txBox="1"/>
          <p:nvPr/>
        </p:nvSpPr>
        <p:spPr>
          <a:xfrm>
            <a:off x="347663" y="1844675"/>
            <a:ext cx="3962400" cy="427038"/>
          </a:xfrm>
          <a:prstGeom prst="rect">
            <a:avLst/>
          </a:prstGeom>
          <a:noFill/>
          <a:ln w="50800">
            <a:noFill/>
          </a:ln>
        </p:spPr>
        <p:txBody>
          <a:bodyPr anchor="t" anchorCtr="0">
            <a:spAutoFit/>
          </a:bodyPr>
          <a:p>
            <a:pPr eaLnBrk="0" hangingPunct="0">
              <a:spcBef>
                <a:spcPct val="50000"/>
              </a:spcBef>
            </a:pPr>
            <a:r>
              <a:rPr lang="en-US" altLang="zh-CN" sz="2200">
                <a:solidFill>
                  <a:schemeClr val="accent1"/>
                </a:solidFill>
                <a:latin typeface="微软雅黑" panose="020B0503020204020204" pitchFamily="34" charset="-122"/>
                <a:ea typeface="微软雅黑" panose="020B0503020204020204" pitchFamily="34" charset="-122"/>
              </a:rPr>
              <a:t>200+50+100+200=550</a:t>
            </a:r>
            <a:endParaRPr lang="en-US" altLang="zh-CN" sz="2200">
              <a:solidFill>
                <a:schemeClr val="accent1"/>
              </a:solidFill>
              <a:latin typeface="微软雅黑" panose="020B0503020204020204" pitchFamily="34" charset="-122"/>
              <a:ea typeface="微软雅黑" panose="020B0503020204020204" pitchFamily="34" charset="-122"/>
            </a:endParaRPr>
          </a:p>
        </p:txBody>
      </p:sp>
      <p:sp>
        <p:nvSpPr>
          <p:cNvPr id="552967" name="文本框 552966"/>
          <p:cNvSpPr txBox="1"/>
          <p:nvPr/>
        </p:nvSpPr>
        <p:spPr>
          <a:xfrm>
            <a:off x="3951288" y="1900238"/>
            <a:ext cx="5049837" cy="701675"/>
          </a:xfrm>
          <a:prstGeom prst="rect">
            <a:avLst/>
          </a:prstGeom>
          <a:noFill/>
          <a:ln w="50800">
            <a:noFill/>
          </a:ln>
        </p:spPr>
        <p:txBody>
          <a:bodyPr anchor="t" anchorCtr="0">
            <a:spAutoFit/>
          </a:bodyPr>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单周期：每条指令在单个时钟周期内完成，故</a:t>
            </a:r>
            <a:r>
              <a:rPr lang="en-US" altLang="zh-CN" sz="2000">
                <a:solidFill>
                  <a:schemeClr val="accent2"/>
                </a:solidFill>
                <a:latin typeface="微软雅黑" panose="020B0503020204020204" pitchFamily="34" charset="-122"/>
                <a:ea typeface="微软雅黑" panose="020B0503020204020204" pitchFamily="34" charset="-122"/>
              </a:rPr>
              <a:t>CPI=1</a:t>
            </a:r>
            <a:r>
              <a:rPr lang="zh-CN" altLang="en-US" sz="2000" dirty="0">
                <a:solidFill>
                  <a:schemeClr val="accent2"/>
                </a:solidFill>
                <a:latin typeface="微软雅黑" panose="020B0503020204020204" pitchFamily="34" charset="-122"/>
                <a:ea typeface="微软雅黑" panose="020B0503020204020204" pitchFamily="34" charset="-122"/>
              </a:rPr>
              <a:t>，时钟周期</a:t>
            </a:r>
            <a:r>
              <a:rPr lang="en-US" altLang="zh-CN" sz="2000">
                <a:solidFill>
                  <a:schemeClr val="accent2"/>
                </a:solidFill>
                <a:latin typeface="微软雅黑" panose="020B0503020204020204" pitchFamily="34" charset="-122"/>
                <a:ea typeface="微软雅黑" panose="020B0503020204020204" pitchFamily="34" charset="-122"/>
              </a:rPr>
              <a:t>=600ps</a:t>
            </a:r>
            <a:endParaRPr lang="en-US" altLang="zh-CN" sz="2000">
              <a:solidFill>
                <a:schemeClr val="accent2"/>
              </a:solidFill>
              <a:latin typeface="微软雅黑" panose="020B0503020204020204" pitchFamily="34" charset="-122"/>
              <a:ea typeface="微软雅黑" panose="020B0503020204020204" pitchFamily="34" charset="-122"/>
            </a:endParaRPr>
          </a:p>
        </p:txBody>
      </p:sp>
      <p:sp>
        <p:nvSpPr>
          <p:cNvPr id="552968" name="文本框 552967"/>
          <p:cNvSpPr txBox="1"/>
          <p:nvPr/>
        </p:nvSpPr>
        <p:spPr>
          <a:xfrm>
            <a:off x="3643313" y="3584575"/>
            <a:ext cx="5137150" cy="717550"/>
          </a:xfrm>
          <a:prstGeom prst="rect">
            <a:avLst/>
          </a:prstGeom>
          <a:noFill/>
          <a:ln w="50800">
            <a:noFill/>
          </a:ln>
        </p:spPr>
        <p:txBody>
          <a:bodyPr anchor="t" anchorCtr="0">
            <a:spAutoFit/>
          </a:bodyPr>
          <a:p>
            <a:pPr eaLnBrk="0" hangingPunct="0">
              <a:spcBef>
                <a:spcPct val="50000"/>
              </a:spcBef>
            </a:pPr>
            <a:r>
              <a:rPr lang="zh-CN" altLang="en-US" sz="2000" dirty="0">
                <a:solidFill>
                  <a:schemeClr val="accent1"/>
                </a:solidFill>
                <a:latin typeface="微软雅黑" panose="020B0503020204020204" pitchFamily="34" charset="-122"/>
                <a:ea typeface="微软雅黑" panose="020B0503020204020204" pitchFamily="34" charset="-122"/>
              </a:rPr>
              <a:t>每秒执行指令条数：</a:t>
            </a:r>
            <a:endParaRPr lang="zh-CN" altLang="en-US" sz="2000" dirty="0">
              <a:solidFill>
                <a:schemeClr val="accent1"/>
              </a:solidFill>
              <a:latin typeface="微软雅黑" panose="020B0503020204020204" pitchFamily="34" charset="-122"/>
              <a:ea typeface="微软雅黑" panose="020B0503020204020204" pitchFamily="34" charset="-122"/>
            </a:endParaRPr>
          </a:p>
          <a:p>
            <a:pPr eaLnBrk="0" hangingPunct="0">
              <a:spcBef>
                <a:spcPct val="5000"/>
              </a:spcBef>
            </a:pPr>
            <a:r>
              <a:rPr lang="en-US" altLang="zh-CN" sz="2000">
                <a:solidFill>
                  <a:schemeClr val="accent1"/>
                </a:solidFill>
                <a:latin typeface="微软雅黑" panose="020B0503020204020204" pitchFamily="34" charset="-122"/>
                <a:ea typeface="微软雅黑" panose="020B0503020204020204" pitchFamily="34" charset="-122"/>
              </a:rPr>
              <a:t>1/600ps=1/(600×10</a:t>
            </a:r>
            <a:r>
              <a:rPr lang="en-US" altLang="zh-CN" sz="2000" baseline="30000">
                <a:solidFill>
                  <a:schemeClr val="accent1"/>
                </a:solidFill>
                <a:latin typeface="微软雅黑" panose="020B0503020204020204" pitchFamily="34" charset="-122"/>
                <a:ea typeface="微软雅黑" panose="020B0503020204020204" pitchFamily="34" charset="-122"/>
              </a:rPr>
              <a:t>-15</a:t>
            </a:r>
            <a:r>
              <a:rPr lang="en-US" altLang="zh-CN" sz="2000">
                <a:solidFill>
                  <a:schemeClr val="accent1"/>
                </a:solidFill>
                <a:latin typeface="微软雅黑" panose="020B0503020204020204" pitchFamily="34" charset="-122"/>
                <a:ea typeface="微软雅黑" panose="020B0503020204020204" pitchFamily="34" charset="-122"/>
              </a:rPr>
              <a:t>)=1.67×10</a:t>
            </a:r>
            <a:r>
              <a:rPr lang="en-US" altLang="zh-CN" sz="2000" baseline="30000">
                <a:solidFill>
                  <a:schemeClr val="accent1"/>
                </a:solidFill>
                <a:latin typeface="微软雅黑" panose="020B0503020204020204" pitchFamily="34" charset="-122"/>
                <a:ea typeface="微软雅黑" panose="020B0503020204020204" pitchFamily="34" charset="-122"/>
              </a:rPr>
              <a:t>12</a:t>
            </a:r>
            <a:endParaRPr lang="en-US" altLang="zh-CN" sz="2000">
              <a:solidFill>
                <a:schemeClr val="accent1"/>
              </a:solidFill>
              <a:latin typeface="微软雅黑" panose="020B0503020204020204" pitchFamily="34" charset="-122"/>
              <a:ea typeface="微软雅黑" panose="020B0503020204020204" pitchFamily="34" charset="-122"/>
            </a:endParaRPr>
          </a:p>
        </p:txBody>
      </p:sp>
      <p:sp>
        <p:nvSpPr>
          <p:cNvPr id="552970" name="矩形 552969"/>
          <p:cNvSpPr/>
          <p:nvPr/>
        </p:nvSpPr>
        <p:spPr>
          <a:xfrm>
            <a:off x="3271838" y="2889250"/>
            <a:ext cx="3592512" cy="701675"/>
          </a:xfrm>
          <a:prstGeom prst="rect">
            <a:avLst/>
          </a:prstGeom>
          <a:noFill/>
          <a:ln w="50800">
            <a:noFill/>
          </a:ln>
        </p:spPr>
        <p:txBody>
          <a:bodyPr wrap="none" anchor="ctr" anchorCtr="0">
            <a:spAutoFit/>
          </a:bodyPr>
          <a:p>
            <a:pPr algn="ctr" eaLnBrk="0" hangingPunct="0"/>
            <a:r>
              <a:rPr lang="en-US" altLang="zh-CN" b="0">
                <a:latin typeface="Arial" panose="020B0604020202020204" pitchFamily="34" charset="0"/>
                <a:ea typeface="宋体" panose="02010600030101010101" pitchFamily="2" charset="-122"/>
              </a:rPr>
              <a:t>      </a:t>
            </a:r>
            <a:r>
              <a:rPr lang="en-US" altLang="zh-CN" sz="2000">
                <a:latin typeface="微软雅黑" panose="020B0503020204020204" pitchFamily="34" charset="-122"/>
                <a:ea typeface="微软雅黑" panose="020B0503020204020204" pitchFamily="34" charset="-122"/>
              </a:rPr>
              <a:t>CPI=1</a:t>
            </a:r>
            <a:r>
              <a:rPr lang="zh-CN" altLang="en-US" sz="2000" dirty="0">
                <a:latin typeface="微软雅黑" panose="020B0503020204020204" pitchFamily="34" charset="-122"/>
                <a:ea typeface="微软雅黑" panose="020B0503020204020204" pitchFamily="34" charset="-122"/>
              </a:rPr>
              <a:t>，指令延时为</a:t>
            </a:r>
            <a:r>
              <a:rPr lang="en-US" altLang="zh-CN" sz="2000">
                <a:latin typeface="微软雅黑" panose="020B0503020204020204" pitchFamily="34" charset="-122"/>
                <a:ea typeface="微软雅黑" panose="020B0503020204020204" pitchFamily="34" charset="-122"/>
              </a:rPr>
              <a:t>600ps</a:t>
            </a:r>
            <a:endParaRPr lang="en-US" altLang="zh-CN" sz="2000">
              <a:latin typeface="微软雅黑" panose="020B0503020204020204" pitchFamily="34" charset="-122"/>
              <a:ea typeface="微软雅黑" panose="020B0503020204020204" pitchFamily="34" charset="-122"/>
            </a:endParaRPr>
          </a:p>
          <a:p>
            <a:pPr algn="ctr" eaLnBrk="0" hangingPunct="0"/>
            <a:r>
              <a:rPr lang="zh-CN" altLang="en-US" sz="2000" dirty="0">
                <a:latin typeface="微软雅黑" panose="020B0503020204020204" pitchFamily="34" charset="-122"/>
                <a:ea typeface="微软雅黑" panose="020B0503020204020204" pitchFamily="34" charset="-122"/>
              </a:rPr>
              <a:t>指令吞吐率为</a:t>
            </a:r>
            <a:r>
              <a:rPr lang="en-US" altLang="zh-CN" sz="2000">
                <a:latin typeface="微软雅黑" panose="020B0503020204020204" pitchFamily="34" charset="-122"/>
                <a:ea typeface="微软雅黑" panose="020B0503020204020204" pitchFamily="34" charset="-122"/>
              </a:rPr>
              <a:t>1.67GIPS</a:t>
            </a:r>
            <a:endParaRPr lang="en-US" altLang="zh-CN" sz="2000">
              <a:latin typeface="微软雅黑" panose="020B0503020204020204" pitchFamily="34" charset="-122"/>
              <a:ea typeface="微软雅黑" panose="020B0503020204020204" pitchFamily="34" charset="-122"/>
            </a:endParaRPr>
          </a:p>
        </p:txBody>
      </p:sp>
      <p:sp>
        <p:nvSpPr>
          <p:cNvPr id="552971" name="矩形 552970"/>
          <p:cNvSpPr/>
          <p:nvPr/>
        </p:nvSpPr>
        <p:spPr>
          <a:xfrm>
            <a:off x="3841750" y="4964113"/>
            <a:ext cx="3676650" cy="701675"/>
          </a:xfrm>
          <a:prstGeom prst="rect">
            <a:avLst/>
          </a:prstGeom>
          <a:noFill/>
          <a:ln w="50800">
            <a:noFill/>
          </a:ln>
        </p:spPr>
        <p:txBody>
          <a:bodyPr anchor="ctr" anchorCtr="0">
            <a:spAutoFit/>
          </a:bodyPr>
          <a:p>
            <a:pPr eaLnBrk="0" hangingPunct="0"/>
            <a:r>
              <a:rPr lang="zh-CN" altLang="en-US" sz="2000" dirty="0">
                <a:latin typeface="微软雅黑" panose="020B0503020204020204" pitchFamily="34" charset="-122"/>
                <a:ea typeface="微软雅黑" panose="020B0503020204020204" pitchFamily="34" charset="-122"/>
              </a:rPr>
              <a:t>指令串行执行，程序执行时间为：指令条数</a:t>
            </a:r>
            <a:r>
              <a:rPr lang="pt-BR" altLang="zh-CN" sz="2000" dirty="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600ps</a:t>
            </a:r>
            <a:endParaRPr lang="en-US" altLang="zh-CN" sz="20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2963">
                                            <p:txEl>
                                              <p:charRg st="0" end="78"/>
                                            </p:txEl>
                                          </p:spTgt>
                                        </p:tgtEl>
                                        <p:attrNameLst>
                                          <p:attrName>style.visibility</p:attrName>
                                        </p:attrNameLst>
                                      </p:cBhvr>
                                      <p:to>
                                        <p:strVal val="visible"/>
                                      </p:to>
                                    </p:set>
                                    <p:animEffect transition="in" filter="blinds(horizontal)">
                                      <p:cBhvr>
                                        <p:cTn id="7" dur="500"/>
                                        <p:tgtEl>
                                          <p:spTgt spid="552963">
                                            <p:txEl>
                                              <p:charRg st="0" end="7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2969"/>
                                        </p:tgtEl>
                                        <p:attrNameLst>
                                          <p:attrName>style.visibility</p:attrName>
                                        </p:attrNameLst>
                                      </p:cBhvr>
                                      <p:to>
                                        <p:strVal val="visible"/>
                                      </p:to>
                                    </p:set>
                                    <p:animEffect transition="in" filter="blinds(horizontal)">
                                      <p:cBhvr>
                                        <p:cTn id="12" dur="500"/>
                                        <p:tgtEl>
                                          <p:spTgt spid="5529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52966"/>
                                        </p:tgtEl>
                                        <p:attrNameLst>
                                          <p:attrName>style.visibility</p:attrName>
                                        </p:attrNameLst>
                                      </p:cBhvr>
                                      <p:to>
                                        <p:strVal val="visible"/>
                                      </p:to>
                                    </p:set>
                                    <p:animEffect transition="in" filter="blinds(horizontal)">
                                      <p:cBhvr>
                                        <p:cTn id="17" dur="500"/>
                                        <p:tgtEl>
                                          <p:spTgt spid="55296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52967"/>
                                        </p:tgtEl>
                                        <p:attrNameLst>
                                          <p:attrName>style.visibility</p:attrName>
                                        </p:attrNameLst>
                                      </p:cBhvr>
                                      <p:to>
                                        <p:strVal val="visible"/>
                                      </p:to>
                                    </p:set>
                                    <p:animEffect transition="in" filter="blinds(horizontal)">
                                      <p:cBhvr>
                                        <p:cTn id="22" dur="500"/>
                                        <p:tgtEl>
                                          <p:spTgt spid="55296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52970"/>
                                        </p:tgtEl>
                                        <p:attrNameLst>
                                          <p:attrName>style.visibility</p:attrName>
                                        </p:attrNameLst>
                                      </p:cBhvr>
                                      <p:to>
                                        <p:strVal val="visible"/>
                                      </p:to>
                                    </p:set>
                                    <p:animEffect transition="in" filter="blinds(horizontal)">
                                      <p:cBhvr>
                                        <p:cTn id="27" dur="500"/>
                                        <p:tgtEl>
                                          <p:spTgt spid="55297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52968"/>
                                        </p:tgtEl>
                                        <p:attrNameLst>
                                          <p:attrName>style.visibility</p:attrName>
                                        </p:attrNameLst>
                                      </p:cBhvr>
                                      <p:to>
                                        <p:strVal val="visible"/>
                                      </p:to>
                                    </p:set>
                                    <p:animEffect transition="in" filter="blinds(horizontal)">
                                      <p:cBhvr>
                                        <p:cTn id="32" dur="500"/>
                                        <p:tgtEl>
                                          <p:spTgt spid="55296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52971"/>
                                        </p:tgtEl>
                                        <p:attrNameLst>
                                          <p:attrName>style.visibility</p:attrName>
                                        </p:attrNameLst>
                                      </p:cBhvr>
                                      <p:to>
                                        <p:strVal val="visible"/>
                                      </p:to>
                                    </p:set>
                                    <p:animEffect transition="in" filter="blinds(horizontal)">
                                      <p:cBhvr>
                                        <p:cTn id="37" dur="500"/>
                                        <p:tgtEl>
                                          <p:spTgt spid="552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build="p"/>
      <p:bldP spid="552966" grpId="0"/>
      <p:bldP spid="552967" grpId="0"/>
      <p:bldP spid="552968" grpId="0"/>
      <p:bldP spid="552970" grpId="0"/>
      <p:bldP spid="55297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5" name="标题 555009"/>
          <p:cNvSpPr>
            <a:spLocks noGrp="1"/>
          </p:cNvSpPr>
          <p:nvPr>
            <p:ph type="title"/>
          </p:nvPr>
        </p:nvSpPr>
        <p:spPr>
          <a:ln/>
        </p:spPr>
        <p:txBody>
          <a:bodyPr lIns="63500" tIns="25400" rIns="63500" bIns="25400" anchor="t" anchorCtr="0">
            <a:spAutoFit/>
          </a:bodyPr>
          <a:p>
            <a:r>
              <a:rPr lang="zh-CN" altLang="en-US" dirty="0"/>
              <a:t>流水线数据通路中指令的执行</a:t>
            </a:r>
            <a:endParaRPr lang="zh-CN" altLang="en-US" dirty="0"/>
          </a:p>
        </p:txBody>
      </p:sp>
      <p:pic>
        <p:nvPicPr>
          <p:cNvPr id="555013" name="图片 555012"/>
          <p:cNvPicPr>
            <a:picLocks noChangeAspect="1"/>
          </p:cNvPicPr>
          <p:nvPr/>
        </p:nvPicPr>
        <p:blipFill>
          <a:blip r:embed="rId1"/>
          <a:stretch>
            <a:fillRect/>
          </a:stretch>
        </p:blipFill>
        <p:spPr>
          <a:xfrm>
            <a:off x="0" y="1831975"/>
            <a:ext cx="9144000" cy="2603500"/>
          </a:xfrm>
          <a:prstGeom prst="rect">
            <a:avLst/>
          </a:prstGeom>
          <a:noFill/>
          <a:ln w="9525">
            <a:noFill/>
          </a:ln>
        </p:spPr>
      </p:pic>
      <p:sp>
        <p:nvSpPr>
          <p:cNvPr id="169987" name="文本占位符 555013"/>
          <p:cNvSpPr>
            <a:spLocks noGrp="1"/>
          </p:cNvSpPr>
          <p:nvPr>
            <p:ph idx="1"/>
          </p:nvPr>
        </p:nvSpPr>
        <p:spPr>
          <a:xfrm>
            <a:off x="290513" y="760413"/>
            <a:ext cx="8597900" cy="781050"/>
          </a:xfrm>
          <a:ln/>
        </p:spPr>
        <p:txBody>
          <a:bodyPr wrap="square" lIns="63500" tIns="25400" rIns="63500" bIns="25400" anchor="t" anchorCtr="0">
            <a:spAutoFit/>
          </a:bodyPr>
          <a:p>
            <a:pPr>
              <a:lnSpc>
                <a:spcPct val="120000"/>
              </a:lnSpc>
              <a:buNone/>
            </a:pPr>
            <a:r>
              <a:rPr lang="zh-CN" altLang="en-US" sz="2000" dirty="0">
                <a:latin typeface="微软雅黑" panose="020B0503020204020204" pitchFamily="34" charset="-122"/>
                <a:ea typeface="微软雅黑" panose="020B0503020204020204" pitchFamily="34" charset="-122"/>
              </a:rPr>
              <a:t>假定：最复杂指令执行过程 ① 取指：</a:t>
            </a:r>
            <a:r>
              <a:rPr lang="en-US" altLang="zh-CN" sz="2000">
                <a:latin typeface="微软雅黑" panose="020B0503020204020204" pitchFamily="34" charset="-122"/>
                <a:ea typeface="微软雅黑" panose="020B0503020204020204" pitchFamily="34" charset="-122"/>
              </a:rPr>
              <a:t>200ps</a:t>
            </a:r>
            <a:r>
              <a:rPr lang="zh-CN" altLang="en-US" sz="2000" dirty="0">
                <a:latin typeface="微软雅黑" panose="020B0503020204020204" pitchFamily="34" charset="-122"/>
                <a:ea typeface="微软雅黑" panose="020B0503020204020204" pitchFamily="34" charset="-122"/>
              </a:rPr>
              <a:t>；②译码和读操作数：</a:t>
            </a:r>
            <a:r>
              <a:rPr lang="en-US" altLang="zh-CN" sz="2000">
                <a:latin typeface="微软雅黑" panose="020B0503020204020204" pitchFamily="34" charset="-122"/>
                <a:ea typeface="微软雅黑" panose="020B0503020204020204" pitchFamily="34" charset="-122"/>
              </a:rPr>
              <a:t>50ps</a:t>
            </a:r>
            <a:r>
              <a:rPr lang="zh-CN" altLang="en-US" sz="2000" dirty="0">
                <a:latin typeface="微软雅黑" panose="020B0503020204020204" pitchFamily="34" charset="-122"/>
                <a:ea typeface="微软雅黑" panose="020B0503020204020204" pitchFamily="34" charset="-122"/>
              </a:rPr>
              <a:t>；③</a:t>
            </a:r>
            <a:r>
              <a:rPr lang="en-US" altLang="zh-CN" sz="200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操作：</a:t>
            </a:r>
            <a:r>
              <a:rPr lang="en-US" altLang="zh-CN" sz="2000">
                <a:latin typeface="微软雅黑" panose="020B0503020204020204" pitchFamily="34" charset="-122"/>
                <a:ea typeface="微软雅黑" panose="020B0503020204020204" pitchFamily="34" charset="-122"/>
              </a:rPr>
              <a:t>100ps</a:t>
            </a:r>
            <a:r>
              <a:rPr lang="zh-CN" altLang="en-US" sz="2000" dirty="0">
                <a:latin typeface="微软雅黑" panose="020B0503020204020204" pitchFamily="34" charset="-122"/>
                <a:ea typeface="微软雅黑" panose="020B0503020204020204" pitchFamily="34" charset="-122"/>
              </a:rPr>
              <a:t>；④读存储器：</a:t>
            </a:r>
            <a:r>
              <a:rPr lang="en-US" altLang="zh-CN" sz="2000">
                <a:latin typeface="微软雅黑" panose="020B0503020204020204" pitchFamily="34" charset="-122"/>
                <a:ea typeface="微软雅黑" panose="020B0503020204020204" pitchFamily="34" charset="-122"/>
              </a:rPr>
              <a:t>200ps</a:t>
            </a:r>
            <a:r>
              <a:rPr lang="zh-CN" altLang="en-US" sz="2000" dirty="0">
                <a:latin typeface="微软雅黑" panose="020B0503020204020204" pitchFamily="34" charset="-122"/>
                <a:ea typeface="微软雅黑" panose="020B0503020204020204" pitchFamily="34" charset="-122"/>
              </a:rPr>
              <a:t>；⑤结果写寄存器：</a:t>
            </a:r>
            <a:r>
              <a:rPr lang="en-US" altLang="zh-CN" sz="2000">
                <a:latin typeface="微软雅黑" panose="020B0503020204020204" pitchFamily="34" charset="-122"/>
                <a:ea typeface="微软雅黑" panose="020B0503020204020204" pitchFamily="34" charset="-122"/>
              </a:rPr>
              <a:t>50ps</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555015" name="文本框 555014"/>
          <p:cNvSpPr txBox="1"/>
          <p:nvPr/>
        </p:nvSpPr>
        <p:spPr>
          <a:xfrm>
            <a:off x="188913" y="4337050"/>
            <a:ext cx="1044575" cy="427038"/>
          </a:xfrm>
          <a:prstGeom prst="rect">
            <a:avLst/>
          </a:prstGeom>
          <a:noFill/>
          <a:ln w="50800">
            <a:noFill/>
          </a:ln>
        </p:spPr>
        <p:txBody>
          <a:bodyPr anchor="t" anchorCtr="0">
            <a:spAutoFit/>
          </a:bodyPr>
          <a:p>
            <a:pPr eaLnBrk="0" hangingPunct="0">
              <a:spcBef>
                <a:spcPct val="50000"/>
              </a:spcBef>
            </a:pPr>
            <a:r>
              <a:rPr lang="zh-CN" altLang="en-US" sz="2200" dirty="0">
                <a:solidFill>
                  <a:schemeClr val="accent1"/>
                </a:solidFill>
                <a:latin typeface="微软雅黑" panose="020B0503020204020204" pitchFamily="34" charset="-122"/>
                <a:ea typeface="微软雅黑" panose="020B0503020204020204" pitchFamily="34" charset="-122"/>
              </a:rPr>
              <a:t>取指令</a:t>
            </a:r>
            <a:endParaRPr lang="zh-CN" altLang="en-US" sz="2200" dirty="0">
              <a:solidFill>
                <a:schemeClr val="accent1"/>
              </a:solidFill>
              <a:latin typeface="微软雅黑" panose="020B0503020204020204" pitchFamily="34" charset="-122"/>
              <a:ea typeface="微软雅黑" panose="020B0503020204020204" pitchFamily="34" charset="-122"/>
            </a:endParaRPr>
          </a:p>
        </p:txBody>
      </p:sp>
      <p:sp>
        <p:nvSpPr>
          <p:cNvPr id="555016" name="文本框 555015"/>
          <p:cNvSpPr txBox="1"/>
          <p:nvPr/>
        </p:nvSpPr>
        <p:spPr>
          <a:xfrm>
            <a:off x="1646238" y="4356100"/>
            <a:ext cx="1552575" cy="427038"/>
          </a:xfrm>
          <a:prstGeom prst="rect">
            <a:avLst/>
          </a:prstGeom>
          <a:noFill/>
          <a:ln w="50800">
            <a:noFill/>
          </a:ln>
        </p:spPr>
        <p:txBody>
          <a:bodyPr anchor="t" anchorCtr="0">
            <a:spAutoFit/>
          </a:bodyPr>
          <a:p>
            <a:pPr eaLnBrk="0" hangingPunct="0">
              <a:spcBef>
                <a:spcPct val="50000"/>
              </a:spcBef>
            </a:pPr>
            <a:r>
              <a:rPr lang="zh-CN" altLang="en-US" sz="2200" dirty="0">
                <a:solidFill>
                  <a:schemeClr val="accent1"/>
                </a:solidFill>
                <a:latin typeface="微软雅黑" panose="020B0503020204020204" pitchFamily="34" charset="-122"/>
                <a:ea typeface="微软雅黑" panose="020B0503020204020204" pitchFamily="34" charset="-122"/>
              </a:rPr>
              <a:t>译码</a:t>
            </a:r>
            <a:r>
              <a:rPr lang="en-US" altLang="zh-CN" sz="2200">
                <a:solidFill>
                  <a:schemeClr val="accent1"/>
                </a:solidFill>
                <a:latin typeface="微软雅黑" panose="020B0503020204020204" pitchFamily="34" charset="-122"/>
                <a:ea typeface="微软雅黑" panose="020B0503020204020204" pitchFamily="34" charset="-122"/>
              </a:rPr>
              <a:t>/</a:t>
            </a:r>
            <a:r>
              <a:rPr lang="zh-CN" altLang="en-US" sz="2200" dirty="0">
                <a:solidFill>
                  <a:schemeClr val="accent1"/>
                </a:solidFill>
                <a:latin typeface="微软雅黑" panose="020B0503020204020204" pitchFamily="34" charset="-122"/>
                <a:ea typeface="微软雅黑" panose="020B0503020204020204" pitchFamily="34" charset="-122"/>
              </a:rPr>
              <a:t>读数</a:t>
            </a:r>
            <a:endParaRPr lang="en-US" altLang="zh-CN" sz="2200">
              <a:solidFill>
                <a:schemeClr val="accent1"/>
              </a:solidFill>
              <a:latin typeface="微软雅黑" panose="020B0503020204020204" pitchFamily="34" charset="-122"/>
              <a:ea typeface="微软雅黑" panose="020B0503020204020204" pitchFamily="34" charset="-122"/>
            </a:endParaRPr>
          </a:p>
        </p:txBody>
      </p:sp>
      <p:sp>
        <p:nvSpPr>
          <p:cNvPr id="555017" name="文本框 555016"/>
          <p:cNvSpPr txBox="1"/>
          <p:nvPr/>
        </p:nvSpPr>
        <p:spPr>
          <a:xfrm>
            <a:off x="3609975" y="4360863"/>
            <a:ext cx="1438275" cy="427037"/>
          </a:xfrm>
          <a:prstGeom prst="rect">
            <a:avLst/>
          </a:prstGeom>
          <a:noFill/>
          <a:ln w="50800">
            <a:noFill/>
          </a:ln>
        </p:spPr>
        <p:txBody>
          <a:bodyPr anchor="t" anchorCtr="0">
            <a:spAutoFit/>
          </a:bodyPr>
          <a:p>
            <a:pPr eaLnBrk="0" hangingPunct="0">
              <a:spcBef>
                <a:spcPct val="50000"/>
              </a:spcBef>
            </a:pPr>
            <a:r>
              <a:rPr lang="en-US" altLang="zh-CN" sz="2200">
                <a:solidFill>
                  <a:schemeClr val="accent1"/>
                </a:solidFill>
                <a:latin typeface="微软雅黑" panose="020B0503020204020204" pitchFamily="34" charset="-122"/>
                <a:ea typeface="微软雅黑" panose="020B0503020204020204" pitchFamily="34" charset="-122"/>
              </a:rPr>
              <a:t>ALU</a:t>
            </a:r>
            <a:r>
              <a:rPr lang="zh-CN" altLang="en-US" sz="2200" dirty="0">
                <a:solidFill>
                  <a:schemeClr val="accent1"/>
                </a:solidFill>
                <a:latin typeface="微软雅黑" panose="020B0503020204020204" pitchFamily="34" charset="-122"/>
                <a:ea typeface="微软雅黑" panose="020B0503020204020204" pitchFamily="34" charset="-122"/>
              </a:rPr>
              <a:t>运算</a:t>
            </a:r>
            <a:endParaRPr lang="zh-CN" altLang="en-US" sz="2200" dirty="0">
              <a:solidFill>
                <a:schemeClr val="accent1"/>
              </a:solidFill>
              <a:latin typeface="微软雅黑" panose="020B0503020204020204" pitchFamily="34" charset="-122"/>
              <a:ea typeface="微软雅黑" panose="020B0503020204020204" pitchFamily="34" charset="-122"/>
            </a:endParaRPr>
          </a:p>
        </p:txBody>
      </p:sp>
      <p:sp>
        <p:nvSpPr>
          <p:cNvPr id="555018" name="文本框 555017"/>
          <p:cNvSpPr txBox="1"/>
          <p:nvPr/>
        </p:nvSpPr>
        <p:spPr>
          <a:xfrm>
            <a:off x="5195888" y="4337050"/>
            <a:ext cx="1873250" cy="427038"/>
          </a:xfrm>
          <a:prstGeom prst="rect">
            <a:avLst/>
          </a:prstGeom>
          <a:noFill/>
          <a:ln w="50800">
            <a:noFill/>
          </a:ln>
        </p:spPr>
        <p:txBody>
          <a:bodyPr anchor="t" anchorCtr="0">
            <a:spAutoFit/>
          </a:bodyPr>
          <a:p>
            <a:pPr eaLnBrk="0" hangingPunct="0">
              <a:spcBef>
                <a:spcPct val="50000"/>
              </a:spcBef>
            </a:pPr>
            <a:r>
              <a:rPr lang="zh-CN" altLang="en-US" sz="2200" dirty="0">
                <a:solidFill>
                  <a:schemeClr val="accent1"/>
                </a:solidFill>
                <a:latin typeface="微软雅黑" panose="020B0503020204020204" pitchFamily="34" charset="-122"/>
                <a:ea typeface="微软雅黑" panose="020B0503020204020204" pitchFamily="34" charset="-122"/>
              </a:rPr>
              <a:t>读</a:t>
            </a:r>
            <a:r>
              <a:rPr lang="en-US" altLang="zh-CN" sz="2200">
                <a:solidFill>
                  <a:schemeClr val="accent1"/>
                </a:solidFill>
                <a:latin typeface="微软雅黑" panose="020B0503020204020204" pitchFamily="34" charset="-122"/>
                <a:ea typeface="微软雅黑" panose="020B0503020204020204" pitchFamily="34" charset="-122"/>
              </a:rPr>
              <a:t>/</a:t>
            </a:r>
            <a:r>
              <a:rPr lang="zh-CN" altLang="en-US" sz="2200" dirty="0">
                <a:solidFill>
                  <a:schemeClr val="accent1"/>
                </a:solidFill>
                <a:latin typeface="微软雅黑" panose="020B0503020204020204" pitchFamily="34" charset="-122"/>
                <a:ea typeface="微软雅黑" panose="020B0503020204020204" pitchFamily="34" charset="-122"/>
              </a:rPr>
              <a:t>写存储器</a:t>
            </a:r>
            <a:endParaRPr lang="zh-CN" altLang="en-US" sz="2200" dirty="0">
              <a:solidFill>
                <a:schemeClr val="accent1"/>
              </a:solidFill>
              <a:latin typeface="微软雅黑" panose="020B0503020204020204" pitchFamily="34" charset="-122"/>
              <a:ea typeface="微软雅黑" panose="020B0503020204020204" pitchFamily="34" charset="-122"/>
            </a:endParaRPr>
          </a:p>
        </p:txBody>
      </p:sp>
      <p:sp>
        <p:nvSpPr>
          <p:cNvPr id="555019" name="文本框 555018"/>
          <p:cNvSpPr txBox="1"/>
          <p:nvPr/>
        </p:nvSpPr>
        <p:spPr>
          <a:xfrm>
            <a:off x="7370763" y="4343400"/>
            <a:ext cx="1408112" cy="427038"/>
          </a:xfrm>
          <a:prstGeom prst="rect">
            <a:avLst/>
          </a:prstGeom>
          <a:noFill/>
          <a:ln w="50800">
            <a:noFill/>
          </a:ln>
        </p:spPr>
        <p:txBody>
          <a:bodyPr anchor="t" anchorCtr="0">
            <a:spAutoFit/>
          </a:bodyPr>
          <a:p>
            <a:pPr eaLnBrk="0" hangingPunct="0">
              <a:spcBef>
                <a:spcPct val="50000"/>
              </a:spcBef>
            </a:pPr>
            <a:r>
              <a:rPr lang="zh-CN" altLang="en-US" sz="2200" dirty="0">
                <a:solidFill>
                  <a:schemeClr val="accent1"/>
                </a:solidFill>
                <a:latin typeface="微软雅黑" panose="020B0503020204020204" pitchFamily="34" charset="-122"/>
                <a:ea typeface="微软雅黑" panose="020B0503020204020204" pitchFamily="34" charset="-122"/>
              </a:rPr>
              <a:t>写结果</a:t>
            </a:r>
            <a:endParaRPr lang="zh-CN" altLang="en-US" sz="2200" dirty="0">
              <a:solidFill>
                <a:schemeClr val="accent1"/>
              </a:solidFill>
              <a:latin typeface="微软雅黑" panose="020B0503020204020204" pitchFamily="34" charset="-122"/>
              <a:ea typeface="微软雅黑" panose="020B0503020204020204" pitchFamily="34" charset="-122"/>
            </a:endParaRPr>
          </a:p>
        </p:txBody>
      </p:sp>
      <p:sp>
        <p:nvSpPr>
          <p:cNvPr id="555020" name="矩形 555019"/>
          <p:cNvSpPr/>
          <p:nvPr/>
        </p:nvSpPr>
        <p:spPr>
          <a:xfrm>
            <a:off x="144463" y="1579563"/>
            <a:ext cx="2201862" cy="427037"/>
          </a:xfrm>
          <a:prstGeom prst="rect">
            <a:avLst/>
          </a:prstGeom>
          <a:noFill/>
          <a:ln w="50800">
            <a:noFill/>
          </a:ln>
        </p:spPr>
        <p:txBody>
          <a:bodyPr wrap="none" anchor="ctr" anchorCtr="0">
            <a:spAutoFit/>
          </a:bodyPr>
          <a:p>
            <a:pPr eaLnBrk="0" hangingPunct="0"/>
            <a:r>
              <a:rPr lang="zh-CN" altLang="en-US" sz="2200" dirty="0">
                <a:solidFill>
                  <a:schemeClr val="accent1"/>
                </a:solidFill>
                <a:latin typeface="微软雅黑" panose="020B0503020204020204" pitchFamily="34" charset="-122"/>
                <a:ea typeface="微软雅黑" panose="020B0503020204020204" pitchFamily="34" charset="-122"/>
              </a:rPr>
              <a:t>最长段为</a:t>
            </a:r>
            <a:r>
              <a:rPr lang="en-US" altLang="zh-CN" sz="2200">
                <a:solidFill>
                  <a:schemeClr val="accent1"/>
                </a:solidFill>
                <a:latin typeface="微软雅黑" panose="020B0503020204020204" pitchFamily="34" charset="-122"/>
                <a:ea typeface="微软雅黑" panose="020B0503020204020204" pitchFamily="34" charset="-122"/>
              </a:rPr>
              <a:t>200ps</a:t>
            </a:r>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
        <p:nvSpPr>
          <p:cNvPr id="555012" name="矩形 555011"/>
          <p:cNvSpPr/>
          <p:nvPr/>
        </p:nvSpPr>
        <p:spPr>
          <a:xfrm>
            <a:off x="2327275" y="1601788"/>
            <a:ext cx="4094163" cy="412750"/>
          </a:xfrm>
          <a:prstGeom prst="rect">
            <a:avLst/>
          </a:prstGeom>
          <a:noFill/>
          <a:ln w="50800">
            <a:noFill/>
          </a:ln>
        </p:spPr>
        <p:txBody>
          <a:bodyPr wrap="none" anchor="ctr" anchorCtr="0">
            <a:spAutoFit/>
          </a:bodyPr>
          <a:p>
            <a:pPr eaLnBrk="0" hangingPunct="0"/>
            <a:r>
              <a:rPr lang="en-US" altLang="zh-CN" b="0">
                <a:latin typeface="Arial" panose="020B0604020202020204" pitchFamily="34" charset="0"/>
                <a:ea typeface="宋体" panose="02010600030101010101" pitchFamily="2" charset="-122"/>
              </a:rPr>
              <a:t> </a:t>
            </a:r>
            <a:r>
              <a:rPr lang="zh-CN" altLang="en-US" sz="2100" dirty="0">
                <a:solidFill>
                  <a:schemeClr val="accent2"/>
                </a:solidFill>
                <a:latin typeface="微软雅黑" panose="020B0503020204020204" pitchFamily="34" charset="-122"/>
                <a:ea typeface="微软雅黑" panose="020B0503020204020204" pitchFamily="34" charset="-122"/>
              </a:rPr>
              <a:t>指令延时为：</a:t>
            </a:r>
            <a:r>
              <a:rPr lang="en-US" altLang="zh-CN" sz="2100">
                <a:solidFill>
                  <a:schemeClr val="accent2"/>
                </a:solidFill>
                <a:latin typeface="微软雅黑" panose="020B0503020204020204" pitchFamily="34" charset="-122"/>
                <a:ea typeface="微软雅黑" panose="020B0503020204020204" pitchFamily="34" charset="-122"/>
              </a:rPr>
              <a:t>250ps×5=1.25ns</a:t>
            </a:r>
            <a:endParaRPr lang="en-US" altLang="zh-CN" sz="2100">
              <a:solidFill>
                <a:schemeClr val="accent2"/>
              </a:solidFill>
              <a:latin typeface="微软雅黑" panose="020B0503020204020204" pitchFamily="34" charset="-122"/>
              <a:ea typeface="微软雅黑" panose="020B0503020204020204" pitchFamily="34" charset="-122"/>
            </a:endParaRPr>
          </a:p>
        </p:txBody>
      </p:sp>
      <p:sp>
        <p:nvSpPr>
          <p:cNvPr id="169995" name="矩形 555020"/>
          <p:cNvSpPr/>
          <p:nvPr/>
        </p:nvSpPr>
        <p:spPr>
          <a:xfrm>
            <a:off x="6423025" y="1604963"/>
            <a:ext cx="2578100" cy="412750"/>
          </a:xfrm>
          <a:prstGeom prst="rect">
            <a:avLst/>
          </a:prstGeom>
          <a:noFill/>
          <a:ln w="50800">
            <a:noFill/>
          </a:ln>
        </p:spPr>
        <p:txBody>
          <a:bodyPr wrap="none" anchor="t" anchorCtr="0">
            <a:spAutoFit/>
          </a:bodyPr>
          <a:p>
            <a:pPr eaLnBrk="0" hangingPunct="0"/>
            <a:r>
              <a:rPr lang="zh-CN" altLang="en-US" sz="2100" dirty="0">
                <a:solidFill>
                  <a:srgbClr val="006600"/>
                </a:solidFill>
                <a:latin typeface="微软雅黑" panose="020B0503020204020204" pitchFamily="34" charset="-122"/>
                <a:ea typeface="微软雅黑" panose="020B0503020204020204" pitchFamily="34" charset="-122"/>
              </a:rPr>
              <a:t>指令吞吐率为</a:t>
            </a:r>
            <a:r>
              <a:rPr lang="en-US" altLang="zh-CN" sz="2100">
                <a:solidFill>
                  <a:srgbClr val="006600"/>
                </a:solidFill>
                <a:latin typeface="微软雅黑" panose="020B0503020204020204" pitchFamily="34" charset="-122"/>
                <a:ea typeface="微软雅黑" panose="020B0503020204020204" pitchFamily="34" charset="-122"/>
              </a:rPr>
              <a:t>4GIPS</a:t>
            </a:r>
            <a:endParaRPr lang="en-US" altLang="zh-CN" sz="2100">
              <a:solidFill>
                <a:srgbClr val="006600"/>
              </a:solidFill>
              <a:latin typeface="微软雅黑" panose="020B0503020204020204" pitchFamily="34" charset="-122"/>
              <a:ea typeface="微软雅黑" panose="020B0503020204020204" pitchFamily="34" charset="-122"/>
            </a:endParaRPr>
          </a:p>
        </p:txBody>
      </p:sp>
      <p:pic>
        <p:nvPicPr>
          <p:cNvPr id="555022" name="图片 555021"/>
          <p:cNvPicPr>
            <a:picLocks noChangeAspect="1"/>
          </p:cNvPicPr>
          <p:nvPr/>
        </p:nvPicPr>
        <p:blipFill>
          <a:blip r:embed="rId2"/>
          <a:stretch>
            <a:fillRect/>
          </a:stretch>
        </p:blipFill>
        <p:spPr>
          <a:xfrm>
            <a:off x="55563" y="4773613"/>
            <a:ext cx="8931275" cy="19986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5020"/>
                                        </p:tgtEl>
                                        <p:attrNameLst>
                                          <p:attrName>style.visibility</p:attrName>
                                        </p:attrNameLst>
                                      </p:cBhvr>
                                      <p:to>
                                        <p:strVal val="visible"/>
                                      </p:to>
                                    </p:set>
                                    <p:animEffect transition="in" filter="blinds(horizontal)">
                                      <p:cBhvr>
                                        <p:cTn id="7" dur="500"/>
                                        <p:tgtEl>
                                          <p:spTgt spid="5550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5013"/>
                                        </p:tgtEl>
                                        <p:attrNameLst>
                                          <p:attrName>style.visibility</p:attrName>
                                        </p:attrNameLst>
                                      </p:cBhvr>
                                      <p:to>
                                        <p:strVal val="visible"/>
                                      </p:to>
                                    </p:set>
                                    <p:animEffect transition="in" filter="blinds(horizontal)">
                                      <p:cBhvr>
                                        <p:cTn id="12" dur="500"/>
                                        <p:tgtEl>
                                          <p:spTgt spid="5550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55015"/>
                                        </p:tgtEl>
                                        <p:attrNameLst>
                                          <p:attrName>style.visibility</p:attrName>
                                        </p:attrNameLst>
                                      </p:cBhvr>
                                      <p:to>
                                        <p:strVal val="visible"/>
                                      </p:to>
                                    </p:set>
                                    <p:animEffect transition="in" filter="blinds(horizontal)">
                                      <p:cBhvr>
                                        <p:cTn id="17" dur="500"/>
                                        <p:tgtEl>
                                          <p:spTgt spid="55501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55016"/>
                                        </p:tgtEl>
                                        <p:attrNameLst>
                                          <p:attrName>style.visibility</p:attrName>
                                        </p:attrNameLst>
                                      </p:cBhvr>
                                      <p:to>
                                        <p:strVal val="visible"/>
                                      </p:to>
                                    </p:set>
                                    <p:animEffect transition="in" filter="blinds(horizontal)">
                                      <p:cBhvr>
                                        <p:cTn id="20" dur="500"/>
                                        <p:tgtEl>
                                          <p:spTgt spid="555016"/>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555017"/>
                                        </p:tgtEl>
                                        <p:attrNameLst>
                                          <p:attrName>style.visibility</p:attrName>
                                        </p:attrNameLst>
                                      </p:cBhvr>
                                      <p:to>
                                        <p:strVal val="visible"/>
                                      </p:to>
                                    </p:set>
                                    <p:animEffect transition="in" filter="blinds(horizontal)">
                                      <p:cBhvr>
                                        <p:cTn id="23" dur="500"/>
                                        <p:tgtEl>
                                          <p:spTgt spid="55501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555018"/>
                                        </p:tgtEl>
                                        <p:attrNameLst>
                                          <p:attrName>style.visibility</p:attrName>
                                        </p:attrNameLst>
                                      </p:cBhvr>
                                      <p:to>
                                        <p:strVal val="visible"/>
                                      </p:to>
                                    </p:set>
                                    <p:animEffect transition="in" filter="blinds(horizontal)">
                                      <p:cBhvr>
                                        <p:cTn id="26" dur="500"/>
                                        <p:tgtEl>
                                          <p:spTgt spid="555018"/>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555019"/>
                                        </p:tgtEl>
                                        <p:attrNameLst>
                                          <p:attrName>style.visibility</p:attrName>
                                        </p:attrNameLst>
                                      </p:cBhvr>
                                      <p:to>
                                        <p:strVal val="visible"/>
                                      </p:to>
                                    </p:set>
                                    <p:animEffect transition="in" filter="blinds(horizontal)">
                                      <p:cBhvr>
                                        <p:cTn id="29" dur="500"/>
                                        <p:tgtEl>
                                          <p:spTgt spid="55501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555012"/>
                                        </p:tgtEl>
                                        <p:attrNameLst>
                                          <p:attrName>style.visibility</p:attrName>
                                        </p:attrNameLst>
                                      </p:cBhvr>
                                      <p:to>
                                        <p:strVal val="visible"/>
                                      </p:to>
                                    </p:set>
                                    <p:animEffect transition="in" filter="blinds(horizontal)">
                                      <p:cBhvr>
                                        <p:cTn id="34" dur="500"/>
                                        <p:tgtEl>
                                          <p:spTgt spid="55501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555022"/>
                                        </p:tgtEl>
                                        <p:attrNameLst>
                                          <p:attrName>style.visibility</p:attrName>
                                        </p:attrNameLst>
                                      </p:cBhvr>
                                      <p:to>
                                        <p:strVal val="visible"/>
                                      </p:to>
                                    </p:set>
                                    <p:animEffect transition="in" filter="blinds(horizontal)">
                                      <p:cBhvr>
                                        <p:cTn id="39" dur="500"/>
                                        <p:tgtEl>
                                          <p:spTgt spid="555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5" grpId="0"/>
      <p:bldP spid="555016" grpId="0"/>
      <p:bldP spid="555017" grpId="0"/>
      <p:bldP spid="555018" grpId="0"/>
      <p:bldP spid="555019" grpId="0"/>
      <p:bldP spid="555020" grpId="0"/>
      <p:bldP spid="55501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09" name="标题 559105"/>
          <p:cNvSpPr>
            <a:spLocks noGrp="1"/>
          </p:cNvSpPr>
          <p:nvPr>
            <p:ph type="title"/>
          </p:nvPr>
        </p:nvSpPr>
        <p:spPr>
          <a:ln/>
        </p:spPr>
        <p:txBody>
          <a:bodyPr lIns="63500" tIns="25400" rIns="63500" bIns="25400" anchor="t" anchorCtr="0">
            <a:spAutoFit/>
          </a:bodyPr>
          <a:p>
            <a:r>
              <a:rPr lang="zh-CN" altLang="en-US" dirty="0"/>
              <a:t>流水线指令集的设计</a:t>
            </a:r>
            <a:endParaRPr lang="zh-CN" altLang="en-US" dirty="0"/>
          </a:p>
        </p:txBody>
      </p:sp>
      <p:sp>
        <p:nvSpPr>
          <p:cNvPr id="559107" name="内容占位符 559106"/>
          <p:cNvSpPr>
            <a:spLocks noGrp="1"/>
          </p:cNvSpPr>
          <p:nvPr>
            <p:ph idx="1"/>
          </p:nvPr>
        </p:nvSpPr>
        <p:spPr>
          <a:xfrm>
            <a:off x="71438" y="719138"/>
            <a:ext cx="8963025" cy="5957887"/>
          </a:xfrm>
          <a:ln/>
        </p:spPr>
        <p:txBody>
          <a:bodyPr wrap="square" lIns="63500" tIns="25400" rIns="63500" bIns="25400" anchor="t" anchorCtr="0">
            <a:spAutoFit/>
          </a:bodyPr>
          <a:p>
            <a:pPr>
              <a:lnSpc>
                <a:spcPct val="115000"/>
              </a:lnSpc>
              <a:spcBef>
                <a:spcPct val="15000"/>
              </a:spcBef>
            </a:pPr>
            <a:r>
              <a:rPr lang="zh-CN" altLang="en-US" sz="2000" dirty="0">
                <a:latin typeface="微软雅黑" panose="020B0503020204020204" pitchFamily="34" charset="-122"/>
                <a:ea typeface="微软雅黑" panose="020B0503020204020204" pitchFamily="34" charset="-122"/>
              </a:rPr>
              <a:t>具有什么特征的指令集有利于流水线执行呢？</a:t>
            </a:r>
            <a:endParaRPr lang="zh-CN" altLang="en-US" sz="2000" dirty="0">
              <a:latin typeface="微软雅黑" panose="020B0503020204020204" pitchFamily="34" charset="-122"/>
              <a:ea typeface="微软雅黑" panose="020B0503020204020204" pitchFamily="34" charset="-122"/>
            </a:endParaRPr>
          </a:p>
          <a:p>
            <a:pPr lvl="1">
              <a:lnSpc>
                <a:spcPct val="115000"/>
              </a:lnSpc>
              <a:spcBef>
                <a:spcPct val="15000"/>
              </a:spcBef>
            </a:pPr>
            <a:r>
              <a:rPr lang="zh-CN" altLang="en-US" sz="2000" dirty="0">
                <a:latin typeface="微软雅黑" panose="020B0503020204020204" pitchFamily="34" charset="-122"/>
                <a:ea typeface="微软雅黑" panose="020B0503020204020204" pitchFamily="34" charset="-122"/>
              </a:rPr>
              <a:t>长度尽量一致，有利于简化取指令和指令译码操作</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5000"/>
              </a:spcBef>
            </a:pPr>
            <a:r>
              <a:rPr lang="en-US" altLang="zh-CN" sz="2000">
                <a:latin typeface="微软雅黑" panose="020B0503020204020204" pitchFamily="34" charset="-122"/>
                <a:ea typeface="微软雅黑" panose="020B0503020204020204" pitchFamily="34" charset="-122"/>
              </a:rPr>
              <a:t>MIPS</a:t>
            </a:r>
            <a:r>
              <a:rPr lang="zh-CN" altLang="en-US" sz="2000" dirty="0">
                <a:latin typeface="微软雅黑" panose="020B0503020204020204" pitchFamily="34" charset="-122"/>
                <a:ea typeface="微软雅黑" panose="020B0503020204020204" pitchFamily="34" charset="-122"/>
              </a:rPr>
              <a:t>指令</a:t>
            </a:r>
            <a:r>
              <a:rPr lang="en-US" altLang="zh-CN" sz="2000">
                <a:latin typeface="微软雅黑" panose="020B0503020204020204" pitchFamily="34" charset="-122"/>
                <a:ea typeface="微软雅黑" panose="020B0503020204020204" pitchFamily="34" charset="-122"/>
              </a:rPr>
              <a:t>32</a:t>
            </a:r>
            <a:r>
              <a:rPr lang="zh-CN" altLang="en-US" sz="2000" dirty="0">
                <a:latin typeface="微软雅黑" panose="020B0503020204020204" pitchFamily="34" charset="-122"/>
                <a:ea typeface="微软雅黑" panose="020B0503020204020204" pitchFamily="34" charset="-122"/>
              </a:rPr>
              <a:t>位，下址计算方便</a:t>
            </a:r>
            <a:r>
              <a:rPr lang="en-US" altLang="zh-CN" sz="2000">
                <a:latin typeface="微软雅黑" panose="020B0503020204020204" pitchFamily="34" charset="-122"/>
                <a:ea typeface="微软雅黑" panose="020B0503020204020204" pitchFamily="34" charset="-122"/>
              </a:rPr>
              <a:t>: PC+4</a:t>
            </a:r>
            <a:endParaRPr lang="en-US" altLang="zh-CN" sz="2000">
              <a:latin typeface="微软雅黑" panose="020B0503020204020204" pitchFamily="34" charset="-122"/>
              <a:ea typeface="微软雅黑" panose="020B0503020204020204" pitchFamily="34" charset="-122"/>
            </a:endParaRPr>
          </a:p>
          <a:p>
            <a:pPr lvl="2">
              <a:lnSpc>
                <a:spcPct val="115000"/>
              </a:lnSpc>
              <a:spcBef>
                <a:spcPct val="15000"/>
              </a:spcBef>
            </a:pPr>
            <a:r>
              <a:rPr lang="en-US" altLang="zh-CN" sz="2000">
                <a:latin typeface="微软雅黑" panose="020B0503020204020204" pitchFamily="34" charset="-122"/>
                <a:ea typeface="微软雅黑" panose="020B0503020204020204" pitchFamily="34" charset="-122"/>
              </a:rPr>
              <a:t>X86</a:t>
            </a:r>
            <a:r>
              <a:rPr lang="zh-CN" altLang="en-US" sz="2000" dirty="0">
                <a:latin typeface="微软雅黑" panose="020B0503020204020204" pitchFamily="34" charset="-122"/>
                <a:ea typeface="微软雅黑" panose="020B0503020204020204" pitchFamily="34" charset="-122"/>
              </a:rPr>
              <a:t>指令从</a:t>
            </a:r>
            <a:r>
              <a:rPr lang="en-US" altLang="zh-CN" sz="200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字节到</a:t>
            </a:r>
            <a:r>
              <a:rPr lang="en-US" altLang="zh-CN" sz="2000">
                <a:latin typeface="微软雅黑" panose="020B0503020204020204" pitchFamily="34" charset="-122"/>
                <a:ea typeface="微软雅黑" panose="020B0503020204020204" pitchFamily="34" charset="-122"/>
              </a:rPr>
              <a:t>17</a:t>
            </a:r>
            <a:r>
              <a:rPr lang="zh-CN" altLang="en-US" sz="2000" dirty="0">
                <a:latin typeface="微软雅黑" panose="020B0503020204020204" pitchFamily="34" charset="-122"/>
                <a:ea typeface="微软雅黑" panose="020B0503020204020204" pitchFamily="34" charset="-122"/>
              </a:rPr>
              <a:t>字节不等，使取指部件极其复杂</a:t>
            </a:r>
            <a:endParaRPr lang="zh-CN" altLang="en-US" sz="2000" dirty="0">
              <a:latin typeface="微软雅黑" panose="020B0503020204020204" pitchFamily="34" charset="-122"/>
              <a:ea typeface="微软雅黑" panose="020B0503020204020204" pitchFamily="34" charset="-122"/>
            </a:endParaRPr>
          </a:p>
          <a:p>
            <a:pPr lvl="1">
              <a:lnSpc>
                <a:spcPct val="115000"/>
              </a:lnSpc>
              <a:spcBef>
                <a:spcPct val="15000"/>
              </a:spcBef>
            </a:pPr>
            <a:r>
              <a:rPr lang="zh-CN" altLang="en-US" sz="2000" dirty="0">
                <a:latin typeface="微软雅黑" panose="020B0503020204020204" pitchFamily="34" charset="-122"/>
                <a:ea typeface="微软雅黑" panose="020B0503020204020204" pitchFamily="34" charset="-122"/>
              </a:rPr>
              <a:t>格式少，且源寄存器位置相同，有利于在指令未知时就可取操作数</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5000"/>
              </a:spcBef>
            </a:pPr>
            <a:r>
              <a:rPr lang="en-US" altLang="zh-CN" sz="2000">
                <a:latin typeface="微软雅黑" panose="020B0503020204020204" pitchFamily="34" charset="-122"/>
                <a:ea typeface="微软雅黑" panose="020B0503020204020204" pitchFamily="34" charset="-122"/>
              </a:rPr>
              <a:t>MIPS</a:t>
            </a:r>
            <a:r>
              <a:rPr lang="zh-CN" altLang="en-US" sz="2000" dirty="0">
                <a:latin typeface="微软雅黑" panose="020B0503020204020204" pitchFamily="34" charset="-122"/>
                <a:ea typeface="微软雅黑" panose="020B0503020204020204" pitchFamily="34" charset="-122"/>
              </a:rPr>
              <a:t>指令的</a:t>
            </a:r>
            <a:r>
              <a:rPr lang="en-US" altLang="zh-CN" sz="2000" err="1">
                <a:latin typeface="微软雅黑" panose="020B0503020204020204" pitchFamily="34" charset="-122"/>
                <a:ea typeface="微软雅黑" panose="020B0503020204020204" pitchFamily="34" charset="-122"/>
              </a:rPr>
              <a:t>rs</a:t>
            </a:r>
            <a:r>
              <a:rPr lang="zh-CN" altLang="en-US" sz="2000" dirty="0">
                <a:latin typeface="微软雅黑" panose="020B0503020204020204" pitchFamily="34" charset="-122"/>
                <a:ea typeface="微软雅黑" panose="020B0503020204020204" pitchFamily="34" charset="-122"/>
              </a:rPr>
              <a:t>和</a:t>
            </a:r>
            <a:r>
              <a:rPr lang="en-US" altLang="zh-CN" sz="2000" err="1">
                <a:latin typeface="微软雅黑" panose="020B0503020204020204" pitchFamily="34" charset="-122"/>
                <a:ea typeface="微软雅黑" panose="020B0503020204020204" pitchFamily="34" charset="-122"/>
              </a:rPr>
              <a:t>rt</a:t>
            </a:r>
            <a:r>
              <a:rPr lang="zh-CN" altLang="en-US" sz="2000" dirty="0">
                <a:latin typeface="微软雅黑" panose="020B0503020204020204" pitchFamily="34" charset="-122"/>
                <a:ea typeface="微软雅黑" panose="020B0503020204020204" pitchFamily="34" charset="-122"/>
              </a:rPr>
              <a:t>位置一定，在指令译码时就可读</a:t>
            </a:r>
            <a:r>
              <a:rPr lang="en-US" altLang="zh-CN" sz="2000" err="1">
                <a:latin typeface="微软雅黑" panose="020B0503020204020204" pitchFamily="34" charset="-122"/>
                <a:ea typeface="微软雅黑" panose="020B0503020204020204" pitchFamily="34" charset="-122"/>
              </a:rPr>
              <a:t>rs</a:t>
            </a:r>
            <a:r>
              <a:rPr lang="zh-CN" altLang="en-US" sz="2000" dirty="0">
                <a:latin typeface="微软雅黑" panose="020B0503020204020204" pitchFamily="34" charset="-122"/>
                <a:ea typeface="微软雅黑" panose="020B0503020204020204" pitchFamily="34" charset="-122"/>
              </a:rPr>
              <a:t>和</a:t>
            </a:r>
            <a:r>
              <a:rPr lang="en-US" altLang="zh-CN" sz="2000" err="1">
                <a:latin typeface="微软雅黑" panose="020B0503020204020204" pitchFamily="34" charset="-122"/>
                <a:ea typeface="微软雅黑" panose="020B0503020204020204" pitchFamily="34" charset="-122"/>
              </a:rPr>
              <a:t>rt</a:t>
            </a:r>
            <a:r>
              <a:rPr lang="zh-CN" altLang="en-US" sz="2000" dirty="0">
                <a:latin typeface="微软雅黑" panose="020B0503020204020204" pitchFamily="34" charset="-122"/>
                <a:ea typeface="微软雅黑" panose="020B0503020204020204" pitchFamily="34" charset="-122"/>
              </a:rPr>
              <a:t>的值</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5000"/>
              </a:spcBef>
              <a:buNone/>
            </a:pP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5000"/>
              </a:spcBef>
              <a:buNone/>
            </a:pP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5000"/>
              </a:spcBef>
              <a:buNone/>
            </a:pP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5000"/>
              </a:spcBef>
              <a:buNone/>
            </a:pPr>
            <a:r>
              <a:rPr lang="zh-CN" altLang="en-US" sz="2000" dirty="0">
                <a:latin typeface="微软雅黑" panose="020B0503020204020204" pitchFamily="34" charset="-122"/>
                <a:ea typeface="微软雅黑" panose="020B0503020204020204" pitchFamily="34" charset="-122"/>
              </a:rPr>
              <a:t>若位置随指令不同而不同，则需先确定指令类型才能取寄存器编号</a:t>
            </a:r>
            <a:endParaRPr lang="zh-CN" altLang="en-US" sz="2000" dirty="0">
              <a:latin typeface="微软雅黑" panose="020B0503020204020204" pitchFamily="34" charset="-122"/>
              <a:ea typeface="微软雅黑" panose="020B0503020204020204" pitchFamily="34" charset="-122"/>
            </a:endParaRPr>
          </a:p>
          <a:p>
            <a:pPr lvl="1">
              <a:lnSpc>
                <a:spcPct val="115000"/>
              </a:lnSpc>
              <a:spcBef>
                <a:spcPct val="15000"/>
              </a:spcBef>
            </a:pPr>
            <a:r>
              <a:rPr lang="en-US" altLang="zh-CN" sz="2000">
                <a:latin typeface="微软雅黑" panose="020B0503020204020204" pitchFamily="34" charset="-122"/>
                <a:ea typeface="微软雅黑" panose="020B0503020204020204" pitchFamily="34" charset="-122"/>
              </a:rPr>
              <a:t>load / Store</a:t>
            </a:r>
            <a:r>
              <a:rPr lang="zh-CN" altLang="en-US" sz="2000" dirty="0">
                <a:latin typeface="微软雅黑" panose="020B0503020204020204" pitchFamily="34" charset="-122"/>
                <a:ea typeface="微软雅黑" panose="020B0503020204020204" pitchFamily="34" charset="-122"/>
              </a:rPr>
              <a:t>指令才能访问存储器，有利于减少操作步骤，规整流水线</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5000"/>
              </a:spcBef>
            </a:pPr>
            <a:r>
              <a:rPr lang="en-US" altLang="zh-CN" sz="2000" err="1">
                <a:latin typeface="微软雅黑" panose="020B0503020204020204" pitchFamily="34" charset="-122"/>
                <a:ea typeface="微软雅黑" panose="020B0503020204020204" pitchFamily="34" charset="-122"/>
              </a:rPr>
              <a:t>lw/sw</a:t>
            </a:r>
            <a:r>
              <a:rPr lang="zh-CN" altLang="en-US" sz="2000" dirty="0">
                <a:latin typeface="微软雅黑" panose="020B0503020204020204" pitchFamily="34" charset="-122"/>
                <a:ea typeface="微软雅黑" panose="020B0503020204020204" pitchFamily="34" charset="-122"/>
              </a:rPr>
              <a:t>指令的地址计算和运算指令的执行步骤规整在同一个周期</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5000"/>
              </a:spcBef>
            </a:pPr>
            <a:r>
              <a:rPr lang="en-US" altLang="zh-CN" sz="2000">
                <a:latin typeface="微软雅黑" panose="020B0503020204020204" pitchFamily="34" charset="-122"/>
                <a:ea typeface="微软雅黑" panose="020B0503020204020204" pitchFamily="34" charset="-122"/>
              </a:rPr>
              <a:t>X86</a:t>
            </a:r>
            <a:r>
              <a:rPr lang="zh-CN" altLang="en-US" sz="2000" dirty="0">
                <a:latin typeface="微软雅黑" panose="020B0503020204020204" pitchFamily="34" charset="-122"/>
                <a:ea typeface="微软雅黑" panose="020B0503020204020204" pitchFamily="34" charset="-122"/>
              </a:rPr>
              <a:t>运算类指令操作数可为内存数据，需计算地址、访存、执行</a:t>
            </a:r>
            <a:endParaRPr lang="zh-CN" altLang="en-US" sz="2000" dirty="0">
              <a:latin typeface="微软雅黑" panose="020B0503020204020204" pitchFamily="34" charset="-122"/>
              <a:ea typeface="微软雅黑" panose="020B0503020204020204" pitchFamily="34" charset="-122"/>
            </a:endParaRPr>
          </a:p>
          <a:p>
            <a:pPr lvl="1">
              <a:lnSpc>
                <a:spcPct val="115000"/>
              </a:lnSpc>
              <a:spcBef>
                <a:spcPct val="15000"/>
              </a:spcBef>
            </a:pPr>
            <a:r>
              <a:rPr lang="zh-CN" altLang="en-US" sz="2000" dirty="0">
                <a:latin typeface="微软雅黑" panose="020B0503020204020204" pitchFamily="34" charset="-122"/>
                <a:ea typeface="微软雅黑" panose="020B0503020204020204" pitchFamily="34" charset="-122"/>
              </a:rPr>
              <a:t>内存中</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对齐”存放，有利于减少访存次数和流水线的规整</a:t>
            </a:r>
            <a:endParaRPr lang="zh-CN" altLang="en-US" sz="2000" dirty="0">
              <a:latin typeface="微软雅黑" panose="020B0503020204020204" pitchFamily="34" charset="-122"/>
              <a:ea typeface="微软雅黑" panose="020B0503020204020204" pitchFamily="34" charset="-122"/>
            </a:endParaRPr>
          </a:p>
          <a:p>
            <a:pPr lvl="1">
              <a:lnSpc>
                <a:spcPct val="115000"/>
              </a:lnSpc>
              <a:spcBef>
                <a:spcPct val="15000"/>
              </a:spcBef>
              <a:buNone/>
            </a:pPr>
            <a:r>
              <a:rPr lang="zh-CN" altLang="en-US" sz="2000" dirty="0">
                <a:solidFill>
                  <a:srgbClr val="008000"/>
                </a:solidFill>
                <a:latin typeface="微软雅黑" panose="020B0503020204020204" pitchFamily="34" charset="-122"/>
                <a:ea typeface="微软雅黑" panose="020B0503020204020204" pitchFamily="34" charset="-122"/>
              </a:rPr>
              <a:t>总之，规整、简单和一致等特性有利于指令的流水线执行</a:t>
            </a:r>
            <a:endParaRPr lang="en-US" altLang="zh-CN" sz="2000">
              <a:latin typeface="微软雅黑" panose="020B0503020204020204" pitchFamily="34" charset="-122"/>
              <a:ea typeface="微软雅黑" panose="020B0503020204020204" pitchFamily="34" charset="-122"/>
            </a:endParaRPr>
          </a:p>
        </p:txBody>
      </p:sp>
      <p:grpSp>
        <p:nvGrpSpPr>
          <p:cNvPr id="559108" name="组合 559107"/>
          <p:cNvGrpSpPr/>
          <p:nvPr/>
        </p:nvGrpSpPr>
        <p:grpSpPr>
          <a:xfrm>
            <a:off x="1843088" y="3192463"/>
            <a:ext cx="5905500" cy="973137"/>
            <a:chOff x="1918" y="672"/>
            <a:chExt cx="3767" cy="613"/>
          </a:xfrm>
        </p:grpSpPr>
        <p:grpSp>
          <p:nvGrpSpPr>
            <p:cNvPr id="171012" name="组合 559108"/>
            <p:cNvGrpSpPr/>
            <p:nvPr/>
          </p:nvGrpSpPr>
          <p:grpSpPr>
            <a:xfrm>
              <a:off x="1918" y="672"/>
              <a:ext cx="3767" cy="421"/>
              <a:chOff x="1918" y="672"/>
              <a:chExt cx="3767" cy="421"/>
            </a:xfrm>
          </p:grpSpPr>
          <p:grpSp>
            <p:nvGrpSpPr>
              <p:cNvPr id="171013" name="组合 559109"/>
              <p:cNvGrpSpPr/>
              <p:nvPr/>
            </p:nvGrpSpPr>
            <p:grpSpPr>
              <a:xfrm>
                <a:off x="1979" y="864"/>
                <a:ext cx="3607" cy="229"/>
                <a:chOff x="1979" y="864"/>
                <a:chExt cx="3607" cy="229"/>
              </a:xfrm>
            </p:grpSpPr>
            <p:sp>
              <p:nvSpPr>
                <p:cNvPr id="171014" name="矩形 559110"/>
                <p:cNvSpPr/>
                <p:nvPr/>
              </p:nvSpPr>
              <p:spPr>
                <a:xfrm>
                  <a:off x="1983" y="872"/>
                  <a:ext cx="3599"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nvGrpSpPr>
                <p:cNvPr id="171015" name="组合 559111"/>
                <p:cNvGrpSpPr/>
                <p:nvPr/>
              </p:nvGrpSpPr>
              <p:grpSpPr>
                <a:xfrm>
                  <a:off x="1979" y="864"/>
                  <a:ext cx="3607" cy="229"/>
                  <a:chOff x="1979" y="864"/>
                  <a:chExt cx="3607" cy="229"/>
                </a:xfrm>
              </p:grpSpPr>
              <p:grpSp>
                <p:nvGrpSpPr>
                  <p:cNvPr id="171016" name="组合 559112"/>
                  <p:cNvGrpSpPr/>
                  <p:nvPr/>
                </p:nvGrpSpPr>
                <p:grpSpPr>
                  <a:xfrm>
                    <a:off x="1979" y="864"/>
                    <a:ext cx="624" cy="229"/>
                    <a:chOff x="1979" y="864"/>
                    <a:chExt cx="624" cy="229"/>
                  </a:xfrm>
                </p:grpSpPr>
                <p:sp>
                  <p:nvSpPr>
                    <p:cNvPr id="171017" name="矩形 559113"/>
                    <p:cNvSpPr/>
                    <p:nvPr/>
                  </p:nvSpPr>
                  <p:spPr>
                    <a:xfrm>
                      <a:off x="1979" y="868"/>
                      <a:ext cx="624"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1018" name="矩形 559114"/>
                    <p:cNvSpPr/>
                    <p:nvPr/>
                  </p:nvSpPr>
                  <p:spPr>
                    <a:xfrm>
                      <a:off x="2161" y="864"/>
                      <a:ext cx="294"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op</a:t>
                      </a:r>
                      <a:endParaRPr lang="en-US" altLang="zh-CN" sz="1800">
                        <a:latin typeface="Arial" panose="020B0604020202020204" pitchFamily="34" charset="0"/>
                        <a:ea typeface="宋体" panose="02010600030101010101" pitchFamily="2" charset="-122"/>
                      </a:endParaRPr>
                    </a:p>
                  </p:txBody>
                </p:sp>
              </p:grpSp>
              <p:grpSp>
                <p:nvGrpSpPr>
                  <p:cNvPr id="171019" name="组合 559115"/>
                  <p:cNvGrpSpPr/>
                  <p:nvPr/>
                </p:nvGrpSpPr>
                <p:grpSpPr>
                  <a:xfrm>
                    <a:off x="2611" y="864"/>
                    <a:ext cx="580" cy="229"/>
                    <a:chOff x="2611" y="864"/>
                    <a:chExt cx="580" cy="229"/>
                  </a:xfrm>
                </p:grpSpPr>
                <p:sp>
                  <p:nvSpPr>
                    <p:cNvPr id="171020" name="矩形 559116"/>
                    <p:cNvSpPr/>
                    <p:nvPr/>
                  </p:nvSpPr>
                  <p:spPr>
                    <a:xfrm>
                      <a:off x="2611" y="868"/>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1021" name="矩形 559117"/>
                    <p:cNvSpPr/>
                    <p:nvPr/>
                  </p:nvSpPr>
                  <p:spPr>
                    <a:xfrm>
                      <a:off x="2776" y="864"/>
                      <a:ext cx="253"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rs</a:t>
                      </a:r>
                      <a:endParaRPr lang="en-US" altLang="zh-CN" sz="1800">
                        <a:latin typeface="Arial" panose="020B0604020202020204" pitchFamily="34" charset="0"/>
                        <a:ea typeface="宋体" panose="02010600030101010101" pitchFamily="2" charset="-122"/>
                      </a:endParaRPr>
                    </a:p>
                  </p:txBody>
                </p:sp>
              </p:grpSp>
              <p:grpSp>
                <p:nvGrpSpPr>
                  <p:cNvPr id="171022" name="组合 559118"/>
                  <p:cNvGrpSpPr/>
                  <p:nvPr/>
                </p:nvGrpSpPr>
                <p:grpSpPr>
                  <a:xfrm>
                    <a:off x="3199" y="864"/>
                    <a:ext cx="579" cy="229"/>
                    <a:chOff x="3199" y="864"/>
                    <a:chExt cx="579" cy="229"/>
                  </a:xfrm>
                </p:grpSpPr>
                <p:sp>
                  <p:nvSpPr>
                    <p:cNvPr id="171023" name="矩形 559119"/>
                    <p:cNvSpPr/>
                    <p:nvPr/>
                  </p:nvSpPr>
                  <p:spPr>
                    <a:xfrm>
                      <a:off x="3199" y="868"/>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1024" name="矩形 559120"/>
                    <p:cNvSpPr/>
                    <p:nvPr/>
                  </p:nvSpPr>
                  <p:spPr>
                    <a:xfrm>
                      <a:off x="3363" y="864"/>
                      <a:ext cx="221"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rt</a:t>
                      </a:r>
                      <a:endParaRPr lang="en-US" altLang="zh-CN" sz="1800">
                        <a:latin typeface="Arial" panose="020B0604020202020204" pitchFamily="34" charset="0"/>
                        <a:ea typeface="宋体" panose="02010600030101010101" pitchFamily="2" charset="-122"/>
                      </a:endParaRPr>
                    </a:p>
                  </p:txBody>
                </p:sp>
              </p:grpSp>
              <p:grpSp>
                <p:nvGrpSpPr>
                  <p:cNvPr id="171025" name="组合 559121"/>
                  <p:cNvGrpSpPr/>
                  <p:nvPr/>
                </p:nvGrpSpPr>
                <p:grpSpPr>
                  <a:xfrm>
                    <a:off x="3786" y="864"/>
                    <a:ext cx="579" cy="229"/>
                    <a:chOff x="3786" y="864"/>
                    <a:chExt cx="579" cy="229"/>
                  </a:xfrm>
                </p:grpSpPr>
                <p:sp>
                  <p:nvSpPr>
                    <p:cNvPr id="171026" name="矩形 559122"/>
                    <p:cNvSpPr/>
                    <p:nvPr/>
                  </p:nvSpPr>
                  <p:spPr>
                    <a:xfrm>
                      <a:off x="3786" y="868"/>
                      <a:ext cx="579"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1027" name="矩形 559123"/>
                    <p:cNvSpPr/>
                    <p:nvPr/>
                  </p:nvSpPr>
                  <p:spPr>
                    <a:xfrm>
                      <a:off x="3951" y="864"/>
                      <a:ext cx="262" cy="229"/>
                    </a:xfrm>
                    <a:prstGeom prst="rect">
                      <a:avLst/>
                    </a:prstGeom>
                    <a:noFill/>
                    <a:ln w="12700">
                      <a:noFill/>
                    </a:ln>
                  </p:spPr>
                  <p:txBody>
                    <a:bodyPr wrap="none" lIns="90488" tIns="44450" rIns="90488" bIns="44450" anchor="t" anchorCtr="0">
                      <a:spAutoFit/>
                    </a:bodyPr>
                    <a:p>
                      <a:pPr eaLnBrk="0" hangingPunct="0"/>
                      <a:r>
                        <a:rPr lang="en-US" altLang="zh-CN" sz="1800">
                          <a:latin typeface="Arial" panose="020B0604020202020204" pitchFamily="34" charset="0"/>
                          <a:ea typeface="宋体" panose="02010600030101010101" pitchFamily="2" charset="-122"/>
                        </a:rPr>
                        <a:t>rd</a:t>
                      </a:r>
                      <a:endParaRPr lang="en-US" altLang="zh-CN" sz="1800">
                        <a:latin typeface="Arial" panose="020B0604020202020204" pitchFamily="34" charset="0"/>
                        <a:ea typeface="宋体" panose="02010600030101010101" pitchFamily="2" charset="-122"/>
                      </a:endParaRPr>
                    </a:p>
                  </p:txBody>
                </p:sp>
              </p:grpSp>
              <p:grpSp>
                <p:nvGrpSpPr>
                  <p:cNvPr id="171028" name="组合 559124"/>
                  <p:cNvGrpSpPr/>
                  <p:nvPr/>
                </p:nvGrpSpPr>
                <p:grpSpPr>
                  <a:xfrm>
                    <a:off x="4373" y="864"/>
                    <a:ext cx="620" cy="229"/>
                    <a:chOff x="4373" y="864"/>
                    <a:chExt cx="620" cy="229"/>
                  </a:xfrm>
                </p:grpSpPr>
                <p:sp>
                  <p:nvSpPr>
                    <p:cNvPr id="171029" name="矩形 559125"/>
                    <p:cNvSpPr/>
                    <p:nvPr/>
                  </p:nvSpPr>
                  <p:spPr>
                    <a:xfrm>
                      <a:off x="4373" y="868"/>
                      <a:ext cx="580"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1030" name="矩形 559126"/>
                    <p:cNvSpPr/>
                    <p:nvPr/>
                  </p:nvSpPr>
                  <p:spPr>
                    <a:xfrm>
                      <a:off x="4448" y="864"/>
                      <a:ext cx="545"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shamt</a:t>
                      </a:r>
                      <a:endParaRPr lang="en-US" altLang="zh-CN" sz="1800">
                        <a:latin typeface="Arial" panose="020B0604020202020204" pitchFamily="34" charset="0"/>
                        <a:ea typeface="宋体" panose="02010600030101010101" pitchFamily="2" charset="-122"/>
                      </a:endParaRPr>
                    </a:p>
                  </p:txBody>
                </p:sp>
              </p:grpSp>
              <p:grpSp>
                <p:nvGrpSpPr>
                  <p:cNvPr id="171031" name="组合 559127"/>
                  <p:cNvGrpSpPr/>
                  <p:nvPr/>
                </p:nvGrpSpPr>
                <p:grpSpPr>
                  <a:xfrm>
                    <a:off x="4961" y="864"/>
                    <a:ext cx="625" cy="229"/>
                    <a:chOff x="4961" y="864"/>
                    <a:chExt cx="625" cy="229"/>
                  </a:xfrm>
                </p:grpSpPr>
                <p:sp>
                  <p:nvSpPr>
                    <p:cNvPr id="171032" name="矩形 559128"/>
                    <p:cNvSpPr/>
                    <p:nvPr/>
                  </p:nvSpPr>
                  <p:spPr>
                    <a:xfrm>
                      <a:off x="4961" y="868"/>
                      <a:ext cx="625" cy="18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1033" name="矩形 559129"/>
                    <p:cNvSpPr/>
                    <p:nvPr/>
                  </p:nvSpPr>
                  <p:spPr>
                    <a:xfrm>
                      <a:off x="5143" y="864"/>
                      <a:ext cx="424" cy="229"/>
                    </a:xfrm>
                    <a:prstGeom prst="rect">
                      <a:avLst/>
                    </a:prstGeom>
                    <a:noFill/>
                    <a:ln w="12700">
                      <a:noFill/>
                    </a:ln>
                  </p:spPr>
                  <p:txBody>
                    <a:bodyPr wrap="none" lIns="90488" tIns="44450" rIns="90488" bIns="44450" anchor="t" anchorCtr="0">
                      <a:spAutoFit/>
                    </a:bodyPr>
                    <a:p>
                      <a:pPr eaLnBrk="0" hangingPunct="0"/>
                      <a:r>
                        <a:rPr lang="en-US" altLang="zh-CN" sz="1800" err="1">
                          <a:latin typeface="Arial" panose="020B0604020202020204" pitchFamily="34" charset="0"/>
                          <a:ea typeface="宋体" panose="02010600030101010101" pitchFamily="2" charset="-122"/>
                        </a:rPr>
                        <a:t>func</a:t>
                      </a:r>
                      <a:endParaRPr lang="en-US" altLang="zh-CN" sz="1800">
                        <a:latin typeface="Arial" panose="020B0604020202020204" pitchFamily="34" charset="0"/>
                        <a:ea typeface="宋体" panose="02010600030101010101" pitchFamily="2" charset="-122"/>
                      </a:endParaRPr>
                    </a:p>
                  </p:txBody>
                </p:sp>
              </p:grpSp>
            </p:grpSp>
          </p:grpSp>
          <p:sp>
            <p:nvSpPr>
              <p:cNvPr id="171034" name="矩形 559130"/>
              <p:cNvSpPr/>
              <p:nvPr/>
            </p:nvSpPr>
            <p:spPr>
              <a:xfrm>
                <a:off x="5488" y="672"/>
                <a:ext cx="1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0</a:t>
                </a:r>
                <a:endParaRPr lang="zh-CN" altLang="en-US" sz="1800" dirty="0">
                  <a:latin typeface="Arial" panose="020B0604020202020204" pitchFamily="34" charset="0"/>
                  <a:ea typeface="宋体" panose="02010600030101010101" pitchFamily="2" charset="-122"/>
                </a:endParaRPr>
              </a:p>
            </p:txBody>
          </p:sp>
          <p:sp>
            <p:nvSpPr>
              <p:cNvPr id="171035" name="矩形 559131"/>
              <p:cNvSpPr/>
              <p:nvPr/>
            </p:nvSpPr>
            <p:spPr>
              <a:xfrm>
                <a:off x="4810" y="672"/>
                <a:ext cx="1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a:t>
                </a:r>
                <a:endParaRPr lang="zh-CN" altLang="en-US" sz="1800" dirty="0">
                  <a:latin typeface="Arial" panose="020B0604020202020204" pitchFamily="34" charset="0"/>
                  <a:ea typeface="宋体" panose="02010600030101010101" pitchFamily="2" charset="-122"/>
                </a:endParaRPr>
              </a:p>
            </p:txBody>
          </p:sp>
          <p:sp>
            <p:nvSpPr>
              <p:cNvPr id="171036" name="矩形 559132"/>
              <p:cNvSpPr/>
              <p:nvPr/>
            </p:nvSpPr>
            <p:spPr>
              <a:xfrm>
                <a:off x="4177"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11</a:t>
                </a:r>
                <a:endParaRPr lang="zh-CN" altLang="en-US" sz="1800" dirty="0">
                  <a:latin typeface="Arial" panose="020B0604020202020204" pitchFamily="34" charset="0"/>
                  <a:ea typeface="宋体" panose="02010600030101010101" pitchFamily="2" charset="-122"/>
                </a:endParaRPr>
              </a:p>
            </p:txBody>
          </p:sp>
          <p:sp>
            <p:nvSpPr>
              <p:cNvPr id="171037" name="矩形 559133"/>
              <p:cNvSpPr/>
              <p:nvPr/>
            </p:nvSpPr>
            <p:spPr>
              <a:xfrm>
                <a:off x="3589"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16</a:t>
                </a:r>
                <a:endParaRPr lang="zh-CN" altLang="en-US" sz="1800" dirty="0">
                  <a:latin typeface="Arial" panose="020B0604020202020204" pitchFamily="34" charset="0"/>
                  <a:ea typeface="宋体" panose="02010600030101010101" pitchFamily="2" charset="-122"/>
                </a:endParaRPr>
              </a:p>
            </p:txBody>
          </p:sp>
          <p:sp>
            <p:nvSpPr>
              <p:cNvPr id="171038" name="矩形 559134"/>
              <p:cNvSpPr/>
              <p:nvPr/>
            </p:nvSpPr>
            <p:spPr>
              <a:xfrm>
                <a:off x="3002"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21</a:t>
                </a:r>
                <a:endParaRPr lang="zh-CN" altLang="en-US" sz="1800" dirty="0">
                  <a:latin typeface="Arial" panose="020B0604020202020204" pitchFamily="34" charset="0"/>
                  <a:ea typeface="宋体" panose="02010600030101010101" pitchFamily="2" charset="-122"/>
                </a:endParaRPr>
              </a:p>
            </p:txBody>
          </p:sp>
          <p:sp>
            <p:nvSpPr>
              <p:cNvPr id="171039" name="矩形 559135"/>
              <p:cNvSpPr/>
              <p:nvPr/>
            </p:nvSpPr>
            <p:spPr>
              <a:xfrm>
                <a:off x="2414"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26</a:t>
                </a:r>
                <a:endParaRPr lang="zh-CN" altLang="en-US" sz="1800" dirty="0">
                  <a:latin typeface="Arial" panose="020B0604020202020204" pitchFamily="34" charset="0"/>
                  <a:ea typeface="宋体" panose="02010600030101010101" pitchFamily="2" charset="-122"/>
                </a:endParaRPr>
              </a:p>
            </p:txBody>
          </p:sp>
          <p:sp>
            <p:nvSpPr>
              <p:cNvPr id="171040" name="矩形 559136"/>
              <p:cNvSpPr/>
              <p:nvPr/>
            </p:nvSpPr>
            <p:spPr>
              <a:xfrm>
                <a:off x="1918" y="672"/>
                <a:ext cx="278"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31</a:t>
                </a:r>
                <a:endParaRPr lang="zh-CN" altLang="en-US" sz="1800" dirty="0">
                  <a:latin typeface="Arial" panose="020B0604020202020204" pitchFamily="34" charset="0"/>
                  <a:ea typeface="宋体" panose="02010600030101010101" pitchFamily="2" charset="-122"/>
                </a:endParaRPr>
              </a:p>
            </p:txBody>
          </p:sp>
        </p:grpSp>
        <p:sp>
          <p:nvSpPr>
            <p:cNvPr id="171041" name="矩形 559137"/>
            <p:cNvSpPr/>
            <p:nvPr/>
          </p:nvSpPr>
          <p:spPr>
            <a:xfrm>
              <a:off x="2143" y="1056"/>
              <a:ext cx="496"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171042" name="矩形 559138"/>
            <p:cNvSpPr/>
            <p:nvPr/>
          </p:nvSpPr>
          <p:spPr>
            <a:xfrm>
              <a:off x="5126"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6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171043" name="矩形 559139"/>
            <p:cNvSpPr/>
            <p:nvPr/>
          </p:nvSpPr>
          <p:spPr>
            <a:xfrm>
              <a:off x="4493"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171044" name="矩形 559140"/>
            <p:cNvSpPr/>
            <p:nvPr/>
          </p:nvSpPr>
          <p:spPr>
            <a:xfrm>
              <a:off x="3906" y="1056"/>
              <a:ext cx="497"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171045" name="矩形 559141"/>
            <p:cNvSpPr/>
            <p:nvPr/>
          </p:nvSpPr>
          <p:spPr>
            <a:xfrm>
              <a:off x="3317" y="1056"/>
              <a:ext cx="490" cy="229"/>
            </a:xfrm>
            <a:prstGeom prst="rect">
              <a:avLst/>
            </a:prstGeom>
            <a:noFill/>
            <a:ln w="12700">
              <a:noFill/>
            </a:ln>
          </p:spPr>
          <p:txBody>
            <a:bodyPr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sp>
          <p:nvSpPr>
            <p:cNvPr id="171046" name="矩形 559142"/>
            <p:cNvSpPr/>
            <p:nvPr/>
          </p:nvSpPr>
          <p:spPr>
            <a:xfrm>
              <a:off x="2731" y="1056"/>
              <a:ext cx="489" cy="229"/>
            </a:xfrm>
            <a:prstGeom prst="rect">
              <a:avLst/>
            </a:prstGeom>
            <a:noFill/>
            <a:ln w="12700">
              <a:noFill/>
            </a:ln>
          </p:spPr>
          <p:txBody>
            <a:bodyPr wrap="none" lIns="90488" tIns="44450" rIns="90488" bIns="44450" anchor="t" anchorCtr="0">
              <a:spAutoFit/>
            </a:bodyPr>
            <a:p>
              <a:pPr eaLnBrk="0" hangingPunct="0"/>
              <a:r>
                <a:rPr lang="zh-CN" altLang="en-US" sz="1800" dirty="0">
                  <a:latin typeface="Arial" panose="020B0604020202020204" pitchFamily="34" charset="0"/>
                  <a:ea typeface="宋体" panose="02010600030101010101" pitchFamily="2" charset="-122"/>
                </a:rPr>
                <a:t>5</a:t>
              </a:r>
              <a:r>
                <a:rPr lang="zh-CN" altLang="en-US" b="0" dirty="0">
                  <a:latin typeface="Times New Roman" panose="02020603050405020304" pitchFamily="18" charset="0"/>
                  <a:ea typeface="宋体" panose="02010600030101010101" pitchFamily="2" charset="-122"/>
                </a:rPr>
                <a:t> </a:t>
              </a:r>
              <a:r>
                <a:rPr lang="en-US" altLang="zh-CN" sz="1800">
                  <a:latin typeface="Arial" panose="020B0604020202020204" pitchFamily="34" charset="0"/>
                  <a:ea typeface="宋体" panose="02010600030101010101" pitchFamily="2" charset="-122"/>
                </a:rPr>
                <a:t>bits</a:t>
              </a:r>
              <a:endParaRPr lang="en-US" altLang="zh-CN" sz="1800">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9107">
                                            <p:txEl>
                                              <p:charRg st="21" end="44"/>
                                            </p:txEl>
                                          </p:spTgt>
                                        </p:tgtEl>
                                        <p:attrNameLst>
                                          <p:attrName>style.visibility</p:attrName>
                                        </p:attrNameLst>
                                      </p:cBhvr>
                                      <p:to>
                                        <p:strVal val="visible"/>
                                      </p:to>
                                    </p:set>
                                    <p:animEffect transition="in" filter="blinds(horizontal)">
                                      <p:cBhvr>
                                        <p:cTn id="7" dur="500"/>
                                        <p:tgtEl>
                                          <p:spTgt spid="559107">
                                            <p:txEl>
                                              <p:charRg st="21" end="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9107">
                                            <p:txEl>
                                              <p:charRg st="44" end="67"/>
                                            </p:txEl>
                                          </p:spTgt>
                                        </p:tgtEl>
                                        <p:attrNameLst>
                                          <p:attrName>style.visibility</p:attrName>
                                        </p:attrNameLst>
                                      </p:cBhvr>
                                      <p:to>
                                        <p:strVal val="visible"/>
                                      </p:to>
                                    </p:set>
                                    <p:animEffect transition="in" filter="blinds(horizontal)">
                                      <p:cBhvr>
                                        <p:cTn id="12" dur="500"/>
                                        <p:tgtEl>
                                          <p:spTgt spid="559107">
                                            <p:txEl>
                                              <p:charRg st="44"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59107">
                                            <p:txEl>
                                              <p:charRg st="67" end="94"/>
                                            </p:txEl>
                                          </p:spTgt>
                                        </p:tgtEl>
                                        <p:attrNameLst>
                                          <p:attrName>style.visibility</p:attrName>
                                        </p:attrNameLst>
                                      </p:cBhvr>
                                      <p:to>
                                        <p:strVal val="visible"/>
                                      </p:to>
                                    </p:set>
                                    <p:animEffect transition="in" filter="blinds(horizontal)">
                                      <p:cBhvr>
                                        <p:cTn id="17" dur="500"/>
                                        <p:tgtEl>
                                          <p:spTgt spid="559107">
                                            <p:txEl>
                                              <p:charRg st="67" end="9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59107">
                                            <p:txEl>
                                              <p:charRg st="94" end="124"/>
                                            </p:txEl>
                                          </p:spTgt>
                                        </p:tgtEl>
                                        <p:attrNameLst>
                                          <p:attrName>style.visibility</p:attrName>
                                        </p:attrNameLst>
                                      </p:cBhvr>
                                      <p:to>
                                        <p:strVal val="visible"/>
                                      </p:to>
                                    </p:set>
                                    <p:animEffect transition="in" filter="blinds(horizontal)">
                                      <p:cBhvr>
                                        <p:cTn id="22" dur="500"/>
                                        <p:tgtEl>
                                          <p:spTgt spid="559107">
                                            <p:txEl>
                                              <p:charRg st="94" end="12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59107">
                                            <p:txEl>
                                              <p:charRg st="124" end="158"/>
                                            </p:txEl>
                                          </p:spTgt>
                                        </p:tgtEl>
                                        <p:attrNameLst>
                                          <p:attrName>style.visibility</p:attrName>
                                        </p:attrNameLst>
                                      </p:cBhvr>
                                      <p:to>
                                        <p:strVal val="visible"/>
                                      </p:to>
                                    </p:set>
                                    <p:animEffect transition="in" filter="blinds(horizontal)">
                                      <p:cBhvr>
                                        <p:cTn id="27" dur="500"/>
                                        <p:tgtEl>
                                          <p:spTgt spid="559107">
                                            <p:txEl>
                                              <p:charRg st="124" end="15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59108"/>
                                        </p:tgtEl>
                                        <p:attrNameLst>
                                          <p:attrName>style.visibility</p:attrName>
                                        </p:attrNameLst>
                                      </p:cBhvr>
                                      <p:to>
                                        <p:strVal val="visible"/>
                                      </p:to>
                                    </p:set>
                                    <p:animEffect transition="in" filter="blinds(horizontal)">
                                      <p:cBhvr>
                                        <p:cTn id="32" dur="500"/>
                                        <p:tgtEl>
                                          <p:spTgt spid="55910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59107">
                                            <p:txEl>
                                              <p:charRg st="161" end="191"/>
                                            </p:txEl>
                                          </p:spTgt>
                                        </p:tgtEl>
                                        <p:attrNameLst>
                                          <p:attrName>style.visibility</p:attrName>
                                        </p:attrNameLst>
                                      </p:cBhvr>
                                      <p:to>
                                        <p:strVal val="visible"/>
                                      </p:to>
                                    </p:set>
                                    <p:animEffect transition="in" filter="blinds(horizontal)">
                                      <p:cBhvr>
                                        <p:cTn id="37" dur="500"/>
                                        <p:tgtEl>
                                          <p:spTgt spid="559107">
                                            <p:txEl>
                                              <p:charRg st="161" end="19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59107">
                                            <p:txEl>
                                              <p:charRg st="191" end="229"/>
                                            </p:txEl>
                                          </p:spTgt>
                                        </p:tgtEl>
                                        <p:attrNameLst>
                                          <p:attrName>style.visibility</p:attrName>
                                        </p:attrNameLst>
                                      </p:cBhvr>
                                      <p:to>
                                        <p:strVal val="visible"/>
                                      </p:to>
                                    </p:set>
                                    <p:animEffect transition="in" filter="blinds(horizontal)">
                                      <p:cBhvr>
                                        <p:cTn id="42" dur="500"/>
                                        <p:tgtEl>
                                          <p:spTgt spid="559107">
                                            <p:txEl>
                                              <p:charRg st="191" end="22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59107">
                                            <p:txEl>
                                              <p:charRg st="229" end="260"/>
                                            </p:txEl>
                                          </p:spTgt>
                                        </p:tgtEl>
                                        <p:attrNameLst>
                                          <p:attrName>style.visibility</p:attrName>
                                        </p:attrNameLst>
                                      </p:cBhvr>
                                      <p:to>
                                        <p:strVal val="visible"/>
                                      </p:to>
                                    </p:set>
                                    <p:animEffect transition="in" filter="blinds(horizontal)">
                                      <p:cBhvr>
                                        <p:cTn id="47" dur="500"/>
                                        <p:tgtEl>
                                          <p:spTgt spid="559107">
                                            <p:txEl>
                                              <p:charRg st="229" end="26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59107">
                                            <p:txEl>
                                              <p:charRg st="260" end="290"/>
                                            </p:txEl>
                                          </p:spTgt>
                                        </p:tgtEl>
                                        <p:attrNameLst>
                                          <p:attrName>style.visibility</p:attrName>
                                        </p:attrNameLst>
                                      </p:cBhvr>
                                      <p:to>
                                        <p:strVal val="visible"/>
                                      </p:to>
                                    </p:set>
                                    <p:animEffect transition="in" filter="blinds(horizontal)">
                                      <p:cBhvr>
                                        <p:cTn id="52" dur="500"/>
                                        <p:tgtEl>
                                          <p:spTgt spid="559107">
                                            <p:txEl>
                                              <p:charRg st="260" end="29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59107">
                                            <p:txEl>
                                              <p:charRg st="290" end="317"/>
                                            </p:txEl>
                                          </p:spTgt>
                                        </p:tgtEl>
                                        <p:attrNameLst>
                                          <p:attrName>style.visibility</p:attrName>
                                        </p:attrNameLst>
                                      </p:cBhvr>
                                      <p:to>
                                        <p:strVal val="visible"/>
                                      </p:to>
                                    </p:set>
                                    <p:animEffect transition="in" filter="blinds(horizontal)">
                                      <p:cBhvr>
                                        <p:cTn id="57" dur="500"/>
                                        <p:tgtEl>
                                          <p:spTgt spid="559107">
                                            <p:txEl>
                                              <p:charRg st="290" end="31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59107">
                                            <p:txEl>
                                              <p:charRg st="317" end="343"/>
                                            </p:txEl>
                                          </p:spTgt>
                                        </p:tgtEl>
                                        <p:attrNameLst>
                                          <p:attrName>style.visibility</p:attrName>
                                        </p:attrNameLst>
                                      </p:cBhvr>
                                      <p:to>
                                        <p:strVal val="visible"/>
                                      </p:to>
                                    </p:set>
                                    <p:animEffect transition="in" filter="blinds(horizontal)">
                                      <p:cBhvr>
                                        <p:cTn id="62" dur="500"/>
                                        <p:tgtEl>
                                          <p:spTgt spid="559107">
                                            <p:txEl>
                                              <p:charRg st="317" end="3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3" name="Rectangle 2"/>
          <p:cNvSpPr>
            <a:spLocks noGrp="1"/>
          </p:cNvSpPr>
          <p:nvPr>
            <p:ph type="title"/>
          </p:nvPr>
        </p:nvSpPr>
        <p:spPr>
          <a:xfrm>
            <a:off x="711200" y="68263"/>
            <a:ext cx="6283325" cy="528637"/>
          </a:xfrm>
          <a:ln/>
        </p:spPr>
        <p:txBody>
          <a:bodyPr vert="horz" wrap="square" lIns="63500" tIns="25400" rIns="63500" bIns="25400" anchor="ctr" anchorCtr="0">
            <a:spAutoFit/>
          </a:bodyPr>
          <a:p>
            <a:r>
              <a:rPr lang="zh-CN" altLang="en-US" dirty="0">
                <a:latin typeface="黑体" panose="02010609060101010101" pitchFamily="49" charset="-122"/>
              </a:rPr>
              <a:t>按指令格式的复杂度来分</a:t>
            </a:r>
            <a:endParaRPr lang="zh-CN" altLang="en-US" dirty="0">
              <a:latin typeface="黑体" panose="02010609060101010101" pitchFamily="49" charset="-122"/>
            </a:endParaRPr>
          </a:p>
        </p:txBody>
      </p:sp>
      <p:sp>
        <p:nvSpPr>
          <p:cNvPr id="410627" name="Rectangle 3"/>
          <p:cNvSpPr>
            <a:spLocks noGrp="1"/>
          </p:cNvSpPr>
          <p:nvPr>
            <p:ph type="body"/>
          </p:nvPr>
        </p:nvSpPr>
        <p:spPr>
          <a:xfrm>
            <a:off x="276225" y="1958975"/>
            <a:ext cx="8385175" cy="3713163"/>
          </a:xfrm>
          <a:ln/>
        </p:spPr>
        <p:txBody>
          <a:bodyPr vert="horz" wrap="square" lIns="91440" tIns="45720" rIns="91440" bIns="45720" anchor="t" anchorCtr="0">
            <a:spAutoFit/>
          </a:bodyPr>
          <a:p>
            <a:pPr marL="285750" indent="-285750">
              <a:lnSpc>
                <a:spcPct val="105000"/>
              </a:lnSpc>
              <a:spcBef>
                <a:spcPct val="15000"/>
              </a:spcBef>
              <a:buNone/>
            </a:pPr>
            <a:r>
              <a:rPr lang="zh-CN" altLang="en-US" sz="2000" dirty="0">
                <a:latin typeface="微软雅黑" panose="020B0503020204020204" pitchFamily="34" charset="-122"/>
                <a:ea typeface="微软雅黑" panose="020B0503020204020204" pitchFamily="34" charset="-122"/>
              </a:rPr>
              <a:t>早期</a:t>
            </a:r>
            <a:r>
              <a:rPr lang="en-US" altLang="en-US" sz="2000">
                <a:latin typeface="微软雅黑" panose="020B0503020204020204" pitchFamily="34" charset="-122"/>
                <a:ea typeface="微软雅黑" panose="020B0503020204020204" pitchFamily="34" charset="-122"/>
              </a:rPr>
              <a:t>CISC</a:t>
            </a:r>
            <a:r>
              <a:rPr lang="zh-CN" altLang="en-US" sz="2000" dirty="0">
                <a:latin typeface="微软雅黑" panose="020B0503020204020204" pitchFamily="34" charset="-122"/>
                <a:ea typeface="微软雅黑" panose="020B0503020204020204" pitchFamily="34" charset="-122"/>
              </a:rPr>
              <a:t>设计风格的主要特点</a:t>
            </a:r>
            <a:endParaRPr lang="zh-CN" altLang="en-US" sz="2000" dirty="0">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0033CC"/>
                </a:solidFill>
                <a:latin typeface="微软雅黑" panose="020B0503020204020204" pitchFamily="34" charset="-122"/>
                <a:ea typeface="微软雅黑" panose="020B0503020204020204" pitchFamily="34" charset="-122"/>
              </a:rPr>
              <a:t>(1) 指令系统复杂</a:t>
            </a:r>
            <a:endParaRPr lang="zh-CN" altLang="en-US" sz="2000" dirty="0">
              <a:solidFill>
                <a:srgbClr val="0033CC"/>
              </a:solidFill>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C2228D"/>
                </a:solidFill>
                <a:latin typeface="微软雅黑" panose="020B0503020204020204" pitchFamily="34" charset="-122"/>
                <a:ea typeface="微软雅黑" panose="020B0503020204020204" pitchFamily="34" charset="-122"/>
              </a:rPr>
              <a:t>     </a:t>
            </a:r>
            <a:r>
              <a:rPr lang="zh-CN" altLang="en-US" sz="2000" dirty="0">
                <a:solidFill>
                  <a:srgbClr val="A50021"/>
                </a:solidFill>
                <a:latin typeface="微软雅黑" panose="020B0503020204020204" pitchFamily="34" charset="-122"/>
                <a:ea typeface="微软雅黑" panose="020B0503020204020204" pitchFamily="34" charset="-122"/>
              </a:rPr>
              <a:t>变长操作码 </a:t>
            </a:r>
            <a:r>
              <a:rPr lang="en-US" altLang="zh-CN" sz="2000">
                <a:solidFill>
                  <a:srgbClr val="A50021"/>
                </a:solidFill>
                <a:latin typeface="微软雅黑" panose="020B0503020204020204" pitchFamily="34" charset="-122"/>
                <a:ea typeface="微软雅黑" panose="020B0503020204020204" pitchFamily="34" charset="-122"/>
              </a:rPr>
              <a:t>/ </a:t>
            </a:r>
            <a:r>
              <a:rPr lang="zh-CN" altLang="en-US" sz="2000" dirty="0">
                <a:solidFill>
                  <a:srgbClr val="A50021"/>
                </a:solidFill>
                <a:latin typeface="微软雅黑" panose="020B0503020204020204" pitchFamily="34" charset="-122"/>
                <a:ea typeface="微软雅黑" panose="020B0503020204020204" pitchFamily="34" charset="-122"/>
              </a:rPr>
              <a:t>变长指令字 </a:t>
            </a:r>
            <a:r>
              <a:rPr lang="en-US" altLang="zh-CN" sz="2000">
                <a:solidFill>
                  <a:srgbClr val="A50021"/>
                </a:solidFill>
                <a:latin typeface="微软雅黑" panose="020B0503020204020204" pitchFamily="34" charset="-122"/>
                <a:ea typeface="微软雅黑" panose="020B0503020204020204" pitchFamily="34" charset="-122"/>
              </a:rPr>
              <a:t>/ </a:t>
            </a:r>
            <a:r>
              <a:rPr lang="zh-CN" altLang="en-US" sz="2000" dirty="0">
                <a:solidFill>
                  <a:srgbClr val="A50021"/>
                </a:solidFill>
                <a:latin typeface="微软雅黑" panose="020B0503020204020204" pitchFamily="34" charset="-122"/>
                <a:ea typeface="微软雅黑" panose="020B0503020204020204" pitchFamily="34" charset="-122"/>
              </a:rPr>
              <a:t>指令多 / 寻址方式多 / 指令格式多 </a:t>
            </a:r>
            <a:endParaRPr lang="zh-CN" altLang="en-US" sz="2000" dirty="0">
              <a:solidFill>
                <a:srgbClr val="A50021"/>
              </a:solidFill>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0033CC"/>
                </a:solidFill>
                <a:latin typeface="微软雅黑" panose="020B0503020204020204" pitchFamily="34" charset="-122"/>
                <a:ea typeface="微软雅黑" panose="020B0503020204020204" pitchFamily="34" charset="-122"/>
              </a:rPr>
              <a:t>(2) 指令周期长</a:t>
            </a:r>
            <a:endParaRPr lang="zh-CN" altLang="en-US" sz="2000" dirty="0">
              <a:solidFill>
                <a:srgbClr val="0033CC"/>
              </a:solidFill>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C2228D"/>
                </a:solidFill>
                <a:latin typeface="微软雅黑" panose="020B0503020204020204" pitchFamily="34" charset="-122"/>
                <a:ea typeface="微软雅黑" panose="020B0503020204020204" pitchFamily="34" charset="-122"/>
              </a:rPr>
              <a:t>      </a:t>
            </a:r>
            <a:r>
              <a:rPr lang="zh-CN" altLang="en-US" sz="2000" dirty="0">
                <a:solidFill>
                  <a:srgbClr val="A50021"/>
                </a:solidFill>
                <a:latin typeface="微软雅黑" panose="020B0503020204020204" pitchFamily="34" charset="-122"/>
                <a:ea typeface="微软雅黑" panose="020B0503020204020204" pitchFamily="34" charset="-122"/>
              </a:rPr>
              <a:t>绝大多数指令需要多个时钟周期才能完成</a:t>
            </a:r>
            <a:endParaRPr lang="zh-CN" altLang="en-US" sz="2000" dirty="0">
              <a:solidFill>
                <a:srgbClr val="A50021"/>
              </a:solidFill>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0033CC"/>
                </a:solidFill>
                <a:latin typeface="微软雅黑" panose="020B0503020204020204" pitchFamily="34" charset="-122"/>
                <a:ea typeface="微软雅黑" panose="020B0503020204020204" pitchFamily="34" charset="-122"/>
              </a:rPr>
              <a:t>(3) 各种指令都能访问存储器</a:t>
            </a:r>
            <a:endParaRPr lang="zh-CN" altLang="en-US" sz="2000" dirty="0">
              <a:solidFill>
                <a:srgbClr val="0033CC"/>
              </a:solidFill>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C2228D"/>
                </a:solidFill>
                <a:latin typeface="微软雅黑" panose="020B0503020204020204" pitchFamily="34" charset="-122"/>
                <a:ea typeface="微软雅黑" panose="020B0503020204020204" pitchFamily="34" charset="-122"/>
              </a:rPr>
              <a:t>      </a:t>
            </a:r>
            <a:r>
              <a:rPr lang="zh-CN" altLang="en-US" sz="2000" dirty="0">
                <a:solidFill>
                  <a:srgbClr val="A50021"/>
                </a:solidFill>
                <a:latin typeface="微软雅黑" panose="020B0503020204020204" pitchFamily="34" charset="-122"/>
                <a:ea typeface="微软雅黑" panose="020B0503020204020204" pitchFamily="34" charset="-122"/>
              </a:rPr>
              <a:t>除了专门的存储器读写指令外，运算指令也能访问存储器</a:t>
            </a:r>
            <a:endParaRPr lang="zh-CN" altLang="en-US" sz="2000" dirty="0">
              <a:solidFill>
                <a:srgbClr val="A50021"/>
              </a:solidFill>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C2228D"/>
                </a:solidFill>
                <a:latin typeface="微软雅黑" panose="020B0503020204020204" pitchFamily="34" charset="-122"/>
                <a:ea typeface="微软雅黑" panose="020B0503020204020204" pitchFamily="34" charset="-122"/>
              </a:rPr>
              <a:t> </a:t>
            </a:r>
            <a:r>
              <a:rPr lang="zh-CN" altLang="en-US" sz="2000" dirty="0">
                <a:solidFill>
                  <a:srgbClr val="0033CC"/>
                </a:solidFill>
                <a:latin typeface="微软雅黑" panose="020B0503020204020204" pitchFamily="34" charset="-122"/>
                <a:ea typeface="微软雅黑" panose="020B0503020204020204" pitchFamily="34" charset="-122"/>
              </a:rPr>
              <a:t>(4) 采用微程序控制</a:t>
            </a:r>
            <a:endParaRPr lang="zh-CN" altLang="en-US" sz="2000" dirty="0">
              <a:solidFill>
                <a:srgbClr val="0033CC"/>
              </a:solidFill>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0033CC"/>
                </a:solidFill>
                <a:latin typeface="微软雅黑" panose="020B0503020204020204" pitchFamily="34" charset="-122"/>
                <a:ea typeface="微软雅黑" panose="020B0503020204020204" pitchFamily="34" charset="-122"/>
              </a:rPr>
              <a:t> (5) 有专用寄存器</a:t>
            </a:r>
            <a:endParaRPr lang="zh-CN" altLang="en-US" sz="2000" dirty="0">
              <a:solidFill>
                <a:srgbClr val="0033CC"/>
              </a:solidFill>
              <a:latin typeface="微软雅黑" panose="020B0503020204020204" pitchFamily="34" charset="-122"/>
              <a:ea typeface="微软雅黑" panose="020B0503020204020204" pitchFamily="34" charset="-122"/>
            </a:endParaRPr>
          </a:p>
          <a:p>
            <a:pPr marL="285750" indent="-285750">
              <a:lnSpc>
                <a:spcPct val="105000"/>
              </a:lnSpc>
              <a:spcBef>
                <a:spcPct val="15000"/>
              </a:spcBef>
              <a:buFont typeface="Monotype Sorts" pitchFamily="2" charset="2"/>
              <a:buChar char=" "/>
            </a:pPr>
            <a:r>
              <a:rPr lang="zh-CN" altLang="en-US" sz="2000" dirty="0">
                <a:solidFill>
                  <a:srgbClr val="0033CC"/>
                </a:solidFill>
                <a:latin typeface="微软雅黑" panose="020B0503020204020204" pitchFamily="34" charset="-122"/>
                <a:ea typeface="微软雅黑" panose="020B0503020204020204" pitchFamily="34" charset="-122"/>
              </a:rPr>
              <a:t> (6) 难以进行编译优化来生成高效目标代码</a:t>
            </a:r>
            <a:endParaRPr lang="zh-CN" altLang="en-US" sz="2000" dirty="0">
              <a:solidFill>
                <a:srgbClr val="0033CC"/>
              </a:solidFill>
              <a:latin typeface="微软雅黑" panose="020B0503020204020204" pitchFamily="34" charset="-122"/>
              <a:ea typeface="微软雅黑" panose="020B0503020204020204" pitchFamily="34" charset="-122"/>
            </a:endParaRPr>
          </a:p>
        </p:txBody>
      </p:sp>
      <p:sp>
        <p:nvSpPr>
          <p:cNvPr id="410628" name="Rectangle 4"/>
          <p:cNvSpPr/>
          <p:nvPr/>
        </p:nvSpPr>
        <p:spPr>
          <a:xfrm>
            <a:off x="236538" y="5640388"/>
            <a:ext cx="8907462" cy="1146175"/>
          </a:xfrm>
          <a:prstGeom prst="rect">
            <a:avLst/>
          </a:prstGeom>
          <a:noFill/>
          <a:ln w="12700">
            <a:noFill/>
          </a:ln>
        </p:spPr>
        <p:txBody>
          <a:bodyPr lIns="63500" tIns="25400" rIns="63500" bIns="25400" anchor="t" anchorCtr="0">
            <a:spAutoFit/>
          </a:bodyPr>
          <a:p>
            <a:pPr eaLnBrk="0" hangingPunct="0">
              <a:lnSpc>
                <a:spcPct val="120000"/>
              </a:lnSpc>
            </a:pPr>
            <a:r>
              <a:rPr lang="zh-CN" altLang="en-US" sz="2000" dirty="0">
                <a:latin typeface="微软雅黑" panose="020B0503020204020204" pitchFamily="34" charset="-122"/>
                <a:ea typeface="微软雅黑" panose="020B0503020204020204" pitchFamily="34" charset="-122"/>
              </a:rPr>
              <a:t>例如，</a:t>
            </a:r>
            <a:r>
              <a:rPr lang="en-US" altLang="zh-CN" sz="2000">
                <a:latin typeface="微软雅黑" panose="020B0503020204020204" pitchFamily="34" charset="-122"/>
                <a:ea typeface="微软雅黑" panose="020B0503020204020204" pitchFamily="34" charset="-122"/>
              </a:rPr>
              <a:t>VAX-11/780</a:t>
            </a:r>
            <a:r>
              <a:rPr lang="zh-CN" altLang="en-US" sz="2000" dirty="0">
                <a:latin typeface="微软雅黑" panose="020B0503020204020204" pitchFamily="34" charset="-122"/>
                <a:ea typeface="微软雅黑" panose="020B0503020204020204" pitchFamily="34" charset="-122"/>
              </a:rPr>
              <a:t>小型机</a:t>
            </a:r>
            <a:endParaRPr lang="zh-CN" altLang="en-US" sz="2000" dirty="0">
              <a:latin typeface="微软雅黑" panose="020B0503020204020204" pitchFamily="34" charset="-122"/>
              <a:ea typeface="微软雅黑" panose="020B0503020204020204" pitchFamily="34" charset="-122"/>
            </a:endParaRPr>
          </a:p>
          <a:p>
            <a:pPr lvl="1" indent="0" eaLnBrk="0" hangingPunct="0">
              <a:lnSpc>
                <a:spcPct val="120000"/>
              </a:lnSpc>
            </a:pPr>
            <a:r>
              <a:rPr lang="zh-CN" altLang="en-US" sz="2000" dirty="0">
                <a:solidFill>
                  <a:schemeClr val="accent2"/>
                </a:solidFill>
                <a:latin typeface="微软雅黑" panose="020B0503020204020204" pitchFamily="34" charset="-122"/>
                <a:ea typeface="微软雅黑" panose="020B0503020204020204" pitchFamily="34" charset="-122"/>
              </a:rPr>
              <a:t>16种寻址方式；9种数据格式；303条指令；一条指令包括1～2个字节的操作码和下续</a:t>
            </a:r>
            <a:r>
              <a:rPr lang="en-US" altLang="zh-CN" sz="2000">
                <a:solidFill>
                  <a:schemeClr val="accent2"/>
                </a:solidFill>
                <a:latin typeface="微软雅黑" panose="020B0503020204020204" pitchFamily="34" charset="-122"/>
                <a:ea typeface="微软雅黑" panose="020B0503020204020204" pitchFamily="34" charset="-122"/>
              </a:rPr>
              <a:t>N</a:t>
            </a:r>
            <a:r>
              <a:rPr lang="zh-CN" altLang="en-US" sz="2000" dirty="0">
                <a:solidFill>
                  <a:schemeClr val="accent2"/>
                </a:solidFill>
                <a:latin typeface="微软雅黑" panose="020B0503020204020204" pitchFamily="34" charset="-122"/>
                <a:ea typeface="微软雅黑" panose="020B0503020204020204" pitchFamily="34" charset="-122"/>
              </a:rPr>
              <a:t>个操作数说明符。一个说明符的长度达1 ～10个字节。</a:t>
            </a:r>
            <a:endParaRPr lang="zh-CN" altLang="en-US" sz="2000" b="0" dirty="0">
              <a:latin typeface="微软雅黑" panose="020B0503020204020204" pitchFamily="34" charset="-122"/>
              <a:ea typeface="微软雅黑" panose="020B0503020204020204" pitchFamily="34" charset="-122"/>
            </a:endParaRPr>
          </a:p>
        </p:txBody>
      </p:sp>
      <p:sp>
        <p:nvSpPr>
          <p:cNvPr id="172036" name="Rectangle 6"/>
          <p:cNvSpPr/>
          <p:nvPr/>
        </p:nvSpPr>
        <p:spPr>
          <a:xfrm>
            <a:off x="333375" y="800100"/>
            <a:ext cx="8366125" cy="1117600"/>
          </a:xfrm>
          <a:prstGeom prst="rect">
            <a:avLst/>
          </a:prstGeom>
          <a:noFill/>
          <a:ln w="12700">
            <a:noFill/>
          </a:ln>
        </p:spPr>
        <p:txBody>
          <a:bodyPr lIns="63500" tIns="25400" rIns="63500" bIns="25400" anchor="t" anchorCtr="0">
            <a:spAutoFit/>
          </a:bodyPr>
          <a:p>
            <a:pPr eaLnBrk="0" hangingPunct="0">
              <a:spcBef>
                <a:spcPct val="25000"/>
              </a:spcBef>
            </a:pPr>
            <a:r>
              <a:rPr lang="zh-CN" altLang="en-US" sz="2000" dirty="0">
                <a:latin typeface="微软雅黑" panose="020B0503020204020204" pitchFamily="34" charset="-122"/>
                <a:ea typeface="微软雅黑" panose="020B0503020204020204" pitchFamily="34" charset="-122"/>
              </a:rPr>
              <a:t>按指令格式的复杂度来分，有两种类型计算机：</a:t>
            </a:r>
            <a:endParaRPr lang="zh-CN" altLang="en-US" sz="2000" dirty="0">
              <a:latin typeface="微软雅黑" panose="020B0503020204020204" pitchFamily="34" charset="-122"/>
              <a:ea typeface="微软雅黑" panose="020B0503020204020204" pitchFamily="34" charset="-122"/>
            </a:endParaRPr>
          </a:p>
          <a:p>
            <a:pPr lvl="1" indent="0" eaLnBrk="0" hangingPunct="0">
              <a:spcBef>
                <a:spcPct val="25000"/>
              </a:spcBef>
            </a:pPr>
            <a:r>
              <a:rPr lang="zh-CN" altLang="en-US" sz="2000" dirty="0">
                <a:solidFill>
                  <a:schemeClr val="accent2"/>
                </a:solidFill>
                <a:latin typeface="微软雅黑" panose="020B0503020204020204" pitchFamily="34" charset="-122"/>
                <a:ea typeface="微软雅黑" panose="020B0503020204020204" pitchFamily="34" charset="-122"/>
              </a:rPr>
              <a:t>复杂指令集计算机</a:t>
            </a:r>
            <a:r>
              <a:rPr lang="en-US" altLang="zh-CN" sz="2000">
                <a:solidFill>
                  <a:schemeClr val="accent1"/>
                </a:solidFill>
                <a:latin typeface="微软雅黑" panose="020B0503020204020204" pitchFamily="34" charset="-122"/>
                <a:ea typeface="微软雅黑" panose="020B0503020204020204" pitchFamily="34" charset="-122"/>
              </a:rPr>
              <a:t>CISC (Complex Instruction Set Computer)</a:t>
            </a:r>
            <a:endParaRPr lang="en-US" altLang="zh-CN" sz="2000">
              <a:solidFill>
                <a:schemeClr val="accent1"/>
              </a:solidFill>
              <a:latin typeface="微软雅黑" panose="020B0503020204020204" pitchFamily="34" charset="-122"/>
              <a:ea typeface="微软雅黑" panose="020B0503020204020204" pitchFamily="34" charset="-122"/>
            </a:endParaRPr>
          </a:p>
          <a:p>
            <a:pPr lvl="1" indent="0" eaLnBrk="0" hangingPunct="0">
              <a:spcBef>
                <a:spcPct val="25000"/>
              </a:spcBef>
            </a:pPr>
            <a:r>
              <a:rPr lang="zh-CN" altLang="en-US" sz="2000" dirty="0">
                <a:solidFill>
                  <a:schemeClr val="accent2"/>
                </a:solidFill>
                <a:latin typeface="微软雅黑" panose="020B0503020204020204" pitchFamily="34" charset="-122"/>
                <a:ea typeface="微软雅黑" panose="020B0503020204020204" pitchFamily="34" charset="-122"/>
              </a:rPr>
              <a:t>精简指令集计算机</a:t>
            </a:r>
            <a:r>
              <a:rPr lang="en-US" altLang="zh-CN" sz="2000">
                <a:solidFill>
                  <a:schemeClr val="accent1"/>
                </a:solidFill>
                <a:latin typeface="微软雅黑" panose="020B0503020204020204" pitchFamily="34" charset="-122"/>
                <a:ea typeface="微软雅黑" panose="020B0503020204020204" pitchFamily="34" charset="-122"/>
              </a:rPr>
              <a:t>RISC (Reduce</a:t>
            </a:r>
            <a:r>
              <a:rPr lang="zh-CN" altLang="en-US" sz="2000" dirty="0">
                <a:solidFill>
                  <a:schemeClr val="accent1"/>
                </a:solidFill>
                <a:latin typeface="微软雅黑" panose="020B0503020204020204" pitchFamily="34" charset="-122"/>
                <a:ea typeface="微软雅黑" panose="020B0503020204020204" pitchFamily="34" charset="-122"/>
              </a:rPr>
              <a:t> </a:t>
            </a:r>
            <a:r>
              <a:rPr lang="en-US" altLang="zh-CN" sz="2000">
                <a:solidFill>
                  <a:schemeClr val="accent1"/>
                </a:solidFill>
                <a:latin typeface="微软雅黑" panose="020B0503020204020204" pitchFamily="34" charset="-122"/>
                <a:ea typeface="微软雅黑" panose="020B0503020204020204" pitchFamily="34" charset="-122"/>
              </a:rPr>
              <a:t>Instruction Set Computer)</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627">
                                            <p:txEl>
                                              <p:charRg st="16" end="27"/>
                                            </p:txEl>
                                          </p:spTgt>
                                        </p:tgtEl>
                                        <p:attrNameLst>
                                          <p:attrName>style.visibility</p:attrName>
                                        </p:attrNameLst>
                                      </p:cBhvr>
                                      <p:to>
                                        <p:strVal val="visible"/>
                                      </p:to>
                                    </p:set>
                                    <p:animEffect transition="in" filter="blinds(horizontal)">
                                      <p:cBhvr>
                                        <p:cTn id="7" dur="500"/>
                                        <p:tgtEl>
                                          <p:spTgt spid="410627">
                                            <p:txEl>
                                              <p:charRg st="16" end="2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0627">
                                            <p:txEl>
                                              <p:charRg st="27" end="69"/>
                                            </p:txEl>
                                          </p:spTgt>
                                        </p:tgtEl>
                                        <p:attrNameLst>
                                          <p:attrName>style.visibility</p:attrName>
                                        </p:attrNameLst>
                                      </p:cBhvr>
                                      <p:to>
                                        <p:strVal val="visible"/>
                                      </p:to>
                                    </p:set>
                                    <p:animEffect transition="in" filter="blinds(horizontal)">
                                      <p:cBhvr>
                                        <p:cTn id="10" dur="500"/>
                                        <p:tgtEl>
                                          <p:spTgt spid="410627">
                                            <p:txEl>
                                              <p:charRg st="27" end="69"/>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10627">
                                            <p:txEl>
                                              <p:charRg st="69" end="79"/>
                                            </p:txEl>
                                          </p:spTgt>
                                        </p:tgtEl>
                                        <p:attrNameLst>
                                          <p:attrName>style.visibility</p:attrName>
                                        </p:attrNameLst>
                                      </p:cBhvr>
                                      <p:to>
                                        <p:strVal val="visible"/>
                                      </p:to>
                                    </p:set>
                                    <p:animEffect transition="in" filter="blinds(horizontal)">
                                      <p:cBhvr>
                                        <p:cTn id="15" dur="500"/>
                                        <p:tgtEl>
                                          <p:spTgt spid="410627">
                                            <p:txEl>
                                              <p:charRg st="69" end="79"/>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0627">
                                            <p:txEl>
                                              <p:charRg st="79" end="104"/>
                                            </p:txEl>
                                          </p:spTgt>
                                        </p:tgtEl>
                                        <p:attrNameLst>
                                          <p:attrName>style.visibility</p:attrName>
                                        </p:attrNameLst>
                                      </p:cBhvr>
                                      <p:to>
                                        <p:strVal val="visible"/>
                                      </p:to>
                                    </p:set>
                                    <p:animEffect transition="in" filter="blinds(horizontal)">
                                      <p:cBhvr>
                                        <p:cTn id="18" dur="500"/>
                                        <p:tgtEl>
                                          <p:spTgt spid="410627">
                                            <p:txEl>
                                              <p:charRg st="79" end="10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10627">
                                            <p:txEl>
                                              <p:charRg st="104" end="120"/>
                                            </p:txEl>
                                          </p:spTgt>
                                        </p:tgtEl>
                                        <p:attrNameLst>
                                          <p:attrName>style.visibility</p:attrName>
                                        </p:attrNameLst>
                                      </p:cBhvr>
                                      <p:to>
                                        <p:strVal val="visible"/>
                                      </p:to>
                                    </p:set>
                                    <p:animEffect transition="in" filter="blinds(horizontal)">
                                      <p:cBhvr>
                                        <p:cTn id="23" dur="500"/>
                                        <p:tgtEl>
                                          <p:spTgt spid="410627">
                                            <p:txEl>
                                              <p:charRg st="104" end="120"/>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10627">
                                            <p:txEl>
                                              <p:charRg st="120" end="152"/>
                                            </p:txEl>
                                          </p:spTgt>
                                        </p:tgtEl>
                                        <p:attrNameLst>
                                          <p:attrName>style.visibility</p:attrName>
                                        </p:attrNameLst>
                                      </p:cBhvr>
                                      <p:to>
                                        <p:strVal val="visible"/>
                                      </p:to>
                                    </p:set>
                                    <p:animEffect transition="in" filter="blinds(horizontal)">
                                      <p:cBhvr>
                                        <p:cTn id="26" dur="500"/>
                                        <p:tgtEl>
                                          <p:spTgt spid="410627">
                                            <p:txEl>
                                              <p:charRg st="120" end="15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10627">
                                            <p:txEl>
                                              <p:charRg st="152" end="165"/>
                                            </p:txEl>
                                          </p:spTgt>
                                        </p:tgtEl>
                                        <p:attrNameLst>
                                          <p:attrName>style.visibility</p:attrName>
                                        </p:attrNameLst>
                                      </p:cBhvr>
                                      <p:to>
                                        <p:strVal val="visible"/>
                                      </p:to>
                                    </p:set>
                                    <p:animEffect transition="in" filter="blinds(horizontal)">
                                      <p:cBhvr>
                                        <p:cTn id="31" dur="500"/>
                                        <p:tgtEl>
                                          <p:spTgt spid="410627">
                                            <p:txEl>
                                              <p:charRg st="152" end="16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10627">
                                            <p:txEl>
                                              <p:charRg st="165" end="177"/>
                                            </p:txEl>
                                          </p:spTgt>
                                        </p:tgtEl>
                                        <p:attrNameLst>
                                          <p:attrName>style.visibility</p:attrName>
                                        </p:attrNameLst>
                                      </p:cBhvr>
                                      <p:to>
                                        <p:strVal val="visible"/>
                                      </p:to>
                                    </p:set>
                                    <p:animEffect transition="in" filter="blinds(horizontal)">
                                      <p:cBhvr>
                                        <p:cTn id="36" dur="500"/>
                                        <p:tgtEl>
                                          <p:spTgt spid="410627">
                                            <p:txEl>
                                              <p:charRg st="165" end="17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10627">
                                            <p:txEl>
                                              <p:charRg st="177" end="200"/>
                                            </p:txEl>
                                          </p:spTgt>
                                        </p:tgtEl>
                                        <p:attrNameLst>
                                          <p:attrName>style.visibility</p:attrName>
                                        </p:attrNameLst>
                                      </p:cBhvr>
                                      <p:to>
                                        <p:strVal val="visible"/>
                                      </p:to>
                                    </p:set>
                                    <p:animEffect transition="in" filter="blinds(horizontal)">
                                      <p:cBhvr>
                                        <p:cTn id="41" dur="500"/>
                                        <p:tgtEl>
                                          <p:spTgt spid="410627">
                                            <p:txEl>
                                              <p:charRg st="177" end="20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10628"/>
                                        </p:tgtEl>
                                        <p:attrNameLst>
                                          <p:attrName>style.visibility</p:attrName>
                                        </p:attrNameLst>
                                      </p:cBhvr>
                                      <p:to>
                                        <p:strVal val="visible"/>
                                      </p:to>
                                    </p:set>
                                    <p:animEffect transition="in" filter="blinds(horizontal)">
                                      <p:cBhvr>
                                        <p:cTn id="46" dur="500"/>
                                        <p:tgtEl>
                                          <p:spTgt spid="410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7" name="Rectangle 2"/>
          <p:cNvSpPr>
            <a:spLocks noGrp="1"/>
          </p:cNvSpPr>
          <p:nvPr>
            <p:ph type="title"/>
          </p:nvPr>
        </p:nvSpPr>
        <p:spPr>
          <a:xfrm>
            <a:off x="236538" y="128588"/>
            <a:ext cx="8559800" cy="528637"/>
          </a:xfrm>
          <a:ln/>
        </p:spPr>
        <p:txBody>
          <a:bodyPr vert="horz" wrap="square" lIns="63500" tIns="25400" rIns="63500" bIns="25400" anchor="t" anchorCtr="0">
            <a:spAutoFit/>
          </a:bodyPr>
          <a:p>
            <a:r>
              <a:rPr lang="zh-CN" altLang="en-US" dirty="0"/>
              <a:t>复杂指令集计算机</a:t>
            </a:r>
            <a:r>
              <a:rPr lang="en-US" altLang="zh-CN">
                <a:ea typeface="宋体" panose="02010600030101010101" pitchFamily="2" charset="-122"/>
              </a:rPr>
              <a:t>CISC</a:t>
            </a:r>
            <a:endParaRPr lang="en-US" altLang="zh-CN">
              <a:ea typeface="宋体" panose="02010600030101010101" pitchFamily="2" charset="-122"/>
            </a:endParaRPr>
          </a:p>
        </p:txBody>
      </p:sp>
      <p:sp>
        <p:nvSpPr>
          <p:cNvPr id="411651" name="Rectangle 3"/>
          <p:cNvSpPr>
            <a:spLocks noGrp="1"/>
          </p:cNvSpPr>
          <p:nvPr>
            <p:ph type="body"/>
          </p:nvPr>
        </p:nvSpPr>
        <p:spPr>
          <a:xfrm>
            <a:off x="333375" y="3548063"/>
            <a:ext cx="8153400" cy="2790825"/>
          </a:xfrm>
          <a:ln/>
        </p:spPr>
        <p:txBody>
          <a:bodyPr vert="horz" wrap="square" lIns="91440" tIns="45720" rIns="91440" bIns="45720" anchor="t" anchorCtr="0">
            <a:spAutoFit/>
          </a:bodyPr>
          <a:p>
            <a:pPr marL="285750" indent="-285750">
              <a:lnSpc>
                <a:spcPct val="125000"/>
              </a:lnSpc>
              <a:spcBef>
                <a:spcPct val="5000"/>
              </a:spcBef>
            </a:pPr>
            <a:r>
              <a:rPr lang="zh-CN" altLang="en-US" sz="2000" dirty="0">
                <a:latin typeface="微软雅黑" panose="020B0503020204020204" pitchFamily="34" charset="-122"/>
                <a:ea typeface="微软雅黑" panose="020B0503020204020204" pitchFamily="34" charset="-122"/>
              </a:rPr>
              <a:t>对</a:t>
            </a:r>
            <a:r>
              <a:rPr lang="en-US" altLang="zh-CN" sz="2000">
                <a:latin typeface="微软雅黑" panose="020B0503020204020204" pitchFamily="34" charset="-122"/>
                <a:ea typeface="微软雅黑" panose="020B0503020204020204" pitchFamily="34" charset="-122"/>
              </a:rPr>
              <a:t>CISC</a:t>
            </a:r>
            <a:r>
              <a:rPr lang="zh-CN" altLang="en-US" sz="2000" dirty="0">
                <a:latin typeface="微软雅黑" panose="020B0503020204020204" pitchFamily="34" charset="-122"/>
                <a:ea typeface="微软雅黑" panose="020B0503020204020204" pitchFamily="34" charset="-122"/>
              </a:rPr>
              <a:t>进行测试，发现一个</a:t>
            </a:r>
            <a:r>
              <a:rPr lang="zh-CN" altLang="en-US" sz="2000" dirty="0">
                <a:latin typeface="微软雅黑" panose="020B0503020204020204" pitchFamily="34" charset="-122"/>
                <a:ea typeface="微软雅黑" panose="020B0503020204020204" pitchFamily="34" charset="-122"/>
                <a:hlinkClick r:id="" action="ppaction://hlinkshowjump?jump=nextslide"/>
              </a:rPr>
              <a:t>事实</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1" indent="-228600">
              <a:lnSpc>
                <a:spcPct val="125000"/>
              </a:lnSpc>
              <a:spcBef>
                <a:spcPct val="5000"/>
              </a:spcBef>
            </a:pPr>
            <a:r>
              <a:rPr lang="zh-CN" altLang="en-US" sz="2000" dirty="0">
                <a:latin typeface="微软雅黑" panose="020B0503020204020204" pitchFamily="34" charset="-122"/>
                <a:ea typeface="微软雅黑" panose="020B0503020204020204" pitchFamily="34" charset="-122"/>
              </a:rPr>
              <a:t>在程序中各种指令出现的频率悬殊很大，最常使用的是一些简单指令，这些指令占程序的80%，但只占指令系统的20%。而且在微程序控制的计算机中，占指令总数20%的复杂指令占用了控制存储器容量的80%。</a:t>
            </a:r>
            <a:endParaRPr lang="zh-CN" altLang="en-US" sz="2000" dirty="0">
              <a:latin typeface="微软雅黑" panose="020B0503020204020204" pitchFamily="34" charset="-122"/>
              <a:ea typeface="微软雅黑" panose="020B0503020204020204" pitchFamily="34" charset="-122"/>
            </a:endParaRPr>
          </a:p>
          <a:p>
            <a:pPr marL="285750" indent="-285750">
              <a:lnSpc>
                <a:spcPct val="125000"/>
              </a:lnSpc>
              <a:spcBef>
                <a:spcPct val="5000"/>
              </a:spcBef>
            </a:pPr>
            <a:r>
              <a:rPr lang="zh-CN" altLang="en-US" sz="2000" dirty="0">
                <a:latin typeface="微软雅黑" panose="020B0503020204020204" pitchFamily="34" charset="-122"/>
                <a:ea typeface="微软雅黑" panose="020B0503020204020204" pitchFamily="34" charset="-122"/>
              </a:rPr>
              <a:t>1982年美国加州伯克利大学的</a:t>
            </a:r>
            <a:r>
              <a:rPr lang="en-US" altLang="zh-CN" sz="2000">
                <a:solidFill>
                  <a:srgbClr val="C2228D"/>
                </a:solidFill>
                <a:latin typeface="微软雅黑" panose="020B0503020204020204" pitchFamily="34" charset="-122"/>
                <a:ea typeface="微软雅黑" panose="020B0503020204020204" pitchFamily="34" charset="-122"/>
              </a:rPr>
              <a:t>RISCⅠ</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斯坦福大学的</a:t>
            </a:r>
            <a:r>
              <a:rPr lang="en-US" altLang="zh-CN" sz="2000">
                <a:solidFill>
                  <a:srgbClr val="C2228D"/>
                </a:solidFill>
                <a:latin typeface="微软雅黑" panose="020B0503020204020204" pitchFamily="34" charset="-122"/>
                <a:ea typeface="微软雅黑" panose="020B0503020204020204" pitchFamily="34" charset="-122"/>
              </a:rPr>
              <a:t>MIPS</a:t>
            </a:r>
            <a:r>
              <a:rPr lang="en-US" altLang="zh-CN" sz="2000">
                <a:latin typeface="微软雅黑" panose="020B0503020204020204" pitchFamily="34" charset="-122"/>
                <a:ea typeface="微软雅黑" panose="020B0503020204020204" pitchFamily="34" charset="-122"/>
              </a:rPr>
              <a:t>，IBM</a:t>
            </a:r>
            <a:r>
              <a:rPr lang="zh-CN" altLang="en-US" sz="2000" dirty="0">
                <a:latin typeface="微软雅黑" panose="020B0503020204020204" pitchFamily="34" charset="-122"/>
                <a:ea typeface="微软雅黑" panose="020B0503020204020204" pitchFamily="34" charset="-122"/>
              </a:rPr>
              <a:t>公司的</a:t>
            </a:r>
            <a:r>
              <a:rPr lang="en-US" altLang="zh-CN" sz="2000">
                <a:solidFill>
                  <a:srgbClr val="C2228D"/>
                </a:solidFill>
                <a:latin typeface="微软雅黑" panose="020B0503020204020204" pitchFamily="34" charset="-122"/>
                <a:ea typeface="微软雅黑" panose="020B0503020204020204" pitchFamily="34" charset="-122"/>
              </a:rPr>
              <a:t>IBM801</a:t>
            </a:r>
            <a:r>
              <a:rPr lang="zh-CN" altLang="en-US" sz="2000" dirty="0">
                <a:latin typeface="微软雅黑" panose="020B0503020204020204" pitchFamily="34" charset="-122"/>
                <a:ea typeface="微软雅黑" panose="020B0503020204020204" pitchFamily="34" charset="-122"/>
              </a:rPr>
              <a:t>相继宣告完成，这些机器被称为</a:t>
            </a:r>
            <a:r>
              <a:rPr lang="zh-CN" altLang="en-US" sz="2000" dirty="0">
                <a:solidFill>
                  <a:srgbClr val="C2228D"/>
                </a:solidFill>
                <a:latin typeface="微软雅黑" panose="020B0503020204020204" pitchFamily="34" charset="-122"/>
                <a:ea typeface="微软雅黑" panose="020B0503020204020204" pitchFamily="34" charset="-122"/>
              </a:rPr>
              <a:t>第一代</a:t>
            </a:r>
            <a:r>
              <a:rPr lang="en-US" altLang="zh-CN" sz="2000">
                <a:solidFill>
                  <a:srgbClr val="C2228D"/>
                </a:solidFill>
                <a:latin typeface="微软雅黑" panose="020B0503020204020204" pitchFamily="34" charset="-122"/>
                <a:ea typeface="微软雅黑" panose="020B0503020204020204" pitchFamily="34" charset="-122"/>
              </a:rPr>
              <a:t>RISC</a:t>
            </a:r>
            <a:r>
              <a:rPr lang="zh-CN" altLang="en-US" sz="2000" dirty="0">
                <a:solidFill>
                  <a:srgbClr val="C2228D"/>
                </a:solidFill>
                <a:latin typeface="微软雅黑" panose="020B0503020204020204" pitchFamily="34" charset="-122"/>
                <a:ea typeface="微软雅黑" panose="020B0503020204020204" pitchFamily="34" charset="-122"/>
              </a:rPr>
              <a:t>机</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411652" name="Rectangle 4"/>
          <p:cNvSpPr/>
          <p:nvPr/>
        </p:nvSpPr>
        <p:spPr>
          <a:xfrm>
            <a:off x="522288" y="847725"/>
            <a:ext cx="8434387" cy="2741613"/>
          </a:xfrm>
          <a:prstGeom prst="rect">
            <a:avLst/>
          </a:prstGeom>
          <a:noFill/>
          <a:ln w="9525">
            <a:noFill/>
          </a:ln>
        </p:spPr>
        <p:txBody>
          <a:bodyPr anchor="t" anchorCtr="0"/>
          <a:p>
            <a:pPr marL="342900" indent="-342900" eaLnBrk="0" hangingPunct="0">
              <a:lnSpc>
                <a:spcPct val="90000"/>
              </a:lnSpc>
              <a:spcBef>
                <a:spcPct val="30000"/>
              </a:spcBef>
              <a:buSzPct val="75000"/>
              <a:buFont typeface="Wingdings" panose="05000000000000000000" pitchFamily="2" charset="2"/>
              <a:buChar char="u"/>
            </a:pPr>
            <a:r>
              <a:rPr lang="en-US" altLang="zh-CN" sz="2000">
                <a:latin typeface="微软雅黑" panose="020B0503020204020204" pitchFamily="34" charset="-122"/>
                <a:ea typeface="微软雅黑" panose="020B0503020204020204" pitchFamily="34" charset="-122"/>
              </a:rPr>
              <a:t>CISC</a:t>
            </a:r>
            <a:r>
              <a:rPr lang="zh-CN" altLang="en-US" sz="2000" dirty="0">
                <a:latin typeface="微软雅黑" panose="020B0503020204020204" pitchFamily="34" charset="-122"/>
                <a:ea typeface="微软雅黑" panose="020B0503020204020204" pitchFamily="34" charset="-122"/>
              </a:rPr>
              <a:t>的缺陷</a:t>
            </a:r>
            <a:endParaRPr lang="zh-CN" altLang="en-US" sz="2000" dirty="0">
              <a:latin typeface="微软雅黑" panose="020B0503020204020204" pitchFamily="34" charset="-122"/>
              <a:ea typeface="微软雅黑" panose="020B0503020204020204" pitchFamily="34" charset="-122"/>
            </a:endParaRPr>
          </a:p>
          <a:p>
            <a:pPr marL="742950" lvl="1" indent="-285750" eaLnBrk="0" hangingPunct="0">
              <a:lnSpc>
                <a:spcPct val="130000"/>
              </a:lnSpc>
              <a:spcBef>
                <a:spcPct val="30000"/>
              </a:spcBef>
              <a:buChar char="–"/>
            </a:pPr>
            <a:r>
              <a:rPr lang="zh-CN" altLang="en-US" sz="2000" dirty="0">
                <a:solidFill>
                  <a:srgbClr val="0000FF"/>
                </a:solidFill>
                <a:latin typeface="微软雅黑" panose="020B0503020204020204" pitchFamily="34" charset="-122"/>
                <a:ea typeface="微软雅黑" panose="020B0503020204020204" pitchFamily="34" charset="-122"/>
              </a:rPr>
              <a:t>日趋庞大的指令系统不但使计算机的</a:t>
            </a:r>
            <a:r>
              <a:rPr lang="zh-CN" altLang="en-US" sz="2000" dirty="0">
                <a:solidFill>
                  <a:srgbClr val="C2228D"/>
                </a:solidFill>
                <a:latin typeface="微软雅黑" panose="020B0503020204020204" pitchFamily="34" charset="-122"/>
                <a:ea typeface="微软雅黑" panose="020B0503020204020204" pitchFamily="34" charset="-122"/>
              </a:rPr>
              <a:t>研制周期变长</a:t>
            </a:r>
            <a:r>
              <a:rPr lang="zh-CN" altLang="en-US" sz="2000" dirty="0">
                <a:solidFill>
                  <a:srgbClr val="0000FF"/>
                </a:solidFill>
                <a:latin typeface="微软雅黑" panose="020B0503020204020204" pitchFamily="34" charset="-122"/>
                <a:ea typeface="微软雅黑" panose="020B0503020204020204" pitchFamily="34" charset="-122"/>
              </a:rPr>
              <a:t>，而且</a:t>
            </a:r>
            <a:r>
              <a:rPr lang="zh-CN" altLang="en-US" sz="2000" dirty="0">
                <a:solidFill>
                  <a:srgbClr val="C2228D"/>
                </a:solidFill>
                <a:latin typeface="微软雅黑" panose="020B0503020204020204" pitchFamily="34" charset="-122"/>
                <a:ea typeface="微软雅黑" panose="020B0503020204020204" pitchFamily="34" charset="-122"/>
              </a:rPr>
              <a:t>难以保证设计的正确性，难以调试和维护，</a:t>
            </a:r>
            <a:r>
              <a:rPr lang="zh-CN" altLang="en-US" sz="2000" dirty="0">
                <a:solidFill>
                  <a:srgbClr val="0000FF"/>
                </a:solidFill>
                <a:latin typeface="微软雅黑" panose="020B0503020204020204" pitchFamily="34" charset="-122"/>
                <a:ea typeface="微软雅黑" panose="020B0503020204020204" pitchFamily="34" charset="-122"/>
              </a:rPr>
              <a:t>并且因指令操作复杂而</a:t>
            </a:r>
            <a:r>
              <a:rPr lang="zh-CN" altLang="en-US" sz="2000" dirty="0">
                <a:solidFill>
                  <a:srgbClr val="C2228D"/>
                </a:solidFill>
                <a:latin typeface="微软雅黑" panose="020B0503020204020204" pitchFamily="34" charset="-122"/>
                <a:ea typeface="微软雅黑" panose="020B0503020204020204" pitchFamily="34" charset="-122"/>
              </a:rPr>
              <a:t>增加机器周期</a:t>
            </a:r>
            <a:r>
              <a:rPr lang="zh-CN" altLang="en-US" sz="2000" dirty="0">
                <a:solidFill>
                  <a:srgbClr val="0000FF"/>
                </a:solidFill>
                <a:latin typeface="微软雅黑" panose="020B0503020204020204" pitchFamily="34" charset="-122"/>
                <a:ea typeface="微软雅黑" panose="020B0503020204020204" pitchFamily="34" charset="-122"/>
              </a:rPr>
              <a:t>，从而</a:t>
            </a:r>
            <a:r>
              <a:rPr lang="zh-CN" altLang="en-US" sz="2000" dirty="0">
                <a:solidFill>
                  <a:srgbClr val="C2228D"/>
                </a:solidFill>
                <a:latin typeface="微软雅黑" panose="020B0503020204020204" pitchFamily="34" charset="-122"/>
                <a:ea typeface="微软雅黑" panose="020B0503020204020204" pitchFamily="34" charset="-122"/>
              </a:rPr>
              <a:t>降低了系统性能。</a:t>
            </a:r>
            <a:endParaRPr lang="zh-CN" altLang="en-US" sz="2000" dirty="0">
              <a:solidFill>
                <a:srgbClr val="C2228D"/>
              </a:solidFill>
              <a:latin typeface="微软雅黑" panose="020B0503020204020204" pitchFamily="34" charset="-122"/>
              <a:ea typeface="微软雅黑" panose="020B0503020204020204" pitchFamily="34" charset="-122"/>
            </a:endParaRPr>
          </a:p>
          <a:p>
            <a:pPr marL="342900" indent="-342900" eaLnBrk="0" hangingPunct="0">
              <a:lnSpc>
                <a:spcPct val="140000"/>
              </a:lnSpc>
              <a:spcBef>
                <a:spcPct val="30000"/>
              </a:spcBef>
              <a:buSzPct val="750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1975年</a:t>
            </a:r>
            <a:r>
              <a:rPr lang="en-US" altLang="zh-CN" sz="2000">
                <a:latin typeface="微软雅黑" panose="020B0503020204020204" pitchFamily="34" charset="-122"/>
                <a:ea typeface="微软雅黑" panose="020B0503020204020204" pitchFamily="34" charset="-122"/>
              </a:rPr>
              <a:t>IBM</a:t>
            </a:r>
            <a:r>
              <a:rPr lang="zh-CN" altLang="en-US" sz="2000" dirty="0">
                <a:latin typeface="微软雅黑" panose="020B0503020204020204" pitchFamily="34" charset="-122"/>
                <a:ea typeface="微软雅黑" panose="020B0503020204020204" pitchFamily="34" charset="-122"/>
              </a:rPr>
              <a:t>公司开始研究</a:t>
            </a:r>
            <a:r>
              <a:rPr lang="zh-CN" altLang="en-US" sz="2000" dirty="0">
                <a:solidFill>
                  <a:srgbClr val="C2228D"/>
                </a:solidFill>
                <a:latin typeface="微软雅黑" panose="020B0503020204020204" pitchFamily="34" charset="-122"/>
                <a:ea typeface="微软雅黑" panose="020B0503020204020204" pitchFamily="34" charset="-122"/>
              </a:rPr>
              <a:t>指令系统的合理性问题</a:t>
            </a:r>
            <a:r>
              <a:rPr lang="zh-CN" altLang="en-US" sz="2000" dirty="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John Cocks</a:t>
            </a:r>
            <a:r>
              <a:rPr lang="zh-CN" altLang="en-US" sz="2000" dirty="0">
                <a:latin typeface="微软雅黑" panose="020B0503020204020204" pitchFamily="34" charset="-122"/>
                <a:ea typeface="微软雅黑" panose="020B0503020204020204" pitchFamily="34" charset="-122"/>
              </a:rPr>
              <a:t>提出精简指令系统计算机 </a:t>
            </a:r>
            <a:r>
              <a:rPr lang="en-US" altLang="zh-CN" sz="2000">
                <a:solidFill>
                  <a:schemeClr val="accent1"/>
                </a:solidFill>
                <a:latin typeface="微软雅黑" panose="020B0503020204020204" pitchFamily="34" charset="-122"/>
                <a:ea typeface="微软雅黑" panose="020B0503020204020204" pitchFamily="34" charset="-122"/>
              </a:rPr>
              <a:t>RISC</a:t>
            </a:r>
            <a:r>
              <a:rPr lang="en-US" altLang="zh-CN" sz="2000">
                <a:solidFill>
                  <a:schemeClr val="accent2"/>
                </a:solidFill>
                <a:latin typeface="微软雅黑" panose="020B0503020204020204" pitchFamily="34" charset="-122"/>
                <a:ea typeface="微软雅黑" panose="020B0503020204020204" pitchFamily="34" charset="-122"/>
              </a:rPr>
              <a:t> ( Reduce Instruction Set Computer )</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5" name="Text Box 6"/>
          <p:cNvSpPr txBox="1"/>
          <p:nvPr/>
        </p:nvSpPr>
        <p:spPr>
          <a:xfrm>
            <a:off x="8059738" y="6253163"/>
            <a:ext cx="895350" cy="325437"/>
          </a:xfrm>
          <a:prstGeom prst="rect">
            <a:avLst/>
          </a:prstGeom>
          <a:noFill/>
          <a:ln w="12700">
            <a:noFill/>
          </a:ln>
        </p:spPr>
        <p:txBody>
          <a:bodyPr lIns="63500" tIns="25400" rIns="63500" bIns="25400" anchor="t" anchorCtr="0">
            <a:spAutoFit/>
          </a:bodyPr>
          <a:p>
            <a:pPr eaLnBrk="0" hangingPunct="0">
              <a:spcBef>
                <a:spcPct val="50000"/>
              </a:spcBef>
            </a:pPr>
            <a:r>
              <a:rPr lang="en-US" altLang="zh-CN" sz="1800">
                <a:solidFill>
                  <a:schemeClr val="accent2"/>
                </a:solidFill>
                <a:latin typeface="Arial" panose="020B0604020202020204" pitchFamily="34" charset="0"/>
                <a:ea typeface="宋体" panose="02010600030101010101" pitchFamily="2" charset="-122"/>
                <a:hlinkClick r:id="rId1" action="ppaction://hlinksldjump"/>
              </a:rPr>
              <a:t>SKIP</a:t>
            </a:r>
            <a:endParaRPr lang="en-US" altLang="zh-CN" sz="1800">
              <a:solidFill>
                <a:schemeClr val="accent2"/>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1652">
                                            <p:txEl>
                                              <p:charRg st="8" end="80"/>
                                            </p:txEl>
                                          </p:spTgt>
                                        </p:tgtEl>
                                        <p:attrNameLst>
                                          <p:attrName>style.visibility</p:attrName>
                                        </p:attrNameLst>
                                      </p:cBhvr>
                                      <p:to>
                                        <p:strVal val="visible"/>
                                      </p:to>
                                    </p:set>
                                    <p:animEffect transition="in" filter="blinds(horizontal)">
                                      <p:cBhvr>
                                        <p:cTn id="7" dur="500"/>
                                        <p:tgtEl>
                                          <p:spTgt spid="411652">
                                            <p:txEl>
                                              <p:charRg st="8" end="8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1652">
                                            <p:txEl>
                                              <p:charRg st="80" end="169"/>
                                            </p:txEl>
                                          </p:spTgt>
                                        </p:tgtEl>
                                        <p:attrNameLst>
                                          <p:attrName>style.visibility</p:attrName>
                                        </p:attrNameLst>
                                      </p:cBhvr>
                                      <p:to>
                                        <p:strVal val="visible"/>
                                      </p:to>
                                    </p:set>
                                    <p:animEffect transition="in" filter="blinds(horizontal)">
                                      <p:cBhvr>
                                        <p:cTn id="12" dur="500"/>
                                        <p:tgtEl>
                                          <p:spTgt spid="411652">
                                            <p:txEl>
                                              <p:charRg st="80" end="16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1651">
                                            <p:txEl>
                                              <p:charRg st="0" end="18"/>
                                            </p:txEl>
                                          </p:spTgt>
                                        </p:tgtEl>
                                        <p:attrNameLst>
                                          <p:attrName>style.visibility</p:attrName>
                                        </p:attrNameLst>
                                      </p:cBhvr>
                                      <p:to>
                                        <p:strVal val="visible"/>
                                      </p:to>
                                    </p:set>
                                    <p:animEffect transition="in" filter="blinds(horizontal)">
                                      <p:cBhvr>
                                        <p:cTn id="17" dur="500"/>
                                        <p:tgtEl>
                                          <p:spTgt spid="411651">
                                            <p:txEl>
                                              <p:charRg st="0" end="1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1651">
                                            <p:txEl>
                                              <p:charRg st="18" end="116"/>
                                            </p:txEl>
                                          </p:spTgt>
                                        </p:tgtEl>
                                        <p:attrNameLst>
                                          <p:attrName>style.visibility</p:attrName>
                                        </p:attrNameLst>
                                      </p:cBhvr>
                                      <p:to>
                                        <p:strVal val="visible"/>
                                      </p:to>
                                    </p:set>
                                    <p:animEffect transition="in" filter="blinds(horizontal)">
                                      <p:cBhvr>
                                        <p:cTn id="22" dur="500"/>
                                        <p:tgtEl>
                                          <p:spTgt spid="411651">
                                            <p:txEl>
                                              <p:charRg st="18" end="11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1651">
                                            <p:txEl>
                                              <p:charRg st="116" end="184"/>
                                            </p:txEl>
                                          </p:spTgt>
                                        </p:tgtEl>
                                        <p:attrNameLst>
                                          <p:attrName>style.visibility</p:attrName>
                                        </p:attrNameLst>
                                      </p:cBhvr>
                                      <p:to>
                                        <p:strVal val="visible"/>
                                      </p:to>
                                    </p:set>
                                    <p:animEffect transition="in" filter="blinds(horizontal)">
                                      <p:cBhvr>
                                        <p:cTn id="27" dur="500"/>
                                        <p:tgtEl>
                                          <p:spTgt spid="411651">
                                            <p:txEl>
                                              <p:charRg st="116" end="18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1" name="Rectangle 2"/>
          <p:cNvSpPr>
            <a:spLocks noGrp="1"/>
          </p:cNvSpPr>
          <p:nvPr>
            <p:ph type="title"/>
          </p:nvPr>
        </p:nvSpPr>
        <p:spPr>
          <a:xfrm>
            <a:off x="236538" y="128588"/>
            <a:ext cx="8713787" cy="528637"/>
          </a:xfrm>
          <a:ln/>
        </p:spPr>
        <p:txBody>
          <a:bodyPr vert="horz" wrap="square" lIns="63500" tIns="25400" rIns="63500" bIns="25400" anchor="t" anchorCtr="0">
            <a:spAutoFit/>
          </a:bodyPr>
          <a:p>
            <a:r>
              <a:rPr lang="en-US" altLang="zh-CN">
                <a:ea typeface="宋体" panose="02010600030101010101" pitchFamily="2" charset="-122"/>
              </a:rPr>
              <a:t>Top 10 80x86 Instructions</a:t>
            </a:r>
            <a:endParaRPr lang="en-US" altLang="zh-CN">
              <a:ea typeface="宋体" panose="02010600030101010101" pitchFamily="2" charset="-122"/>
            </a:endParaRPr>
          </a:p>
        </p:txBody>
      </p:sp>
      <p:pic>
        <p:nvPicPr>
          <p:cNvPr id="174082" name="Picture 3"/>
          <p:cNvPicPr/>
          <p:nvPr/>
        </p:nvPicPr>
        <p:blipFill>
          <a:blip r:embed="rId1"/>
          <a:stretch>
            <a:fillRect/>
          </a:stretch>
        </p:blipFill>
        <p:spPr>
          <a:xfrm>
            <a:off x="371475" y="963613"/>
            <a:ext cx="8772525" cy="5145087"/>
          </a:xfrm>
          <a:prstGeom prst="rect">
            <a:avLst/>
          </a:prstGeom>
          <a:noFill/>
          <a:ln w="12700">
            <a:noFill/>
          </a:ln>
        </p:spPr>
      </p:pic>
      <p:sp>
        <p:nvSpPr>
          <p:cNvPr id="174083" name="Text Box 4"/>
          <p:cNvSpPr txBox="1"/>
          <p:nvPr/>
        </p:nvSpPr>
        <p:spPr>
          <a:xfrm>
            <a:off x="747713" y="6181725"/>
            <a:ext cx="6153150" cy="355600"/>
          </a:xfrm>
          <a:prstGeom prst="rect">
            <a:avLst/>
          </a:prstGeom>
          <a:noFill/>
          <a:ln w="12700">
            <a:noFill/>
          </a:ln>
        </p:spPr>
        <p:txBody>
          <a:bodyPr lIns="63500" tIns="25400" rIns="63500" bIns="25400" anchor="t" anchorCtr="0">
            <a:spAutoFit/>
          </a:bodyPr>
          <a:p>
            <a:pPr eaLnBrk="0" hangingPunct="0">
              <a:spcBef>
                <a:spcPct val="50000"/>
              </a:spcBef>
            </a:pPr>
            <a:r>
              <a:rPr lang="en-US" altLang="zh-CN" sz="2000">
                <a:solidFill>
                  <a:schemeClr val="accent2"/>
                </a:solidFill>
                <a:latin typeface="微软雅黑" panose="020B0503020204020204" pitchFamily="34" charset="-122"/>
                <a:ea typeface="微软雅黑" panose="020B0503020204020204" pitchFamily="34" charset="-122"/>
              </a:rPr>
              <a:t>( </a:t>
            </a:r>
            <a:r>
              <a:rPr lang="zh-CN" altLang="en-US" sz="2000" dirty="0">
                <a:solidFill>
                  <a:schemeClr val="accent2"/>
                </a:solidFill>
                <a:latin typeface="微软雅黑" panose="020B0503020204020204" pitchFamily="34" charset="-122"/>
                <a:ea typeface="微软雅黑" panose="020B0503020204020204" pitchFamily="34" charset="-122"/>
              </a:rPr>
              <a:t>简单指令占主要部分，使用频率高！</a:t>
            </a:r>
            <a:r>
              <a:rPr lang="en-US" altLang="zh-CN" sz="2000">
                <a:solidFill>
                  <a:schemeClr val="accent2"/>
                </a:solidFill>
                <a:latin typeface="微软雅黑" panose="020B0503020204020204" pitchFamily="34" charset="-122"/>
                <a:ea typeface="微软雅黑" panose="020B0503020204020204" pitchFamily="34" charset="-122"/>
              </a:rPr>
              <a:t>)</a:t>
            </a:r>
            <a:endParaRPr lang="en-US" altLang="zh-CN" sz="2000">
              <a:solidFill>
                <a:schemeClr val="accent2"/>
              </a:solidFill>
              <a:latin typeface="微软雅黑" panose="020B0503020204020204" pitchFamily="34" charset="-122"/>
              <a:ea typeface="微软雅黑" panose="020B0503020204020204" pitchFamily="34" charset="-122"/>
            </a:endParaRPr>
          </a:p>
        </p:txBody>
      </p:sp>
      <p:sp>
        <p:nvSpPr>
          <p:cNvPr id="174084" name="Rectangle 5"/>
          <p:cNvSpPr>
            <a:spLocks noGrp="1"/>
          </p:cNvSpPr>
          <p:nvPr>
            <p:ph type="body"/>
          </p:nvPr>
        </p:nvSpPr>
        <p:spPr>
          <a:ln/>
        </p:spPr>
        <p:txBody>
          <a:bodyPr vert="horz" wrap="square" lIns="91440" tIns="45720" rIns="91440" bIns="45720" anchor="t" anchorCtr="0">
            <a:spAutoFit/>
          </a:bodyPr>
          <a:p>
            <a:pPr marL="285750" indent="-285750" algn="just">
              <a:lnSpc>
                <a:spcPct val="86000"/>
              </a:lnSpc>
              <a:spcBef>
                <a:spcPct val="40000"/>
              </a:spcBef>
              <a:buNone/>
            </a:pPr>
            <a:r>
              <a:rPr lang="en-US" altLang="zh-CN" sz="1400">
                <a:ea typeface="宋体" panose="02010600030101010101" pitchFamily="2" charset="-122"/>
              </a:rPr>
              <a:t>   </a:t>
            </a:r>
            <a:endParaRPr lang="en-US" altLang="zh-CN" sz="1400">
              <a:ea typeface="宋体" panose="02010600030101010101" pitchFamily="2" charset="-122"/>
            </a:endParaRPr>
          </a:p>
        </p:txBody>
      </p:sp>
      <p:sp>
        <p:nvSpPr>
          <p:cNvPr id="39942" name="Text Box 6"/>
          <p:cNvSpPr txBox="1"/>
          <p:nvPr/>
        </p:nvSpPr>
        <p:spPr>
          <a:xfrm>
            <a:off x="7094538" y="6046788"/>
            <a:ext cx="1146175" cy="325437"/>
          </a:xfrm>
          <a:prstGeom prst="rect">
            <a:avLst/>
          </a:prstGeom>
          <a:noFill/>
          <a:ln w="12700">
            <a:noFill/>
          </a:ln>
        </p:spPr>
        <p:txBody>
          <a:bodyPr lIns="63500" tIns="25400" rIns="63500" bIns="25400" anchor="t" anchorCtr="0">
            <a:spAutoFit/>
          </a:bodyPr>
          <a:p>
            <a:pPr eaLnBrk="0" hangingPunct="0">
              <a:spcBef>
                <a:spcPct val="50000"/>
              </a:spcBef>
            </a:pPr>
            <a:r>
              <a:rPr lang="en-US" altLang="zh-CN" sz="1800">
                <a:solidFill>
                  <a:schemeClr val="accent2"/>
                </a:solidFill>
                <a:latin typeface="Arial" panose="020B0604020202020204" pitchFamily="34" charset="0"/>
                <a:ea typeface="宋体" panose="02010600030101010101" pitchFamily="2" charset="-122"/>
                <a:hlinkClick r:id="" action="ppaction://hlinkshowjump?jump=previousslide"/>
              </a:rPr>
              <a:t>BACK</a:t>
            </a:r>
            <a:endParaRPr lang="en-US" altLang="zh-CN" sz="1800">
              <a:solidFill>
                <a:schemeClr val="accent2"/>
              </a:solidFill>
              <a:latin typeface="Arial" panose="020B0604020202020204" pitchFamily="34" charset="0"/>
              <a:ea typeface="宋体" panose="02010600030101010101" pitchFamily="2" charset="-122"/>
            </a:endParaRPr>
          </a:p>
        </p:txBody>
      </p:sp>
      <p:sp>
        <p:nvSpPr>
          <p:cNvPr id="174086" name="矩形 562182"/>
          <p:cNvSpPr/>
          <p:nvPr/>
        </p:nvSpPr>
        <p:spPr>
          <a:xfrm>
            <a:off x="393700" y="914400"/>
            <a:ext cx="7634288" cy="420688"/>
          </a:xfrm>
          <a:prstGeom prst="rect">
            <a:avLst/>
          </a:prstGeom>
          <a:solidFill>
            <a:schemeClr val="accent1">
              <a:alpha val="23000"/>
            </a:schemeClr>
          </a:solidFill>
          <a:ln w="50800">
            <a:noFill/>
          </a:ln>
        </p:spPr>
        <p:txBody>
          <a:bodyPr anchor="t" anchorCtr="0"/>
          <a:p>
            <a:pPr eaLnBrk="0" hangingPunct="0"/>
            <a:endParaRPr lang="zh-CN" altLang="en-US">
              <a:latin typeface="Arial" panose="020B0604020202020204" pitchFamily="34" charset="0"/>
            </a:endParaRPr>
          </a:p>
        </p:txBody>
      </p:sp>
      <p:sp>
        <p:nvSpPr>
          <p:cNvPr id="174087" name="文本框 562183"/>
          <p:cNvSpPr txBox="1"/>
          <p:nvPr/>
        </p:nvSpPr>
        <p:spPr>
          <a:xfrm>
            <a:off x="2308225" y="1335088"/>
            <a:ext cx="1928813" cy="366712"/>
          </a:xfrm>
          <a:prstGeom prst="rect">
            <a:avLst/>
          </a:prstGeom>
          <a:noFill/>
          <a:ln w="50800">
            <a:noFill/>
          </a:ln>
        </p:spPr>
        <p:txBody>
          <a:bodyPr anchor="t" anchorCtr="0">
            <a:spAutoFit/>
          </a:bodyPr>
          <a:p>
            <a:pPr eaLnBrk="0" hangingPunct="0">
              <a:spcBef>
                <a:spcPct val="50000"/>
              </a:spcBef>
            </a:pPr>
            <a:r>
              <a:rPr lang="en-US" altLang="zh-CN" sz="1800">
                <a:solidFill>
                  <a:schemeClr val="accent1"/>
                </a:solidFill>
                <a:latin typeface="微软雅黑" panose="020B0503020204020204" pitchFamily="34" charset="-122"/>
                <a:ea typeface="微软雅黑" panose="020B0503020204020204" pitchFamily="34" charset="-122"/>
              </a:rPr>
              <a:t>MOV M to R</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
        <p:nvSpPr>
          <p:cNvPr id="174088" name="文本框 562184"/>
          <p:cNvSpPr txBox="1"/>
          <p:nvPr/>
        </p:nvSpPr>
        <p:spPr>
          <a:xfrm>
            <a:off x="2300288" y="2501900"/>
            <a:ext cx="1928812" cy="366713"/>
          </a:xfrm>
          <a:prstGeom prst="rect">
            <a:avLst/>
          </a:prstGeom>
          <a:noFill/>
          <a:ln w="50800">
            <a:noFill/>
          </a:ln>
        </p:spPr>
        <p:txBody>
          <a:bodyPr anchor="t" anchorCtr="0">
            <a:spAutoFit/>
          </a:bodyPr>
          <a:p>
            <a:pPr eaLnBrk="0" hangingPunct="0">
              <a:spcBef>
                <a:spcPct val="50000"/>
              </a:spcBef>
            </a:pPr>
            <a:r>
              <a:rPr lang="en-US" altLang="zh-CN" sz="1800">
                <a:solidFill>
                  <a:schemeClr val="accent1"/>
                </a:solidFill>
                <a:latin typeface="微软雅黑" panose="020B0503020204020204" pitchFamily="34" charset="-122"/>
                <a:ea typeface="微软雅黑" panose="020B0503020204020204" pitchFamily="34" charset="-122"/>
              </a:rPr>
              <a:t>MOV R to M</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
        <p:nvSpPr>
          <p:cNvPr id="174089" name="文本框 562185"/>
          <p:cNvSpPr txBox="1"/>
          <p:nvPr/>
        </p:nvSpPr>
        <p:spPr>
          <a:xfrm>
            <a:off x="3581400" y="1708150"/>
            <a:ext cx="723900" cy="366713"/>
          </a:xfrm>
          <a:prstGeom prst="rect">
            <a:avLst/>
          </a:prstGeom>
          <a:noFill/>
          <a:ln w="50800">
            <a:noFill/>
          </a:ln>
        </p:spPr>
        <p:txBody>
          <a:bodyPr anchor="t" anchorCtr="0">
            <a:spAutoFit/>
          </a:bodyPr>
          <a:p>
            <a:pPr eaLnBrk="0" hangingPunct="0">
              <a:spcBef>
                <a:spcPct val="50000"/>
              </a:spcBef>
            </a:pPr>
            <a:r>
              <a:rPr lang="en-US" altLang="zh-CN" sz="1800" err="1">
                <a:solidFill>
                  <a:schemeClr val="accent1"/>
                </a:solidFill>
                <a:latin typeface="微软雅黑" panose="020B0503020204020204" pitchFamily="34" charset="-122"/>
                <a:ea typeface="微软雅黑" panose="020B0503020204020204" pitchFamily="34" charset="-122"/>
              </a:rPr>
              <a:t>Jcc</a:t>
            </a:r>
            <a:endParaRPr lang="en-US" altLang="zh-CN" sz="1800">
              <a:solidFill>
                <a:schemeClr val="accent1"/>
              </a:solidFill>
              <a:latin typeface="微软雅黑" panose="020B0503020204020204" pitchFamily="34" charset="-122"/>
              <a:ea typeface="微软雅黑" panose="020B0503020204020204" pitchFamily="34" charset="-122"/>
            </a:endParaRPr>
          </a:p>
        </p:txBody>
      </p:sp>
      <p:sp>
        <p:nvSpPr>
          <p:cNvPr id="174090" name="文本框 562186"/>
          <p:cNvSpPr txBox="1"/>
          <p:nvPr/>
        </p:nvSpPr>
        <p:spPr>
          <a:xfrm>
            <a:off x="3063875" y="2149475"/>
            <a:ext cx="723900" cy="366713"/>
          </a:xfrm>
          <a:prstGeom prst="rect">
            <a:avLst/>
          </a:prstGeom>
          <a:noFill/>
          <a:ln w="50800">
            <a:noFill/>
          </a:ln>
        </p:spPr>
        <p:txBody>
          <a:bodyPr anchor="t" anchorCtr="0">
            <a:spAutoFit/>
          </a:bodyPr>
          <a:p>
            <a:pPr eaLnBrk="0" hangingPunct="0">
              <a:spcBef>
                <a:spcPct val="50000"/>
              </a:spcBef>
            </a:pPr>
            <a:r>
              <a:rPr lang="en-US" altLang="zh-CN" sz="1800">
                <a:solidFill>
                  <a:schemeClr val="accent1"/>
                </a:solidFill>
                <a:latin typeface="微软雅黑" panose="020B0503020204020204" pitchFamily="34" charset="-122"/>
                <a:ea typeface="微软雅黑" panose="020B0503020204020204" pitchFamily="34" charset="-122"/>
              </a:rPr>
              <a:t>CMP</a:t>
            </a:r>
            <a:endParaRPr lang="en-US" altLang="zh-CN" sz="180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blinds(horizontal)">
                                      <p:cBhvr>
                                        <p:cTn id="7"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5" name="Rectangle 2"/>
          <p:cNvSpPr>
            <a:spLocks noGrp="1"/>
          </p:cNvSpPr>
          <p:nvPr>
            <p:ph type="title"/>
          </p:nvPr>
        </p:nvSpPr>
        <p:spPr>
          <a:xfrm>
            <a:off x="236538" y="128588"/>
            <a:ext cx="8662987" cy="528637"/>
          </a:xfrm>
          <a:ln/>
        </p:spPr>
        <p:txBody>
          <a:bodyPr vert="horz" wrap="square" lIns="63500" tIns="25400" rIns="63500" bIns="25400" anchor="ctr" anchorCtr="0">
            <a:spAutoFit/>
          </a:bodyPr>
          <a:p>
            <a:r>
              <a:rPr lang="en-US" altLang="zh-CN">
                <a:ea typeface="宋体" panose="02010600030101010101" pitchFamily="2" charset="-122"/>
              </a:rPr>
              <a:t>RISC</a:t>
            </a:r>
            <a:r>
              <a:rPr lang="zh-CN" altLang="en-US" dirty="0"/>
              <a:t>设计风格的主要特点</a:t>
            </a:r>
            <a:endParaRPr lang="zh-CN" altLang="en-US" dirty="0"/>
          </a:p>
        </p:txBody>
      </p:sp>
      <p:sp>
        <p:nvSpPr>
          <p:cNvPr id="413699" name="Rectangle 3"/>
          <p:cNvSpPr>
            <a:spLocks noGrp="1"/>
          </p:cNvSpPr>
          <p:nvPr>
            <p:ph type="body"/>
          </p:nvPr>
        </p:nvSpPr>
        <p:spPr>
          <a:xfrm>
            <a:off x="269875" y="866775"/>
            <a:ext cx="8607425" cy="4381500"/>
          </a:xfrm>
          <a:ln/>
        </p:spPr>
        <p:txBody>
          <a:bodyPr vert="horz" wrap="square" lIns="91440" tIns="45720" rIns="91440" bIns="45720" anchor="t" anchorCtr="0">
            <a:spAutoFit/>
          </a:bodyPr>
          <a:p>
            <a:pPr marL="342900" indent="-342900">
              <a:buFont typeface="Monotype Sorts" pitchFamily="2" charset="2"/>
              <a:buChar char=" "/>
            </a:pPr>
            <a:r>
              <a:rPr lang="zh-CN" altLang="en-US" sz="2200" dirty="0">
                <a:solidFill>
                  <a:srgbClr val="0000FF"/>
                </a:solidFill>
                <a:latin typeface="微软雅黑" panose="020B0503020204020204" pitchFamily="34" charset="-122"/>
                <a:ea typeface="微软雅黑" panose="020B0503020204020204" pitchFamily="34" charset="-122"/>
              </a:rPr>
              <a:t>(1) 简化的指令系统</a:t>
            </a:r>
            <a:endParaRPr lang="zh-CN" altLang="en-US" sz="2200" dirty="0">
              <a:solidFill>
                <a:srgbClr val="0000FF"/>
              </a:solidFill>
              <a:latin typeface="微软雅黑" panose="020B0503020204020204" pitchFamily="34" charset="-122"/>
              <a:ea typeface="微软雅黑" panose="020B0503020204020204" pitchFamily="34" charset="-122"/>
            </a:endParaRPr>
          </a:p>
          <a:p>
            <a:pPr marL="342900" indent="-342900">
              <a:buFont typeface="Monotype Sorts" pitchFamily="2" charset="2"/>
              <a:buChar char=" "/>
            </a:pPr>
            <a:r>
              <a:rPr lang="zh-CN" altLang="en-US" sz="2200" dirty="0">
                <a:solidFill>
                  <a:srgbClr val="C2228D"/>
                </a:solidFill>
                <a:latin typeface="微软雅黑" panose="020B0503020204020204" pitchFamily="34" charset="-122"/>
                <a:ea typeface="微软雅黑" panose="020B0503020204020204" pitchFamily="34" charset="-122"/>
              </a:rPr>
              <a:t>     指令少 / 寻址方式少 / 指令格式少 / 指令长度一致</a:t>
            </a:r>
            <a:endParaRPr lang="zh-CN" altLang="en-US" sz="2200" dirty="0">
              <a:solidFill>
                <a:srgbClr val="C2228D"/>
              </a:solidFill>
              <a:latin typeface="微软雅黑" panose="020B0503020204020204" pitchFamily="34" charset="-122"/>
              <a:ea typeface="微软雅黑" panose="020B0503020204020204" pitchFamily="34" charset="-122"/>
            </a:endParaRPr>
          </a:p>
          <a:p>
            <a:pPr marL="342900" indent="-342900">
              <a:buFont typeface="Monotype Sorts" pitchFamily="2" charset="2"/>
              <a:buChar char=" "/>
            </a:pPr>
            <a:r>
              <a:rPr lang="zh-CN" altLang="en-US" sz="2200" dirty="0">
                <a:solidFill>
                  <a:srgbClr val="0000FF"/>
                </a:solidFill>
                <a:latin typeface="微软雅黑" panose="020B0503020204020204" pitchFamily="34" charset="-122"/>
                <a:ea typeface="微软雅黑" panose="020B0503020204020204" pitchFamily="34" charset="-122"/>
              </a:rPr>
              <a:t>(2) 以</a:t>
            </a:r>
            <a:r>
              <a:rPr lang="en-US" altLang="zh-CN" sz="2200">
                <a:solidFill>
                  <a:srgbClr val="0000FF"/>
                </a:solidFill>
                <a:latin typeface="微软雅黑" panose="020B0503020204020204" pitchFamily="34" charset="-122"/>
                <a:ea typeface="微软雅黑" panose="020B0503020204020204" pitchFamily="34" charset="-122"/>
              </a:rPr>
              <a:t>RR</a:t>
            </a:r>
            <a:r>
              <a:rPr lang="zh-CN" altLang="en-US" sz="2200" dirty="0">
                <a:solidFill>
                  <a:srgbClr val="0000FF"/>
                </a:solidFill>
                <a:latin typeface="微软雅黑" panose="020B0503020204020204" pitchFamily="34" charset="-122"/>
                <a:ea typeface="微软雅黑" panose="020B0503020204020204" pitchFamily="34" charset="-122"/>
              </a:rPr>
              <a:t>方式工作</a:t>
            </a:r>
            <a:endParaRPr lang="zh-CN" altLang="en-US" sz="2200" dirty="0">
              <a:solidFill>
                <a:srgbClr val="0000FF"/>
              </a:solidFill>
              <a:latin typeface="微软雅黑" panose="020B0503020204020204" pitchFamily="34" charset="-122"/>
              <a:ea typeface="微软雅黑" panose="020B0503020204020204" pitchFamily="34" charset="-122"/>
            </a:endParaRPr>
          </a:p>
          <a:p>
            <a:pPr marL="342900" indent="-342900">
              <a:buFont typeface="Monotype Sorts" pitchFamily="2" charset="2"/>
              <a:buChar char=" "/>
            </a:pPr>
            <a:r>
              <a:rPr lang="zh-CN" altLang="en-US" sz="2200" dirty="0">
                <a:solidFill>
                  <a:srgbClr val="C2228D"/>
                </a:solidFill>
                <a:latin typeface="微软雅黑" panose="020B0503020204020204" pitchFamily="34" charset="-122"/>
                <a:ea typeface="微软雅黑" panose="020B0503020204020204" pitchFamily="34" charset="-122"/>
              </a:rPr>
              <a:t>      除</a:t>
            </a:r>
            <a:r>
              <a:rPr lang="en-US" altLang="zh-CN" sz="2200">
                <a:solidFill>
                  <a:srgbClr val="C2228D"/>
                </a:solidFill>
                <a:latin typeface="微软雅黑" panose="020B0503020204020204" pitchFamily="34" charset="-122"/>
                <a:ea typeface="微软雅黑" panose="020B0503020204020204" pitchFamily="34" charset="-122"/>
              </a:rPr>
              <a:t>Load/Store</a:t>
            </a:r>
            <a:r>
              <a:rPr lang="zh-CN" altLang="en-US" sz="2200" dirty="0">
                <a:solidFill>
                  <a:srgbClr val="C2228D"/>
                </a:solidFill>
                <a:latin typeface="微软雅黑" panose="020B0503020204020204" pitchFamily="34" charset="-122"/>
                <a:ea typeface="微软雅黑" panose="020B0503020204020204" pitchFamily="34" charset="-122"/>
              </a:rPr>
              <a:t>指令可访存外，其余指令都只访问寄存器</a:t>
            </a:r>
            <a:endParaRPr lang="zh-CN" altLang="en-US" sz="2200" dirty="0">
              <a:solidFill>
                <a:srgbClr val="C2228D"/>
              </a:solidFill>
              <a:latin typeface="微软雅黑" panose="020B0503020204020204" pitchFamily="34" charset="-122"/>
              <a:ea typeface="微软雅黑" panose="020B0503020204020204" pitchFamily="34" charset="-122"/>
            </a:endParaRPr>
          </a:p>
          <a:p>
            <a:pPr marL="342900" indent="-342900">
              <a:buFont typeface="Monotype Sorts" pitchFamily="2" charset="2"/>
              <a:buChar char=" "/>
            </a:pPr>
            <a:r>
              <a:rPr lang="zh-CN" altLang="en-US" sz="2200" dirty="0">
                <a:solidFill>
                  <a:srgbClr val="0000FF"/>
                </a:solidFill>
                <a:latin typeface="微软雅黑" panose="020B0503020204020204" pitchFamily="34" charset="-122"/>
                <a:ea typeface="微软雅黑" panose="020B0503020204020204" pitchFamily="34" charset="-122"/>
              </a:rPr>
              <a:t>(3) 指令周期短</a:t>
            </a:r>
            <a:endParaRPr lang="zh-CN" altLang="en-US" sz="2200" dirty="0">
              <a:solidFill>
                <a:srgbClr val="0000FF"/>
              </a:solidFill>
              <a:latin typeface="微软雅黑" panose="020B0503020204020204" pitchFamily="34" charset="-122"/>
              <a:ea typeface="微软雅黑" panose="020B0503020204020204" pitchFamily="34" charset="-122"/>
            </a:endParaRPr>
          </a:p>
          <a:p>
            <a:pPr marL="342900" indent="-342900">
              <a:buFont typeface="Monotype Sorts" pitchFamily="2" charset="2"/>
              <a:buChar char=" "/>
            </a:pPr>
            <a:r>
              <a:rPr lang="zh-CN" altLang="en-US" sz="2200" dirty="0">
                <a:solidFill>
                  <a:srgbClr val="C2228D"/>
                </a:solidFill>
                <a:latin typeface="微软雅黑" panose="020B0503020204020204" pitchFamily="34" charset="-122"/>
                <a:ea typeface="微软雅黑" panose="020B0503020204020204" pitchFamily="34" charset="-122"/>
              </a:rPr>
              <a:t>      以流水线方式工作，</a:t>
            </a:r>
            <a:r>
              <a:rPr lang="zh-CN" altLang="en-US" sz="2200" dirty="0">
                <a:latin typeface="微软雅黑" panose="020B0503020204020204" pitchFamily="34" charset="-122"/>
                <a:ea typeface="微软雅黑" panose="020B0503020204020204" pitchFamily="34" charset="-122"/>
              </a:rPr>
              <a:t> </a:t>
            </a:r>
            <a:r>
              <a:rPr lang="zh-CN" altLang="en-US" sz="2200" dirty="0">
                <a:solidFill>
                  <a:srgbClr val="C2228D"/>
                </a:solidFill>
                <a:latin typeface="微软雅黑" panose="020B0503020204020204" pitchFamily="34" charset="-122"/>
                <a:ea typeface="微软雅黑" panose="020B0503020204020204" pitchFamily="34" charset="-122"/>
              </a:rPr>
              <a:t>因而除</a:t>
            </a:r>
            <a:r>
              <a:rPr lang="en-US" altLang="zh-CN" sz="2200">
                <a:solidFill>
                  <a:srgbClr val="C2228D"/>
                </a:solidFill>
                <a:latin typeface="微软雅黑" panose="020B0503020204020204" pitchFamily="34" charset="-122"/>
                <a:ea typeface="微软雅黑" panose="020B0503020204020204" pitchFamily="34" charset="-122"/>
              </a:rPr>
              <a:t>Load/Store</a:t>
            </a:r>
            <a:r>
              <a:rPr lang="zh-CN" altLang="en-US" sz="2200" dirty="0">
                <a:solidFill>
                  <a:srgbClr val="C2228D"/>
                </a:solidFill>
                <a:latin typeface="微软雅黑" panose="020B0503020204020204" pitchFamily="34" charset="-122"/>
                <a:ea typeface="微软雅黑" panose="020B0503020204020204" pitchFamily="34" charset="-122"/>
              </a:rPr>
              <a:t>指令外，其他简单指令都只需一个或一个不到的时钟周期就可完成</a:t>
            </a:r>
            <a:endParaRPr lang="zh-CN" altLang="en-US" sz="2200" dirty="0">
              <a:solidFill>
                <a:srgbClr val="C2228D"/>
              </a:solidFill>
              <a:latin typeface="微软雅黑" panose="020B0503020204020204" pitchFamily="34" charset="-122"/>
              <a:ea typeface="微软雅黑" panose="020B0503020204020204" pitchFamily="34" charset="-122"/>
            </a:endParaRPr>
          </a:p>
          <a:p>
            <a:pPr marL="342900" indent="-342900">
              <a:buFont typeface="Monotype Sorts" pitchFamily="2" charset="2"/>
              <a:buChar char=" "/>
            </a:pPr>
            <a:r>
              <a:rPr lang="zh-CN" altLang="en-US" sz="2200" dirty="0">
                <a:solidFill>
                  <a:srgbClr val="0000FF"/>
                </a:solidFill>
                <a:latin typeface="微软雅黑" panose="020B0503020204020204" pitchFamily="34" charset="-122"/>
                <a:ea typeface="微软雅黑" panose="020B0503020204020204" pitchFamily="34" charset="-122"/>
              </a:rPr>
              <a:t> (4) 采用大量通用寄存器，以减少访存次数</a:t>
            </a:r>
            <a:endParaRPr lang="zh-CN" altLang="en-US" sz="2200" dirty="0">
              <a:solidFill>
                <a:srgbClr val="0000FF"/>
              </a:solidFill>
              <a:latin typeface="微软雅黑" panose="020B0503020204020204" pitchFamily="34" charset="-122"/>
              <a:ea typeface="微软雅黑" panose="020B0503020204020204" pitchFamily="34" charset="-122"/>
            </a:endParaRPr>
          </a:p>
          <a:p>
            <a:pPr marL="342900" indent="-342900">
              <a:buFont typeface="Monotype Sorts" pitchFamily="2" charset="2"/>
              <a:buChar char=" "/>
            </a:pPr>
            <a:r>
              <a:rPr lang="zh-CN" altLang="en-US" sz="2200" dirty="0">
                <a:solidFill>
                  <a:srgbClr val="0000FF"/>
                </a:solidFill>
                <a:latin typeface="微软雅黑" panose="020B0503020204020204" pitchFamily="34" charset="-122"/>
                <a:ea typeface="微软雅黑" panose="020B0503020204020204" pitchFamily="34" charset="-122"/>
              </a:rPr>
              <a:t> (5) 采用硬连线路控制器，不用或少用微程序控制</a:t>
            </a:r>
            <a:endParaRPr lang="zh-CN" altLang="en-US" sz="2200" dirty="0">
              <a:solidFill>
                <a:srgbClr val="0000FF"/>
              </a:solidFill>
              <a:latin typeface="微软雅黑" panose="020B0503020204020204" pitchFamily="34" charset="-122"/>
              <a:ea typeface="微软雅黑" panose="020B0503020204020204" pitchFamily="34" charset="-122"/>
            </a:endParaRPr>
          </a:p>
          <a:p>
            <a:pPr marL="342900" indent="-342900">
              <a:buFont typeface="Monotype Sorts" pitchFamily="2" charset="2"/>
              <a:buChar char=" "/>
            </a:pPr>
            <a:r>
              <a:rPr lang="zh-CN" altLang="en-US" sz="2200" dirty="0">
                <a:solidFill>
                  <a:srgbClr val="0000FF"/>
                </a:solidFill>
                <a:latin typeface="微软雅黑" panose="020B0503020204020204" pitchFamily="34" charset="-122"/>
                <a:ea typeface="微软雅黑" panose="020B0503020204020204" pitchFamily="34" charset="-122"/>
              </a:rPr>
              <a:t> (6)  采用优化的编译系统，力求有效地支持高级语言程序</a:t>
            </a:r>
            <a:endParaRPr lang="zh-CN" altLang="en-US" sz="2200" dirty="0">
              <a:solidFill>
                <a:srgbClr val="0000FF"/>
              </a:solidFill>
              <a:latin typeface="微软雅黑" panose="020B0503020204020204" pitchFamily="34" charset="-122"/>
              <a:ea typeface="微软雅黑" panose="020B0503020204020204" pitchFamily="34" charset="-122"/>
            </a:endParaRPr>
          </a:p>
        </p:txBody>
      </p:sp>
      <p:sp>
        <p:nvSpPr>
          <p:cNvPr id="413700" name="Text Box 4"/>
          <p:cNvSpPr txBox="1"/>
          <p:nvPr/>
        </p:nvSpPr>
        <p:spPr>
          <a:xfrm>
            <a:off x="376238" y="5467350"/>
            <a:ext cx="8526462" cy="812800"/>
          </a:xfrm>
          <a:prstGeom prst="rect">
            <a:avLst/>
          </a:prstGeom>
          <a:noFill/>
          <a:ln w="12700">
            <a:noFill/>
          </a:ln>
        </p:spPr>
        <p:txBody>
          <a:bodyPr lIns="63500" tIns="25400" rIns="63500" bIns="25400" anchor="t" anchorCtr="0">
            <a:spAutoFit/>
          </a:bodyPr>
          <a:p>
            <a:pPr eaLnBrk="0" hangingPunct="0">
              <a:spcBef>
                <a:spcPct val="50000"/>
              </a:spcBef>
            </a:pPr>
            <a:r>
              <a:rPr lang="en-US" altLang="zh-CN" sz="2000">
                <a:latin typeface="微软雅黑" panose="020B0503020204020204" pitchFamily="34" charset="-122"/>
                <a:ea typeface="微软雅黑" panose="020B0503020204020204" pitchFamily="34" charset="-122"/>
              </a:rPr>
              <a:t>MIPS</a:t>
            </a:r>
            <a:r>
              <a:rPr lang="zh-CN" altLang="en-US" sz="2000" dirty="0">
                <a:latin typeface="微软雅黑" panose="020B0503020204020204" pitchFamily="34" charset="-122"/>
                <a:ea typeface="微软雅黑" panose="020B0503020204020204" pitchFamily="34" charset="-122"/>
              </a:rPr>
              <a:t>是典型的</a:t>
            </a:r>
            <a:r>
              <a:rPr lang="en-US" altLang="zh-CN" sz="2000">
                <a:latin typeface="微软雅黑" panose="020B0503020204020204" pitchFamily="34" charset="-122"/>
                <a:ea typeface="微软雅黑" panose="020B0503020204020204" pitchFamily="34" charset="-122"/>
              </a:rPr>
              <a:t>RISC</a:t>
            </a:r>
            <a:r>
              <a:rPr lang="zh-CN" altLang="en-US" sz="2000" dirty="0">
                <a:latin typeface="微软雅黑" panose="020B0503020204020204" pitchFamily="34" charset="-122"/>
                <a:ea typeface="微软雅黑" panose="020B0503020204020204" pitchFamily="34" charset="-122"/>
              </a:rPr>
              <a:t>处理器，</a:t>
            </a:r>
            <a:r>
              <a:rPr lang="en-US" altLang="zh-CN" sz="2000">
                <a:latin typeface="微软雅黑" panose="020B0503020204020204" pitchFamily="34" charset="-122"/>
                <a:ea typeface="微软雅黑" panose="020B0503020204020204" pitchFamily="34" charset="-122"/>
              </a:rPr>
              <a:t>82</a:t>
            </a:r>
            <a:r>
              <a:rPr lang="zh-CN" altLang="en-US" sz="2000" dirty="0">
                <a:latin typeface="微软雅黑" panose="020B0503020204020204" pitchFamily="34" charset="-122"/>
                <a:ea typeface="微软雅黑" panose="020B0503020204020204" pitchFamily="34" charset="-122"/>
              </a:rPr>
              <a:t>年以来新的指令集大多采用</a:t>
            </a:r>
            <a:r>
              <a:rPr lang="en-US" altLang="zh-CN" sz="2000">
                <a:latin typeface="微软雅黑" panose="020B0503020204020204" pitchFamily="34" charset="-122"/>
                <a:ea typeface="微软雅黑" panose="020B0503020204020204" pitchFamily="34" charset="-122"/>
              </a:rPr>
              <a:t>RISC</a:t>
            </a:r>
            <a:r>
              <a:rPr lang="zh-CN" altLang="en-US" sz="2000" dirty="0">
                <a:latin typeface="微软雅黑" panose="020B0503020204020204" pitchFamily="34" charset="-122"/>
                <a:ea typeface="微软雅黑" panose="020B0503020204020204" pitchFamily="34" charset="-122"/>
              </a:rPr>
              <a:t>体系结构</a:t>
            </a:r>
            <a:endParaRPr lang="zh-CN" altLang="en-US" sz="2000" dirty="0">
              <a:latin typeface="微软雅黑" panose="020B0503020204020204" pitchFamily="34" charset="-122"/>
              <a:ea typeface="微软雅黑" panose="020B0503020204020204" pitchFamily="34" charset="-122"/>
            </a:endParaRPr>
          </a:p>
          <a:p>
            <a:pPr eaLnBrk="0" hangingPunct="0">
              <a:spcBef>
                <a:spcPct val="50000"/>
              </a:spcBef>
            </a:pPr>
            <a:r>
              <a:rPr lang="en-US" altLang="zh-CN" sz="2000">
                <a:latin typeface="微软雅黑" panose="020B0503020204020204" pitchFamily="34" charset="-122"/>
                <a:ea typeface="微软雅黑" panose="020B0503020204020204" pitchFamily="34" charset="-122"/>
              </a:rPr>
              <a:t>x86</a:t>
            </a:r>
            <a:r>
              <a:rPr lang="zh-CN" altLang="en-US" sz="2000" dirty="0">
                <a:latin typeface="微软雅黑" panose="020B0503020204020204" pitchFamily="34" charset="-122"/>
                <a:ea typeface="微软雅黑" panose="020B0503020204020204" pitchFamily="34" charset="-122"/>
              </a:rPr>
              <a:t>因为“兼容”的需要，保留了</a:t>
            </a:r>
            <a:r>
              <a:rPr lang="en-US" altLang="zh-CN" sz="2000">
                <a:latin typeface="微软雅黑" panose="020B0503020204020204" pitchFamily="34" charset="-122"/>
                <a:ea typeface="微软雅黑" panose="020B0503020204020204" pitchFamily="34" charset="-122"/>
              </a:rPr>
              <a:t>CISC</a:t>
            </a:r>
            <a:r>
              <a:rPr lang="zh-CN" altLang="en-US" sz="2000" dirty="0">
                <a:latin typeface="微软雅黑" panose="020B0503020204020204" pitchFamily="34" charset="-122"/>
                <a:ea typeface="微软雅黑" panose="020B0503020204020204" pitchFamily="34" charset="-122"/>
              </a:rPr>
              <a:t>的风格，同时也借鉴了</a:t>
            </a:r>
            <a:r>
              <a:rPr lang="en-US" altLang="zh-CN" sz="2000">
                <a:latin typeface="微软雅黑" panose="020B0503020204020204" pitchFamily="34" charset="-122"/>
                <a:ea typeface="微软雅黑" panose="020B0503020204020204" pitchFamily="34" charset="-122"/>
              </a:rPr>
              <a:t>RISC</a:t>
            </a:r>
            <a:r>
              <a:rPr lang="zh-CN" altLang="en-US" sz="2000" dirty="0">
                <a:latin typeface="微软雅黑" panose="020B0503020204020204" pitchFamily="34" charset="-122"/>
                <a:ea typeface="微软雅黑" panose="020B0503020204020204" pitchFamily="34" charset="-122"/>
              </a:rPr>
              <a:t>思想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3699">
                                            <p:txEl>
                                              <p:charRg st="0" end="12"/>
                                            </p:txEl>
                                          </p:spTgt>
                                        </p:tgtEl>
                                        <p:attrNameLst>
                                          <p:attrName>style.visibility</p:attrName>
                                        </p:attrNameLst>
                                      </p:cBhvr>
                                      <p:to>
                                        <p:strVal val="visible"/>
                                      </p:to>
                                    </p:set>
                                    <p:animEffect transition="in" filter="blinds(horizontal)">
                                      <p:cBhvr>
                                        <p:cTn id="7" dur="500"/>
                                        <p:tgtEl>
                                          <p:spTgt spid="413699">
                                            <p:txEl>
                                              <p:charRg st="0" end="1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3699">
                                            <p:txEl>
                                              <p:charRg st="12" end="46"/>
                                            </p:txEl>
                                          </p:spTgt>
                                        </p:tgtEl>
                                        <p:attrNameLst>
                                          <p:attrName>style.visibility</p:attrName>
                                        </p:attrNameLst>
                                      </p:cBhvr>
                                      <p:to>
                                        <p:strVal val="visible"/>
                                      </p:to>
                                    </p:set>
                                    <p:animEffect transition="in" filter="blinds(horizontal)">
                                      <p:cBhvr>
                                        <p:cTn id="10" dur="500"/>
                                        <p:tgtEl>
                                          <p:spTgt spid="413699">
                                            <p:txEl>
                                              <p:charRg st="12" end="4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13699">
                                            <p:txEl>
                                              <p:charRg st="46" end="58"/>
                                            </p:txEl>
                                          </p:spTgt>
                                        </p:tgtEl>
                                        <p:attrNameLst>
                                          <p:attrName>style.visibility</p:attrName>
                                        </p:attrNameLst>
                                      </p:cBhvr>
                                      <p:to>
                                        <p:strVal val="visible"/>
                                      </p:to>
                                    </p:set>
                                    <p:animEffect transition="in" filter="blinds(horizontal)">
                                      <p:cBhvr>
                                        <p:cTn id="15" dur="500"/>
                                        <p:tgtEl>
                                          <p:spTgt spid="413699">
                                            <p:txEl>
                                              <p:charRg st="46" end="58"/>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3699">
                                            <p:txEl>
                                              <p:charRg st="58" end="94"/>
                                            </p:txEl>
                                          </p:spTgt>
                                        </p:tgtEl>
                                        <p:attrNameLst>
                                          <p:attrName>style.visibility</p:attrName>
                                        </p:attrNameLst>
                                      </p:cBhvr>
                                      <p:to>
                                        <p:strVal val="visible"/>
                                      </p:to>
                                    </p:set>
                                    <p:animEffect transition="in" filter="blinds(horizontal)">
                                      <p:cBhvr>
                                        <p:cTn id="18" dur="500"/>
                                        <p:tgtEl>
                                          <p:spTgt spid="413699">
                                            <p:txEl>
                                              <p:charRg st="58" end="9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13699">
                                            <p:txEl>
                                              <p:charRg st="94" end="104"/>
                                            </p:txEl>
                                          </p:spTgt>
                                        </p:tgtEl>
                                        <p:attrNameLst>
                                          <p:attrName>style.visibility</p:attrName>
                                        </p:attrNameLst>
                                      </p:cBhvr>
                                      <p:to>
                                        <p:strVal val="visible"/>
                                      </p:to>
                                    </p:set>
                                    <p:animEffect transition="in" filter="blinds(horizontal)">
                                      <p:cBhvr>
                                        <p:cTn id="23" dur="500"/>
                                        <p:tgtEl>
                                          <p:spTgt spid="413699">
                                            <p:txEl>
                                              <p:charRg st="94" end="10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13699">
                                            <p:txEl>
                                              <p:charRg st="104" end="163"/>
                                            </p:txEl>
                                          </p:spTgt>
                                        </p:tgtEl>
                                        <p:attrNameLst>
                                          <p:attrName>style.visibility</p:attrName>
                                        </p:attrNameLst>
                                      </p:cBhvr>
                                      <p:to>
                                        <p:strVal val="visible"/>
                                      </p:to>
                                    </p:set>
                                    <p:animEffect transition="in" filter="blinds(horizontal)">
                                      <p:cBhvr>
                                        <p:cTn id="26" dur="500"/>
                                        <p:tgtEl>
                                          <p:spTgt spid="413699">
                                            <p:txEl>
                                              <p:charRg st="104" end="16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13699">
                                            <p:txEl>
                                              <p:charRg st="163" end="186"/>
                                            </p:txEl>
                                          </p:spTgt>
                                        </p:tgtEl>
                                        <p:attrNameLst>
                                          <p:attrName>style.visibility</p:attrName>
                                        </p:attrNameLst>
                                      </p:cBhvr>
                                      <p:to>
                                        <p:strVal val="visible"/>
                                      </p:to>
                                    </p:set>
                                    <p:animEffect transition="in" filter="blinds(horizontal)">
                                      <p:cBhvr>
                                        <p:cTn id="31" dur="500"/>
                                        <p:tgtEl>
                                          <p:spTgt spid="413699">
                                            <p:txEl>
                                              <p:charRg st="163" end="18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13699">
                                            <p:txEl>
                                              <p:charRg st="186" end="212"/>
                                            </p:txEl>
                                          </p:spTgt>
                                        </p:tgtEl>
                                        <p:attrNameLst>
                                          <p:attrName>style.visibility</p:attrName>
                                        </p:attrNameLst>
                                      </p:cBhvr>
                                      <p:to>
                                        <p:strVal val="visible"/>
                                      </p:to>
                                    </p:set>
                                    <p:animEffect transition="in" filter="blinds(horizontal)">
                                      <p:cBhvr>
                                        <p:cTn id="36" dur="500"/>
                                        <p:tgtEl>
                                          <p:spTgt spid="413699">
                                            <p:txEl>
                                              <p:charRg st="186" end="21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13699">
                                            <p:txEl>
                                              <p:charRg st="212" end="242"/>
                                            </p:txEl>
                                          </p:spTgt>
                                        </p:tgtEl>
                                        <p:attrNameLst>
                                          <p:attrName>style.visibility</p:attrName>
                                        </p:attrNameLst>
                                      </p:cBhvr>
                                      <p:to>
                                        <p:strVal val="visible"/>
                                      </p:to>
                                    </p:set>
                                    <p:animEffect transition="in" filter="blinds(horizontal)">
                                      <p:cBhvr>
                                        <p:cTn id="41" dur="500"/>
                                        <p:tgtEl>
                                          <p:spTgt spid="413699">
                                            <p:txEl>
                                              <p:charRg st="212" end="24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413700">
                                            <p:txEl>
                                              <p:charRg st="0" end="39"/>
                                            </p:txEl>
                                          </p:spTgt>
                                        </p:tgtEl>
                                        <p:attrNameLst>
                                          <p:attrName>style.visibility</p:attrName>
                                        </p:attrNameLst>
                                      </p:cBhvr>
                                      <p:to>
                                        <p:strVal val="visible"/>
                                      </p:to>
                                    </p:set>
                                    <p:animEffect transition="in" filter="blinds(horizontal)">
                                      <p:cBhvr>
                                        <p:cTn id="46" dur="500"/>
                                        <p:tgtEl>
                                          <p:spTgt spid="413700">
                                            <p:txEl>
                                              <p:charRg st="0" end="3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413700">
                                            <p:txEl>
                                              <p:charRg st="39" end="77"/>
                                            </p:txEl>
                                          </p:spTgt>
                                        </p:tgtEl>
                                        <p:attrNameLst>
                                          <p:attrName>style.visibility</p:attrName>
                                        </p:attrNameLst>
                                      </p:cBhvr>
                                      <p:to>
                                        <p:strVal val="visible"/>
                                      </p:to>
                                    </p:set>
                                    <p:animEffect transition="in" filter="blinds(horizontal)">
                                      <p:cBhvr>
                                        <p:cTn id="51" dur="500"/>
                                        <p:tgtEl>
                                          <p:spTgt spid="413700">
                                            <p:txEl>
                                              <p:charRg st="39" end="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29" name="标题 566273"/>
          <p:cNvSpPr>
            <a:spLocks noGrp="1"/>
          </p:cNvSpPr>
          <p:nvPr>
            <p:ph type="title"/>
          </p:nvPr>
        </p:nvSpPr>
        <p:spPr>
          <a:ln/>
        </p:spPr>
        <p:txBody>
          <a:bodyPr lIns="63500" tIns="25400" rIns="63500" bIns="25400" anchor="t" anchorCtr="0">
            <a:spAutoFit/>
          </a:bodyPr>
          <a:p>
            <a:r>
              <a:rPr lang="zh-CN" altLang="en-US" dirty="0"/>
              <a:t>指令流水线的实现</a:t>
            </a:r>
            <a:endParaRPr lang="zh-CN" altLang="en-US" dirty="0"/>
          </a:p>
        </p:txBody>
      </p:sp>
      <p:pic>
        <p:nvPicPr>
          <p:cNvPr id="566275" name="图片 566274"/>
          <p:cNvPicPr>
            <a:picLocks noChangeAspect="1"/>
          </p:cNvPicPr>
          <p:nvPr/>
        </p:nvPicPr>
        <p:blipFill>
          <a:blip r:embed="rId1"/>
          <a:stretch>
            <a:fillRect/>
          </a:stretch>
        </p:blipFill>
        <p:spPr>
          <a:xfrm>
            <a:off x="0" y="2317750"/>
            <a:ext cx="9144000" cy="2603500"/>
          </a:xfrm>
          <a:prstGeom prst="rect">
            <a:avLst/>
          </a:prstGeom>
          <a:noFill/>
          <a:ln w="9525">
            <a:noFill/>
          </a:ln>
        </p:spPr>
      </p:pic>
      <p:sp>
        <p:nvSpPr>
          <p:cNvPr id="176131" name="文本占位符 566275"/>
          <p:cNvSpPr>
            <a:spLocks noGrp="1"/>
          </p:cNvSpPr>
          <p:nvPr>
            <p:ph idx="1"/>
          </p:nvPr>
        </p:nvSpPr>
        <p:spPr>
          <a:xfrm>
            <a:off x="261938" y="862013"/>
            <a:ext cx="8597900" cy="781050"/>
          </a:xfrm>
          <a:ln/>
        </p:spPr>
        <p:txBody>
          <a:bodyPr wrap="square" lIns="63500" tIns="25400" rIns="63500" bIns="25400" anchor="t" anchorCtr="0">
            <a:spAutoFit/>
          </a:bodyPr>
          <a:p>
            <a:pPr>
              <a:lnSpc>
                <a:spcPct val="120000"/>
              </a:lnSpc>
              <a:buNone/>
            </a:pPr>
            <a:r>
              <a:rPr lang="zh-CN" altLang="en-US" sz="2000" dirty="0">
                <a:latin typeface="微软雅黑" panose="020B0503020204020204" pitchFamily="34" charset="-122"/>
                <a:ea typeface="微软雅黑" panose="020B0503020204020204" pitchFamily="34" charset="-122"/>
              </a:rPr>
              <a:t>假定：最复杂指令执行过程 ① 取指：</a:t>
            </a:r>
            <a:r>
              <a:rPr lang="en-US" altLang="zh-CN" sz="2000">
                <a:latin typeface="微软雅黑" panose="020B0503020204020204" pitchFamily="34" charset="-122"/>
                <a:ea typeface="微软雅黑" panose="020B0503020204020204" pitchFamily="34" charset="-122"/>
              </a:rPr>
              <a:t>200ps</a:t>
            </a:r>
            <a:r>
              <a:rPr lang="zh-CN" altLang="en-US" sz="2000" dirty="0">
                <a:latin typeface="微软雅黑" panose="020B0503020204020204" pitchFamily="34" charset="-122"/>
                <a:ea typeface="微软雅黑" panose="020B0503020204020204" pitchFamily="34" charset="-122"/>
              </a:rPr>
              <a:t>；②译码和读操作数：</a:t>
            </a:r>
            <a:r>
              <a:rPr lang="en-US" altLang="zh-CN" sz="2000">
                <a:latin typeface="微软雅黑" panose="020B0503020204020204" pitchFamily="34" charset="-122"/>
                <a:ea typeface="微软雅黑" panose="020B0503020204020204" pitchFamily="34" charset="-122"/>
              </a:rPr>
              <a:t>50ps</a:t>
            </a:r>
            <a:r>
              <a:rPr lang="zh-CN" altLang="en-US" sz="2000" dirty="0">
                <a:latin typeface="微软雅黑" panose="020B0503020204020204" pitchFamily="34" charset="-122"/>
                <a:ea typeface="微软雅黑" panose="020B0503020204020204" pitchFamily="34" charset="-122"/>
              </a:rPr>
              <a:t>；③</a:t>
            </a:r>
            <a:r>
              <a:rPr lang="en-US" altLang="zh-CN" sz="2000">
                <a:latin typeface="微软雅黑" panose="020B0503020204020204" pitchFamily="34" charset="-122"/>
                <a:ea typeface="微软雅黑" panose="020B0503020204020204" pitchFamily="34" charset="-122"/>
              </a:rPr>
              <a:t>ALU</a:t>
            </a:r>
            <a:r>
              <a:rPr lang="zh-CN" altLang="en-US" sz="2000" dirty="0">
                <a:latin typeface="微软雅黑" panose="020B0503020204020204" pitchFamily="34" charset="-122"/>
                <a:ea typeface="微软雅黑" panose="020B0503020204020204" pitchFamily="34" charset="-122"/>
              </a:rPr>
              <a:t>操作：</a:t>
            </a:r>
            <a:r>
              <a:rPr lang="en-US" altLang="zh-CN" sz="2000">
                <a:latin typeface="微软雅黑" panose="020B0503020204020204" pitchFamily="34" charset="-122"/>
                <a:ea typeface="微软雅黑" panose="020B0503020204020204" pitchFamily="34" charset="-122"/>
              </a:rPr>
              <a:t>100ps</a:t>
            </a:r>
            <a:r>
              <a:rPr lang="zh-CN" altLang="en-US" sz="2000" dirty="0">
                <a:latin typeface="微软雅黑" panose="020B0503020204020204" pitchFamily="34" charset="-122"/>
                <a:ea typeface="微软雅黑" panose="020B0503020204020204" pitchFamily="34" charset="-122"/>
              </a:rPr>
              <a:t>；④读存储器：</a:t>
            </a:r>
            <a:r>
              <a:rPr lang="en-US" altLang="zh-CN" sz="2000">
                <a:latin typeface="微软雅黑" panose="020B0503020204020204" pitchFamily="34" charset="-122"/>
                <a:ea typeface="微软雅黑" panose="020B0503020204020204" pitchFamily="34" charset="-122"/>
              </a:rPr>
              <a:t>200ps</a:t>
            </a:r>
            <a:r>
              <a:rPr lang="zh-CN" altLang="en-US" sz="2000" dirty="0">
                <a:latin typeface="微软雅黑" panose="020B0503020204020204" pitchFamily="34" charset="-122"/>
                <a:ea typeface="微软雅黑" panose="020B0503020204020204" pitchFamily="34" charset="-122"/>
              </a:rPr>
              <a:t>；⑤结果写寄存器：</a:t>
            </a:r>
            <a:r>
              <a:rPr lang="en-US" altLang="zh-CN" sz="2000">
                <a:latin typeface="微软雅黑" panose="020B0503020204020204" pitchFamily="34" charset="-122"/>
                <a:ea typeface="微软雅黑" panose="020B0503020204020204" pitchFamily="34" charset="-122"/>
              </a:rPr>
              <a:t>50ps</a:t>
            </a:r>
            <a:r>
              <a:rPr lang="zh-CN" altLang="en-US"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sp>
        <p:nvSpPr>
          <p:cNvPr id="566277" name="文本框 566276"/>
          <p:cNvSpPr txBox="1"/>
          <p:nvPr/>
        </p:nvSpPr>
        <p:spPr>
          <a:xfrm>
            <a:off x="188913" y="4965700"/>
            <a:ext cx="1044575" cy="828675"/>
          </a:xfrm>
          <a:prstGeom prst="rect">
            <a:avLst/>
          </a:prstGeom>
          <a:noFill/>
          <a:ln w="50800">
            <a:noFill/>
          </a:ln>
        </p:spPr>
        <p:txBody>
          <a:bodyPr anchor="t" anchorCtr="0">
            <a:spAutoFit/>
          </a:bodyPr>
          <a:p>
            <a:pPr eaLnBrk="0" hangingPunct="0">
              <a:spcBef>
                <a:spcPct val="20000"/>
              </a:spcBef>
            </a:pPr>
            <a:r>
              <a:rPr lang="zh-CN" altLang="en-US" sz="2200" dirty="0">
                <a:solidFill>
                  <a:schemeClr val="accent1"/>
                </a:solidFill>
                <a:latin typeface="微软雅黑" panose="020B0503020204020204" pitchFamily="34" charset="-122"/>
                <a:ea typeface="微软雅黑" panose="020B0503020204020204" pitchFamily="34" charset="-122"/>
              </a:rPr>
              <a:t>取指令</a:t>
            </a:r>
            <a:endParaRPr lang="zh-CN" altLang="en-US" sz="2200" dirty="0">
              <a:solidFill>
                <a:schemeClr val="accent1"/>
              </a:solidFill>
              <a:latin typeface="微软雅黑" panose="020B0503020204020204" pitchFamily="34" charset="-122"/>
              <a:ea typeface="微软雅黑" panose="020B0503020204020204" pitchFamily="34" charset="-122"/>
            </a:endParaRPr>
          </a:p>
          <a:p>
            <a:pPr eaLnBrk="0" hangingPunct="0">
              <a:spcBef>
                <a:spcPct val="20000"/>
              </a:spcBef>
            </a:pPr>
            <a:r>
              <a:rPr lang="en-US" altLang="zh-CN" sz="2200" err="1">
                <a:solidFill>
                  <a:schemeClr val="accent1"/>
                </a:solidFill>
                <a:latin typeface="微软雅黑" panose="020B0503020204020204" pitchFamily="34" charset="-122"/>
                <a:ea typeface="微软雅黑" panose="020B0503020204020204" pitchFamily="34" charset="-122"/>
              </a:rPr>
              <a:t>IFetch</a:t>
            </a:r>
            <a:endParaRPr lang="zh-CN" altLang="en-US" sz="2200" dirty="0">
              <a:solidFill>
                <a:schemeClr val="accent1"/>
              </a:solidFill>
              <a:latin typeface="微软雅黑" panose="020B0503020204020204" pitchFamily="34" charset="-122"/>
              <a:ea typeface="微软雅黑" panose="020B0503020204020204" pitchFamily="34" charset="-122"/>
            </a:endParaRPr>
          </a:p>
        </p:txBody>
      </p:sp>
      <p:sp>
        <p:nvSpPr>
          <p:cNvPr id="566278" name="文本框 566277"/>
          <p:cNvSpPr txBox="1"/>
          <p:nvPr/>
        </p:nvSpPr>
        <p:spPr>
          <a:xfrm>
            <a:off x="1601788" y="4984750"/>
            <a:ext cx="1625600" cy="812800"/>
          </a:xfrm>
          <a:prstGeom prst="rect">
            <a:avLst/>
          </a:prstGeom>
          <a:noFill/>
          <a:ln w="50800">
            <a:noFill/>
          </a:ln>
        </p:spPr>
        <p:txBody>
          <a:bodyPr anchor="t" anchorCtr="0">
            <a:spAutoFit/>
          </a:bodyPr>
          <a:p>
            <a:pPr eaLnBrk="0" hangingPunct="0">
              <a:spcBef>
                <a:spcPct val="15000"/>
              </a:spcBef>
            </a:pPr>
            <a:r>
              <a:rPr lang="zh-CN" altLang="en-US" sz="2200" dirty="0">
                <a:solidFill>
                  <a:schemeClr val="accent1"/>
                </a:solidFill>
                <a:latin typeface="微软雅黑" panose="020B0503020204020204" pitchFamily="34" charset="-122"/>
                <a:ea typeface="微软雅黑" panose="020B0503020204020204" pitchFamily="34" charset="-122"/>
              </a:rPr>
              <a:t>读数</a:t>
            </a:r>
            <a:r>
              <a:rPr lang="en-US" altLang="zh-CN" sz="2200">
                <a:solidFill>
                  <a:schemeClr val="accent1"/>
                </a:solidFill>
                <a:latin typeface="微软雅黑" panose="020B0503020204020204" pitchFamily="34" charset="-122"/>
                <a:ea typeface="微软雅黑" panose="020B0503020204020204" pitchFamily="34" charset="-122"/>
              </a:rPr>
              <a:t>/</a:t>
            </a:r>
            <a:r>
              <a:rPr lang="zh-CN" altLang="en-US" sz="2200" dirty="0">
                <a:solidFill>
                  <a:schemeClr val="accent1"/>
                </a:solidFill>
                <a:latin typeface="微软雅黑" panose="020B0503020204020204" pitchFamily="34" charset="-122"/>
                <a:ea typeface="微软雅黑" panose="020B0503020204020204" pitchFamily="34" charset="-122"/>
              </a:rPr>
              <a:t>译码</a:t>
            </a:r>
            <a:endParaRPr lang="zh-CN" altLang="en-US" sz="2200" dirty="0">
              <a:solidFill>
                <a:schemeClr val="accent1"/>
              </a:solidFill>
              <a:latin typeface="微软雅黑" panose="020B0503020204020204" pitchFamily="34" charset="-122"/>
              <a:ea typeface="微软雅黑" panose="020B0503020204020204" pitchFamily="34" charset="-122"/>
            </a:endParaRPr>
          </a:p>
          <a:p>
            <a:pPr algn="ctr" eaLnBrk="0" hangingPunct="0">
              <a:spcBef>
                <a:spcPct val="15000"/>
              </a:spcBef>
            </a:pPr>
            <a:r>
              <a:rPr lang="en-US" altLang="zh-CN" sz="2200" err="1">
                <a:solidFill>
                  <a:schemeClr val="accent1"/>
                </a:solidFill>
                <a:latin typeface="微软雅黑" panose="020B0503020204020204" pitchFamily="34" charset="-122"/>
                <a:ea typeface="微软雅黑" panose="020B0503020204020204" pitchFamily="34" charset="-122"/>
              </a:rPr>
              <a:t>Reg</a:t>
            </a:r>
            <a:r>
              <a:rPr lang="en-US" altLang="zh-CN" sz="2200">
                <a:solidFill>
                  <a:schemeClr val="accent1"/>
                </a:solidFill>
                <a:latin typeface="微软雅黑" panose="020B0503020204020204" pitchFamily="34" charset="-122"/>
                <a:ea typeface="微软雅黑" panose="020B0503020204020204" pitchFamily="34" charset="-122"/>
              </a:rPr>
              <a:t>/Dec</a:t>
            </a:r>
            <a:endParaRPr lang="zh-CN" altLang="en-US" sz="2200" dirty="0">
              <a:solidFill>
                <a:schemeClr val="accent1"/>
              </a:solidFill>
              <a:latin typeface="微软雅黑" panose="020B0503020204020204" pitchFamily="34" charset="-122"/>
              <a:ea typeface="微软雅黑" panose="020B0503020204020204" pitchFamily="34" charset="-122"/>
            </a:endParaRPr>
          </a:p>
        </p:txBody>
      </p:sp>
      <p:sp>
        <p:nvSpPr>
          <p:cNvPr id="566279" name="文本框 566278"/>
          <p:cNvSpPr txBox="1"/>
          <p:nvPr/>
        </p:nvSpPr>
        <p:spPr>
          <a:xfrm>
            <a:off x="3609975" y="4989513"/>
            <a:ext cx="1438275" cy="828675"/>
          </a:xfrm>
          <a:prstGeom prst="rect">
            <a:avLst/>
          </a:prstGeom>
          <a:noFill/>
          <a:ln w="50800">
            <a:noFill/>
          </a:ln>
        </p:spPr>
        <p:txBody>
          <a:bodyPr anchor="t" anchorCtr="0">
            <a:spAutoFit/>
          </a:bodyPr>
          <a:p>
            <a:pPr eaLnBrk="0" hangingPunct="0">
              <a:spcBef>
                <a:spcPct val="20000"/>
              </a:spcBef>
            </a:pPr>
            <a:r>
              <a:rPr lang="en-US" altLang="zh-CN" sz="2200">
                <a:solidFill>
                  <a:schemeClr val="accent1"/>
                </a:solidFill>
                <a:latin typeface="微软雅黑" panose="020B0503020204020204" pitchFamily="34" charset="-122"/>
                <a:ea typeface="微软雅黑" panose="020B0503020204020204" pitchFamily="34" charset="-122"/>
              </a:rPr>
              <a:t>ALU</a:t>
            </a:r>
            <a:r>
              <a:rPr lang="zh-CN" altLang="en-US" sz="2200" dirty="0">
                <a:solidFill>
                  <a:schemeClr val="accent1"/>
                </a:solidFill>
                <a:latin typeface="微软雅黑" panose="020B0503020204020204" pitchFamily="34" charset="-122"/>
                <a:ea typeface="微软雅黑" panose="020B0503020204020204" pitchFamily="34" charset="-122"/>
              </a:rPr>
              <a:t>运算</a:t>
            </a:r>
            <a:endParaRPr lang="zh-CN" altLang="en-US" sz="2200" dirty="0">
              <a:solidFill>
                <a:schemeClr val="accent1"/>
              </a:solidFill>
              <a:latin typeface="微软雅黑" panose="020B0503020204020204" pitchFamily="34" charset="-122"/>
              <a:ea typeface="微软雅黑" panose="020B0503020204020204" pitchFamily="34" charset="-122"/>
            </a:endParaRPr>
          </a:p>
          <a:p>
            <a:pPr algn="ctr" eaLnBrk="0" hangingPunct="0">
              <a:spcBef>
                <a:spcPct val="20000"/>
              </a:spcBef>
            </a:pPr>
            <a:r>
              <a:rPr lang="en-US" altLang="zh-CN" sz="2200">
                <a:solidFill>
                  <a:schemeClr val="accent1"/>
                </a:solidFill>
                <a:latin typeface="微软雅黑" panose="020B0503020204020204" pitchFamily="34" charset="-122"/>
                <a:ea typeface="微软雅黑" panose="020B0503020204020204" pitchFamily="34" charset="-122"/>
              </a:rPr>
              <a:t>Exec</a:t>
            </a:r>
            <a:endParaRPr lang="en-US" altLang="zh-CN" sz="2200">
              <a:solidFill>
                <a:schemeClr val="accent1"/>
              </a:solidFill>
              <a:latin typeface="微软雅黑" panose="020B0503020204020204" pitchFamily="34" charset="-122"/>
              <a:ea typeface="微软雅黑" panose="020B0503020204020204" pitchFamily="34" charset="-122"/>
            </a:endParaRPr>
          </a:p>
        </p:txBody>
      </p:sp>
      <p:sp>
        <p:nvSpPr>
          <p:cNvPr id="566280" name="文本框 566279"/>
          <p:cNvSpPr txBox="1"/>
          <p:nvPr/>
        </p:nvSpPr>
        <p:spPr>
          <a:xfrm>
            <a:off x="5195888" y="4965700"/>
            <a:ext cx="1873250" cy="846138"/>
          </a:xfrm>
          <a:prstGeom prst="rect">
            <a:avLst/>
          </a:prstGeom>
          <a:noFill/>
          <a:ln w="50800">
            <a:noFill/>
          </a:ln>
        </p:spPr>
        <p:txBody>
          <a:bodyPr anchor="t" anchorCtr="0">
            <a:spAutoFit/>
          </a:bodyPr>
          <a:p>
            <a:pPr eaLnBrk="0" hangingPunct="0">
              <a:spcBef>
                <a:spcPct val="25000"/>
              </a:spcBef>
            </a:pPr>
            <a:r>
              <a:rPr lang="zh-CN" altLang="en-US" sz="2200" dirty="0">
                <a:solidFill>
                  <a:schemeClr val="accent1"/>
                </a:solidFill>
                <a:latin typeface="微软雅黑" panose="020B0503020204020204" pitchFamily="34" charset="-122"/>
                <a:ea typeface="微软雅黑" panose="020B0503020204020204" pitchFamily="34" charset="-122"/>
              </a:rPr>
              <a:t>读</a:t>
            </a:r>
            <a:r>
              <a:rPr lang="en-US" altLang="zh-CN" sz="2200">
                <a:solidFill>
                  <a:schemeClr val="accent1"/>
                </a:solidFill>
                <a:latin typeface="微软雅黑" panose="020B0503020204020204" pitchFamily="34" charset="-122"/>
                <a:ea typeface="微软雅黑" panose="020B0503020204020204" pitchFamily="34" charset="-122"/>
              </a:rPr>
              <a:t>/</a:t>
            </a:r>
            <a:r>
              <a:rPr lang="zh-CN" altLang="en-US" sz="2200" dirty="0">
                <a:solidFill>
                  <a:schemeClr val="accent1"/>
                </a:solidFill>
                <a:latin typeface="微软雅黑" panose="020B0503020204020204" pitchFamily="34" charset="-122"/>
                <a:ea typeface="微软雅黑" panose="020B0503020204020204" pitchFamily="34" charset="-122"/>
              </a:rPr>
              <a:t>写存储器</a:t>
            </a:r>
            <a:endParaRPr lang="zh-CN" altLang="en-US" sz="2200" dirty="0">
              <a:solidFill>
                <a:schemeClr val="accent1"/>
              </a:solidFill>
              <a:latin typeface="微软雅黑" panose="020B0503020204020204" pitchFamily="34" charset="-122"/>
              <a:ea typeface="微软雅黑" panose="020B0503020204020204" pitchFamily="34" charset="-122"/>
            </a:endParaRPr>
          </a:p>
          <a:p>
            <a:pPr algn="ctr" eaLnBrk="0" hangingPunct="0">
              <a:spcBef>
                <a:spcPct val="25000"/>
              </a:spcBef>
            </a:pPr>
            <a:r>
              <a:rPr lang="en-US" altLang="zh-CN" sz="2200" err="1">
                <a:solidFill>
                  <a:schemeClr val="accent1"/>
                </a:solidFill>
                <a:latin typeface="微软雅黑" panose="020B0503020204020204" pitchFamily="34" charset="-122"/>
                <a:ea typeface="微软雅黑" panose="020B0503020204020204" pitchFamily="34" charset="-122"/>
              </a:rPr>
              <a:t>Mem</a:t>
            </a:r>
            <a:endParaRPr lang="en-US" altLang="zh-CN" sz="2200">
              <a:solidFill>
                <a:schemeClr val="accent1"/>
              </a:solidFill>
              <a:latin typeface="微软雅黑" panose="020B0503020204020204" pitchFamily="34" charset="-122"/>
              <a:ea typeface="微软雅黑" panose="020B0503020204020204" pitchFamily="34" charset="-122"/>
            </a:endParaRPr>
          </a:p>
        </p:txBody>
      </p:sp>
      <p:sp>
        <p:nvSpPr>
          <p:cNvPr id="566281" name="文本框 566280"/>
          <p:cNvSpPr txBox="1"/>
          <p:nvPr/>
        </p:nvSpPr>
        <p:spPr>
          <a:xfrm>
            <a:off x="7385050" y="4972050"/>
            <a:ext cx="1408113" cy="828675"/>
          </a:xfrm>
          <a:prstGeom prst="rect">
            <a:avLst/>
          </a:prstGeom>
          <a:noFill/>
          <a:ln w="50800">
            <a:noFill/>
          </a:ln>
        </p:spPr>
        <p:txBody>
          <a:bodyPr anchor="t" anchorCtr="0">
            <a:spAutoFit/>
          </a:bodyPr>
          <a:p>
            <a:pPr eaLnBrk="0" hangingPunct="0">
              <a:spcBef>
                <a:spcPct val="20000"/>
              </a:spcBef>
            </a:pPr>
            <a:r>
              <a:rPr lang="zh-CN" altLang="en-US" sz="2200" dirty="0">
                <a:solidFill>
                  <a:schemeClr val="accent1"/>
                </a:solidFill>
                <a:latin typeface="微软雅黑" panose="020B0503020204020204" pitchFamily="34" charset="-122"/>
                <a:ea typeface="微软雅黑" panose="020B0503020204020204" pitchFamily="34" charset="-122"/>
              </a:rPr>
              <a:t>写结果</a:t>
            </a:r>
            <a:endParaRPr lang="zh-CN" altLang="en-US" sz="2200" dirty="0">
              <a:solidFill>
                <a:schemeClr val="accent1"/>
              </a:solidFill>
              <a:latin typeface="微软雅黑" panose="020B0503020204020204" pitchFamily="34" charset="-122"/>
              <a:ea typeface="微软雅黑" panose="020B0503020204020204" pitchFamily="34" charset="-122"/>
            </a:endParaRPr>
          </a:p>
          <a:p>
            <a:pPr eaLnBrk="0" hangingPunct="0">
              <a:spcBef>
                <a:spcPct val="20000"/>
              </a:spcBef>
            </a:pPr>
            <a:r>
              <a:rPr lang="en-US" altLang="zh-CN" sz="2200">
                <a:solidFill>
                  <a:schemeClr val="accent1"/>
                </a:solidFill>
                <a:latin typeface="微软雅黑" panose="020B0503020204020204" pitchFamily="34" charset="-122"/>
                <a:ea typeface="微软雅黑" panose="020B0503020204020204" pitchFamily="34" charset="-122"/>
              </a:rPr>
              <a:t>Write</a:t>
            </a:r>
            <a:endParaRPr lang="en-US" altLang="zh-CN" sz="2200">
              <a:solidFill>
                <a:schemeClr val="accent1"/>
              </a:solidFill>
              <a:latin typeface="微软雅黑" panose="020B0503020204020204" pitchFamily="34" charset="-122"/>
              <a:ea typeface="微软雅黑" panose="020B0503020204020204" pitchFamily="34" charset="-122"/>
            </a:endParaRPr>
          </a:p>
        </p:txBody>
      </p:sp>
      <p:sp>
        <p:nvSpPr>
          <p:cNvPr id="566282" name="矩形 566281"/>
          <p:cNvSpPr/>
          <p:nvPr/>
        </p:nvSpPr>
        <p:spPr>
          <a:xfrm>
            <a:off x="174625" y="1884363"/>
            <a:ext cx="4889500" cy="427037"/>
          </a:xfrm>
          <a:prstGeom prst="rect">
            <a:avLst/>
          </a:prstGeom>
          <a:noFill/>
          <a:ln w="50800">
            <a:noFill/>
          </a:ln>
        </p:spPr>
        <p:txBody>
          <a:bodyPr wrap="none" anchor="ctr" anchorCtr="0">
            <a:spAutoFit/>
          </a:bodyPr>
          <a:p>
            <a:pPr eaLnBrk="0" hangingPunct="0"/>
            <a:r>
              <a:rPr lang="zh-CN" altLang="en-US" sz="2200" dirty="0">
                <a:solidFill>
                  <a:schemeClr val="accent1"/>
                </a:solidFill>
                <a:latin typeface="微软雅黑" panose="020B0503020204020204" pitchFamily="34" charset="-122"/>
                <a:ea typeface="微软雅黑" panose="020B0503020204020204" pitchFamily="34" charset="-122"/>
              </a:rPr>
              <a:t>可以分</a:t>
            </a:r>
            <a:r>
              <a:rPr lang="en-US" altLang="zh-CN" sz="2200">
                <a:solidFill>
                  <a:schemeClr val="accent1"/>
                </a:solidFill>
                <a:latin typeface="微软雅黑" panose="020B0503020204020204" pitchFamily="34" charset="-122"/>
                <a:ea typeface="微软雅黑" panose="020B0503020204020204" pitchFamily="34" charset="-122"/>
              </a:rPr>
              <a:t>5</a:t>
            </a:r>
            <a:r>
              <a:rPr lang="zh-CN" altLang="en-US" sz="2200" dirty="0">
                <a:solidFill>
                  <a:schemeClr val="accent1"/>
                </a:solidFill>
                <a:latin typeface="微软雅黑" panose="020B0503020204020204" pitchFamily="34" charset="-122"/>
                <a:ea typeface="微软雅黑" panose="020B0503020204020204" pitchFamily="34" charset="-122"/>
              </a:rPr>
              <a:t>个流水段，最长阶段为</a:t>
            </a:r>
            <a:r>
              <a:rPr lang="en-US" altLang="zh-CN" sz="2200">
                <a:solidFill>
                  <a:schemeClr val="accent1"/>
                </a:solidFill>
                <a:latin typeface="微软雅黑" panose="020B0503020204020204" pitchFamily="34" charset="-122"/>
                <a:ea typeface="微软雅黑" panose="020B0503020204020204" pitchFamily="34" charset="-122"/>
              </a:rPr>
              <a:t>200ps</a:t>
            </a:r>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6282"/>
                                        </p:tgtEl>
                                        <p:attrNameLst>
                                          <p:attrName>style.visibility</p:attrName>
                                        </p:attrNameLst>
                                      </p:cBhvr>
                                      <p:to>
                                        <p:strVal val="visible"/>
                                      </p:to>
                                    </p:set>
                                    <p:animEffect transition="in" filter="blinds(horizontal)">
                                      <p:cBhvr>
                                        <p:cTn id="7" dur="500"/>
                                        <p:tgtEl>
                                          <p:spTgt spid="56628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6275"/>
                                        </p:tgtEl>
                                        <p:attrNameLst>
                                          <p:attrName>style.visibility</p:attrName>
                                        </p:attrNameLst>
                                      </p:cBhvr>
                                      <p:to>
                                        <p:strVal val="visible"/>
                                      </p:to>
                                    </p:set>
                                    <p:animEffect transition="in" filter="blinds(horizontal)">
                                      <p:cBhvr>
                                        <p:cTn id="12" dur="500"/>
                                        <p:tgtEl>
                                          <p:spTgt spid="56627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66277"/>
                                        </p:tgtEl>
                                        <p:attrNameLst>
                                          <p:attrName>style.visibility</p:attrName>
                                        </p:attrNameLst>
                                      </p:cBhvr>
                                      <p:to>
                                        <p:strVal val="visible"/>
                                      </p:to>
                                    </p:set>
                                    <p:animEffect transition="in" filter="blinds(horizontal)">
                                      <p:cBhvr>
                                        <p:cTn id="17" dur="500"/>
                                        <p:tgtEl>
                                          <p:spTgt spid="566277"/>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66278"/>
                                        </p:tgtEl>
                                        <p:attrNameLst>
                                          <p:attrName>style.visibility</p:attrName>
                                        </p:attrNameLst>
                                      </p:cBhvr>
                                      <p:to>
                                        <p:strVal val="visible"/>
                                      </p:to>
                                    </p:set>
                                    <p:animEffect transition="in" filter="blinds(horizontal)">
                                      <p:cBhvr>
                                        <p:cTn id="20" dur="500"/>
                                        <p:tgtEl>
                                          <p:spTgt spid="566278"/>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566279"/>
                                        </p:tgtEl>
                                        <p:attrNameLst>
                                          <p:attrName>style.visibility</p:attrName>
                                        </p:attrNameLst>
                                      </p:cBhvr>
                                      <p:to>
                                        <p:strVal val="visible"/>
                                      </p:to>
                                    </p:set>
                                    <p:animEffect transition="in" filter="blinds(horizontal)">
                                      <p:cBhvr>
                                        <p:cTn id="23" dur="500"/>
                                        <p:tgtEl>
                                          <p:spTgt spid="56627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566280"/>
                                        </p:tgtEl>
                                        <p:attrNameLst>
                                          <p:attrName>style.visibility</p:attrName>
                                        </p:attrNameLst>
                                      </p:cBhvr>
                                      <p:to>
                                        <p:strVal val="visible"/>
                                      </p:to>
                                    </p:set>
                                    <p:animEffect transition="in" filter="blinds(horizontal)">
                                      <p:cBhvr>
                                        <p:cTn id="26" dur="500"/>
                                        <p:tgtEl>
                                          <p:spTgt spid="566280"/>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566281"/>
                                        </p:tgtEl>
                                        <p:attrNameLst>
                                          <p:attrName>style.visibility</p:attrName>
                                        </p:attrNameLst>
                                      </p:cBhvr>
                                      <p:to>
                                        <p:strVal val="visible"/>
                                      </p:to>
                                    </p:set>
                                    <p:animEffect transition="in" filter="blinds(horizontal)">
                                      <p:cBhvr>
                                        <p:cTn id="29" dur="500"/>
                                        <p:tgtEl>
                                          <p:spTgt spid="566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7" grpId="0"/>
      <p:bldP spid="566278" grpId="0"/>
      <p:bldP spid="566279" grpId="0"/>
      <p:bldP spid="566280" grpId="0"/>
      <p:bldP spid="566281" grpId="0"/>
      <p:bldP spid="566282"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3" name="标题 564225"/>
          <p:cNvSpPr>
            <a:spLocks noGrp="1"/>
          </p:cNvSpPr>
          <p:nvPr>
            <p:ph type="title"/>
          </p:nvPr>
        </p:nvSpPr>
        <p:spPr>
          <a:xfrm>
            <a:off x="800100" y="112713"/>
            <a:ext cx="7396163" cy="528637"/>
          </a:xfrm>
          <a:ln/>
        </p:spPr>
        <p:txBody>
          <a:bodyPr vert="horz" wrap="square" lIns="63500" tIns="25400" rIns="63500" bIns="25400" anchor="t" anchorCtr="0">
            <a:spAutoFit/>
          </a:bodyPr>
          <a:p>
            <a:r>
              <a:rPr lang="zh-CN" altLang="en-US" dirty="0"/>
              <a:t>五段流水线数据通路</a:t>
            </a:r>
            <a:endParaRPr lang="zh-CN" altLang="en-US" dirty="0"/>
          </a:p>
        </p:txBody>
      </p:sp>
      <p:sp>
        <p:nvSpPr>
          <p:cNvPr id="177154" name="矩形 564226"/>
          <p:cNvSpPr/>
          <p:nvPr/>
        </p:nvSpPr>
        <p:spPr>
          <a:xfrm>
            <a:off x="2212975" y="3517900"/>
            <a:ext cx="288925" cy="2305050"/>
          </a:xfrm>
          <a:prstGeom prst="rect">
            <a:avLst/>
          </a:prstGeom>
          <a:noFill/>
          <a:ln w="25400" cap="flat" cmpd="sng">
            <a:solidFill>
              <a:srgbClr val="CC0000"/>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155" name="矩形 564227"/>
          <p:cNvSpPr/>
          <p:nvPr/>
        </p:nvSpPr>
        <p:spPr>
          <a:xfrm rot="5400000">
            <a:off x="1604963" y="4600575"/>
            <a:ext cx="1492250" cy="333375"/>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IF/ID</a:t>
            </a:r>
            <a:r>
              <a:rPr lang="en-US" altLang="zh-CN">
                <a:latin typeface="Arial" panose="020B0604020202020204" pitchFamily="34" charset="0"/>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Register</a:t>
            </a:r>
            <a:endParaRPr lang="en-US" altLang="zh-CN">
              <a:solidFill>
                <a:schemeClr val="accent2"/>
              </a:solidFill>
              <a:latin typeface="Arial" panose="020B0604020202020204" pitchFamily="34" charset="0"/>
              <a:ea typeface="宋体" panose="02010600030101010101" pitchFamily="2" charset="-122"/>
            </a:endParaRPr>
          </a:p>
        </p:txBody>
      </p:sp>
      <p:sp>
        <p:nvSpPr>
          <p:cNvPr id="177156" name="直接连接符 564228"/>
          <p:cNvSpPr/>
          <p:nvPr/>
        </p:nvSpPr>
        <p:spPr>
          <a:xfrm>
            <a:off x="2362200" y="3213100"/>
            <a:ext cx="0" cy="127000"/>
          </a:xfrm>
          <a:prstGeom prst="line">
            <a:avLst/>
          </a:prstGeom>
          <a:ln w="25400" cap="flat" cmpd="sng">
            <a:solidFill>
              <a:schemeClr val="tx1"/>
            </a:solidFill>
            <a:prstDash val="solid"/>
            <a:round/>
            <a:headEnd type="none" w="med" len="med"/>
            <a:tailEnd type="none" w="med" len="med"/>
          </a:ln>
        </p:spPr>
      </p:sp>
      <p:sp>
        <p:nvSpPr>
          <p:cNvPr id="177157" name="矩形 564229"/>
          <p:cNvSpPr/>
          <p:nvPr/>
        </p:nvSpPr>
        <p:spPr>
          <a:xfrm>
            <a:off x="4041775" y="3517900"/>
            <a:ext cx="288925" cy="2305050"/>
          </a:xfrm>
          <a:prstGeom prst="rect">
            <a:avLst/>
          </a:prstGeom>
          <a:noFill/>
          <a:ln w="25400" cap="flat" cmpd="sng">
            <a:solidFill>
              <a:srgbClr val="CC0000"/>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158" name="矩形 564230"/>
          <p:cNvSpPr/>
          <p:nvPr/>
        </p:nvSpPr>
        <p:spPr>
          <a:xfrm rot="5400000">
            <a:off x="3403600" y="4603750"/>
            <a:ext cx="1558925"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ID/Ex Register</a:t>
            </a:r>
            <a:endParaRPr lang="en-US" altLang="zh-CN">
              <a:latin typeface="Arial" panose="020B0604020202020204" pitchFamily="34" charset="0"/>
              <a:ea typeface="宋体" panose="02010600030101010101" pitchFamily="2" charset="-122"/>
            </a:endParaRPr>
          </a:p>
        </p:txBody>
      </p:sp>
      <p:sp>
        <p:nvSpPr>
          <p:cNvPr id="177159" name="矩形 564231"/>
          <p:cNvSpPr/>
          <p:nvPr/>
        </p:nvSpPr>
        <p:spPr>
          <a:xfrm>
            <a:off x="5870575" y="3517900"/>
            <a:ext cx="288925" cy="2305050"/>
          </a:xfrm>
          <a:prstGeom prst="rect">
            <a:avLst/>
          </a:prstGeom>
          <a:noFill/>
          <a:ln w="25400" cap="flat" cmpd="sng">
            <a:solidFill>
              <a:srgbClr val="CC0000"/>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160" name="矩形 564232"/>
          <p:cNvSpPr/>
          <p:nvPr/>
        </p:nvSpPr>
        <p:spPr>
          <a:xfrm rot="5400000">
            <a:off x="5103813" y="4600575"/>
            <a:ext cx="1812925" cy="333375"/>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Ex/</a:t>
            </a:r>
            <a:r>
              <a:rPr lang="en-US" altLang="zh-CN" err="1">
                <a:solidFill>
                  <a:schemeClr val="accent2"/>
                </a:solidFill>
                <a:latin typeface="Arial" panose="020B0604020202020204" pitchFamily="34" charset="0"/>
                <a:ea typeface="宋体" panose="02010600030101010101" pitchFamily="2" charset="-122"/>
              </a:rPr>
              <a:t>Mem</a:t>
            </a:r>
            <a:r>
              <a:rPr lang="en-US" altLang="zh-CN">
                <a:latin typeface="Times New Roman" panose="02020603050405020304" pitchFamily="18" charset="0"/>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Register</a:t>
            </a:r>
            <a:endParaRPr lang="en-US" altLang="zh-CN">
              <a:solidFill>
                <a:schemeClr val="accent2"/>
              </a:solidFill>
              <a:latin typeface="Arial" panose="020B0604020202020204" pitchFamily="34" charset="0"/>
              <a:ea typeface="宋体" panose="02010600030101010101" pitchFamily="2" charset="-122"/>
            </a:endParaRPr>
          </a:p>
        </p:txBody>
      </p:sp>
      <p:sp>
        <p:nvSpPr>
          <p:cNvPr id="177161" name="矩形 564233"/>
          <p:cNvSpPr/>
          <p:nvPr/>
        </p:nvSpPr>
        <p:spPr>
          <a:xfrm>
            <a:off x="7775575" y="3517900"/>
            <a:ext cx="288925" cy="2305050"/>
          </a:xfrm>
          <a:prstGeom prst="rect">
            <a:avLst/>
          </a:prstGeom>
          <a:noFill/>
          <a:ln w="25400" cap="flat" cmpd="sng">
            <a:solidFill>
              <a:srgbClr val="CC0000"/>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162" name="矩形 564234"/>
          <p:cNvSpPr/>
          <p:nvPr/>
        </p:nvSpPr>
        <p:spPr>
          <a:xfrm rot="5400000">
            <a:off x="6981825" y="4584700"/>
            <a:ext cx="1836738" cy="333375"/>
          </a:xfrm>
          <a:prstGeom prst="rect">
            <a:avLst/>
          </a:prstGeom>
          <a:noFill/>
          <a:ln w="12700">
            <a:noFill/>
          </a:ln>
        </p:spPr>
        <p:txBody>
          <a:bodyPr wrap="none" lIns="90488" tIns="44450" rIns="90488" bIns="44450" anchor="t" anchorCtr="0">
            <a:spAutoFit/>
          </a:bodyPr>
          <a:p>
            <a:pPr algn="ctr" eaLnBrk="0" hangingPunct="0"/>
            <a:r>
              <a:rPr lang="en-US" altLang="zh-CN" err="1">
                <a:solidFill>
                  <a:schemeClr val="accent2"/>
                </a:solidFill>
                <a:latin typeface="Arial" panose="020B0604020202020204" pitchFamily="34" charset="0"/>
                <a:ea typeface="宋体" panose="02010600030101010101" pitchFamily="2" charset="-122"/>
              </a:rPr>
              <a:t>Mem/Wr</a:t>
            </a:r>
            <a:r>
              <a:rPr lang="en-US" altLang="zh-CN">
                <a:latin typeface="Times New Roman" panose="02020603050405020304" pitchFamily="18" charset="0"/>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Register</a:t>
            </a:r>
            <a:endParaRPr lang="en-US" altLang="zh-CN">
              <a:solidFill>
                <a:schemeClr val="accent2"/>
              </a:solidFill>
              <a:latin typeface="Arial" panose="020B0604020202020204" pitchFamily="34" charset="0"/>
              <a:ea typeface="宋体" panose="02010600030101010101" pitchFamily="2" charset="-122"/>
            </a:endParaRPr>
          </a:p>
        </p:txBody>
      </p:sp>
      <p:sp>
        <p:nvSpPr>
          <p:cNvPr id="177163" name="矩形 564235"/>
          <p:cNvSpPr/>
          <p:nvPr/>
        </p:nvSpPr>
        <p:spPr>
          <a:xfrm>
            <a:off x="688975" y="3517900"/>
            <a:ext cx="288925" cy="1117600"/>
          </a:xfrm>
          <a:prstGeom prst="rect">
            <a:avLst/>
          </a:prstGeom>
          <a:noFill/>
          <a:ln w="25400" cap="flat" cmpd="sng">
            <a:solidFill>
              <a:schemeClr val="accent1"/>
            </a:solidFill>
            <a:prstDash val="solid"/>
            <a:miter/>
            <a:headEnd type="none" w="med" len="med"/>
            <a:tailEnd type="none" w="med" len="med"/>
          </a:ln>
        </p:spPr>
        <p:txBody>
          <a:bodyPr wrap="none" anchor="ctr" anchorCtr="0"/>
          <a:p>
            <a:pPr algn="ctr" eaLnBrk="0" hangingPunct="0"/>
            <a:endParaRPr lang="zh-CN" altLang="en-US" dirty="0">
              <a:solidFill>
                <a:schemeClr val="accent1"/>
              </a:solidFill>
              <a:latin typeface="Arial" panose="020B0604020202020204" pitchFamily="34" charset="0"/>
              <a:ea typeface="宋体" panose="02010600030101010101" pitchFamily="2" charset="-122"/>
            </a:endParaRPr>
          </a:p>
        </p:txBody>
      </p:sp>
      <p:sp>
        <p:nvSpPr>
          <p:cNvPr id="177164" name="矩形 564236"/>
          <p:cNvSpPr/>
          <p:nvPr/>
        </p:nvSpPr>
        <p:spPr>
          <a:xfrm rot="5400000">
            <a:off x="581025" y="3662363"/>
            <a:ext cx="461963" cy="333375"/>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PC</a:t>
            </a:r>
            <a:endParaRPr lang="en-US" altLang="zh-CN">
              <a:solidFill>
                <a:schemeClr val="accent2"/>
              </a:solidFill>
              <a:latin typeface="Arial" panose="020B0604020202020204" pitchFamily="34" charset="0"/>
              <a:ea typeface="宋体" panose="02010600030101010101" pitchFamily="2" charset="-122"/>
            </a:endParaRPr>
          </a:p>
        </p:txBody>
      </p:sp>
      <p:sp>
        <p:nvSpPr>
          <p:cNvPr id="177165" name="矩形 564237"/>
          <p:cNvSpPr/>
          <p:nvPr/>
        </p:nvSpPr>
        <p:spPr>
          <a:xfrm>
            <a:off x="6784975" y="3975100"/>
            <a:ext cx="622300" cy="1270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166" name="矩形 564238"/>
          <p:cNvSpPr/>
          <p:nvPr/>
        </p:nvSpPr>
        <p:spPr>
          <a:xfrm>
            <a:off x="6761163" y="3983038"/>
            <a:ext cx="695325" cy="577850"/>
          </a:xfrm>
          <a:prstGeom prst="rect">
            <a:avLst/>
          </a:prstGeom>
          <a:noFill/>
          <a:ln w="12700">
            <a:noFill/>
          </a:ln>
        </p:spPr>
        <p:txBody>
          <a:bodyPr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Data</a:t>
            </a:r>
            <a:endParaRPr lang="en-US" altLang="zh-CN">
              <a:solidFill>
                <a:schemeClr val="accent2"/>
              </a:solidFill>
              <a:latin typeface="Arial" panose="020B0604020202020204" pitchFamily="34" charset="0"/>
              <a:ea typeface="宋体" panose="02010600030101010101" pitchFamily="2" charset="-122"/>
            </a:endParaRPr>
          </a:p>
          <a:p>
            <a:pPr algn="ctr" eaLnBrk="0" hangingPunct="0"/>
            <a:r>
              <a:rPr lang="en-US" altLang="zh-CN" err="1">
                <a:solidFill>
                  <a:schemeClr val="accent2"/>
                </a:solidFill>
                <a:latin typeface="Arial" panose="020B0604020202020204" pitchFamily="34" charset="0"/>
                <a:ea typeface="宋体" panose="02010600030101010101" pitchFamily="2" charset="-122"/>
              </a:rPr>
              <a:t>Mem</a:t>
            </a:r>
            <a:endParaRPr lang="en-US" altLang="zh-CN">
              <a:solidFill>
                <a:schemeClr val="accent2"/>
              </a:solidFill>
              <a:latin typeface="Arial" panose="020B0604020202020204" pitchFamily="34" charset="0"/>
              <a:ea typeface="宋体" panose="02010600030101010101" pitchFamily="2" charset="-122"/>
            </a:endParaRPr>
          </a:p>
        </p:txBody>
      </p:sp>
      <p:sp>
        <p:nvSpPr>
          <p:cNvPr id="177167" name="矩形 564239"/>
          <p:cNvSpPr/>
          <p:nvPr/>
        </p:nvSpPr>
        <p:spPr>
          <a:xfrm>
            <a:off x="6767513" y="4748213"/>
            <a:ext cx="477837" cy="301625"/>
          </a:xfrm>
          <a:prstGeom prst="rect">
            <a:avLst/>
          </a:prstGeom>
          <a:noFill/>
          <a:ln w="12700">
            <a:noFill/>
          </a:ln>
        </p:spPr>
        <p:txBody>
          <a:bodyPr wrap="none" lIns="90488" tIns="44450" rIns="90488" bIns="44450" anchor="t" anchorCtr="0">
            <a:spAutoFit/>
          </a:bodyPr>
          <a:p>
            <a:pPr eaLnBrk="0" hangingPunct="0"/>
            <a:r>
              <a:rPr lang="en-US" altLang="zh-CN" sz="1400">
                <a:latin typeface="Arial" panose="020B0604020202020204" pitchFamily="34" charset="0"/>
                <a:ea typeface="宋体" panose="02010600030101010101" pitchFamily="2" charset="-122"/>
              </a:rPr>
              <a:t>WA</a:t>
            </a:r>
            <a:endParaRPr lang="en-US" altLang="zh-CN" sz="1400">
              <a:latin typeface="Arial" panose="020B0604020202020204" pitchFamily="34" charset="0"/>
              <a:ea typeface="宋体" panose="02010600030101010101" pitchFamily="2" charset="-122"/>
            </a:endParaRPr>
          </a:p>
        </p:txBody>
      </p:sp>
      <p:sp>
        <p:nvSpPr>
          <p:cNvPr id="177168" name="矩形 564240"/>
          <p:cNvSpPr/>
          <p:nvPr/>
        </p:nvSpPr>
        <p:spPr>
          <a:xfrm>
            <a:off x="6764338" y="4964113"/>
            <a:ext cx="384175"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Di</a:t>
            </a:r>
            <a:endParaRPr lang="en-US" altLang="zh-CN">
              <a:latin typeface="Arial" panose="020B0604020202020204" pitchFamily="34" charset="0"/>
              <a:ea typeface="宋体" panose="02010600030101010101" pitchFamily="2" charset="-122"/>
            </a:endParaRPr>
          </a:p>
        </p:txBody>
      </p:sp>
      <p:sp>
        <p:nvSpPr>
          <p:cNvPr id="177169" name="矩形 564241"/>
          <p:cNvSpPr/>
          <p:nvPr/>
        </p:nvSpPr>
        <p:spPr>
          <a:xfrm>
            <a:off x="6702425" y="4519613"/>
            <a:ext cx="473075"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RA</a:t>
            </a:r>
            <a:endParaRPr lang="en-US" altLang="zh-CN">
              <a:latin typeface="Arial" panose="020B0604020202020204" pitchFamily="34" charset="0"/>
              <a:ea typeface="宋体" panose="02010600030101010101" pitchFamily="2" charset="-122"/>
            </a:endParaRPr>
          </a:p>
        </p:txBody>
      </p:sp>
      <p:sp>
        <p:nvSpPr>
          <p:cNvPr id="177170" name="矩形 564242"/>
          <p:cNvSpPr/>
          <p:nvPr/>
        </p:nvSpPr>
        <p:spPr>
          <a:xfrm>
            <a:off x="7046913" y="4519613"/>
            <a:ext cx="450850"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Do</a:t>
            </a:r>
            <a:endParaRPr lang="en-US" altLang="zh-CN">
              <a:latin typeface="Arial" panose="020B0604020202020204" pitchFamily="34" charset="0"/>
              <a:ea typeface="宋体" panose="02010600030101010101" pitchFamily="2" charset="-122"/>
            </a:endParaRPr>
          </a:p>
        </p:txBody>
      </p:sp>
      <p:sp>
        <p:nvSpPr>
          <p:cNvPr id="177171" name="矩形 564243"/>
          <p:cNvSpPr/>
          <p:nvPr/>
        </p:nvSpPr>
        <p:spPr>
          <a:xfrm>
            <a:off x="1374775" y="3517900"/>
            <a:ext cx="365125" cy="2032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172" name="矩形 564244"/>
          <p:cNvSpPr/>
          <p:nvPr/>
        </p:nvSpPr>
        <p:spPr>
          <a:xfrm rot="5400000">
            <a:off x="1258888" y="4575175"/>
            <a:ext cx="633412" cy="333375"/>
          </a:xfrm>
          <a:prstGeom prst="rect">
            <a:avLst/>
          </a:prstGeom>
          <a:noFill/>
          <a:ln w="12700">
            <a:noFill/>
          </a:ln>
        </p:spPr>
        <p:txBody>
          <a:bodyPr wrap="none" lIns="90488" tIns="44450" rIns="90488" bIns="44450" anchor="t" anchorCtr="0">
            <a:spAutoFit/>
          </a:bodyPr>
          <a:p>
            <a:pPr algn="ctr" eaLnBrk="0" hangingPunct="0"/>
            <a:r>
              <a:rPr lang="en-US" altLang="zh-CN" err="1">
                <a:solidFill>
                  <a:schemeClr val="accent2"/>
                </a:solidFill>
                <a:latin typeface="Arial" panose="020B0604020202020204" pitchFamily="34" charset="0"/>
                <a:ea typeface="宋体" panose="02010600030101010101" pitchFamily="2" charset="-122"/>
              </a:rPr>
              <a:t>IUnit</a:t>
            </a:r>
            <a:endParaRPr lang="en-US" altLang="zh-CN">
              <a:solidFill>
                <a:schemeClr val="accent2"/>
              </a:solidFill>
              <a:latin typeface="Arial" panose="020B0604020202020204" pitchFamily="34" charset="0"/>
              <a:ea typeface="宋体" panose="02010600030101010101" pitchFamily="2" charset="-122"/>
            </a:endParaRPr>
          </a:p>
        </p:txBody>
      </p:sp>
      <p:sp>
        <p:nvSpPr>
          <p:cNvPr id="177173" name="矩形 564245"/>
          <p:cNvSpPr/>
          <p:nvPr/>
        </p:nvSpPr>
        <p:spPr>
          <a:xfrm>
            <a:off x="1357313" y="4138613"/>
            <a:ext cx="309562" cy="301625"/>
          </a:xfrm>
          <a:prstGeom prst="rect">
            <a:avLst/>
          </a:prstGeom>
          <a:noFill/>
          <a:ln w="12700">
            <a:noFill/>
          </a:ln>
        </p:spPr>
        <p:txBody>
          <a:bodyPr wrap="none" lIns="90488" tIns="44450" rIns="90488" bIns="44450" anchor="t" anchorCtr="0">
            <a:spAutoFit/>
          </a:bodyPr>
          <a:p>
            <a:pPr eaLnBrk="0" hangingPunct="0"/>
            <a:r>
              <a:rPr lang="en-US" altLang="zh-CN" sz="1400">
                <a:latin typeface="Arial" panose="020B0604020202020204" pitchFamily="34" charset="0"/>
                <a:ea typeface="宋体" panose="02010600030101010101" pitchFamily="2" charset="-122"/>
              </a:rPr>
              <a:t>A</a:t>
            </a:r>
            <a:endParaRPr lang="en-US" altLang="zh-CN" sz="1400">
              <a:latin typeface="Arial" panose="020B0604020202020204" pitchFamily="34" charset="0"/>
              <a:ea typeface="宋体" panose="02010600030101010101" pitchFamily="2" charset="-122"/>
            </a:endParaRPr>
          </a:p>
        </p:txBody>
      </p:sp>
      <p:sp>
        <p:nvSpPr>
          <p:cNvPr id="177174" name="矩形 564246"/>
          <p:cNvSpPr/>
          <p:nvPr/>
        </p:nvSpPr>
        <p:spPr>
          <a:xfrm>
            <a:off x="1509713" y="5281613"/>
            <a:ext cx="230187" cy="301625"/>
          </a:xfrm>
          <a:prstGeom prst="rect">
            <a:avLst/>
          </a:prstGeom>
          <a:noFill/>
          <a:ln w="12700">
            <a:noFill/>
          </a:ln>
        </p:spPr>
        <p:txBody>
          <a:bodyPr wrap="none" lIns="90488" tIns="44450" rIns="90488" bIns="44450" anchor="t" anchorCtr="0">
            <a:spAutoFit/>
          </a:bodyPr>
          <a:p>
            <a:pPr eaLnBrk="0" hangingPunct="0"/>
            <a:r>
              <a:rPr lang="en-US" altLang="zh-CN" sz="1400">
                <a:latin typeface="Arial" panose="020B0604020202020204" pitchFamily="34" charset="0"/>
                <a:ea typeface="宋体" panose="02010600030101010101" pitchFamily="2" charset="-122"/>
              </a:rPr>
              <a:t>I</a:t>
            </a:r>
            <a:endParaRPr lang="en-US" altLang="zh-CN" sz="1400">
              <a:latin typeface="Arial" panose="020B0604020202020204" pitchFamily="34" charset="0"/>
              <a:ea typeface="宋体" panose="02010600030101010101" pitchFamily="2" charset="-122"/>
            </a:endParaRPr>
          </a:p>
        </p:txBody>
      </p:sp>
      <p:sp>
        <p:nvSpPr>
          <p:cNvPr id="177175" name="矩形 564247"/>
          <p:cNvSpPr/>
          <p:nvPr/>
        </p:nvSpPr>
        <p:spPr>
          <a:xfrm>
            <a:off x="3051175" y="4051300"/>
            <a:ext cx="593725" cy="12700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176" name="矩形 564248"/>
          <p:cNvSpPr/>
          <p:nvPr/>
        </p:nvSpPr>
        <p:spPr>
          <a:xfrm>
            <a:off x="3005138" y="4814888"/>
            <a:ext cx="677862" cy="333375"/>
          </a:xfrm>
          <a:prstGeom prst="rect">
            <a:avLst/>
          </a:prstGeom>
          <a:noFill/>
          <a:ln w="12700">
            <a:noFill/>
          </a:ln>
        </p:spPr>
        <p:txBody>
          <a:bodyPr wrap="none" lIns="90488" tIns="44450" rIns="90488" bIns="44450" anchor="t" anchorCtr="0">
            <a:spAutoFit/>
          </a:bodyPr>
          <a:p>
            <a:pPr algn="ctr" eaLnBrk="0" hangingPunct="0"/>
            <a:r>
              <a:rPr lang="en-US" altLang="zh-CN" err="1">
                <a:solidFill>
                  <a:schemeClr val="accent2"/>
                </a:solidFill>
                <a:latin typeface="Arial" panose="020B0604020202020204" pitchFamily="34" charset="0"/>
                <a:ea typeface="宋体" panose="02010600030101010101" pitchFamily="2" charset="-122"/>
              </a:rPr>
              <a:t>RFile</a:t>
            </a:r>
            <a:endParaRPr lang="en-US" altLang="zh-CN">
              <a:solidFill>
                <a:schemeClr val="accent2"/>
              </a:solidFill>
              <a:latin typeface="Arial" panose="020B0604020202020204" pitchFamily="34" charset="0"/>
              <a:ea typeface="宋体" panose="02010600030101010101" pitchFamily="2" charset="-122"/>
            </a:endParaRPr>
          </a:p>
        </p:txBody>
      </p:sp>
      <p:sp>
        <p:nvSpPr>
          <p:cNvPr id="177177" name="矩形 564249"/>
          <p:cNvSpPr/>
          <p:nvPr/>
        </p:nvSpPr>
        <p:spPr>
          <a:xfrm>
            <a:off x="3325813" y="5046663"/>
            <a:ext cx="384175"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Di</a:t>
            </a:r>
            <a:endParaRPr lang="en-US" altLang="zh-CN">
              <a:latin typeface="Arial" panose="020B0604020202020204" pitchFamily="34" charset="0"/>
              <a:ea typeface="宋体" panose="02010600030101010101" pitchFamily="2" charset="-122"/>
            </a:endParaRPr>
          </a:p>
        </p:txBody>
      </p:sp>
      <p:sp>
        <p:nvSpPr>
          <p:cNvPr id="177178" name="矩形 564250"/>
          <p:cNvSpPr/>
          <p:nvPr/>
        </p:nvSpPr>
        <p:spPr>
          <a:xfrm>
            <a:off x="3003550" y="4192588"/>
            <a:ext cx="439738"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Ra</a:t>
            </a:r>
            <a:endParaRPr lang="en-US" altLang="zh-CN">
              <a:latin typeface="Arial" panose="020B0604020202020204" pitchFamily="34" charset="0"/>
              <a:ea typeface="宋体" panose="02010600030101010101" pitchFamily="2" charset="-122"/>
            </a:endParaRPr>
          </a:p>
        </p:txBody>
      </p:sp>
      <p:sp>
        <p:nvSpPr>
          <p:cNvPr id="177179" name="矩形 564251"/>
          <p:cNvSpPr/>
          <p:nvPr/>
        </p:nvSpPr>
        <p:spPr>
          <a:xfrm>
            <a:off x="3003550" y="4522788"/>
            <a:ext cx="450850" cy="333375"/>
          </a:xfrm>
          <a:prstGeom prst="rect">
            <a:avLst/>
          </a:prstGeom>
          <a:noFill/>
          <a:ln w="12700">
            <a:noFill/>
          </a:ln>
        </p:spPr>
        <p:txBody>
          <a:bodyPr wrap="none" lIns="90488" tIns="44450" rIns="90488" bIns="44450" anchor="t" anchorCtr="0">
            <a:spAutoFit/>
          </a:bodyPr>
          <a:p>
            <a:pPr algn="ctr" eaLnBrk="0" hangingPunct="0"/>
            <a:r>
              <a:rPr lang="en-US" altLang="zh-CN" err="1">
                <a:latin typeface="Arial" panose="020B0604020202020204" pitchFamily="34" charset="0"/>
                <a:ea typeface="宋体" panose="02010600030101010101" pitchFamily="2" charset="-122"/>
              </a:rPr>
              <a:t>Rb</a:t>
            </a:r>
            <a:endParaRPr lang="en-US" altLang="zh-CN">
              <a:latin typeface="Arial" panose="020B0604020202020204" pitchFamily="34" charset="0"/>
              <a:ea typeface="宋体" panose="02010600030101010101" pitchFamily="2" charset="-122"/>
            </a:endParaRPr>
          </a:p>
        </p:txBody>
      </p:sp>
      <p:sp>
        <p:nvSpPr>
          <p:cNvPr id="177180" name="矩形 564252"/>
          <p:cNvSpPr/>
          <p:nvPr/>
        </p:nvSpPr>
        <p:spPr>
          <a:xfrm>
            <a:off x="3005138" y="5070475"/>
            <a:ext cx="485775" cy="333375"/>
          </a:xfrm>
          <a:prstGeom prst="rect">
            <a:avLst/>
          </a:prstGeom>
          <a:noFill/>
          <a:ln w="12700">
            <a:noFill/>
          </a:ln>
        </p:spPr>
        <p:txBody>
          <a:bodyPr wrap="none" lIns="90488" tIns="44450" rIns="90488" bIns="44450" anchor="t" anchorCtr="0">
            <a:spAutoFit/>
          </a:bodyPr>
          <a:p>
            <a:pPr algn="ctr" eaLnBrk="0" hangingPunct="0"/>
            <a:r>
              <a:rPr lang="en-US" altLang="zh-CN" err="1">
                <a:latin typeface="Arial" panose="020B0604020202020204" pitchFamily="34" charset="0"/>
                <a:ea typeface="宋体" panose="02010600030101010101" pitchFamily="2" charset="-122"/>
              </a:rPr>
              <a:t>Rw</a:t>
            </a:r>
            <a:endParaRPr lang="en-US" altLang="zh-CN">
              <a:latin typeface="Arial" panose="020B0604020202020204" pitchFamily="34" charset="0"/>
              <a:ea typeface="宋体" panose="02010600030101010101" pitchFamily="2" charset="-122"/>
            </a:endParaRPr>
          </a:p>
        </p:txBody>
      </p:sp>
      <p:sp>
        <p:nvSpPr>
          <p:cNvPr id="177181" name="直接连接符 564253"/>
          <p:cNvSpPr/>
          <p:nvPr/>
        </p:nvSpPr>
        <p:spPr>
          <a:xfrm>
            <a:off x="7086600" y="5245100"/>
            <a:ext cx="0" cy="965200"/>
          </a:xfrm>
          <a:prstGeom prst="line">
            <a:avLst/>
          </a:prstGeom>
          <a:ln w="25400" cap="flat" cmpd="sng">
            <a:solidFill>
              <a:schemeClr val="accent2"/>
            </a:solidFill>
            <a:prstDash val="solid"/>
            <a:round/>
            <a:headEnd type="none" w="med" len="med"/>
            <a:tailEnd type="none" w="med" len="med"/>
          </a:ln>
        </p:spPr>
      </p:sp>
      <p:sp>
        <p:nvSpPr>
          <p:cNvPr id="177182" name="直接连接符 564256"/>
          <p:cNvSpPr/>
          <p:nvPr/>
        </p:nvSpPr>
        <p:spPr>
          <a:xfrm>
            <a:off x="5181600" y="5016500"/>
            <a:ext cx="0" cy="1193800"/>
          </a:xfrm>
          <a:prstGeom prst="line">
            <a:avLst/>
          </a:prstGeom>
          <a:ln w="25400" cap="flat" cmpd="sng">
            <a:solidFill>
              <a:schemeClr val="accent2"/>
            </a:solidFill>
            <a:prstDash val="solid"/>
            <a:round/>
            <a:headEnd type="none" w="med" len="med"/>
            <a:tailEnd type="none" w="med" len="med"/>
          </a:ln>
        </p:spPr>
      </p:sp>
      <p:sp>
        <p:nvSpPr>
          <p:cNvPr id="177183" name="直接连接符 564258"/>
          <p:cNvSpPr/>
          <p:nvPr/>
        </p:nvSpPr>
        <p:spPr>
          <a:xfrm>
            <a:off x="5499100" y="4648200"/>
            <a:ext cx="355600" cy="0"/>
          </a:xfrm>
          <a:prstGeom prst="line">
            <a:avLst/>
          </a:prstGeom>
          <a:ln w="25400" cap="flat" cmpd="sng">
            <a:solidFill>
              <a:schemeClr val="tx1"/>
            </a:solidFill>
            <a:prstDash val="solid"/>
            <a:round/>
            <a:headEnd type="none" w="med" len="med"/>
            <a:tailEnd type="triangle" w="med" len="med"/>
          </a:ln>
        </p:spPr>
      </p:sp>
      <p:sp>
        <p:nvSpPr>
          <p:cNvPr id="177184" name="矩形 564259"/>
          <p:cNvSpPr/>
          <p:nvPr/>
        </p:nvSpPr>
        <p:spPr>
          <a:xfrm>
            <a:off x="4846638" y="4510088"/>
            <a:ext cx="654050" cy="577850"/>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Exec</a:t>
            </a:r>
            <a:endParaRPr lang="en-US" altLang="zh-CN">
              <a:solidFill>
                <a:schemeClr val="accent2"/>
              </a:solidFill>
              <a:latin typeface="Arial" panose="020B0604020202020204" pitchFamily="34" charset="0"/>
              <a:ea typeface="宋体" panose="02010600030101010101" pitchFamily="2" charset="-122"/>
            </a:endParaRPr>
          </a:p>
          <a:p>
            <a:pPr algn="ctr" eaLnBrk="0" hangingPunct="0"/>
            <a:r>
              <a:rPr lang="en-US" altLang="zh-CN">
                <a:solidFill>
                  <a:schemeClr val="accent2"/>
                </a:solidFill>
                <a:latin typeface="Arial" panose="020B0604020202020204" pitchFamily="34" charset="0"/>
                <a:ea typeface="宋体" panose="02010600030101010101" pitchFamily="2" charset="-122"/>
              </a:rPr>
              <a:t>Unit</a:t>
            </a:r>
            <a:endParaRPr lang="en-US" altLang="zh-CN">
              <a:solidFill>
                <a:schemeClr val="accent2"/>
              </a:solidFill>
              <a:latin typeface="Arial" panose="020B0604020202020204" pitchFamily="34" charset="0"/>
              <a:ea typeface="宋体" panose="02010600030101010101" pitchFamily="2" charset="-122"/>
            </a:endParaRPr>
          </a:p>
        </p:txBody>
      </p:sp>
      <p:sp>
        <p:nvSpPr>
          <p:cNvPr id="177185" name="矩形 564260"/>
          <p:cNvSpPr/>
          <p:nvPr/>
        </p:nvSpPr>
        <p:spPr>
          <a:xfrm>
            <a:off x="4889500" y="3517900"/>
            <a:ext cx="584200" cy="1498600"/>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186" name="矩形 564261"/>
          <p:cNvSpPr/>
          <p:nvPr/>
        </p:nvSpPr>
        <p:spPr>
          <a:xfrm>
            <a:off x="4811713" y="4040188"/>
            <a:ext cx="687387" cy="333375"/>
          </a:xfrm>
          <a:prstGeom prst="rect">
            <a:avLst/>
          </a:prstGeom>
          <a:noFill/>
          <a:ln w="12700">
            <a:noFill/>
          </a:ln>
        </p:spPr>
        <p:txBody>
          <a:bodyPr wrap="none" lIns="90488" tIns="44450" rIns="90488" bIns="44450" anchor="t" anchorCtr="0">
            <a:spAutoFit/>
          </a:bodyPr>
          <a:p>
            <a:pPr algn="ctr" eaLnBrk="0" hangingPunct="0"/>
            <a:r>
              <a:rPr lang="en-US" altLang="zh-CN" err="1">
                <a:latin typeface="Arial" panose="020B0604020202020204" pitchFamily="34" charset="0"/>
                <a:ea typeface="宋体" panose="02010600030101010101" pitchFamily="2" charset="-122"/>
              </a:rPr>
              <a:t>busA</a:t>
            </a:r>
            <a:endParaRPr lang="en-US" altLang="zh-CN">
              <a:latin typeface="Arial" panose="020B0604020202020204" pitchFamily="34" charset="0"/>
              <a:ea typeface="宋体" panose="02010600030101010101" pitchFamily="2" charset="-122"/>
            </a:endParaRPr>
          </a:p>
        </p:txBody>
      </p:sp>
      <p:sp>
        <p:nvSpPr>
          <p:cNvPr id="177187" name="矩形 564262"/>
          <p:cNvSpPr/>
          <p:nvPr/>
        </p:nvSpPr>
        <p:spPr>
          <a:xfrm>
            <a:off x="4821238" y="4294188"/>
            <a:ext cx="687387" cy="333375"/>
          </a:xfrm>
          <a:prstGeom prst="rect">
            <a:avLst/>
          </a:prstGeom>
          <a:noFill/>
          <a:ln w="12700">
            <a:noFill/>
          </a:ln>
        </p:spPr>
        <p:txBody>
          <a:bodyPr wrap="none" lIns="90488" tIns="44450" rIns="90488" bIns="44450" anchor="t" anchorCtr="0">
            <a:spAutoFit/>
          </a:bodyPr>
          <a:p>
            <a:pPr algn="ctr" eaLnBrk="0" hangingPunct="0"/>
            <a:r>
              <a:rPr lang="en-US" altLang="zh-CN" err="1">
                <a:latin typeface="Arial" panose="020B0604020202020204" pitchFamily="34" charset="0"/>
                <a:ea typeface="宋体" panose="02010600030101010101" pitchFamily="2" charset="-122"/>
              </a:rPr>
              <a:t>busB</a:t>
            </a:r>
            <a:endParaRPr lang="en-US" altLang="zh-CN">
              <a:latin typeface="Arial" panose="020B0604020202020204" pitchFamily="34" charset="0"/>
              <a:ea typeface="宋体" panose="02010600030101010101" pitchFamily="2" charset="-122"/>
            </a:endParaRPr>
          </a:p>
        </p:txBody>
      </p:sp>
      <p:sp>
        <p:nvSpPr>
          <p:cNvPr id="177188" name="直接连接符 564263"/>
          <p:cNvSpPr/>
          <p:nvPr/>
        </p:nvSpPr>
        <p:spPr>
          <a:xfrm>
            <a:off x="4953000" y="2692400"/>
            <a:ext cx="0" cy="812800"/>
          </a:xfrm>
          <a:prstGeom prst="line">
            <a:avLst/>
          </a:prstGeom>
          <a:ln w="25400" cap="flat" cmpd="sng">
            <a:solidFill>
              <a:schemeClr val="accent2"/>
            </a:solidFill>
            <a:prstDash val="solid"/>
            <a:round/>
            <a:headEnd type="none" w="med" len="med"/>
            <a:tailEnd type="none" w="med" len="med"/>
          </a:ln>
        </p:spPr>
      </p:sp>
      <p:sp>
        <p:nvSpPr>
          <p:cNvPr id="177189" name="矩形 564264"/>
          <p:cNvSpPr/>
          <p:nvPr/>
        </p:nvSpPr>
        <p:spPr>
          <a:xfrm>
            <a:off x="4832350" y="3789363"/>
            <a:ext cx="600075" cy="333375"/>
          </a:xfrm>
          <a:prstGeom prst="rect">
            <a:avLst/>
          </a:prstGeom>
          <a:noFill/>
          <a:ln w="12700">
            <a:noFill/>
          </a:ln>
        </p:spPr>
        <p:txBody>
          <a:bodyPr wrap="none" lIns="90488" tIns="44450" rIns="90488" bIns="44450" anchor="t" anchorCtr="0">
            <a:spAutoFit/>
          </a:bodyPr>
          <a:p>
            <a:pPr eaLnBrk="0" hangingPunct="0"/>
            <a:r>
              <a:rPr lang="en-US" altLang="zh-CN" err="1">
                <a:latin typeface="Arial" panose="020B0604020202020204" pitchFamily="34" charset="0"/>
                <a:ea typeface="宋体" panose="02010600030101010101" pitchFamily="2" charset="-122"/>
              </a:rPr>
              <a:t>Imm</a:t>
            </a:r>
            <a:endParaRPr lang="en-US" altLang="zh-CN">
              <a:latin typeface="Arial" panose="020B0604020202020204" pitchFamily="34" charset="0"/>
              <a:ea typeface="宋体" panose="02010600030101010101" pitchFamily="2" charset="-122"/>
            </a:endParaRPr>
          </a:p>
        </p:txBody>
      </p:sp>
      <p:sp>
        <p:nvSpPr>
          <p:cNvPr id="177190" name="直接连接符 564265"/>
          <p:cNvSpPr/>
          <p:nvPr/>
        </p:nvSpPr>
        <p:spPr>
          <a:xfrm>
            <a:off x="5334000" y="2692400"/>
            <a:ext cx="0" cy="812800"/>
          </a:xfrm>
          <a:prstGeom prst="line">
            <a:avLst/>
          </a:prstGeom>
          <a:ln w="25400" cap="flat" cmpd="sng">
            <a:solidFill>
              <a:schemeClr val="accent2"/>
            </a:solidFill>
            <a:prstDash val="solid"/>
            <a:round/>
            <a:headEnd type="none" w="med" len="med"/>
            <a:tailEnd type="none" w="med" len="med"/>
          </a:ln>
        </p:spPr>
      </p:sp>
      <p:sp>
        <p:nvSpPr>
          <p:cNvPr id="177191" name="直接连接符 564268"/>
          <p:cNvSpPr/>
          <p:nvPr/>
        </p:nvSpPr>
        <p:spPr>
          <a:xfrm>
            <a:off x="3670300" y="4191000"/>
            <a:ext cx="355600" cy="0"/>
          </a:xfrm>
          <a:prstGeom prst="line">
            <a:avLst/>
          </a:prstGeom>
          <a:ln w="25400" cap="flat" cmpd="sng">
            <a:solidFill>
              <a:schemeClr val="tx1"/>
            </a:solidFill>
            <a:prstDash val="solid"/>
            <a:round/>
            <a:headEnd type="none" w="med" len="med"/>
            <a:tailEnd type="triangle" w="med" len="med"/>
          </a:ln>
        </p:spPr>
      </p:sp>
      <p:sp>
        <p:nvSpPr>
          <p:cNvPr id="177192" name="直接连接符 564269"/>
          <p:cNvSpPr/>
          <p:nvPr/>
        </p:nvSpPr>
        <p:spPr>
          <a:xfrm>
            <a:off x="4356100" y="3962400"/>
            <a:ext cx="508000" cy="0"/>
          </a:xfrm>
          <a:prstGeom prst="line">
            <a:avLst/>
          </a:prstGeom>
          <a:ln w="25400" cap="flat" cmpd="sng">
            <a:solidFill>
              <a:schemeClr val="tx1"/>
            </a:solidFill>
            <a:prstDash val="solid"/>
            <a:round/>
            <a:headEnd type="none" w="med" len="med"/>
            <a:tailEnd type="triangle" w="med" len="med"/>
          </a:ln>
        </p:spPr>
      </p:sp>
      <p:sp>
        <p:nvSpPr>
          <p:cNvPr id="177193" name="直接连接符 564270"/>
          <p:cNvSpPr/>
          <p:nvPr/>
        </p:nvSpPr>
        <p:spPr>
          <a:xfrm>
            <a:off x="4356100" y="4495800"/>
            <a:ext cx="508000" cy="0"/>
          </a:xfrm>
          <a:prstGeom prst="line">
            <a:avLst/>
          </a:prstGeom>
          <a:ln w="25400" cap="flat" cmpd="sng">
            <a:solidFill>
              <a:schemeClr val="tx1"/>
            </a:solidFill>
            <a:prstDash val="solid"/>
            <a:round/>
            <a:headEnd type="none" w="med" len="med"/>
            <a:tailEnd type="triangle" w="med" len="med"/>
          </a:ln>
        </p:spPr>
      </p:sp>
      <p:sp>
        <p:nvSpPr>
          <p:cNvPr id="177194" name="直接连接符 564271"/>
          <p:cNvSpPr/>
          <p:nvPr/>
        </p:nvSpPr>
        <p:spPr>
          <a:xfrm>
            <a:off x="4356100" y="4191000"/>
            <a:ext cx="508000" cy="0"/>
          </a:xfrm>
          <a:prstGeom prst="line">
            <a:avLst/>
          </a:prstGeom>
          <a:ln w="25400" cap="flat" cmpd="sng">
            <a:solidFill>
              <a:schemeClr val="tx1"/>
            </a:solidFill>
            <a:prstDash val="solid"/>
            <a:round/>
            <a:headEnd type="none" w="med" len="med"/>
            <a:tailEnd type="triangle" w="med" len="med"/>
          </a:ln>
        </p:spPr>
      </p:sp>
      <p:sp>
        <p:nvSpPr>
          <p:cNvPr id="177195" name="直接连接符 564272"/>
          <p:cNvSpPr/>
          <p:nvPr/>
        </p:nvSpPr>
        <p:spPr>
          <a:xfrm>
            <a:off x="3670300" y="4495800"/>
            <a:ext cx="355600" cy="0"/>
          </a:xfrm>
          <a:prstGeom prst="line">
            <a:avLst/>
          </a:prstGeom>
          <a:ln w="25400" cap="flat" cmpd="sng">
            <a:solidFill>
              <a:schemeClr val="tx1"/>
            </a:solidFill>
            <a:prstDash val="solid"/>
            <a:round/>
            <a:headEnd type="none" w="med" len="med"/>
            <a:tailEnd type="triangle" w="med" len="med"/>
          </a:ln>
        </p:spPr>
      </p:sp>
      <p:sp>
        <p:nvSpPr>
          <p:cNvPr id="177196" name="直接连接符 564273"/>
          <p:cNvSpPr/>
          <p:nvPr/>
        </p:nvSpPr>
        <p:spPr>
          <a:xfrm>
            <a:off x="2679700" y="4343400"/>
            <a:ext cx="355600" cy="0"/>
          </a:xfrm>
          <a:prstGeom prst="line">
            <a:avLst/>
          </a:prstGeom>
          <a:ln w="25400" cap="flat" cmpd="sng">
            <a:solidFill>
              <a:schemeClr val="tx1"/>
            </a:solidFill>
            <a:prstDash val="solid"/>
            <a:round/>
            <a:headEnd type="none" w="med" len="med"/>
            <a:tailEnd type="triangle" w="med" len="med"/>
          </a:ln>
        </p:spPr>
      </p:sp>
      <p:sp>
        <p:nvSpPr>
          <p:cNvPr id="177197" name="直接连接符 564274"/>
          <p:cNvSpPr/>
          <p:nvPr/>
        </p:nvSpPr>
        <p:spPr>
          <a:xfrm>
            <a:off x="2679700" y="4648200"/>
            <a:ext cx="355600" cy="0"/>
          </a:xfrm>
          <a:prstGeom prst="line">
            <a:avLst/>
          </a:prstGeom>
          <a:ln w="25400" cap="flat" cmpd="sng">
            <a:solidFill>
              <a:schemeClr val="tx1"/>
            </a:solidFill>
            <a:prstDash val="solid"/>
            <a:round/>
            <a:headEnd type="none" w="med" len="med"/>
            <a:tailEnd type="triangle" w="med" len="med"/>
          </a:ln>
        </p:spPr>
      </p:sp>
      <p:sp>
        <p:nvSpPr>
          <p:cNvPr id="177198" name="直接连接符 564275"/>
          <p:cNvSpPr/>
          <p:nvPr/>
        </p:nvSpPr>
        <p:spPr>
          <a:xfrm>
            <a:off x="6184900" y="4648200"/>
            <a:ext cx="584200" cy="0"/>
          </a:xfrm>
          <a:prstGeom prst="line">
            <a:avLst/>
          </a:prstGeom>
          <a:ln w="25400" cap="flat" cmpd="sng">
            <a:solidFill>
              <a:schemeClr val="tx1"/>
            </a:solidFill>
            <a:prstDash val="solid"/>
            <a:round/>
            <a:headEnd type="none" w="med" len="med"/>
            <a:tailEnd type="triangle" w="med" len="med"/>
          </a:ln>
        </p:spPr>
      </p:sp>
      <p:sp>
        <p:nvSpPr>
          <p:cNvPr id="177199" name="直接连接符 564276"/>
          <p:cNvSpPr/>
          <p:nvPr/>
        </p:nvSpPr>
        <p:spPr>
          <a:xfrm>
            <a:off x="4495800" y="4508500"/>
            <a:ext cx="0" cy="660400"/>
          </a:xfrm>
          <a:prstGeom prst="line">
            <a:avLst/>
          </a:prstGeom>
          <a:ln w="25400" cap="flat" cmpd="sng">
            <a:solidFill>
              <a:schemeClr val="tx1"/>
            </a:solidFill>
            <a:prstDash val="solid"/>
            <a:round/>
            <a:headEnd type="none" w="med" len="med"/>
            <a:tailEnd type="none" w="med" len="med"/>
          </a:ln>
        </p:spPr>
      </p:sp>
      <p:sp>
        <p:nvSpPr>
          <p:cNvPr id="177200" name="直接连接符 564277"/>
          <p:cNvSpPr/>
          <p:nvPr/>
        </p:nvSpPr>
        <p:spPr>
          <a:xfrm>
            <a:off x="4508500" y="5181600"/>
            <a:ext cx="1346200" cy="0"/>
          </a:xfrm>
          <a:prstGeom prst="line">
            <a:avLst/>
          </a:prstGeom>
          <a:ln w="25400" cap="flat" cmpd="sng">
            <a:solidFill>
              <a:schemeClr val="tx1"/>
            </a:solidFill>
            <a:prstDash val="solid"/>
            <a:round/>
            <a:headEnd type="none" w="med" len="med"/>
            <a:tailEnd type="triangle" w="med" len="med"/>
          </a:ln>
        </p:spPr>
      </p:sp>
      <p:sp>
        <p:nvSpPr>
          <p:cNvPr id="177201" name="直接连接符 564278"/>
          <p:cNvSpPr/>
          <p:nvPr/>
        </p:nvSpPr>
        <p:spPr>
          <a:xfrm>
            <a:off x="6184900" y="5181600"/>
            <a:ext cx="584200" cy="0"/>
          </a:xfrm>
          <a:prstGeom prst="line">
            <a:avLst/>
          </a:prstGeom>
          <a:ln w="25400" cap="flat" cmpd="sng">
            <a:solidFill>
              <a:schemeClr val="tx1"/>
            </a:solidFill>
            <a:prstDash val="solid"/>
            <a:round/>
            <a:headEnd type="none" w="med" len="med"/>
            <a:tailEnd type="triangle" w="med" len="med"/>
          </a:ln>
        </p:spPr>
      </p:sp>
      <p:sp>
        <p:nvSpPr>
          <p:cNvPr id="177202" name="直接连接符 564279"/>
          <p:cNvSpPr/>
          <p:nvPr/>
        </p:nvSpPr>
        <p:spPr>
          <a:xfrm>
            <a:off x="6413500" y="4876800"/>
            <a:ext cx="355600" cy="0"/>
          </a:xfrm>
          <a:prstGeom prst="line">
            <a:avLst/>
          </a:prstGeom>
          <a:ln w="25400" cap="flat" cmpd="sng">
            <a:solidFill>
              <a:schemeClr val="tx1"/>
            </a:solidFill>
            <a:prstDash val="solid"/>
            <a:round/>
            <a:headEnd type="none" w="med" len="med"/>
            <a:tailEnd type="triangle" w="med" len="med"/>
          </a:ln>
        </p:spPr>
      </p:sp>
      <p:sp>
        <p:nvSpPr>
          <p:cNvPr id="177203" name="直接连接符 564280"/>
          <p:cNvSpPr/>
          <p:nvPr/>
        </p:nvSpPr>
        <p:spPr>
          <a:xfrm>
            <a:off x="6400800" y="4660900"/>
            <a:ext cx="0" cy="660400"/>
          </a:xfrm>
          <a:prstGeom prst="line">
            <a:avLst/>
          </a:prstGeom>
          <a:ln w="25400" cap="flat" cmpd="sng">
            <a:solidFill>
              <a:schemeClr val="tx1"/>
            </a:solidFill>
            <a:prstDash val="solid"/>
            <a:round/>
            <a:headEnd type="none" w="med" len="med"/>
            <a:tailEnd type="none" w="med" len="med"/>
          </a:ln>
        </p:spPr>
      </p:sp>
      <p:sp>
        <p:nvSpPr>
          <p:cNvPr id="177204" name="直接连接符 564281"/>
          <p:cNvSpPr/>
          <p:nvPr/>
        </p:nvSpPr>
        <p:spPr>
          <a:xfrm>
            <a:off x="7404100" y="4724400"/>
            <a:ext cx="355600" cy="0"/>
          </a:xfrm>
          <a:prstGeom prst="line">
            <a:avLst/>
          </a:prstGeom>
          <a:ln w="25400" cap="flat" cmpd="sng">
            <a:solidFill>
              <a:schemeClr val="tx1"/>
            </a:solidFill>
            <a:prstDash val="solid"/>
            <a:round/>
            <a:headEnd type="none" w="med" len="med"/>
            <a:tailEnd type="triangle" w="med" len="med"/>
          </a:ln>
        </p:spPr>
      </p:sp>
      <p:sp>
        <p:nvSpPr>
          <p:cNvPr id="177205" name="直接连接符 564282"/>
          <p:cNvSpPr/>
          <p:nvPr/>
        </p:nvSpPr>
        <p:spPr>
          <a:xfrm>
            <a:off x="6413500" y="5334000"/>
            <a:ext cx="1346200" cy="0"/>
          </a:xfrm>
          <a:prstGeom prst="line">
            <a:avLst/>
          </a:prstGeom>
          <a:ln w="25400" cap="flat" cmpd="sng">
            <a:solidFill>
              <a:schemeClr val="tx1"/>
            </a:solidFill>
            <a:prstDash val="solid"/>
            <a:round/>
            <a:headEnd type="none" w="med" len="med"/>
            <a:tailEnd type="triangle" w="med" len="med"/>
          </a:ln>
        </p:spPr>
      </p:sp>
      <p:grpSp>
        <p:nvGrpSpPr>
          <p:cNvPr id="177206" name="组合 564283"/>
          <p:cNvGrpSpPr/>
          <p:nvPr/>
        </p:nvGrpSpPr>
        <p:grpSpPr>
          <a:xfrm>
            <a:off x="8397875" y="4584700"/>
            <a:ext cx="333375" cy="946150"/>
            <a:chOff x="5290" y="2888"/>
            <a:chExt cx="210" cy="596"/>
          </a:xfrm>
        </p:grpSpPr>
        <p:sp>
          <p:nvSpPr>
            <p:cNvPr id="177207" name="直接连接符 564284"/>
            <p:cNvSpPr/>
            <p:nvPr/>
          </p:nvSpPr>
          <p:spPr>
            <a:xfrm>
              <a:off x="5328" y="2888"/>
              <a:ext cx="0" cy="561"/>
            </a:xfrm>
            <a:prstGeom prst="line">
              <a:avLst/>
            </a:prstGeom>
            <a:ln w="25400" cap="flat" cmpd="sng">
              <a:solidFill>
                <a:schemeClr val="tx1"/>
              </a:solidFill>
              <a:prstDash val="solid"/>
              <a:round/>
              <a:headEnd type="none" w="med" len="med"/>
              <a:tailEnd type="none" w="med" len="med"/>
            </a:ln>
          </p:spPr>
        </p:sp>
        <p:sp>
          <p:nvSpPr>
            <p:cNvPr id="177208" name="直接连接符 564285"/>
            <p:cNvSpPr/>
            <p:nvPr/>
          </p:nvSpPr>
          <p:spPr>
            <a:xfrm>
              <a:off x="5336" y="2888"/>
              <a:ext cx="128" cy="36"/>
            </a:xfrm>
            <a:prstGeom prst="line">
              <a:avLst/>
            </a:prstGeom>
            <a:ln w="25400" cap="flat" cmpd="sng">
              <a:solidFill>
                <a:schemeClr val="tx1"/>
              </a:solidFill>
              <a:prstDash val="solid"/>
              <a:round/>
              <a:headEnd type="none" w="med" len="med"/>
              <a:tailEnd type="none" w="med" len="med"/>
            </a:ln>
          </p:spPr>
        </p:sp>
        <p:sp>
          <p:nvSpPr>
            <p:cNvPr id="177209" name="直接连接符 564286"/>
            <p:cNvSpPr/>
            <p:nvPr/>
          </p:nvSpPr>
          <p:spPr>
            <a:xfrm flipV="1">
              <a:off x="5336" y="3379"/>
              <a:ext cx="128" cy="86"/>
            </a:xfrm>
            <a:prstGeom prst="line">
              <a:avLst/>
            </a:prstGeom>
            <a:ln w="25400" cap="flat" cmpd="sng">
              <a:solidFill>
                <a:schemeClr val="tx1"/>
              </a:solidFill>
              <a:prstDash val="solid"/>
              <a:round/>
              <a:headEnd type="none" w="med" len="med"/>
              <a:tailEnd type="none" w="med" len="med"/>
            </a:ln>
          </p:spPr>
        </p:sp>
        <p:sp>
          <p:nvSpPr>
            <p:cNvPr id="177210" name="直接连接符 564287"/>
            <p:cNvSpPr/>
            <p:nvPr/>
          </p:nvSpPr>
          <p:spPr>
            <a:xfrm>
              <a:off x="5472" y="2940"/>
              <a:ext cx="0" cy="432"/>
            </a:xfrm>
            <a:prstGeom prst="line">
              <a:avLst/>
            </a:prstGeom>
            <a:ln w="25400" cap="flat" cmpd="sng">
              <a:solidFill>
                <a:schemeClr val="tx1"/>
              </a:solidFill>
              <a:prstDash val="solid"/>
              <a:round/>
              <a:headEnd type="none" w="med" len="med"/>
              <a:tailEnd type="none" w="med" len="med"/>
            </a:ln>
          </p:spPr>
        </p:sp>
        <p:sp>
          <p:nvSpPr>
            <p:cNvPr id="177211" name="矩形 564288"/>
            <p:cNvSpPr/>
            <p:nvPr/>
          </p:nvSpPr>
          <p:spPr>
            <a:xfrm rot="5400000">
              <a:off x="5210" y="3072"/>
              <a:ext cx="370"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Mux</a:t>
              </a:r>
              <a:endParaRPr lang="en-US" altLang="zh-CN">
                <a:latin typeface="Times New Roman" panose="02020603050405020304" pitchFamily="18" charset="0"/>
                <a:ea typeface="宋体" panose="02010600030101010101" pitchFamily="2" charset="-122"/>
              </a:endParaRPr>
            </a:p>
          </p:txBody>
        </p:sp>
        <p:sp>
          <p:nvSpPr>
            <p:cNvPr id="177212" name="矩形 564289"/>
            <p:cNvSpPr/>
            <p:nvPr/>
          </p:nvSpPr>
          <p:spPr>
            <a:xfrm>
              <a:off x="5303" y="2900"/>
              <a:ext cx="170" cy="190"/>
            </a:xfrm>
            <a:prstGeom prst="rect">
              <a:avLst/>
            </a:prstGeom>
            <a:noFill/>
            <a:ln w="12700">
              <a:noFill/>
            </a:ln>
          </p:spPr>
          <p:txBody>
            <a:bodyPr wrap="none" lIns="90488" tIns="44450" rIns="90488" bIns="44450" anchor="t" anchorCtr="0">
              <a:spAutoFit/>
            </a:bodyPr>
            <a:p>
              <a:pPr eaLnBrk="0" hangingPunct="0"/>
              <a:r>
                <a:rPr lang="zh-CN" altLang="en-US" sz="1400" b="0" dirty="0">
                  <a:latin typeface="Times New Roman" panose="02020603050405020304" pitchFamily="18" charset="0"/>
                  <a:ea typeface="宋体" panose="02010600030101010101" pitchFamily="2" charset="-122"/>
                </a:rPr>
                <a:t>1</a:t>
              </a:r>
              <a:endParaRPr lang="zh-CN" altLang="en-US" sz="1400" b="0" dirty="0">
                <a:latin typeface="Times New Roman" panose="02020603050405020304" pitchFamily="18" charset="0"/>
                <a:ea typeface="宋体" panose="02010600030101010101" pitchFamily="2" charset="-122"/>
              </a:endParaRPr>
            </a:p>
          </p:txBody>
        </p:sp>
        <p:sp>
          <p:nvSpPr>
            <p:cNvPr id="177213" name="矩形 564290"/>
            <p:cNvSpPr/>
            <p:nvPr/>
          </p:nvSpPr>
          <p:spPr>
            <a:xfrm>
              <a:off x="5303" y="3294"/>
              <a:ext cx="170" cy="190"/>
            </a:xfrm>
            <a:prstGeom prst="rect">
              <a:avLst/>
            </a:prstGeom>
            <a:noFill/>
            <a:ln w="12700">
              <a:noFill/>
            </a:ln>
          </p:spPr>
          <p:txBody>
            <a:bodyPr wrap="none" lIns="90488" tIns="44450" rIns="90488" bIns="44450" anchor="t" anchorCtr="0">
              <a:spAutoFit/>
            </a:bodyPr>
            <a:p>
              <a:pPr eaLnBrk="0" hangingPunct="0"/>
              <a:r>
                <a:rPr lang="zh-CN" altLang="en-US" sz="1400" b="0" dirty="0">
                  <a:latin typeface="Times New Roman" panose="02020603050405020304" pitchFamily="18" charset="0"/>
                  <a:ea typeface="宋体" panose="02010600030101010101" pitchFamily="2" charset="-122"/>
                </a:rPr>
                <a:t>0</a:t>
              </a:r>
              <a:endParaRPr lang="zh-CN" altLang="en-US" sz="1400" b="0" dirty="0">
                <a:latin typeface="Times New Roman" panose="02020603050405020304" pitchFamily="18" charset="0"/>
                <a:ea typeface="宋体" panose="02010600030101010101" pitchFamily="2" charset="-122"/>
              </a:endParaRPr>
            </a:p>
          </p:txBody>
        </p:sp>
      </p:grpSp>
      <p:sp>
        <p:nvSpPr>
          <p:cNvPr id="177214" name="直接连接符 564291"/>
          <p:cNvSpPr/>
          <p:nvPr/>
        </p:nvSpPr>
        <p:spPr>
          <a:xfrm>
            <a:off x="8089900" y="4724400"/>
            <a:ext cx="355600" cy="0"/>
          </a:xfrm>
          <a:prstGeom prst="line">
            <a:avLst/>
          </a:prstGeom>
          <a:ln w="25400" cap="flat" cmpd="sng">
            <a:solidFill>
              <a:schemeClr val="tx1"/>
            </a:solidFill>
            <a:prstDash val="solid"/>
            <a:round/>
            <a:headEnd type="none" w="med" len="med"/>
            <a:tailEnd type="triangle" w="med" len="med"/>
          </a:ln>
        </p:spPr>
      </p:sp>
      <p:sp>
        <p:nvSpPr>
          <p:cNvPr id="177215" name="直接连接符 564292"/>
          <p:cNvSpPr/>
          <p:nvPr/>
        </p:nvSpPr>
        <p:spPr>
          <a:xfrm>
            <a:off x="8089900" y="5334000"/>
            <a:ext cx="355600" cy="0"/>
          </a:xfrm>
          <a:prstGeom prst="line">
            <a:avLst/>
          </a:prstGeom>
          <a:ln w="25400" cap="flat" cmpd="sng">
            <a:solidFill>
              <a:schemeClr val="tx1"/>
            </a:solidFill>
            <a:prstDash val="solid"/>
            <a:round/>
            <a:headEnd type="none" w="med" len="med"/>
            <a:tailEnd type="triangle" w="med" len="med"/>
          </a:ln>
        </p:spPr>
      </p:sp>
      <p:sp>
        <p:nvSpPr>
          <p:cNvPr id="177216" name="直接连接符 564293"/>
          <p:cNvSpPr/>
          <p:nvPr/>
        </p:nvSpPr>
        <p:spPr>
          <a:xfrm>
            <a:off x="3352800" y="2717800"/>
            <a:ext cx="0" cy="1346200"/>
          </a:xfrm>
          <a:prstGeom prst="line">
            <a:avLst/>
          </a:prstGeom>
          <a:ln w="25400" cap="flat" cmpd="sng">
            <a:solidFill>
              <a:schemeClr val="accent2"/>
            </a:solidFill>
            <a:prstDash val="solid"/>
            <a:round/>
            <a:headEnd type="none" w="med" len="med"/>
            <a:tailEnd type="none" w="med" len="med"/>
          </a:ln>
        </p:spPr>
      </p:sp>
      <p:sp>
        <p:nvSpPr>
          <p:cNvPr id="177217" name="直接连接符 564294"/>
          <p:cNvSpPr/>
          <p:nvPr/>
        </p:nvSpPr>
        <p:spPr>
          <a:xfrm>
            <a:off x="2679700" y="3962400"/>
            <a:ext cx="1346200" cy="0"/>
          </a:xfrm>
          <a:prstGeom prst="line">
            <a:avLst/>
          </a:prstGeom>
          <a:ln w="25400" cap="flat" cmpd="sng">
            <a:solidFill>
              <a:schemeClr val="tx1"/>
            </a:solidFill>
            <a:prstDash val="solid"/>
            <a:round/>
            <a:headEnd type="none" w="med" len="med"/>
            <a:tailEnd type="triangle" w="med" len="med"/>
          </a:ln>
        </p:spPr>
      </p:sp>
      <p:sp>
        <p:nvSpPr>
          <p:cNvPr id="177218" name="直接连接符 564295"/>
          <p:cNvSpPr/>
          <p:nvPr/>
        </p:nvSpPr>
        <p:spPr>
          <a:xfrm>
            <a:off x="2679700" y="5715000"/>
            <a:ext cx="1346200" cy="0"/>
          </a:xfrm>
          <a:prstGeom prst="line">
            <a:avLst/>
          </a:prstGeom>
          <a:ln w="25400" cap="flat" cmpd="sng">
            <a:solidFill>
              <a:schemeClr val="tx1"/>
            </a:solidFill>
            <a:prstDash val="solid"/>
            <a:round/>
            <a:headEnd type="none" w="med" len="med"/>
            <a:tailEnd type="triangle" w="med" len="med"/>
          </a:ln>
        </p:spPr>
      </p:sp>
      <p:sp>
        <p:nvSpPr>
          <p:cNvPr id="177219" name="直接连接符 564296"/>
          <p:cNvSpPr/>
          <p:nvPr/>
        </p:nvSpPr>
        <p:spPr>
          <a:xfrm>
            <a:off x="2679700" y="5410200"/>
            <a:ext cx="1346200" cy="0"/>
          </a:xfrm>
          <a:prstGeom prst="line">
            <a:avLst/>
          </a:prstGeom>
          <a:ln w="25400" cap="flat" cmpd="sng">
            <a:solidFill>
              <a:schemeClr val="tx1"/>
            </a:solidFill>
            <a:prstDash val="solid"/>
            <a:round/>
            <a:headEnd type="none" w="med" len="med"/>
            <a:tailEnd type="triangle" w="med" len="med"/>
          </a:ln>
        </p:spPr>
      </p:sp>
      <p:sp>
        <p:nvSpPr>
          <p:cNvPr id="177220" name="直接连接符 564297"/>
          <p:cNvSpPr/>
          <p:nvPr/>
        </p:nvSpPr>
        <p:spPr>
          <a:xfrm>
            <a:off x="5499100" y="3657600"/>
            <a:ext cx="355600" cy="0"/>
          </a:xfrm>
          <a:prstGeom prst="line">
            <a:avLst/>
          </a:prstGeom>
          <a:ln w="25400" cap="flat" cmpd="sng">
            <a:solidFill>
              <a:schemeClr val="tx1"/>
            </a:solidFill>
            <a:prstDash val="solid"/>
            <a:round/>
            <a:headEnd type="none" w="med" len="med"/>
            <a:tailEnd type="triangle" w="med" len="med"/>
          </a:ln>
        </p:spPr>
      </p:sp>
      <p:sp>
        <p:nvSpPr>
          <p:cNvPr id="177221" name="直接连接符 564298"/>
          <p:cNvSpPr/>
          <p:nvPr/>
        </p:nvSpPr>
        <p:spPr>
          <a:xfrm>
            <a:off x="4813300" y="5562600"/>
            <a:ext cx="1041400" cy="0"/>
          </a:xfrm>
          <a:prstGeom prst="line">
            <a:avLst/>
          </a:prstGeom>
          <a:ln w="25400" cap="flat" cmpd="sng">
            <a:solidFill>
              <a:schemeClr val="tx1"/>
            </a:solidFill>
            <a:prstDash val="solid"/>
            <a:round/>
            <a:headEnd type="none" w="med" len="med"/>
            <a:tailEnd type="triangle" w="med" len="med"/>
          </a:ln>
        </p:spPr>
      </p:sp>
      <p:sp>
        <p:nvSpPr>
          <p:cNvPr id="177222" name="直接连接符 564299"/>
          <p:cNvSpPr/>
          <p:nvPr/>
        </p:nvSpPr>
        <p:spPr>
          <a:xfrm>
            <a:off x="8534400" y="5461000"/>
            <a:ext cx="0" cy="736600"/>
          </a:xfrm>
          <a:prstGeom prst="line">
            <a:avLst/>
          </a:prstGeom>
          <a:ln w="25400" cap="flat" cmpd="sng">
            <a:solidFill>
              <a:schemeClr val="accent2"/>
            </a:solidFill>
            <a:prstDash val="solid"/>
            <a:round/>
            <a:headEnd type="none" w="med" len="med"/>
            <a:tailEnd type="none" w="med" len="med"/>
          </a:ln>
        </p:spPr>
      </p:sp>
      <p:grpSp>
        <p:nvGrpSpPr>
          <p:cNvPr id="177223" name="组合 564301"/>
          <p:cNvGrpSpPr/>
          <p:nvPr/>
        </p:nvGrpSpPr>
        <p:grpSpPr>
          <a:xfrm>
            <a:off x="4572000" y="5270500"/>
            <a:ext cx="228600" cy="533400"/>
            <a:chOff x="2880" y="3320"/>
            <a:chExt cx="144" cy="336"/>
          </a:xfrm>
        </p:grpSpPr>
        <p:sp>
          <p:nvSpPr>
            <p:cNvPr id="177224" name="直接连接符 564302"/>
            <p:cNvSpPr/>
            <p:nvPr/>
          </p:nvSpPr>
          <p:spPr>
            <a:xfrm>
              <a:off x="2880" y="3320"/>
              <a:ext cx="0" cy="320"/>
            </a:xfrm>
            <a:prstGeom prst="line">
              <a:avLst/>
            </a:prstGeom>
            <a:ln w="25400" cap="flat" cmpd="sng">
              <a:solidFill>
                <a:schemeClr val="tx1"/>
              </a:solidFill>
              <a:prstDash val="solid"/>
              <a:round/>
              <a:headEnd type="none" w="med" len="med"/>
              <a:tailEnd type="none" w="med" len="med"/>
            </a:ln>
          </p:spPr>
        </p:sp>
        <p:sp>
          <p:nvSpPr>
            <p:cNvPr id="177225" name="直接连接符 564303"/>
            <p:cNvSpPr/>
            <p:nvPr/>
          </p:nvSpPr>
          <p:spPr>
            <a:xfrm>
              <a:off x="2888" y="3320"/>
              <a:ext cx="128" cy="15"/>
            </a:xfrm>
            <a:prstGeom prst="line">
              <a:avLst/>
            </a:prstGeom>
            <a:ln w="25400" cap="flat" cmpd="sng">
              <a:solidFill>
                <a:schemeClr val="tx1"/>
              </a:solidFill>
              <a:prstDash val="solid"/>
              <a:round/>
              <a:headEnd type="none" w="med" len="med"/>
              <a:tailEnd type="none" w="med" len="med"/>
            </a:ln>
          </p:spPr>
        </p:sp>
        <p:sp>
          <p:nvSpPr>
            <p:cNvPr id="177226" name="直接连接符 564304"/>
            <p:cNvSpPr/>
            <p:nvPr/>
          </p:nvSpPr>
          <p:spPr>
            <a:xfrm flipV="1">
              <a:off x="2888" y="3599"/>
              <a:ext cx="128" cy="57"/>
            </a:xfrm>
            <a:prstGeom prst="line">
              <a:avLst/>
            </a:prstGeom>
            <a:ln w="25400" cap="flat" cmpd="sng">
              <a:solidFill>
                <a:schemeClr val="tx1"/>
              </a:solidFill>
              <a:prstDash val="solid"/>
              <a:round/>
              <a:headEnd type="none" w="med" len="med"/>
              <a:tailEnd type="none" w="med" len="med"/>
            </a:ln>
          </p:spPr>
        </p:sp>
        <p:sp>
          <p:nvSpPr>
            <p:cNvPr id="177227" name="直接连接符 564305"/>
            <p:cNvSpPr/>
            <p:nvPr/>
          </p:nvSpPr>
          <p:spPr>
            <a:xfrm>
              <a:off x="3024" y="3351"/>
              <a:ext cx="0" cy="244"/>
            </a:xfrm>
            <a:prstGeom prst="line">
              <a:avLst/>
            </a:prstGeom>
            <a:ln w="25400" cap="flat" cmpd="sng">
              <a:solidFill>
                <a:schemeClr val="tx1"/>
              </a:solidFill>
              <a:prstDash val="solid"/>
              <a:round/>
              <a:headEnd type="none" w="med" len="med"/>
              <a:tailEnd type="none" w="med" len="med"/>
            </a:ln>
          </p:spPr>
        </p:sp>
      </p:grpSp>
      <p:sp>
        <p:nvSpPr>
          <p:cNvPr id="177228" name="矩形 564306"/>
          <p:cNvSpPr/>
          <p:nvPr/>
        </p:nvSpPr>
        <p:spPr>
          <a:xfrm>
            <a:off x="4532313" y="5518150"/>
            <a:ext cx="269875" cy="301625"/>
          </a:xfrm>
          <a:prstGeom prst="rect">
            <a:avLst/>
          </a:prstGeom>
          <a:noFill/>
          <a:ln w="12700">
            <a:noFill/>
          </a:ln>
        </p:spPr>
        <p:txBody>
          <a:bodyPr wrap="none" lIns="90488" tIns="44450" rIns="90488" bIns="44450" anchor="t" anchorCtr="0">
            <a:spAutoFit/>
          </a:bodyPr>
          <a:p>
            <a:pPr eaLnBrk="0" hangingPunct="0"/>
            <a:r>
              <a:rPr lang="zh-CN" altLang="en-US" sz="1400" b="0" dirty="0">
                <a:latin typeface="Times New Roman" panose="02020603050405020304" pitchFamily="18" charset="0"/>
                <a:ea typeface="宋体" panose="02010600030101010101" pitchFamily="2" charset="-122"/>
              </a:rPr>
              <a:t>1</a:t>
            </a:r>
            <a:endParaRPr lang="zh-CN" altLang="en-US" sz="1400" b="0" dirty="0">
              <a:latin typeface="Times New Roman" panose="02020603050405020304" pitchFamily="18" charset="0"/>
              <a:ea typeface="宋体" panose="02010600030101010101" pitchFamily="2" charset="-122"/>
            </a:endParaRPr>
          </a:p>
        </p:txBody>
      </p:sp>
      <p:sp>
        <p:nvSpPr>
          <p:cNvPr id="177229" name="矩形 564307"/>
          <p:cNvSpPr/>
          <p:nvPr/>
        </p:nvSpPr>
        <p:spPr>
          <a:xfrm>
            <a:off x="4532313" y="5229225"/>
            <a:ext cx="269875" cy="301625"/>
          </a:xfrm>
          <a:prstGeom prst="rect">
            <a:avLst/>
          </a:prstGeom>
          <a:noFill/>
          <a:ln w="12700">
            <a:noFill/>
          </a:ln>
        </p:spPr>
        <p:txBody>
          <a:bodyPr wrap="none" lIns="90488" tIns="44450" rIns="90488" bIns="44450" anchor="t" anchorCtr="0">
            <a:spAutoFit/>
          </a:bodyPr>
          <a:p>
            <a:pPr eaLnBrk="0" hangingPunct="0"/>
            <a:r>
              <a:rPr lang="zh-CN" altLang="en-US" sz="1400" b="0" dirty="0">
                <a:latin typeface="Times New Roman" panose="02020603050405020304" pitchFamily="18" charset="0"/>
                <a:ea typeface="宋体" panose="02010600030101010101" pitchFamily="2" charset="-122"/>
              </a:rPr>
              <a:t>0</a:t>
            </a:r>
            <a:endParaRPr lang="zh-CN" altLang="en-US" sz="1400" b="0" dirty="0">
              <a:latin typeface="Times New Roman" panose="02020603050405020304" pitchFamily="18" charset="0"/>
              <a:ea typeface="宋体" panose="02010600030101010101" pitchFamily="2" charset="-122"/>
            </a:endParaRPr>
          </a:p>
        </p:txBody>
      </p:sp>
      <p:sp>
        <p:nvSpPr>
          <p:cNvPr id="177230" name="直接连接符 564308"/>
          <p:cNvSpPr/>
          <p:nvPr/>
        </p:nvSpPr>
        <p:spPr>
          <a:xfrm>
            <a:off x="4648200" y="5803900"/>
            <a:ext cx="0" cy="431800"/>
          </a:xfrm>
          <a:prstGeom prst="line">
            <a:avLst/>
          </a:prstGeom>
          <a:ln w="25400" cap="flat" cmpd="sng">
            <a:solidFill>
              <a:schemeClr val="accent2"/>
            </a:solidFill>
            <a:prstDash val="solid"/>
            <a:round/>
            <a:headEnd type="none" w="med" len="med"/>
            <a:tailEnd type="none" w="med" len="med"/>
          </a:ln>
        </p:spPr>
      </p:sp>
      <p:sp>
        <p:nvSpPr>
          <p:cNvPr id="177231" name="矩形 564310"/>
          <p:cNvSpPr/>
          <p:nvPr/>
        </p:nvSpPr>
        <p:spPr>
          <a:xfrm>
            <a:off x="2630488" y="5129213"/>
            <a:ext cx="395287" cy="333375"/>
          </a:xfrm>
          <a:prstGeom prst="rect">
            <a:avLst/>
          </a:prstGeom>
          <a:noFill/>
          <a:ln w="12700">
            <a:noFill/>
          </a:ln>
        </p:spPr>
        <p:txBody>
          <a:bodyPr wrap="none" lIns="90488" tIns="44450" rIns="90488" bIns="44450" anchor="t" anchorCtr="0">
            <a:spAutoFit/>
          </a:bodyPr>
          <a:p>
            <a:pPr algn="ctr" eaLnBrk="0" hangingPunct="0"/>
            <a:r>
              <a:rPr lang="en-US" altLang="zh-CN" err="1">
                <a:latin typeface="Arial" panose="020B0604020202020204" pitchFamily="34" charset="0"/>
                <a:ea typeface="宋体" panose="02010600030101010101" pitchFamily="2" charset="-122"/>
              </a:rPr>
              <a:t>Rt</a:t>
            </a:r>
            <a:endParaRPr lang="en-US" altLang="zh-CN">
              <a:latin typeface="Arial" panose="020B0604020202020204" pitchFamily="34" charset="0"/>
              <a:ea typeface="宋体" panose="02010600030101010101" pitchFamily="2" charset="-122"/>
            </a:endParaRPr>
          </a:p>
        </p:txBody>
      </p:sp>
      <p:sp>
        <p:nvSpPr>
          <p:cNvPr id="177232" name="矩形 564311"/>
          <p:cNvSpPr/>
          <p:nvPr/>
        </p:nvSpPr>
        <p:spPr>
          <a:xfrm>
            <a:off x="2622550" y="5434013"/>
            <a:ext cx="450850"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Rd</a:t>
            </a:r>
            <a:endParaRPr lang="en-US" altLang="zh-CN">
              <a:latin typeface="Arial" panose="020B0604020202020204" pitchFamily="34" charset="0"/>
              <a:ea typeface="宋体" panose="02010600030101010101" pitchFamily="2" charset="-122"/>
            </a:endParaRPr>
          </a:p>
        </p:txBody>
      </p:sp>
      <p:sp>
        <p:nvSpPr>
          <p:cNvPr id="177233" name="矩形 564312"/>
          <p:cNvSpPr/>
          <p:nvPr/>
        </p:nvSpPr>
        <p:spPr>
          <a:xfrm>
            <a:off x="2533650" y="3681413"/>
            <a:ext cx="600075" cy="333375"/>
          </a:xfrm>
          <a:prstGeom prst="rect">
            <a:avLst/>
          </a:prstGeom>
          <a:noFill/>
          <a:ln w="12700">
            <a:noFill/>
          </a:ln>
        </p:spPr>
        <p:txBody>
          <a:bodyPr wrap="none" lIns="90488" tIns="44450" rIns="90488" bIns="44450" anchor="t" anchorCtr="0">
            <a:spAutoFit/>
          </a:bodyPr>
          <a:p>
            <a:pPr algn="ctr" eaLnBrk="0" hangingPunct="0"/>
            <a:r>
              <a:rPr lang="en-US" altLang="zh-CN" err="1">
                <a:latin typeface="Arial" panose="020B0604020202020204" pitchFamily="34" charset="0"/>
                <a:ea typeface="宋体" panose="02010600030101010101" pitchFamily="2" charset="-122"/>
              </a:rPr>
              <a:t>Imm</a:t>
            </a:r>
            <a:endParaRPr lang="en-US" altLang="zh-CN">
              <a:latin typeface="Arial" panose="020B0604020202020204" pitchFamily="34" charset="0"/>
              <a:ea typeface="宋体" panose="02010600030101010101" pitchFamily="2" charset="-122"/>
            </a:endParaRPr>
          </a:p>
        </p:txBody>
      </p:sp>
      <p:sp>
        <p:nvSpPr>
          <p:cNvPr id="177234" name="直接连接符 564313"/>
          <p:cNvSpPr/>
          <p:nvPr/>
        </p:nvSpPr>
        <p:spPr>
          <a:xfrm>
            <a:off x="1765300" y="5410200"/>
            <a:ext cx="431800" cy="0"/>
          </a:xfrm>
          <a:prstGeom prst="line">
            <a:avLst/>
          </a:prstGeom>
          <a:ln w="25400" cap="flat" cmpd="sng">
            <a:solidFill>
              <a:schemeClr val="tx1"/>
            </a:solidFill>
            <a:prstDash val="solid"/>
            <a:round/>
            <a:headEnd type="none" w="med" len="med"/>
            <a:tailEnd type="triangle" w="med" len="med"/>
          </a:ln>
        </p:spPr>
      </p:sp>
      <p:sp>
        <p:nvSpPr>
          <p:cNvPr id="177235" name="直接连接符 564314"/>
          <p:cNvSpPr/>
          <p:nvPr/>
        </p:nvSpPr>
        <p:spPr>
          <a:xfrm>
            <a:off x="2527300" y="3657600"/>
            <a:ext cx="1498600" cy="0"/>
          </a:xfrm>
          <a:prstGeom prst="line">
            <a:avLst/>
          </a:prstGeom>
          <a:ln w="25400" cap="flat" cmpd="sng">
            <a:solidFill>
              <a:schemeClr val="tx1"/>
            </a:solidFill>
            <a:prstDash val="solid"/>
            <a:round/>
            <a:headEnd type="none" w="med" len="med"/>
            <a:tailEnd type="triangle" w="med" len="med"/>
          </a:ln>
        </p:spPr>
      </p:sp>
      <p:sp>
        <p:nvSpPr>
          <p:cNvPr id="177236" name="矩形 564315"/>
          <p:cNvSpPr/>
          <p:nvPr/>
        </p:nvSpPr>
        <p:spPr>
          <a:xfrm>
            <a:off x="2524125" y="3376613"/>
            <a:ext cx="693738"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PC+4</a:t>
            </a:r>
            <a:endParaRPr lang="en-US" altLang="zh-CN">
              <a:latin typeface="Arial" panose="020B0604020202020204" pitchFamily="34" charset="0"/>
              <a:ea typeface="宋体" panose="02010600030101010101" pitchFamily="2" charset="-122"/>
            </a:endParaRPr>
          </a:p>
        </p:txBody>
      </p:sp>
      <p:sp>
        <p:nvSpPr>
          <p:cNvPr id="177237" name="直接连接符 564316"/>
          <p:cNvSpPr/>
          <p:nvPr/>
        </p:nvSpPr>
        <p:spPr>
          <a:xfrm>
            <a:off x="4356100" y="3657600"/>
            <a:ext cx="508000" cy="0"/>
          </a:xfrm>
          <a:prstGeom prst="line">
            <a:avLst/>
          </a:prstGeom>
          <a:ln w="25400" cap="flat" cmpd="sng">
            <a:solidFill>
              <a:schemeClr val="tx1"/>
            </a:solidFill>
            <a:prstDash val="solid"/>
            <a:round/>
            <a:headEnd type="none" w="med" len="med"/>
            <a:tailEnd type="triangle" w="med" len="med"/>
          </a:ln>
        </p:spPr>
      </p:sp>
      <p:sp>
        <p:nvSpPr>
          <p:cNvPr id="177238" name="矩形 564317"/>
          <p:cNvSpPr/>
          <p:nvPr/>
        </p:nvSpPr>
        <p:spPr>
          <a:xfrm>
            <a:off x="4810125" y="3484563"/>
            <a:ext cx="693738"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PC+4</a:t>
            </a:r>
            <a:endParaRPr lang="en-US" altLang="zh-CN">
              <a:latin typeface="Arial" panose="020B0604020202020204" pitchFamily="34" charset="0"/>
              <a:ea typeface="宋体" panose="02010600030101010101" pitchFamily="2" charset="-122"/>
            </a:endParaRPr>
          </a:p>
        </p:txBody>
      </p:sp>
      <p:sp>
        <p:nvSpPr>
          <p:cNvPr id="177239" name="矩形 564318"/>
          <p:cNvSpPr/>
          <p:nvPr/>
        </p:nvSpPr>
        <p:spPr>
          <a:xfrm>
            <a:off x="2617788" y="3986213"/>
            <a:ext cx="439737" cy="333375"/>
          </a:xfrm>
          <a:prstGeom prst="rect">
            <a:avLst/>
          </a:prstGeom>
          <a:noFill/>
          <a:ln w="12700">
            <a:noFill/>
          </a:ln>
        </p:spPr>
        <p:txBody>
          <a:bodyPr wrap="none" lIns="90488" tIns="44450" rIns="90488" bIns="44450" anchor="t" anchorCtr="0">
            <a:spAutoFit/>
          </a:bodyPr>
          <a:p>
            <a:pPr algn="ctr" eaLnBrk="0" hangingPunct="0"/>
            <a:r>
              <a:rPr lang="en-US" altLang="zh-CN" err="1">
                <a:latin typeface="Arial" panose="020B0604020202020204" pitchFamily="34" charset="0"/>
                <a:ea typeface="宋体" panose="02010600030101010101" pitchFamily="2" charset="-122"/>
              </a:rPr>
              <a:t>Rs</a:t>
            </a:r>
            <a:endParaRPr lang="en-US" altLang="zh-CN">
              <a:latin typeface="Arial" panose="020B0604020202020204" pitchFamily="34" charset="0"/>
              <a:ea typeface="宋体" panose="02010600030101010101" pitchFamily="2" charset="-122"/>
            </a:endParaRPr>
          </a:p>
        </p:txBody>
      </p:sp>
      <p:sp>
        <p:nvSpPr>
          <p:cNvPr id="177240" name="矩形 564319"/>
          <p:cNvSpPr/>
          <p:nvPr/>
        </p:nvSpPr>
        <p:spPr>
          <a:xfrm>
            <a:off x="2630488" y="4672013"/>
            <a:ext cx="395287" cy="333375"/>
          </a:xfrm>
          <a:prstGeom prst="rect">
            <a:avLst/>
          </a:prstGeom>
          <a:noFill/>
          <a:ln w="12700">
            <a:noFill/>
          </a:ln>
        </p:spPr>
        <p:txBody>
          <a:bodyPr wrap="none" lIns="90488" tIns="44450" rIns="90488" bIns="44450" anchor="t" anchorCtr="0">
            <a:spAutoFit/>
          </a:bodyPr>
          <a:p>
            <a:pPr algn="ctr" eaLnBrk="0" hangingPunct="0"/>
            <a:r>
              <a:rPr lang="en-US" altLang="zh-CN" err="1">
                <a:latin typeface="Arial" panose="020B0604020202020204" pitchFamily="34" charset="0"/>
                <a:ea typeface="宋体" panose="02010600030101010101" pitchFamily="2" charset="-122"/>
              </a:rPr>
              <a:t>Rt</a:t>
            </a:r>
            <a:endParaRPr lang="en-US" altLang="zh-CN">
              <a:latin typeface="Arial" panose="020B0604020202020204" pitchFamily="34" charset="0"/>
              <a:ea typeface="宋体" panose="02010600030101010101" pitchFamily="2" charset="-122"/>
            </a:endParaRPr>
          </a:p>
        </p:txBody>
      </p:sp>
      <p:sp>
        <p:nvSpPr>
          <p:cNvPr id="177241" name="直接连接符 564320"/>
          <p:cNvSpPr/>
          <p:nvPr/>
        </p:nvSpPr>
        <p:spPr>
          <a:xfrm flipV="1">
            <a:off x="2667000" y="3949700"/>
            <a:ext cx="0" cy="1778000"/>
          </a:xfrm>
          <a:prstGeom prst="line">
            <a:avLst/>
          </a:prstGeom>
          <a:ln w="25400" cap="flat" cmpd="sng">
            <a:solidFill>
              <a:schemeClr val="tx1"/>
            </a:solidFill>
            <a:prstDash val="solid"/>
            <a:round/>
            <a:headEnd type="none" w="med" len="med"/>
            <a:tailEnd type="none" w="med" len="med"/>
          </a:ln>
        </p:spPr>
      </p:sp>
      <p:sp>
        <p:nvSpPr>
          <p:cNvPr id="177242" name="直接连接符 564321"/>
          <p:cNvSpPr/>
          <p:nvPr/>
        </p:nvSpPr>
        <p:spPr>
          <a:xfrm>
            <a:off x="4356100" y="5715000"/>
            <a:ext cx="203200" cy="0"/>
          </a:xfrm>
          <a:prstGeom prst="line">
            <a:avLst/>
          </a:prstGeom>
          <a:ln w="25400" cap="flat" cmpd="sng">
            <a:solidFill>
              <a:schemeClr val="tx1"/>
            </a:solidFill>
            <a:prstDash val="solid"/>
            <a:round/>
            <a:headEnd type="none" w="med" len="med"/>
            <a:tailEnd type="none" w="med" len="med"/>
          </a:ln>
        </p:spPr>
      </p:sp>
      <p:sp>
        <p:nvSpPr>
          <p:cNvPr id="177243" name="直接连接符 564322"/>
          <p:cNvSpPr/>
          <p:nvPr/>
        </p:nvSpPr>
        <p:spPr>
          <a:xfrm>
            <a:off x="4356100" y="5410200"/>
            <a:ext cx="203200" cy="0"/>
          </a:xfrm>
          <a:prstGeom prst="line">
            <a:avLst/>
          </a:prstGeom>
          <a:ln w="25400" cap="flat" cmpd="sng">
            <a:solidFill>
              <a:schemeClr val="tx1"/>
            </a:solidFill>
            <a:prstDash val="solid"/>
            <a:round/>
            <a:headEnd type="none" w="med" len="med"/>
            <a:tailEnd type="none" w="med" len="med"/>
          </a:ln>
        </p:spPr>
      </p:sp>
      <p:sp>
        <p:nvSpPr>
          <p:cNvPr id="177244" name="直接连接符 564323"/>
          <p:cNvSpPr/>
          <p:nvPr/>
        </p:nvSpPr>
        <p:spPr>
          <a:xfrm>
            <a:off x="6184900" y="5562600"/>
            <a:ext cx="1574800" cy="0"/>
          </a:xfrm>
          <a:prstGeom prst="line">
            <a:avLst/>
          </a:prstGeom>
          <a:ln w="25400" cap="flat" cmpd="sng">
            <a:solidFill>
              <a:schemeClr val="tx1"/>
            </a:solidFill>
            <a:prstDash val="solid"/>
            <a:round/>
            <a:headEnd type="none" w="med" len="med"/>
            <a:tailEnd type="triangle" w="med" len="med"/>
          </a:ln>
        </p:spPr>
      </p:sp>
      <p:sp>
        <p:nvSpPr>
          <p:cNvPr id="177245" name="直接连接符 564324"/>
          <p:cNvSpPr/>
          <p:nvPr/>
        </p:nvSpPr>
        <p:spPr>
          <a:xfrm>
            <a:off x="8089900" y="5562600"/>
            <a:ext cx="203200" cy="0"/>
          </a:xfrm>
          <a:prstGeom prst="line">
            <a:avLst/>
          </a:prstGeom>
          <a:ln w="25400" cap="flat" cmpd="sng">
            <a:solidFill>
              <a:schemeClr val="tx1"/>
            </a:solidFill>
            <a:prstDash val="solid"/>
            <a:round/>
            <a:headEnd type="none" w="med" len="med"/>
            <a:tailEnd type="none" w="med" len="med"/>
          </a:ln>
        </p:spPr>
      </p:sp>
      <p:sp>
        <p:nvSpPr>
          <p:cNvPr id="177246" name="直接连接符 564325"/>
          <p:cNvSpPr/>
          <p:nvPr/>
        </p:nvSpPr>
        <p:spPr>
          <a:xfrm>
            <a:off x="8305800" y="5575300"/>
            <a:ext cx="0" cy="355600"/>
          </a:xfrm>
          <a:prstGeom prst="line">
            <a:avLst/>
          </a:prstGeom>
          <a:ln w="25400" cap="flat" cmpd="sng">
            <a:solidFill>
              <a:schemeClr val="tx1"/>
            </a:solidFill>
            <a:prstDash val="solid"/>
            <a:round/>
            <a:headEnd type="none" w="med" len="med"/>
            <a:tailEnd type="none" w="med" len="med"/>
          </a:ln>
        </p:spPr>
      </p:sp>
      <p:sp>
        <p:nvSpPr>
          <p:cNvPr id="177247" name="直接连接符 564326"/>
          <p:cNvSpPr/>
          <p:nvPr/>
        </p:nvSpPr>
        <p:spPr>
          <a:xfrm flipH="1">
            <a:off x="3187700" y="5943600"/>
            <a:ext cx="5130800" cy="0"/>
          </a:xfrm>
          <a:prstGeom prst="line">
            <a:avLst/>
          </a:prstGeom>
          <a:ln w="25400" cap="flat" cmpd="sng">
            <a:solidFill>
              <a:schemeClr val="tx1"/>
            </a:solidFill>
            <a:prstDash val="solid"/>
            <a:round/>
            <a:headEnd type="none" w="med" len="med"/>
            <a:tailEnd type="none" w="med" len="med"/>
          </a:ln>
        </p:spPr>
      </p:sp>
      <p:sp>
        <p:nvSpPr>
          <p:cNvPr id="177248" name="直接连接符 564327"/>
          <p:cNvSpPr/>
          <p:nvPr/>
        </p:nvSpPr>
        <p:spPr>
          <a:xfrm flipV="1">
            <a:off x="3200400" y="5321300"/>
            <a:ext cx="0" cy="635000"/>
          </a:xfrm>
          <a:prstGeom prst="line">
            <a:avLst/>
          </a:prstGeom>
          <a:ln w="25400" cap="flat" cmpd="sng">
            <a:solidFill>
              <a:schemeClr val="tx1"/>
            </a:solidFill>
            <a:prstDash val="solid"/>
            <a:round/>
            <a:headEnd type="none" w="med" len="med"/>
            <a:tailEnd type="triangle" w="med" len="med"/>
          </a:ln>
        </p:spPr>
      </p:sp>
      <p:sp>
        <p:nvSpPr>
          <p:cNvPr id="177249" name="直接连接符 564328"/>
          <p:cNvSpPr/>
          <p:nvPr/>
        </p:nvSpPr>
        <p:spPr>
          <a:xfrm>
            <a:off x="8699500" y="5105400"/>
            <a:ext cx="127000" cy="0"/>
          </a:xfrm>
          <a:prstGeom prst="line">
            <a:avLst/>
          </a:prstGeom>
          <a:ln w="25400" cap="flat" cmpd="sng">
            <a:solidFill>
              <a:schemeClr val="tx1"/>
            </a:solidFill>
            <a:prstDash val="solid"/>
            <a:round/>
            <a:headEnd type="none" w="med" len="med"/>
            <a:tailEnd type="none" w="med" len="med"/>
          </a:ln>
        </p:spPr>
      </p:sp>
      <p:sp>
        <p:nvSpPr>
          <p:cNvPr id="177250" name="直接连接符 564329"/>
          <p:cNvSpPr/>
          <p:nvPr/>
        </p:nvSpPr>
        <p:spPr>
          <a:xfrm>
            <a:off x="8810625" y="5118100"/>
            <a:ext cx="0" cy="965200"/>
          </a:xfrm>
          <a:prstGeom prst="line">
            <a:avLst/>
          </a:prstGeom>
          <a:ln w="25400" cap="flat" cmpd="sng">
            <a:solidFill>
              <a:schemeClr val="tx1"/>
            </a:solidFill>
            <a:prstDash val="solid"/>
            <a:round/>
            <a:headEnd type="none" w="med" len="med"/>
            <a:tailEnd type="none" w="med" len="med"/>
          </a:ln>
        </p:spPr>
      </p:sp>
      <p:sp>
        <p:nvSpPr>
          <p:cNvPr id="177251" name="直接连接符 564331"/>
          <p:cNvSpPr/>
          <p:nvPr/>
        </p:nvSpPr>
        <p:spPr>
          <a:xfrm flipV="1">
            <a:off x="3505200" y="5321300"/>
            <a:ext cx="0" cy="787400"/>
          </a:xfrm>
          <a:prstGeom prst="line">
            <a:avLst/>
          </a:prstGeom>
          <a:ln w="25400" cap="flat" cmpd="sng">
            <a:solidFill>
              <a:schemeClr val="tx1"/>
            </a:solidFill>
            <a:prstDash val="solid"/>
            <a:round/>
            <a:headEnd type="none" w="med" len="med"/>
            <a:tailEnd type="triangle" w="med" len="med"/>
          </a:ln>
        </p:spPr>
      </p:sp>
      <p:sp>
        <p:nvSpPr>
          <p:cNvPr id="177252" name="直接连接符 564332"/>
          <p:cNvSpPr/>
          <p:nvPr/>
        </p:nvSpPr>
        <p:spPr>
          <a:xfrm>
            <a:off x="2527300" y="5410200"/>
            <a:ext cx="127000" cy="0"/>
          </a:xfrm>
          <a:prstGeom prst="line">
            <a:avLst/>
          </a:prstGeom>
          <a:ln w="25400" cap="flat" cmpd="sng">
            <a:solidFill>
              <a:schemeClr val="tx1"/>
            </a:solidFill>
            <a:prstDash val="solid"/>
            <a:round/>
            <a:headEnd type="none" w="med" len="med"/>
            <a:tailEnd type="none" w="med" len="med"/>
          </a:ln>
        </p:spPr>
      </p:sp>
      <p:sp>
        <p:nvSpPr>
          <p:cNvPr id="177253" name="直接连接符 564333"/>
          <p:cNvSpPr/>
          <p:nvPr/>
        </p:nvSpPr>
        <p:spPr>
          <a:xfrm>
            <a:off x="1765300" y="3657600"/>
            <a:ext cx="431800" cy="0"/>
          </a:xfrm>
          <a:prstGeom prst="line">
            <a:avLst/>
          </a:prstGeom>
          <a:ln w="25400" cap="flat" cmpd="sng">
            <a:solidFill>
              <a:schemeClr val="tx1"/>
            </a:solidFill>
            <a:prstDash val="solid"/>
            <a:round/>
            <a:headEnd type="none" w="med" len="med"/>
            <a:tailEnd type="triangle" w="med" len="med"/>
          </a:ln>
        </p:spPr>
      </p:sp>
      <p:sp>
        <p:nvSpPr>
          <p:cNvPr id="177254" name="矩形 564334"/>
          <p:cNvSpPr/>
          <p:nvPr/>
        </p:nvSpPr>
        <p:spPr>
          <a:xfrm rot="5400000">
            <a:off x="1195388" y="3649663"/>
            <a:ext cx="693737"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PC+4</a:t>
            </a:r>
            <a:endParaRPr lang="en-US" altLang="zh-CN">
              <a:latin typeface="Arial" panose="020B0604020202020204" pitchFamily="34" charset="0"/>
              <a:ea typeface="宋体" panose="02010600030101010101" pitchFamily="2" charset="-122"/>
            </a:endParaRPr>
          </a:p>
        </p:txBody>
      </p:sp>
      <p:sp>
        <p:nvSpPr>
          <p:cNvPr id="177255" name="直接连接符 564335"/>
          <p:cNvSpPr/>
          <p:nvPr/>
        </p:nvSpPr>
        <p:spPr>
          <a:xfrm>
            <a:off x="1003300" y="4267200"/>
            <a:ext cx="355600" cy="0"/>
          </a:xfrm>
          <a:prstGeom prst="line">
            <a:avLst/>
          </a:prstGeom>
          <a:ln w="25400" cap="flat" cmpd="sng">
            <a:solidFill>
              <a:schemeClr val="tx1"/>
            </a:solidFill>
            <a:prstDash val="solid"/>
            <a:round/>
            <a:headEnd type="none" w="med" len="med"/>
            <a:tailEnd type="triangle" w="med" len="med"/>
          </a:ln>
        </p:spPr>
      </p:sp>
      <p:sp>
        <p:nvSpPr>
          <p:cNvPr id="177256" name="直接连接符 564336"/>
          <p:cNvSpPr/>
          <p:nvPr/>
        </p:nvSpPr>
        <p:spPr>
          <a:xfrm>
            <a:off x="5499100" y="4267200"/>
            <a:ext cx="355600" cy="0"/>
          </a:xfrm>
          <a:prstGeom prst="line">
            <a:avLst/>
          </a:prstGeom>
          <a:ln w="25400" cap="flat" cmpd="sng">
            <a:solidFill>
              <a:schemeClr val="tx1"/>
            </a:solidFill>
            <a:prstDash val="solid"/>
            <a:round/>
            <a:headEnd type="none" w="med" len="med"/>
            <a:tailEnd type="triangle" w="med" len="med"/>
          </a:ln>
        </p:spPr>
      </p:sp>
      <p:sp>
        <p:nvSpPr>
          <p:cNvPr id="177257" name="直接连接符 564337"/>
          <p:cNvSpPr/>
          <p:nvPr/>
        </p:nvSpPr>
        <p:spPr>
          <a:xfrm flipH="1">
            <a:off x="6616700" y="3657600"/>
            <a:ext cx="257175" cy="0"/>
          </a:xfrm>
          <a:prstGeom prst="line">
            <a:avLst/>
          </a:prstGeom>
          <a:ln w="25400" cap="flat" cmpd="sng">
            <a:solidFill>
              <a:schemeClr val="accent2"/>
            </a:solidFill>
            <a:prstDash val="solid"/>
            <a:round/>
            <a:headEnd type="none" w="med" len="med"/>
            <a:tailEnd type="none" w="med" len="med"/>
          </a:ln>
        </p:spPr>
      </p:sp>
      <p:sp>
        <p:nvSpPr>
          <p:cNvPr id="177258" name="直接连接符 564338"/>
          <p:cNvSpPr/>
          <p:nvPr/>
        </p:nvSpPr>
        <p:spPr>
          <a:xfrm flipH="1">
            <a:off x="6616700" y="3810000"/>
            <a:ext cx="257175" cy="0"/>
          </a:xfrm>
          <a:prstGeom prst="line">
            <a:avLst/>
          </a:prstGeom>
          <a:ln w="25400" cap="flat" cmpd="sng">
            <a:solidFill>
              <a:schemeClr val="tx1"/>
            </a:solidFill>
            <a:prstDash val="solid"/>
            <a:round/>
            <a:headEnd type="none" w="med" len="med"/>
            <a:tailEnd type="none" w="med" len="med"/>
          </a:ln>
        </p:spPr>
      </p:sp>
      <p:grpSp>
        <p:nvGrpSpPr>
          <p:cNvPr id="177259" name="组合 564339"/>
          <p:cNvGrpSpPr/>
          <p:nvPr/>
        </p:nvGrpSpPr>
        <p:grpSpPr>
          <a:xfrm>
            <a:off x="6848475" y="3581400"/>
            <a:ext cx="395288" cy="306388"/>
            <a:chOff x="4314" y="2256"/>
            <a:chExt cx="249" cy="193"/>
          </a:xfrm>
        </p:grpSpPr>
        <p:sp>
          <p:nvSpPr>
            <p:cNvPr id="177260" name="任意多边形 564340"/>
            <p:cNvSpPr/>
            <p:nvPr/>
          </p:nvSpPr>
          <p:spPr>
            <a:xfrm>
              <a:off x="4466" y="2265"/>
              <a:ext cx="89" cy="88"/>
            </a:xfrm>
            <a:custGeom>
              <a:avLst/>
              <a:gdLst/>
              <a:ahLst/>
              <a:cxnLst>
                <a:cxn ang="180">
                  <a:pos x="0" y="1"/>
                </a:cxn>
                <a:cxn ang="0">
                  <a:pos x="21845" y="21600"/>
                </a:cxn>
                <a:cxn ang="90">
                  <a:pos x="245" y="21600"/>
                </a:cxn>
              </a:cxnLst>
              <a:pathLst>
                <a:path w="21845" h="21600" fill="none">
                  <a:moveTo>
                    <a:pt x="0" y="1"/>
                  </a:moveTo>
                  <a:cubicBezTo>
                    <a:pt x="-163" y="1"/>
                    <a:pt x="-82" y="1"/>
                    <a:pt x="0" y="1"/>
                  </a:cubicBezTo>
                  <a:cubicBezTo>
                    <a:pt x="11929" y="1"/>
                    <a:pt x="21600" y="9672"/>
                    <a:pt x="21600" y="21601"/>
                  </a:cubicBezTo>
                </a:path>
                <a:path w="21845" h="21600" stroke="0">
                  <a:moveTo>
                    <a:pt x="0" y="1"/>
                  </a:moveTo>
                  <a:cubicBezTo>
                    <a:pt x="-163" y="1"/>
                    <a:pt x="-82" y="1"/>
                    <a:pt x="0" y="1"/>
                  </a:cubicBezTo>
                  <a:cubicBezTo>
                    <a:pt x="11929" y="1"/>
                    <a:pt x="21600" y="9672"/>
                    <a:pt x="21600" y="21601"/>
                  </a:cubicBezTo>
                  <a:lnTo>
                    <a:pt x="245" y="21600"/>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77261" name="任意多边形 564341"/>
            <p:cNvSpPr/>
            <p:nvPr/>
          </p:nvSpPr>
          <p:spPr>
            <a:xfrm rot="10800000">
              <a:off x="4475" y="2361"/>
              <a:ext cx="88" cy="88"/>
            </a:xfrm>
            <a:custGeom>
              <a:avLst/>
              <a:gdLst/>
              <a:ahLst/>
              <a:cxnLst>
                <a:cxn ang="180">
                  <a:pos x="0" y="21599"/>
                </a:cxn>
                <a:cxn ang="270">
                  <a:pos x="21354" y="0"/>
                </a:cxn>
                <a:cxn ang="0">
                  <a:pos x="21600" y="21599"/>
                </a:cxn>
              </a:cxnLst>
              <a:pathLst>
                <a:path w="21600" h="21599" fill="none">
                  <a:moveTo>
                    <a:pt x="0" y="21599"/>
                  </a:moveTo>
                  <a:cubicBezTo>
                    <a:pt x="0" y="9752"/>
                    <a:pt x="9538" y="132"/>
                    <a:pt x="21353" y="0"/>
                  </a:cubicBezTo>
                </a:path>
                <a:path w="21600" h="21599" stroke="0">
                  <a:moveTo>
                    <a:pt x="0" y="21599"/>
                  </a:moveTo>
                  <a:cubicBezTo>
                    <a:pt x="0" y="9752"/>
                    <a:pt x="9538" y="132"/>
                    <a:pt x="21353" y="0"/>
                  </a:cubicBezTo>
                  <a:lnTo>
                    <a:pt x="21600" y="21599"/>
                  </a:lnTo>
                  <a:close/>
                </a:path>
              </a:pathLst>
            </a:custGeom>
            <a:noFill/>
            <a:ln w="25400" cap="rnd" cmpd="sng">
              <a:solidFill>
                <a:schemeClr val="tx1"/>
              </a:solidFill>
              <a:prstDash val="solid"/>
              <a:round/>
              <a:headEnd type="none" w="med" len="med"/>
              <a:tailEnd type="none" w="med" len="med"/>
            </a:ln>
          </p:spPr>
          <p:txBody>
            <a:bodyPr/>
            <a:p>
              <a:endParaRPr lang="zh-CN" altLang="en-US"/>
            </a:p>
          </p:txBody>
        </p:sp>
        <p:sp>
          <p:nvSpPr>
            <p:cNvPr id="177262" name="直接连接符 564342"/>
            <p:cNvSpPr/>
            <p:nvPr/>
          </p:nvSpPr>
          <p:spPr>
            <a:xfrm flipH="1">
              <a:off x="4314" y="2256"/>
              <a:ext cx="160" cy="0"/>
            </a:xfrm>
            <a:prstGeom prst="line">
              <a:avLst/>
            </a:prstGeom>
            <a:ln w="25400" cap="flat" cmpd="sng">
              <a:solidFill>
                <a:schemeClr val="tx1"/>
              </a:solidFill>
              <a:prstDash val="solid"/>
              <a:round/>
              <a:headEnd type="none" w="med" len="med"/>
              <a:tailEnd type="none" w="med" len="med"/>
            </a:ln>
          </p:spPr>
        </p:sp>
        <p:sp>
          <p:nvSpPr>
            <p:cNvPr id="177263" name="直接连接符 564343"/>
            <p:cNvSpPr/>
            <p:nvPr/>
          </p:nvSpPr>
          <p:spPr>
            <a:xfrm flipH="1">
              <a:off x="4314" y="2448"/>
              <a:ext cx="160" cy="0"/>
            </a:xfrm>
            <a:prstGeom prst="line">
              <a:avLst/>
            </a:prstGeom>
            <a:ln w="25400" cap="flat" cmpd="sng">
              <a:solidFill>
                <a:schemeClr val="tx1"/>
              </a:solidFill>
              <a:prstDash val="solid"/>
              <a:round/>
              <a:headEnd type="none" w="med" len="med"/>
              <a:tailEnd type="none" w="med" len="med"/>
            </a:ln>
          </p:spPr>
        </p:sp>
        <p:sp>
          <p:nvSpPr>
            <p:cNvPr id="177264" name="直接连接符 564344"/>
            <p:cNvSpPr/>
            <p:nvPr/>
          </p:nvSpPr>
          <p:spPr>
            <a:xfrm>
              <a:off x="4322" y="2264"/>
              <a:ext cx="0" cy="176"/>
            </a:xfrm>
            <a:prstGeom prst="line">
              <a:avLst/>
            </a:prstGeom>
            <a:ln w="25400" cap="flat" cmpd="sng">
              <a:solidFill>
                <a:schemeClr val="tx1"/>
              </a:solidFill>
              <a:prstDash val="solid"/>
              <a:round/>
              <a:headEnd type="none" w="med" len="med"/>
              <a:tailEnd type="none" w="med" len="med"/>
            </a:ln>
          </p:spPr>
        </p:sp>
      </p:grpSp>
      <p:sp>
        <p:nvSpPr>
          <p:cNvPr id="177265" name="矩形 564345"/>
          <p:cNvSpPr/>
          <p:nvPr/>
        </p:nvSpPr>
        <p:spPr>
          <a:xfrm flipH="1">
            <a:off x="6083300" y="3979863"/>
            <a:ext cx="620713" cy="333375"/>
          </a:xfrm>
          <a:prstGeom prst="rect">
            <a:avLst/>
          </a:prstGeom>
          <a:noFill/>
          <a:ln w="12700">
            <a:noFill/>
          </a:ln>
        </p:spPr>
        <p:txBody>
          <a:bodyPr wrap="none" lIns="90488" tIns="44450" rIns="90488" bIns="44450" anchor="t" anchorCtr="0">
            <a:spAutoFit/>
          </a:bodyPr>
          <a:p>
            <a:pPr algn="ctr" eaLnBrk="0" hangingPunct="0"/>
            <a:r>
              <a:rPr lang="en-US" altLang="zh-CN">
                <a:latin typeface="Arial" panose="020B0604020202020204" pitchFamily="34" charset="0"/>
                <a:ea typeface="宋体" panose="02010600030101010101" pitchFamily="2" charset="-122"/>
              </a:rPr>
              <a:t>Zero</a:t>
            </a:r>
            <a:endParaRPr lang="en-US" altLang="zh-CN">
              <a:latin typeface="Arial" panose="020B0604020202020204" pitchFamily="34" charset="0"/>
              <a:ea typeface="宋体" panose="02010600030101010101" pitchFamily="2" charset="-122"/>
            </a:endParaRPr>
          </a:p>
        </p:txBody>
      </p:sp>
      <p:sp>
        <p:nvSpPr>
          <p:cNvPr id="177266" name="直接连接符 564347"/>
          <p:cNvSpPr/>
          <p:nvPr/>
        </p:nvSpPr>
        <p:spPr>
          <a:xfrm flipV="1">
            <a:off x="6629400" y="3797300"/>
            <a:ext cx="0" cy="482600"/>
          </a:xfrm>
          <a:prstGeom prst="line">
            <a:avLst/>
          </a:prstGeom>
          <a:ln w="25400" cap="flat" cmpd="sng">
            <a:solidFill>
              <a:schemeClr val="tx1"/>
            </a:solidFill>
            <a:prstDash val="solid"/>
            <a:round/>
            <a:headEnd type="none" w="med" len="med"/>
            <a:tailEnd type="none" w="med" len="med"/>
          </a:ln>
        </p:spPr>
      </p:sp>
      <p:sp>
        <p:nvSpPr>
          <p:cNvPr id="177267" name="直接连接符 564348"/>
          <p:cNvSpPr/>
          <p:nvPr/>
        </p:nvSpPr>
        <p:spPr>
          <a:xfrm flipH="1" flipV="1">
            <a:off x="6629400" y="2679700"/>
            <a:ext cx="1588" cy="976313"/>
          </a:xfrm>
          <a:prstGeom prst="line">
            <a:avLst/>
          </a:prstGeom>
          <a:ln w="25400" cap="flat" cmpd="sng">
            <a:solidFill>
              <a:schemeClr val="accent2"/>
            </a:solidFill>
            <a:prstDash val="solid"/>
            <a:round/>
            <a:headEnd type="none" w="med" len="med"/>
            <a:tailEnd type="none" w="med" len="med"/>
          </a:ln>
        </p:spPr>
      </p:sp>
      <p:sp>
        <p:nvSpPr>
          <p:cNvPr id="177268" name="直接连接符 564349"/>
          <p:cNvSpPr/>
          <p:nvPr/>
        </p:nvSpPr>
        <p:spPr>
          <a:xfrm>
            <a:off x="6184900" y="4267200"/>
            <a:ext cx="431800" cy="0"/>
          </a:xfrm>
          <a:prstGeom prst="line">
            <a:avLst/>
          </a:prstGeom>
          <a:ln w="25400" cap="flat" cmpd="sng">
            <a:solidFill>
              <a:schemeClr val="tx1"/>
            </a:solidFill>
            <a:prstDash val="solid"/>
            <a:round/>
            <a:headEnd type="none" w="med" len="med"/>
            <a:tailEnd type="none" w="med" len="med"/>
          </a:ln>
        </p:spPr>
      </p:sp>
      <p:sp>
        <p:nvSpPr>
          <p:cNvPr id="177269" name="直接连接符 564350"/>
          <p:cNvSpPr/>
          <p:nvPr/>
        </p:nvSpPr>
        <p:spPr>
          <a:xfrm>
            <a:off x="6184900" y="3657600"/>
            <a:ext cx="203200" cy="0"/>
          </a:xfrm>
          <a:prstGeom prst="line">
            <a:avLst/>
          </a:prstGeom>
          <a:ln w="25400" cap="flat" cmpd="sng">
            <a:solidFill>
              <a:schemeClr val="tx1"/>
            </a:solidFill>
            <a:prstDash val="solid"/>
            <a:round/>
            <a:headEnd type="none" w="med" len="med"/>
            <a:tailEnd type="none" w="med" len="med"/>
          </a:ln>
        </p:spPr>
      </p:sp>
      <p:grpSp>
        <p:nvGrpSpPr>
          <p:cNvPr id="177270" name="组合 564351"/>
          <p:cNvGrpSpPr/>
          <p:nvPr/>
        </p:nvGrpSpPr>
        <p:grpSpPr>
          <a:xfrm>
            <a:off x="1092200" y="2984500"/>
            <a:ext cx="254000" cy="533400"/>
            <a:chOff x="688" y="1880"/>
            <a:chExt cx="160" cy="336"/>
          </a:xfrm>
        </p:grpSpPr>
        <p:sp>
          <p:nvSpPr>
            <p:cNvPr id="177271" name="直接连接符 564352"/>
            <p:cNvSpPr/>
            <p:nvPr/>
          </p:nvSpPr>
          <p:spPr>
            <a:xfrm>
              <a:off x="840" y="1880"/>
              <a:ext cx="0" cy="320"/>
            </a:xfrm>
            <a:prstGeom prst="line">
              <a:avLst/>
            </a:prstGeom>
            <a:ln w="25400" cap="flat" cmpd="sng">
              <a:solidFill>
                <a:schemeClr val="tx1"/>
              </a:solidFill>
              <a:prstDash val="solid"/>
              <a:round/>
              <a:headEnd type="none" w="med" len="med"/>
              <a:tailEnd type="none" w="med" len="med"/>
            </a:ln>
          </p:spPr>
        </p:sp>
        <p:sp>
          <p:nvSpPr>
            <p:cNvPr id="177272" name="直接连接符 564353"/>
            <p:cNvSpPr/>
            <p:nvPr/>
          </p:nvSpPr>
          <p:spPr>
            <a:xfrm flipH="1">
              <a:off x="688" y="1880"/>
              <a:ext cx="160" cy="15"/>
            </a:xfrm>
            <a:prstGeom prst="line">
              <a:avLst/>
            </a:prstGeom>
            <a:ln w="25400" cap="flat" cmpd="sng">
              <a:solidFill>
                <a:schemeClr val="tx1"/>
              </a:solidFill>
              <a:prstDash val="solid"/>
              <a:round/>
              <a:headEnd type="none" w="med" len="med"/>
              <a:tailEnd type="none" w="med" len="med"/>
            </a:ln>
          </p:spPr>
        </p:sp>
        <p:sp>
          <p:nvSpPr>
            <p:cNvPr id="177273" name="直接连接符 564354"/>
            <p:cNvSpPr/>
            <p:nvPr/>
          </p:nvSpPr>
          <p:spPr>
            <a:xfrm flipH="1" flipV="1">
              <a:off x="688" y="2159"/>
              <a:ext cx="160" cy="57"/>
            </a:xfrm>
            <a:prstGeom prst="line">
              <a:avLst/>
            </a:prstGeom>
            <a:ln w="25400" cap="flat" cmpd="sng">
              <a:solidFill>
                <a:schemeClr val="tx1"/>
              </a:solidFill>
              <a:prstDash val="solid"/>
              <a:round/>
              <a:headEnd type="none" w="med" len="med"/>
              <a:tailEnd type="none" w="med" len="med"/>
            </a:ln>
          </p:spPr>
        </p:sp>
        <p:sp>
          <p:nvSpPr>
            <p:cNvPr id="177274" name="直接连接符 564355"/>
            <p:cNvSpPr/>
            <p:nvPr/>
          </p:nvSpPr>
          <p:spPr>
            <a:xfrm>
              <a:off x="696" y="1911"/>
              <a:ext cx="0" cy="244"/>
            </a:xfrm>
            <a:prstGeom prst="line">
              <a:avLst/>
            </a:prstGeom>
            <a:ln w="25400" cap="flat" cmpd="sng">
              <a:solidFill>
                <a:schemeClr val="tx1"/>
              </a:solidFill>
              <a:prstDash val="solid"/>
              <a:round/>
              <a:headEnd type="none" w="med" len="med"/>
              <a:tailEnd type="none" w="med" len="med"/>
            </a:ln>
          </p:spPr>
        </p:sp>
      </p:grpSp>
      <p:sp>
        <p:nvSpPr>
          <p:cNvPr id="177275" name="矩形 564356"/>
          <p:cNvSpPr/>
          <p:nvPr/>
        </p:nvSpPr>
        <p:spPr>
          <a:xfrm flipH="1">
            <a:off x="1103313" y="3003550"/>
            <a:ext cx="269875" cy="301625"/>
          </a:xfrm>
          <a:prstGeom prst="rect">
            <a:avLst/>
          </a:prstGeom>
          <a:noFill/>
          <a:ln w="12700">
            <a:noFill/>
          </a:ln>
        </p:spPr>
        <p:txBody>
          <a:bodyPr wrap="none" lIns="90488" tIns="44450" rIns="90488" bIns="44450" anchor="t" anchorCtr="0">
            <a:spAutoFit/>
          </a:bodyPr>
          <a:p>
            <a:pPr eaLnBrk="0" hangingPunct="0"/>
            <a:r>
              <a:rPr lang="zh-CN" altLang="en-US" sz="1400" b="0" dirty="0">
                <a:latin typeface="Times New Roman" panose="02020603050405020304" pitchFamily="18" charset="0"/>
                <a:ea typeface="宋体" panose="02010600030101010101" pitchFamily="2" charset="-122"/>
              </a:rPr>
              <a:t>1</a:t>
            </a:r>
            <a:endParaRPr lang="zh-CN" altLang="en-US" sz="1400" b="0" dirty="0">
              <a:latin typeface="Times New Roman" panose="02020603050405020304" pitchFamily="18" charset="0"/>
              <a:ea typeface="宋体" panose="02010600030101010101" pitchFamily="2" charset="-122"/>
            </a:endParaRPr>
          </a:p>
        </p:txBody>
      </p:sp>
      <p:sp>
        <p:nvSpPr>
          <p:cNvPr id="177276" name="矩形 564357"/>
          <p:cNvSpPr/>
          <p:nvPr/>
        </p:nvSpPr>
        <p:spPr>
          <a:xfrm flipH="1">
            <a:off x="1103313" y="3171825"/>
            <a:ext cx="269875" cy="301625"/>
          </a:xfrm>
          <a:prstGeom prst="rect">
            <a:avLst/>
          </a:prstGeom>
          <a:noFill/>
          <a:ln w="12700">
            <a:noFill/>
          </a:ln>
        </p:spPr>
        <p:txBody>
          <a:bodyPr wrap="none" lIns="90488" tIns="44450" rIns="90488" bIns="44450" anchor="t" anchorCtr="0">
            <a:spAutoFit/>
          </a:bodyPr>
          <a:p>
            <a:pPr eaLnBrk="0" hangingPunct="0"/>
            <a:r>
              <a:rPr lang="zh-CN" altLang="en-US" sz="1400" b="0" dirty="0">
                <a:latin typeface="Times New Roman" panose="02020603050405020304" pitchFamily="18" charset="0"/>
                <a:ea typeface="宋体" panose="02010600030101010101" pitchFamily="2" charset="-122"/>
              </a:rPr>
              <a:t>0</a:t>
            </a:r>
            <a:endParaRPr lang="zh-CN" altLang="en-US" sz="1400" b="0" dirty="0">
              <a:latin typeface="Times New Roman" panose="02020603050405020304" pitchFamily="18" charset="0"/>
              <a:ea typeface="宋体" panose="02010600030101010101" pitchFamily="2" charset="-122"/>
            </a:endParaRPr>
          </a:p>
        </p:txBody>
      </p:sp>
      <p:sp>
        <p:nvSpPr>
          <p:cNvPr id="177277" name="直接连接符 564358"/>
          <p:cNvSpPr/>
          <p:nvPr/>
        </p:nvSpPr>
        <p:spPr>
          <a:xfrm>
            <a:off x="1308100" y="3352800"/>
            <a:ext cx="584200" cy="0"/>
          </a:xfrm>
          <a:prstGeom prst="line">
            <a:avLst/>
          </a:prstGeom>
          <a:ln w="25400" cap="flat" cmpd="sng">
            <a:solidFill>
              <a:schemeClr val="tx1"/>
            </a:solidFill>
            <a:prstDash val="solid"/>
            <a:round/>
            <a:headEnd type="triangle" w="med" len="med"/>
            <a:tailEnd type="none" w="med" len="med"/>
          </a:ln>
        </p:spPr>
      </p:sp>
      <p:sp>
        <p:nvSpPr>
          <p:cNvPr id="177278" name="直接连接符 564359"/>
          <p:cNvSpPr/>
          <p:nvPr/>
        </p:nvSpPr>
        <p:spPr>
          <a:xfrm>
            <a:off x="1905000" y="3365500"/>
            <a:ext cx="0" cy="279400"/>
          </a:xfrm>
          <a:prstGeom prst="line">
            <a:avLst/>
          </a:prstGeom>
          <a:ln w="25400" cap="flat" cmpd="sng">
            <a:solidFill>
              <a:schemeClr val="tx1"/>
            </a:solidFill>
            <a:prstDash val="solid"/>
            <a:round/>
            <a:headEnd type="none" w="med" len="med"/>
            <a:tailEnd type="none" w="med" len="med"/>
          </a:ln>
        </p:spPr>
      </p:sp>
      <p:sp>
        <p:nvSpPr>
          <p:cNvPr id="177279" name="椭圆 564360"/>
          <p:cNvSpPr/>
          <p:nvPr/>
        </p:nvSpPr>
        <p:spPr>
          <a:xfrm>
            <a:off x="2298700" y="3365500"/>
            <a:ext cx="127000" cy="127000"/>
          </a:xfrm>
          <a:prstGeom prst="ellipse">
            <a:avLst/>
          </a:prstGeom>
          <a:noFill/>
          <a:ln w="25400" cap="flat" cmpd="sng">
            <a:solidFill>
              <a:srgbClr val="CC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280" name="直接连接符 564361"/>
          <p:cNvSpPr/>
          <p:nvPr/>
        </p:nvSpPr>
        <p:spPr>
          <a:xfrm>
            <a:off x="838200" y="3213100"/>
            <a:ext cx="0" cy="127000"/>
          </a:xfrm>
          <a:prstGeom prst="line">
            <a:avLst/>
          </a:prstGeom>
          <a:ln w="25400" cap="flat" cmpd="sng">
            <a:solidFill>
              <a:schemeClr val="tx1"/>
            </a:solidFill>
            <a:prstDash val="solid"/>
            <a:round/>
            <a:headEnd type="none" w="med" len="med"/>
            <a:tailEnd type="none" w="med" len="med"/>
          </a:ln>
        </p:spPr>
      </p:sp>
      <p:sp>
        <p:nvSpPr>
          <p:cNvPr id="177281" name="椭圆 564362"/>
          <p:cNvSpPr/>
          <p:nvPr/>
        </p:nvSpPr>
        <p:spPr>
          <a:xfrm>
            <a:off x="774700" y="3365500"/>
            <a:ext cx="127000" cy="127000"/>
          </a:xfrm>
          <a:prstGeom prst="ellipse">
            <a:avLst/>
          </a:prstGeom>
          <a:noFill/>
          <a:ln w="25400" cap="flat" cmpd="sng">
            <a:solidFill>
              <a:schemeClr val="accent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282" name="直接连接符 564363"/>
          <p:cNvSpPr/>
          <p:nvPr/>
        </p:nvSpPr>
        <p:spPr>
          <a:xfrm flipH="1">
            <a:off x="292100" y="3124200"/>
            <a:ext cx="787400" cy="0"/>
          </a:xfrm>
          <a:prstGeom prst="line">
            <a:avLst/>
          </a:prstGeom>
          <a:ln w="25400" cap="flat" cmpd="sng">
            <a:solidFill>
              <a:schemeClr val="tx1"/>
            </a:solidFill>
            <a:prstDash val="solid"/>
            <a:round/>
            <a:headEnd type="none" w="med" len="med"/>
            <a:tailEnd type="none" w="med" len="med"/>
          </a:ln>
        </p:spPr>
      </p:sp>
      <p:sp>
        <p:nvSpPr>
          <p:cNvPr id="177283" name="直接连接符 564364"/>
          <p:cNvSpPr/>
          <p:nvPr/>
        </p:nvSpPr>
        <p:spPr>
          <a:xfrm>
            <a:off x="317500" y="4267200"/>
            <a:ext cx="355600" cy="0"/>
          </a:xfrm>
          <a:prstGeom prst="line">
            <a:avLst/>
          </a:prstGeom>
          <a:ln w="25400" cap="flat" cmpd="sng">
            <a:solidFill>
              <a:schemeClr val="tx1"/>
            </a:solidFill>
            <a:prstDash val="solid"/>
            <a:round/>
            <a:headEnd type="none" w="med" len="med"/>
            <a:tailEnd type="triangle" w="med" len="med"/>
          </a:ln>
        </p:spPr>
      </p:sp>
      <p:sp>
        <p:nvSpPr>
          <p:cNvPr id="177284" name="直接连接符 564365"/>
          <p:cNvSpPr/>
          <p:nvPr/>
        </p:nvSpPr>
        <p:spPr>
          <a:xfrm>
            <a:off x="304800" y="3136900"/>
            <a:ext cx="0" cy="1117600"/>
          </a:xfrm>
          <a:prstGeom prst="line">
            <a:avLst/>
          </a:prstGeom>
          <a:ln w="25400" cap="flat" cmpd="sng">
            <a:solidFill>
              <a:schemeClr val="tx1"/>
            </a:solidFill>
            <a:prstDash val="solid"/>
            <a:round/>
            <a:headEnd type="none" w="med" len="med"/>
            <a:tailEnd type="none" w="med" len="med"/>
          </a:ln>
        </p:spPr>
      </p:sp>
      <p:sp>
        <p:nvSpPr>
          <p:cNvPr id="177285" name="直接连接符 564366"/>
          <p:cNvSpPr/>
          <p:nvPr/>
        </p:nvSpPr>
        <p:spPr>
          <a:xfrm flipH="1">
            <a:off x="1282700" y="3124200"/>
            <a:ext cx="5130800" cy="0"/>
          </a:xfrm>
          <a:prstGeom prst="line">
            <a:avLst/>
          </a:prstGeom>
          <a:ln w="25400" cap="flat" cmpd="sng">
            <a:solidFill>
              <a:schemeClr val="tx1"/>
            </a:solidFill>
            <a:prstDash val="solid"/>
            <a:round/>
            <a:headEnd type="none" w="med" len="med"/>
            <a:tailEnd type="triangle" w="med" len="med"/>
          </a:ln>
        </p:spPr>
      </p:sp>
      <p:sp>
        <p:nvSpPr>
          <p:cNvPr id="177286" name="直接连接符 564367"/>
          <p:cNvSpPr/>
          <p:nvPr/>
        </p:nvSpPr>
        <p:spPr>
          <a:xfrm flipV="1">
            <a:off x="6400800" y="3111500"/>
            <a:ext cx="0" cy="558800"/>
          </a:xfrm>
          <a:prstGeom prst="line">
            <a:avLst/>
          </a:prstGeom>
          <a:ln w="25400" cap="flat" cmpd="sng">
            <a:solidFill>
              <a:schemeClr val="tx1"/>
            </a:solidFill>
            <a:prstDash val="solid"/>
            <a:round/>
            <a:headEnd type="none" w="med" len="med"/>
            <a:tailEnd type="none" w="med" len="med"/>
          </a:ln>
        </p:spPr>
      </p:sp>
      <p:sp>
        <p:nvSpPr>
          <p:cNvPr id="177287" name="直接连接符 564368"/>
          <p:cNvSpPr/>
          <p:nvPr/>
        </p:nvSpPr>
        <p:spPr>
          <a:xfrm>
            <a:off x="7251700" y="3733800"/>
            <a:ext cx="279400" cy="0"/>
          </a:xfrm>
          <a:prstGeom prst="line">
            <a:avLst/>
          </a:prstGeom>
          <a:ln w="25400" cap="flat" cmpd="sng">
            <a:solidFill>
              <a:schemeClr val="tx1"/>
            </a:solidFill>
            <a:prstDash val="solid"/>
            <a:round/>
            <a:headEnd type="none" w="med" len="med"/>
            <a:tailEnd type="none" w="med" len="med"/>
          </a:ln>
        </p:spPr>
      </p:sp>
      <p:sp>
        <p:nvSpPr>
          <p:cNvPr id="177288" name="直接连接符 564369"/>
          <p:cNvSpPr/>
          <p:nvPr/>
        </p:nvSpPr>
        <p:spPr>
          <a:xfrm>
            <a:off x="1231900" y="2819400"/>
            <a:ext cx="6299200" cy="0"/>
          </a:xfrm>
          <a:prstGeom prst="line">
            <a:avLst/>
          </a:prstGeom>
          <a:ln w="25400" cap="flat" cmpd="sng">
            <a:solidFill>
              <a:schemeClr val="tx1"/>
            </a:solidFill>
            <a:prstDash val="solid"/>
            <a:round/>
            <a:headEnd type="none" w="med" len="med"/>
            <a:tailEnd type="none" w="med" len="med"/>
          </a:ln>
        </p:spPr>
      </p:sp>
      <p:sp>
        <p:nvSpPr>
          <p:cNvPr id="177289" name="直接连接符 564370"/>
          <p:cNvSpPr/>
          <p:nvPr/>
        </p:nvSpPr>
        <p:spPr>
          <a:xfrm>
            <a:off x="7543800" y="2832100"/>
            <a:ext cx="0" cy="889000"/>
          </a:xfrm>
          <a:prstGeom prst="line">
            <a:avLst/>
          </a:prstGeom>
          <a:ln w="25400" cap="flat" cmpd="sng">
            <a:solidFill>
              <a:schemeClr val="tx1"/>
            </a:solidFill>
            <a:prstDash val="solid"/>
            <a:round/>
            <a:headEnd type="none" w="med" len="med"/>
            <a:tailEnd type="none" w="med" len="med"/>
          </a:ln>
        </p:spPr>
      </p:sp>
      <p:sp>
        <p:nvSpPr>
          <p:cNvPr id="177290" name="直接连接符 564371"/>
          <p:cNvSpPr/>
          <p:nvPr/>
        </p:nvSpPr>
        <p:spPr>
          <a:xfrm>
            <a:off x="1219200" y="2832100"/>
            <a:ext cx="0" cy="127000"/>
          </a:xfrm>
          <a:prstGeom prst="line">
            <a:avLst/>
          </a:prstGeom>
          <a:ln w="25400" cap="flat" cmpd="sng">
            <a:solidFill>
              <a:schemeClr val="tx1"/>
            </a:solidFill>
            <a:prstDash val="solid"/>
            <a:round/>
            <a:headEnd type="none" w="med" len="med"/>
            <a:tailEnd type="none" w="med" len="med"/>
          </a:ln>
        </p:spPr>
      </p:sp>
      <p:sp>
        <p:nvSpPr>
          <p:cNvPr id="177291" name="直接连接符 564372"/>
          <p:cNvSpPr/>
          <p:nvPr/>
        </p:nvSpPr>
        <p:spPr>
          <a:xfrm>
            <a:off x="4191000" y="3213100"/>
            <a:ext cx="0" cy="127000"/>
          </a:xfrm>
          <a:prstGeom prst="line">
            <a:avLst/>
          </a:prstGeom>
          <a:ln w="25400" cap="flat" cmpd="sng">
            <a:solidFill>
              <a:schemeClr val="tx1"/>
            </a:solidFill>
            <a:prstDash val="solid"/>
            <a:round/>
            <a:headEnd type="none" w="med" len="med"/>
            <a:tailEnd type="none" w="med" len="med"/>
          </a:ln>
        </p:spPr>
      </p:sp>
      <p:sp>
        <p:nvSpPr>
          <p:cNvPr id="177292" name="椭圆 564373"/>
          <p:cNvSpPr/>
          <p:nvPr/>
        </p:nvSpPr>
        <p:spPr>
          <a:xfrm>
            <a:off x="4127500" y="3365500"/>
            <a:ext cx="127000" cy="127000"/>
          </a:xfrm>
          <a:prstGeom prst="ellipse">
            <a:avLst/>
          </a:prstGeom>
          <a:noFill/>
          <a:ln w="25400" cap="flat" cmpd="sng">
            <a:solidFill>
              <a:srgbClr val="CC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293" name="直接连接符 564374"/>
          <p:cNvSpPr/>
          <p:nvPr/>
        </p:nvSpPr>
        <p:spPr>
          <a:xfrm>
            <a:off x="6019800" y="3213100"/>
            <a:ext cx="0" cy="127000"/>
          </a:xfrm>
          <a:prstGeom prst="line">
            <a:avLst/>
          </a:prstGeom>
          <a:ln w="25400" cap="flat" cmpd="sng">
            <a:solidFill>
              <a:schemeClr val="tx1"/>
            </a:solidFill>
            <a:prstDash val="solid"/>
            <a:round/>
            <a:headEnd type="none" w="med" len="med"/>
            <a:tailEnd type="none" w="med" len="med"/>
          </a:ln>
        </p:spPr>
      </p:sp>
      <p:sp>
        <p:nvSpPr>
          <p:cNvPr id="177294" name="椭圆 564375"/>
          <p:cNvSpPr/>
          <p:nvPr/>
        </p:nvSpPr>
        <p:spPr>
          <a:xfrm>
            <a:off x="5956300" y="3365500"/>
            <a:ext cx="127000" cy="127000"/>
          </a:xfrm>
          <a:prstGeom prst="ellipse">
            <a:avLst/>
          </a:prstGeom>
          <a:noFill/>
          <a:ln w="25400" cap="flat" cmpd="sng">
            <a:solidFill>
              <a:srgbClr val="CC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295" name="直接连接符 564376"/>
          <p:cNvSpPr/>
          <p:nvPr/>
        </p:nvSpPr>
        <p:spPr>
          <a:xfrm>
            <a:off x="7924800" y="3213100"/>
            <a:ext cx="0" cy="127000"/>
          </a:xfrm>
          <a:prstGeom prst="line">
            <a:avLst/>
          </a:prstGeom>
          <a:ln w="25400" cap="flat" cmpd="sng">
            <a:solidFill>
              <a:schemeClr val="tx1"/>
            </a:solidFill>
            <a:prstDash val="solid"/>
            <a:round/>
            <a:headEnd type="none" w="med" len="med"/>
            <a:tailEnd type="none" w="med" len="med"/>
          </a:ln>
        </p:spPr>
      </p:sp>
      <p:sp>
        <p:nvSpPr>
          <p:cNvPr id="177296" name="椭圆 564377"/>
          <p:cNvSpPr/>
          <p:nvPr/>
        </p:nvSpPr>
        <p:spPr>
          <a:xfrm>
            <a:off x="7861300" y="3365500"/>
            <a:ext cx="127000" cy="127000"/>
          </a:xfrm>
          <a:prstGeom prst="ellipse">
            <a:avLst/>
          </a:prstGeom>
          <a:noFill/>
          <a:ln w="25400" cap="flat" cmpd="sng">
            <a:solidFill>
              <a:srgbClr val="CC0000"/>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7297" name="直接连接符 564378"/>
          <p:cNvSpPr/>
          <p:nvPr/>
        </p:nvSpPr>
        <p:spPr>
          <a:xfrm flipV="1">
            <a:off x="838200" y="1435100"/>
            <a:ext cx="0" cy="1625600"/>
          </a:xfrm>
          <a:prstGeom prst="line">
            <a:avLst/>
          </a:prstGeom>
          <a:ln w="25400" cap="flat" cmpd="sng">
            <a:solidFill>
              <a:schemeClr val="tx1"/>
            </a:solidFill>
            <a:prstDash val="dash"/>
            <a:round/>
            <a:headEnd type="none" w="med" len="med"/>
            <a:tailEnd type="none" w="med" len="med"/>
          </a:ln>
        </p:spPr>
      </p:sp>
      <p:sp>
        <p:nvSpPr>
          <p:cNvPr id="177298" name="直接连接符 564379"/>
          <p:cNvSpPr/>
          <p:nvPr/>
        </p:nvSpPr>
        <p:spPr>
          <a:xfrm flipV="1">
            <a:off x="2362200" y="1435100"/>
            <a:ext cx="0" cy="1625600"/>
          </a:xfrm>
          <a:prstGeom prst="line">
            <a:avLst/>
          </a:prstGeom>
          <a:ln w="25400" cap="flat" cmpd="sng">
            <a:solidFill>
              <a:schemeClr val="tx1"/>
            </a:solidFill>
            <a:prstDash val="dash"/>
            <a:round/>
            <a:headEnd type="none" w="med" len="med"/>
            <a:tailEnd type="none" w="med" len="med"/>
          </a:ln>
        </p:spPr>
      </p:sp>
      <p:sp>
        <p:nvSpPr>
          <p:cNvPr id="177299" name="直接连接符 564380"/>
          <p:cNvSpPr/>
          <p:nvPr/>
        </p:nvSpPr>
        <p:spPr>
          <a:xfrm flipV="1">
            <a:off x="4191000" y="1435100"/>
            <a:ext cx="0" cy="1625600"/>
          </a:xfrm>
          <a:prstGeom prst="line">
            <a:avLst/>
          </a:prstGeom>
          <a:ln w="25400" cap="flat" cmpd="sng">
            <a:solidFill>
              <a:schemeClr val="tx1"/>
            </a:solidFill>
            <a:prstDash val="dash"/>
            <a:round/>
            <a:headEnd type="none" w="med" len="med"/>
            <a:tailEnd type="none" w="med" len="med"/>
          </a:ln>
        </p:spPr>
      </p:sp>
      <p:sp>
        <p:nvSpPr>
          <p:cNvPr id="177300" name="直接连接符 564381"/>
          <p:cNvSpPr/>
          <p:nvPr/>
        </p:nvSpPr>
        <p:spPr>
          <a:xfrm flipV="1">
            <a:off x="6019800" y="1435100"/>
            <a:ext cx="0" cy="1625600"/>
          </a:xfrm>
          <a:prstGeom prst="line">
            <a:avLst/>
          </a:prstGeom>
          <a:ln w="25400" cap="flat" cmpd="sng">
            <a:solidFill>
              <a:schemeClr val="tx1"/>
            </a:solidFill>
            <a:prstDash val="dash"/>
            <a:round/>
            <a:headEnd type="none" w="med" len="med"/>
            <a:tailEnd type="none" w="med" len="med"/>
          </a:ln>
        </p:spPr>
      </p:sp>
      <p:sp>
        <p:nvSpPr>
          <p:cNvPr id="177301" name="直接连接符 564382"/>
          <p:cNvSpPr/>
          <p:nvPr/>
        </p:nvSpPr>
        <p:spPr>
          <a:xfrm flipV="1">
            <a:off x="7924800" y="1435100"/>
            <a:ext cx="0" cy="1625600"/>
          </a:xfrm>
          <a:prstGeom prst="line">
            <a:avLst/>
          </a:prstGeom>
          <a:ln w="25400" cap="flat" cmpd="sng">
            <a:solidFill>
              <a:schemeClr val="tx1"/>
            </a:solidFill>
            <a:prstDash val="dash"/>
            <a:round/>
            <a:headEnd type="none" w="med" len="med"/>
            <a:tailEnd type="none" w="med" len="med"/>
          </a:ln>
        </p:spPr>
      </p:sp>
      <p:sp>
        <p:nvSpPr>
          <p:cNvPr id="177302" name="直接连接符 564384"/>
          <p:cNvSpPr/>
          <p:nvPr/>
        </p:nvSpPr>
        <p:spPr>
          <a:xfrm>
            <a:off x="838200" y="927100"/>
            <a:ext cx="0" cy="355600"/>
          </a:xfrm>
          <a:prstGeom prst="line">
            <a:avLst/>
          </a:prstGeom>
          <a:ln w="25400" cap="flat" cmpd="sng">
            <a:solidFill>
              <a:schemeClr val="tx1"/>
            </a:solidFill>
            <a:prstDash val="solid"/>
            <a:round/>
            <a:headEnd type="none" w="med" len="med"/>
            <a:tailEnd type="triangle" w="med" len="med"/>
          </a:ln>
        </p:spPr>
      </p:sp>
      <p:sp>
        <p:nvSpPr>
          <p:cNvPr id="177303" name="直接连接符 564385"/>
          <p:cNvSpPr/>
          <p:nvPr/>
        </p:nvSpPr>
        <p:spPr>
          <a:xfrm>
            <a:off x="2362200" y="927100"/>
            <a:ext cx="0" cy="355600"/>
          </a:xfrm>
          <a:prstGeom prst="line">
            <a:avLst/>
          </a:prstGeom>
          <a:ln w="25400" cap="flat" cmpd="sng">
            <a:solidFill>
              <a:schemeClr val="tx1"/>
            </a:solidFill>
            <a:prstDash val="solid"/>
            <a:round/>
            <a:headEnd type="none" w="med" len="med"/>
            <a:tailEnd type="triangle" w="med" len="med"/>
          </a:ln>
        </p:spPr>
      </p:sp>
      <p:sp>
        <p:nvSpPr>
          <p:cNvPr id="177304" name="直接连接符 564386"/>
          <p:cNvSpPr/>
          <p:nvPr/>
        </p:nvSpPr>
        <p:spPr>
          <a:xfrm>
            <a:off x="4191000" y="927100"/>
            <a:ext cx="0" cy="355600"/>
          </a:xfrm>
          <a:prstGeom prst="line">
            <a:avLst/>
          </a:prstGeom>
          <a:ln w="25400" cap="flat" cmpd="sng">
            <a:solidFill>
              <a:schemeClr val="tx1"/>
            </a:solidFill>
            <a:prstDash val="solid"/>
            <a:round/>
            <a:headEnd type="none" w="med" len="med"/>
            <a:tailEnd type="triangle" w="med" len="med"/>
          </a:ln>
        </p:spPr>
      </p:sp>
      <p:sp>
        <p:nvSpPr>
          <p:cNvPr id="177305" name="直接连接符 564387"/>
          <p:cNvSpPr/>
          <p:nvPr/>
        </p:nvSpPr>
        <p:spPr>
          <a:xfrm>
            <a:off x="6019800" y="927100"/>
            <a:ext cx="0" cy="355600"/>
          </a:xfrm>
          <a:prstGeom prst="line">
            <a:avLst/>
          </a:prstGeom>
          <a:ln w="25400" cap="flat" cmpd="sng">
            <a:solidFill>
              <a:schemeClr val="tx1"/>
            </a:solidFill>
            <a:prstDash val="solid"/>
            <a:round/>
            <a:headEnd type="none" w="med" len="med"/>
            <a:tailEnd type="triangle" w="med" len="med"/>
          </a:ln>
        </p:spPr>
      </p:sp>
      <p:sp>
        <p:nvSpPr>
          <p:cNvPr id="177306" name="直接连接符 564388"/>
          <p:cNvSpPr/>
          <p:nvPr/>
        </p:nvSpPr>
        <p:spPr>
          <a:xfrm>
            <a:off x="7924800" y="927100"/>
            <a:ext cx="0" cy="355600"/>
          </a:xfrm>
          <a:prstGeom prst="line">
            <a:avLst/>
          </a:prstGeom>
          <a:ln w="25400" cap="flat" cmpd="sng">
            <a:solidFill>
              <a:schemeClr val="tx1"/>
            </a:solidFill>
            <a:prstDash val="solid"/>
            <a:round/>
            <a:headEnd type="none" w="med" len="med"/>
            <a:tailEnd type="triangle" w="med" len="med"/>
          </a:ln>
        </p:spPr>
      </p:sp>
      <p:sp>
        <p:nvSpPr>
          <p:cNvPr id="177307" name="直接连接符 564389"/>
          <p:cNvSpPr/>
          <p:nvPr/>
        </p:nvSpPr>
        <p:spPr>
          <a:xfrm flipH="1">
            <a:off x="368300" y="914400"/>
            <a:ext cx="482600" cy="0"/>
          </a:xfrm>
          <a:prstGeom prst="line">
            <a:avLst/>
          </a:prstGeom>
          <a:ln w="25400" cap="flat" cmpd="sng">
            <a:solidFill>
              <a:schemeClr val="tx1"/>
            </a:solidFill>
            <a:prstDash val="solid"/>
            <a:round/>
            <a:headEnd type="none" w="med" len="med"/>
            <a:tailEnd type="none" w="med" len="med"/>
          </a:ln>
        </p:spPr>
      </p:sp>
      <p:sp>
        <p:nvSpPr>
          <p:cNvPr id="177308" name="直接连接符 564390"/>
          <p:cNvSpPr/>
          <p:nvPr/>
        </p:nvSpPr>
        <p:spPr>
          <a:xfrm flipH="1">
            <a:off x="1587500" y="914400"/>
            <a:ext cx="787400" cy="0"/>
          </a:xfrm>
          <a:prstGeom prst="line">
            <a:avLst/>
          </a:prstGeom>
          <a:ln w="25400" cap="flat" cmpd="sng">
            <a:solidFill>
              <a:schemeClr val="tx1"/>
            </a:solidFill>
            <a:prstDash val="solid"/>
            <a:round/>
            <a:headEnd type="none" w="med" len="med"/>
            <a:tailEnd type="none" w="med" len="med"/>
          </a:ln>
        </p:spPr>
      </p:sp>
      <p:sp>
        <p:nvSpPr>
          <p:cNvPr id="177309" name="直接连接符 564391"/>
          <p:cNvSpPr/>
          <p:nvPr/>
        </p:nvSpPr>
        <p:spPr>
          <a:xfrm>
            <a:off x="1600200" y="927100"/>
            <a:ext cx="0" cy="355600"/>
          </a:xfrm>
          <a:prstGeom prst="line">
            <a:avLst/>
          </a:prstGeom>
          <a:ln w="25400" cap="flat" cmpd="sng">
            <a:solidFill>
              <a:schemeClr val="tx1"/>
            </a:solidFill>
            <a:prstDash val="solid"/>
            <a:round/>
            <a:headEnd type="none" w="med" len="med"/>
            <a:tailEnd type="none" w="med" len="med"/>
          </a:ln>
        </p:spPr>
      </p:sp>
      <p:sp>
        <p:nvSpPr>
          <p:cNvPr id="177310" name="直接连接符 564392"/>
          <p:cNvSpPr/>
          <p:nvPr/>
        </p:nvSpPr>
        <p:spPr>
          <a:xfrm flipH="1">
            <a:off x="3263900" y="914400"/>
            <a:ext cx="939800" cy="0"/>
          </a:xfrm>
          <a:prstGeom prst="line">
            <a:avLst/>
          </a:prstGeom>
          <a:ln w="25400" cap="flat" cmpd="sng">
            <a:solidFill>
              <a:schemeClr val="tx1"/>
            </a:solidFill>
            <a:prstDash val="solid"/>
            <a:round/>
            <a:headEnd type="none" w="med" len="med"/>
            <a:tailEnd type="none" w="med" len="med"/>
          </a:ln>
        </p:spPr>
      </p:sp>
      <p:sp>
        <p:nvSpPr>
          <p:cNvPr id="177311" name="直接连接符 564393"/>
          <p:cNvSpPr/>
          <p:nvPr/>
        </p:nvSpPr>
        <p:spPr>
          <a:xfrm>
            <a:off x="3276600" y="927100"/>
            <a:ext cx="0" cy="355600"/>
          </a:xfrm>
          <a:prstGeom prst="line">
            <a:avLst/>
          </a:prstGeom>
          <a:ln w="25400" cap="flat" cmpd="sng">
            <a:solidFill>
              <a:schemeClr val="tx1"/>
            </a:solidFill>
            <a:prstDash val="solid"/>
            <a:round/>
            <a:headEnd type="none" w="med" len="med"/>
            <a:tailEnd type="none" w="med" len="med"/>
          </a:ln>
        </p:spPr>
      </p:sp>
      <p:sp>
        <p:nvSpPr>
          <p:cNvPr id="177312" name="直接连接符 564394"/>
          <p:cNvSpPr/>
          <p:nvPr/>
        </p:nvSpPr>
        <p:spPr>
          <a:xfrm flipH="1">
            <a:off x="5092700" y="914400"/>
            <a:ext cx="939800" cy="0"/>
          </a:xfrm>
          <a:prstGeom prst="line">
            <a:avLst/>
          </a:prstGeom>
          <a:ln w="25400" cap="flat" cmpd="sng">
            <a:solidFill>
              <a:schemeClr val="tx1"/>
            </a:solidFill>
            <a:prstDash val="solid"/>
            <a:round/>
            <a:headEnd type="none" w="med" len="med"/>
            <a:tailEnd type="none" w="med" len="med"/>
          </a:ln>
        </p:spPr>
      </p:sp>
      <p:sp>
        <p:nvSpPr>
          <p:cNvPr id="177313" name="直接连接符 564395"/>
          <p:cNvSpPr/>
          <p:nvPr/>
        </p:nvSpPr>
        <p:spPr>
          <a:xfrm>
            <a:off x="5105400" y="927100"/>
            <a:ext cx="0" cy="355600"/>
          </a:xfrm>
          <a:prstGeom prst="line">
            <a:avLst/>
          </a:prstGeom>
          <a:ln w="25400" cap="flat" cmpd="sng">
            <a:solidFill>
              <a:schemeClr val="tx1"/>
            </a:solidFill>
            <a:prstDash val="solid"/>
            <a:round/>
            <a:headEnd type="none" w="med" len="med"/>
            <a:tailEnd type="none" w="med" len="med"/>
          </a:ln>
        </p:spPr>
      </p:sp>
      <p:sp>
        <p:nvSpPr>
          <p:cNvPr id="177314" name="直接连接符 564396"/>
          <p:cNvSpPr/>
          <p:nvPr/>
        </p:nvSpPr>
        <p:spPr>
          <a:xfrm flipH="1">
            <a:off x="6997700" y="914400"/>
            <a:ext cx="939800" cy="0"/>
          </a:xfrm>
          <a:prstGeom prst="line">
            <a:avLst/>
          </a:prstGeom>
          <a:ln w="25400" cap="flat" cmpd="sng">
            <a:solidFill>
              <a:schemeClr val="tx1"/>
            </a:solidFill>
            <a:prstDash val="solid"/>
            <a:round/>
            <a:headEnd type="none" w="med" len="med"/>
            <a:tailEnd type="none" w="med" len="med"/>
          </a:ln>
        </p:spPr>
      </p:sp>
      <p:sp>
        <p:nvSpPr>
          <p:cNvPr id="177315" name="直接连接符 564397"/>
          <p:cNvSpPr/>
          <p:nvPr/>
        </p:nvSpPr>
        <p:spPr>
          <a:xfrm>
            <a:off x="7010400" y="927100"/>
            <a:ext cx="0" cy="355600"/>
          </a:xfrm>
          <a:prstGeom prst="line">
            <a:avLst/>
          </a:prstGeom>
          <a:ln w="25400" cap="flat" cmpd="sng">
            <a:solidFill>
              <a:schemeClr val="tx1"/>
            </a:solidFill>
            <a:prstDash val="solid"/>
            <a:round/>
            <a:headEnd type="none" w="med" len="med"/>
            <a:tailEnd type="none" w="med" len="med"/>
          </a:ln>
        </p:spPr>
      </p:sp>
      <p:sp>
        <p:nvSpPr>
          <p:cNvPr id="177316" name="直接连接符 564398"/>
          <p:cNvSpPr/>
          <p:nvPr/>
        </p:nvSpPr>
        <p:spPr>
          <a:xfrm flipH="1">
            <a:off x="825500" y="1295400"/>
            <a:ext cx="787400" cy="0"/>
          </a:xfrm>
          <a:prstGeom prst="line">
            <a:avLst/>
          </a:prstGeom>
          <a:ln w="25400" cap="flat" cmpd="sng">
            <a:solidFill>
              <a:schemeClr val="tx1"/>
            </a:solidFill>
            <a:prstDash val="solid"/>
            <a:round/>
            <a:headEnd type="none" w="med" len="med"/>
            <a:tailEnd type="none" w="med" len="med"/>
          </a:ln>
        </p:spPr>
      </p:sp>
      <p:sp>
        <p:nvSpPr>
          <p:cNvPr id="177317" name="直接连接符 564399"/>
          <p:cNvSpPr/>
          <p:nvPr/>
        </p:nvSpPr>
        <p:spPr>
          <a:xfrm flipH="1">
            <a:off x="2349500" y="1295400"/>
            <a:ext cx="939800" cy="0"/>
          </a:xfrm>
          <a:prstGeom prst="line">
            <a:avLst/>
          </a:prstGeom>
          <a:ln w="25400" cap="flat" cmpd="sng">
            <a:solidFill>
              <a:schemeClr val="tx1"/>
            </a:solidFill>
            <a:prstDash val="solid"/>
            <a:round/>
            <a:headEnd type="none" w="med" len="med"/>
            <a:tailEnd type="none" w="med" len="med"/>
          </a:ln>
        </p:spPr>
      </p:sp>
      <p:sp>
        <p:nvSpPr>
          <p:cNvPr id="177318" name="直接连接符 564400"/>
          <p:cNvSpPr/>
          <p:nvPr/>
        </p:nvSpPr>
        <p:spPr>
          <a:xfrm flipH="1">
            <a:off x="4178300" y="1295400"/>
            <a:ext cx="939800" cy="0"/>
          </a:xfrm>
          <a:prstGeom prst="line">
            <a:avLst/>
          </a:prstGeom>
          <a:ln w="25400" cap="flat" cmpd="sng">
            <a:solidFill>
              <a:schemeClr val="tx1"/>
            </a:solidFill>
            <a:prstDash val="solid"/>
            <a:round/>
            <a:headEnd type="none" w="med" len="med"/>
            <a:tailEnd type="none" w="med" len="med"/>
          </a:ln>
        </p:spPr>
      </p:sp>
      <p:sp>
        <p:nvSpPr>
          <p:cNvPr id="177319" name="直接连接符 564401"/>
          <p:cNvSpPr/>
          <p:nvPr/>
        </p:nvSpPr>
        <p:spPr>
          <a:xfrm flipH="1">
            <a:off x="6007100" y="1295400"/>
            <a:ext cx="1016000" cy="0"/>
          </a:xfrm>
          <a:prstGeom prst="line">
            <a:avLst/>
          </a:prstGeom>
          <a:ln w="25400" cap="flat" cmpd="sng">
            <a:solidFill>
              <a:schemeClr val="tx1"/>
            </a:solidFill>
            <a:prstDash val="solid"/>
            <a:round/>
            <a:headEnd type="none" w="med" len="med"/>
            <a:tailEnd type="none" w="med" len="med"/>
          </a:ln>
        </p:spPr>
      </p:sp>
      <p:sp>
        <p:nvSpPr>
          <p:cNvPr id="177320" name="直接连接符 564402"/>
          <p:cNvSpPr/>
          <p:nvPr/>
        </p:nvSpPr>
        <p:spPr>
          <a:xfrm flipH="1">
            <a:off x="7912100" y="1295400"/>
            <a:ext cx="558800" cy="0"/>
          </a:xfrm>
          <a:prstGeom prst="line">
            <a:avLst/>
          </a:prstGeom>
          <a:ln w="25400" cap="flat" cmpd="sng">
            <a:solidFill>
              <a:schemeClr val="tx1"/>
            </a:solidFill>
            <a:prstDash val="solid"/>
            <a:round/>
            <a:headEnd type="none" w="med" len="med"/>
            <a:tailEnd type="none" w="med" len="med"/>
          </a:ln>
        </p:spPr>
      </p:sp>
      <p:sp>
        <p:nvSpPr>
          <p:cNvPr id="177321" name="矩形 564403"/>
          <p:cNvSpPr/>
          <p:nvPr/>
        </p:nvSpPr>
        <p:spPr>
          <a:xfrm>
            <a:off x="290513" y="990600"/>
            <a:ext cx="496887" cy="333375"/>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Clk</a:t>
            </a:r>
            <a:endParaRPr lang="en-US" altLang="zh-CN">
              <a:latin typeface="Times New Roman" panose="02020603050405020304" pitchFamily="18" charset="0"/>
              <a:ea typeface="宋体" panose="02010600030101010101" pitchFamily="2" charset="-122"/>
            </a:endParaRPr>
          </a:p>
        </p:txBody>
      </p:sp>
      <p:sp>
        <p:nvSpPr>
          <p:cNvPr id="177322" name="直接连接符 564404"/>
          <p:cNvSpPr/>
          <p:nvPr/>
        </p:nvSpPr>
        <p:spPr>
          <a:xfrm>
            <a:off x="990600" y="1460500"/>
            <a:ext cx="0" cy="279400"/>
          </a:xfrm>
          <a:prstGeom prst="line">
            <a:avLst/>
          </a:prstGeom>
          <a:ln w="25400" cap="flat" cmpd="sng">
            <a:solidFill>
              <a:schemeClr val="tx1"/>
            </a:solidFill>
            <a:prstDash val="sysDot"/>
            <a:round/>
            <a:headEnd type="none" w="med" len="med"/>
            <a:tailEnd type="none" w="med" len="med"/>
          </a:ln>
        </p:spPr>
      </p:sp>
      <p:sp>
        <p:nvSpPr>
          <p:cNvPr id="177323" name="直接连接符 564405"/>
          <p:cNvSpPr/>
          <p:nvPr/>
        </p:nvSpPr>
        <p:spPr>
          <a:xfrm>
            <a:off x="1003300" y="1600200"/>
            <a:ext cx="1346200" cy="0"/>
          </a:xfrm>
          <a:prstGeom prst="line">
            <a:avLst/>
          </a:prstGeom>
          <a:ln w="25400" cap="flat" cmpd="sng">
            <a:solidFill>
              <a:schemeClr val="tx1"/>
            </a:solidFill>
            <a:prstDash val="solid"/>
            <a:round/>
            <a:headEnd type="triangle" w="med" len="med"/>
            <a:tailEnd type="triangle" w="med" len="med"/>
          </a:ln>
        </p:spPr>
      </p:sp>
      <p:sp>
        <p:nvSpPr>
          <p:cNvPr id="177324" name="直接连接符 564406"/>
          <p:cNvSpPr/>
          <p:nvPr/>
        </p:nvSpPr>
        <p:spPr>
          <a:xfrm>
            <a:off x="2514600" y="1460500"/>
            <a:ext cx="0" cy="279400"/>
          </a:xfrm>
          <a:prstGeom prst="line">
            <a:avLst/>
          </a:prstGeom>
          <a:ln w="25400" cap="flat" cmpd="sng">
            <a:solidFill>
              <a:schemeClr val="tx1"/>
            </a:solidFill>
            <a:prstDash val="sysDot"/>
            <a:round/>
            <a:headEnd type="none" w="med" len="med"/>
            <a:tailEnd type="none" w="med" len="med"/>
          </a:ln>
        </p:spPr>
      </p:sp>
      <p:sp>
        <p:nvSpPr>
          <p:cNvPr id="177325" name="直接连接符 564407"/>
          <p:cNvSpPr/>
          <p:nvPr/>
        </p:nvSpPr>
        <p:spPr>
          <a:xfrm>
            <a:off x="2527300" y="1600200"/>
            <a:ext cx="1574800" cy="0"/>
          </a:xfrm>
          <a:prstGeom prst="line">
            <a:avLst/>
          </a:prstGeom>
          <a:ln w="25400" cap="flat" cmpd="sng">
            <a:solidFill>
              <a:schemeClr val="tx1"/>
            </a:solidFill>
            <a:prstDash val="solid"/>
            <a:round/>
            <a:headEnd type="triangle" w="med" len="med"/>
            <a:tailEnd type="triangle" w="med" len="med"/>
          </a:ln>
        </p:spPr>
      </p:sp>
      <p:sp>
        <p:nvSpPr>
          <p:cNvPr id="177326" name="直接连接符 564408"/>
          <p:cNvSpPr/>
          <p:nvPr/>
        </p:nvSpPr>
        <p:spPr>
          <a:xfrm>
            <a:off x="4343400" y="1460500"/>
            <a:ext cx="0" cy="279400"/>
          </a:xfrm>
          <a:prstGeom prst="line">
            <a:avLst/>
          </a:prstGeom>
          <a:ln w="25400" cap="flat" cmpd="sng">
            <a:solidFill>
              <a:schemeClr val="tx1"/>
            </a:solidFill>
            <a:prstDash val="sysDot"/>
            <a:round/>
            <a:headEnd type="none" w="med" len="med"/>
            <a:tailEnd type="none" w="med" len="med"/>
          </a:ln>
        </p:spPr>
      </p:sp>
      <p:sp>
        <p:nvSpPr>
          <p:cNvPr id="177327" name="直接连接符 564409"/>
          <p:cNvSpPr/>
          <p:nvPr/>
        </p:nvSpPr>
        <p:spPr>
          <a:xfrm>
            <a:off x="4356100" y="1600200"/>
            <a:ext cx="1651000" cy="0"/>
          </a:xfrm>
          <a:prstGeom prst="line">
            <a:avLst/>
          </a:prstGeom>
          <a:ln w="25400" cap="flat" cmpd="sng">
            <a:solidFill>
              <a:schemeClr val="tx1"/>
            </a:solidFill>
            <a:prstDash val="solid"/>
            <a:round/>
            <a:headEnd type="triangle" w="med" len="med"/>
            <a:tailEnd type="triangle" w="med" len="med"/>
          </a:ln>
        </p:spPr>
      </p:sp>
      <p:sp>
        <p:nvSpPr>
          <p:cNvPr id="177328" name="直接连接符 564410"/>
          <p:cNvSpPr/>
          <p:nvPr/>
        </p:nvSpPr>
        <p:spPr>
          <a:xfrm>
            <a:off x="6172200" y="1460500"/>
            <a:ext cx="0" cy="279400"/>
          </a:xfrm>
          <a:prstGeom prst="line">
            <a:avLst/>
          </a:prstGeom>
          <a:ln w="25400" cap="flat" cmpd="sng">
            <a:solidFill>
              <a:schemeClr val="tx1"/>
            </a:solidFill>
            <a:prstDash val="sysDot"/>
            <a:round/>
            <a:headEnd type="none" w="med" len="med"/>
            <a:tailEnd type="none" w="med" len="med"/>
          </a:ln>
        </p:spPr>
      </p:sp>
      <p:sp>
        <p:nvSpPr>
          <p:cNvPr id="177329" name="直接连接符 564411"/>
          <p:cNvSpPr/>
          <p:nvPr/>
        </p:nvSpPr>
        <p:spPr>
          <a:xfrm>
            <a:off x="6184900" y="1600200"/>
            <a:ext cx="1727200" cy="0"/>
          </a:xfrm>
          <a:prstGeom prst="line">
            <a:avLst/>
          </a:prstGeom>
          <a:ln w="25400" cap="flat" cmpd="sng">
            <a:solidFill>
              <a:schemeClr val="tx1"/>
            </a:solidFill>
            <a:prstDash val="solid"/>
            <a:round/>
            <a:headEnd type="triangle" w="med" len="med"/>
            <a:tailEnd type="triangle" w="med" len="med"/>
          </a:ln>
        </p:spPr>
      </p:sp>
      <p:sp>
        <p:nvSpPr>
          <p:cNvPr id="177330" name="直接连接符 564412"/>
          <p:cNvSpPr/>
          <p:nvPr/>
        </p:nvSpPr>
        <p:spPr>
          <a:xfrm>
            <a:off x="8077200" y="1460500"/>
            <a:ext cx="0" cy="279400"/>
          </a:xfrm>
          <a:prstGeom prst="line">
            <a:avLst/>
          </a:prstGeom>
          <a:ln w="25400" cap="flat" cmpd="sng">
            <a:solidFill>
              <a:schemeClr val="tx1"/>
            </a:solidFill>
            <a:prstDash val="sysDot"/>
            <a:round/>
            <a:headEnd type="none" w="med" len="med"/>
            <a:tailEnd type="none" w="med" len="med"/>
          </a:ln>
        </p:spPr>
      </p:sp>
      <p:sp>
        <p:nvSpPr>
          <p:cNvPr id="177331" name="直接连接符 564413"/>
          <p:cNvSpPr/>
          <p:nvPr/>
        </p:nvSpPr>
        <p:spPr>
          <a:xfrm>
            <a:off x="8089900" y="1600200"/>
            <a:ext cx="584200" cy="0"/>
          </a:xfrm>
          <a:prstGeom prst="line">
            <a:avLst/>
          </a:prstGeom>
          <a:ln w="25400" cap="flat" cmpd="sng">
            <a:solidFill>
              <a:schemeClr val="tx1"/>
            </a:solidFill>
            <a:prstDash val="solid"/>
            <a:round/>
            <a:headEnd type="triangle" w="med" len="med"/>
            <a:tailEnd type="none" w="med" len="med"/>
          </a:ln>
        </p:spPr>
      </p:sp>
      <p:sp>
        <p:nvSpPr>
          <p:cNvPr id="177332" name="矩形 564414"/>
          <p:cNvSpPr/>
          <p:nvPr/>
        </p:nvSpPr>
        <p:spPr>
          <a:xfrm>
            <a:off x="1084263" y="1676400"/>
            <a:ext cx="1171575" cy="333375"/>
          </a:xfrm>
          <a:prstGeom prst="rect">
            <a:avLst/>
          </a:prstGeom>
          <a:noFill/>
          <a:ln w="12700">
            <a:noFill/>
          </a:ln>
        </p:spPr>
        <p:txBody>
          <a:bodyPr wrap="none" lIns="90488" tIns="44450" rIns="90488" bIns="44450" anchor="t" anchorCtr="0">
            <a:spAutoFit/>
          </a:bodyPr>
          <a:p>
            <a:pPr eaLnBrk="0" hangingPunct="0"/>
            <a:r>
              <a:rPr lang="en-US" altLang="zh-CN" err="1">
                <a:latin typeface="微软雅黑" panose="020B0503020204020204" pitchFamily="34" charset="-122"/>
                <a:ea typeface="微软雅黑" panose="020B0503020204020204" pitchFamily="34" charset="-122"/>
              </a:rPr>
              <a:t>Ifetch</a:t>
            </a:r>
            <a:r>
              <a:rPr lang="en-US" altLang="zh-CN">
                <a:latin typeface="微软雅黑" panose="020B0503020204020204" pitchFamily="34" charset="-122"/>
                <a:ea typeface="微软雅黑" panose="020B0503020204020204" pitchFamily="34" charset="-122"/>
              </a:rPr>
              <a:t> (IF)</a:t>
            </a:r>
            <a:endParaRPr lang="en-US" altLang="zh-CN">
              <a:latin typeface="微软雅黑" panose="020B0503020204020204" pitchFamily="34" charset="-122"/>
              <a:ea typeface="微软雅黑" panose="020B0503020204020204" pitchFamily="34" charset="-122"/>
            </a:endParaRPr>
          </a:p>
        </p:txBody>
      </p:sp>
      <p:sp>
        <p:nvSpPr>
          <p:cNvPr id="177333" name="矩形 564415"/>
          <p:cNvSpPr/>
          <p:nvPr/>
        </p:nvSpPr>
        <p:spPr>
          <a:xfrm>
            <a:off x="2665413" y="1676400"/>
            <a:ext cx="1504950" cy="333375"/>
          </a:xfrm>
          <a:prstGeom prst="rect">
            <a:avLst/>
          </a:prstGeom>
          <a:noFill/>
          <a:ln w="12700">
            <a:noFill/>
          </a:ln>
        </p:spPr>
        <p:txBody>
          <a:bodyPr wrap="none" lIns="90488" tIns="44450" rIns="90488" bIns="44450" anchor="t" anchorCtr="0">
            <a:spAutoFit/>
          </a:bodyPr>
          <a:p>
            <a:pPr eaLnBrk="0" hangingPunct="0"/>
            <a:r>
              <a:rPr lang="en-US" altLang="zh-CN" err="1">
                <a:latin typeface="微软雅黑" panose="020B0503020204020204" pitchFamily="34" charset="-122"/>
                <a:ea typeface="微软雅黑" panose="020B0503020204020204" pitchFamily="34" charset="-122"/>
              </a:rPr>
              <a:t>Reg</a:t>
            </a:r>
            <a:r>
              <a:rPr lang="en-US" altLang="zh-CN">
                <a:latin typeface="微软雅黑" panose="020B0503020204020204" pitchFamily="34" charset="-122"/>
                <a:ea typeface="微软雅黑" panose="020B0503020204020204" pitchFamily="34" charset="-122"/>
              </a:rPr>
              <a:t>/Dec (ID)</a:t>
            </a:r>
            <a:endParaRPr lang="en-US" altLang="zh-CN">
              <a:latin typeface="微软雅黑" panose="020B0503020204020204" pitchFamily="34" charset="-122"/>
              <a:ea typeface="微软雅黑" panose="020B0503020204020204" pitchFamily="34" charset="-122"/>
            </a:endParaRPr>
          </a:p>
        </p:txBody>
      </p:sp>
      <p:sp>
        <p:nvSpPr>
          <p:cNvPr id="177334" name="矩形 564416"/>
          <p:cNvSpPr/>
          <p:nvPr/>
        </p:nvSpPr>
        <p:spPr>
          <a:xfrm>
            <a:off x="4645025" y="1676400"/>
            <a:ext cx="1120775" cy="333375"/>
          </a:xfrm>
          <a:prstGeom prst="rect">
            <a:avLst/>
          </a:prstGeom>
          <a:noFill/>
          <a:ln w="12700">
            <a:noFill/>
          </a:ln>
        </p:spPr>
        <p:txBody>
          <a:bodyPr lIns="90488" tIns="44450" rIns="90488" bIns="44450" anchor="t" anchorCtr="0">
            <a:spAutoFit/>
          </a:bodyPr>
          <a:p>
            <a:pPr eaLnBrk="0" hangingPunct="0"/>
            <a:r>
              <a:rPr lang="en-US" altLang="zh-CN">
                <a:latin typeface="微软雅黑" panose="020B0503020204020204" pitchFamily="34" charset="-122"/>
                <a:ea typeface="微软雅黑" panose="020B0503020204020204" pitchFamily="34" charset="-122"/>
              </a:rPr>
              <a:t>Exec (Ex)</a:t>
            </a:r>
            <a:endParaRPr lang="en-US" altLang="zh-CN">
              <a:latin typeface="微软雅黑" panose="020B0503020204020204" pitchFamily="34" charset="-122"/>
              <a:ea typeface="微软雅黑" panose="020B0503020204020204" pitchFamily="34" charset="-122"/>
            </a:endParaRPr>
          </a:p>
        </p:txBody>
      </p:sp>
      <p:sp>
        <p:nvSpPr>
          <p:cNvPr id="177335" name="矩形 564417"/>
          <p:cNvSpPr/>
          <p:nvPr/>
        </p:nvSpPr>
        <p:spPr>
          <a:xfrm>
            <a:off x="6767513" y="1676400"/>
            <a:ext cx="709612" cy="333375"/>
          </a:xfrm>
          <a:prstGeom prst="rect">
            <a:avLst/>
          </a:prstGeom>
          <a:noFill/>
          <a:ln w="12700">
            <a:noFill/>
          </a:ln>
        </p:spPr>
        <p:txBody>
          <a:bodyPr wrap="none" lIns="90488" tIns="44450" rIns="90488" bIns="44450" anchor="t" anchorCtr="0">
            <a:spAutoFit/>
          </a:bodyPr>
          <a:p>
            <a:pPr eaLnBrk="0" hangingPunct="0"/>
            <a:r>
              <a:rPr lang="en-US" altLang="zh-CN" err="1">
                <a:latin typeface="微软雅黑" panose="020B0503020204020204" pitchFamily="34" charset="-122"/>
                <a:ea typeface="微软雅黑" panose="020B0503020204020204" pitchFamily="34" charset="-122"/>
              </a:rPr>
              <a:t>Mem</a:t>
            </a:r>
            <a:endParaRPr lang="en-US" altLang="zh-CN">
              <a:latin typeface="微软雅黑" panose="020B0503020204020204" pitchFamily="34" charset="-122"/>
              <a:ea typeface="微软雅黑" panose="020B0503020204020204" pitchFamily="34" charset="-122"/>
            </a:endParaRPr>
          </a:p>
        </p:txBody>
      </p:sp>
      <p:sp>
        <p:nvSpPr>
          <p:cNvPr id="177336" name="矩形 564418"/>
          <p:cNvSpPr/>
          <p:nvPr/>
        </p:nvSpPr>
        <p:spPr>
          <a:xfrm>
            <a:off x="8291513" y="1676400"/>
            <a:ext cx="485775" cy="333375"/>
          </a:xfrm>
          <a:prstGeom prst="rect">
            <a:avLst/>
          </a:prstGeom>
          <a:noFill/>
          <a:ln w="12700">
            <a:noFill/>
          </a:ln>
        </p:spPr>
        <p:txBody>
          <a:bodyPr wrap="none" lIns="90488" tIns="44450" rIns="90488" bIns="44450" anchor="t" anchorCtr="0">
            <a:spAutoFit/>
          </a:bodyPr>
          <a:p>
            <a:pPr eaLnBrk="0" hangingPunct="0"/>
            <a:r>
              <a:rPr lang="en-US" altLang="zh-CN" err="1">
                <a:latin typeface="微软雅黑" panose="020B0503020204020204" pitchFamily="34" charset="-122"/>
                <a:ea typeface="微软雅黑" panose="020B0503020204020204" pitchFamily="34" charset="-122"/>
              </a:rPr>
              <a:t>Wr</a:t>
            </a:r>
            <a:endParaRPr lang="en-US" altLang="zh-CN">
              <a:latin typeface="微软雅黑" panose="020B0503020204020204" pitchFamily="34" charset="-122"/>
              <a:ea typeface="微软雅黑" panose="020B0503020204020204" pitchFamily="34" charset="-122"/>
            </a:endParaRPr>
          </a:p>
        </p:txBody>
      </p:sp>
      <p:grpSp>
        <p:nvGrpSpPr>
          <p:cNvPr id="177337" name="组合 564435"/>
          <p:cNvGrpSpPr/>
          <p:nvPr/>
        </p:nvGrpSpPr>
        <p:grpSpPr>
          <a:xfrm>
            <a:off x="2414588" y="1682750"/>
            <a:ext cx="1911350" cy="933450"/>
            <a:chOff x="1503" y="1087"/>
            <a:chExt cx="1204" cy="588"/>
          </a:xfrm>
        </p:grpSpPr>
        <p:sp>
          <p:nvSpPr>
            <p:cNvPr id="177338" name="文本框 564420"/>
            <p:cNvSpPr txBox="1"/>
            <p:nvPr/>
          </p:nvSpPr>
          <p:spPr>
            <a:xfrm>
              <a:off x="1503" y="1463"/>
              <a:ext cx="1204" cy="212"/>
            </a:xfrm>
            <a:prstGeom prst="rect">
              <a:avLst/>
            </a:prstGeom>
            <a:noFill/>
            <a:ln w="12700">
              <a:noFill/>
            </a:ln>
          </p:spPr>
          <p:txBody>
            <a:bodyPr wrap="none" anchor="t" anchorCtr="0">
              <a:spAutoFit/>
            </a:bodyPr>
            <a:p>
              <a:pPr eaLnBrk="0" hangingPunct="0"/>
              <a:r>
                <a:rPr lang="en-US" altLang="zh-CN">
                  <a:solidFill>
                    <a:schemeClr val="accent1"/>
                  </a:solidFill>
                  <a:latin typeface="微软雅黑" panose="020B0503020204020204" pitchFamily="34" charset="-122"/>
                  <a:ea typeface="微软雅黑" panose="020B0503020204020204" pitchFamily="34" charset="-122"/>
                </a:rPr>
                <a:t>Clock-to-Q delay</a:t>
              </a:r>
              <a:endParaRPr lang="en-US" altLang="zh-CN">
                <a:solidFill>
                  <a:schemeClr val="accent1"/>
                </a:solidFill>
                <a:latin typeface="微软雅黑" panose="020B0503020204020204" pitchFamily="34" charset="-122"/>
                <a:ea typeface="微软雅黑" panose="020B0503020204020204" pitchFamily="34" charset="-122"/>
              </a:endParaRPr>
            </a:p>
          </p:txBody>
        </p:sp>
        <p:sp>
          <p:nvSpPr>
            <p:cNvPr id="177339" name="直接连接符 564421"/>
            <p:cNvSpPr/>
            <p:nvPr/>
          </p:nvSpPr>
          <p:spPr>
            <a:xfrm flipH="1" flipV="1">
              <a:off x="1518" y="1087"/>
              <a:ext cx="310" cy="416"/>
            </a:xfrm>
            <a:prstGeom prst="line">
              <a:avLst/>
            </a:prstGeom>
            <a:ln w="15875" cap="flat" cmpd="sng">
              <a:solidFill>
                <a:schemeClr val="accent1"/>
              </a:solidFill>
              <a:prstDash val="solid"/>
              <a:round/>
              <a:headEnd type="none" w="med" len="med"/>
              <a:tailEnd type="triangle" w="sm" len="lg"/>
            </a:ln>
          </p:spPr>
        </p:sp>
      </p:grpSp>
      <p:grpSp>
        <p:nvGrpSpPr>
          <p:cNvPr id="177340" name="组合 564442"/>
          <p:cNvGrpSpPr/>
          <p:nvPr/>
        </p:nvGrpSpPr>
        <p:grpSpPr>
          <a:xfrm>
            <a:off x="1104900" y="5397500"/>
            <a:ext cx="6659563" cy="827088"/>
            <a:chOff x="696" y="3400"/>
            <a:chExt cx="4195" cy="430"/>
          </a:xfrm>
        </p:grpSpPr>
        <p:sp>
          <p:nvSpPr>
            <p:cNvPr id="177341" name="直接连接符 564437"/>
            <p:cNvSpPr/>
            <p:nvPr/>
          </p:nvSpPr>
          <p:spPr>
            <a:xfrm flipV="1">
              <a:off x="696" y="3530"/>
              <a:ext cx="676" cy="282"/>
            </a:xfrm>
            <a:prstGeom prst="line">
              <a:avLst/>
            </a:prstGeom>
            <a:ln w="28575" cap="flat" cmpd="sng">
              <a:solidFill>
                <a:schemeClr val="accent1"/>
              </a:solidFill>
              <a:prstDash val="solid"/>
              <a:round/>
              <a:headEnd type="none" w="med" len="med"/>
              <a:tailEnd type="triangle" w="med" len="med"/>
            </a:ln>
          </p:spPr>
        </p:sp>
        <p:sp>
          <p:nvSpPr>
            <p:cNvPr id="177342" name="直接连接符 564438"/>
            <p:cNvSpPr/>
            <p:nvPr/>
          </p:nvSpPr>
          <p:spPr>
            <a:xfrm flipV="1">
              <a:off x="726" y="3481"/>
              <a:ext cx="1820" cy="331"/>
            </a:xfrm>
            <a:prstGeom prst="line">
              <a:avLst/>
            </a:prstGeom>
            <a:ln w="28575" cap="flat" cmpd="sng">
              <a:solidFill>
                <a:schemeClr val="accent1"/>
              </a:solidFill>
              <a:prstDash val="solid"/>
              <a:round/>
              <a:headEnd type="none" w="med" len="med"/>
              <a:tailEnd type="triangle" w="med" len="med"/>
            </a:ln>
          </p:spPr>
        </p:sp>
        <p:sp>
          <p:nvSpPr>
            <p:cNvPr id="177343" name="直接连接符 564439"/>
            <p:cNvSpPr/>
            <p:nvPr/>
          </p:nvSpPr>
          <p:spPr>
            <a:xfrm flipV="1">
              <a:off x="738" y="3400"/>
              <a:ext cx="2950" cy="430"/>
            </a:xfrm>
            <a:prstGeom prst="line">
              <a:avLst/>
            </a:prstGeom>
            <a:ln w="28575" cap="flat" cmpd="sng">
              <a:solidFill>
                <a:schemeClr val="accent1"/>
              </a:solidFill>
              <a:prstDash val="solid"/>
              <a:round/>
              <a:headEnd type="none" w="med" len="med"/>
              <a:tailEnd type="triangle" w="med" len="med"/>
            </a:ln>
          </p:spPr>
        </p:sp>
        <p:sp>
          <p:nvSpPr>
            <p:cNvPr id="177344" name="直接连接符 564440"/>
            <p:cNvSpPr/>
            <p:nvPr/>
          </p:nvSpPr>
          <p:spPr>
            <a:xfrm flipV="1">
              <a:off x="768" y="3599"/>
              <a:ext cx="4123" cy="196"/>
            </a:xfrm>
            <a:prstGeom prst="line">
              <a:avLst/>
            </a:prstGeom>
            <a:ln w="28575" cap="flat" cmpd="sng">
              <a:solidFill>
                <a:schemeClr val="accent1"/>
              </a:solidFill>
              <a:prstDash val="solid"/>
              <a:round/>
              <a:headEnd type="none" w="med" len="med"/>
              <a:tailEnd type="triangle" w="med" len="med"/>
            </a:ln>
          </p:spPr>
        </p:sp>
      </p:grpSp>
      <p:sp>
        <p:nvSpPr>
          <p:cNvPr id="564442" name="文本框 564441"/>
          <p:cNvSpPr txBox="1"/>
          <p:nvPr/>
        </p:nvSpPr>
        <p:spPr>
          <a:xfrm>
            <a:off x="285750" y="6251575"/>
            <a:ext cx="5718175" cy="366713"/>
          </a:xfrm>
          <a:prstGeom prst="rect">
            <a:avLst/>
          </a:prstGeom>
          <a:solidFill>
            <a:schemeClr val="bg1"/>
          </a:solidFill>
          <a:ln w="12700">
            <a:noFill/>
          </a:ln>
        </p:spPr>
        <p:txBody>
          <a:bodyPr anchor="t" anchorCtr="0">
            <a:spAutoFit/>
          </a:bodyPr>
          <a:p>
            <a:pPr eaLnBrk="0" hangingPunct="0">
              <a:lnSpc>
                <a:spcPct val="90000"/>
              </a:lnSpc>
            </a:pPr>
            <a:r>
              <a:rPr lang="zh-CN" altLang="en-US" sz="2000" dirty="0">
                <a:latin typeface="微软雅黑" panose="020B0503020204020204" pitchFamily="34" charset="-122"/>
                <a:ea typeface="微软雅黑" panose="020B0503020204020204" pitchFamily="34" charset="-122"/>
              </a:rPr>
              <a:t>流水段寄存器：保存每个时钟周期执行的结果</a:t>
            </a:r>
            <a:r>
              <a:rPr lang="en-US" altLang="zh-CN" sz="2000">
                <a:latin typeface="微软雅黑" panose="020B0503020204020204" pitchFamily="34" charset="-122"/>
                <a:ea typeface="微软雅黑" panose="020B0503020204020204" pitchFamily="34" charset="-122"/>
              </a:rPr>
              <a:t>! </a:t>
            </a:r>
            <a:endParaRPr lang="en-US" altLang="zh-CN" sz="2000">
              <a:latin typeface="微软雅黑" panose="020B0503020204020204" pitchFamily="34" charset="-122"/>
              <a:ea typeface="微软雅黑" panose="020B0503020204020204" pitchFamily="34" charset="-122"/>
            </a:endParaRPr>
          </a:p>
        </p:txBody>
      </p:sp>
      <p:sp>
        <p:nvSpPr>
          <p:cNvPr id="177346" name="直接连接符 564443"/>
          <p:cNvSpPr/>
          <p:nvPr/>
        </p:nvSpPr>
        <p:spPr>
          <a:xfrm flipV="1">
            <a:off x="3497263" y="6067425"/>
            <a:ext cx="5297487" cy="14288"/>
          </a:xfrm>
          <a:prstGeom prst="line">
            <a:avLst/>
          </a:prstGeom>
          <a:ln w="28575" cap="flat" cmpd="sng">
            <a:solidFill>
              <a:schemeClr val="tx1"/>
            </a:solidFill>
            <a:prstDash val="solid"/>
            <a:roun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4442"/>
                                        </p:tgtEl>
                                        <p:attrNameLst>
                                          <p:attrName>style.visibility</p:attrName>
                                        </p:attrNameLst>
                                      </p:cBhvr>
                                      <p:to>
                                        <p:strVal val="visible"/>
                                      </p:to>
                                    </p:set>
                                    <p:animEffect transition="in" filter="blinds(horizontal)">
                                      <p:cBhvr>
                                        <p:cTn id="7" dur="500"/>
                                        <p:tgtEl>
                                          <p:spTgt spid="564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442"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1" name="标题 534529"/>
          <p:cNvSpPr>
            <a:spLocks noGrp="1"/>
          </p:cNvSpPr>
          <p:nvPr>
            <p:ph type="title"/>
          </p:nvPr>
        </p:nvSpPr>
        <p:spPr>
          <a:xfrm>
            <a:off x="800100" y="114300"/>
            <a:ext cx="7747000" cy="528638"/>
          </a:xfrm>
          <a:ln/>
        </p:spPr>
        <p:txBody>
          <a:bodyPr vert="horz" wrap="square" lIns="63500" tIns="25400" rIns="63500" bIns="25400" anchor="t" anchorCtr="0">
            <a:spAutoFit/>
          </a:bodyPr>
          <a:p>
            <a:r>
              <a:rPr lang="zh-CN" altLang="en-US" dirty="0"/>
              <a:t>指令流水线的执行举例</a:t>
            </a:r>
            <a:endParaRPr lang="zh-CN" altLang="en-US" dirty="0"/>
          </a:p>
        </p:txBody>
      </p:sp>
      <p:grpSp>
        <p:nvGrpSpPr>
          <p:cNvPr id="179202" name="组合 534530"/>
          <p:cNvGrpSpPr/>
          <p:nvPr/>
        </p:nvGrpSpPr>
        <p:grpSpPr>
          <a:xfrm>
            <a:off x="876300" y="685800"/>
            <a:ext cx="7556500" cy="317500"/>
            <a:chOff x="624" y="424"/>
            <a:chExt cx="4224" cy="208"/>
          </a:xfrm>
        </p:grpSpPr>
        <p:sp>
          <p:nvSpPr>
            <p:cNvPr id="179203" name="直接连接符 534531"/>
            <p:cNvSpPr/>
            <p:nvPr/>
          </p:nvSpPr>
          <p:spPr>
            <a:xfrm flipV="1">
              <a:off x="624" y="424"/>
              <a:ext cx="0" cy="208"/>
            </a:xfrm>
            <a:prstGeom prst="line">
              <a:avLst/>
            </a:prstGeom>
            <a:ln w="25400" cap="flat" cmpd="sng">
              <a:solidFill>
                <a:schemeClr val="tx1"/>
              </a:solidFill>
              <a:prstDash val="sysDot"/>
              <a:round/>
              <a:headEnd type="none" w="med" len="med"/>
              <a:tailEnd type="none" w="med" len="med"/>
            </a:ln>
          </p:spPr>
        </p:sp>
        <p:sp>
          <p:nvSpPr>
            <p:cNvPr id="179204" name="直接连接符 534532"/>
            <p:cNvSpPr/>
            <p:nvPr/>
          </p:nvSpPr>
          <p:spPr>
            <a:xfrm flipV="1">
              <a:off x="1152" y="424"/>
              <a:ext cx="0" cy="208"/>
            </a:xfrm>
            <a:prstGeom prst="line">
              <a:avLst/>
            </a:prstGeom>
            <a:ln w="25400" cap="flat" cmpd="sng">
              <a:solidFill>
                <a:schemeClr val="tx1"/>
              </a:solidFill>
              <a:prstDash val="sysDot"/>
              <a:round/>
              <a:headEnd type="none" w="med" len="med"/>
              <a:tailEnd type="none" w="med" len="med"/>
            </a:ln>
          </p:spPr>
        </p:sp>
        <p:sp>
          <p:nvSpPr>
            <p:cNvPr id="179205" name="直接连接符 534533"/>
            <p:cNvSpPr/>
            <p:nvPr/>
          </p:nvSpPr>
          <p:spPr>
            <a:xfrm flipV="1">
              <a:off x="1680" y="424"/>
              <a:ext cx="0" cy="208"/>
            </a:xfrm>
            <a:prstGeom prst="line">
              <a:avLst/>
            </a:prstGeom>
            <a:ln w="25400" cap="flat" cmpd="sng">
              <a:solidFill>
                <a:schemeClr val="tx1"/>
              </a:solidFill>
              <a:prstDash val="sysDot"/>
              <a:round/>
              <a:headEnd type="none" w="med" len="med"/>
              <a:tailEnd type="none" w="med" len="med"/>
            </a:ln>
          </p:spPr>
        </p:sp>
        <p:sp>
          <p:nvSpPr>
            <p:cNvPr id="179206" name="直接连接符 534534"/>
            <p:cNvSpPr/>
            <p:nvPr/>
          </p:nvSpPr>
          <p:spPr>
            <a:xfrm flipV="1">
              <a:off x="2208" y="424"/>
              <a:ext cx="0" cy="208"/>
            </a:xfrm>
            <a:prstGeom prst="line">
              <a:avLst/>
            </a:prstGeom>
            <a:ln w="25400" cap="flat" cmpd="sng">
              <a:solidFill>
                <a:schemeClr val="tx1"/>
              </a:solidFill>
              <a:prstDash val="sysDot"/>
              <a:round/>
              <a:headEnd type="none" w="med" len="med"/>
              <a:tailEnd type="none" w="med" len="med"/>
            </a:ln>
          </p:spPr>
        </p:sp>
        <p:sp>
          <p:nvSpPr>
            <p:cNvPr id="179207" name="直接连接符 534535"/>
            <p:cNvSpPr/>
            <p:nvPr/>
          </p:nvSpPr>
          <p:spPr>
            <a:xfrm flipV="1">
              <a:off x="2736" y="424"/>
              <a:ext cx="0" cy="208"/>
            </a:xfrm>
            <a:prstGeom prst="line">
              <a:avLst/>
            </a:prstGeom>
            <a:ln w="25400" cap="flat" cmpd="sng">
              <a:solidFill>
                <a:schemeClr val="tx1"/>
              </a:solidFill>
              <a:prstDash val="sysDot"/>
              <a:round/>
              <a:headEnd type="none" w="med" len="med"/>
              <a:tailEnd type="none" w="med" len="med"/>
            </a:ln>
          </p:spPr>
        </p:sp>
        <p:sp>
          <p:nvSpPr>
            <p:cNvPr id="179208" name="直接连接符 534536"/>
            <p:cNvSpPr/>
            <p:nvPr/>
          </p:nvSpPr>
          <p:spPr>
            <a:xfrm flipV="1">
              <a:off x="3264" y="424"/>
              <a:ext cx="0" cy="208"/>
            </a:xfrm>
            <a:prstGeom prst="line">
              <a:avLst/>
            </a:prstGeom>
            <a:ln w="25400" cap="flat" cmpd="sng">
              <a:solidFill>
                <a:schemeClr val="tx1"/>
              </a:solidFill>
              <a:prstDash val="sysDot"/>
              <a:round/>
              <a:headEnd type="none" w="med" len="med"/>
              <a:tailEnd type="none" w="med" len="med"/>
            </a:ln>
          </p:spPr>
        </p:sp>
        <p:sp>
          <p:nvSpPr>
            <p:cNvPr id="179209" name="直接连接符 534537"/>
            <p:cNvSpPr/>
            <p:nvPr/>
          </p:nvSpPr>
          <p:spPr>
            <a:xfrm flipV="1">
              <a:off x="3792" y="424"/>
              <a:ext cx="0" cy="208"/>
            </a:xfrm>
            <a:prstGeom prst="line">
              <a:avLst/>
            </a:prstGeom>
            <a:ln w="25400" cap="flat" cmpd="sng">
              <a:solidFill>
                <a:schemeClr val="tx1"/>
              </a:solidFill>
              <a:prstDash val="sysDot"/>
              <a:round/>
              <a:headEnd type="none" w="med" len="med"/>
              <a:tailEnd type="none" w="med" len="med"/>
            </a:ln>
          </p:spPr>
        </p:sp>
        <p:sp>
          <p:nvSpPr>
            <p:cNvPr id="179210" name="直接连接符 534538"/>
            <p:cNvSpPr/>
            <p:nvPr/>
          </p:nvSpPr>
          <p:spPr>
            <a:xfrm flipV="1">
              <a:off x="4320" y="424"/>
              <a:ext cx="0" cy="208"/>
            </a:xfrm>
            <a:prstGeom prst="line">
              <a:avLst/>
            </a:prstGeom>
            <a:ln w="25400" cap="flat" cmpd="sng">
              <a:solidFill>
                <a:schemeClr val="tx1"/>
              </a:solidFill>
              <a:prstDash val="sysDot"/>
              <a:round/>
              <a:headEnd type="none" w="med" len="med"/>
              <a:tailEnd type="none" w="med" len="med"/>
            </a:ln>
          </p:spPr>
        </p:sp>
        <p:sp>
          <p:nvSpPr>
            <p:cNvPr id="179211" name="直接连接符 534539"/>
            <p:cNvSpPr/>
            <p:nvPr/>
          </p:nvSpPr>
          <p:spPr>
            <a:xfrm flipV="1">
              <a:off x="4848" y="424"/>
              <a:ext cx="0" cy="208"/>
            </a:xfrm>
            <a:prstGeom prst="line">
              <a:avLst/>
            </a:prstGeom>
            <a:ln w="25400" cap="flat" cmpd="sng">
              <a:solidFill>
                <a:schemeClr val="tx1"/>
              </a:solidFill>
              <a:prstDash val="sysDot"/>
              <a:round/>
              <a:headEnd type="none" w="med" len="med"/>
              <a:tailEnd type="none" w="med" len="med"/>
            </a:ln>
          </p:spPr>
        </p:sp>
      </p:grpSp>
      <p:sp>
        <p:nvSpPr>
          <p:cNvPr id="179212" name="矩形 534540"/>
          <p:cNvSpPr/>
          <p:nvPr/>
        </p:nvSpPr>
        <p:spPr>
          <a:xfrm>
            <a:off x="3844925" y="3886200"/>
            <a:ext cx="874713" cy="577850"/>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End</a:t>
            </a:r>
            <a:r>
              <a:rPr lang="en-US" altLang="zh-CN">
                <a:solidFill>
                  <a:schemeClr val="accent2"/>
                </a:solidFill>
                <a:latin typeface="Times New Roman" panose="02020603050405020304" pitchFamily="18" charset="0"/>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of</a:t>
            </a:r>
            <a:endParaRPr lang="en-US" altLang="zh-CN">
              <a:solidFill>
                <a:schemeClr val="accent2"/>
              </a:solidFill>
              <a:latin typeface="Arial" panose="020B0604020202020204" pitchFamily="34" charset="0"/>
              <a:ea typeface="宋体" panose="02010600030101010101" pitchFamily="2" charset="-122"/>
            </a:endParaRPr>
          </a:p>
          <a:p>
            <a:pPr algn="ctr" eaLnBrk="0" hangingPunct="0"/>
            <a:r>
              <a:rPr lang="en-US" altLang="zh-CN">
                <a:solidFill>
                  <a:schemeClr val="accent2"/>
                </a:solidFill>
                <a:latin typeface="Arial" panose="020B0604020202020204" pitchFamily="34" charset="0"/>
                <a:ea typeface="宋体" panose="02010600030101010101" pitchFamily="2" charset="-122"/>
              </a:rPr>
              <a:t>Cycle</a:t>
            </a:r>
            <a:r>
              <a:rPr lang="en-US" altLang="zh-CN">
                <a:solidFill>
                  <a:schemeClr val="accent2"/>
                </a:solidFill>
                <a:latin typeface="Times New Roman" panose="02020603050405020304" pitchFamily="18" charset="0"/>
                <a:ea typeface="宋体" panose="02010600030101010101" pitchFamily="2" charset="-122"/>
              </a:rPr>
              <a:t> 4</a:t>
            </a:r>
            <a:endParaRPr lang="en-US" altLang="zh-CN">
              <a:solidFill>
                <a:schemeClr val="accent2"/>
              </a:solidFill>
              <a:latin typeface="Times New Roman" panose="02020603050405020304" pitchFamily="18" charset="0"/>
              <a:ea typeface="宋体" panose="02010600030101010101" pitchFamily="2" charset="-122"/>
            </a:endParaRPr>
          </a:p>
        </p:txBody>
      </p:sp>
      <p:sp>
        <p:nvSpPr>
          <p:cNvPr id="179213" name="矩形 534541"/>
          <p:cNvSpPr/>
          <p:nvPr/>
        </p:nvSpPr>
        <p:spPr>
          <a:xfrm>
            <a:off x="4749800" y="3886200"/>
            <a:ext cx="892175" cy="577850"/>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End of</a:t>
            </a:r>
            <a:endParaRPr lang="en-US" altLang="zh-CN">
              <a:solidFill>
                <a:schemeClr val="accent2"/>
              </a:solidFill>
              <a:latin typeface="Arial" panose="020B0604020202020204" pitchFamily="34" charset="0"/>
              <a:ea typeface="宋体" panose="02010600030101010101" pitchFamily="2" charset="-122"/>
            </a:endParaRPr>
          </a:p>
          <a:p>
            <a:pPr algn="ctr" eaLnBrk="0" hangingPunct="0"/>
            <a:r>
              <a:rPr lang="en-US" altLang="zh-CN">
                <a:solidFill>
                  <a:schemeClr val="accent2"/>
                </a:solidFill>
                <a:latin typeface="Arial" panose="020B0604020202020204" pitchFamily="34" charset="0"/>
                <a:ea typeface="宋体" panose="02010600030101010101" pitchFamily="2" charset="-122"/>
              </a:rPr>
              <a:t>Cycle 5</a:t>
            </a:r>
            <a:endParaRPr lang="en-US" altLang="zh-CN">
              <a:solidFill>
                <a:schemeClr val="accent2"/>
              </a:solidFill>
              <a:latin typeface="Arial" panose="020B0604020202020204" pitchFamily="34" charset="0"/>
              <a:ea typeface="宋体" panose="02010600030101010101" pitchFamily="2" charset="-122"/>
            </a:endParaRPr>
          </a:p>
        </p:txBody>
      </p:sp>
      <p:sp>
        <p:nvSpPr>
          <p:cNvPr id="179214" name="矩形 534542"/>
          <p:cNvSpPr/>
          <p:nvPr/>
        </p:nvSpPr>
        <p:spPr>
          <a:xfrm>
            <a:off x="5668963" y="3886200"/>
            <a:ext cx="885825" cy="577850"/>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End</a:t>
            </a:r>
            <a:r>
              <a:rPr lang="en-US" altLang="zh-CN">
                <a:solidFill>
                  <a:schemeClr val="accent2"/>
                </a:solidFill>
                <a:latin typeface="Times New Roman" panose="02020603050405020304" pitchFamily="18" charset="0"/>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of</a:t>
            </a:r>
            <a:endParaRPr lang="en-US" altLang="zh-CN">
              <a:solidFill>
                <a:schemeClr val="accent2"/>
              </a:solidFill>
              <a:latin typeface="Arial" panose="020B0604020202020204" pitchFamily="34" charset="0"/>
              <a:ea typeface="宋体" panose="02010600030101010101" pitchFamily="2" charset="-122"/>
            </a:endParaRPr>
          </a:p>
          <a:p>
            <a:pPr algn="ctr" eaLnBrk="0" hangingPunct="0"/>
            <a:r>
              <a:rPr lang="en-US" altLang="zh-CN">
                <a:solidFill>
                  <a:schemeClr val="accent2"/>
                </a:solidFill>
                <a:latin typeface="Arial" panose="020B0604020202020204" pitchFamily="34" charset="0"/>
                <a:ea typeface="宋体" panose="02010600030101010101" pitchFamily="2" charset="-122"/>
              </a:rPr>
              <a:t>Cycle</a:t>
            </a:r>
            <a:r>
              <a:rPr lang="en-US" altLang="zh-CN">
                <a:solidFill>
                  <a:schemeClr val="accent2"/>
                </a:solidFill>
                <a:latin typeface="Times New Roman" panose="02020603050405020304" pitchFamily="18" charset="0"/>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6</a:t>
            </a:r>
            <a:endParaRPr lang="en-US" altLang="zh-CN">
              <a:solidFill>
                <a:schemeClr val="accent2"/>
              </a:solidFill>
              <a:latin typeface="Arial" panose="020B0604020202020204" pitchFamily="34" charset="0"/>
              <a:ea typeface="宋体" panose="02010600030101010101" pitchFamily="2" charset="-122"/>
            </a:endParaRPr>
          </a:p>
        </p:txBody>
      </p:sp>
      <p:sp>
        <p:nvSpPr>
          <p:cNvPr id="179215" name="矩形 534543"/>
          <p:cNvSpPr/>
          <p:nvPr/>
        </p:nvSpPr>
        <p:spPr>
          <a:xfrm>
            <a:off x="6502400" y="3886200"/>
            <a:ext cx="892175" cy="577850"/>
          </a:xfrm>
          <a:prstGeom prst="rect">
            <a:avLst/>
          </a:prstGeom>
          <a:noFill/>
          <a:ln w="12700">
            <a:noFill/>
          </a:ln>
        </p:spPr>
        <p:txBody>
          <a:bodyPr wrap="none" lIns="90488" tIns="44450" rIns="90488" bIns="44450" anchor="t" anchorCtr="0">
            <a:spAutoFit/>
          </a:bodyPr>
          <a:p>
            <a:pPr algn="ctr" eaLnBrk="0" hangingPunct="0"/>
            <a:r>
              <a:rPr lang="en-US" altLang="zh-CN">
                <a:solidFill>
                  <a:schemeClr val="accent2"/>
                </a:solidFill>
                <a:latin typeface="Arial" panose="020B0604020202020204" pitchFamily="34" charset="0"/>
                <a:ea typeface="宋体" panose="02010600030101010101" pitchFamily="2" charset="-122"/>
              </a:rPr>
              <a:t>End</a:t>
            </a:r>
            <a:r>
              <a:rPr lang="en-US" altLang="zh-CN">
                <a:solidFill>
                  <a:schemeClr val="accent2"/>
                </a:solidFill>
                <a:latin typeface="Times New Roman" panose="02020603050405020304" pitchFamily="18" charset="0"/>
                <a:ea typeface="宋体" panose="02010600030101010101" pitchFamily="2" charset="-122"/>
              </a:rPr>
              <a:t> </a:t>
            </a:r>
            <a:r>
              <a:rPr lang="en-US" altLang="zh-CN">
                <a:solidFill>
                  <a:schemeClr val="accent2"/>
                </a:solidFill>
                <a:latin typeface="Arial" panose="020B0604020202020204" pitchFamily="34" charset="0"/>
                <a:ea typeface="宋体" panose="02010600030101010101" pitchFamily="2" charset="-122"/>
              </a:rPr>
              <a:t>of</a:t>
            </a:r>
            <a:endParaRPr lang="en-US" altLang="zh-CN">
              <a:solidFill>
                <a:schemeClr val="accent2"/>
              </a:solidFill>
              <a:latin typeface="Arial" panose="020B0604020202020204" pitchFamily="34" charset="0"/>
              <a:ea typeface="宋体" panose="02010600030101010101" pitchFamily="2" charset="-122"/>
            </a:endParaRPr>
          </a:p>
          <a:p>
            <a:pPr algn="ctr" eaLnBrk="0" hangingPunct="0"/>
            <a:r>
              <a:rPr lang="en-US" altLang="zh-CN">
                <a:solidFill>
                  <a:schemeClr val="accent2"/>
                </a:solidFill>
                <a:latin typeface="Arial" panose="020B0604020202020204" pitchFamily="34" charset="0"/>
                <a:ea typeface="宋体" panose="02010600030101010101" pitchFamily="2" charset="-122"/>
              </a:rPr>
              <a:t>Cycle 7</a:t>
            </a:r>
            <a:endParaRPr lang="en-US" altLang="zh-CN">
              <a:solidFill>
                <a:schemeClr val="accent2"/>
              </a:solidFill>
              <a:latin typeface="Arial" panose="020B0604020202020204" pitchFamily="34" charset="0"/>
              <a:ea typeface="宋体" panose="02010600030101010101" pitchFamily="2" charset="-122"/>
            </a:endParaRPr>
          </a:p>
        </p:txBody>
      </p:sp>
      <p:grpSp>
        <p:nvGrpSpPr>
          <p:cNvPr id="179216" name="组合 534544"/>
          <p:cNvGrpSpPr/>
          <p:nvPr/>
        </p:nvGrpSpPr>
        <p:grpSpPr>
          <a:xfrm>
            <a:off x="0" y="685800"/>
            <a:ext cx="8966200" cy="3213100"/>
            <a:chOff x="135" y="432"/>
            <a:chExt cx="4993" cy="2024"/>
          </a:xfrm>
        </p:grpSpPr>
        <p:sp>
          <p:nvSpPr>
            <p:cNvPr id="179217" name="矩形 534545"/>
            <p:cNvSpPr/>
            <p:nvPr/>
          </p:nvSpPr>
          <p:spPr>
            <a:xfrm>
              <a:off x="135" y="672"/>
              <a:ext cx="408" cy="210"/>
            </a:xfrm>
            <a:prstGeom prst="rect">
              <a:avLst/>
            </a:prstGeom>
            <a:noFill/>
            <a:ln w="12700">
              <a:noFill/>
            </a:ln>
          </p:spPr>
          <p:txBody>
            <a:bodyPr wrap="none" lIns="90488" tIns="44450" rIns="90488" bIns="44450" anchor="t" anchorCtr="0">
              <a:spAutoFit/>
            </a:bodyPr>
            <a:p>
              <a:pPr eaLnBrk="0" hangingPunct="0"/>
              <a:r>
                <a:rPr lang="en-US" altLang="zh-CN">
                  <a:latin typeface="Arial" panose="020B0604020202020204" pitchFamily="34" charset="0"/>
                  <a:ea typeface="宋体" panose="02010600030101010101" pitchFamily="2" charset="-122"/>
                </a:rPr>
                <a:t>Clock</a:t>
              </a:r>
              <a:endParaRPr lang="en-US" altLang="zh-CN">
                <a:latin typeface="Arial" panose="020B0604020202020204" pitchFamily="34" charset="0"/>
                <a:ea typeface="宋体" panose="02010600030101010101" pitchFamily="2" charset="-122"/>
              </a:endParaRPr>
            </a:p>
          </p:txBody>
        </p:sp>
        <p:grpSp>
          <p:nvGrpSpPr>
            <p:cNvPr id="179218" name="组合 534546"/>
            <p:cNvGrpSpPr/>
            <p:nvPr/>
          </p:nvGrpSpPr>
          <p:grpSpPr>
            <a:xfrm>
              <a:off x="624" y="664"/>
              <a:ext cx="520" cy="160"/>
              <a:chOff x="624" y="664"/>
              <a:chExt cx="520" cy="160"/>
            </a:xfrm>
          </p:grpSpPr>
          <p:sp>
            <p:nvSpPr>
              <p:cNvPr id="179219" name="直接连接符 534547"/>
              <p:cNvSpPr/>
              <p:nvPr/>
            </p:nvSpPr>
            <p:spPr>
              <a:xfrm>
                <a:off x="632" y="816"/>
                <a:ext cx="272" cy="0"/>
              </a:xfrm>
              <a:prstGeom prst="line">
                <a:avLst/>
              </a:prstGeom>
              <a:ln w="25400" cap="flat" cmpd="sng">
                <a:solidFill>
                  <a:schemeClr val="tx1"/>
                </a:solidFill>
                <a:prstDash val="solid"/>
                <a:round/>
                <a:headEnd type="none" w="med" len="med"/>
                <a:tailEnd type="none" w="med" len="med"/>
              </a:ln>
            </p:spPr>
          </p:sp>
          <p:sp>
            <p:nvSpPr>
              <p:cNvPr id="179220" name="直接连接符 534548"/>
              <p:cNvSpPr/>
              <p:nvPr/>
            </p:nvSpPr>
            <p:spPr>
              <a:xfrm>
                <a:off x="624" y="680"/>
                <a:ext cx="0" cy="128"/>
              </a:xfrm>
              <a:prstGeom prst="line">
                <a:avLst/>
              </a:prstGeom>
              <a:ln w="25400" cap="flat" cmpd="sng">
                <a:solidFill>
                  <a:schemeClr val="tx1"/>
                </a:solidFill>
                <a:prstDash val="solid"/>
                <a:round/>
                <a:headEnd type="none" w="med" len="med"/>
                <a:tailEnd type="none" w="med" len="med"/>
              </a:ln>
            </p:spPr>
          </p:sp>
          <p:sp>
            <p:nvSpPr>
              <p:cNvPr id="179221" name="直接连接符 534549"/>
              <p:cNvSpPr/>
              <p:nvPr/>
            </p:nvSpPr>
            <p:spPr>
              <a:xfrm flipV="1">
                <a:off x="912" y="664"/>
                <a:ext cx="0" cy="160"/>
              </a:xfrm>
              <a:prstGeom prst="line">
                <a:avLst/>
              </a:prstGeom>
              <a:ln w="25400" cap="flat" cmpd="sng">
                <a:solidFill>
                  <a:schemeClr val="tx1"/>
                </a:solidFill>
                <a:prstDash val="solid"/>
                <a:round/>
                <a:headEnd type="none" w="med" len="med"/>
                <a:tailEnd type="none" w="med" len="med"/>
              </a:ln>
            </p:spPr>
          </p:sp>
          <p:sp>
            <p:nvSpPr>
              <p:cNvPr id="179222" name="直接连接符 534550"/>
              <p:cNvSpPr/>
              <p:nvPr/>
            </p:nvSpPr>
            <p:spPr>
              <a:xfrm>
                <a:off x="920" y="672"/>
                <a:ext cx="224" cy="0"/>
              </a:xfrm>
              <a:prstGeom prst="line">
                <a:avLst/>
              </a:prstGeom>
              <a:ln w="25400" cap="flat" cmpd="sng">
                <a:solidFill>
                  <a:schemeClr val="tx1"/>
                </a:solidFill>
                <a:prstDash val="solid"/>
                <a:round/>
                <a:headEnd type="none" w="med" len="med"/>
                <a:tailEnd type="none" w="med" len="med"/>
              </a:ln>
            </p:spPr>
          </p:sp>
        </p:grpSp>
        <p:grpSp>
          <p:nvGrpSpPr>
            <p:cNvPr id="179223" name="组合 534551"/>
            <p:cNvGrpSpPr/>
            <p:nvPr/>
          </p:nvGrpSpPr>
          <p:grpSpPr>
            <a:xfrm>
              <a:off x="1152" y="664"/>
              <a:ext cx="520" cy="160"/>
              <a:chOff x="1152" y="664"/>
              <a:chExt cx="520" cy="160"/>
            </a:xfrm>
          </p:grpSpPr>
          <p:sp>
            <p:nvSpPr>
              <p:cNvPr id="179224" name="直接连接符 534552"/>
              <p:cNvSpPr/>
              <p:nvPr/>
            </p:nvSpPr>
            <p:spPr>
              <a:xfrm>
                <a:off x="1160" y="816"/>
                <a:ext cx="272" cy="0"/>
              </a:xfrm>
              <a:prstGeom prst="line">
                <a:avLst/>
              </a:prstGeom>
              <a:ln w="25400" cap="flat" cmpd="sng">
                <a:solidFill>
                  <a:schemeClr val="tx1"/>
                </a:solidFill>
                <a:prstDash val="solid"/>
                <a:round/>
                <a:headEnd type="none" w="med" len="med"/>
                <a:tailEnd type="none" w="med" len="med"/>
              </a:ln>
            </p:spPr>
          </p:sp>
          <p:sp>
            <p:nvSpPr>
              <p:cNvPr id="179225" name="直接连接符 534553"/>
              <p:cNvSpPr/>
              <p:nvPr/>
            </p:nvSpPr>
            <p:spPr>
              <a:xfrm>
                <a:off x="1152" y="680"/>
                <a:ext cx="0" cy="128"/>
              </a:xfrm>
              <a:prstGeom prst="line">
                <a:avLst/>
              </a:prstGeom>
              <a:ln w="25400" cap="flat" cmpd="sng">
                <a:solidFill>
                  <a:schemeClr val="tx1"/>
                </a:solidFill>
                <a:prstDash val="solid"/>
                <a:round/>
                <a:headEnd type="none" w="med" len="med"/>
                <a:tailEnd type="none" w="med" len="med"/>
              </a:ln>
            </p:spPr>
          </p:sp>
          <p:sp>
            <p:nvSpPr>
              <p:cNvPr id="179226" name="直接连接符 534554"/>
              <p:cNvSpPr/>
              <p:nvPr/>
            </p:nvSpPr>
            <p:spPr>
              <a:xfrm flipV="1">
                <a:off x="1440" y="664"/>
                <a:ext cx="0" cy="160"/>
              </a:xfrm>
              <a:prstGeom prst="line">
                <a:avLst/>
              </a:prstGeom>
              <a:ln w="25400" cap="flat" cmpd="sng">
                <a:solidFill>
                  <a:schemeClr val="tx1"/>
                </a:solidFill>
                <a:prstDash val="solid"/>
                <a:round/>
                <a:headEnd type="none" w="med" len="med"/>
                <a:tailEnd type="none" w="med" len="med"/>
              </a:ln>
            </p:spPr>
          </p:sp>
          <p:sp>
            <p:nvSpPr>
              <p:cNvPr id="179227" name="直接连接符 534555"/>
              <p:cNvSpPr/>
              <p:nvPr/>
            </p:nvSpPr>
            <p:spPr>
              <a:xfrm>
                <a:off x="1448" y="672"/>
                <a:ext cx="224" cy="0"/>
              </a:xfrm>
              <a:prstGeom prst="line">
                <a:avLst/>
              </a:prstGeom>
              <a:ln w="25400" cap="flat" cmpd="sng">
                <a:solidFill>
                  <a:schemeClr val="tx1"/>
                </a:solidFill>
                <a:prstDash val="solid"/>
                <a:round/>
                <a:headEnd type="none" w="med" len="med"/>
                <a:tailEnd type="none" w="med" len="med"/>
              </a:ln>
            </p:spPr>
          </p:sp>
        </p:grpSp>
        <p:grpSp>
          <p:nvGrpSpPr>
            <p:cNvPr id="179228" name="组合 534556"/>
            <p:cNvGrpSpPr/>
            <p:nvPr/>
          </p:nvGrpSpPr>
          <p:grpSpPr>
            <a:xfrm>
              <a:off x="1680" y="664"/>
              <a:ext cx="520" cy="160"/>
              <a:chOff x="1680" y="664"/>
              <a:chExt cx="520" cy="160"/>
            </a:xfrm>
          </p:grpSpPr>
          <p:sp>
            <p:nvSpPr>
              <p:cNvPr id="179229" name="直接连接符 534557"/>
              <p:cNvSpPr/>
              <p:nvPr/>
            </p:nvSpPr>
            <p:spPr>
              <a:xfrm>
                <a:off x="1688" y="816"/>
                <a:ext cx="272" cy="0"/>
              </a:xfrm>
              <a:prstGeom prst="line">
                <a:avLst/>
              </a:prstGeom>
              <a:ln w="25400" cap="flat" cmpd="sng">
                <a:solidFill>
                  <a:schemeClr val="tx1"/>
                </a:solidFill>
                <a:prstDash val="solid"/>
                <a:round/>
                <a:headEnd type="none" w="med" len="med"/>
                <a:tailEnd type="none" w="med" len="med"/>
              </a:ln>
            </p:spPr>
          </p:sp>
          <p:sp>
            <p:nvSpPr>
              <p:cNvPr id="179230" name="直接连接符 534558"/>
              <p:cNvSpPr/>
              <p:nvPr/>
            </p:nvSpPr>
            <p:spPr>
              <a:xfrm>
                <a:off x="1680" y="680"/>
                <a:ext cx="0" cy="128"/>
              </a:xfrm>
              <a:prstGeom prst="line">
                <a:avLst/>
              </a:prstGeom>
              <a:ln w="25400" cap="flat" cmpd="sng">
                <a:solidFill>
                  <a:schemeClr val="tx1"/>
                </a:solidFill>
                <a:prstDash val="solid"/>
                <a:round/>
                <a:headEnd type="none" w="med" len="med"/>
                <a:tailEnd type="none" w="med" len="med"/>
              </a:ln>
            </p:spPr>
          </p:sp>
          <p:sp>
            <p:nvSpPr>
              <p:cNvPr id="179231" name="直接连接符 534559"/>
              <p:cNvSpPr/>
              <p:nvPr/>
            </p:nvSpPr>
            <p:spPr>
              <a:xfrm flipV="1">
                <a:off x="1968" y="664"/>
                <a:ext cx="0" cy="160"/>
              </a:xfrm>
              <a:prstGeom prst="line">
                <a:avLst/>
              </a:prstGeom>
              <a:ln w="25400" cap="flat" cmpd="sng">
                <a:solidFill>
                  <a:schemeClr val="tx1"/>
                </a:solidFill>
                <a:prstDash val="solid"/>
                <a:round/>
                <a:headEnd type="none" w="med" len="med"/>
                <a:tailEnd type="none" w="med" len="med"/>
              </a:ln>
            </p:spPr>
          </p:sp>
          <p:sp>
            <p:nvSpPr>
              <p:cNvPr id="179232" name="直接连接符 534560"/>
              <p:cNvSpPr/>
              <p:nvPr/>
            </p:nvSpPr>
            <p:spPr>
              <a:xfrm>
                <a:off x="1976" y="672"/>
                <a:ext cx="224" cy="0"/>
              </a:xfrm>
              <a:prstGeom prst="line">
                <a:avLst/>
              </a:prstGeom>
              <a:ln w="25400" cap="flat" cmpd="sng">
                <a:solidFill>
                  <a:schemeClr val="tx1"/>
                </a:solidFill>
                <a:prstDash val="solid"/>
                <a:round/>
                <a:headEnd type="none" w="med" len="med"/>
                <a:tailEnd type="none" w="med" len="med"/>
              </a:ln>
            </p:spPr>
          </p:sp>
        </p:grpSp>
        <p:grpSp>
          <p:nvGrpSpPr>
            <p:cNvPr id="179233" name="组合 534561"/>
            <p:cNvGrpSpPr/>
            <p:nvPr/>
          </p:nvGrpSpPr>
          <p:grpSpPr>
            <a:xfrm>
              <a:off x="2208" y="664"/>
              <a:ext cx="520" cy="160"/>
              <a:chOff x="2208" y="664"/>
              <a:chExt cx="520" cy="160"/>
            </a:xfrm>
          </p:grpSpPr>
          <p:sp>
            <p:nvSpPr>
              <p:cNvPr id="179234" name="直接连接符 534562"/>
              <p:cNvSpPr/>
              <p:nvPr/>
            </p:nvSpPr>
            <p:spPr>
              <a:xfrm>
                <a:off x="2216" y="816"/>
                <a:ext cx="272" cy="0"/>
              </a:xfrm>
              <a:prstGeom prst="line">
                <a:avLst/>
              </a:prstGeom>
              <a:ln w="25400" cap="flat" cmpd="sng">
                <a:solidFill>
                  <a:schemeClr val="tx1"/>
                </a:solidFill>
                <a:prstDash val="solid"/>
                <a:round/>
                <a:headEnd type="none" w="med" len="med"/>
                <a:tailEnd type="none" w="med" len="med"/>
              </a:ln>
            </p:spPr>
          </p:sp>
          <p:sp>
            <p:nvSpPr>
              <p:cNvPr id="179235" name="直接连接符 534563"/>
              <p:cNvSpPr/>
              <p:nvPr/>
            </p:nvSpPr>
            <p:spPr>
              <a:xfrm>
                <a:off x="2208" y="680"/>
                <a:ext cx="0" cy="128"/>
              </a:xfrm>
              <a:prstGeom prst="line">
                <a:avLst/>
              </a:prstGeom>
              <a:ln w="25400" cap="flat" cmpd="sng">
                <a:solidFill>
                  <a:schemeClr val="tx1"/>
                </a:solidFill>
                <a:prstDash val="solid"/>
                <a:round/>
                <a:headEnd type="none" w="med" len="med"/>
                <a:tailEnd type="none" w="med" len="med"/>
              </a:ln>
            </p:spPr>
          </p:sp>
          <p:sp>
            <p:nvSpPr>
              <p:cNvPr id="179236" name="直接连接符 534564"/>
              <p:cNvSpPr/>
              <p:nvPr/>
            </p:nvSpPr>
            <p:spPr>
              <a:xfrm flipV="1">
                <a:off x="2496" y="664"/>
                <a:ext cx="0" cy="160"/>
              </a:xfrm>
              <a:prstGeom prst="line">
                <a:avLst/>
              </a:prstGeom>
              <a:ln w="25400" cap="flat" cmpd="sng">
                <a:solidFill>
                  <a:schemeClr val="tx1"/>
                </a:solidFill>
                <a:prstDash val="solid"/>
                <a:round/>
                <a:headEnd type="none" w="med" len="med"/>
                <a:tailEnd type="none" w="med" len="med"/>
              </a:ln>
            </p:spPr>
          </p:sp>
          <p:sp>
            <p:nvSpPr>
              <p:cNvPr id="179237" name="直接连接符 534565"/>
              <p:cNvSpPr/>
              <p:nvPr/>
            </p:nvSpPr>
            <p:spPr>
              <a:xfrm>
                <a:off x="2504" y="672"/>
                <a:ext cx="224" cy="0"/>
              </a:xfrm>
              <a:prstGeom prst="line">
                <a:avLst/>
              </a:prstGeom>
              <a:ln w="25400" cap="flat" cmpd="sng">
                <a:solidFill>
                  <a:schemeClr val="tx1"/>
                </a:solidFill>
                <a:prstDash val="solid"/>
                <a:round/>
                <a:headEnd type="none" w="med" len="med"/>
                <a:tailEnd type="none" w="med" len="med"/>
              </a:ln>
            </p:spPr>
          </p:sp>
        </p:grpSp>
        <p:grpSp>
          <p:nvGrpSpPr>
            <p:cNvPr id="179238" name="组合 534566"/>
            <p:cNvGrpSpPr/>
            <p:nvPr/>
          </p:nvGrpSpPr>
          <p:grpSpPr>
            <a:xfrm>
              <a:off x="2736" y="664"/>
              <a:ext cx="520" cy="160"/>
              <a:chOff x="2736" y="664"/>
              <a:chExt cx="520" cy="160"/>
            </a:xfrm>
          </p:grpSpPr>
          <p:sp>
            <p:nvSpPr>
              <p:cNvPr id="179239" name="直接连接符 534567"/>
              <p:cNvSpPr/>
              <p:nvPr/>
            </p:nvSpPr>
            <p:spPr>
              <a:xfrm>
                <a:off x="2744" y="816"/>
                <a:ext cx="272" cy="0"/>
              </a:xfrm>
              <a:prstGeom prst="line">
                <a:avLst/>
              </a:prstGeom>
              <a:ln w="25400" cap="flat" cmpd="sng">
                <a:solidFill>
                  <a:schemeClr val="tx1"/>
                </a:solidFill>
                <a:prstDash val="solid"/>
                <a:round/>
                <a:headEnd type="none" w="med" len="med"/>
                <a:tailEnd type="none" w="med" len="med"/>
              </a:ln>
            </p:spPr>
          </p:sp>
          <p:sp>
            <p:nvSpPr>
              <p:cNvPr id="179240" name="直接连接符 534568"/>
              <p:cNvSpPr/>
              <p:nvPr/>
            </p:nvSpPr>
            <p:spPr>
              <a:xfrm>
                <a:off x="2736" y="680"/>
                <a:ext cx="0" cy="128"/>
              </a:xfrm>
              <a:prstGeom prst="line">
                <a:avLst/>
              </a:prstGeom>
              <a:ln w="25400" cap="flat" cmpd="sng">
                <a:solidFill>
                  <a:schemeClr val="tx1"/>
                </a:solidFill>
                <a:prstDash val="solid"/>
                <a:round/>
                <a:headEnd type="none" w="med" len="med"/>
                <a:tailEnd type="none" w="med" len="med"/>
              </a:ln>
            </p:spPr>
          </p:sp>
          <p:sp>
            <p:nvSpPr>
              <p:cNvPr id="179241" name="直接连接符 534569"/>
              <p:cNvSpPr/>
              <p:nvPr/>
            </p:nvSpPr>
            <p:spPr>
              <a:xfrm flipV="1">
                <a:off x="3024" y="664"/>
                <a:ext cx="0" cy="160"/>
              </a:xfrm>
              <a:prstGeom prst="line">
                <a:avLst/>
              </a:prstGeom>
              <a:ln w="25400" cap="flat" cmpd="sng">
                <a:solidFill>
                  <a:schemeClr val="tx1"/>
                </a:solidFill>
                <a:prstDash val="solid"/>
                <a:round/>
                <a:headEnd type="none" w="med" len="med"/>
                <a:tailEnd type="none" w="med" len="med"/>
              </a:ln>
            </p:spPr>
          </p:sp>
          <p:sp>
            <p:nvSpPr>
              <p:cNvPr id="179242" name="直接连接符 534570"/>
              <p:cNvSpPr/>
              <p:nvPr/>
            </p:nvSpPr>
            <p:spPr>
              <a:xfrm>
                <a:off x="3032" y="672"/>
                <a:ext cx="224" cy="0"/>
              </a:xfrm>
              <a:prstGeom prst="line">
                <a:avLst/>
              </a:prstGeom>
              <a:ln w="25400" cap="flat" cmpd="sng">
                <a:solidFill>
                  <a:schemeClr val="tx1"/>
                </a:solidFill>
                <a:prstDash val="solid"/>
                <a:round/>
                <a:headEnd type="none" w="med" len="med"/>
                <a:tailEnd type="none" w="med" len="med"/>
              </a:ln>
            </p:spPr>
          </p:sp>
        </p:grpSp>
        <p:grpSp>
          <p:nvGrpSpPr>
            <p:cNvPr id="179243" name="组合 534571"/>
            <p:cNvGrpSpPr/>
            <p:nvPr/>
          </p:nvGrpSpPr>
          <p:grpSpPr>
            <a:xfrm>
              <a:off x="3264" y="664"/>
              <a:ext cx="520" cy="160"/>
              <a:chOff x="3264" y="664"/>
              <a:chExt cx="520" cy="160"/>
            </a:xfrm>
          </p:grpSpPr>
          <p:sp>
            <p:nvSpPr>
              <p:cNvPr id="179244" name="直接连接符 534572"/>
              <p:cNvSpPr/>
              <p:nvPr/>
            </p:nvSpPr>
            <p:spPr>
              <a:xfrm>
                <a:off x="3272" y="816"/>
                <a:ext cx="272" cy="0"/>
              </a:xfrm>
              <a:prstGeom prst="line">
                <a:avLst/>
              </a:prstGeom>
              <a:ln w="25400" cap="flat" cmpd="sng">
                <a:solidFill>
                  <a:schemeClr val="tx1"/>
                </a:solidFill>
                <a:prstDash val="solid"/>
                <a:round/>
                <a:headEnd type="none" w="med" len="med"/>
                <a:tailEnd type="none" w="med" len="med"/>
              </a:ln>
            </p:spPr>
          </p:sp>
          <p:sp>
            <p:nvSpPr>
              <p:cNvPr id="179245" name="直接连接符 534573"/>
              <p:cNvSpPr/>
              <p:nvPr/>
            </p:nvSpPr>
            <p:spPr>
              <a:xfrm>
                <a:off x="3264" y="680"/>
                <a:ext cx="0" cy="128"/>
              </a:xfrm>
              <a:prstGeom prst="line">
                <a:avLst/>
              </a:prstGeom>
              <a:ln w="25400" cap="flat" cmpd="sng">
                <a:solidFill>
                  <a:schemeClr val="tx1"/>
                </a:solidFill>
                <a:prstDash val="solid"/>
                <a:round/>
                <a:headEnd type="none" w="med" len="med"/>
                <a:tailEnd type="none" w="med" len="med"/>
              </a:ln>
            </p:spPr>
          </p:sp>
          <p:sp>
            <p:nvSpPr>
              <p:cNvPr id="179246" name="直接连接符 534574"/>
              <p:cNvSpPr/>
              <p:nvPr/>
            </p:nvSpPr>
            <p:spPr>
              <a:xfrm flipV="1">
                <a:off x="3552" y="664"/>
                <a:ext cx="0" cy="160"/>
              </a:xfrm>
              <a:prstGeom prst="line">
                <a:avLst/>
              </a:prstGeom>
              <a:ln w="25400" cap="flat" cmpd="sng">
                <a:solidFill>
                  <a:schemeClr val="tx1"/>
                </a:solidFill>
                <a:prstDash val="solid"/>
                <a:round/>
                <a:headEnd type="none" w="med" len="med"/>
                <a:tailEnd type="none" w="med" len="med"/>
              </a:ln>
            </p:spPr>
          </p:sp>
          <p:sp>
            <p:nvSpPr>
              <p:cNvPr id="179247" name="直接连接符 534575"/>
              <p:cNvSpPr/>
              <p:nvPr/>
            </p:nvSpPr>
            <p:spPr>
              <a:xfrm>
                <a:off x="3560" y="672"/>
                <a:ext cx="224" cy="0"/>
              </a:xfrm>
              <a:prstGeom prst="line">
                <a:avLst/>
              </a:prstGeom>
              <a:ln w="25400" cap="flat" cmpd="sng">
                <a:solidFill>
                  <a:schemeClr val="tx1"/>
                </a:solidFill>
                <a:prstDash val="solid"/>
                <a:round/>
                <a:headEnd type="none" w="med" len="med"/>
                <a:tailEnd type="none" w="med" len="med"/>
              </a:ln>
            </p:spPr>
          </p:sp>
        </p:grpSp>
        <p:grpSp>
          <p:nvGrpSpPr>
            <p:cNvPr id="179248" name="组合 534576"/>
            <p:cNvGrpSpPr/>
            <p:nvPr/>
          </p:nvGrpSpPr>
          <p:grpSpPr>
            <a:xfrm>
              <a:off x="3792" y="664"/>
              <a:ext cx="520" cy="160"/>
              <a:chOff x="3792" y="664"/>
              <a:chExt cx="520" cy="160"/>
            </a:xfrm>
          </p:grpSpPr>
          <p:sp>
            <p:nvSpPr>
              <p:cNvPr id="179249" name="直接连接符 534577"/>
              <p:cNvSpPr/>
              <p:nvPr/>
            </p:nvSpPr>
            <p:spPr>
              <a:xfrm>
                <a:off x="3800" y="816"/>
                <a:ext cx="272" cy="0"/>
              </a:xfrm>
              <a:prstGeom prst="line">
                <a:avLst/>
              </a:prstGeom>
              <a:ln w="25400" cap="flat" cmpd="sng">
                <a:solidFill>
                  <a:schemeClr val="tx1"/>
                </a:solidFill>
                <a:prstDash val="solid"/>
                <a:round/>
                <a:headEnd type="none" w="med" len="med"/>
                <a:tailEnd type="none" w="med" len="med"/>
              </a:ln>
            </p:spPr>
          </p:sp>
          <p:sp>
            <p:nvSpPr>
              <p:cNvPr id="179250" name="直接连接符 534578"/>
              <p:cNvSpPr/>
              <p:nvPr/>
            </p:nvSpPr>
            <p:spPr>
              <a:xfrm>
                <a:off x="3792" y="680"/>
                <a:ext cx="0" cy="128"/>
              </a:xfrm>
              <a:prstGeom prst="line">
                <a:avLst/>
              </a:prstGeom>
              <a:ln w="25400" cap="flat" cmpd="sng">
                <a:solidFill>
                  <a:schemeClr val="tx1"/>
                </a:solidFill>
                <a:prstDash val="solid"/>
                <a:round/>
                <a:headEnd type="none" w="med" len="med"/>
                <a:tailEnd type="none" w="med" len="med"/>
              </a:ln>
            </p:spPr>
          </p:sp>
          <p:sp>
            <p:nvSpPr>
              <p:cNvPr id="179251" name="直接连接符 534579"/>
              <p:cNvSpPr/>
              <p:nvPr/>
            </p:nvSpPr>
            <p:spPr>
              <a:xfrm flipV="1">
                <a:off x="4080" y="664"/>
                <a:ext cx="0" cy="160"/>
              </a:xfrm>
              <a:prstGeom prst="line">
                <a:avLst/>
              </a:prstGeom>
              <a:ln w="25400" cap="flat" cmpd="sng">
                <a:solidFill>
                  <a:schemeClr val="tx1"/>
                </a:solidFill>
                <a:prstDash val="solid"/>
                <a:round/>
                <a:headEnd type="none" w="med" len="med"/>
                <a:tailEnd type="none" w="med" len="med"/>
              </a:ln>
            </p:spPr>
          </p:sp>
          <p:sp>
            <p:nvSpPr>
              <p:cNvPr id="179252" name="直接连接符 534580"/>
              <p:cNvSpPr/>
              <p:nvPr/>
            </p:nvSpPr>
            <p:spPr>
              <a:xfrm>
                <a:off x="4088" y="672"/>
                <a:ext cx="224" cy="0"/>
              </a:xfrm>
              <a:prstGeom prst="line">
                <a:avLst/>
              </a:prstGeom>
              <a:ln w="25400" cap="flat" cmpd="sng">
                <a:solidFill>
                  <a:schemeClr val="tx1"/>
                </a:solidFill>
                <a:prstDash val="solid"/>
                <a:round/>
                <a:headEnd type="none" w="med" len="med"/>
                <a:tailEnd type="none" w="med" len="med"/>
              </a:ln>
            </p:spPr>
          </p:sp>
        </p:grpSp>
        <p:grpSp>
          <p:nvGrpSpPr>
            <p:cNvPr id="179253" name="组合 534581"/>
            <p:cNvGrpSpPr/>
            <p:nvPr/>
          </p:nvGrpSpPr>
          <p:grpSpPr>
            <a:xfrm>
              <a:off x="4320" y="664"/>
              <a:ext cx="520" cy="160"/>
              <a:chOff x="4320" y="664"/>
              <a:chExt cx="520" cy="160"/>
            </a:xfrm>
          </p:grpSpPr>
          <p:sp>
            <p:nvSpPr>
              <p:cNvPr id="179254" name="直接连接符 534582"/>
              <p:cNvSpPr/>
              <p:nvPr/>
            </p:nvSpPr>
            <p:spPr>
              <a:xfrm>
                <a:off x="4328" y="816"/>
                <a:ext cx="272" cy="0"/>
              </a:xfrm>
              <a:prstGeom prst="line">
                <a:avLst/>
              </a:prstGeom>
              <a:ln w="25400" cap="flat" cmpd="sng">
                <a:solidFill>
                  <a:schemeClr val="tx1"/>
                </a:solidFill>
                <a:prstDash val="solid"/>
                <a:round/>
                <a:headEnd type="none" w="med" len="med"/>
                <a:tailEnd type="none" w="med" len="med"/>
              </a:ln>
            </p:spPr>
          </p:sp>
          <p:sp>
            <p:nvSpPr>
              <p:cNvPr id="179255" name="直接连接符 534583"/>
              <p:cNvSpPr/>
              <p:nvPr/>
            </p:nvSpPr>
            <p:spPr>
              <a:xfrm>
                <a:off x="4320" y="680"/>
                <a:ext cx="0" cy="128"/>
              </a:xfrm>
              <a:prstGeom prst="line">
                <a:avLst/>
              </a:prstGeom>
              <a:ln w="25400" cap="flat" cmpd="sng">
                <a:solidFill>
                  <a:schemeClr val="tx1"/>
                </a:solidFill>
                <a:prstDash val="solid"/>
                <a:round/>
                <a:headEnd type="none" w="med" len="med"/>
                <a:tailEnd type="none" w="med" len="med"/>
              </a:ln>
            </p:spPr>
          </p:sp>
          <p:sp>
            <p:nvSpPr>
              <p:cNvPr id="179256" name="直接连接符 534584"/>
              <p:cNvSpPr/>
              <p:nvPr/>
            </p:nvSpPr>
            <p:spPr>
              <a:xfrm flipV="1">
                <a:off x="4608" y="664"/>
                <a:ext cx="0" cy="160"/>
              </a:xfrm>
              <a:prstGeom prst="line">
                <a:avLst/>
              </a:prstGeom>
              <a:ln w="25400" cap="flat" cmpd="sng">
                <a:solidFill>
                  <a:schemeClr val="tx1"/>
                </a:solidFill>
                <a:prstDash val="solid"/>
                <a:round/>
                <a:headEnd type="none" w="med" len="med"/>
                <a:tailEnd type="none" w="med" len="med"/>
              </a:ln>
            </p:spPr>
          </p:sp>
          <p:sp>
            <p:nvSpPr>
              <p:cNvPr id="179257" name="直接连接符 534585"/>
              <p:cNvSpPr/>
              <p:nvPr/>
            </p:nvSpPr>
            <p:spPr>
              <a:xfrm>
                <a:off x="4616" y="672"/>
                <a:ext cx="224" cy="0"/>
              </a:xfrm>
              <a:prstGeom prst="line">
                <a:avLst/>
              </a:prstGeom>
              <a:ln w="25400" cap="flat" cmpd="sng">
                <a:solidFill>
                  <a:schemeClr val="tx1"/>
                </a:solidFill>
                <a:prstDash val="solid"/>
                <a:round/>
                <a:headEnd type="none" w="med" len="med"/>
                <a:tailEnd type="none" w="med" len="med"/>
              </a:ln>
            </p:spPr>
          </p:sp>
        </p:grpSp>
        <p:sp>
          <p:nvSpPr>
            <p:cNvPr id="179258" name="直接连接符 534586"/>
            <p:cNvSpPr/>
            <p:nvPr/>
          </p:nvSpPr>
          <p:spPr>
            <a:xfrm>
              <a:off x="392" y="672"/>
              <a:ext cx="224" cy="0"/>
            </a:xfrm>
            <a:prstGeom prst="line">
              <a:avLst/>
            </a:prstGeom>
            <a:ln w="25400" cap="flat" cmpd="sng">
              <a:solidFill>
                <a:schemeClr val="tx1"/>
              </a:solidFill>
              <a:prstDash val="solid"/>
              <a:round/>
              <a:headEnd type="none" w="med" len="med"/>
              <a:tailEnd type="none" w="med" len="med"/>
            </a:ln>
          </p:spPr>
        </p:sp>
        <p:sp>
          <p:nvSpPr>
            <p:cNvPr id="179259" name="直接连接符 534587"/>
            <p:cNvSpPr/>
            <p:nvPr/>
          </p:nvSpPr>
          <p:spPr>
            <a:xfrm>
              <a:off x="4856" y="816"/>
              <a:ext cx="272" cy="0"/>
            </a:xfrm>
            <a:prstGeom prst="line">
              <a:avLst/>
            </a:prstGeom>
            <a:ln w="25400" cap="flat" cmpd="sng">
              <a:solidFill>
                <a:schemeClr val="tx1"/>
              </a:solidFill>
              <a:prstDash val="solid"/>
              <a:round/>
              <a:headEnd type="none" w="med" len="med"/>
              <a:tailEnd type="none" w="med" len="med"/>
            </a:ln>
          </p:spPr>
        </p:sp>
        <p:sp>
          <p:nvSpPr>
            <p:cNvPr id="179260" name="直接连接符 534588"/>
            <p:cNvSpPr/>
            <p:nvPr/>
          </p:nvSpPr>
          <p:spPr>
            <a:xfrm>
              <a:off x="4848" y="680"/>
              <a:ext cx="0" cy="128"/>
            </a:xfrm>
            <a:prstGeom prst="line">
              <a:avLst/>
            </a:prstGeom>
            <a:ln w="25400" cap="flat" cmpd="sng">
              <a:solidFill>
                <a:schemeClr val="tx1"/>
              </a:solidFill>
              <a:prstDash val="solid"/>
              <a:round/>
              <a:headEnd type="none" w="med" len="med"/>
              <a:tailEnd type="none" w="med" len="med"/>
            </a:ln>
          </p:spPr>
        </p:sp>
        <p:sp>
          <p:nvSpPr>
            <p:cNvPr id="179261" name="矩形 534589"/>
            <p:cNvSpPr/>
            <p:nvPr/>
          </p:nvSpPr>
          <p:spPr>
            <a:xfrm>
              <a:off x="663" y="432"/>
              <a:ext cx="456"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Cycle 1</a:t>
              </a:r>
              <a:endParaRPr lang="en-US" altLang="zh-CN">
                <a:latin typeface="Times New Roman" panose="02020603050405020304" pitchFamily="18" charset="0"/>
                <a:ea typeface="宋体" panose="02010600030101010101" pitchFamily="2" charset="-122"/>
              </a:endParaRPr>
            </a:p>
          </p:txBody>
        </p:sp>
        <p:sp>
          <p:nvSpPr>
            <p:cNvPr id="179262" name="矩形 534590"/>
            <p:cNvSpPr/>
            <p:nvPr/>
          </p:nvSpPr>
          <p:spPr>
            <a:xfrm>
              <a:off x="1143" y="432"/>
              <a:ext cx="456"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Cycle 2</a:t>
              </a:r>
              <a:endParaRPr lang="en-US" altLang="zh-CN">
                <a:latin typeface="Times New Roman" panose="02020603050405020304" pitchFamily="18" charset="0"/>
                <a:ea typeface="宋体" panose="02010600030101010101" pitchFamily="2" charset="-122"/>
              </a:endParaRPr>
            </a:p>
          </p:txBody>
        </p:sp>
        <p:sp>
          <p:nvSpPr>
            <p:cNvPr id="179263" name="矩形 534591"/>
            <p:cNvSpPr/>
            <p:nvPr/>
          </p:nvSpPr>
          <p:spPr>
            <a:xfrm>
              <a:off x="1719" y="432"/>
              <a:ext cx="456"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Cycle 3</a:t>
              </a:r>
              <a:endParaRPr lang="en-US" altLang="zh-CN">
                <a:latin typeface="Times New Roman" panose="02020603050405020304" pitchFamily="18" charset="0"/>
                <a:ea typeface="宋体" panose="02010600030101010101" pitchFamily="2" charset="-122"/>
              </a:endParaRPr>
            </a:p>
          </p:txBody>
        </p:sp>
        <p:sp>
          <p:nvSpPr>
            <p:cNvPr id="179264" name="矩形 534592"/>
            <p:cNvSpPr/>
            <p:nvPr/>
          </p:nvSpPr>
          <p:spPr>
            <a:xfrm>
              <a:off x="2199" y="432"/>
              <a:ext cx="456"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Cycle 4</a:t>
              </a:r>
              <a:endParaRPr lang="en-US" altLang="zh-CN">
                <a:latin typeface="Times New Roman" panose="02020603050405020304" pitchFamily="18" charset="0"/>
                <a:ea typeface="宋体" panose="02010600030101010101" pitchFamily="2" charset="-122"/>
              </a:endParaRPr>
            </a:p>
          </p:txBody>
        </p:sp>
        <p:sp>
          <p:nvSpPr>
            <p:cNvPr id="179265" name="矩形 534593"/>
            <p:cNvSpPr/>
            <p:nvPr/>
          </p:nvSpPr>
          <p:spPr>
            <a:xfrm>
              <a:off x="2727" y="432"/>
              <a:ext cx="456"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Cycle 5</a:t>
              </a:r>
              <a:endParaRPr lang="en-US" altLang="zh-CN">
                <a:latin typeface="Times New Roman" panose="02020603050405020304" pitchFamily="18" charset="0"/>
                <a:ea typeface="宋体" panose="02010600030101010101" pitchFamily="2" charset="-122"/>
              </a:endParaRPr>
            </a:p>
          </p:txBody>
        </p:sp>
        <p:sp>
          <p:nvSpPr>
            <p:cNvPr id="179266" name="矩形 534594"/>
            <p:cNvSpPr/>
            <p:nvPr/>
          </p:nvSpPr>
          <p:spPr>
            <a:xfrm>
              <a:off x="3255" y="432"/>
              <a:ext cx="456"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Cycle 6</a:t>
              </a:r>
              <a:endParaRPr lang="en-US" altLang="zh-CN">
                <a:latin typeface="Times New Roman" panose="02020603050405020304" pitchFamily="18" charset="0"/>
                <a:ea typeface="宋体" panose="02010600030101010101" pitchFamily="2" charset="-122"/>
              </a:endParaRPr>
            </a:p>
          </p:txBody>
        </p:sp>
        <p:sp>
          <p:nvSpPr>
            <p:cNvPr id="179267" name="矩形 534595"/>
            <p:cNvSpPr/>
            <p:nvPr/>
          </p:nvSpPr>
          <p:spPr>
            <a:xfrm>
              <a:off x="3783" y="432"/>
              <a:ext cx="457"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Cycle 7</a:t>
              </a:r>
              <a:endParaRPr lang="en-US" altLang="zh-CN">
                <a:latin typeface="Times New Roman" panose="02020603050405020304" pitchFamily="18" charset="0"/>
                <a:ea typeface="宋体" panose="02010600030101010101" pitchFamily="2" charset="-122"/>
              </a:endParaRPr>
            </a:p>
          </p:txBody>
        </p:sp>
        <p:sp>
          <p:nvSpPr>
            <p:cNvPr id="179268" name="矩形 534596"/>
            <p:cNvSpPr/>
            <p:nvPr/>
          </p:nvSpPr>
          <p:spPr>
            <a:xfrm>
              <a:off x="4311" y="432"/>
              <a:ext cx="472" cy="210"/>
            </a:xfrm>
            <a:prstGeom prst="rect">
              <a:avLst/>
            </a:prstGeom>
            <a:noFill/>
            <a:ln w="12700">
              <a:noFill/>
            </a:ln>
          </p:spPr>
          <p:txBody>
            <a:bodyPr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Cycle 8</a:t>
              </a:r>
              <a:endParaRPr lang="en-US" altLang="zh-CN">
                <a:latin typeface="Times New Roman" panose="02020603050405020304" pitchFamily="18" charset="0"/>
                <a:ea typeface="宋体" panose="02010600030101010101" pitchFamily="2" charset="-122"/>
              </a:endParaRPr>
            </a:p>
          </p:txBody>
        </p:sp>
        <p:grpSp>
          <p:nvGrpSpPr>
            <p:cNvPr id="179269" name="组合 534597"/>
            <p:cNvGrpSpPr/>
            <p:nvPr/>
          </p:nvGrpSpPr>
          <p:grpSpPr>
            <a:xfrm>
              <a:off x="632" y="960"/>
              <a:ext cx="2624" cy="210"/>
              <a:chOff x="632" y="960"/>
              <a:chExt cx="2624" cy="210"/>
            </a:xfrm>
          </p:grpSpPr>
          <p:grpSp>
            <p:nvGrpSpPr>
              <p:cNvPr id="179270" name="组合 534598"/>
              <p:cNvGrpSpPr/>
              <p:nvPr/>
            </p:nvGrpSpPr>
            <p:grpSpPr>
              <a:xfrm>
                <a:off x="632" y="960"/>
                <a:ext cx="512" cy="210"/>
                <a:chOff x="632" y="960"/>
                <a:chExt cx="512" cy="210"/>
              </a:xfrm>
            </p:grpSpPr>
            <p:sp>
              <p:nvSpPr>
                <p:cNvPr id="179271" name="矩形 534599"/>
                <p:cNvSpPr/>
                <p:nvPr/>
              </p:nvSpPr>
              <p:spPr>
                <a:xfrm>
                  <a:off x="632" y="968"/>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72" name="矩形 534600"/>
                <p:cNvSpPr/>
                <p:nvPr/>
              </p:nvSpPr>
              <p:spPr>
                <a:xfrm>
                  <a:off x="673" y="960"/>
                  <a:ext cx="384"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79273" name="组合 534601"/>
              <p:cNvGrpSpPr/>
              <p:nvPr/>
            </p:nvGrpSpPr>
            <p:grpSpPr>
              <a:xfrm>
                <a:off x="1143" y="960"/>
                <a:ext cx="529" cy="210"/>
                <a:chOff x="1143" y="960"/>
                <a:chExt cx="529" cy="210"/>
              </a:xfrm>
            </p:grpSpPr>
            <p:sp>
              <p:nvSpPr>
                <p:cNvPr id="179274" name="矩形 534602"/>
                <p:cNvSpPr/>
                <p:nvPr/>
              </p:nvSpPr>
              <p:spPr>
                <a:xfrm>
                  <a:off x="1160" y="968"/>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75" name="矩形 534603"/>
                <p:cNvSpPr/>
                <p:nvPr/>
              </p:nvSpPr>
              <p:spPr>
                <a:xfrm>
                  <a:off x="1143" y="960"/>
                  <a:ext cx="503"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r>
                    <a:rPr lang="en-US" altLang="zh-CN">
                      <a:latin typeface="Times New Roman" panose="02020603050405020304" pitchFamily="18" charset="0"/>
                      <a:ea typeface="宋体" panose="02010600030101010101" pitchFamily="2" charset="-122"/>
                    </a:rPr>
                    <a:t>/Dec</a:t>
                  </a:r>
                  <a:endParaRPr lang="en-US" altLang="zh-CN">
                    <a:latin typeface="Times New Roman" panose="02020603050405020304" pitchFamily="18" charset="0"/>
                    <a:ea typeface="宋体" panose="02010600030101010101" pitchFamily="2" charset="-122"/>
                  </a:endParaRPr>
                </a:p>
              </p:txBody>
            </p:sp>
          </p:grpSp>
          <p:grpSp>
            <p:nvGrpSpPr>
              <p:cNvPr id="179276" name="组合 534604"/>
              <p:cNvGrpSpPr/>
              <p:nvPr/>
            </p:nvGrpSpPr>
            <p:grpSpPr>
              <a:xfrm>
                <a:off x="1688" y="960"/>
                <a:ext cx="512" cy="210"/>
                <a:chOff x="1688" y="960"/>
                <a:chExt cx="512" cy="210"/>
              </a:xfrm>
            </p:grpSpPr>
            <p:sp>
              <p:nvSpPr>
                <p:cNvPr id="179277" name="矩形 534605"/>
                <p:cNvSpPr/>
                <p:nvPr/>
              </p:nvSpPr>
              <p:spPr>
                <a:xfrm>
                  <a:off x="1688" y="968"/>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78" name="矩形 534606"/>
                <p:cNvSpPr/>
                <p:nvPr/>
              </p:nvSpPr>
              <p:spPr>
                <a:xfrm>
                  <a:off x="1767" y="960"/>
                  <a:ext cx="332"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79279" name="组合 534607"/>
              <p:cNvGrpSpPr/>
              <p:nvPr/>
            </p:nvGrpSpPr>
            <p:grpSpPr>
              <a:xfrm>
                <a:off x="2216" y="960"/>
                <a:ext cx="512" cy="210"/>
                <a:chOff x="2216" y="960"/>
                <a:chExt cx="512" cy="210"/>
              </a:xfrm>
            </p:grpSpPr>
            <p:sp>
              <p:nvSpPr>
                <p:cNvPr id="179280" name="矩形 534608"/>
                <p:cNvSpPr/>
                <p:nvPr/>
              </p:nvSpPr>
              <p:spPr>
                <a:xfrm>
                  <a:off x="2216" y="968"/>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81" name="矩形 534609"/>
                <p:cNvSpPr/>
                <p:nvPr/>
              </p:nvSpPr>
              <p:spPr>
                <a:xfrm>
                  <a:off x="2295" y="960"/>
                  <a:ext cx="353"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Mem</a:t>
                  </a:r>
                  <a:endParaRPr lang="en-US" altLang="zh-CN">
                    <a:latin typeface="Times New Roman" panose="02020603050405020304" pitchFamily="18" charset="0"/>
                    <a:ea typeface="宋体" panose="02010600030101010101" pitchFamily="2" charset="-122"/>
                  </a:endParaRPr>
                </a:p>
              </p:txBody>
            </p:sp>
          </p:grpSp>
          <p:grpSp>
            <p:nvGrpSpPr>
              <p:cNvPr id="179282" name="组合 534610"/>
              <p:cNvGrpSpPr/>
              <p:nvPr/>
            </p:nvGrpSpPr>
            <p:grpSpPr>
              <a:xfrm>
                <a:off x="2744" y="960"/>
                <a:ext cx="512" cy="210"/>
                <a:chOff x="2744" y="960"/>
                <a:chExt cx="512" cy="210"/>
              </a:xfrm>
            </p:grpSpPr>
            <p:sp>
              <p:nvSpPr>
                <p:cNvPr id="179283" name="矩形 534611"/>
                <p:cNvSpPr/>
                <p:nvPr/>
              </p:nvSpPr>
              <p:spPr>
                <a:xfrm>
                  <a:off x="2744" y="968"/>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84" name="矩形 534612"/>
                <p:cNvSpPr/>
                <p:nvPr/>
              </p:nvSpPr>
              <p:spPr>
                <a:xfrm>
                  <a:off x="2823" y="960"/>
                  <a:ext cx="264"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Wr</a:t>
                  </a:r>
                  <a:endParaRPr lang="en-US" altLang="zh-CN">
                    <a:latin typeface="Times New Roman" panose="02020603050405020304" pitchFamily="18" charset="0"/>
                    <a:ea typeface="宋体" panose="02010600030101010101" pitchFamily="2" charset="-122"/>
                  </a:endParaRPr>
                </a:p>
              </p:txBody>
            </p:sp>
          </p:grpSp>
        </p:grpSp>
        <p:sp>
          <p:nvSpPr>
            <p:cNvPr id="179285" name="矩形 534613"/>
            <p:cNvSpPr/>
            <p:nvPr/>
          </p:nvSpPr>
          <p:spPr>
            <a:xfrm>
              <a:off x="135" y="960"/>
              <a:ext cx="514" cy="210"/>
            </a:xfrm>
            <a:prstGeom prst="rect">
              <a:avLst/>
            </a:prstGeom>
            <a:noFill/>
            <a:ln w="12700">
              <a:noFill/>
            </a:ln>
          </p:spPr>
          <p:txBody>
            <a:bodyPr wrap="none" lIns="90488" tIns="44450" rIns="90488" bIns="44450" anchor="t" anchorCtr="0">
              <a:spAutoFit/>
            </a:bodyPr>
            <a:p>
              <a:pPr eaLnBrk="0" hangingPunct="0"/>
              <a:r>
                <a:rPr lang="zh-CN" altLang="en-US" dirty="0">
                  <a:solidFill>
                    <a:schemeClr val="accent1"/>
                  </a:solidFill>
                  <a:latin typeface="微软雅黑" panose="020B0503020204020204" pitchFamily="34" charset="-122"/>
                  <a:ea typeface="微软雅黑" panose="020B0503020204020204" pitchFamily="34" charset="-122"/>
                </a:rPr>
                <a:t>0: </a:t>
              </a:r>
              <a:r>
                <a:rPr lang="en-US" altLang="zh-CN">
                  <a:solidFill>
                    <a:schemeClr val="accent1"/>
                  </a:solidFill>
                  <a:latin typeface="微软雅黑" panose="020B0503020204020204" pitchFamily="34" charset="-122"/>
                  <a:ea typeface="微软雅黑" panose="020B0503020204020204" pitchFamily="34" charset="-122"/>
                </a:rPr>
                <a:t>Load</a:t>
              </a:r>
              <a:endParaRPr lang="en-US" altLang="zh-CN">
                <a:solidFill>
                  <a:schemeClr val="accent1"/>
                </a:solidFill>
                <a:latin typeface="微软雅黑" panose="020B0503020204020204" pitchFamily="34" charset="-122"/>
                <a:ea typeface="微软雅黑" panose="020B0503020204020204" pitchFamily="34" charset="-122"/>
              </a:endParaRPr>
            </a:p>
          </p:txBody>
        </p:sp>
        <p:grpSp>
          <p:nvGrpSpPr>
            <p:cNvPr id="179286" name="组合 534614"/>
            <p:cNvGrpSpPr/>
            <p:nvPr/>
          </p:nvGrpSpPr>
          <p:grpSpPr>
            <a:xfrm>
              <a:off x="1160" y="1248"/>
              <a:ext cx="2624" cy="210"/>
              <a:chOff x="1160" y="1248"/>
              <a:chExt cx="2624" cy="210"/>
            </a:xfrm>
          </p:grpSpPr>
          <p:grpSp>
            <p:nvGrpSpPr>
              <p:cNvPr id="179287" name="组合 534615"/>
              <p:cNvGrpSpPr/>
              <p:nvPr/>
            </p:nvGrpSpPr>
            <p:grpSpPr>
              <a:xfrm>
                <a:off x="1160" y="1248"/>
                <a:ext cx="512" cy="210"/>
                <a:chOff x="1160" y="1248"/>
                <a:chExt cx="512" cy="210"/>
              </a:xfrm>
            </p:grpSpPr>
            <p:sp>
              <p:nvSpPr>
                <p:cNvPr id="179288" name="矩形 534616"/>
                <p:cNvSpPr/>
                <p:nvPr/>
              </p:nvSpPr>
              <p:spPr>
                <a:xfrm>
                  <a:off x="1160" y="1256"/>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89" name="矩形 534617"/>
                <p:cNvSpPr/>
                <p:nvPr/>
              </p:nvSpPr>
              <p:spPr>
                <a:xfrm>
                  <a:off x="1201" y="1248"/>
                  <a:ext cx="384"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79290" name="组合 534618"/>
              <p:cNvGrpSpPr/>
              <p:nvPr/>
            </p:nvGrpSpPr>
            <p:grpSpPr>
              <a:xfrm>
                <a:off x="1671" y="1248"/>
                <a:ext cx="529" cy="210"/>
                <a:chOff x="1671" y="1248"/>
                <a:chExt cx="529" cy="210"/>
              </a:xfrm>
            </p:grpSpPr>
            <p:sp>
              <p:nvSpPr>
                <p:cNvPr id="179291" name="矩形 534619"/>
                <p:cNvSpPr/>
                <p:nvPr/>
              </p:nvSpPr>
              <p:spPr>
                <a:xfrm>
                  <a:off x="1688" y="1256"/>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92" name="矩形 534620"/>
                <p:cNvSpPr/>
                <p:nvPr/>
              </p:nvSpPr>
              <p:spPr>
                <a:xfrm>
                  <a:off x="1671" y="1248"/>
                  <a:ext cx="503"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r>
                    <a:rPr lang="en-US" altLang="zh-CN">
                      <a:latin typeface="Times New Roman" panose="02020603050405020304" pitchFamily="18" charset="0"/>
                      <a:ea typeface="宋体" panose="02010600030101010101" pitchFamily="2" charset="-122"/>
                    </a:rPr>
                    <a:t>/Dec</a:t>
                  </a:r>
                  <a:endParaRPr lang="en-US" altLang="zh-CN">
                    <a:latin typeface="Times New Roman" panose="02020603050405020304" pitchFamily="18" charset="0"/>
                    <a:ea typeface="宋体" panose="02010600030101010101" pitchFamily="2" charset="-122"/>
                  </a:endParaRPr>
                </a:p>
              </p:txBody>
            </p:sp>
          </p:grpSp>
          <p:grpSp>
            <p:nvGrpSpPr>
              <p:cNvPr id="179293" name="组合 534621"/>
              <p:cNvGrpSpPr/>
              <p:nvPr/>
            </p:nvGrpSpPr>
            <p:grpSpPr>
              <a:xfrm>
                <a:off x="2216" y="1248"/>
                <a:ext cx="512" cy="210"/>
                <a:chOff x="2216" y="1248"/>
                <a:chExt cx="512" cy="210"/>
              </a:xfrm>
            </p:grpSpPr>
            <p:sp>
              <p:nvSpPr>
                <p:cNvPr id="179294" name="矩形 534622"/>
                <p:cNvSpPr/>
                <p:nvPr/>
              </p:nvSpPr>
              <p:spPr>
                <a:xfrm>
                  <a:off x="2216" y="1256"/>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95" name="矩形 534623"/>
                <p:cNvSpPr/>
                <p:nvPr/>
              </p:nvSpPr>
              <p:spPr>
                <a:xfrm>
                  <a:off x="2295" y="1248"/>
                  <a:ext cx="333"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79296" name="组合 534624"/>
              <p:cNvGrpSpPr/>
              <p:nvPr/>
            </p:nvGrpSpPr>
            <p:grpSpPr>
              <a:xfrm>
                <a:off x="2744" y="1248"/>
                <a:ext cx="512" cy="210"/>
                <a:chOff x="2744" y="1248"/>
                <a:chExt cx="512" cy="210"/>
              </a:xfrm>
            </p:grpSpPr>
            <p:sp>
              <p:nvSpPr>
                <p:cNvPr id="179297" name="矩形 534625"/>
                <p:cNvSpPr/>
                <p:nvPr/>
              </p:nvSpPr>
              <p:spPr>
                <a:xfrm>
                  <a:off x="2744" y="1256"/>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298" name="矩形 534626"/>
                <p:cNvSpPr/>
                <p:nvPr/>
              </p:nvSpPr>
              <p:spPr>
                <a:xfrm>
                  <a:off x="2823" y="1248"/>
                  <a:ext cx="352"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Mem</a:t>
                  </a:r>
                  <a:endParaRPr lang="en-US" altLang="zh-CN">
                    <a:latin typeface="Times New Roman" panose="02020603050405020304" pitchFamily="18" charset="0"/>
                    <a:ea typeface="宋体" panose="02010600030101010101" pitchFamily="2" charset="-122"/>
                  </a:endParaRPr>
                </a:p>
              </p:txBody>
            </p:sp>
          </p:grpSp>
          <p:grpSp>
            <p:nvGrpSpPr>
              <p:cNvPr id="179299" name="组合 534627"/>
              <p:cNvGrpSpPr/>
              <p:nvPr/>
            </p:nvGrpSpPr>
            <p:grpSpPr>
              <a:xfrm>
                <a:off x="3272" y="1248"/>
                <a:ext cx="512" cy="210"/>
                <a:chOff x="3272" y="1248"/>
                <a:chExt cx="512" cy="210"/>
              </a:xfrm>
            </p:grpSpPr>
            <p:sp>
              <p:nvSpPr>
                <p:cNvPr id="179300" name="矩形 534628"/>
                <p:cNvSpPr/>
                <p:nvPr/>
              </p:nvSpPr>
              <p:spPr>
                <a:xfrm>
                  <a:off x="3272" y="1256"/>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01" name="矩形 534629"/>
                <p:cNvSpPr/>
                <p:nvPr/>
              </p:nvSpPr>
              <p:spPr>
                <a:xfrm>
                  <a:off x="3351" y="1248"/>
                  <a:ext cx="264"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Wr</a:t>
                  </a:r>
                  <a:endParaRPr lang="en-US" altLang="zh-CN">
                    <a:latin typeface="Times New Roman" panose="02020603050405020304" pitchFamily="18" charset="0"/>
                    <a:ea typeface="宋体" panose="02010600030101010101" pitchFamily="2" charset="-122"/>
                  </a:endParaRPr>
                </a:p>
              </p:txBody>
            </p:sp>
          </p:grpSp>
        </p:grpSp>
        <p:sp>
          <p:nvSpPr>
            <p:cNvPr id="179302" name="矩形 534630"/>
            <p:cNvSpPr/>
            <p:nvPr/>
          </p:nvSpPr>
          <p:spPr>
            <a:xfrm>
              <a:off x="567" y="1248"/>
              <a:ext cx="619" cy="210"/>
            </a:xfrm>
            <a:prstGeom prst="rect">
              <a:avLst/>
            </a:prstGeom>
            <a:noFill/>
            <a:ln w="12700">
              <a:noFill/>
            </a:ln>
          </p:spPr>
          <p:txBody>
            <a:bodyPr wrap="none" lIns="90488" tIns="44450" rIns="90488" bIns="44450" anchor="t" anchorCtr="0">
              <a:spAutoFit/>
            </a:bodyPr>
            <a:p>
              <a:pPr eaLnBrk="0" hangingPunct="0"/>
              <a:r>
                <a:rPr lang="zh-CN" altLang="en-US" dirty="0">
                  <a:solidFill>
                    <a:schemeClr val="accent1"/>
                  </a:solidFill>
                  <a:latin typeface="微软雅黑" panose="020B0503020204020204" pitchFamily="34" charset="-122"/>
                  <a:ea typeface="微软雅黑" panose="020B0503020204020204" pitchFamily="34" charset="-122"/>
                </a:rPr>
                <a:t>4: </a:t>
              </a:r>
              <a:r>
                <a:rPr lang="en-US" altLang="zh-CN">
                  <a:solidFill>
                    <a:schemeClr val="accent1"/>
                  </a:solidFill>
                  <a:latin typeface="微软雅黑" panose="020B0503020204020204" pitchFamily="34" charset="-122"/>
                  <a:ea typeface="微软雅黑" panose="020B0503020204020204" pitchFamily="34" charset="-122"/>
                </a:rPr>
                <a:t>R-type</a:t>
              </a:r>
              <a:endParaRPr lang="en-US" altLang="zh-CN">
                <a:solidFill>
                  <a:schemeClr val="accent1"/>
                </a:solidFill>
                <a:latin typeface="微软雅黑" panose="020B0503020204020204" pitchFamily="34" charset="-122"/>
                <a:ea typeface="微软雅黑" panose="020B0503020204020204" pitchFamily="34" charset="-122"/>
              </a:endParaRPr>
            </a:p>
          </p:txBody>
        </p:sp>
        <p:grpSp>
          <p:nvGrpSpPr>
            <p:cNvPr id="179303" name="组合 534631"/>
            <p:cNvGrpSpPr/>
            <p:nvPr/>
          </p:nvGrpSpPr>
          <p:grpSpPr>
            <a:xfrm>
              <a:off x="1688" y="1536"/>
              <a:ext cx="2624" cy="210"/>
              <a:chOff x="1688" y="1536"/>
              <a:chExt cx="2624" cy="210"/>
            </a:xfrm>
          </p:grpSpPr>
          <p:grpSp>
            <p:nvGrpSpPr>
              <p:cNvPr id="179304" name="组合 534632"/>
              <p:cNvGrpSpPr/>
              <p:nvPr/>
            </p:nvGrpSpPr>
            <p:grpSpPr>
              <a:xfrm>
                <a:off x="1688" y="1536"/>
                <a:ext cx="512" cy="210"/>
                <a:chOff x="1688" y="1536"/>
                <a:chExt cx="512" cy="210"/>
              </a:xfrm>
            </p:grpSpPr>
            <p:sp>
              <p:nvSpPr>
                <p:cNvPr id="179305" name="矩形 534633"/>
                <p:cNvSpPr/>
                <p:nvPr/>
              </p:nvSpPr>
              <p:spPr>
                <a:xfrm>
                  <a:off x="1688" y="1544"/>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06" name="矩形 534634"/>
                <p:cNvSpPr/>
                <p:nvPr/>
              </p:nvSpPr>
              <p:spPr>
                <a:xfrm>
                  <a:off x="1729" y="1536"/>
                  <a:ext cx="384"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79307" name="组合 534635"/>
              <p:cNvGrpSpPr/>
              <p:nvPr/>
            </p:nvGrpSpPr>
            <p:grpSpPr>
              <a:xfrm>
                <a:off x="2199" y="1536"/>
                <a:ext cx="529" cy="210"/>
                <a:chOff x="2199" y="1536"/>
                <a:chExt cx="529" cy="210"/>
              </a:xfrm>
            </p:grpSpPr>
            <p:sp>
              <p:nvSpPr>
                <p:cNvPr id="179308" name="矩形 534636"/>
                <p:cNvSpPr/>
                <p:nvPr/>
              </p:nvSpPr>
              <p:spPr>
                <a:xfrm>
                  <a:off x="2216" y="1544"/>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09" name="矩形 534637"/>
                <p:cNvSpPr/>
                <p:nvPr/>
              </p:nvSpPr>
              <p:spPr>
                <a:xfrm>
                  <a:off x="2199" y="1536"/>
                  <a:ext cx="503"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r>
                    <a:rPr lang="en-US" altLang="zh-CN">
                      <a:latin typeface="Times New Roman" panose="02020603050405020304" pitchFamily="18" charset="0"/>
                      <a:ea typeface="宋体" panose="02010600030101010101" pitchFamily="2" charset="-122"/>
                    </a:rPr>
                    <a:t>/Dec</a:t>
                  </a:r>
                  <a:endParaRPr lang="en-US" altLang="zh-CN">
                    <a:latin typeface="Times New Roman" panose="02020603050405020304" pitchFamily="18" charset="0"/>
                    <a:ea typeface="宋体" panose="02010600030101010101" pitchFamily="2" charset="-122"/>
                  </a:endParaRPr>
                </a:p>
              </p:txBody>
            </p:sp>
          </p:grpSp>
          <p:grpSp>
            <p:nvGrpSpPr>
              <p:cNvPr id="179310" name="组合 534638"/>
              <p:cNvGrpSpPr/>
              <p:nvPr/>
            </p:nvGrpSpPr>
            <p:grpSpPr>
              <a:xfrm>
                <a:off x="2744" y="1536"/>
                <a:ext cx="512" cy="210"/>
                <a:chOff x="2744" y="1536"/>
                <a:chExt cx="512" cy="210"/>
              </a:xfrm>
            </p:grpSpPr>
            <p:sp>
              <p:nvSpPr>
                <p:cNvPr id="179311" name="矩形 534639"/>
                <p:cNvSpPr/>
                <p:nvPr/>
              </p:nvSpPr>
              <p:spPr>
                <a:xfrm>
                  <a:off x="2744" y="1544"/>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12" name="矩形 534640"/>
                <p:cNvSpPr/>
                <p:nvPr/>
              </p:nvSpPr>
              <p:spPr>
                <a:xfrm>
                  <a:off x="2823" y="1536"/>
                  <a:ext cx="332"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79313" name="组合 534641"/>
              <p:cNvGrpSpPr/>
              <p:nvPr/>
            </p:nvGrpSpPr>
            <p:grpSpPr>
              <a:xfrm>
                <a:off x="3272" y="1536"/>
                <a:ext cx="512" cy="210"/>
                <a:chOff x="3272" y="1536"/>
                <a:chExt cx="512" cy="210"/>
              </a:xfrm>
            </p:grpSpPr>
            <p:sp>
              <p:nvSpPr>
                <p:cNvPr id="179314" name="矩形 534642"/>
                <p:cNvSpPr/>
                <p:nvPr/>
              </p:nvSpPr>
              <p:spPr>
                <a:xfrm>
                  <a:off x="3272" y="1544"/>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15" name="矩形 534643"/>
                <p:cNvSpPr/>
                <p:nvPr/>
              </p:nvSpPr>
              <p:spPr>
                <a:xfrm>
                  <a:off x="3351" y="1536"/>
                  <a:ext cx="353"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Mem</a:t>
                  </a:r>
                  <a:endParaRPr lang="en-US" altLang="zh-CN">
                    <a:latin typeface="Times New Roman" panose="02020603050405020304" pitchFamily="18" charset="0"/>
                    <a:ea typeface="宋体" panose="02010600030101010101" pitchFamily="2" charset="-122"/>
                  </a:endParaRPr>
                </a:p>
              </p:txBody>
            </p:sp>
          </p:grpSp>
          <p:grpSp>
            <p:nvGrpSpPr>
              <p:cNvPr id="179316" name="组合 534644"/>
              <p:cNvGrpSpPr/>
              <p:nvPr/>
            </p:nvGrpSpPr>
            <p:grpSpPr>
              <a:xfrm>
                <a:off x="3800" y="1536"/>
                <a:ext cx="512" cy="210"/>
                <a:chOff x="3800" y="1536"/>
                <a:chExt cx="512" cy="210"/>
              </a:xfrm>
            </p:grpSpPr>
            <p:sp>
              <p:nvSpPr>
                <p:cNvPr id="179317" name="矩形 534645"/>
                <p:cNvSpPr/>
                <p:nvPr/>
              </p:nvSpPr>
              <p:spPr>
                <a:xfrm>
                  <a:off x="3800" y="1544"/>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18" name="矩形 534646"/>
                <p:cNvSpPr/>
                <p:nvPr/>
              </p:nvSpPr>
              <p:spPr>
                <a:xfrm>
                  <a:off x="3879" y="1536"/>
                  <a:ext cx="264"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Wr</a:t>
                  </a:r>
                  <a:endParaRPr lang="en-US" altLang="zh-CN">
                    <a:latin typeface="Times New Roman" panose="02020603050405020304" pitchFamily="18" charset="0"/>
                    <a:ea typeface="宋体" panose="02010600030101010101" pitchFamily="2" charset="-122"/>
                  </a:endParaRPr>
                </a:p>
              </p:txBody>
            </p:sp>
          </p:grpSp>
        </p:grpSp>
        <p:sp>
          <p:nvSpPr>
            <p:cNvPr id="179319" name="矩形 534647"/>
            <p:cNvSpPr/>
            <p:nvPr/>
          </p:nvSpPr>
          <p:spPr>
            <a:xfrm>
              <a:off x="1173" y="1536"/>
              <a:ext cx="535" cy="210"/>
            </a:xfrm>
            <a:prstGeom prst="rect">
              <a:avLst/>
            </a:prstGeom>
            <a:noFill/>
            <a:ln w="12700">
              <a:noFill/>
            </a:ln>
          </p:spPr>
          <p:txBody>
            <a:bodyPr wrap="none" lIns="90488" tIns="44450" rIns="90488" bIns="44450" anchor="t" anchorCtr="0">
              <a:spAutoFit/>
            </a:bodyPr>
            <a:p>
              <a:pPr eaLnBrk="0" hangingPunct="0"/>
              <a:r>
                <a:rPr lang="zh-CN" altLang="en-US" dirty="0">
                  <a:solidFill>
                    <a:schemeClr val="accent1"/>
                  </a:solidFill>
                  <a:latin typeface="微软雅黑" panose="020B0503020204020204" pitchFamily="34" charset="-122"/>
                  <a:ea typeface="微软雅黑" panose="020B0503020204020204" pitchFamily="34" charset="-122"/>
                </a:rPr>
                <a:t>8:</a:t>
              </a:r>
              <a:r>
                <a:rPr lang="zh-CN" altLang="en-US" dirty="0">
                  <a:latin typeface="Times New Roman" panose="02020603050405020304" pitchFamily="18" charset="0"/>
                  <a:ea typeface="宋体" panose="02010600030101010101" pitchFamily="2" charset="-122"/>
                </a:rPr>
                <a:t> </a:t>
              </a:r>
              <a:r>
                <a:rPr lang="en-US" altLang="zh-CN">
                  <a:solidFill>
                    <a:schemeClr val="accent1"/>
                  </a:solidFill>
                  <a:latin typeface="微软雅黑" panose="020B0503020204020204" pitchFamily="34" charset="-122"/>
                  <a:ea typeface="微软雅黑" panose="020B0503020204020204" pitchFamily="34" charset="-122"/>
                </a:rPr>
                <a:t>Store</a:t>
              </a:r>
              <a:endParaRPr lang="en-US" altLang="zh-CN">
                <a:solidFill>
                  <a:schemeClr val="accent1"/>
                </a:solidFill>
                <a:latin typeface="微软雅黑" panose="020B0503020204020204" pitchFamily="34" charset="-122"/>
                <a:ea typeface="微软雅黑" panose="020B0503020204020204" pitchFamily="34" charset="-122"/>
              </a:endParaRPr>
            </a:p>
          </p:txBody>
        </p:sp>
        <p:grpSp>
          <p:nvGrpSpPr>
            <p:cNvPr id="179320" name="组合 534648"/>
            <p:cNvGrpSpPr/>
            <p:nvPr/>
          </p:nvGrpSpPr>
          <p:grpSpPr>
            <a:xfrm>
              <a:off x="2216" y="1824"/>
              <a:ext cx="2624" cy="210"/>
              <a:chOff x="2216" y="1824"/>
              <a:chExt cx="2624" cy="210"/>
            </a:xfrm>
          </p:grpSpPr>
          <p:grpSp>
            <p:nvGrpSpPr>
              <p:cNvPr id="179321" name="组合 534649"/>
              <p:cNvGrpSpPr/>
              <p:nvPr/>
            </p:nvGrpSpPr>
            <p:grpSpPr>
              <a:xfrm>
                <a:off x="2216" y="1824"/>
                <a:ext cx="512" cy="210"/>
                <a:chOff x="2216" y="1824"/>
                <a:chExt cx="512" cy="210"/>
              </a:xfrm>
            </p:grpSpPr>
            <p:sp>
              <p:nvSpPr>
                <p:cNvPr id="179322" name="矩形 534650"/>
                <p:cNvSpPr/>
                <p:nvPr/>
              </p:nvSpPr>
              <p:spPr>
                <a:xfrm>
                  <a:off x="2216" y="1832"/>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23" name="矩形 534651"/>
                <p:cNvSpPr/>
                <p:nvPr/>
              </p:nvSpPr>
              <p:spPr>
                <a:xfrm>
                  <a:off x="2257" y="1824"/>
                  <a:ext cx="384"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Ifetch</a:t>
                  </a:r>
                  <a:endParaRPr lang="en-US" altLang="zh-CN">
                    <a:latin typeface="Times New Roman" panose="02020603050405020304" pitchFamily="18" charset="0"/>
                    <a:ea typeface="宋体" panose="02010600030101010101" pitchFamily="2" charset="-122"/>
                  </a:endParaRPr>
                </a:p>
              </p:txBody>
            </p:sp>
          </p:grpSp>
          <p:grpSp>
            <p:nvGrpSpPr>
              <p:cNvPr id="179324" name="组合 534652"/>
              <p:cNvGrpSpPr/>
              <p:nvPr/>
            </p:nvGrpSpPr>
            <p:grpSpPr>
              <a:xfrm>
                <a:off x="2727" y="1824"/>
                <a:ext cx="529" cy="210"/>
                <a:chOff x="2727" y="1824"/>
                <a:chExt cx="529" cy="210"/>
              </a:xfrm>
            </p:grpSpPr>
            <p:sp>
              <p:nvSpPr>
                <p:cNvPr id="179325" name="矩形 534653"/>
                <p:cNvSpPr/>
                <p:nvPr/>
              </p:nvSpPr>
              <p:spPr>
                <a:xfrm>
                  <a:off x="2744" y="1832"/>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26" name="矩形 534654"/>
                <p:cNvSpPr/>
                <p:nvPr/>
              </p:nvSpPr>
              <p:spPr>
                <a:xfrm>
                  <a:off x="2727" y="1824"/>
                  <a:ext cx="503"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Reg</a:t>
                  </a:r>
                  <a:r>
                    <a:rPr lang="en-US" altLang="zh-CN">
                      <a:latin typeface="Times New Roman" panose="02020603050405020304" pitchFamily="18" charset="0"/>
                      <a:ea typeface="宋体" panose="02010600030101010101" pitchFamily="2" charset="-122"/>
                    </a:rPr>
                    <a:t>/Dec</a:t>
                  </a:r>
                  <a:endParaRPr lang="en-US" altLang="zh-CN">
                    <a:latin typeface="Times New Roman" panose="02020603050405020304" pitchFamily="18" charset="0"/>
                    <a:ea typeface="宋体" panose="02010600030101010101" pitchFamily="2" charset="-122"/>
                  </a:endParaRPr>
                </a:p>
              </p:txBody>
            </p:sp>
          </p:grpSp>
          <p:grpSp>
            <p:nvGrpSpPr>
              <p:cNvPr id="179327" name="组合 534655"/>
              <p:cNvGrpSpPr/>
              <p:nvPr/>
            </p:nvGrpSpPr>
            <p:grpSpPr>
              <a:xfrm>
                <a:off x="3272" y="1824"/>
                <a:ext cx="512" cy="210"/>
                <a:chOff x="3272" y="1824"/>
                <a:chExt cx="512" cy="210"/>
              </a:xfrm>
            </p:grpSpPr>
            <p:sp>
              <p:nvSpPr>
                <p:cNvPr id="179328" name="矩形 534656"/>
                <p:cNvSpPr/>
                <p:nvPr/>
              </p:nvSpPr>
              <p:spPr>
                <a:xfrm>
                  <a:off x="3272" y="1832"/>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29" name="矩形 534657"/>
                <p:cNvSpPr/>
                <p:nvPr/>
              </p:nvSpPr>
              <p:spPr>
                <a:xfrm>
                  <a:off x="3351" y="1824"/>
                  <a:ext cx="332" cy="210"/>
                </a:xfrm>
                <a:prstGeom prst="rect">
                  <a:avLst/>
                </a:prstGeom>
                <a:noFill/>
                <a:ln w="12700">
                  <a:noFill/>
                </a:ln>
              </p:spPr>
              <p:txBody>
                <a:bodyPr wrap="none" lIns="90488" tIns="44450" rIns="90488" bIns="44450" anchor="t" anchorCtr="0">
                  <a:spAutoFit/>
                </a:bodyPr>
                <a:p>
                  <a:pPr eaLnBrk="0" hangingPunct="0"/>
                  <a:r>
                    <a:rPr lang="en-US" altLang="zh-CN">
                      <a:latin typeface="Times New Roman" panose="02020603050405020304" pitchFamily="18" charset="0"/>
                      <a:ea typeface="宋体" panose="02010600030101010101" pitchFamily="2" charset="-122"/>
                    </a:rPr>
                    <a:t>Exec</a:t>
                  </a:r>
                  <a:endParaRPr lang="en-US" altLang="zh-CN">
                    <a:latin typeface="Times New Roman" panose="02020603050405020304" pitchFamily="18" charset="0"/>
                    <a:ea typeface="宋体" panose="02010600030101010101" pitchFamily="2" charset="-122"/>
                  </a:endParaRPr>
                </a:p>
              </p:txBody>
            </p:sp>
          </p:grpSp>
          <p:grpSp>
            <p:nvGrpSpPr>
              <p:cNvPr id="179330" name="组合 534658"/>
              <p:cNvGrpSpPr/>
              <p:nvPr/>
            </p:nvGrpSpPr>
            <p:grpSpPr>
              <a:xfrm>
                <a:off x="3800" y="1824"/>
                <a:ext cx="512" cy="210"/>
                <a:chOff x="3800" y="1824"/>
                <a:chExt cx="512" cy="210"/>
              </a:xfrm>
            </p:grpSpPr>
            <p:sp>
              <p:nvSpPr>
                <p:cNvPr id="179331" name="矩形 534659"/>
                <p:cNvSpPr/>
                <p:nvPr/>
              </p:nvSpPr>
              <p:spPr>
                <a:xfrm>
                  <a:off x="3800" y="1832"/>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32" name="矩形 534660"/>
                <p:cNvSpPr/>
                <p:nvPr/>
              </p:nvSpPr>
              <p:spPr>
                <a:xfrm>
                  <a:off x="3879" y="1824"/>
                  <a:ext cx="353"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Mem</a:t>
                  </a:r>
                  <a:endParaRPr lang="en-US" altLang="zh-CN">
                    <a:latin typeface="Times New Roman" panose="02020603050405020304" pitchFamily="18" charset="0"/>
                    <a:ea typeface="宋体" panose="02010600030101010101" pitchFamily="2" charset="-122"/>
                  </a:endParaRPr>
                </a:p>
              </p:txBody>
            </p:sp>
          </p:grpSp>
          <p:grpSp>
            <p:nvGrpSpPr>
              <p:cNvPr id="179333" name="组合 534661"/>
              <p:cNvGrpSpPr/>
              <p:nvPr/>
            </p:nvGrpSpPr>
            <p:grpSpPr>
              <a:xfrm>
                <a:off x="4328" y="1824"/>
                <a:ext cx="512" cy="210"/>
                <a:chOff x="4328" y="1824"/>
                <a:chExt cx="512" cy="210"/>
              </a:xfrm>
            </p:grpSpPr>
            <p:sp>
              <p:nvSpPr>
                <p:cNvPr id="179334" name="矩形 534662"/>
                <p:cNvSpPr/>
                <p:nvPr/>
              </p:nvSpPr>
              <p:spPr>
                <a:xfrm>
                  <a:off x="4328" y="1832"/>
                  <a:ext cx="512" cy="176"/>
                </a:xfrm>
                <a:prstGeom prst="rect">
                  <a:avLst/>
                </a:prstGeom>
                <a:noFill/>
                <a:ln w="254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35" name="矩形 534663"/>
                <p:cNvSpPr/>
                <p:nvPr/>
              </p:nvSpPr>
              <p:spPr>
                <a:xfrm>
                  <a:off x="4407" y="1824"/>
                  <a:ext cx="264" cy="210"/>
                </a:xfrm>
                <a:prstGeom prst="rect">
                  <a:avLst/>
                </a:prstGeom>
                <a:noFill/>
                <a:ln w="12700">
                  <a:noFill/>
                </a:ln>
              </p:spPr>
              <p:txBody>
                <a:bodyPr wrap="none" lIns="90488" tIns="44450" rIns="90488" bIns="44450" anchor="t" anchorCtr="0">
                  <a:spAutoFit/>
                </a:bodyPr>
                <a:p>
                  <a:pPr eaLnBrk="0" hangingPunct="0"/>
                  <a:r>
                    <a:rPr lang="en-US" altLang="zh-CN" err="1">
                      <a:latin typeface="Times New Roman" panose="02020603050405020304" pitchFamily="18" charset="0"/>
                      <a:ea typeface="宋体" panose="02010600030101010101" pitchFamily="2" charset="-122"/>
                    </a:rPr>
                    <a:t>Wr</a:t>
                  </a:r>
                  <a:endParaRPr lang="en-US" altLang="zh-CN">
                    <a:latin typeface="Times New Roman" panose="02020603050405020304" pitchFamily="18" charset="0"/>
                    <a:ea typeface="宋体" panose="02010600030101010101" pitchFamily="2" charset="-122"/>
                  </a:endParaRPr>
                </a:p>
              </p:txBody>
            </p:sp>
          </p:grpSp>
        </p:grpSp>
        <p:sp>
          <p:nvSpPr>
            <p:cNvPr id="179336" name="矩形 534664"/>
            <p:cNvSpPr/>
            <p:nvPr/>
          </p:nvSpPr>
          <p:spPr>
            <a:xfrm>
              <a:off x="855" y="1824"/>
              <a:ext cx="1517" cy="210"/>
            </a:xfrm>
            <a:prstGeom prst="rect">
              <a:avLst/>
            </a:prstGeom>
            <a:noFill/>
            <a:ln w="12700">
              <a:noFill/>
            </a:ln>
          </p:spPr>
          <p:txBody>
            <a:bodyPr lIns="90488" tIns="44450" rIns="90488" bIns="44450" anchor="t" anchorCtr="0">
              <a:spAutoFit/>
            </a:bodyPr>
            <a:p>
              <a:pPr eaLnBrk="0" hangingPunct="0"/>
              <a:r>
                <a:rPr lang="zh-CN" altLang="en-US" dirty="0">
                  <a:solidFill>
                    <a:schemeClr val="accent1"/>
                  </a:solidFill>
                  <a:latin typeface="微软雅黑" panose="020B0503020204020204" pitchFamily="34" charset="-122"/>
                  <a:ea typeface="微软雅黑" panose="020B0503020204020204" pitchFamily="34" charset="-122"/>
                </a:rPr>
                <a:t>                         12: </a:t>
              </a:r>
              <a:r>
                <a:rPr lang="en-US" altLang="zh-CN" err="1">
                  <a:solidFill>
                    <a:schemeClr val="accent1"/>
                  </a:solidFill>
                  <a:latin typeface="微软雅黑" panose="020B0503020204020204" pitchFamily="34" charset="-122"/>
                  <a:ea typeface="微软雅黑" panose="020B0503020204020204" pitchFamily="34" charset="-122"/>
                </a:rPr>
                <a:t>Beq</a:t>
              </a:r>
              <a:r>
                <a:rPr lang="en-US" altLang="zh-CN">
                  <a:solidFill>
                    <a:schemeClr val="accent1"/>
                  </a:solidFill>
                  <a:latin typeface="微软雅黑" panose="020B0503020204020204" pitchFamily="34" charset="-122"/>
                  <a:ea typeface="微软雅黑" panose="020B0503020204020204" pitchFamily="34" charset="-122"/>
                </a:rPr>
                <a:t> </a:t>
              </a:r>
              <a:endParaRPr lang="en-US" altLang="zh-CN">
                <a:solidFill>
                  <a:schemeClr val="accent1"/>
                </a:solidFill>
                <a:latin typeface="微软雅黑" panose="020B0503020204020204" pitchFamily="34" charset="-122"/>
                <a:ea typeface="微软雅黑" panose="020B0503020204020204" pitchFamily="34" charset="-122"/>
              </a:endParaRPr>
            </a:p>
          </p:txBody>
        </p:sp>
        <p:sp>
          <p:nvSpPr>
            <p:cNvPr id="179337" name="直接连接符 534665"/>
            <p:cNvSpPr/>
            <p:nvPr/>
          </p:nvSpPr>
          <p:spPr>
            <a:xfrm flipV="1">
              <a:off x="3792" y="856"/>
              <a:ext cx="0" cy="352"/>
            </a:xfrm>
            <a:prstGeom prst="line">
              <a:avLst/>
            </a:prstGeom>
            <a:ln w="25400" cap="flat" cmpd="sng">
              <a:solidFill>
                <a:schemeClr val="tx1"/>
              </a:solidFill>
              <a:prstDash val="sysDot"/>
              <a:round/>
              <a:headEnd type="none" w="med" len="med"/>
              <a:tailEnd type="none" w="med" len="med"/>
            </a:ln>
          </p:spPr>
        </p:sp>
        <p:sp>
          <p:nvSpPr>
            <p:cNvPr id="179338" name="直接连接符 534666"/>
            <p:cNvSpPr/>
            <p:nvPr/>
          </p:nvSpPr>
          <p:spPr>
            <a:xfrm flipV="1">
              <a:off x="4320" y="856"/>
              <a:ext cx="0" cy="640"/>
            </a:xfrm>
            <a:prstGeom prst="line">
              <a:avLst/>
            </a:prstGeom>
            <a:ln w="25400" cap="flat" cmpd="sng">
              <a:solidFill>
                <a:schemeClr val="tx1"/>
              </a:solidFill>
              <a:prstDash val="sysDot"/>
              <a:round/>
              <a:headEnd type="none" w="med" len="med"/>
              <a:tailEnd type="none" w="med" len="med"/>
            </a:ln>
          </p:spPr>
        </p:sp>
        <p:sp>
          <p:nvSpPr>
            <p:cNvPr id="179339" name="直接连接符 534667"/>
            <p:cNvSpPr/>
            <p:nvPr/>
          </p:nvSpPr>
          <p:spPr>
            <a:xfrm flipV="1">
              <a:off x="4848" y="856"/>
              <a:ext cx="0" cy="928"/>
            </a:xfrm>
            <a:prstGeom prst="line">
              <a:avLst/>
            </a:prstGeom>
            <a:ln w="25400" cap="flat" cmpd="sng">
              <a:solidFill>
                <a:schemeClr val="tx1"/>
              </a:solidFill>
              <a:prstDash val="sysDot"/>
              <a:round/>
              <a:headEnd type="none" w="med" len="med"/>
              <a:tailEnd type="none" w="med" len="med"/>
            </a:ln>
          </p:spPr>
        </p:sp>
        <p:sp>
          <p:nvSpPr>
            <p:cNvPr id="179340" name="椭圆 534668"/>
            <p:cNvSpPr/>
            <p:nvPr/>
          </p:nvSpPr>
          <p:spPr>
            <a:xfrm>
              <a:off x="2692" y="628"/>
              <a:ext cx="88" cy="1576"/>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41" name="椭圆 534669"/>
            <p:cNvSpPr/>
            <p:nvPr/>
          </p:nvSpPr>
          <p:spPr>
            <a:xfrm>
              <a:off x="3220" y="628"/>
              <a:ext cx="88" cy="1576"/>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42" name="椭圆 534670"/>
            <p:cNvSpPr/>
            <p:nvPr/>
          </p:nvSpPr>
          <p:spPr>
            <a:xfrm>
              <a:off x="3748" y="628"/>
              <a:ext cx="88" cy="1576"/>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43" name="椭圆 534671"/>
            <p:cNvSpPr/>
            <p:nvPr/>
          </p:nvSpPr>
          <p:spPr>
            <a:xfrm>
              <a:off x="4276" y="628"/>
              <a:ext cx="88" cy="1576"/>
            </a:xfrm>
            <a:prstGeom prst="ellipse">
              <a:avLst/>
            </a:prstGeom>
            <a:noFill/>
            <a:ln w="12700" cap="flat" cmpd="sng">
              <a:solidFill>
                <a:schemeClr val="tx1"/>
              </a:solidFill>
              <a:prstDash val="solid"/>
              <a:round/>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44" name="直接连接符 534672"/>
            <p:cNvSpPr/>
            <p:nvPr/>
          </p:nvSpPr>
          <p:spPr>
            <a:xfrm flipV="1">
              <a:off x="2736" y="2200"/>
              <a:ext cx="0" cy="256"/>
            </a:xfrm>
            <a:prstGeom prst="line">
              <a:avLst/>
            </a:prstGeom>
            <a:ln w="25400" cap="flat" cmpd="sng">
              <a:solidFill>
                <a:schemeClr val="tx1"/>
              </a:solidFill>
              <a:prstDash val="solid"/>
              <a:round/>
              <a:headEnd type="none" w="med" len="med"/>
              <a:tailEnd type="triangle" w="med" len="med"/>
            </a:ln>
          </p:spPr>
        </p:sp>
        <p:sp>
          <p:nvSpPr>
            <p:cNvPr id="179345" name="直接连接符 534673"/>
            <p:cNvSpPr/>
            <p:nvPr/>
          </p:nvSpPr>
          <p:spPr>
            <a:xfrm flipV="1">
              <a:off x="3264" y="2200"/>
              <a:ext cx="0" cy="256"/>
            </a:xfrm>
            <a:prstGeom prst="line">
              <a:avLst/>
            </a:prstGeom>
            <a:ln w="25400" cap="flat" cmpd="sng">
              <a:solidFill>
                <a:schemeClr val="tx1"/>
              </a:solidFill>
              <a:prstDash val="solid"/>
              <a:round/>
              <a:headEnd type="none" w="med" len="med"/>
              <a:tailEnd type="triangle" w="med" len="med"/>
            </a:ln>
          </p:spPr>
        </p:sp>
        <p:sp>
          <p:nvSpPr>
            <p:cNvPr id="179346" name="直接连接符 534674"/>
            <p:cNvSpPr/>
            <p:nvPr/>
          </p:nvSpPr>
          <p:spPr>
            <a:xfrm flipV="1">
              <a:off x="3792" y="2200"/>
              <a:ext cx="0" cy="256"/>
            </a:xfrm>
            <a:prstGeom prst="line">
              <a:avLst/>
            </a:prstGeom>
            <a:ln w="25400" cap="flat" cmpd="sng">
              <a:solidFill>
                <a:schemeClr val="tx1"/>
              </a:solidFill>
              <a:prstDash val="solid"/>
              <a:round/>
              <a:headEnd type="none" w="med" len="med"/>
              <a:tailEnd type="triangle" w="med" len="med"/>
            </a:ln>
          </p:spPr>
        </p:sp>
        <p:sp>
          <p:nvSpPr>
            <p:cNvPr id="179347" name="直接连接符 534675"/>
            <p:cNvSpPr/>
            <p:nvPr/>
          </p:nvSpPr>
          <p:spPr>
            <a:xfrm flipV="1">
              <a:off x="4320" y="2200"/>
              <a:ext cx="0" cy="256"/>
            </a:xfrm>
            <a:prstGeom prst="line">
              <a:avLst/>
            </a:prstGeom>
            <a:ln w="25400" cap="flat" cmpd="sng">
              <a:solidFill>
                <a:schemeClr val="tx1"/>
              </a:solidFill>
              <a:prstDash val="solid"/>
              <a:round/>
              <a:headEnd type="none" w="med" len="med"/>
              <a:tailEnd type="triangle" w="med" len="med"/>
            </a:ln>
          </p:spPr>
        </p:sp>
      </p:grpSp>
      <p:sp>
        <p:nvSpPr>
          <p:cNvPr id="534677" name="内容占位符 534676"/>
          <p:cNvSpPr>
            <a:spLocks noGrp="1"/>
          </p:cNvSpPr>
          <p:nvPr>
            <p:ph idx="1"/>
          </p:nvPr>
        </p:nvSpPr>
        <p:spPr>
          <a:xfrm>
            <a:off x="342900" y="4700588"/>
            <a:ext cx="8569325" cy="1439862"/>
          </a:xfrm>
          <a:ln/>
        </p:spPr>
        <p:txBody>
          <a:bodyPr vert="horz" wrap="square" lIns="63500" tIns="25400" rIns="63500" bIns="25400" anchor="t" anchorCtr="0">
            <a:spAutoFit/>
          </a:bodyPr>
          <a:p>
            <a:pPr>
              <a:buNone/>
            </a:pPr>
            <a:r>
              <a:rPr lang="zh-CN" altLang="en-US" dirty="0">
                <a:solidFill>
                  <a:srgbClr val="CC0000"/>
                </a:solidFill>
                <a:latin typeface="微软雅黑" panose="020B0503020204020204" pitchFamily="34" charset="-122"/>
                <a:ea typeface="微软雅黑" panose="020B0503020204020204" pitchFamily="34" charset="-122"/>
              </a:rPr>
              <a:t>周期</a:t>
            </a:r>
            <a:r>
              <a:rPr lang="en-US" altLang="zh-CN">
                <a:solidFill>
                  <a:srgbClr val="CC0000"/>
                </a:solidFill>
                <a:latin typeface="微软雅黑" panose="020B0503020204020204" pitchFamily="34" charset="-122"/>
                <a:ea typeface="微软雅黑" panose="020B0503020204020204" pitchFamily="34" charset="-122"/>
              </a:rPr>
              <a:t>4</a:t>
            </a:r>
            <a:r>
              <a:rPr lang="zh-CN" altLang="en-US" dirty="0">
                <a:solidFill>
                  <a:srgbClr val="CC0000"/>
                </a:solidFill>
                <a:latin typeface="微软雅黑" panose="020B0503020204020204" pitchFamily="34" charset="-122"/>
                <a:ea typeface="微软雅黑" panose="020B0503020204020204" pitchFamily="34" charset="-122"/>
              </a:rPr>
              <a:t>结束</a:t>
            </a:r>
            <a:r>
              <a:rPr lang="en-US" altLang="zh-CN">
                <a:solidFill>
                  <a:srgbClr val="CC0000"/>
                </a:solidFill>
                <a:latin typeface="微软雅黑" panose="020B0503020204020204" pitchFamily="34" charset="-122"/>
                <a:ea typeface="微软雅黑" panose="020B0503020204020204" pitchFamily="34" charset="-122"/>
              </a:rPr>
              <a:t>: Load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Mem</a:t>
            </a:r>
            <a:r>
              <a:rPr lang="en-US" altLang="zh-CN">
                <a:solidFill>
                  <a:srgbClr val="CC0000"/>
                </a:solidFill>
                <a:latin typeface="微软雅黑" panose="020B0503020204020204" pitchFamily="34" charset="-122"/>
                <a:ea typeface="微软雅黑" panose="020B0503020204020204" pitchFamily="34" charset="-122"/>
              </a:rPr>
              <a:t>, R-type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a:solidFill>
                  <a:srgbClr val="CC0000"/>
                </a:solidFill>
                <a:latin typeface="微软雅黑" panose="020B0503020204020204" pitchFamily="34" charset="-122"/>
                <a:ea typeface="微软雅黑" panose="020B0503020204020204" pitchFamily="34" charset="-122"/>
              </a:rPr>
              <a:t>Exec,   Store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Reg</a:t>
            </a:r>
            <a:r>
              <a:rPr lang="en-US" altLang="zh-CN">
                <a:solidFill>
                  <a:srgbClr val="CC0000"/>
                </a:solidFill>
                <a:latin typeface="微软雅黑" panose="020B0503020204020204" pitchFamily="34" charset="-122"/>
                <a:ea typeface="微软雅黑" panose="020B0503020204020204" pitchFamily="34" charset="-122"/>
              </a:rPr>
              <a:t>,   </a:t>
            </a:r>
            <a:r>
              <a:rPr lang="en-US" altLang="zh-CN" err="1">
                <a:solidFill>
                  <a:srgbClr val="CC0000"/>
                </a:solidFill>
                <a:latin typeface="微软雅黑" panose="020B0503020204020204" pitchFamily="34" charset="-122"/>
                <a:ea typeface="微软雅黑" panose="020B0503020204020204" pitchFamily="34" charset="-122"/>
              </a:rPr>
              <a:t>Beq</a:t>
            </a:r>
            <a:r>
              <a:rPr lang="en-US" altLang="zh-CN">
                <a:solidFill>
                  <a:srgbClr val="CC0000"/>
                </a:solidFill>
                <a:latin typeface="微软雅黑" panose="020B0503020204020204" pitchFamily="34" charset="-122"/>
                <a:ea typeface="微软雅黑" panose="020B0503020204020204" pitchFamily="34" charset="-122"/>
              </a:rPr>
              <a:t>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Ifetch</a:t>
            </a:r>
            <a:endParaRPr lang="en-US" altLang="zh-CN">
              <a:solidFill>
                <a:srgbClr val="CC0000"/>
              </a:solidFill>
              <a:latin typeface="微软雅黑" panose="020B0503020204020204" pitchFamily="34" charset="-122"/>
              <a:ea typeface="微软雅黑" panose="020B0503020204020204" pitchFamily="34" charset="-122"/>
            </a:endParaRPr>
          </a:p>
          <a:p>
            <a:pPr>
              <a:buNone/>
            </a:pPr>
            <a:r>
              <a:rPr lang="zh-CN" altLang="en-US" dirty="0">
                <a:solidFill>
                  <a:srgbClr val="CC0000"/>
                </a:solidFill>
                <a:latin typeface="微软雅黑" panose="020B0503020204020204" pitchFamily="34" charset="-122"/>
                <a:ea typeface="微软雅黑" panose="020B0503020204020204" pitchFamily="34" charset="-122"/>
              </a:rPr>
              <a:t>周期</a:t>
            </a:r>
            <a:r>
              <a:rPr lang="en-US" altLang="zh-CN">
                <a:solidFill>
                  <a:srgbClr val="CC0000"/>
                </a:solidFill>
                <a:latin typeface="微软雅黑" panose="020B0503020204020204" pitchFamily="34" charset="-122"/>
                <a:ea typeface="微软雅黑" panose="020B0503020204020204" pitchFamily="34" charset="-122"/>
              </a:rPr>
              <a:t>5</a:t>
            </a:r>
            <a:r>
              <a:rPr lang="zh-CN" altLang="en-US" dirty="0">
                <a:solidFill>
                  <a:srgbClr val="CC0000"/>
                </a:solidFill>
                <a:latin typeface="微软雅黑" panose="020B0503020204020204" pitchFamily="34" charset="-122"/>
                <a:ea typeface="微软雅黑" panose="020B0503020204020204" pitchFamily="34" charset="-122"/>
              </a:rPr>
              <a:t>结束</a:t>
            </a:r>
            <a:r>
              <a:rPr lang="en-US" altLang="zh-CN">
                <a:solidFill>
                  <a:srgbClr val="CC0000"/>
                </a:solidFill>
                <a:latin typeface="微软雅黑" panose="020B0503020204020204" pitchFamily="34" charset="-122"/>
                <a:ea typeface="微软雅黑" panose="020B0503020204020204" pitchFamily="34" charset="-122"/>
              </a:rPr>
              <a:t>: Load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Wr</a:t>
            </a:r>
            <a:r>
              <a:rPr lang="en-US" altLang="zh-CN">
                <a:solidFill>
                  <a:srgbClr val="CC0000"/>
                </a:solidFill>
                <a:latin typeface="微软雅黑" panose="020B0503020204020204" pitchFamily="34" charset="-122"/>
                <a:ea typeface="微软雅黑" panose="020B0503020204020204" pitchFamily="34" charset="-122"/>
              </a:rPr>
              <a:t>,     R-type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Mem</a:t>
            </a:r>
            <a:r>
              <a:rPr lang="en-US" altLang="zh-CN">
                <a:solidFill>
                  <a:srgbClr val="CC0000"/>
                </a:solidFill>
                <a:latin typeface="微软雅黑" panose="020B0503020204020204" pitchFamily="34" charset="-122"/>
                <a:ea typeface="微软雅黑" panose="020B0503020204020204" pitchFamily="34" charset="-122"/>
              </a:rPr>
              <a:t>,  Store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a:solidFill>
                  <a:srgbClr val="CC0000"/>
                </a:solidFill>
                <a:latin typeface="微软雅黑" panose="020B0503020204020204" pitchFamily="34" charset="-122"/>
                <a:ea typeface="微软雅黑" panose="020B0503020204020204" pitchFamily="34" charset="-122"/>
              </a:rPr>
              <a:t>Exec,  </a:t>
            </a:r>
            <a:r>
              <a:rPr lang="en-US" altLang="zh-CN" err="1">
                <a:solidFill>
                  <a:srgbClr val="CC0000"/>
                </a:solidFill>
                <a:latin typeface="微软雅黑" panose="020B0503020204020204" pitchFamily="34" charset="-122"/>
                <a:ea typeface="微软雅黑" panose="020B0503020204020204" pitchFamily="34" charset="-122"/>
              </a:rPr>
              <a:t>Beq</a:t>
            </a:r>
            <a:r>
              <a:rPr lang="en-US" altLang="zh-CN">
                <a:solidFill>
                  <a:srgbClr val="CC0000"/>
                </a:solidFill>
                <a:latin typeface="微软雅黑" panose="020B0503020204020204" pitchFamily="34" charset="-122"/>
                <a:ea typeface="微软雅黑" panose="020B0503020204020204" pitchFamily="34" charset="-122"/>
              </a:rPr>
              <a:t>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Reg</a:t>
            </a:r>
            <a:endParaRPr lang="en-US" altLang="zh-CN">
              <a:solidFill>
                <a:srgbClr val="CC0000"/>
              </a:solidFill>
              <a:latin typeface="微软雅黑" panose="020B0503020204020204" pitchFamily="34" charset="-122"/>
              <a:ea typeface="微软雅黑" panose="020B0503020204020204" pitchFamily="34" charset="-122"/>
            </a:endParaRPr>
          </a:p>
          <a:p>
            <a:pPr>
              <a:buNone/>
            </a:pPr>
            <a:r>
              <a:rPr lang="zh-CN" altLang="en-US" dirty="0">
                <a:solidFill>
                  <a:srgbClr val="CC0000"/>
                </a:solidFill>
                <a:latin typeface="微软雅黑" panose="020B0503020204020204" pitchFamily="34" charset="-122"/>
                <a:ea typeface="微软雅黑" panose="020B0503020204020204" pitchFamily="34" charset="-122"/>
              </a:rPr>
              <a:t>周期</a:t>
            </a:r>
            <a:r>
              <a:rPr lang="en-US" altLang="zh-CN">
                <a:solidFill>
                  <a:srgbClr val="CC0000"/>
                </a:solidFill>
                <a:latin typeface="微软雅黑" panose="020B0503020204020204" pitchFamily="34" charset="-122"/>
                <a:ea typeface="微软雅黑" panose="020B0503020204020204" pitchFamily="34" charset="-122"/>
              </a:rPr>
              <a:t>6</a:t>
            </a:r>
            <a:r>
              <a:rPr lang="zh-CN" altLang="en-US" dirty="0">
                <a:solidFill>
                  <a:srgbClr val="CC0000"/>
                </a:solidFill>
                <a:latin typeface="微软雅黑" panose="020B0503020204020204" pitchFamily="34" charset="-122"/>
                <a:ea typeface="微软雅黑" panose="020B0503020204020204" pitchFamily="34" charset="-122"/>
              </a:rPr>
              <a:t>结束</a:t>
            </a:r>
            <a:r>
              <a:rPr lang="en-US" altLang="zh-CN">
                <a:solidFill>
                  <a:srgbClr val="CC0000"/>
                </a:solidFill>
                <a:latin typeface="微软雅黑" panose="020B0503020204020204" pitchFamily="34" charset="-122"/>
                <a:ea typeface="微软雅黑" panose="020B0503020204020204" pitchFamily="34" charset="-122"/>
              </a:rPr>
              <a:t>:                         R-type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Wr</a:t>
            </a:r>
            <a:r>
              <a:rPr lang="en-US" altLang="zh-CN">
                <a:solidFill>
                  <a:srgbClr val="CC0000"/>
                </a:solidFill>
                <a:latin typeface="微软雅黑" panose="020B0503020204020204" pitchFamily="34" charset="-122"/>
                <a:ea typeface="微软雅黑" panose="020B0503020204020204" pitchFamily="34" charset="-122"/>
              </a:rPr>
              <a:t>,      Store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Mem</a:t>
            </a:r>
            <a:r>
              <a:rPr lang="en-US" altLang="zh-CN">
                <a:solidFill>
                  <a:srgbClr val="CC0000"/>
                </a:solidFill>
                <a:latin typeface="微软雅黑" panose="020B0503020204020204" pitchFamily="34" charset="-122"/>
                <a:ea typeface="微软雅黑" panose="020B0503020204020204" pitchFamily="34" charset="-122"/>
              </a:rPr>
              <a:t>, </a:t>
            </a:r>
            <a:r>
              <a:rPr lang="en-US" altLang="zh-CN" err="1">
                <a:solidFill>
                  <a:srgbClr val="CC0000"/>
                </a:solidFill>
                <a:latin typeface="微软雅黑" panose="020B0503020204020204" pitchFamily="34" charset="-122"/>
                <a:ea typeface="微软雅黑" panose="020B0503020204020204" pitchFamily="34" charset="-122"/>
              </a:rPr>
              <a:t>Beq</a:t>
            </a:r>
            <a:r>
              <a:rPr lang="en-US" altLang="zh-CN">
                <a:solidFill>
                  <a:srgbClr val="CC0000"/>
                </a:solidFill>
                <a:latin typeface="微软雅黑" panose="020B0503020204020204" pitchFamily="34" charset="-122"/>
                <a:ea typeface="微软雅黑" panose="020B0503020204020204" pitchFamily="34" charset="-122"/>
              </a:rPr>
              <a:t>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a:solidFill>
                  <a:srgbClr val="CC0000"/>
                </a:solidFill>
                <a:latin typeface="微软雅黑" panose="020B0503020204020204" pitchFamily="34" charset="-122"/>
                <a:ea typeface="微软雅黑" panose="020B0503020204020204" pitchFamily="34" charset="-122"/>
              </a:rPr>
              <a:t>Exec</a:t>
            </a:r>
            <a:endParaRPr lang="en-US" altLang="zh-CN">
              <a:solidFill>
                <a:srgbClr val="CC0000"/>
              </a:solidFill>
              <a:latin typeface="微软雅黑" panose="020B0503020204020204" pitchFamily="34" charset="-122"/>
              <a:ea typeface="微软雅黑" panose="020B0503020204020204" pitchFamily="34" charset="-122"/>
            </a:endParaRPr>
          </a:p>
          <a:p>
            <a:pPr>
              <a:buNone/>
            </a:pPr>
            <a:r>
              <a:rPr lang="zh-CN" altLang="en-US" dirty="0">
                <a:solidFill>
                  <a:srgbClr val="CC0000"/>
                </a:solidFill>
                <a:latin typeface="微软雅黑" panose="020B0503020204020204" pitchFamily="34" charset="-122"/>
                <a:ea typeface="微软雅黑" panose="020B0503020204020204" pitchFamily="34" charset="-122"/>
              </a:rPr>
              <a:t>周期</a:t>
            </a:r>
            <a:r>
              <a:rPr lang="en-US" altLang="zh-CN">
                <a:solidFill>
                  <a:srgbClr val="CC0000"/>
                </a:solidFill>
                <a:latin typeface="微软雅黑" panose="020B0503020204020204" pitchFamily="34" charset="-122"/>
                <a:ea typeface="微软雅黑" panose="020B0503020204020204" pitchFamily="34" charset="-122"/>
              </a:rPr>
              <a:t>7</a:t>
            </a:r>
            <a:r>
              <a:rPr lang="zh-CN" altLang="en-US" dirty="0">
                <a:solidFill>
                  <a:srgbClr val="CC0000"/>
                </a:solidFill>
                <a:latin typeface="微软雅黑" panose="020B0503020204020204" pitchFamily="34" charset="-122"/>
                <a:ea typeface="微软雅黑" panose="020B0503020204020204" pitchFamily="34" charset="-122"/>
              </a:rPr>
              <a:t>结束</a:t>
            </a:r>
            <a:r>
              <a:rPr lang="en-US" altLang="zh-CN">
                <a:solidFill>
                  <a:srgbClr val="CC0000"/>
                </a:solidFill>
                <a:latin typeface="微软雅黑" panose="020B0503020204020204" pitchFamily="34" charset="-122"/>
                <a:ea typeface="微软雅黑" panose="020B0503020204020204" pitchFamily="34" charset="-122"/>
              </a:rPr>
              <a:t>:                                                      Store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Wr</a:t>
            </a:r>
            <a:r>
              <a:rPr lang="en-US" altLang="zh-CN">
                <a:solidFill>
                  <a:srgbClr val="CC0000"/>
                </a:solidFill>
                <a:latin typeface="微软雅黑" panose="020B0503020204020204" pitchFamily="34" charset="-122"/>
                <a:ea typeface="微软雅黑" panose="020B0503020204020204" pitchFamily="34" charset="-122"/>
              </a:rPr>
              <a:t>,     </a:t>
            </a:r>
            <a:r>
              <a:rPr lang="en-US" altLang="zh-CN" err="1">
                <a:solidFill>
                  <a:srgbClr val="CC0000"/>
                </a:solidFill>
                <a:latin typeface="微软雅黑" panose="020B0503020204020204" pitchFamily="34" charset="-122"/>
                <a:ea typeface="微软雅黑" panose="020B0503020204020204" pitchFamily="34" charset="-122"/>
              </a:rPr>
              <a:t>Beq</a:t>
            </a:r>
            <a:r>
              <a:rPr lang="en-US" altLang="zh-CN">
                <a:solidFill>
                  <a:srgbClr val="CC0000"/>
                </a:solidFill>
                <a:latin typeface="微软雅黑" panose="020B0503020204020204" pitchFamily="34" charset="-122"/>
                <a:ea typeface="微软雅黑" panose="020B0503020204020204" pitchFamily="34" charset="-122"/>
              </a:rPr>
              <a:t> </a:t>
            </a:r>
            <a:r>
              <a:rPr lang="zh-CN" altLang="en-US" dirty="0">
                <a:solidFill>
                  <a:srgbClr val="CC0000"/>
                </a:solidFill>
                <a:latin typeface="微软雅黑" panose="020B0503020204020204" pitchFamily="34" charset="-122"/>
                <a:ea typeface="微软雅黑" panose="020B0503020204020204" pitchFamily="34" charset="-122"/>
              </a:rPr>
              <a:t>的 </a:t>
            </a:r>
            <a:r>
              <a:rPr lang="en-US" altLang="zh-CN" err="1">
                <a:solidFill>
                  <a:srgbClr val="CC0000"/>
                </a:solidFill>
                <a:latin typeface="微软雅黑" panose="020B0503020204020204" pitchFamily="34" charset="-122"/>
                <a:ea typeface="微软雅黑" panose="020B0503020204020204" pitchFamily="34" charset="-122"/>
              </a:rPr>
              <a:t>Mem</a:t>
            </a:r>
            <a:endParaRPr lang="en-US" altLang="zh-CN">
              <a:solidFill>
                <a:srgbClr val="CC0000"/>
              </a:solidFill>
              <a:latin typeface="微软雅黑" panose="020B0503020204020204" pitchFamily="34" charset="-122"/>
              <a:ea typeface="微软雅黑" panose="020B0503020204020204" pitchFamily="34" charset="-122"/>
            </a:endParaRPr>
          </a:p>
        </p:txBody>
      </p:sp>
      <p:sp>
        <p:nvSpPr>
          <p:cNvPr id="179349" name="矩形 534677"/>
          <p:cNvSpPr/>
          <p:nvPr/>
        </p:nvSpPr>
        <p:spPr>
          <a:xfrm>
            <a:off x="1130300" y="3903663"/>
            <a:ext cx="6269038" cy="595312"/>
          </a:xfrm>
          <a:prstGeom prst="rect">
            <a:avLst/>
          </a:prstGeom>
          <a:noFill/>
          <a:ln w="12700" cap="flat" cmpd="sng">
            <a:solidFill>
              <a:schemeClr val="accent2"/>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50" name="文本框 534678"/>
          <p:cNvSpPr txBox="1"/>
          <p:nvPr/>
        </p:nvSpPr>
        <p:spPr>
          <a:xfrm>
            <a:off x="1216025" y="4021138"/>
            <a:ext cx="2962275" cy="366712"/>
          </a:xfrm>
          <a:prstGeom prst="rect">
            <a:avLst/>
          </a:prstGeom>
          <a:noFill/>
          <a:ln w="12700">
            <a:noFill/>
          </a:ln>
        </p:spPr>
        <p:txBody>
          <a:bodyPr anchor="t" anchorCtr="0">
            <a:spAutoFit/>
          </a:bodyPr>
          <a:p>
            <a:pPr eaLnBrk="0" hangingPunct="0">
              <a:spcBef>
                <a:spcPct val="50000"/>
              </a:spcBef>
            </a:pPr>
            <a:r>
              <a:rPr lang="zh-CN" altLang="en-US" sz="1800" dirty="0">
                <a:solidFill>
                  <a:schemeClr val="accent2"/>
                </a:solidFill>
                <a:latin typeface="Times New Roman" panose="02020603050405020304" pitchFamily="18" charset="0"/>
                <a:ea typeface="黑体" panose="02010609060101010101" pitchFamily="49" charset="-122"/>
              </a:rPr>
              <a:t>考察以下几个点的情况：</a:t>
            </a:r>
            <a:endParaRPr lang="zh-CN" altLang="en-US" sz="1800" dirty="0">
              <a:solidFill>
                <a:schemeClr val="accent2"/>
              </a:solidFill>
              <a:latin typeface="Times New Roman" panose="02020603050405020304" pitchFamily="18" charset="0"/>
              <a:ea typeface="黑体" panose="02010609060101010101" pitchFamily="49" charset="-122"/>
            </a:endParaRPr>
          </a:p>
        </p:txBody>
      </p:sp>
      <p:sp>
        <p:nvSpPr>
          <p:cNvPr id="179351" name="矩形 534679"/>
          <p:cNvSpPr/>
          <p:nvPr/>
        </p:nvSpPr>
        <p:spPr>
          <a:xfrm>
            <a:off x="4356100" y="3429000"/>
            <a:ext cx="4000500" cy="279400"/>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79352" name="直接连接符 534680"/>
          <p:cNvSpPr/>
          <p:nvPr/>
        </p:nvSpPr>
        <p:spPr>
          <a:xfrm flipH="1">
            <a:off x="7683500" y="3441700"/>
            <a:ext cx="0" cy="254000"/>
          </a:xfrm>
          <a:prstGeom prst="line">
            <a:avLst/>
          </a:prstGeom>
          <a:ln w="12700" cap="flat" cmpd="sng">
            <a:solidFill>
              <a:schemeClr val="tx1"/>
            </a:solidFill>
            <a:prstDash val="solid"/>
            <a:roun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4677">
                                            <p:txEl>
                                              <p:charRg st="0" end="64"/>
                                            </p:txEl>
                                          </p:spTgt>
                                        </p:tgtEl>
                                        <p:attrNameLst>
                                          <p:attrName>style.visibility</p:attrName>
                                        </p:attrNameLst>
                                      </p:cBhvr>
                                      <p:to>
                                        <p:strVal val="visible"/>
                                      </p:to>
                                    </p:set>
                                    <p:animEffect transition="in" filter="blinds(horizontal)">
                                      <p:cBhvr>
                                        <p:cTn id="7" dur="500"/>
                                        <p:tgtEl>
                                          <p:spTgt spid="534677">
                                            <p:txEl>
                                              <p:charRg st="0" end="6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34677">
                                            <p:txEl>
                                              <p:charRg st="64" end="126"/>
                                            </p:txEl>
                                          </p:spTgt>
                                        </p:tgtEl>
                                        <p:attrNameLst>
                                          <p:attrName>style.visibility</p:attrName>
                                        </p:attrNameLst>
                                      </p:cBhvr>
                                      <p:to>
                                        <p:strVal val="visible"/>
                                      </p:to>
                                    </p:set>
                                    <p:animEffect transition="in" filter="blinds(horizontal)">
                                      <p:cBhvr>
                                        <p:cTn id="12" dur="500"/>
                                        <p:tgtEl>
                                          <p:spTgt spid="534677">
                                            <p:txEl>
                                              <p:charRg st="64" end="1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34677">
                                            <p:txEl>
                                              <p:charRg st="126" end="199"/>
                                            </p:txEl>
                                          </p:spTgt>
                                        </p:tgtEl>
                                        <p:attrNameLst>
                                          <p:attrName>style.visibility</p:attrName>
                                        </p:attrNameLst>
                                      </p:cBhvr>
                                      <p:to>
                                        <p:strVal val="visible"/>
                                      </p:to>
                                    </p:set>
                                    <p:animEffect transition="in" filter="blinds(horizontal)">
                                      <p:cBhvr>
                                        <p:cTn id="17" dur="500"/>
                                        <p:tgtEl>
                                          <p:spTgt spid="534677">
                                            <p:txEl>
                                              <p:charRg st="126" end="19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34677">
                                            <p:txEl>
                                              <p:charRg st="199" end="285"/>
                                            </p:txEl>
                                          </p:spTgt>
                                        </p:tgtEl>
                                        <p:attrNameLst>
                                          <p:attrName>style.visibility</p:attrName>
                                        </p:attrNameLst>
                                      </p:cBhvr>
                                      <p:to>
                                        <p:strVal val="visible"/>
                                      </p:to>
                                    </p:set>
                                    <p:animEffect transition="in" filter="blinds(horizontal)">
                                      <p:cBhvr>
                                        <p:cTn id="22" dur="500"/>
                                        <p:tgtEl>
                                          <p:spTgt spid="534677">
                                            <p:txEl>
                                              <p:charRg st="199" end="2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49" name="标题 567297"/>
          <p:cNvSpPr>
            <a:spLocks noGrp="1"/>
          </p:cNvSpPr>
          <p:nvPr>
            <p:ph type="title"/>
          </p:nvPr>
        </p:nvSpPr>
        <p:spPr>
          <a:ln/>
        </p:spPr>
        <p:txBody>
          <a:bodyPr lIns="63500" tIns="25400" rIns="63500" bIns="25400" anchor="t" anchorCtr="0">
            <a:spAutoFit/>
          </a:bodyPr>
          <a:p>
            <a:r>
              <a:rPr lang="zh-CN" altLang="en-US" dirty="0"/>
              <a:t>指令流水线的执行举例</a:t>
            </a:r>
            <a:endParaRPr lang="zh-CN" altLang="en-US" dirty="0"/>
          </a:p>
        </p:txBody>
      </p:sp>
      <p:pic>
        <p:nvPicPr>
          <p:cNvPr id="181250" name="图片 567299"/>
          <p:cNvPicPr>
            <a:picLocks noChangeAspect="1"/>
          </p:cNvPicPr>
          <p:nvPr/>
        </p:nvPicPr>
        <p:blipFill>
          <a:blip r:embed="rId1"/>
          <a:stretch>
            <a:fillRect/>
          </a:stretch>
        </p:blipFill>
        <p:spPr>
          <a:xfrm>
            <a:off x="0" y="811213"/>
            <a:ext cx="9144000" cy="5699125"/>
          </a:xfrm>
          <a:prstGeom prst="rect">
            <a:avLst/>
          </a:prstGeom>
          <a:noFill/>
          <a:ln w="9525">
            <a:noFill/>
          </a:ln>
        </p:spPr>
      </p:pic>
      <p:sp>
        <p:nvSpPr>
          <p:cNvPr id="567302" name="文本框 567301"/>
          <p:cNvSpPr txBox="1"/>
          <p:nvPr/>
        </p:nvSpPr>
        <p:spPr>
          <a:xfrm>
            <a:off x="5922963" y="1587500"/>
            <a:ext cx="3017837" cy="701675"/>
          </a:xfrm>
          <a:prstGeom prst="rect">
            <a:avLst/>
          </a:prstGeom>
          <a:noFill/>
          <a:ln w="50800">
            <a:noFill/>
          </a:ln>
        </p:spPr>
        <p:txBody>
          <a:bodyPr anchor="t" anchorCtr="0">
            <a:spAutoFit/>
          </a:bodyPr>
          <a:p>
            <a:pPr eaLnBrk="0" hangingPunct="0">
              <a:spcBef>
                <a:spcPct val="50000"/>
              </a:spcBef>
            </a:pPr>
            <a:r>
              <a:rPr lang="en-US" altLang="zh-CN" sz="2000" err="1">
                <a:solidFill>
                  <a:schemeClr val="accent1"/>
                </a:solidFill>
                <a:latin typeface="微软雅黑" panose="020B0503020204020204" pitchFamily="34" charset="-122"/>
                <a:ea typeface="微软雅黑" panose="020B0503020204020204" pitchFamily="34" charset="-122"/>
              </a:rPr>
              <a:t>lw</a:t>
            </a:r>
            <a:r>
              <a:rPr lang="zh-CN" altLang="en-US" sz="2000" dirty="0">
                <a:solidFill>
                  <a:schemeClr val="accent1"/>
                </a:solidFill>
                <a:latin typeface="微软雅黑" panose="020B0503020204020204" pitchFamily="34" charset="-122"/>
                <a:ea typeface="微软雅黑" panose="020B0503020204020204" pitchFamily="34" charset="-122"/>
              </a:rPr>
              <a:t>指令与</a:t>
            </a:r>
            <a:r>
              <a:rPr lang="en-US" altLang="zh-CN" sz="2000" err="1">
                <a:solidFill>
                  <a:schemeClr val="accent1"/>
                </a:solidFill>
                <a:latin typeface="微软雅黑" panose="020B0503020204020204" pitchFamily="34" charset="-122"/>
                <a:ea typeface="微软雅黑" panose="020B0503020204020204" pitchFamily="34" charset="-122"/>
              </a:rPr>
              <a:t>beq</a:t>
            </a:r>
            <a:r>
              <a:rPr lang="zh-CN" altLang="en-US" sz="2000" dirty="0">
                <a:solidFill>
                  <a:schemeClr val="accent1"/>
                </a:solidFill>
                <a:latin typeface="微软雅黑" panose="020B0503020204020204" pitchFamily="34" charset="-122"/>
                <a:ea typeface="微软雅黑" panose="020B0503020204020204" pitchFamily="34" charset="-122"/>
              </a:rPr>
              <a:t>、</a:t>
            </a:r>
            <a:r>
              <a:rPr lang="en-US" altLang="zh-CN" sz="2000">
                <a:solidFill>
                  <a:schemeClr val="accent1"/>
                </a:solidFill>
                <a:latin typeface="微软雅黑" panose="020B0503020204020204" pitchFamily="34" charset="-122"/>
                <a:ea typeface="微软雅黑" panose="020B0503020204020204" pitchFamily="34" charset="-122"/>
              </a:rPr>
              <a:t>sub</a:t>
            </a:r>
            <a:r>
              <a:rPr lang="zh-CN" altLang="en-US" sz="2000" dirty="0">
                <a:solidFill>
                  <a:schemeClr val="accent1"/>
                </a:solidFill>
                <a:latin typeface="微软雅黑" panose="020B0503020204020204" pitchFamily="34" charset="-122"/>
                <a:ea typeface="微软雅黑" panose="020B0503020204020204" pitchFamily="34" charset="-122"/>
              </a:rPr>
              <a:t>、</a:t>
            </a:r>
            <a:r>
              <a:rPr lang="en-US" altLang="zh-CN" sz="2000">
                <a:solidFill>
                  <a:schemeClr val="accent1"/>
                </a:solidFill>
                <a:latin typeface="微软雅黑" panose="020B0503020204020204" pitchFamily="34" charset="-122"/>
                <a:ea typeface="微软雅黑" panose="020B0503020204020204" pitchFamily="34" charset="-122"/>
              </a:rPr>
              <a:t>or</a:t>
            </a:r>
            <a:r>
              <a:rPr lang="zh-CN" altLang="en-US" sz="2000" dirty="0">
                <a:solidFill>
                  <a:schemeClr val="accent1"/>
                </a:solidFill>
                <a:latin typeface="微软雅黑" panose="020B0503020204020204" pitchFamily="34" charset="-122"/>
                <a:ea typeface="微软雅黑" panose="020B0503020204020204" pitchFamily="34" charset="-122"/>
              </a:rPr>
              <a:t>指令关于</a:t>
            </a:r>
            <a:r>
              <a:rPr lang="en-US" altLang="zh-CN" sz="2000">
                <a:solidFill>
                  <a:schemeClr val="accent1"/>
                </a:solidFill>
                <a:latin typeface="微软雅黑" panose="020B0503020204020204" pitchFamily="34" charset="-122"/>
                <a:ea typeface="微软雅黑" panose="020B0503020204020204" pitchFamily="34" charset="-122"/>
              </a:rPr>
              <a:t>$8</a:t>
            </a:r>
            <a:r>
              <a:rPr lang="zh-CN" altLang="en-US" sz="2000" dirty="0">
                <a:solidFill>
                  <a:schemeClr val="accent1"/>
                </a:solidFill>
                <a:latin typeface="微软雅黑" panose="020B0503020204020204" pitchFamily="34" charset="-122"/>
                <a:ea typeface="微软雅黑" panose="020B0503020204020204" pitchFamily="34" charset="-122"/>
              </a:rPr>
              <a:t>数据相关</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181252" name="矩形 567302"/>
          <p:cNvSpPr/>
          <p:nvPr/>
        </p:nvSpPr>
        <p:spPr>
          <a:xfrm>
            <a:off x="841375" y="2409825"/>
            <a:ext cx="276225" cy="319088"/>
          </a:xfrm>
          <a:prstGeom prst="rect">
            <a:avLst/>
          </a:prstGeom>
          <a:solidFill>
            <a:schemeClr val="accent1">
              <a:alpha val="38000"/>
            </a:schemeClr>
          </a:solidFill>
          <a:ln w="50800">
            <a:noFill/>
          </a:ln>
        </p:spPr>
        <p:txBody>
          <a:bodyPr anchor="t" anchorCtr="0"/>
          <a:p>
            <a:pPr eaLnBrk="0" hangingPunct="0"/>
            <a:endParaRPr lang="zh-CN" altLang="en-US">
              <a:latin typeface="Arial" panose="020B0604020202020204" pitchFamily="34" charset="0"/>
            </a:endParaRPr>
          </a:p>
        </p:txBody>
      </p:sp>
      <p:sp>
        <p:nvSpPr>
          <p:cNvPr id="181253" name="矩形 567303"/>
          <p:cNvSpPr/>
          <p:nvPr/>
        </p:nvSpPr>
        <p:spPr>
          <a:xfrm>
            <a:off x="1920875" y="3198813"/>
            <a:ext cx="276225" cy="319087"/>
          </a:xfrm>
          <a:prstGeom prst="rect">
            <a:avLst/>
          </a:prstGeom>
          <a:solidFill>
            <a:schemeClr val="accent1">
              <a:alpha val="39999"/>
            </a:schemeClr>
          </a:solidFill>
          <a:ln w="50800">
            <a:noFill/>
          </a:ln>
        </p:spPr>
        <p:txBody>
          <a:bodyPr anchor="t" anchorCtr="0"/>
          <a:p>
            <a:pPr eaLnBrk="0" hangingPunct="0"/>
            <a:endParaRPr lang="zh-CN" altLang="en-US">
              <a:latin typeface="Arial" panose="020B0604020202020204" pitchFamily="34" charset="0"/>
            </a:endParaRPr>
          </a:p>
        </p:txBody>
      </p:sp>
      <p:sp>
        <p:nvSpPr>
          <p:cNvPr id="181254" name="矩形 567304"/>
          <p:cNvSpPr/>
          <p:nvPr/>
        </p:nvSpPr>
        <p:spPr>
          <a:xfrm>
            <a:off x="3054350" y="3981450"/>
            <a:ext cx="276225" cy="319088"/>
          </a:xfrm>
          <a:prstGeom prst="rect">
            <a:avLst/>
          </a:prstGeom>
          <a:solidFill>
            <a:schemeClr val="accent1">
              <a:alpha val="46001"/>
            </a:schemeClr>
          </a:solidFill>
          <a:ln w="50800">
            <a:noFill/>
          </a:ln>
        </p:spPr>
        <p:txBody>
          <a:bodyPr anchor="t" anchorCtr="0"/>
          <a:p>
            <a:pPr eaLnBrk="0" hangingPunct="0"/>
            <a:endParaRPr lang="zh-CN" altLang="en-US">
              <a:latin typeface="Arial" panose="020B0604020202020204" pitchFamily="34" charset="0"/>
            </a:endParaRPr>
          </a:p>
        </p:txBody>
      </p:sp>
      <p:sp>
        <p:nvSpPr>
          <p:cNvPr id="181255" name="矩形 567305"/>
          <p:cNvSpPr/>
          <p:nvPr/>
        </p:nvSpPr>
        <p:spPr>
          <a:xfrm>
            <a:off x="3684588" y="4654550"/>
            <a:ext cx="276225" cy="319088"/>
          </a:xfrm>
          <a:prstGeom prst="rect">
            <a:avLst/>
          </a:prstGeom>
          <a:solidFill>
            <a:schemeClr val="accent1">
              <a:alpha val="34000"/>
            </a:schemeClr>
          </a:solidFill>
          <a:ln w="50800">
            <a:noFill/>
          </a:ln>
        </p:spPr>
        <p:txBody>
          <a:bodyPr anchor="t" anchorCtr="0"/>
          <a:p>
            <a:pPr eaLnBrk="0" hangingPunct="0"/>
            <a:endParaRPr lang="zh-CN" altLang="en-US">
              <a:latin typeface="Arial" panose="020B0604020202020204" pitchFamily="34" charset="0"/>
            </a:endParaRPr>
          </a:p>
        </p:txBody>
      </p:sp>
      <p:sp>
        <p:nvSpPr>
          <p:cNvPr id="567307" name="文本框 567306"/>
          <p:cNvSpPr txBox="1"/>
          <p:nvPr/>
        </p:nvSpPr>
        <p:spPr>
          <a:xfrm>
            <a:off x="7288213" y="3055938"/>
            <a:ext cx="1770062" cy="701675"/>
          </a:xfrm>
          <a:prstGeom prst="rect">
            <a:avLst/>
          </a:prstGeom>
          <a:noFill/>
          <a:ln w="50800">
            <a:noFill/>
          </a:ln>
        </p:spPr>
        <p:txBody>
          <a:bodyPr anchor="t" anchorCtr="0">
            <a:spAutoFit/>
          </a:bodyPr>
          <a:p>
            <a:pPr eaLnBrk="0" hangingPunct="0">
              <a:spcBef>
                <a:spcPct val="50000"/>
              </a:spcBef>
            </a:pPr>
            <a:r>
              <a:rPr lang="en-US" altLang="zh-CN" sz="2000">
                <a:solidFill>
                  <a:schemeClr val="accent1"/>
                </a:solidFill>
                <a:latin typeface="微软雅黑" panose="020B0503020204020204" pitchFamily="34" charset="-122"/>
                <a:ea typeface="微软雅黑" panose="020B0503020204020204" pitchFamily="34" charset="-122"/>
              </a:rPr>
              <a:t>sub</a:t>
            </a:r>
            <a:r>
              <a:rPr lang="zh-CN" altLang="en-US" sz="2000" dirty="0">
                <a:solidFill>
                  <a:schemeClr val="accent1"/>
                </a:solidFill>
                <a:latin typeface="微软雅黑" panose="020B0503020204020204" pitchFamily="34" charset="-122"/>
                <a:ea typeface="微软雅黑" panose="020B0503020204020204" pitchFamily="34" charset="-122"/>
              </a:rPr>
              <a:t>与</a:t>
            </a:r>
            <a:r>
              <a:rPr lang="en-US" altLang="zh-CN" sz="2000">
                <a:solidFill>
                  <a:schemeClr val="accent1"/>
                </a:solidFill>
                <a:latin typeface="微软雅黑" panose="020B0503020204020204" pitchFamily="34" charset="-122"/>
                <a:ea typeface="微软雅黑" panose="020B0503020204020204" pitchFamily="34" charset="-122"/>
              </a:rPr>
              <a:t>or</a:t>
            </a:r>
            <a:r>
              <a:rPr lang="zh-CN" altLang="en-US" sz="2000" dirty="0">
                <a:solidFill>
                  <a:schemeClr val="accent1"/>
                </a:solidFill>
                <a:latin typeface="微软雅黑" panose="020B0503020204020204" pitchFamily="34" charset="-122"/>
                <a:ea typeface="微软雅黑" panose="020B0503020204020204" pitchFamily="34" charset="-122"/>
              </a:rPr>
              <a:t>关于</a:t>
            </a:r>
            <a:r>
              <a:rPr lang="en-US" altLang="zh-CN" sz="2000">
                <a:solidFill>
                  <a:schemeClr val="accent1"/>
                </a:solidFill>
                <a:latin typeface="微软雅黑" panose="020B0503020204020204" pitchFamily="34" charset="-122"/>
                <a:ea typeface="微软雅黑" panose="020B0503020204020204" pitchFamily="34" charset="-122"/>
              </a:rPr>
              <a:t>$9</a:t>
            </a:r>
            <a:r>
              <a:rPr lang="zh-CN" altLang="en-US" sz="2000" dirty="0">
                <a:solidFill>
                  <a:schemeClr val="accent1"/>
                </a:solidFill>
                <a:latin typeface="微软雅黑" panose="020B0503020204020204" pitchFamily="34" charset="-122"/>
                <a:ea typeface="微软雅黑" panose="020B0503020204020204" pitchFamily="34" charset="-122"/>
              </a:rPr>
              <a:t>数据相关</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181257" name="矩形 567307"/>
          <p:cNvSpPr/>
          <p:nvPr/>
        </p:nvSpPr>
        <p:spPr>
          <a:xfrm>
            <a:off x="2543175" y="3948113"/>
            <a:ext cx="276225" cy="319087"/>
          </a:xfrm>
          <a:prstGeom prst="rect">
            <a:avLst/>
          </a:prstGeom>
          <a:solidFill>
            <a:schemeClr val="accent2">
              <a:alpha val="30000"/>
            </a:schemeClr>
          </a:solidFill>
          <a:ln w="50800">
            <a:noFill/>
          </a:ln>
        </p:spPr>
        <p:txBody>
          <a:bodyPr anchor="t" anchorCtr="0"/>
          <a:p>
            <a:pPr eaLnBrk="0" hangingPunct="0"/>
            <a:endParaRPr lang="zh-CN" altLang="en-US">
              <a:latin typeface="Arial" panose="020B0604020202020204" pitchFamily="34" charset="0"/>
            </a:endParaRPr>
          </a:p>
        </p:txBody>
      </p:sp>
      <p:sp>
        <p:nvSpPr>
          <p:cNvPr id="181258" name="矩形 567308"/>
          <p:cNvSpPr/>
          <p:nvPr/>
        </p:nvSpPr>
        <p:spPr>
          <a:xfrm>
            <a:off x="3971925" y="4664075"/>
            <a:ext cx="276225" cy="319088"/>
          </a:xfrm>
          <a:prstGeom prst="rect">
            <a:avLst/>
          </a:prstGeom>
          <a:solidFill>
            <a:schemeClr val="accent2">
              <a:alpha val="30000"/>
            </a:schemeClr>
          </a:solidFill>
          <a:ln w="50800">
            <a:noFill/>
          </a:ln>
        </p:spPr>
        <p:txBody>
          <a:bodyPr anchor="t" anchorCtr="0"/>
          <a:p>
            <a:pPr eaLnBrk="0" hangingPunct="0"/>
            <a:endParaRPr lang="zh-CN" altLang="en-US">
              <a:latin typeface="Arial" panose="020B0604020202020204" pitchFamily="34" charset="0"/>
            </a:endParaRPr>
          </a:p>
        </p:txBody>
      </p:sp>
      <p:sp>
        <p:nvSpPr>
          <p:cNvPr id="567310" name="直接连接符 567309"/>
          <p:cNvSpPr/>
          <p:nvPr/>
        </p:nvSpPr>
        <p:spPr>
          <a:xfrm>
            <a:off x="1089025" y="2728913"/>
            <a:ext cx="884238" cy="434975"/>
          </a:xfrm>
          <a:prstGeom prst="line">
            <a:avLst/>
          </a:prstGeom>
          <a:ln w="28575" cap="flat" cmpd="sng">
            <a:solidFill>
              <a:schemeClr val="accent1"/>
            </a:solidFill>
            <a:prstDash val="solid"/>
            <a:round/>
            <a:headEnd type="none" w="med" len="med"/>
            <a:tailEnd type="triangle" w="med" len="med"/>
          </a:ln>
        </p:spPr>
      </p:sp>
      <p:sp>
        <p:nvSpPr>
          <p:cNvPr id="567313" name="直接连接符 567312"/>
          <p:cNvSpPr/>
          <p:nvPr/>
        </p:nvSpPr>
        <p:spPr>
          <a:xfrm>
            <a:off x="2792413" y="4243388"/>
            <a:ext cx="1335087" cy="434975"/>
          </a:xfrm>
          <a:prstGeom prst="line">
            <a:avLst/>
          </a:prstGeom>
          <a:ln w="28575" cap="flat" cmpd="sng">
            <a:solidFill>
              <a:schemeClr val="accent2"/>
            </a:solidFill>
            <a:prstDash val="solid"/>
            <a:round/>
            <a:headEnd type="none" w="med" len="med"/>
            <a:tailEnd type="triangle" w="med" len="med"/>
          </a:ln>
        </p:spPr>
      </p:sp>
      <p:sp>
        <p:nvSpPr>
          <p:cNvPr id="567314" name="直接连接符 567313"/>
          <p:cNvSpPr/>
          <p:nvPr/>
        </p:nvSpPr>
        <p:spPr>
          <a:xfrm>
            <a:off x="1050925" y="2746375"/>
            <a:ext cx="2058988" cy="1192213"/>
          </a:xfrm>
          <a:prstGeom prst="line">
            <a:avLst/>
          </a:prstGeom>
          <a:ln w="28575" cap="flat" cmpd="sng">
            <a:solidFill>
              <a:schemeClr val="accent1"/>
            </a:solidFill>
            <a:prstDash val="solid"/>
            <a:round/>
            <a:headEnd type="none" w="med" len="med"/>
            <a:tailEnd type="triangle" w="med" len="med"/>
          </a:ln>
        </p:spPr>
      </p:sp>
      <p:sp>
        <p:nvSpPr>
          <p:cNvPr id="567315" name="直接连接符 567314"/>
          <p:cNvSpPr/>
          <p:nvPr/>
        </p:nvSpPr>
        <p:spPr>
          <a:xfrm>
            <a:off x="954088" y="2736850"/>
            <a:ext cx="2784475" cy="1858963"/>
          </a:xfrm>
          <a:prstGeom prst="line">
            <a:avLst/>
          </a:prstGeom>
          <a:ln w="28575" cap="flat" cmpd="sng">
            <a:solidFill>
              <a:schemeClr val="accent1"/>
            </a:solidFill>
            <a:prstDash val="solid"/>
            <a:round/>
            <a:headEnd type="none" w="med" len="med"/>
            <a:tailEnd type="triangle" w="med" len="med"/>
          </a:ln>
        </p:spPr>
      </p:sp>
      <p:sp>
        <p:nvSpPr>
          <p:cNvPr id="567316" name="直接连接符 567315"/>
          <p:cNvSpPr/>
          <p:nvPr/>
        </p:nvSpPr>
        <p:spPr>
          <a:xfrm>
            <a:off x="5311775" y="2598738"/>
            <a:ext cx="334963" cy="1247775"/>
          </a:xfrm>
          <a:prstGeom prst="line">
            <a:avLst/>
          </a:prstGeom>
          <a:ln w="50800" cap="flat" cmpd="sng">
            <a:solidFill>
              <a:schemeClr val="accent2"/>
            </a:solidFill>
            <a:prstDash val="solid"/>
            <a:round/>
            <a:headEnd type="none" w="med" len="med"/>
            <a:tailEnd type="triangle" w="med" len="med"/>
          </a:ln>
        </p:spPr>
      </p:sp>
      <p:sp>
        <p:nvSpPr>
          <p:cNvPr id="567317" name="直接连接符 567316"/>
          <p:cNvSpPr/>
          <p:nvPr/>
        </p:nvSpPr>
        <p:spPr>
          <a:xfrm flipH="1">
            <a:off x="4005263" y="2627313"/>
            <a:ext cx="2220912" cy="449262"/>
          </a:xfrm>
          <a:prstGeom prst="line">
            <a:avLst/>
          </a:prstGeom>
          <a:ln w="50800" cap="flat" cmpd="sng">
            <a:solidFill>
              <a:schemeClr val="accent1"/>
            </a:solidFill>
            <a:prstDash val="solid"/>
            <a:round/>
            <a:headEnd type="none" w="med" len="med"/>
            <a:tailEnd type="triangle" w="med" len="med"/>
          </a:ln>
        </p:spPr>
      </p:sp>
      <p:sp>
        <p:nvSpPr>
          <p:cNvPr id="567318" name="直接连接符 567317"/>
          <p:cNvSpPr/>
          <p:nvPr/>
        </p:nvSpPr>
        <p:spPr>
          <a:xfrm flipH="1">
            <a:off x="4964113" y="2655888"/>
            <a:ext cx="1262062" cy="1176337"/>
          </a:xfrm>
          <a:prstGeom prst="line">
            <a:avLst/>
          </a:prstGeom>
          <a:ln w="50800" cap="flat" cmpd="sng">
            <a:solidFill>
              <a:schemeClr val="accent1"/>
            </a:solidFill>
            <a:prstDash val="solid"/>
            <a:round/>
            <a:headEnd type="none" w="med" len="med"/>
            <a:tailEnd type="triangle" w="med" len="med"/>
          </a:ln>
        </p:spPr>
      </p:sp>
      <p:sp>
        <p:nvSpPr>
          <p:cNvPr id="567319" name="直接连接符 567318"/>
          <p:cNvSpPr/>
          <p:nvPr/>
        </p:nvSpPr>
        <p:spPr>
          <a:xfrm flipH="1">
            <a:off x="5791200" y="2613025"/>
            <a:ext cx="465138" cy="1944688"/>
          </a:xfrm>
          <a:prstGeom prst="line">
            <a:avLst/>
          </a:prstGeom>
          <a:ln w="50800" cap="flat" cmpd="sng">
            <a:solidFill>
              <a:schemeClr val="accent1"/>
            </a:solidFill>
            <a:prstDash val="solid"/>
            <a:round/>
            <a:headEnd type="none" w="med" len="med"/>
            <a:tailEnd type="triangle" w="med" len="med"/>
          </a:ln>
        </p:spPr>
      </p:sp>
      <p:sp>
        <p:nvSpPr>
          <p:cNvPr id="567320" name="直接连接符 567319"/>
          <p:cNvSpPr/>
          <p:nvPr/>
        </p:nvSpPr>
        <p:spPr>
          <a:xfrm flipH="1">
            <a:off x="5935663" y="4092575"/>
            <a:ext cx="2192337" cy="420688"/>
          </a:xfrm>
          <a:prstGeom prst="line">
            <a:avLst/>
          </a:prstGeom>
          <a:ln w="50800" cap="flat" cmpd="sng">
            <a:solidFill>
              <a:schemeClr val="accent1"/>
            </a:solidFill>
            <a:prstDash val="solid"/>
            <a:round/>
            <a:headEnd type="none" w="med" len="med"/>
            <a:tailEnd type="triangle" w="med" len="med"/>
          </a:ln>
        </p:spPr>
      </p:sp>
      <p:sp>
        <p:nvSpPr>
          <p:cNvPr id="567321" name="文本框 567320"/>
          <p:cNvSpPr txBox="1"/>
          <p:nvPr/>
        </p:nvSpPr>
        <p:spPr>
          <a:xfrm>
            <a:off x="128588" y="3703638"/>
            <a:ext cx="1757362" cy="701675"/>
          </a:xfrm>
          <a:prstGeom prst="rect">
            <a:avLst/>
          </a:prstGeom>
          <a:noFill/>
          <a:ln w="50800">
            <a:noFill/>
          </a:ln>
        </p:spPr>
        <p:txBody>
          <a:bodyPr anchor="t" anchorCtr="0">
            <a:spAutoFit/>
          </a:bodyPr>
          <a:p>
            <a:pPr eaLnBrk="0" hangingPunct="0">
              <a:spcBef>
                <a:spcPct val="50000"/>
              </a:spcBef>
            </a:pPr>
            <a:r>
              <a:rPr lang="zh-CN" altLang="en-US" sz="2000" dirty="0">
                <a:solidFill>
                  <a:schemeClr val="accent2"/>
                </a:solidFill>
                <a:latin typeface="微软雅黑" panose="020B0503020204020204" pitchFamily="34" charset="-122"/>
                <a:ea typeface="微软雅黑" panose="020B0503020204020204" pitchFamily="34" charset="-122"/>
              </a:rPr>
              <a:t>可通过转发解决数据相关</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567322" name="矩形 567321"/>
          <p:cNvSpPr/>
          <p:nvPr/>
        </p:nvSpPr>
        <p:spPr>
          <a:xfrm>
            <a:off x="185738" y="5068888"/>
            <a:ext cx="2776537" cy="701675"/>
          </a:xfrm>
          <a:prstGeom prst="rect">
            <a:avLst/>
          </a:prstGeom>
          <a:noFill/>
          <a:ln w="50800">
            <a:noFill/>
          </a:ln>
        </p:spPr>
        <p:txBody>
          <a:bodyPr anchor="t" anchorCtr="0">
            <a:spAutoFit/>
          </a:bodyPr>
          <a:p>
            <a:pPr eaLnBrk="0" hangingPunct="0">
              <a:spcBef>
                <a:spcPct val="50000"/>
              </a:spcBef>
            </a:pPr>
            <a:r>
              <a:rPr lang="zh-CN" altLang="en-US" sz="2000" dirty="0">
                <a:solidFill>
                  <a:srgbClr val="006600"/>
                </a:solidFill>
                <a:latin typeface="Arial" panose="020B0604020202020204" pitchFamily="34" charset="0"/>
                <a:ea typeface="微软雅黑" panose="020B0503020204020204" pitchFamily="34" charset="-122"/>
              </a:rPr>
              <a:t>可通过前半周期写后半周期读解决数据相关</a:t>
            </a:r>
            <a:endParaRPr lang="zh-CN" altLang="en-US" sz="2000" dirty="0">
              <a:solidFill>
                <a:srgbClr val="006600"/>
              </a:solidFill>
              <a:latin typeface="Arial" panose="020B0604020202020204" pitchFamily="34" charset="0"/>
              <a:ea typeface="微软雅黑" panose="020B0503020204020204" pitchFamily="34" charset="-122"/>
            </a:endParaRPr>
          </a:p>
        </p:txBody>
      </p:sp>
      <p:sp>
        <p:nvSpPr>
          <p:cNvPr id="567323" name="直接连接符 567322"/>
          <p:cNvSpPr/>
          <p:nvPr/>
        </p:nvSpPr>
        <p:spPr>
          <a:xfrm flipH="1">
            <a:off x="5762625" y="2771775"/>
            <a:ext cx="14288" cy="1698625"/>
          </a:xfrm>
          <a:prstGeom prst="line">
            <a:avLst/>
          </a:prstGeom>
          <a:ln w="50800" cap="flat" cmpd="sng">
            <a:solidFill>
              <a:srgbClr val="006600"/>
            </a:solidFill>
            <a:prstDash val="solid"/>
            <a:round/>
            <a:headEnd type="none" w="med" len="med"/>
            <a:tailEnd type="triangle" w="med" len="med"/>
          </a:ln>
        </p:spPr>
      </p:sp>
      <p:sp>
        <p:nvSpPr>
          <p:cNvPr id="567324" name="直接连接符 567323"/>
          <p:cNvSpPr/>
          <p:nvPr/>
        </p:nvSpPr>
        <p:spPr>
          <a:xfrm>
            <a:off x="6211888" y="4049713"/>
            <a:ext cx="450850" cy="508000"/>
          </a:xfrm>
          <a:prstGeom prst="line">
            <a:avLst/>
          </a:prstGeom>
          <a:ln w="50800" cap="flat" cmpd="sng">
            <a:solidFill>
              <a:schemeClr val="accent2"/>
            </a:solidFill>
            <a:prstDash val="solid"/>
            <a:round/>
            <a:headEnd type="none" w="med" len="med"/>
            <a:tailEnd type="triangle" w="med" len="med"/>
          </a:ln>
        </p:spPr>
      </p:sp>
      <p:sp>
        <p:nvSpPr>
          <p:cNvPr id="567325" name="文本框 567324"/>
          <p:cNvSpPr txBox="1"/>
          <p:nvPr/>
        </p:nvSpPr>
        <p:spPr>
          <a:xfrm>
            <a:off x="188913" y="4371975"/>
            <a:ext cx="2540000" cy="701675"/>
          </a:xfrm>
          <a:prstGeom prst="rect">
            <a:avLst/>
          </a:prstGeom>
          <a:noFill/>
          <a:ln w="50800">
            <a:noFill/>
          </a:ln>
        </p:spPr>
        <p:txBody>
          <a:bodyPr anchor="t" anchorCtr="0">
            <a:spAutoFit/>
          </a:bodyPr>
          <a:p>
            <a:pPr eaLnBrk="0" hangingPunct="0">
              <a:spcBef>
                <a:spcPct val="50000"/>
              </a:spcBef>
            </a:pPr>
            <a:r>
              <a:rPr lang="en-US" altLang="zh-CN" sz="2000">
                <a:solidFill>
                  <a:srgbClr val="CC3300"/>
                </a:solidFill>
                <a:latin typeface="微软雅黑" panose="020B0503020204020204" pitchFamily="34" charset="-122"/>
                <a:ea typeface="微软雅黑" panose="020B0503020204020204" pitchFamily="34" charset="-122"/>
              </a:rPr>
              <a:t>Load-use</a:t>
            </a:r>
            <a:r>
              <a:rPr lang="zh-CN" altLang="en-US" sz="2000" dirty="0">
                <a:solidFill>
                  <a:srgbClr val="CC3300"/>
                </a:solidFill>
                <a:latin typeface="微软雅黑" panose="020B0503020204020204" pitchFamily="34" charset="-122"/>
                <a:ea typeface="微软雅黑" panose="020B0503020204020204" pitchFamily="34" charset="-122"/>
              </a:rPr>
              <a:t>数据相关不能通过转发解决</a:t>
            </a:r>
            <a:endParaRPr lang="zh-CN" altLang="en-US" sz="2000" dirty="0">
              <a:solidFill>
                <a:srgbClr val="CC3300"/>
              </a:solidFill>
              <a:latin typeface="微软雅黑" panose="020B0503020204020204" pitchFamily="34" charset="-122"/>
              <a:ea typeface="微软雅黑" panose="020B0503020204020204" pitchFamily="34" charset="-122"/>
            </a:endParaRPr>
          </a:p>
        </p:txBody>
      </p:sp>
      <p:sp>
        <p:nvSpPr>
          <p:cNvPr id="567326" name="直接连接符 567325"/>
          <p:cNvSpPr/>
          <p:nvPr/>
        </p:nvSpPr>
        <p:spPr>
          <a:xfrm flipH="1">
            <a:off x="4702175" y="2641600"/>
            <a:ext cx="623888" cy="492125"/>
          </a:xfrm>
          <a:prstGeom prst="line">
            <a:avLst/>
          </a:prstGeom>
          <a:ln w="50800" cap="flat" cmpd="sng">
            <a:solidFill>
              <a:srgbClr val="A50021"/>
            </a:solidFill>
            <a:prstDash val="solid"/>
            <a:round/>
            <a:headEnd type="none" w="med" len="med"/>
            <a:tailEnd type="triangle" w="med" len="med"/>
          </a:ln>
        </p:spPr>
      </p:sp>
      <p:sp>
        <p:nvSpPr>
          <p:cNvPr id="567327" name="文本框 567326"/>
          <p:cNvSpPr txBox="1"/>
          <p:nvPr/>
        </p:nvSpPr>
        <p:spPr>
          <a:xfrm>
            <a:off x="6604000" y="2333625"/>
            <a:ext cx="2393950" cy="701675"/>
          </a:xfrm>
          <a:prstGeom prst="rect">
            <a:avLst/>
          </a:prstGeom>
          <a:noFill/>
          <a:ln w="50800">
            <a:noFill/>
          </a:ln>
        </p:spPr>
        <p:txBody>
          <a:bodyPr anchor="t" anchorCtr="0">
            <a:spAutoFit/>
          </a:bodyPr>
          <a:p>
            <a:pPr eaLnBrk="0" hangingPunct="0">
              <a:spcBef>
                <a:spcPct val="50000"/>
              </a:spcBef>
            </a:pPr>
            <a:r>
              <a:rPr lang="zh-CN" altLang="en-US" sz="2000" dirty="0">
                <a:solidFill>
                  <a:srgbClr val="CC3300"/>
                </a:solidFill>
                <a:latin typeface="微软雅黑" panose="020B0503020204020204" pitchFamily="34" charset="-122"/>
                <a:ea typeface="微软雅黑" panose="020B0503020204020204" pitchFamily="34" charset="-122"/>
              </a:rPr>
              <a:t>指令</a:t>
            </a:r>
            <a:r>
              <a:rPr lang="en-US" altLang="zh-CN" sz="2000" err="1">
                <a:solidFill>
                  <a:srgbClr val="CC3300"/>
                </a:solidFill>
                <a:latin typeface="微软雅黑" panose="020B0503020204020204" pitchFamily="34" charset="-122"/>
                <a:ea typeface="微软雅黑" panose="020B0503020204020204" pitchFamily="34" charset="-122"/>
              </a:rPr>
              <a:t>lw</a:t>
            </a:r>
            <a:r>
              <a:rPr lang="zh-CN" altLang="en-US" sz="2000" dirty="0">
                <a:solidFill>
                  <a:srgbClr val="CC3300"/>
                </a:solidFill>
                <a:latin typeface="微软雅黑" panose="020B0503020204020204" pitchFamily="34" charset="-122"/>
                <a:ea typeface="微软雅黑" panose="020B0503020204020204" pitchFamily="34" charset="-122"/>
              </a:rPr>
              <a:t>与</a:t>
            </a:r>
            <a:r>
              <a:rPr lang="en-US" altLang="zh-CN" sz="2000" err="1">
                <a:solidFill>
                  <a:srgbClr val="CC3300"/>
                </a:solidFill>
                <a:latin typeface="微软雅黑" panose="020B0503020204020204" pitchFamily="34" charset="-122"/>
                <a:ea typeface="微软雅黑" panose="020B0503020204020204" pitchFamily="34" charset="-122"/>
              </a:rPr>
              <a:t>beq</a:t>
            </a:r>
            <a:r>
              <a:rPr lang="zh-CN" altLang="en-US" sz="2000" dirty="0">
                <a:solidFill>
                  <a:srgbClr val="CC3300"/>
                </a:solidFill>
                <a:latin typeface="微软雅黑" panose="020B0503020204020204" pitchFamily="34" charset="-122"/>
                <a:ea typeface="微软雅黑" panose="020B0503020204020204" pitchFamily="34" charset="-122"/>
              </a:rPr>
              <a:t>是</a:t>
            </a:r>
            <a:r>
              <a:rPr lang="en-US" altLang="zh-CN" sz="2000">
                <a:solidFill>
                  <a:srgbClr val="CC3300"/>
                </a:solidFill>
                <a:latin typeface="微软雅黑" panose="020B0503020204020204" pitchFamily="34" charset="-122"/>
                <a:ea typeface="微软雅黑" panose="020B0503020204020204" pitchFamily="34" charset="-122"/>
              </a:rPr>
              <a:t>load-use</a:t>
            </a:r>
            <a:r>
              <a:rPr lang="zh-CN" altLang="en-US" sz="2000" dirty="0">
                <a:solidFill>
                  <a:srgbClr val="CC3300"/>
                </a:solidFill>
                <a:latin typeface="微软雅黑" panose="020B0503020204020204" pitchFamily="34" charset="-122"/>
                <a:ea typeface="微软雅黑" panose="020B0503020204020204" pitchFamily="34" charset="-122"/>
              </a:rPr>
              <a:t>数据相关</a:t>
            </a:r>
            <a:endParaRPr lang="zh-CN" altLang="en-US" sz="2000" dirty="0">
              <a:solidFill>
                <a:srgbClr val="CC3300"/>
              </a:solidFill>
              <a:latin typeface="微软雅黑" panose="020B0503020204020204" pitchFamily="34" charset="-122"/>
              <a:ea typeface="微软雅黑" panose="020B0503020204020204" pitchFamily="34" charset="-122"/>
            </a:endParaRPr>
          </a:p>
        </p:txBody>
      </p:sp>
      <p:sp>
        <p:nvSpPr>
          <p:cNvPr id="567328" name="矩形 567327"/>
          <p:cNvSpPr/>
          <p:nvPr/>
        </p:nvSpPr>
        <p:spPr>
          <a:xfrm>
            <a:off x="231775" y="5794375"/>
            <a:ext cx="4010025" cy="1006475"/>
          </a:xfrm>
          <a:prstGeom prst="rect">
            <a:avLst/>
          </a:prstGeom>
          <a:noFill/>
          <a:ln w="50800">
            <a:noFill/>
          </a:ln>
        </p:spPr>
        <p:txBody>
          <a:bodyPr anchor="t" anchorCtr="0">
            <a:spAutoFit/>
          </a:bodyPr>
          <a:p>
            <a:pPr eaLnBrk="0" hangingPunct="0">
              <a:spcBef>
                <a:spcPct val="50000"/>
              </a:spcBef>
            </a:pPr>
            <a:r>
              <a:rPr lang="en-US" altLang="zh-CN" sz="2000" err="1">
                <a:solidFill>
                  <a:srgbClr val="990033"/>
                </a:solidFill>
                <a:latin typeface="Arial" panose="020B0604020202020204" pitchFamily="34" charset="0"/>
                <a:ea typeface="微软雅黑" panose="020B0503020204020204" pitchFamily="34" charset="-122"/>
              </a:rPr>
              <a:t>beq</a:t>
            </a:r>
            <a:r>
              <a:rPr lang="zh-CN" altLang="en-US" sz="2000" dirty="0">
                <a:solidFill>
                  <a:srgbClr val="990033"/>
                </a:solidFill>
                <a:latin typeface="Arial" panose="020B0604020202020204" pitchFamily="34" charset="0"/>
                <a:ea typeface="微软雅黑" panose="020B0503020204020204" pitchFamily="34" charset="-122"/>
              </a:rPr>
              <a:t>指令条件满足时，应转</a:t>
            </a:r>
            <a:r>
              <a:rPr lang="en-US" altLang="zh-CN" sz="2000">
                <a:solidFill>
                  <a:srgbClr val="990033"/>
                </a:solidFill>
                <a:latin typeface="Arial" panose="020B0604020202020204" pitchFamily="34" charset="0"/>
                <a:ea typeface="微软雅黑" panose="020B0503020204020204" pitchFamily="34" charset="-122"/>
              </a:rPr>
              <a:t>200</a:t>
            </a:r>
            <a:r>
              <a:rPr lang="zh-CN" altLang="en-US" sz="2000" dirty="0">
                <a:solidFill>
                  <a:srgbClr val="990033"/>
                </a:solidFill>
                <a:latin typeface="Arial" panose="020B0604020202020204" pitchFamily="34" charset="0"/>
                <a:ea typeface="微软雅黑" panose="020B0503020204020204" pitchFamily="34" charset="-122"/>
              </a:rPr>
              <a:t>处执行，但在此之前已有</a:t>
            </a:r>
            <a:r>
              <a:rPr lang="en-US" altLang="zh-CN" sz="2000">
                <a:solidFill>
                  <a:srgbClr val="990033"/>
                </a:solidFill>
                <a:latin typeface="Arial" panose="020B0604020202020204" pitchFamily="34" charset="0"/>
                <a:ea typeface="微软雅黑" panose="020B0503020204020204" pitchFamily="34" charset="-122"/>
              </a:rPr>
              <a:t>3</a:t>
            </a:r>
            <a:r>
              <a:rPr lang="zh-CN" altLang="en-US" sz="2000" dirty="0">
                <a:solidFill>
                  <a:srgbClr val="990033"/>
                </a:solidFill>
                <a:latin typeface="Arial" panose="020B0604020202020204" pitchFamily="34" charset="0"/>
                <a:ea typeface="微软雅黑" panose="020B0503020204020204" pitchFamily="34" charset="-122"/>
              </a:rPr>
              <a:t>条指令正在执行，需从流水线中冲刷掉</a:t>
            </a:r>
            <a:endParaRPr lang="zh-CN" altLang="en-US" sz="2000" dirty="0">
              <a:solidFill>
                <a:srgbClr val="990033"/>
              </a:solidFill>
              <a:latin typeface="Arial" panose="020B0604020202020204" pitchFamily="34" charset="0"/>
              <a:ea typeface="微软雅黑" panose="020B0503020204020204" pitchFamily="34" charset="-122"/>
            </a:endParaRPr>
          </a:p>
        </p:txBody>
      </p:sp>
      <p:sp>
        <p:nvSpPr>
          <p:cNvPr id="567329" name="矩形 567328"/>
          <p:cNvSpPr/>
          <p:nvPr/>
        </p:nvSpPr>
        <p:spPr>
          <a:xfrm>
            <a:off x="3425825" y="3875088"/>
            <a:ext cx="2800350" cy="465137"/>
          </a:xfrm>
          <a:prstGeom prst="rect">
            <a:avLst/>
          </a:prstGeom>
          <a:solidFill>
            <a:srgbClr val="800080">
              <a:alpha val="27000"/>
            </a:srgbClr>
          </a:solidFill>
          <a:ln w="50800">
            <a:noFill/>
          </a:ln>
        </p:spPr>
        <p:txBody>
          <a:bodyPr anchor="t" anchorCtr="0"/>
          <a:p>
            <a:pPr eaLnBrk="0" hangingPunct="0"/>
            <a:endParaRPr lang="zh-CN" altLang="en-US">
              <a:latin typeface="Arial" panose="020B0604020202020204" pitchFamily="34" charset="0"/>
            </a:endParaRPr>
          </a:p>
        </p:txBody>
      </p:sp>
      <p:sp>
        <p:nvSpPr>
          <p:cNvPr id="567330" name="矩形 567329"/>
          <p:cNvSpPr/>
          <p:nvPr/>
        </p:nvSpPr>
        <p:spPr>
          <a:xfrm>
            <a:off x="4344988" y="4606925"/>
            <a:ext cx="1857375" cy="465138"/>
          </a:xfrm>
          <a:prstGeom prst="rect">
            <a:avLst/>
          </a:prstGeom>
          <a:solidFill>
            <a:srgbClr val="800080">
              <a:alpha val="27000"/>
            </a:srgbClr>
          </a:solidFill>
          <a:ln w="50800">
            <a:noFill/>
          </a:ln>
        </p:spPr>
        <p:txBody>
          <a:bodyPr anchor="t" anchorCtr="0"/>
          <a:p>
            <a:pPr eaLnBrk="0" hangingPunct="0"/>
            <a:endParaRPr lang="zh-CN" altLang="en-US">
              <a:latin typeface="Arial" panose="020B0604020202020204" pitchFamily="34" charset="0"/>
            </a:endParaRPr>
          </a:p>
        </p:txBody>
      </p:sp>
      <p:sp>
        <p:nvSpPr>
          <p:cNvPr id="567331" name="矩形 567330"/>
          <p:cNvSpPr/>
          <p:nvPr/>
        </p:nvSpPr>
        <p:spPr>
          <a:xfrm>
            <a:off x="5260975" y="5302250"/>
            <a:ext cx="955675" cy="465138"/>
          </a:xfrm>
          <a:prstGeom prst="rect">
            <a:avLst/>
          </a:prstGeom>
          <a:solidFill>
            <a:srgbClr val="800080">
              <a:alpha val="27000"/>
            </a:srgbClr>
          </a:solidFill>
          <a:ln w="50800">
            <a:noFill/>
          </a:ln>
        </p:spPr>
        <p:txBody>
          <a:bodyPr anchor="t" anchorCtr="0"/>
          <a:p>
            <a:pPr eaLnBrk="0" hangingPunct="0"/>
            <a:endParaRPr lang="zh-CN" altLang="en-US">
              <a:latin typeface="Arial" panose="020B0604020202020204" pitchFamily="34" charset="0"/>
            </a:endParaRPr>
          </a:p>
        </p:txBody>
      </p:sp>
      <p:sp>
        <p:nvSpPr>
          <p:cNvPr id="567332" name="文本框 567331"/>
          <p:cNvSpPr txBox="1"/>
          <p:nvPr/>
        </p:nvSpPr>
        <p:spPr>
          <a:xfrm>
            <a:off x="3773488" y="6391275"/>
            <a:ext cx="2917825" cy="396875"/>
          </a:xfrm>
          <a:prstGeom prst="rect">
            <a:avLst/>
          </a:prstGeom>
          <a:noFill/>
          <a:ln w="508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延迟损失时间片</a:t>
            </a:r>
            <a:r>
              <a:rPr lang="en-US" altLang="zh-CN" sz="2000">
                <a:latin typeface="微软雅黑" panose="020B0503020204020204" pitchFamily="34" charset="-122"/>
                <a:ea typeface="微软雅黑" panose="020B0503020204020204" pitchFamily="34" charset="-122"/>
              </a:rPr>
              <a:t>C=3</a:t>
            </a:r>
            <a:endParaRPr lang="en-US" altLang="zh-CN" sz="20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7302"/>
                                        </p:tgtEl>
                                        <p:attrNameLst>
                                          <p:attrName>style.visibility</p:attrName>
                                        </p:attrNameLst>
                                      </p:cBhvr>
                                      <p:to>
                                        <p:strVal val="visible"/>
                                      </p:to>
                                    </p:set>
                                    <p:animEffect transition="in" filter="blinds(horizontal)">
                                      <p:cBhvr>
                                        <p:cTn id="7" dur="500"/>
                                        <p:tgtEl>
                                          <p:spTgt spid="56730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7310"/>
                                        </p:tgtEl>
                                        <p:attrNameLst>
                                          <p:attrName>style.visibility</p:attrName>
                                        </p:attrNameLst>
                                      </p:cBhvr>
                                      <p:to>
                                        <p:strVal val="visible"/>
                                      </p:to>
                                    </p:set>
                                    <p:animEffect transition="in" filter="blinds(horizontal)">
                                      <p:cBhvr>
                                        <p:cTn id="12" dur="500"/>
                                        <p:tgtEl>
                                          <p:spTgt spid="5673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67314"/>
                                        </p:tgtEl>
                                        <p:attrNameLst>
                                          <p:attrName>style.visibility</p:attrName>
                                        </p:attrNameLst>
                                      </p:cBhvr>
                                      <p:to>
                                        <p:strVal val="visible"/>
                                      </p:to>
                                    </p:set>
                                    <p:animEffect transition="in" filter="blinds(horizontal)">
                                      <p:cBhvr>
                                        <p:cTn id="17" dur="500"/>
                                        <p:tgtEl>
                                          <p:spTgt spid="5673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7315"/>
                                        </p:tgtEl>
                                        <p:attrNameLst>
                                          <p:attrName>style.visibility</p:attrName>
                                        </p:attrNameLst>
                                      </p:cBhvr>
                                      <p:to>
                                        <p:strVal val="visible"/>
                                      </p:to>
                                    </p:set>
                                    <p:animEffect transition="in" filter="blinds(horizontal)">
                                      <p:cBhvr>
                                        <p:cTn id="22" dur="500"/>
                                        <p:tgtEl>
                                          <p:spTgt spid="5673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67317"/>
                                        </p:tgtEl>
                                        <p:attrNameLst>
                                          <p:attrName>style.visibility</p:attrName>
                                        </p:attrNameLst>
                                      </p:cBhvr>
                                      <p:to>
                                        <p:strVal val="visible"/>
                                      </p:to>
                                    </p:set>
                                    <p:animEffect transition="in" filter="blinds(horizontal)">
                                      <p:cBhvr>
                                        <p:cTn id="27" dur="500"/>
                                        <p:tgtEl>
                                          <p:spTgt spid="5673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67318"/>
                                        </p:tgtEl>
                                        <p:attrNameLst>
                                          <p:attrName>style.visibility</p:attrName>
                                        </p:attrNameLst>
                                      </p:cBhvr>
                                      <p:to>
                                        <p:strVal val="visible"/>
                                      </p:to>
                                    </p:set>
                                    <p:animEffect transition="in" filter="blinds(horizontal)">
                                      <p:cBhvr>
                                        <p:cTn id="32" dur="500"/>
                                        <p:tgtEl>
                                          <p:spTgt spid="56731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67319"/>
                                        </p:tgtEl>
                                        <p:attrNameLst>
                                          <p:attrName>style.visibility</p:attrName>
                                        </p:attrNameLst>
                                      </p:cBhvr>
                                      <p:to>
                                        <p:strVal val="visible"/>
                                      </p:to>
                                    </p:set>
                                    <p:animEffect transition="in" filter="blinds(horizontal)">
                                      <p:cBhvr>
                                        <p:cTn id="37" dur="500"/>
                                        <p:tgtEl>
                                          <p:spTgt spid="5673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67307"/>
                                        </p:tgtEl>
                                        <p:attrNameLst>
                                          <p:attrName>style.visibility</p:attrName>
                                        </p:attrNameLst>
                                      </p:cBhvr>
                                      <p:to>
                                        <p:strVal val="visible"/>
                                      </p:to>
                                    </p:set>
                                    <p:animEffect transition="in" filter="blinds(horizontal)">
                                      <p:cBhvr>
                                        <p:cTn id="42" dur="500"/>
                                        <p:tgtEl>
                                          <p:spTgt spid="56730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67313"/>
                                        </p:tgtEl>
                                        <p:attrNameLst>
                                          <p:attrName>style.visibility</p:attrName>
                                        </p:attrNameLst>
                                      </p:cBhvr>
                                      <p:to>
                                        <p:strVal val="visible"/>
                                      </p:to>
                                    </p:set>
                                    <p:animEffect transition="in" filter="blinds(horizontal)">
                                      <p:cBhvr>
                                        <p:cTn id="47" dur="500"/>
                                        <p:tgtEl>
                                          <p:spTgt spid="56731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67320"/>
                                        </p:tgtEl>
                                        <p:attrNameLst>
                                          <p:attrName>style.visibility</p:attrName>
                                        </p:attrNameLst>
                                      </p:cBhvr>
                                      <p:to>
                                        <p:strVal val="visible"/>
                                      </p:to>
                                    </p:set>
                                    <p:animEffect transition="in" filter="blinds(horizontal)">
                                      <p:cBhvr>
                                        <p:cTn id="52" dur="500"/>
                                        <p:tgtEl>
                                          <p:spTgt spid="56732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67321"/>
                                        </p:tgtEl>
                                        <p:attrNameLst>
                                          <p:attrName>style.visibility</p:attrName>
                                        </p:attrNameLst>
                                      </p:cBhvr>
                                      <p:to>
                                        <p:strVal val="visible"/>
                                      </p:to>
                                    </p:set>
                                    <p:animEffect transition="in" filter="blinds(horizontal)">
                                      <p:cBhvr>
                                        <p:cTn id="57" dur="500"/>
                                        <p:tgtEl>
                                          <p:spTgt spid="56732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67316"/>
                                        </p:tgtEl>
                                        <p:attrNameLst>
                                          <p:attrName>style.visibility</p:attrName>
                                        </p:attrNameLst>
                                      </p:cBhvr>
                                      <p:to>
                                        <p:strVal val="visible"/>
                                      </p:to>
                                    </p:set>
                                    <p:animEffect transition="in" filter="blinds(horizontal)">
                                      <p:cBhvr>
                                        <p:cTn id="62" dur="500"/>
                                        <p:tgtEl>
                                          <p:spTgt spid="567316"/>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567324"/>
                                        </p:tgtEl>
                                        <p:attrNameLst>
                                          <p:attrName>style.visibility</p:attrName>
                                        </p:attrNameLst>
                                      </p:cBhvr>
                                      <p:to>
                                        <p:strVal val="visible"/>
                                      </p:to>
                                    </p:set>
                                    <p:animEffect transition="in" filter="blinds(horizontal)">
                                      <p:cBhvr>
                                        <p:cTn id="67" dur="500"/>
                                        <p:tgtEl>
                                          <p:spTgt spid="567324"/>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567327"/>
                                        </p:tgtEl>
                                        <p:attrNameLst>
                                          <p:attrName>style.visibility</p:attrName>
                                        </p:attrNameLst>
                                      </p:cBhvr>
                                      <p:to>
                                        <p:strVal val="visible"/>
                                      </p:to>
                                    </p:set>
                                    <p:animEffect transition="in" filter="blinds(horizontal)">
                                      <p:cBhvr>
                                        <p:cTn id="72" dur="500"/>
                                        <p:tgtEl>
                                          <p:spTgt spid="56732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567325"/>
                                        </p:tgtEl>
                                        <p:attrNameLst>
                                          <p:attrName>style.visibility</p:attrName>
                                        </p:attrNameLst>
                                      </p:cBhvr>
                                      <p:to>
                                        <p:strVal val="visible"/>
                                      </p:to>
                                    </p:set>
                                    <p:animEffect transition="in" filter="blinds(horizontal)">
                                      <p:cBhvr>
                                        <p:cTn id="77" dur="500"/>
                                        <p:tgtEl>
                                          <p:spTgt spid="567325"/>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567326"/>
                                        </p:tgtEl>
                                        <p:attrNameLst>
                                          <p:attrName>style.visibility</p:attrName>
                                        </p:attrNameLst>
                                      </p:cBhvr>
                                      <p:to>
                                        <p:strVal val="visible"/>
                                      </p:to>
                                    </p:set>
                                    <p:animEffect transition="in" filter="blinds(horizontal)">
                                      <p:cBhvr>
                                        <p:cTn id="82" dur="500"/>
                                        <p:tgtEl>
                                          <p:spTgt spid="567326"/>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567322"/>
                                        </p:tgtEl>
                                        <p:attrNameLst>
                                          <p:attrName>style.visibility</p:attrName>
                                        </p:attrNameLst>
                                      </p:cBhvr>
                                      <p:to>
                                        <p:strVal val="visible"/>
                                      </p:to>
                                    </p:set>
                                    <p:animEffect transition="in" filter="blinds(horizontal)">
                                      <p:cBhvr>
                                        <p:cTn id="87" dur="500"/>
                                        <p:tgtEl>
                                          <p:spTgt spid="567322"/>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567323"/>
                                        </p:tgtEl>
                                        <p:attrNameLst>
                                          <p:attrName>style.visibility</p:attrName>
                                        </p:attrNameLst>
                                      </p:cBhvr>
                                      <p:to>
                                        <p:strVal val="visible"/>
                                      </p:to>
                                    </p:set>
                                    <p:animEffect transition="in" filter="blinds(horizontal)">
                                      <p:cBhvr>
                                        <p:cTn id="92" dur="500"/>
                                        <p:tgtEl>
                                          <p:spTgt spid="567323"/>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567328"/>
                                        </p:tgtEl>
                                        <p:attrNameLst>
                                          <p:attrName>style.visibility</p:attrName>
                                        </p:attrNameLst>
                                      </p:cBhvr>
                                      <p:to>
                                        <p:strVal val="visible"/>
                                      </p:to>
                                    </p:set>
                                    <p:animEffect transition="in" filter="blinds(horizontal)">
                                      <p:cBhvr>
                                        <p:cTn id="97" dur="500"/>
                                        <p:tgtEl>
                                          <p:spTgt spid="567328"/>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567329"/>
                                        </p:tgtEl>
                                        <p:attrNameLst>
                                          <p:attrName>style.visibility</p:attrName>
                                        </p:attrNameLst>
                                      </p:cBhvr>
                                      <p:to>
                                        <p:strVal val="visible"/>
                                      </p:to>
                                    </p:set>
                                    <p:animEffect transition="in" filter="blinds(horizontal)">
                                      <p:cBhvr>
                                        <p:cTn id="102" dur="500"/>
                                        <p:tgtEl>
                                          <p:spTgt spid="567329"/>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567330"/>
                                        </p:tgtEl>
                                        <p:attrNameLst>
                                          <p:attrName>style.visibility</p:attrName>
                                        </p:attrNameLst>
                                      </p:cBhvr>
                                      <p:to>
                                        <p:strVal val="visible"/>
                                      </p:to>
                                    </p:set>
                                    <p:animEffect transition="in" filter="blinds(horizontal)">
                                      <p:cBhvr>
                                        <p:cTn id="107" dur="500"/>
                                        <p:tgtEl>
                                          <p:spTgt spid="567330"/>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567331"/>
                                        </p:tgtEl>
                                        <p:attrNameLst>
                                          <p:attrName>style.visibility</p:attrName>
                                        </p:attrNameLst>
                                      </p:cBhvr>
                                      <p:to>
                                        <p:strVal val="visible"/>
                                      </p:to>
                                    </p:set>
                                    <p:animEffect transition="in" filter="blinds(horizontal)">
                                      <p:cBhvr>
                                        <p:cTn id="112" dur="500"/>
                                        <p:tgtEl>
                                          <p:spTgt spid="567331"/>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grpId="0" nodeType="clickEffect">
                                  <p:stCondLst>
                                    <p:cond delay="0"/>
                                  </p:stCondLst>
                                  <p:childTnLst>
                                    <p:set>
                                      <p:cBhvr>
                                        <p:cTn id="116" dur="1" fill="hold">
                                          <p:stCondLst>
                                            <p:cond delay="0"/>
                                          </p:stCondLst>
                                        </p:cTn>
                                        <p:tgtEl>
                                          <p:spTgt spid="567332"/>
                                        </p:tgtEl>
                                        <p:attrNameLst>
                                          <p:attrName>style.visibility</p:attrName>
                                        </p:attrNameLst>
                                      </p:cBhvr>
                                      <p:to>
                                        <p:strVal val="visible"/>
                                      </p:to>
                                    </p:set>
                                    <p:animEffect transition="in" filter="blinds(horizontal)">
                                      <p:cBhvr>
                                        <p:cTn id="117" dur="500"/>
                                        <p:tgtEl>
                                          <p:spTgt spid="567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2" grpId="0"/>
      <p:bldP spid="567307" grpId="0"/>
      <p:bldP spid="567321" grpId="0"/>
      <p:bldP spid="567322" grpId="0"/>
      <p:bldP spid="567325" grpId="0"/>
      <p:bldP spid="567327" grpId="0"/>
      <p:bldP spid="567328" grpId="0"/>
      <p:bldP spid="567332"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8322" name="内容占位符 568321"/>
          <p:cNvSpPr>
            <a:spLocks noGrp="1"/>
          </p:cNvSpPr>
          <p:nvPr>
            <p:ph idx="1"/>
          </p:nvPr>
        </p:nvSpPr>
        <p:spPr>
          <a:xfrm>
            <a:off x="0" y="760413"/>
            <a:ext cx="9144000" cy="5915025"/>
          </a:xfrm>
          <a:ln/>
        </p:spPr>
        <p:txBody>
          <a:bodyPr vert="horz" wrap="square" lIns="90488" tIns="44450" rIns="90488" bIns="44450" anchor="t" anchorCtr="0">
            <a:spAutoFit/>
          </a:bodyPr>
          <a:p>
            <a:pPr marL="342900" indent="-342900">
              <a:lnSpc>
                <a:spcPct val="110000"/>
              </a:lnSpc>
              <a:spcBef>
                <a:spcPct val="25000"/>
              </a:spcBef>
            </a:pPr>
            <a:r>
              <a:rPr lang="en-US" altLang="zh-CN">
                <a:solidFill>
                  <a:schemeClr val="hlink"/>
                </a:solidFill>
                <a:ea typeface="宋体" panose="02010600030101010101" pitchFamily="2" charset="-122"/>
              </a:rPr>
              <a:t> </a:t>
            </a:r>
            <a:r>
              <a:rPr lang="en-US" altLang="zh-CN" sz="2000">
                <a:solidFill>
                  <a:srgbClr val="CC0000"/>
                </a:solidFill>
                <a:latin typeface="微软雅黑" panose="020B0503020204020204" pitchFamily="34" charset="-122"/>
                <a:ea typeface="微软雅黑" panose="020B0503020204020204" pitchFamily="34" charset="-122"/>
              </a:rPr>
              <a:t>Hazards</a:t>
            </a:r>
            <a:r>
              <a:rPr lang="zh-CN" altLang="en-US" sz="2000" dirty="0">
                <a:solidFill>
                  <a:srgbClr val="CC0000"/>
                </a:solidFill>
                <a:latin typeface="微软雅黑" panose="020B0503020204020204" pitchFamily="34" charset="-122"/>
                <a:ea typeface="微软雅黑" panose="020B0503020204020204" pitchFamily="34" charset="-122"/>
              </a:rPr>
              <a:t>：指流水线遇到无法正确执行后续指令或执行了不该执行的指令</a:t>
            </a:r>
            <a:endParaRPr lang="en-US" altLang="zh-CN" sz="2000">
              <a:solidFill>
                <a:srgbClr val="CC0000"/>
              </a:solidFill>
              <a:latin typeface="微软雅黑" panose="020B0503020204020204" pitchFamily="34" charset="-122"/>
              <a:ea typeface="微软雅黑" panose="020B0503020204020204" pitchFamily="34" charset="-122"/>
            </a:endParaRPr>
          </a:p>
          <a:p>
            <a:pPr marL="742950" lvl="1" indent="-285750">
              <a:lnSpc>
                <a:spcPct val="110000"/>
              </a:lnSpc>
              <a:spcBef>
                <a:spcPct val="25000"/>
              </a:spcBef>
            </a:pPr>
            <a:r>
              <a:rPr lang="zh-CN" altLang="en-US" sz="2000" u="sng" dirty="0">
                <a:solidFill>
                  <a:schemeClr val="accent1"/>
                </a:solidFill>
                <a:latin typeface="微软雅黑" panose="020B0503020204020204" pitchFamily="34" charset="-122"/>
                <a:ea typeface="微软雅黑" panose="020B0503020204020204" pitchFamily="34" charset="-122"/>
              </a:rPr>
              <a:t>结构冒险</a:t>
            </a:r>
            <a:r>
              <a:rPr lang="zh-CN" altLang="en-US" sz="2000" b="0" u="sng" dirty="0">
                <a:solidFill>
                  <a:srgbClr val="FF0000"/>
                </a:solidFill>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(hardware resource conflicts</a:t>
            </a:r>
            <a:r>
              <a:rPr lang="zh-CN" altLang="en-US" sz="2000" dirty="0">
                <a:latin typeface="微软雅黑" panose="020B0503020204020204" pitchFamily="34" charset="-122"/>
                <a:ea typeface="微软雅黑" panose="020B0503020204020204" pitchFamily="34" charset="-122"/>
              </a:rPr>
              <a:t>，硬件资源冲突</a:t>
            </a:r>
            <a:r>
              <a:rPr lang="en-US" altLang="zh-CN" sz="200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a:p>
            <a:pPr marL="742950" lvl="1" indent="-285750">
              <a:lnSpc>
                <a:spcPct val="110000"/>
              </a:lnSpc>
              <a:spcBef>
                <a:spcPct val="25000"/>
              </a:spcBef>
              <a:buNone/>
            </a:pPr>
            <a:r>
              <a:rPr lang="zh-CN" altLang="en-US" sz="2000" dirty="0">
                <a:latin typeface="微软雅黑" panose="020B0503020204020204" pitchFamily="34" charset="-122"/>
                <a:ea typeface="微软雅黑" panose="020B0503020204020204" pitchFamily="34" charset="-122"/>
              </a:rPr>
              <a:t>     现象：</a:t>
            </a:r>
            <a:r>
              <a:rPr lang="zh-CN" altLang="en-US" sz="2000" dirty="0">
                <a:solidFill>
                  <a:srgbClr val="990000"/>
                </a:solidFill>
                <a:latin typeface="微软雅黑" panose="020B0503020204020204" pitchFamily="34" charset="-122"/>
                <a:ea typeface="微软雅黑" panose="020B0503020204020204" pitchFamily="34" charset="-122"/>
              </a:rPr>
              <a:t>同一个部件同时被不同指令所使用</a:t>
            </a:r>
            <a:r>
              <a:rPr lang="zh-CN" altLang="en-US" sz="2000" dirty="0">
                <a:solidFill>
                  <a:srgbClr val="CC0000"/>
                </a:solidFill>
                <a:latin typeface="微软雅黑" panose="020B0503020204020204" pitchFamily="34" charset="-122"/>
                <a:ea typeface="微软雅黑" panose="020B0503020204020204" pitchFamily="34" charset="-122"/>
              </a:rPr>
              <a:t>     </a:t>
            </a:r>
            <a:endParaRPr lang="zh-CN" altLang="en-US" sz="2000" dirty="0">
              <a:solidFill>
                <a:srgbClr val="CC0000"/>
              </a:solidFill>
              <a:latin typeface="微软雅黑" panose="020B0503020204020204" pitchFamily="34" charset="-122"/>
              <a:ea typeface="微软雅黑" panose="020B0503020204020204" pitchFamily="34" charset="-122"/>
            </a:endParaRPr>
          </a:p>
          <a:p>
            <a:pPr marL="1143000" lvl="2" indent="-228600">
              <a:lnSpc>
                <a:spcPct val="110000"/>
              </a:lnSpc>
              <a:spcBef>
                <a:spcPct val="25000"/>
              </a:spcBef>
            </a:pPr>
            <a:r>
              <a:rPr lang="zh-CN" altLang="en-US" sz="2000" dirty="0">
                <a:solidFill>
                  <a:srgbClr val="008000"/>
                </a:solidFill>
                <a:latin typeface="微软雅黑" panose="020B0503020204020204" pitchFamily="34" charset="-122"/>
                <a:ea typeface="微软雅黑" panose="020B0503020204020204" pitchFamily="34" charset="-122"/>
              </a:rPr>
              <a:t>一个部件每条指令只能使用</a:t>
            </a:r>
            <a:r>
              <a:rPr lang="en-US" altLang="zh-CN" sz="2000">
                <a:solidFill>
                  <a:srgbClr val="008000"/>
                </a:solidFill>
                <a:latin typeface="微软雅黑" panose="020B0503020204020204" pitchFamily="34" charset="-122"/>
                <a:ea typeface="微软雅黑" panose="020B0503020204020204" pitchFamily="34" charset="-122"/>
              </a:rPr>
              <a:t>1</a:t>
            </a:r>
            <a:r>
              <a:rPr lang="zh-CN" altLang="en-US" sz="2000" dirty="0">
                <a:solidFill>
                  <a:srgbClr val="008000"/>
                </a:solidFill>
                <a:latin typeface="微软雅黑" panose="020B0503020204020204" pitchFamily="34" charset="-122"/>
                <a:ea typeface="微软雅黑" panose="020B0503020204020204" pitchFamily="34" charset="-122"/>
              </a:rPr>
              <a:t>次，且只能在特定周期使用</a:t>
            </a:r>
            <a:endParaRPr lang="zh-CN" altLang="en-US" sz="2000" dirty="0">
              <a:solidFill>
                <a:srgbClr val="008000"/>
              </a:solidFill>
              <a:latin typeface="微软雅黑" panose="020B0503020204020204" pitchFamily="34" charset="-122"/>
              <a:ea typeface="微软雅黑" panose="020B0503020204020204" pitchFamily="34" charset="-122"/>
            </a:endParaRPr>
          </a:p>
          <a:p>
            <a:pPr marL="1143000" lvl="2" indent="-228600">
              <a:lnSpc>
                <a:spcPct val="110000"/>
              </a:lnSpc>
              <a:spcBef>
                <a:spcPct val="25000"/>
              </a:spcBef>
            </a:pPr>
            <a:r>
              <a:rPr lang="zh-CN" altLang="en-US" sz="2000" dirty="0">
                <a:solidFill>
                  <a:srgbClr val="008000"/>
                </a:solidFill>
                <a:latin typeface="微软雅黑" panose="020B0503020204020204" pitchFamily="34" charset="-122"/>
                <a:ea typeface="微软雅黑" panose="020B0503020204020204" pitchFamily="34" charset="-122"/>
              </a:rPr>
              <a:t>设置多个部件，以避免冲突。如指令存储器</a:t>
            </a:r>
            <a:r>
              <a:rPr lang="en-US" altLang="zh-CN" sz="2000">
                <a:solidFill>
                  <a:srgbClr val="008000"/>
                </a:solidFill>
                <a:latin typeface="微软雅黑" panose="020B0503020204020204" pitchFamily="34" charset="-122"/>
                <a:ea typeface="微软雅黑" panose="020B0503020204020204" pitchFamily="34" charset="-122"/>
              </a:rPr>
              <a:t>IM </a:t>
            </a:r>
            <a:r>
              <a:rPr lang="zh-CN" altLang="en-US" sz="2000" dirty="0">
                <a:solidFill>
                  <a:srgbClr val="008000"/>
                </a:solidFill>
                <a:latin typeface="微软雅黑" panose="020B0503020204020204" pitchFamily="34" charset="-122"/>
                <a:ea typeface="微软雅黑" panose="020B0503020204020204" pitchFamily="34" charset="-122"/>
              </a:rPr>
              <a:t>和数据存储器</a:t>
            </a:r>
            <a:r>
              <a:rPr lang="en-US" altLang="zh-CN" sz="2000">
                <a:solidFill>
                  <a:srgbClr val="008000"/>
                </a:solidFill>
                <a:latin typeface="微软雅黑" panose="020B0503020204020204" pitchFamily="34" charset="-122"/>
                <a:ea typeface="微软雅黑" panose="020B0503020204020204" pitchFamily="34" charset="-122"/>
              </a:rPr>
              <a:t>DM</a:t>
            </a:r>
            <a:r>
              <a:rPr lang="zh-CN" altLang="en-US" sz="2000" dirty="0">
                <a:solidFill>
                  <a:srgbClr val="008000"/>
                </a:solidFill>
                <a:latin typeface="微软雅黑" panose="020B0503020204020204" pitchFamily="34" charset="-122"/>
                <a:ea typeface="微软雅黑" panose="020B0503020204020204" pitchFamily="34" charset="-122"/>
              </a:rPr>
              <a:t>分开</a:t>
            </a:r>
            <a:endParaRPr lang="zh-CN" altLang="en-US" sz="2000" dirty="0">
              <a:solidFill>
                <a:srgbClr val="008000"/>
              </a:solidFill>
              <a:latin typeface="微软雅黑" panose="020B0503020204020204" pitchFamily="34" charset="-122"/>
              <a:ea typeface="微软雅黑" panose="020B0503020204020204" pitchFamily="34" charset="-122"/>
            </a:endParaRPr>
          </a:p>
          <a:p>
            <a:pPr marL="742950" lvl="1" indent="-285750">
              <a:lnSpc>
                <a:spcPct val="110000"/>
              </a:lnSpc>
              <a:spcBef>
                <a:spcPct val="25000"/>
              </a:spcBef>
            </a:pPr>
            <a:r>
              <a:rPr lang="zh-CN" altLang="en-US" sz="2000" u="sng" dirty="0">
                <a:solidFill>
                  <a:srgbClr val="FF0000"/>
                </a:solidFill>
                <a:latin typeface="微软雅黑" panose="020B0503020204020204" pitchFamily="34" charset="-122"/>
                <a:ea typeface="微软雅黑" panose="020B0503020204020204" pitchFamily="34" charset="-122"/>
              </a:rPr>
              <a:t>数据冒险</a:t>
            </a:r>
            <a:r>
              <a:rPr lang="zh-CN" altLang="en-US" sz="2000" b="0" u="sng" dirty="0">
                <a:solidFill>
                  <a:srgbClr val="FF0000"/>
                </a:solidFill>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(data dependencies</a:t>
            </a:r>
            <a:r>
              <a:rPr lang="zh-CN" altLang="en-US" sz="2000" dirty="0">
                <a:latin typeface="微软雅黑" panose="020B0503020204020204" pitchFamily="34" charset="-122"/>
                <a:ea typeface="微软雅黑" panose="020B0503020204020204" pitchFamily="34" charset="-122"/>
              </a:rPr>
              <a:t>，数据相关</a:t>
            </a:r>
            <a:r>
              <a:rPr lang="en-US" altLang="zh-CN" sz="2000">
                <a:latin typeface="微软雅黑" panose="020B0503020204020204" pitchFamily="34" charset="-122"/>
                <a:ea typeface="微软雅黑" panose="020B0503020204020204" pitchFamily="34" charset="-122"/>
              </a:rPr>
              <a:t>): </a:t>
            </a:r>
            <a:endParaRPr lang="en-US" altLang="zh-CN" sz="2000">
              <a:latin typeface="微软雅黑" panose="020B0503020204020204" pitchFamily="34" charset="-122"/>
              <a:ea typeface="微软雅黑" panose="020B0503020204020204" pitchFamily="34" charset="-122"/>
            </a:endParaRPr>
          </a:p>
          <a:p>
            <a:pPr marL="742950" lvl="1" indent="-285750">
              <a:lnSpc>
                <a:spcPct val="110000"/>
              </a:lnSpc>
              <a:spcBef>
                <a:spcPct val="25000"/>
              </a:spcBef>
              <a:buNone/>
            </a:pPr>
            <a:r>
              <a:rPr lang="zh-CN" altLang="en-US" sz="2000" dirty="0">
                <a:latin typeface="微软雅黑" panose="020B0503020204020204" pitchFamily="34" charset="-122"/>
                <a:ea typeface="微软雅黑" panose="020B0503020204020204" pitchFamily="34" charset="-122"/>
              </a:rPr>
              <a:t>     现象：</a:t>
            </a:r>
            <a:r>
              <a:rPr lang="zh-CN" altLang="en-US" sz="2000" dirty="0">
                <a:solidFill>
                  <a:srgbClr val="990000"/>
                </a:solidFill>
                <a:latin typeface="微软雅黑" panose="020B0503020204020204" pitchFamily="34" charset="-122"/>
                <a:ea typeface="微软雅黑" panose="020B0503020204020204" pitchFamily="34" charset="-122"/>
              </a:rPr>
              <a:t>后面指令用到前面指令结果数据时，前面指令的结果还没产生</a:t>
            </a:r>
            <a:endParaRPr lang="zh-CN" altLang="en-US" sz="2000" dirty="0">
              <a:solidFill>
                <a:srgbClr val="990000"/>
              </a:solidFill>
              <a:latin typeface="微软雅黑" panose="020B0503020204020204" pitchFamily="34" charset="-122"/>
              <a:ea typeface="微软雅黑" panose="020B0503020204020204" pitchFamily="34" charset="-122"/>
            </a:endParaRPr>
          </a:p>
          <a:p>
            <a:pPr marL="1143000" lvl="2" indent="-228600">
              <a:lnSpc>
                <a:spcPct val="110000"/>
              </a:lnSpc>
              <a:spcBef>
                <a:spcPct val="25000"/>
              </a:spcBef>
            </a:pPr>
            <a:r>
              <a:rPr lang="zh-CN" altLang="en-US" sz="2000" dirty="0">
                <a:solidFill>
                  <a:srgbClr val="008000"/>
                </a:solidFill>
                <a:latin typeface="微软雅黑" panose="020B0503020204020204" pitchFamily="34" charset="-122"/>
                <a:ea typeface="微软雅黑" panose="020B0503020204020204" pitchFamily="34" charset="-122"/>
              </a:rPr>
              <a:t>转发</a:t>
            </a:r>
            <a:r>
              <a:rPr lang="en-US" altLang="zh-CN" sz="2000">
                <a:solidFill>
                  <a:srgbClr val="008000"/>
                </a:solidFill>
                <a:latin typeface="微软雅黑" panose="020B0503020204020204" pitchFamily="34" charset="-122"/>
                <a:ea typeface="微软雅黑" panose="020B0503020204020204" pitchFamily="34" charset="-122"/>
              </a:rPr>
              <a:t>(Forwarding/Bypassing</a:t>
            </a:r>
            <a:r>
              <a:rPr lang="zh-CN" altLang="en-US" sz="2000" dirty="0">
                <a:solidFill>
                  <a:srgbClr val="008000"/>
                </a:solidFill>
                <a:latin typeface="微软雅黑" panose="020B0503020204020204" pitchFamily="34" charset="-122"/>
                <a:ea typeface="微软雅黑" panose="020B0503020204020204" pitchFamily="34" charset="-122"/>
              </a:rPr>
              <a:t>旁路</a:t>
            </a:r>
            <a:r>
              <a:rPr lang="en-US" altLang="zh-CN" sz="2000">
                <a:solidFill>
                  <a:srgbClr val="008000"/>
                </a:solidFill>
                <a:latin typeface="微软雅黑" panose="020B0503020204020204" pitchFamily="34" charset="-122"/>
                <a:ea typeface="微软雅黑" panose="020B0503020204020204" pitchFamily="34" charset="-122"/>
              </a:rPr>
              <a:t>) </a:t>
            </a:r>
            <a:r>
              <a:rPr lang="zh-CN" altLang="en-US" sz="2000" dirty="0">
                <a:solidFill>
                  <a:srgbClr val="008000"/>
                </a:solidFill>
                <a:latin typeface="微软雅黑" panose="020B0503020204020204" pitchFamily="34" charset="-122"/>
                <a:ea typeface="微软雅黑" panose="020B0503020204020204" pitchFamily="34" charset="-122"/>
              </a:rPr>
              <a:t>或 前半周期读后半周期写</a:t>
            </a:r>
            <a:endParaRPr lang="zh-CN" altLang="en-US" sz="2000" dirty="0">
              <a:solidFill>
                <a:srgbClr val="008000"/>
              </a:solidFill>
              <a:latin typeface="微软雅黑" panose="020B0503020204020204" pitchFamily="34" charset="-122"/>
              <a:ea typeface="微软雅黑" panose="020B0503020204020204" pitchFamily="34" charset="-122"/>
            </a:endParaRPr>
          </a:p>
          <a:p>
            <a:pPr marL="1143000" lvl="2" indent="-228600">
              <a:lnSpc>
                <a:spcPct val="110000"/>
              </a:lnSpc>
              <a:spcBef>
                <a:spcPct val="25000"/>
              </a:spcBef>
            </a:pPr>
            <a:r>
              <a:rPr lang="en-US" altLang="zh-CN" sz="2000">
                <a:solidFill>
                  <a:srgbClr val="008000"/>
                </a:solidFill>
                <a:latin typeface="微软雅黑" panose="020B0503020204020204" pitchFamily="34" charset="-122"/>
                <a:ea typeface="微软雅黑" panose="020B0503020204020204" pitchFamily="34" charset="-122"/>
              </a:rPr>
              <a:t>Load-use</a:t>
            </a:r>
            <a:r>
              <a:rPr lang="zh-CN" altLang="en-US" sz="2000" dirty="0">
                <a:solidFill>
                  <a:srgbClr val="008000"/>
                </a:solidFill>
                <a:latin typeface="微软雅黑" panose="020B0503020204020204" pitchFamily="34" charset="-122"/>
                <a:ea typeface="微软雅黑" panose="020B0503020204020204" pitchFamily="34" charset="-122"/>
              </a:rPr>
              <a:t>冒险不能通过转发解决，需阻塞</a:t>
            </a:r>
            <a:r>
              <a:rPr lang="en-US" altLang="zh-CN" sz="2000">
                <a:solidFill>
                  <a:srgbClr val="008000"/>
                </a:solidFill>
                <a:latin typeface="微软雅黑" panose="020B0503020204020204" pitchFamily="34" charset="-122"/>
                <a:ea typeface="微软雅黑" panose="020B0503020204020204" pitchFamily="34" charset="-122"/>
              </a:rPr>
              <a:t>(stall)</a:t>
            </a:r>
            <a:r>
              <a:rPr lang="zh-CN" altLang="en-US" sz="2000" dirty="0">
                <a:solidFill>
                  <a:srgbClr val="008000"/>
                </a:solidFill>
                <a:latin typeface="微软雅黑" panose="020B0503020204020204" pitchFamily="34" charset="-122"/>
                <a:ea typeface="微软雅黑" panose="020B0503020204020204" pitchFamily="34" charset="-122"/>
              </a:rPr>
              <a:t>一个时钟周期</a:t>
            </a:r>
            <a:endParaRPr lang="zh-CN" altLang="en-US" sz="2000" dirty="0">
              <a:solidFill>
                <a:srgbClr val="008000"/>
              </a:solidFill>
              <a:latin typeface="微软雅黑" panose="020B0503020204020204" pitchFamily="34" charset="-122"/>
              <a:ea typeface="微软雅黑" panose="020B0503020204020204" pitchFamily="34" charset="-122"/>
            </a:endParaRPr>
          </a:p>
          <a:p>
            <a:pPr marL="1143000" lvl="2" indent="-228600">
              <a:lnSpc>
                <a:spcPct val="110000"/>
              </a:lnSpc>
              <a:spcBef>
                <a:spcPct val="25000"/>
              </a:spcBef>
            </a:pPr>
            <a:r>
              <a:rPr lang="zh-CN" altLang="en-US" sz="2000" dirty="0">
                <a:solidFill>
                  <a:srgbClr val="008000"/>
                </a:solidFill>
                <a:latin typeface="微软雅黑" panose="020B0503020204020204" pitchFamily="34" charset="-122"/>
                <a:ea typeface="微软雅黑" panose="020B0503020204020204" pitchFamily="34" charset="-122"/>
              </a:rPr>
              <a:t>编译程序优化指令顺序</a:t>
            </a:r>
            <a:endParaRPr lang="zh-CN" altLang="en-US" sz="2000" dirty="0">
              <a:solidFill>
                <a:srgbClr val="008000"/>
              </a:solidFill>
              <a:latin typeface="微软雅黑" panose="020B0503020204020204" pitchFamily="34" charset="-122"/>
              <a:ea typeface="微软雅黑" panose="020B0503020204020204" pitchFamily="34" charset="-122"/>
            </a:endParaRPr>
          </a:p>
          <a:p>
            <a:pPr marL="742950" lvl="1" indent="-285750">
              <a:lnSpc>
                <a:spcPct val="110000"/>
              </a:lnSpc>
              <a:spcBef>
                <a:spcPct val="25000"/>
              </a:spcBef>
            </a:pPr>
            <a:r>
              <a:rPr lang="zh-CN" altLang="en-US" sz="2000" u="sng" dirty="0">
                <a:solidFill>
                  <a:srgbClr val="FF0000"/>
                </a:solidFill>
                <a:latin typeface="微软雅黑" panose="020B0503020204020204" pitchFamily="34" charset="-122"/>
                <a:ea typeface="微软雅黑" panose="020B0503020204020204" pitchFamily="34" charset="-122"/>
              </a:rPr>
              <a:t>控制 </a:t>
            </a:r>
            <a:r>
              <a:rPr lang="en-US" altLang="zh-CN" sz="2000" u="sng">
                <a:solidFill>
                  <a:srgbClr val="FF0000"/>
                </a:solidFill>
                <a:latin typeface="微软雅黑" panose="020B0503020204020204" pitchFamily="34" charset="-122"/>
                <a:ea typeface="微软雅黑" panose="020B0503020204020204" pitchFamily="34" charset="-122"/>
              </a:rPr>
              <a:t>(</a:t>
            </a:r>
            <a:r>
              <a:rPr lang="zh-CN" altLang="en-US" sz="2000" u="sng" dirty="0">
                <a:solidFill>
                  <a:srgbClr val="FF0000"/>
                </a:solidFill>
                <a:latin typeface="微软雅黑" panose="020B0503020204020204" pitchFamily="34" charset="-122"/>
                <a:ea typeface="微软雅黑" panose="020B0503020204020204" pitchFamily="34" charset="-122"/>
              </a:rPr>
              <a:t>分支</a:t>
            </a:r>
            <a:r>
              <a:rPr lang="en-US" altLang="zh-CN" sz="2000" u="sng">
                <a:solidFill>
                  <a:srgbClr val="FF0000"/>
                </a:solidFill>
                <a:latin typeface="微软雅黑" panose="020B0503020204020204" pitchFamily="34" charset="-122"/>
                <a:ea typeface="微软雅黑" panose="020B0503020204020204" pitchFamily="34" charset="-122"/>
              </a:rPr>
              <a:t>)</a:t>
            </a:r>
            <a:r>
              <a:rPr lang="zh-CN" altLang="en-US" sz="2000" u="sng" dirty="0">
                <a:solidFill>
                  <a:srgbClr val="FF0000"/>
                </a:solidFill>
                <a:latin typeface="微软雅黑" panose="020B0503020204020204" pitchFamily="34" charset="-122"/>
                <a:ea typeface="微软雅黑" panose="020B0503020204020204" pitchFamily="34" charset="-122"/>
              </a:rPr>
              <a:t> 冒险</a:t>
            </a:r>
            <a:r>
              <a:rPr lang="en-US" altLang="zh-CN" sz="2000" b="0" u="sng">
                <a:solidFill>
                  <a:srgbClr val="FF0000"/>
                </a:solidFill>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(changes in program flow</a:t>
            </a:r>
            <a:r>
              <a:rPr lang="zh-CN" altLang="en-US" sz="2000" dirty="0">
                <a:latin typeface="微软雅黑" panose="020B0503020204020204" pitchFamily="34" charset="-122"/>
                <a:ea typeface="微软雅黑" panose="020B0503020204020204" pitchFamily="34" charset="-122"/>
              </a:rPr>
              <a:t>，改变控制流</a:t>
            </a:r>
            <a:r>
              <a:rPr lang="en-US" altLang="zh-CN" sz="2000">
                <a:latin typeface="微软雅黑" panose="020B0503020204020204" pitchFamily="34" charset="-122"/>
                <a:ea typeface="微软雅黑" panose="020B0503020204020204" pitchFamily="34" charset="-122"/>
              </a:rPr>
              <a:t>): </a:t>
            </a:r>
            <a:endParaRPr lang="en-US" altLang="zh-CN" sz="2000">
              <a:latin typeface="微软雅黑" panose="020B0503020204020204" pitchFamily="34" charset="-122"/>
              <a:ea typeface="微软雅黑" panose="020B0503020204020204" pitchFamily="34" charset="-122"/>
            </a:endParaRPr>
          </a:p>
          <a:p>
            <a:pPr marL="742950" lvl="1" indent="-285750">
              <a:lnSpc>
                <a:spcPct val="110000"/>
              </a:lnSpc>
              <a:spcBef>
                <a:spcPct val="25000"/>
              </a:spcBef>
              <a:buNone/>
            </a:pPr>
            <a:r>
              <a:rPr lang="zh-CN" altLang="en-US" sz="2000" dirty="0">
                <a:latin typeface="微软雅黑" panose="020B0503020204020204" pitchFamily="34" charset="-122"/>
                <a:ea typeface="微软雅黑" panose="020B0503020204020204" pitchFamily="34" charset="-122"/>
              </a:rPr>
              <a:t>     现象：</a:t>
            </a:r>
            <a:r>
              <a:rPr lang="zh-CN" altLang="en-US" sz="2000" dirty="0">
                <a:solidFill>
                  <a:srgbClr val="990000"/>
                </a:solidFill>
                <a:latin typeface="微软雅黑" panose="020B0503020204020204" pitchFamily="34" charset="-122"/>
                <a:ea typeface="微软雅黑" panose="020B0503020204020204" pitchFamily="34" charset="-122"/>
              </a:rPr>
              <a:t>转移或异常改变执行流程，后继指令在目标地址产生前已被取出</a:t>
            </a:r>
            <a:endParaRPr lang="zh-CN" altLang="en-US" sz="2000" dirty="0">
              <a:solidFill>
                <a:srgbClr val="990000"/>
              </a:solidFill>
              <a:latin typeface="微软雅黑" panose="020B0503020204020204" pitchFamily="34" charset="-122"/>
              <a:ea typeface="微软雅黑" panose="020B0503020204020204" pitchFamily="34" charset="-122"/>
            </a:endParaRPr>
          </a:p>
          <a:p>
            <a:pPr marL="1143000" lvl="2" indent="-228600">
              <a:lnSpc>
                <a:spcPct val="110000"/>
              </a:lnSpc>
              <a:spcBef>
                <a:spcPct val="25000"/>
              </a:spcBef>
            </a:pPr>
            <a:r>
              <a:rPr lang="zh-CN" altLang="en-US" sz="2000" dirty="0">
                <a:solidFill>
                  <a:srgbClr val="008000"/>
                </a:solidFill>
                <a:latin typeface="微软雅黑" panose="020B0503020204020204" pitchFamily="34" charset="-122"/>
                <a:ea typeface="微软雅黑" panose="020B0503020204020204" pitchFamily="34" charset="-122"/>
              </a:rPr>
              <a:t>采用静态或动态分支预测</a:t>
            </a:r>
            <a:endParaRPr lang="zh-CN" altLang="en-US" sz="2000" dirty="0">
              <a:solidFill>
                <a:srgbClr val="008000"/>
              </a:solidFill>
              <a:latin typeface="微软雅黑" panose="020B0503020204020204" pitchFamily="34" charset="-122"/>
              <a:ea typeface="微软雅黑" panose="020B0503020204020204" pitchFamily="34" charset="-122"/>
            </a:endParaRPr>
          </a:p>
          <a:p>
            <a:pPr marL="1143000" lvl="2" indent="-228600">
              <a:lnSpc>
                <a:spcPct val="110000"/>
              </a:lnSpc>
              <a:spcBef>
                <a:spcPct val="25000"/>
              </a:spcBef>
            </a:pPr>
            <a:r>
              <a:rPr lang="zh-CN" altLang="en-US" sz="2000" dirty="0">
                <a:solidFill>
                  <a:srgbClr val="008000"/>
                </a:solidFill>
                <a:latin typeface="微软雅黑" panose="020B0503020204020204" pitchFamily="34" charset="-122"/>
                <a:ea typeface="微软雅黑" panose="020B0503020204020204" pitchFamily="34" charset="-122"/>
              </a:rPr>
              <a:t>编译程序优化指令顺序</a:t>
            </a:r>
            <a:r>
              <a:rPr lang="en-US" altLang="zh-CN" sz="2000">
                <a:solidFill>
                  <a:srgbClr val="008000"/>
                </a:solidFill>
                <a:latin typeface="微软雅黑" panose="020B0503020204020204" pitchFamily="34" charset="-122"/>
                <a:ea typeface="微软雅黑" panose="020B0503020204020204" pitchFamily="34" charset="-122"/>
              </a:rPr>
              <a:t>(</a:t>
            </a:r>
            <a:r>
              <a:rPr lang="zh-CN" altLang="en-US" sz="2000" dirty="0">
                <a:solidFill>
                  <a:srgbClr val="008000"/>
                </a:solidFill>
                <a:latin typeface="微软雅黑" panose="020B0503020204020204" pitchFamily="34" charset="-122"/>
                <a:ea typeface="微软雅黑" panose="020B0503020204020204" pitchFamily="34" charset="-122"/>
              </a:rPr>
              <a:t>分支延迟</a:t>
            </a:r>
            <a:r>
              <a:rPr lang="en-US" altLang="zh-CN" sz="2000">
                <a:solidFill>
                  <a:srgbClr val="008000"/>
                </a:solidFill>
                <a:latin typeface="微软雅黑" panose="020B0503020204020204" pitchFamily="34" charset="-122"/>
                <a:ea typeface="微软雅黑" panose="020B0503020204020204" pitchFamily="34" charset="-122"/>
              </a:rPr>
              <a:t>)</a:t>
            </a:r>
            <a:endParaRPr lang="en-US" altLang="zh-CN" sz="2000">
              <a:solidFill>
                <a:srgbClr val="008000"/>
              </a:solidFill>
              <a:latin typeface="微软雅黑" panose="020B0503020204020204" pitchFamily="34" charset="-122"/>
              <a:ea typeface="微软雅黑" panose="020B0503020204020204" pitchFamily="34" charset="-122"/>
            </a:endParaRPr>
          </a:p>
        </p:txBody>
      </p:sp>
      <p:sp>
        <p:nvSpPr>
          <p:cNvPr id="182274" name="矩形 568322"/>
          <p:cNvSpPr/>
          <p:nvPr/>
        </p:nvSpPr>
        <p:spPr>
          <a:xfrm>
            <a:off x="855663" y="114300"/>
            <a:ext cx="7567612" cy="528638"/>
          </a:xfrm>
          <a:prstGeom prst="rect">
            <a:avLst/>
          </a:prstGeom>
          <a:noFill/>
          <a:ln w="12700">
            <a:noFill/>
          </a:ln>
        </p:spPr>
        <p:txBody>
          <a:bodyPr lIns="63500" tIns="25400" rIns="63500" bIns="25400" anchor="t" anchorCtr="0">
            <a:spAutoFit/>
          </a:bodyPr>
          <a:p>
            <a:pPr algn="ctr" eaLnBrk="0" hangingPunct="0">
              <a:lnSpc>
                <a:spcPct val="87000"/>
              </a:lnSpc>
            </a:pPr>
            <a:r>
              <a:rPr lang="zh-CN" altLang="en-US" sz="3600" dirty="0">
                <a:solidFill>
                  <a:srgbClr val="CC3300"/>
                </a:solidFill>
                <a:latin typeface="黑体" panose="02010609060101010101" pitchFamily="49" charset="-122"/>
                <a:ea typeface="黑体" panose="02010609060101010101" pitchFamily="49" charset="-122"/>
              </a:rPr>
              <a:t>流水线的冲突</a:t>
            </a:r>
            <a:r>
              <a:rPr lang="en-US" altLang="zh-CN" sz="3600">
                <a:solidFill>
                  <a:srgbClr val="CC3300"/>
                </a:solidFill>
                <a:latin typeface="黑体" panose="02010609060101010101" pitchFamily="49" charset="-122"/>
                <a:ea typeface="黑体" panose="02010609060101010101" pitchFamily="49" charset="-122"/>
              </a:rPr>
              <a:t>/</a:t>
            </a:r>
            <a:r>
              <a:rPr lang="zh-CN" altLang="en-US" sz="3600" dirty="0">
                <a:solidFill>
                  <a:srgbClr val="CC3300"/>
                </a:solidFill>
                <a:latin typeface="黑体" panose="02010609060101010101" pitchFamily="49" charset="-122"/>
                <a:ea typeface="黑体" panose="02010609060101010101" pitchFamily="49" charset="-122"/>
              </a:rPr>
              <a:t>冒险</a:t>
            </a:r>
            <a:r>
              <a:rPr lang="en-US" altLang="zh-CN" sz="3600">
                <a:solidFill>
                  <a:srgbClr val="CC3300"/>
                </a:solidFill>
                <a:latin typeface="黑体" panose="02010609060101010101" pitchFamily="49" charset="-122"/>
                <a:ea typeface="黑体" panose="02010609060101010101" pitchFamily="49" charset="-122"/>
              </a:rPr>
              <a:t>(</a:t>
            </a:r>
            <a:r>
              <a:rPr lang="en-US" altLang="zh-CN" sz="3600">
                <a:solidFill>
                  <a:srgbClr val="CC3300"/>
                </a:solidFill>
                <a:latin typeface="Arial" panose="020B0604020202020204" pitchFamily="34" charset="0"/>
                <a:ea typeface="黑体" panose="02010609060101010101" pitchFamily="49" charset="-122"/>
              </a:rPr>
              <a:t>hazard</a:t>
            </a:r>
            <a:r>
              <a:rPr lang="en-US" altLang="zh-CN" sz="3600">
                <a:solidFill>
                  <a:srgbClr val="CC3300"/>
                </a:solidFill>
                <a:latin typeface="黑体" panose="02010609060101010101" pitchFamily="49" charset="-122"/>
                <a:ea typeface="黑体" panose="02010609060101010101" pitchFamily="49" charset="-122"/>
              </a:rPr>
              <a:t>)</a:t>
            </a:r>
            <a:r>
              <a:rPr lang="zh-CN" altLang="en-US" sz="3600" dirty="0">
                <a:solidFill>
                  <a:srgbClr val="CC3300"/>
                </a:solidFill>
                <a:latin typeface="黑体" panose="02010609060101010101" pitchFamily="49" charset="-122"/>
                <a:ea typeface="黑体" panose="02010609060101010101" pitchFamily="49" charset="-122"/>
              </a:rPr>
              <a:t>情况</a:t>
            </a:r>
            <a:endParaRPr lang="zh-CN" altLang="en-US" sz="3600" dirty="0">
              <a:solidFill>
                <a:srgbClr val="CC33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8322">
                                            <p:txEl>
                                              <p:charRg st="81" end="110"/>
                                            </p:txEl>
                                          </p:spTgt>
                                        </p:tgtEl>
                                        <p:attrNameLst>
                                          <p:attrName>style.visibility</p:attrName>
                                        </p:attrNameLst>
                                      </p:cBhvr>
                                      <p:to>
                                        <p:strVal val="visible"/>
                                      </p:to>
                                    </p:set>
                                    <p:animEffect transition="in" filter="blinds(horizontal)">
                                      <p:cBhvr>
                                        <p:cTn id="7" dur="500"/>
                                        <p:tgtEl>
                                          <p:spTgt spid="568322">
                                            <p:txEl>
                                              <p:charRg st="81" end="1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8322">
                                            <p:txEl>
                                              <p:charRg st="110" end="136"/>
                                            </p:txEl>
                                          </p:spTgt>
                                        </p:tgtEl>
                                        <p:attrNameLst>
                                          <p:attrName>style.visibility</p:attrName>
                                        </p:attrNameLst>
                                      </p:cBhvr>
                                      <p:to>
                                        <p:strVal val="visible"/>
                                      </p:to>
                                    </p:set>
                                    <p:animEffect transition="in" filter="blinds(horizontal)">
                                      <p:cBhvr>
                                        <p:cTn id="12" dur="500"/>
                                        <p:tgtEl>
                                          <p:spTgt spid="568322">
                                            <p:txEl>
                                              <p:charRg st="110" end="13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68322">
                                            <p:txEl>
                                              <p:charRg st="136" end="169"/>
                                            </p:txEl>
                                          </p:spTgt>
                                        </p:tgtEl>
                                        <p:attrNameLst>
                                          <p:attrName>style.visibility</p:attrName>
                                        </p:attrNameLst>
                                      </p:cBhvr>
                                      <p:to>
                                        <p:strVal val="visible"/>
                                      </p:to>
                                    </p:set>
                                    <p:animEffect transition="in" filter="blinds(horizontal)">
                                      <p:cBhvr>
                                        <p:cTn id="17" dur="500"/>
                                        <p:tgtEl>
                                          <p:spTgt spid="568322">
                                            <p:txEl>
                                              <p:charRg st="136" end="16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8322">
                                            <p:txEl>
                                              <p:charRg st="201" end="237"/>
                                            </p:txEl>
                                          </p:spTgt>
                                        </p:tgtEl>
                                        <p:attrNameLst>
                                          <p:attrName>style.visibility</p:attrName>
                                        </p:attrNameLst>
                                      </p:cBhvr>
                                      <p:to>
                                        <p:strVal val="visible"/>
                                      </p:to>
                                    </p:set>
                                    <p:animEffect transition="in" filter="blinds(horizontal)">
                                      <p:cBhvr>
                                        <p:cTn id="22" dur="500"/>
                                        <p:tgtEl>
                                          <p:spTgt spid="568322">
                                            <p:txEl>
                                              <p:charRg st="201" end="23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68322">
                                            <p:txEl>
                                              <p:charRg st="237" end="277"/>
                                            </p:txEl>
                                          </p:spTgt>
                                        </p:tgtEl>
                                        <p:attrNameLst>
                                          <p:attrName>style.visibility</p:attrName>
                                        </p:attrNameLst>
                                      </p:cBhvr>
                                      <p:to>
                                        <p:strVal val="visible"/>
                                      </p:to>
                                    </p:set>
                                    <p:animEffect transition="in" filter="blinds(horizontal)">
                                      <p:cBhvr>
                                        <p:cTn id="27" dur="500"/>
                                        <p:tgtEl>
                                          <p:spTgt spid="568322">
                                            <p:txEl>
                                              <p:charRg st="237" end="27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68322">
                                            <p:txEl>
                                              <p:charRg st="277" end="313"/>
                                            </p:txEl>
                                          </p:spTgt>
                                        </p:tgtEl>
                                        <p:attrNameLst>
                                          <p:attrName>style.visibility</p:attrName>
                                        </p:attrNameLst>
                                      </p:cBhvr>
                                      <p:to>
                                        <p:strVal val="visible"/>
                                      </p:to>
                                    </p:set>
                                    <p:animEffect transition="in" filter="blinds(horizontal)">
                                      <p:cBhvr>
                                        <p:cTn id="32" dur="500"/>
                                        <p:tgtEl>
                                          <p:spTgt spid="568322">
                                            <p:txEl>
                                              <p:charRg st="277" end="31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68322">
                                            <p:txEl>
                                              <p:charRg st="313" end="324"/>
                                            </p:txEl>
                                          </p:spTgt>
                                        </p:tgtEl>
                                        <p:attrNameLst>
                                          <p:attrName>style.visibility</p:attrName>
                                        </p:attrNameLst>
                                      </p:cBhvr>
                                      <p:to>
                                        <p:strVal val="visible"/>
                                      </p:to>
                                    </p:set>
                                    <p:animEffect transition="in" filter="blinds(horizontal)">
                                      <p:cBhvr>
                                        <p:cTn id="37" dur="500"/>
                                        <p:tgtEl>
                                          <p:spTgt spid="568322">
                                            <p:txEl>
                                              <p:charRg st="313" end="32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68322">
                                            <p:txEl>
                                              <p:charRg st="369" end="406"/>
                                            </p:txEl>
                                          </p:spTgt>
                                        </p:tgtEl>
                                        <p:attrNameLst>
                                          <p:attrName>style.visibility</p:attrName>
                                        </p:attrNameLst>
                                      </p:cBhvr>
                                      <p:to>
                                        <p:strVal val="visible"/>
                                      </p:to>
                                    </p:set>
                                    <p:animEffect transition="in" filter="blinds(horizontal)">
                                      <p:cBhvr>
                                        <p:cTn id="42" dur="500"/>
                                        <p:tgtEl>
                                          <p:spTgt spid="568322">
                                            <p:txEl>
                                              <p:charRg st="369" end="40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68322">
                                            <p:txEl>
                                              <p:charRg st="406" end="418"/>
                                            </p:txEl>
                                          </p:spTgt>
                                        </p:tgtEl>
                                        <p:attrNameLst>
                                          <p:attrName>style.visibility</p:attrName>
                                        </p:attrNameLst>
                                      </p:cBhvr>
                                      <p:to>
                                        <p:strVal val="visible"/>
                                      </p:to>
                                    </p:set>
                                    <p:animEffect transition="in" filter="blinds(horizontal)">
                                      <p:cBhvr>
                                        <p:cTn id="47" dur="500"/>
                                        <p:tgtEl>
                                          <p:spTgt spid="568322">
                                            <p:txEl>
                                              <p:charRg st="406" end="41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68322">
                                            <p:txEl>
                                              <p:charRg st="418" end="435"/>
                                            </p:txEl>
                                          </p:spTgt>
                                        </p:tgtEl>
                                        <p:attrNameLst>
                                          <p:attrName>style.visibility</p:attrName>
                                        </p:attrNameLst>
                                      </p:cBhvr>
                                      <p:to>
                                        <p:strVal val="visible"/>
                                      </p:to>
                                    </p:set>
                                    <p:animEffect transition="in" filter="blinds(horizontal)">
                                      <p:cBhvr>
                                        <p:cTn id="52" dur="500"/>
                                        <p:tgtEl>
                                          <p:spTgt spid="568322">
                                            <p:txEl>
                                              <p:charRg st="418" end="4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7" name="矩形 572417"/>
          <p:cNvSpPr/>
          <p:nvPr/>
        </p:nvSpPr>
        <p:spPr>
          <a:xfrm>
            <a:off x="415925" y="919163"/>
            <a:ext cx="7983538" cy="4941887"/>
          </a:xfrm>
          <a:prstGeom prst="rect">
            <a:avLst/>
          </a:prstGeom>
          <a:noFill/>
          <a:ln w="12700">
            <a:noFill/>
          </a:ln>
        </p:spPr>
        <p:txBody>
          <a:bodyPr lIns="90488" tIns="44450" rIns="90488" bIns="44450" anchor="t" anchorCtr="0"/>
          <a:p>
            <a:pPr marL="285750" indent="-285750" eaLnBrk="0" hangingPunct="0">
              <a:lnSpc>
                <a:spcPct val="90000"/>
              </a:lnSpc>
              <a:spcBef>
                <a:spcPct val="30000"/>
              </a:spcBef>
            </a:pPr>
            <a:r>
              <a:rPr lang="zh-CN" altLang="en-US" sz="2000" dirty="0">
                <a:latin typeface="微软雅黑" panose="020B0503020204020204" pitchFamily="34" charset="-122"/>
                <a:ea typeface="微软雅黑" panose="020B0503020204020204" pitchFamily="34" charset="-122"/>
              </a:rPr>
              <a:t>以下源程序可生成两种不同的代码，优化的代码可避免</a:t>
            </a:r>
            <a:r>
              <a:rPr lang="en-US" altLang="zh-CN" sz="2000">
                <a:latin typeface="微软雅黑" panose="020B0503020204020204" pitchFamily="34" charset="-122"/>
                <a:ea typeface="微软雅黑" panose="020B0503020204020204" pitchFamily="34" charset="-122"/>
              </a:rPr>
              <a:t>Load</a:t>
            </a:r>
            <a:r>
              <a:rPr lang="zh-CN" altLang="en-US" sz="2000" dirty="0">
                <a:latin typeface="微软雅黑" panose="020B0503020204020204" pitchFamily="34" charset="-122"/>
                <a:ea typeface="微软雅黑" panose="020B0503020204020204" pitchFamily="34" charset="-122"/>
              </a:rPr>
              <a:t>阻塞</a:t>
            </a:r>
            <a:endParaRPr lang="zh-CN" altLang="en-US" sz="2000" dirty="0">
              <a:latin typeface="微软雅黑" panose="020B0503020204020204" pitchFamily="34" charset="-122"/>
              <a:ea typeface="微软雅黑" panose="020B0503020204020204" pitchFamily="34" charset="-122"/>
            </a:endParaRPr>
          </a:p>
          <a:p>
            <a:pPr marL="285750" indent="-285750" eaLnBrk="0" hangingPunct="0">
              <a:lnSpc>
                <a:spcPct val="90000"/>
              </a:lnSpc>
              <a:spcBef>
                <a:spcPct val="30000"/>
              </a:spcBef>
            </a:pPr>
            <a:r>
              <a:rPr lang="en-US" altLang="zh-CN" sz="2000">
                <a:latin typeface="微软雅黑" panose="020B0503020204020204" pitchFamily="34" charset="-122"/>
                <a:ea typeface="微软雅黑" panose="020B0503020204020204" pitchFamily="34" charset="-122"/>
              </a:rPr>
              <a:t>		a = b + c;</a:t>
            </a:r>
            <a:endParaRPr lang="en-US" altLang="zh-CN" sz="2000">
              <a:latin typeface="微软雅黑" panose="020B0503020204020204" pitchFamily="34" charset="-122"/>
              <a:ea typeface="微软雅黑" panose="020B0503020204020204" pitchFamily="34" charset="-122"/>
            </a:endParaRPr>
          </a:p>
          <a:p>
            <a:pPr marL="285750" indent="-285750" eaLnBrk="0" hangingPunct="0">
              <a:lnSpc>
                <a:spcPct val="90000"/>
              </a:lnSpc>
              <a:spcBef>
                <a:spcPct val="30000"/>
              </a:spcBef>
            </a:pPr>
            <a:r>
              <a:rPr lang="en-US" altLang="zh-CN" sz="2000">
                <a:latin typeface="微软雅黑" panose="020B0503020204020204" pitchFamily="34" charset="-122"/>
                <a:ea typeface="微软雅黑" panose="020B0503020204020204" pitchFamily="34" charset="-122"/>
              </a:rPr>
              <a:t>		d = e – f;</a:t>
            </a:r>
            <a:endParaRPr lang="en-US" altLang="zh-CN" sz="2000">
              <a:latin typeface="微软雅黑" panose="020B0503020204020204" pitchFamily="34" charset="-122"/>
              <a:ea typeface="微软雅黑" panose="020B0503020204020204" pitchFamily="34" charset="-122"/>
            </a:endParaRPr>
          </a:p>
          <a:p>
            <a:pPr marL="285750" indent="-285750" eaLnBrk="0" hangingPunct="0">
              <a:lnSpc>
                <a:spcPct val="90000"/>
              </a:lnSpc>
              <a:spcBef>
                <a:spcPct val="30000"/>
              </a:spcBef>
            </a:pPr>
            <a:r>
              <a:rPr lang="zh-CN" altLang="en-US" sz="2000" dirty="0">
                <a:latin typeface="微软雅黑" panose="020B0503020204020204" pitchFamily="34" charset="-122"/>
                <a:ea typeface="微软雅黑" panose="020B0503020204020204" pitchFamily="34" charset="-122"/>
              </a:rPr>
              <a:t>假定 </a:t>
            </a:r>
            <a:r>
              <a:rPr lang="en-US" altLang="zh-CN" sz="2000">
                <a:latin typeface="微软雅黑" panose="020B0503020204020204" pitchFamily="34" charset="-122"/>
                <a:ea typeface="微软雅黑" panose="020B0503020204020204" pitchFamily="34" charset="-122"/>
              </a:rPr>
              <a:t>a, b, c, d ,e, f </a:t>
            </a:r>
            <a:r>
              <a:rPr lang="zh-CN" altLang="en-US" sz="2000" dirty="0">
                <a:latin typeface="微软雅黑" panose="020B0503020204020204" pitchFamily="34" charset="-122"/>
                <a:ea typeface="微软雅黑" panose="020B0503020204020204" pitchFamily="34" charset="-122"/>
              </a:rPr>
              <a:t>在内存</a:t>
            </a:r>
            <a:endParaRPr lang="zh-CN" altLang="en-US" sz="2000" dirty="0">
              <a:latin typeface="微软雅黑" panose="020B0503020204020204" pitchFamily="34" charset="-122"/>
              <a:ea typeface="微软雅黑" panose="020B0503020204020204" pitchFamily="34" charset="-122"/>
            </a:endParaRPr>
          </a:p>
        </p:txBody>
      </p:sp>
      <p:sp>
        <p:nvSpPr>
          <p:cNvPr id="183298" name="标题 572418"/>
          <p:cNvSpPr>
            <a:spLocks noGrp="1"/>
          </p:cNvSpPr>
          <p:nvPr>
            <p:ph type="title"/>
          </p:nvPr>
        </p:nvSpPr>
        <p:spPr>
          <a:xfrm>
            <a:off x="671513" y="128588"/>
            <a:ext cx="7499350" cy="528637"/>
          </a:xfrm>
          <a:ln/>
        </p:spPr>
        <p:txBody>
          <a:bodyPr vert="horz" wrap="square" lIns="63500" tIns="25400" rIns="63500" bIns="25400" anchor="t" anchorCtr="0">
            <a:spAutoFit/>
          </a:bodyPr>
          <a:p>
            <a:r>
              <a:rPr lang="zh-CN" altLang="en-US" dirty="0"/>
              <a:t>编译器优化指令顺序解决数据冒险</a:t>
            </a:r>
            <a:endParaRPr lang="en-US" altLang="zh-CN"/>
          </a:p>
        </p:txBody>
      </p:sp>
      <p:sp>
        <p:nvSpPr>
          <p:cNvPr id="572420" name="内容占位符 572419"/>
          <p:cNvSpPr>
            <a:spLocks noGrp="1"/>
          </p:cNvSpPr>
          <p:nvPr>
            <p:ph idx="1"/>
          </p:nvPr>
        </p:nvSpPr>
        <p:spPr>
          <a:xfrm>
            <a:off x="5068888" y="2468563"/>
            <a:ext cx="3581400" cy="3309937"/>
          </a:xfrm>
          <a:ln/>
        </p:spPr>
        <p:txBody>
          <a:bodyPr vert="horz" wrap="square" lIns="63500" tIns="25400" rIns="63500" bIns="25400" anchor="t" anchorCtr="0">
            <a:spAutoFit/>
          </a:bodyPr>
          <a:p>
            <a:pPr>
              <a:lnSpc>
                <a:spcPct val="90000"/>
              </a:lnSpc>
              <a:buNone/>
            </a:pPr>
            <a:r>
              <a:rPr lang="en-US" altLang="zh-CN" sz="2200">
                <a:solidFill>
                  <a:schemeClr val="accent1"/>
                </a:solidFill>
                <a:ea typeface="宋体" panose="02010600030101010101" pitchFamily="2" charset="-122"/>
              </a:rPr>
              <a:t>Fast code:</a:t>
            </a:r>
            <a:endParaRPr lang="en-US" altLang="zh-CN" sz="2200">
              <a:ea typeface="宋体" panose="02010600030101010101" pitchFamily="2" charset="-122"/>
            </a:endParaRPr>
          </a:p>
          <a:p>
            <a:pPr>
              <a:spcBef>
                <a:spcPct val="20000"/>
              </a:spcBef>
              <a:buNone/>
            </a:pPr>
            <a:r>
              <a:rPr lang="en-US" altLang="zh-CN" sz="2200">
                <a:ea typeface="宋体" panose="02010600030101010101" pitchFamily="2" charset="-122"/>
              </a:rPr>
              <a:t>		</a:t>
            </a:r>
            <a:r>
              <a:rPr lang="en-US" altLang="zh-CN" sz="2000" err="1">
                <a:ea typeface="宋体" panose="02010600030101010101" pitchFamily="2" charset="-122"/>
              </a:rPr>
              <a:t>lw</a:t>
            </a:r>
            <a:r>
              <a:rPr lang="en-US" altLang="zh-CN" sz="2000">
                <a:ea typeface="宋体" panose="02010600030101010101" pitchFamily="2" charset="-122"/>
              </a:rPr>
              <a:t> 	$2, b</a:t>
            </a:r>
            <a:endParaRPr lang="en-US" altLang="zh-CN" sz="2000">
              <a:ea typeface="宋体" panose="02010600030101010101" pitchFamily="2" charset="-122"/>
            </a:endParaRPr>
          </a:p>
          <a:p>
            <a:pPr>
              <a:spcBef>
                <a:spcPct val="20000"/>
              </a:spcBef>
              <a:buNone/>
            </a:pPr>
            <a:r>
              <a:rPr lang="en-US" altLang="zh-CN" sz="2000">
                <a:ea typeface="宋体" panose="02010600030101010101" pitchFamily="2" charset="-122"/>
              </a:rPr>
              <a:t>		</a:t>
            </a:r>
            <a:r>
              <a:rPr lang="en-US" altLang="zh-CN" sz="2000" err="1">
                <a:ea typeface="宋体" panose="02010600030101010101" pitchFamily="2" charset="-122"/>
              </a:rPr>
              <a:t>lw</a:t>
            </a:r>
            <a:r>
              <a:rPr lang="en-US" altLang="zh-CN" sz="2000">
                <a:ea typeface="宋体" panose="02010600030101010101" pitchFamily="2" charset="-122"/>
              </a:rPr>
              <a:t> 	</a:t>
            </a:r>
            <a:r>
              <a:rPr lang="en-US" altLang="zh-CN" sz="2000">
                <a:solidFill>
                  <a:schemeClr val="accent2"/>
                </a:solidFill>
                <a:ea typeface="宋体" panose="02010600030101010101" pitchFamily="2" charset="-122"/>
              </a:rPr>
              <a:t>$3</a:t>
            </a:r>
            <a:r>
              <a:rPr lang="en-US" altLang="zh-CN" sz="2000">
                <a:ea typeface="宋体" panose="02010600030101010101" pitchFamily="2" charset="-122"/>
              </a:rPr>
              <a:t>, c</a:t>
            </a:r>
            <a:endParaRPr lang="en-US" altLang="zh-CN" sz="2000">
              <a:ea typeface="宋体" panose="02010600030101010101" pitchFamily="2" charset="-122"/>
            </a:endParaRPr>
          </a:p>
          <a:p>
            <a:pPr>
              <a:spcBef>
                <a:spcPct val="20000"/>
              </a:spcBef>
              <a:buNone/>
            </a:pPr>
            <a:r>
              <a:rPr lang="en-US" altLang="zh-CN" sz="2000">
                <a:solidFill>
                  <a:schemeClr val="hlink"/>
                </a:solidFill>
                <a:ea typeface="宋体" panose="02010600030101010101" pitchFamily="2" charset="-122"/>
              </a:rPr>
              <a:t>		</a:t>
            </a:r>
            <a:r>
              <a:rPr lang="en-US" altLang="zh-CN" sz="2000" u="sng" err="1">
                <a:solidFill>
                  <a:schemeClr val="accent1"/>
                </a:solidFill>
                <a:ea typeface="宋体" panose="02010600030101010101" pitchFamily="2" charset="-122"/>
              </a:rPr>
              <a:t>lw</a:t>
            </a:r>
            <a:r>
              <a:rPr lang="en-US" altLang="zh-CN" sz="2000" u="sng">
                <a:solidFill>
                  <a:schemeClr val="accent1"/>
                </a:solidFill>
                <a:ea typeface="宋体" panose="02010600030101010101" pitchFamily="2" charset="-122"/>
              </a:rPr>
              <a:t> 	$5, e </a:t>
            </a:r>
            <a:endParaRPr lang="en-US" altLang="zh-CN" sz="2000">
              <a:solidFill>
                <a:schemeClr val="hlink"/>
              </a:solidFill>
              <a:ea typeface="宋体" panose="02010600030101010101" pitchFamily="2" charset="-122"/>
            </a:endParaRPr>
          </a:p>
          <a:p>
            <a:pPr>
              <a:spcBef>
                <a:spcPct val="20000"/>
              </a:spcBef>
              <a:buNone/>
            </a:pPr>
            <a:r>
              <a:rPr lang="en-US" altLang="zh-CN" sz="2000">
                <a:ea typeface="宋体" panose="02010600030101010101" pitchFamily="2" charset="-122"/>
              </a:rPr>
              <a:t>		add 	$1, $2, </a:t>
            </a:r>
            <a:r>
              <a:rPr lang="en-US" altLang="zh-CN" sz="2000">
                <a:solidFill>
                  <a:schemeClr val="accent2"/>
                </a:solidFill>
                <a:ea typeface="宋体" panose="02010600030101010101" pitchFamily="2" charset="-122"/>
              </a:rPr>
              <a:t>$3</a:t>
            </a:r>
            <a:endParaRPr lang="en-US" altLang="zh-CN" sz="2000">
              <a:solidFill>
                <a:schemeClr val="accent2"/>
              </a:solidFill>
              <a:ea typeface="宋体" panose="02010600030101010101" pitchFamily="2" charset="-122"/>
            </a:endParaRPr>
          </a:p>
          <a:p>
            <a:pPr>
              <a:spcBef>
                <a:spcPct val="20000"/>
              </a:spcBef>
              <a:buNone/>
            </a:pPr>
            <a:r>
              <a:rPr lang="en-US" altLang="zh-CN" sz="2000">
                <a:ea typeface="宋体" panose="02010600030101010101" pitchFamily="2" charset="-122"/>
              </a:rPr>
              <a:t>		</a:t>
            </a:r>
            <a:r>
              <a:rPr lang="en-US" altLang="zh-CN" sz="2000" err="1">
                <a:ea typeface="宋体" panose="02010600030101010101" pitchFamily="2" charset="-122"/>
              </a:rPr>
              <a:t>lw</a:t>
            </a:r>
            <a:r>
              <a:rPr lang="en-US" altLang="zh-CN" sz="2000">
                <a:ea typeface="宋体" panose="02010600030101010101" pitchFamily="2" charset="-122"/>
              </a:rPr>
              <a:t> 	</a:t>
            </a:r>
            <a:r>
              <a:rPr lang="en-US" altLang="zh-CN" sz="2000">
                <a:solidFill>
                  <a:schemeClr val="accent2"/>
                </a:solidFill>
                <a:ea typeface="宋体" panose="02010600030101010101" pitchFamily="2" charset="-122"/>
              </a:rPr>
              <a:t>$6</a:t>
            </a:r>
            <a:r>
              <a:rPr lang="en-US" altLang="zh-CN" sz="2000">
                <a:ea typeface="宋体" panose="02010600030101010101" pitchFamily="2" charset="-122"/>
              </a:rPr>
              <a:t>, f</a:t>
            </a:r>
            <a:endParaRPr lang="en-US" altLang="zh-CN" sz="2000">
              <a:ea typeface="宋体" panose="02010600030101010101" pitchFamily="2" charset="-122"/>
            </a:endParaRPr>
          </a:p>
          <a:p>
            <a:pPr>
              <a:spcBef>
                <a:spcPct val="20000"/>
              </a:spcBef>
              <a:buNone/>
            </a:pPr>
            <a:r>
              <a:rPr lang="en-US" altLang="zh-CN" sz="2000">
                <a:solidFill>
                  <a:schemeClr val="hlink"/>
                </a:solidFill>
                <a:ea typeface="宋体" panose="02010600030101010101" pitchFamily="2" charset="-122"/>
              </a:rPr>
              <a:t>		</a:t>
            </a:r>
            <a:r>
              <a:rPr lang="en-US" altLang="zh-CN" sz="2000" u="sng" err="1">
                <a:solidFill>
                  <a:schemeClr val="accent1"/>
                </a:solidFill>
                <a:ea typeface="宋体" panose="02010600030101010101" pitchFamily="2" charset="-122"/>
              </a:rPr>
              <a:t>sw</a:t>
            </a:r>
            <a:r>
              <a:rPr lang="en-US" altLang="zh-CN" sz="2000" u="sng">
                <a:solidFill>
                  <a:schemeClr val="accent1"/>
                </a:solidFill>
                <a:ea typeface="宋体" panose="02010600030101010101" pitchFamily="2" charset="-122"/>
              </a:rPr>
              <a:t> 	$1, a</a:t>
            </a:r>
            <a:endParaRPr lang="en-US" altLang="zh-CN" sz="2000">
              <a:solidFill>
                <a:schemeClr val="hlink"/>
              </a:solidFill>
              <a:ea typeface="宋体" panose="02010600030101010101" pitchFamily="2" charset="-122"/>
            </a:endParaRPr>
          </a:p>
          <a:p>
            <a:pPr>
              <a:spcBef>
                <a:spcPct val="20000"/>
              </a:spcBef>
              <a:buNone/>
            </a:pPr>
            <a:r>
              <a:rPr lang="en-US" altLang="zh-CN" sz="2000">
                <a:ea typeface="宋体" panose="02010600030101010101" pitchFamily="2" charset="-122"/>
              </a:rPr>
              <a:t>		sub 	$4, $5, </a:t>
            </a:r>
            <a:r>
              <a:rPr lang="en-US" altLang="zh-CN" sz="2000">
                <a:solidFill>
                  <a:schemeClr val="accent2"/>
                </a:solidFill>
                <a:ea typeface="宋体" panose="02010600030101010101" pitchFamily="2" charset="-122"/>
              </a:rPr>
              <a:t>$6</a:t>
            </a:r>
            <a:endParaRPr lang="en-US" altLang="zh-CN" sz="2000">
              <a:solidFill>
                <a:schemeClr val="accent2"/>
              </a:solidFill>
              <a:ea typeface="宋体" panose="02010600030101010101" pitchFamily="2" charset="-122"/>
            </a:endParaRPr>
          </a:p>
          <a:p>
            <a:pPr>
              <a:spcBef>
                <a:spcPct val="20000"/>
              </a:spcBef>
              <a:buNone/>
            </a:pPr>
            <a:r>
              <a:rPr lang="en-US" altLang="zh-CN" sz="2000">
                <a:ea typeface="宋体" panose="02010600030101010101" pitchFamily="2" charset="-122"/>
              </a:rPr>
              <a:t>		</a:t>
            </a:r>
            <a:r>
              <a:rPr lang="en-US" altLang="zh-CN" sz="2000" err="1">
                <a:ea typeface="宋体" panose="02010600030101010101" pitchFamily="2" charset="-122"/>
              </a:rPr>
              <a:t>sw</a:t>
            </a:r>
            <a:r>
              <a:rPr lang="en-US" altLang="zh-CN" sz="2000">
                <a:ea typeface="宋体" panose="02010600030101010101" pitchFamily="2" charset="-122"/>
              </a:rPr>
              <a:t>	$4, d</a:t>
            </a:r>
            <a:endParaRPr lang="en-US" altLang="zh-CN" sz="2000">
              <a:ea typeface="宋体" panose="02010600030101010101" pitchFamily="2" charset="-122"/>
            </a:endParaRPr>
          </a:p>
        </p:txBody>
      </p:sp>
      <p:grpSp>
        <p:nvGrpSpPr>
          <p:cNvPr id="572421" name="组合 572420"/>
          <p:cNvGrpSpPr/>
          <p:nvPr/>
        </p:nvGrpSpPr>
        <p:grpSpPr>
          <a:xfrm>
            <a:off x="2549525" y="3582988"/>
            <a:ext cx="1344613" cy="1484312"/>
            <a:chOff x="1832" y="2597"/>
            <a:chExt cx="600" cy="947"/>
          </a:xfrm>
        </p:grpSpPr>
        <p:sp>
          <p:nvSpPr>
            <p:cNvPr id="183301" name="任意多边形 572421"/>
            <p:cNvSpPr/>
            <p:nvPr/>
          </p:nvSpPr>
          <p:spPr>
            <a:xfrm>
              <a:off x="1952" y="2597"/>
              <a:ext cx="480" cy="635"/>
            </a:xfrm>
            <a:custGeom>
              <a:avLst/>
              <a:gdLst/>
              <a:ahLst/>
              <a:cxnLst/>
              <a:pathLst>
                <a:path w="480" h="635">
                  <a:moveTo>
                    <a:pt x="0" y="635"/>
                  </a:moveTo>
                  <a:cubicBezTo>
                    <a:pt x="168" y="585"/>
                    <a:pt x="336" y="535"/>
                    <a:pt x="408" y="451"/>
                  </a:cubicBezTo>
                  <a:cubicBezTo>
                    <a:pt x="480" y="367"/>
                    <a:pt x="463" y="203"/>
                    <a:pt x="432" y="131"/>
                  </a:cubicBezTo>
                  <a:cubicBezTo>
                    <a:pt x="401" y="59"/>
                    <a:pt x="293" y="38"/>
                    <a:pt x="224" y="19"/>
                  </a:cubicBezTo>
                  <a:cubicBezTo>
                    <a:pt x="155" y="0"/>
                    <a:pt x="85" y="9"/>
                    <a:pt x="16" y="19"/>
                  </a:cubicBezTo>
                </a:path>
              </a:pathLst>
            </a:custGeom>
            <a:noFill/>
            <a:ln w="12700" cap="flat" cmpd="sng">
              <a:solidFill>
                <a:srgbClr val="FF0000"/>
              </a:solidFill>
              <a:prstDash val="solid"/>
              <a:round/>
              <a:headEnd type="none" w="med" len="med"/>
              <a:tailEnd type="arrow" w="med" len="med"/>
            </a:ln>
          </p:spPr>
          <p:txBody>
            <a:bodyPr/>
            <a:p>
              <a:endParaRPr lang="zh-CN" altLang="en-US"/>
            </a:p>
          </p:txBody>
        </p:sp>
        <p:sp>
          <p:nvSpPr>
            <p:cNvPr id="183302" name="任意多边形 572422"/>
            <p:cNvSpPr/>
            <p:nvPr/>
          </p:nvSpPr>
          <p:spPr>
            <a:xfrm>
              <a:off x="1832" y="2984"/>
              <a:ext cx="309" cy="560"/>
            </a:xfrm>
            <a:custGeom>
              <a:avLst/>
              <a:gdLst/>
              <a:ahLst/>
              <a:cxnLst/>
              <a:pathLst>
                <a:path w="309" h="560">
                  <a:moveTo>
                    <a:pt x="80" y="0"/>
                  </a:moveTo>
                  <a:cubicBezTo>
                    <a:pt x="160" y="18"/>
                    <a:pt x="241" y="37"/>
                    <a:pt x="272" y="112"/>
                  </a:cubicBezTo>
                  <a:cubicBezTo>
                    <a:pt x="303" y="187"/>
                    <a:pt x="309" y="373"/>
                    <a:pt x="264" y="448"/>
                  </a:cubicBezTo>
                  <a:cubicBezTo>
                    <a:pt x="219" y="523"/>
                    <a:pt x="109" y="541"/>
                    <a:pt x="0" y="560"/>
                  </a:cubicBezTo>
                </a:path>
              </a:pathLst>
            </a:custGeom>
            <a:noFill/>
            <a:ln w="12700" cap="flat" cmpd="sng">
              <a:solidFill>
                <a:srgbClr val="FF0000"/>
              </a:solidFill>
              <a:prstDash val="solid"/>
              <a:round/>
              <a:headEnd type="none" w="med" len="med"/>
              <a:tailEnd type="arrow" w="med" len="med"/>
            </a:ln>
          </p:spPr>
          <p:txBody>
            <a:bodyPr/>
            <a:p>
              <a:endParaRPr lang="zh-CN" altLang="en-US"/>
            </a:p>
          </p:txBody>
        </p:sp>
      </p:grpSp>
      <p:sp>
        <p:nvSpPr>
          <p:cNvPr id="572424" name="矩形 572423"/>
          <p:cNvSpPr/>
          <p:nvPr/>
        </p:nvSpPr>
        <p:spPr>
          <a:xfrm>
            <a:off x="214313" y="2427288"/>
            <a:ext cx="4108450" cy="3384550"/>
          </a:xfrm>
          <a:prstGeom prst="rect">
            <a:avLst/>
          </a:prstGeom>
          <a:noFill/>
          <a:ln w="12700">
            <a:noFill/>
          </a:ln>
        </p:spPr>
        <p:txBody>
          <a:bodyPr anchor="t" anchorCtr="0">
            <a:spAutoFit/>
          </a:bodyPr>
          <a:p>
            <a:pPr eaLnBrk="0" hangingPunct="0"/>
            <a:r>
              <a:rPr lang="en-US" altLang="zh-CN">
                <a:latin typeface="Times New Roman" panose="02020603050405020304" pitchFamily="18" charset="0"/>
                <a:ea typeface="宋体" panose="02010600030101010101" pitchFamily="2" charset="-122"/>
              </a:rPr>
              <a:t> </a:t>
            </a:r>
            <a:r>
              <a:rPr lang="en-US" altLang="zh-CN" sz="2200">
                <a:solidFill>
                  <a:schemeClr val="accent1"/>
                </a:solidFill>
                <a:latin typeface="Arial" panose="020B0604020202020204" pitchFamily="34" charset="0"/>
                <a:ea typeface="宋体" panose="02010600030101010101" pitchFamily="2" charset="-122"/>
              </a:rPr>
              <a:t>Slow code:</a:t>
            </a:r>
            <a:endParaRPr lang="en-US" altLang="zh-CN" sz="2200">
              <a:solidFill>
                <a:schemeClr val="accent1"/>
              </a:solidFill>
              <a:latin typeface="Arial" panose="020B0604020202020204" pitchFamily="34" charset="0"/>
              <a:ea typeface="宋体" panose="02010600030101010101" pitchFamily="2" charset="-122"/>
            </a:endParaRPr>
          </a:p>
          <a:p>
            <a:pPr eaLnBrk="0" hangingPunct="0">
              <a:spcBef>
                <a:spcPct val="20000"/>
              </a:spcBef>
            </a:pPr>
            <a:r>
              <a:rPr lang="en-US" altLang="zh-CN" sz="2200">
                <a:latin typeface="Arial" panose="020B0604020202020204" pitchFamily="34" charset="0"/>
                <a:ea typeface="宋体" panose="02010600030101010101" pitchFamily="2" charset="-122"/>
              </a:rPr>
              <a:t>	</a:t>
            </a:r>
            <a:r>
              <a:rPr lang="en-US" altLang="zh-CN" sz="2000" err="1">
                <a:latin typeface="Arial" panose="020B0604020202020204" pitchFamily="34" charset="0"/>
                <a:ea typeface="宋体" panose="02010600030101010101" pitchFamily="2" charset="-122"/>
              </a:rPr>
              <a:t>lw</a:t>
            </a:r>
            <a:r>
              <a:rPr lang="en-US" altLang="zh-CN" sz="2000">
                <a:latin typeface="Arial" panose="020B0604020202020204" pitchFamily="34" charset="0"/>
                <a:ea typeface="宋体" panose="02010600030101010101" pitchFamily="2" charset="-122"/>
              </a:rPr>
              <a:t>	$2, b</a:t>
            </a:r>
            <a:endParaRPr lang="en-US" altLang="zh-CN" sz="2000">
              <a:latin typeface="Arial" panose="020B0604020202020204" pitchFamily="34" charset="0"/>
              <a:ea typeface="宋体" panose="02010600030101010101" pitchFamily="2" charset="-122"/>
            </a:endParaRPr>
          </a:p>
          <a:p>
            <a:pPr eaLnBrk="0" hangingPunct="0">
              <a:spcBef>
                <a:spcPct val="20000"/>
              </a:spcBef>
            </a:pPr>
            <a:r>
              <a:rPr lang="en-US" altLang="zh-CN" sz="2000">
                <a:latin typeface="Arial" panose="020B0604020202020204" pitchFamily="34" charset="0"/>
                <a:ea typeface="宋体" panose="02010600030101010101" pitchFamily="2" charset="-122"/>
              </a:rPr>
              <a:t>	</a:t>
            </a:r>
            <a:r>
              <a:rPr lang="en-US" altLang="zh-CN" sz="2000" err="1">
                <a:latin typeface="Arial" panose="020B0604020202020204" pitchFamily="34" charset="0"/>
                <a:ea typeface="宋体" panose="02010600030101010101" pitchFamily="2" charset="-122"/>
              </a:rPr>
              <a:t>lw</a:t>
            </a:r>
            <a:r>
              <a:rPr lang="en-US" altLang="zh-CN" sz="2000">
                <a:latin typeface="Arial" panose="020B0604020202020204" pitchFamily="34" charset="0"/>
                <a:ea typeface="宋体" panose="02010600030101010101" pitchFamily="2" charset="-122"/>
              </a:rPr>
              <a:t> 	</a:t>
            </a:r>
            <a:r>
              <a:rPr lang="en-US" altLang="zh-CN" sz="2000">
                <a:solidFill>
                  <a:schemeClr val="accent2"/>
                </a:solidFill>
                <a:latin typeface="Arial" panose="020B0604020202020204" pitchFamily="34" charset="0"/>
                <a:ea typeface="宋体" panose="02010600030101010101" pitchFamily="2" charset="-122"/>
              </a:rPr>
              <a:t>$3</a:t>
            </a:r>
            <a:r>
              <a:rPr lang="en-US" altLang="zh-CN" sz="2000">
                <a:latin typeface="Arial" panose="020B0604020202020204" pitchFamily="34" charset="0"/>
                <a:ea typeface="宋体" panose="02010600030101010101" pitchFamily="2" charset="-122"/>
              </a:rPr>
              <a:t>, c</a:t>
            </a:r>
            <a:endParaRPr lang="en-US" altLang="zh-CN" sz="2000">
              <a:latin typeface="Arial" panose="020B0604020202020204" pitchFamily="34" charset="0"/>
              <a:ea typeface="宋体" panose="02010600030101010101" pitchFamily="2" charset="-122"/>
            </a:endParaRPr>
          </a:p>
          <a:p>
            <a:pPr eaLnBrk="0" hangingPunct="0">
              <a:spcBef>
                <a:spcPct val="20000"/>
              </a:spcBef>
            </a:pPr>
            <a:r>
              <a:rPr lang="en-US" altLang="zh-CN" sz="2000">
                <a:latin typeface="Arial" panose="020B0604020202020204" pitchFamily="34" charset="0"/>
                <a:ea typeface="宋体" panose="02010600030101010101" pitchFamily="2" charset="-122"/>
              </a:rPr>
              <a:t>	add 	$1, $2, </a:t>
            </a:r>
            <a:r>
              <a:rPr lang="en-US" altLang="zh-CN" sz="2000">
                <a:solidFill>
                  <a:schemeClr val="accent2"/>
                </a:solidFill>
                <a:latin typeface="Arial" panose="020B0604020202020204" pitchFamily="34" charset="0"/>
                <a:ea typeface="宋体" panose="02010600030101010101" pitchFamily="2" charset="-122"/>
              </a:rPr>
              <a:t>$3</a:t>
            </a:r>
            <a:endParaRPr lang="en-US" altLang="zh-CN" sz="2000">
              <a:solidFill>
                <a:schemeClr val="accent2"/>
              </a:solidFill>
              <a:latin typeface="Arial" panose="020B0604020202020204" pitchFamily="34" charset="0"/>
              <a:ea typeface="宋体" panose="02010600030101010101" pitchFamily="2" charset="-122"/>
            </a:endParaRPr>
          </a:p>
          <a:p>
            <a:pPr eaLnBrk="0" hangingPunct="0">
              <a:spcBef>
                <a:spcPct val="20000"/>
              </a:spcBef>
            </a:pPr>
            <a:r>
              <a:rPr lang="en-US" altLang="zh-CN" sz="2000">
                <a:latin typeface="Arial" panose="020B0604020202020204" pitchFamily="34" charset="0"/>
                <a:ea typeface="宋体" panose="02010600030101010101" pitchFamily="2" charset="-122"/>
              </a:rPr>
              <a:t>	</a:t>
            </a:r>
            <a:r>
              <a:rPr lang="en-US" altLang="zh-CN" sz="2000" err="1">
                <a:solidFill>
                  <a:schemeClr val="accent1"/>
                </a:solidFill>
                <a:latin typeface="Arial" panose="020B0604020202020204" pitchFamily="34" charset="0"/>
                <a:ea typeface="宋体" panose="02010600030101010101" pitchFamily="2" charset="-122"/>
              </a:rPr>
              <a:t>sw</a:t>
            </a:r>
            <a:r>
              <a:rPr lang="en-US" altLang="zh-CN" sz="2000">
                <a:solidFill>
                  <a:schemeClr val="accent1"/>
                </a:solidFill>
                <a:latin typeface="Arial" panose="020B0604020202020204" pitchFamily="34" charset="0"/>
                <a:ea typeface="宋体" panose="02010600030101010101" pitchFamily="2" charset="-122"/>
              </a:rPr>
              <a:t>  	$1, a</a:t>
            </a:r>
            <a:endParaRPr lang="en-US" altLang="zh-CN" sz="2000">
              <a:solidFill>
                <a:schemeClr val="accent1"/>
              </a:solidFill>
              <a:latin typeface="Arial" panose="020B0604020202020204" pitchFamily="34" charset="0"/>
              <a:ea typeface="宋体" panose="02010600030101010101" pitchFamily="2" charset="-122"/>
            </a:endParaRPr>
          </a:p>
          <a:p>
            <a:pPr eaLnBrk="0" hangingPunct="0">
              <a:spcBef>
                <a:spcPct val="20000"/>
              </a:spcBef>
            </a:pPr>
            <a:r>
              <a:rPr lang="en-US" altLang="zh-CN" sz="2000">
                <a:solidFill>
                  <a:schemeClr val="accent1"/>
                </a:solidFill>
                <a:latin typeface="Arial" panose="020B0604020202020204" pitchFamily="34" charset="0"/>
                <a:ea typeface="宋体" panose="02010600030101010101" pitchFamily="2" charset="-122"/>
              </a:rPr>
              <a:t>	</a:t>
            </a:r>
            <a:r>
              <a:rPr lang="en-US" altLang="zh-CN" sz="2000" err="1">
                <a:solidFill>
                  <a:schemeClr val="accent1"/>
                </a:solidFill>
                <a:latin typeface="Arial" panose="020B0604020202020204" pitchFamily="34" charset="0"/>
                <a:ea typeface="宋体" panose="02010600030101010101" pitchFamily="2" charset="-122"/>
              </a:rPr>
              <a:t>lw</a:t>
            </a:r>
            <a:r>
              <a:rPr lang="en-US" altLang="zh-CN" sz="2000">
                <a:solidFill>
                  <a:schemeClr val="accent1"/>
                </a:solidFill>
                <a:latin typeface="Arial" panose="020B0604020202020204" pitchFamily="34" charset="0"/>
                <a:ea typeface="宋体" panose="02010600030101010101" pitchFamily="2" charset="-122"/>
              </a:rPr>
              <a:t> 	$5, e</a:t>
            </a:r>
            <a:r>
              <a:rPr lang="en-US" altLang="zh-CN" sz="2000">
                <a:latin typeface="Arial" panose="020B0604020202020204" pitchFamily="34" charset="0"/>
                <a:ea typeface="宋体" panose="02010600030101010101" pitchFamily="2" charset="-122"/>
              </a:rPr>
              <a:t> </a:t>
            </a:r>
            <a:endParaRPr lang="en-US" altLang="zh-CN" sz="2000">
              <a:latin typeface="Arial" panose="020B0604020202020204" pitchFamily="34" charset="0"/>
              <a:ea typeface="宋体" panose="02010600030101010101" pitchFamily="2" charset="-122"/>
            </a:endParaRPr>
          </a:p>
          <a:p>
            <a:pPr eaLnBrk="0" hangingPunct="0">
              <a:spcBef>
                <a:spcPct val="20000"/>
              </a:spcBef>
            </a:pPr>
            <a:r>
              <a:rPr lang="en-US" altLang="zh-CN" sz="2000">
                <a:latin typeface="Arial" panose="020B0604020202020204" pitchFamily="34" charset="0"/>
                <a:ea typeface="宋体" panose="02010600030101010101" pitchFamily="2" charset="-122"/>
              </a:rPr>
              <a:t>	</a:t>
            </a:r>
            <a:r>
              <a:rPr lang="en-US" altLang="zh-CN" sz="2000" err="1">
                <a:latin typeface="Arial" panose="020B0604020202020204" pitchFamily="34" charset="0"/>
                <a:ea typeface="宋体" panose="02010600030101010101" pitchFamily="2" charset="-122"/>
              </a:rPr>
              <a:t>lw</a:t>
            </a:r>
            <a:r>
              <a:rPr lang="en-US" altLang="zh-CN" sz="2000">
                <a:latin typeface="Arial" panose="020B0604020202020204" pitchFamily="34" charset="0"/>
                <a:ea typeface="宋体" panose="02010600030101010101" pitchFamily="2" charset="-122"/>
              </a:rPr>
              <a:t> 	</a:t>
            </a:r>
            <a:r>
              <a:rPr lang="en-US" altLang="zh-CN" sz="2000">
                <a:solidFill>
                  <a:schemeClr val="accent2"/>
                </a:solidFill>
                <a:latin typeface="Arial" panose="020B0604020202020204" pitchFamily="34" charset="0"/>
                <a:ea typeface="宋体" panose="02010600030101010101" pitchFamily="2" charset="-122"/>
              </a:rPr>
              <a:t>$6</a:t>
            </a:r>
            <a:r>
              <a:rPr lang="en-US" altLang="zh-CN" sz="2000">
                <a:latin typeface="Arial" panose="020B0604020202020204" pitchFamily="34" charset="0"/>
                <a:ea typeface="宋体" panose="02010600030101010101" pitchFamily="2" charset="-122"/>
              </a:rPr>
              <a:t>, f</a:t>
            </a:r>
            <a:endParaRPr lang="en-US" altLang="zh-CN" sz="2000">
              <a:latin typeface="Arial" panose="020B0604020202020204" pitchFamily="34" charset="0"/>
              <a:ea typeface="宋体" panose="02010600030101010101" pitchFamily="2" charset="-122"/>
            </a:endParaRPr>
          </a:p>
          <a:p>
            <a:pPr eaLnBrk="0" hangingPunct="0">
              <a:spcBef>
                <a:spcPct val="20000"/>
              </a:spcBef>
            </a:pPr>
            <a:r>
              <a:rPr lang="en-US" altLang="zh-CN" sz="2000">
                <a:latin typeface="Arial" panose="020B0604020202020204" pitchFamily="34" charset="0"/>
                <a:ea typeface="宋体" panose="02010600030101010101" pitchFamily="2" charset="-122"/>
              </a:rPr>
              <a:t>	sub 	$4, $5, </a:t>
            </a:r>
            <a:r>
              <a:rPr lang="en-US" altLang="zh-CN" sz="2000">
                <a:solidFill>
                  <a:schemeClr val="accent2"/>
                </a:solidFill>
                <a:latin typeface="Arial" panose="020B0604020202020204" pitchFamily="34" charset="0"/>
                <a:ea typeface="宋体" panose="02010600030101010101" pitchFamily="2" charset="-122"/>
              </a:rPr>
              <a:t>$6</a:t>
            </a:r>
            <a:endParaRPr lang="en-US" altLang="zh-CN" sz="2000">
              <a:solidFill>
                <a:schemeClr val="accent2"/>
              </a:solidFill>
              <a:latin typeface="Arial" panose="020B0604020202020204" pitchFamily="34" charset="0"/>
              <a:ea typeface="宋体" panose="02010600030101010101" pitchFamily="2" charset="-122"/>
            </a:endParaRPr>
          </a:p>
          <a:p>
            <a:pPr eaLnBrk="0" hangingPunct="0">
              <a:spcBef>
                <a:spcPct val="20000"/>
              </a:spcBef>
            </a:pPr>
            <a:r>
              <a:rPr lang="en-US" altLang="zh-CN" sz="2000">
                <a:latin typeface="Arial" panose="020B0604020202020204" pitchFamily="34" charset="0"/>
                <a:ea typeface="宋体" panose="02010600030101010101" pitchFamily="2" charset="-122"/>
              </a:rPr>
              <a:t>	</a:t>
            </a:r>
            <a:r>
              <a:rPr lang="en-US" altLang="zh-CN" sz="2000" err="1">
                <a:latin typeface="Arial" panose="020B0604020202020204" pitchFamily="34" charset="0"/>
                <a:ea typeface="宋体" panose="02010600030101010101" pitchFamily="2" charset="-122"/>
              </a:rPr>
              <a:t>sw</a:t>
            </a:r>
            <a:r>
              <a:rPr lang="en-US" altLang="zh-CN" sz="2000">
                <a:latin typeface="Arial" panose="020B0604020202020204" pitchFamily="34" charset="0"/>
                <a:ea typeface="宋体" panose="02010600030101010101" pitchFamily="2" charset="-122"/>
              </a:rPr>
              <a:t>	$4, d</a:t>
            </a:r>
            <a:endParaRPr lang="en-US" altLang="zh-CN" sz="2000">
              <a:latin typeface="Arial" panose="020B0604020202020204" pitchFamily="34" charset="0"/>
              <a:ea typeface="宋体" panose="02010600030101010101" pitchFamily="2" charset="-122"/>
            </a:endParaRPr>
          </a:p>
        </p:txBody>
      </p:sp>
      <p:grpSp>
        <p:nvGrpSpPr>
          <p:cNvPr id="572425" name="组合 572424"/>
          <p:cNvGrpSpPr/>
          <p:nvPr/>
        </p:nvGrpSpPr>
        <p:grpSpPr>
          <a:xfrm>
            <a:off x="3716338" y="3814763"/>
            <a:ext cx="1957387" cy="841375"/>
            <a:chOff x="2341" y="2574"/>
            <a:chExt cx="1233" cy="530"/>
          </a:xfrm>
        </p:grpSpPr>
        <p:sp>
          <p:nvSpPr>
            <p:cNvPr id="183305" name="右箭头 572425"/>
            <p:cNvSpPr/>
            <p:nvPr/>
          </p:nvSpPr>
          <p:spPr>
            <a:xfrm>
              <a:off x="2341" y="2574"/>
              <a:ext cx="1233" cy="530"/>
            </a:xfrm>
            <a:prstGeom prst="rightArrow">
              <a:avLst>
                <a:gd name="adj1" fmla="val 50000"/>
                <a:gd name="adj2" fmla="val 58063"/>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83306" name="文本框 572426"/>
            <p:cNvSpPr txBox="1"/>
            <p:nvPr/>
          </p:nvSpPr>
          <p:spPr>
            <a:xfrm>
              <a:off x="2512" y="2720"/>
              <a:ext cx="640" cy="231"/>
            </a:xfrm>
            <a:prstGeom prst="rect">
              <a:avLst/>
            </a:prstGeom>
            <a:noFill/>
            <a:ln w="12700">
              <a:noFill/>
            </a:ln>
          </p:spPr>
          <p:txBody>
            <a:bodyPr anchor="t" anchorCtr="0">
              <a:spAutoFit/>
            </a:bodyPr>
            <a:p>
              <a:pPr eaLnBrk="0" hangingPunct="0">
                <a:spcBef>
                  <a:spcPct val="50000"/>
                </a:spcBef>
              </a:pPr>
              <a:r>
                <a:rPr lang="zh-CN" altLang="en-US" sz="1800" dirty="0">
                  <a:latin typeface="Times New Roman" panose="02020603050405020304" pitchFamily="18" charset="0"/>
                  <a:ea typeface="黑体" panose="02010609060101010101" pitchFamily="49" charset="-122"/>
                </a:rPr>
                <a:t>调整后</a:t>
              </a:r>
              <a:endParaRPr lang="zh-CN" altLang="en-US" sz="1800" dirty="0">
                <a:latin typeface="Times New Roman" panose="02020603050405020304" pitchFamily="18" charset="0"/>
                <a:ea typeface="黑体" panose="02010609060101010101" pitchFamily="49" charset="-122"/>
              </a:endParaRPr>
            </a:p>
          </p:txBody>
        </p:sp>
      </p:grpSp>
      <p:sp>
        <p:nvSpPr>
          <p:cNvPr id="572428" name="文本框 572427"/>
          <p:cNvSpPr txBox="1"/>
          <p:nvPr/>
        </p:nvSpPr>
        <p:spPr>
          <a:xfrm>
            <a:off x="4297363" y="1717675"/>
            <a:ext cx="3687762" cy="427038"/>
          </a:xfrm>
          <a:prstGeom prst="rect">
            <a:avLst/>
          </a:prstGeom>
          <a:noFill/>
          <a:ln w="12700">
            <a:noFill/>
          </a:ln>
        </p:spPr>
        <p:txBody>
          <a:bodyPr anchor="t" anchorCtr="0">
            <a:spAutoFit/>
          </a:bodyPr>
          <a:p>
            <a:pPr eaLnBrk="0" hangingPunct="0">
              <a:spcBef>
                <a:spcPct val="50000"/>
              </a:spcBef>
            </a:pPr>
            <a:r>
              <a:rPr lang="zh-CN" altLang="en-US" sz="2200" dirty="0">
                <a:solidFill>
                  <a:srgbClr val="CC0000"/>
                </a:solidFill>
                <a:latin typeface="Arial" panose="020B0604020202020204" pitchFamily="34" charset="0"/>
                <a:ea typeface="微软雅黑" panose="020B0503020204020204" pitchFamily="34" charset="-122"/>
              </a:rPr>
              <a:t>编译器的优化很重要！</a:t>
            </a:r>
            <a:endParaRPr lang="zh-CN" altLang="en-US" sz="2200" dirty="0">
              <a:solidFill>
                <a:srgbClr val="CC0000"/>
              </a:solidFill>
              <a:latin typeface="Arial" panose="020B0604020202020204" pitchFamily="34" charset="0"/>
              <a:ea typeface="微软雅黑" panose="020B0503020204020204" pitchFamily="34" charset="-122"/>
            </a:endParaRPr>
          </a:p>
        </p:txBody>
      </p:sp>
      <p:sp>
        <p:nvSpPr>
          <p:cNvPr id="572429" name="矩形 572428"/>
          <p:cNvSpPr/>
          <p:nvPr/>
        </p:nvSpPr>
        <p:spPr>
          <a:xfrm>
            <a:off x="952500" y="3157538"/>
            <a:ext cx="2451100" cy="800100"/>
          </a:xfrm>
          <a:prstGeom prst="rect">
            <a:avLst/>
          </a:prstGeom>
          <a:solidFill>
            <a:srgbClr val="FF99CC">
              <a:alpha val="38000"/>
            </a:srgbClr>
          </a:solidFill>
          <a:ln w="12700">
            <a:noFill/>
          </a:ln>
        </p:spPr>
        <p:txBody>
          <a:bodyPr anchor="t" anchorCtr="0"/>
          <a:p>
            <a:pPr eaLnBrk="0" hangingPunct="0"/>
            <a:endParaRPr lang="zh-CN" altLang="en-US">
              <a:latin typeface="Arial" panose="020B0604020202020204" pitchFamily="34" charset="0"/>
            </a:endParaRPr>
          </a:p>
        </p:txBody>
      </p:sp>
      <p:sp>
        <p:nvSpPr>
          <p:cNvPr id="572430" name="矩形 572429"/>
          <p:cNvSpPr/>
          <p:nvPr/>
        </p:nvSpPr>
        <p:spPr>
          <a:xfrm>
            <a:off x="952500" y="4719638"/>
            <a:ext cx="2451100" cy="711200"/>
          </a:xfrm>
          <a:prstGeom prst="rect">
            <a:avLst/>
          </a:prstGeom>
          <a:solidFill>
            <a:srgbClr val="FF99CC">
              <a:alpha val="38000"/>
            </a:srgbClr>
          </a:solidFill>
          <a:ln w="12700">
            <a:noFill/>
          </a:ln>
        </p:spPr>
        <p:txBody>
          <a:bodyPr anchor="t" anchorCtr="0"/>
          <a:p>
            <a:pPr eaLnBrk="0" hangingPunct="0"/>
            <a:endParaRPr lang="zh-CN" altLang="en-US">
              <a:latin typeface="Arial" panose="020B0604020202020204" pitchFamily="34" charset="0"/>
            </a:endParaRPr>
          </a:p>
        </p:txBody>
      </p:sp>
      <p:sp>
        <p:nvSpPr>
          <p:cNvPr id="572431" name="文本框 572430"/>
          <p:cNvSpPr txBox="1"/>
          <p:nvPr/>
        </p:nvSpPr>
        <p:spPr>
          <a:xfrm>
            <a:off x="273050" y="5867400"/>
            <a:ext cx="8361363" cy="762000"/>
          </a:xfrm>
          <a:prstGeom prst="rect">
            <a:avLst/>
          </a:prstGeom>
          <a:noFill/>
          <a:ln w="12700">
            <a:noFill/>
          </a:ln>
        </p:spPr>
        <p:txBody>
          <a:bodyPr anchor="t" anchorCtr="0">
            <a:spAutoFit/>
          </a:bodyPr>
          <a:p>
            <a:pPr eaLnBrk="0" hangingPunct="0">
              <a:spcBef>
                <a:spcPct val="50000"/>
              </a:spcBef>
            </a:pPr>
            <a:r>
              <a:rPr lang="zh-CN" altLang="en-US" sz="2200" dirty="0">
                <a:solidFill>
                  <a:srgbClr val="CC0000"/>
                </a:solidFill>
                <a:latin typeface="微软雅黑" panose="020B0503020204020204" pitchFamily="34" charset="-122"/>
                <a:ea typeface="微软雅黑" panose="020B0503020204020204" pitchFamily="34" charset="-122"/>
              </a:rPr>
              <a:t>如果硬件不支持阻塞处理的话，则编译器可以将顺序调整和插入</a:t>
            </a:r>
            <a:r>
              <a:rPr lang="en-US" altLang="zh-CN" sz="2200">
                <a:solidFill>
                  <a:srgbClr val="CC0000"/>
                </a:solidFill>
                <a:latin typeface="微软雅黑" panose="020B0503020204020204" pitchFamily="34" charset="-122"/>
                <a:ea typeface="微软雅黑" panose="020B0503020204020204" pitchFamily="34" charset="-122"/>
              </a:rPr>
              <a:t>NOP</a:t>
            </a:r>
            <a:r>
              <a:rPr lang="zh-CN" altLang="en-US" sz="2200" dirty="0">
                <a:solidFill>
                  <a:srgbClr val="CC0000"/>
                </a:solidFill>
                <a:latin typeface="微软雅黑" panose="020B0503020204020204" pitchFamily="34" charset="-122"/>
                <a:ea typeface="微软雅黑" panose="020B0503020204020204" pitchFamily="34" charset="-122"/>
              </a:rPr>
              <a:t>指令结合起来，在找不到可插入的指令时，插入</a:t>
            </a:r>
            <a:r>
              <a:rPr lang="en-US" altLang="zh-CN" sz="2200">
                <a:solidFill>
                  <a:srgbClr val="CC0000"/>
                </a:solidFill>
                <a:latin typeface="微软雅黑" panose="020B0503020204020204" pitchFamily="34" charset="-122"/>
                <a:ea typeface="微软雅黑" panose="020B0503020204020204" pitchFamily="34" charset="-122"/>
              </a:rPr>
              <a:t>NOP</a:t>
            </a:r>
            <a:r>
              <a:rPr lang="zh-CN" altLang="en-US" sz="2200" dirty="0">
                <a:solidFill>
                  <a:srgbClr val="CC0000"/>
                </a:solidFill>
                <a:latin typeface="微软雅黑" panose="020B0503020204020204" pitchFamily="34" charset="-122"/>
                <a:ea typeface="微软雅黑" panose="020B0503020204020204" pitchFamily="34" charset="-122"/>
              </a:rPr>
              <a:t>指令！</a:t>
            </a:r>
            <a:endParaRPr lang="zh-CN" altLang="en-US" sz="2200" dirty="0">
              <a:solidFill>
                <a:srgbClr val="CC0000"/>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2424"/>
                                        </p:tgtEl>
                                        <p:attrNameLst>
                                          <p:attrName>style.visibility</p:attrName>
                                        </p:attrNameLst>
                                      </p:cBhvr>
                                      <p:to>
                                        <p:strVal val="visible"/>
                                      </p:to>
                                    </p:set>
                                    <p:animEffect transition="in" filter="blinds(horizontal)">
                                      <p:cBhvr>
                                        <p:cTn id="7" dur="500"/>
                                        <p:tgtEl>
                                          <p:spTgt spid="5724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2429"/>
                                        </p:tgtEl>
                                        <p:attrNameLst>
                                          <p:attrName>style.visibility</p:attrName>
                                        </p:attrNameLst>
                                      </p:cBhvr>
                                      <p:to>
                                        <p:strVal val="visible"/>
                                      </p:to>
                                    </p:set>
                                    <p:animEffect transition="in" filter="blinds(horizontal)">
                                      <p:cBhvr>
                                        <p:cTn id="12" dur="500"/>
                                        <p:tgtEl>
                                          <p:spTgt spid="5724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2430"/>
                                        </p:tgtEl>
                                        <p:attrNameLst>
                                          <p:attrName>style.visibility</p:attrName>
                                        </p:attrNameLst>
                                      </p:cBhvr>
                                      <p:to>
                                        <p:strVal val="visible"/>
                                      </p:to>
                                    </p:set>
                                    <p:animEffect transition="in" filter="blinds(horizontal)">
                                      <p:cBhvr>
                                        <p:cTn id="17" dur="500"/>
                                        <p:tgtEl>
                                          <p:spTgt spid="572430"/>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72421"/>
                                        </p:tgtEl>
                                        <p:attrNameLst>
                                          <p:attrName>style.visibility</p:attrName>
                                        </p:attrNameLst>
                                      </p:cBhvr>
                                      <p:to>
                                        <p:strVal val="visible"/>
                                      </p:to>
                                    </p:set>
                                    <p:animEffect transition="in" filter="checkerboard(across)">
                                      <p:cBhvr>
                                        <p:cTn id="22" dur="500"/>
                                        <p:tgtEl>
                                          <p:spTgt spid="5724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72425"/>
                                        </p:tgtEl>
                                        <p:attrNameLst>
                                          <p:attrName>style.visibility</p:attrName>
                                        </p:attrNameLst>
                                      </p:cBhvr>
                                      <p:to>
                                        <p:strVal val="visible"/>
                                      </p:to>
                                    </p:set>
                                    <p:animEffect transition="in" filter="blinds(horizontal)">
                                      <p:cBhvr>
                                        <p:cTn id="27" dur="500"/>
                                        <p:tgtEl>
                                          <p:spTgt spid="57242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572420"/>
                                        </p:tgtEl>
                                        <p:attrNameLst>
                                          <p:attrName>style.visibility</p:attrName>
                                        </p:attrNameLst>
                                      </p:cBhvr>
                                      <p:to>
                                        <p:strVal val="visible"/>
                                      </p:to>
                                    </p:set>
                                    <p:animEffect transition="in" filter="slide(fromLeft)">
                                      <p:cBhvr>
                                        <p:cTn id="32" dur="500"/>
                                        <p:tgtEl>
                                          <p:spTgt spid="572420"/>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572428">
                                            <p:txEl>
                                              <p:charRg st="0" end="11"/>
                                            </p:txEl>
                                          </p:spTgt>
                                        </p:tgtEl>
                                        <p:attrNameLst>
                                          <p:attrName>style.visibility</p:attrName>
                                        </p:attrNameLst>
                                      </p:cBhvr>
                                      <p:to>
                                        <p:strVal val="visible"/>
                                      </p:to>
                                    </p:set>
                                    <p:animEffect transition="in" filter="checkerboard(across)">
                                      <p:cBhvr>
                                        <p:cTn id="37" dur="500"/>
                                        <p:tgtEl>
                                          <p:spTgt spid="572428">
                                            <p:txEl>
                                              <p:charRg st="0"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572431">
                                            <p:txEl>
                                              <p:charRg st="0" end="59"/>
                                            </p:txEl>
                                          </p:spTgt>
                                        </p:tgtEl>
                                        <p:attrNameLst>
                                          <p:attrName>style.visibility</p:attrName>
                                        </p:attrNameLst>
                                      </p:cBhvr>
                                      <p:to>
                                        <p:strVal val="visible"/>
                                      </p:to>
                                    </p:set>
                                    <p:animEffect transition="in" filter="checkerboard(across)">
                                      <p:cBhvr>
                                        <p:cTn id="42" dur="500"/>
                                        <p:tgtEl>
                                          <p:spTgt spid="572431">
                                            <p:txEl>
                                              <p:charRg st="0" end="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20" grpId="0"/>
      <p:bldP spid="572424"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5" name="标题 575489"/>
          <p:cNvSpPr>
            <a:spLocks noGrp="1"/>
          </p:cNvSpPr>
          <p:nvPr>
            <p:ph type="title"/>
          </p:nvPr>
        </p:nvSpPr>
        <p:spPr>
          <a:xfrm>
            <a:off x="463550" y="123825"/>
            <a:ext cx="8191500" cy="528638"/>
          </a:xfrm>
          <a:ln/>
        </p:spPr>
        <p:txBody>
          <a:bodyPr vert="horz" wrap="square" lIns="63500" tIns="25400" rIns="63500" bIns="25400" anchor="t" anchorCtr="0">
            <a:spAutoFit/>
          </a:bodyPr>
          <a:p>
            <a:r>
              <a:rPr lang="zh-CN" altLang="en-US" dirty="0"/>
              <a:t>编译器优化以避免阻塞的情况调查</a:t>
            </a:r>
            <a:endParaRPr lang="en-US" altLang="zh-CN"/>
          </a:p>
        </p:txBody>
      </p:sp>
      <p:graphicFrame>
        <p:nvGraphicFramePr>
          <p:cNvPr id="185346" name="对象 575490">
            <a:hlinkClick r:id="" action="ppaction://ole?verb="/>
          </p:cNvPr>
          <p:cNvGraphicFramePr/>
          <p:nvPr/>
        </p:nvGraphicFramePr>
        <p:xfrm>
          <a:off x="431800" y="814388"/>
          <a:ext cx="8270875" cy="5024437"/>
        </p:xfrm>
        <a:graphic>
          <a:graphicData uri="http://schemas.openxmlformats.org/presentationml/2006/ole">
            <mc:AlternateContent xmlns:mc="http://schemas.openxmlformats.org/markup-compatibility/2006">
              <mc:Choice xmlns:v="urn:schemas-microsoft-com:vml" Requires="v">
                <p:oleObj spid="_x0000_s3076" name="" r:id="rId1" imgW="2491105" imgH="1405255" progId="Excel.Chart.8">
                  <p:embed/>
                </p:oleObj>
              </mc:Choice>
              <mc:Fallback>
                <p:oleObj name="" r:id="rId1" imgW="2491105" imgH="1405255" progId="Excel.Chart.8">
                  <p:embed/>
                  <p:pic>
                    <p:nvPicPr>
                      <p:cNvPr id="0" name="图片 3075"/>
                      <p:cNvPicPr/>
                      <p:nvPr/>
                    </p:nvPicPr>
                    <p:blipFill>
                      <a:blip r:embed="rId2"/>
                      <a:stretch>
                        <a:fillRect/>
                      </a:stretch>
                    </p:blipFill>
                    <p:spPr>
                      <a:xfrm>
                        <a:off x="431800" y="814388"/>
                        <a:ext cx="8270875" cy="5024437"/>
                      </a:xfrm>
                      <a:prstGeom prst="rect">
                        <a:avLst/>
                      </a:prstGeom>
                      <a:noFill/>
                      <a:ln w="38100">
                        <a:noFill/>
                        <a:miter/>
                      </a:ln>
                    </p:spPr>
                  </p:pic>
                </p:oleObj>
              </mc:Fallback>
            </mc:AlternateContent>
          </a:graphicData>
        </a:graphic>
      </p:graphicFrame>
      <p:sp>
        <p:nvSpPr>
          <p:cNvPr id="575492" name="文本框 575491"/>
          <p:cNvSpPr txBox="1"/>
          <p:nvPr/>
        </p:nvSpPr>
        <p:spPr>
          <a:xfrm>
            <a:off x="415925" y="5761038"/>
            <a:ext cx="7408863" cy="427037"/>
          </a:xfrm>
          <a:prstGeom prst="rect">
            <a:avLst/>
          </a:prstGeom>
          <a:noFill/>
          <a:ln w="12700">
            <a:noFill/>
          </a:ln>
        </p:spPr>
        <p:txBody>
          <a:bodyPr anchor="t" anchorCtr="0">
            <a:spAutoFit/>
          </a:bodyPr>
          <a:p>
            <a:pPr eaLnBrk="0" hangingPunct="0">
              <a:spcBef>
                <a:spcPct val="50000"/>
              </a:spcBef>
            </a:pPr>
            <a:r>
              <a:rPr lang="zh-CN" altLang="en-US" sz="2200" dirty="0">
                <a:solidFill>
                  <a:schemeClr val="accent2"/>
                </a:solidFill>
                <a:latin typeface="微软雅黑" panose="020B0503020204020204" pitchFamily="34" charset="-122"/>
                <a:ea typeface="微软雅黑" panose="020B0503020204020204" pitchFamily="34" charset="-122"/>
              </a:rPr>
              <a:t>由此可见，优化调度后</a:t>
            </a:r>
            <a:r>
              <a:rPr lang="en-US" altLang="zh-CN" sz="2200">
                <a:solidFill>
                  <a:schemeClr val="accent2"/>
                </a:solidFill>
                <a:latin typeface="微软雅黑" panose="020B0503020204020204" pitchFamily="34" charset="-122"/>
                <a:ea typeface="微软雅黑" panose="020B0503020204020204" pitchFamily="34" charset="-122"/>
              </a:rPr>
              <a:t>load</a:t>
            </a:r>
            <a:r>
              <a:rPr lang="zh-CN" altLang="en-US" sz="2200" dirty="0">
                <a:solidFill>
                  <a:schemeClr val="accent2"/>
                </a:solidFill>
                <a:latin typeface="微软雅黑" panose="020B0503020204020204" pitchFamily="34" charset="-122"/>
                <a:ea typeface="微软雅黑" panose="020B0503020204020204" pitchFamily="34" charset="-122"/>
              </a:rPr>
              <a:t>阻塞现象大约降低了</a:t>
            </a:r>
            <a:r>
              <a:rPr lang="en-US" altLang="zh-CN" sz="2200">
                <a:solidFill>
                  <a:schemeClr val="accent2"/>
                </a:solidFill>
                <a:latin typeface="微软雅黑" panose="020B0503020204020204" pitchFamily="34" charset="-122"/>
                <a:ea typeface="微软雅黑" panose="020B0503020204020204" pitchFamily="34" charset="-122"/>
              </a:rPr>
              <a:t>1/2~1/3</a:t>
            </a:r>
            <a:endParaRPr lang="en-US" altLang="zh-CN" sz="220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5492">
                                            <p:txEl>
                                              <p:charRg st="0" end="31"/>
                                            </p:txEl>
                                          </p:spTgt>
                                        </p:tgtEl>
                                        <p:attrNameLst>
                                          <p:attrName>style.visibility</p:attrName>
                                        </p:attrNameLst>
                                      </p:cBhvr>
                                      <p:to>
                                        <p:strVal val="visible"/>
                                      </p:to>
                                    </p:set>
                                    <p:animEffect transition="in" filter="blinds(horizontal)">
                                      <p:cBhvr>
                                        <p:cTn id="7" dur="500"/>
                                        <p:tgtEl>
                                          <p:spTgt spid="575492">
                                            <p:txEl>
                                              <p:charRg st="0" end="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3" name="标题 574465"/>
          <p:cNvSpPr>
            <a:spLocks noGrp="1"/>
          </p:cNvSpPr>
          <p:nvPr>
            <p:ph type="title"/>
          </p:nvPr>
        </p:nvSpPr>
        <p:spPr>
          <a:xfrm>
            <a:off x="830263" y="130175"/>
            <a:ext cx="7545387" cy="528638"/>
          </a:xfrm>
          <a:ln/>
        </p:spPr>
        <p:txBody>
          <a:bodyPr wrap="square" lIns="63500" tIns="25400" rIns="63500" bIns="25400" anchor="t" anchorCtr="0">
            <a:spAutoFit/>
          </a:bodyPr>
          <a:p>
            <a:r>
              <a:rPr lang="zh-CN" altLang="en-US" dirty="0"/>
              <a:t>编译器优化指令顺序解决控制冒险</a:t>
            </a:r>
            <a:endParaRPr lang="zh-CN" altLang="en-US" dirty="0"/>
          </a:p>
        </p:txBody>
      </p:sp>
      <p:sp>
        <p:nvSpPr>
          <p:cNvPr id="187394" name="文本占位符 574466"/>
          <p:cNvSpPr>
            <a:spLocks noGrp="1"/>
          </p:cNvSpPr>
          <p:nvPr>
            <p:ph idx="1"/>
          </p:nvPr>
        </p:nvSpPr>
        <p:spPr>
          <a:xfrm>
            <a:off x="136525" y="881063"/>
            <a:ext cx="8821738" cy="714375"/>
          </a:xfrm>
          <a:ln/>
        </p:spPr>
        <p:txBody>
          <a:bodyPr wrap="square" lIns="63500" tIns="25400" rIns="63500" bIns="25400" anchor="t" anchorCtr="0">
            <a:spAutoFit/>
          </a:bodyPr>
          <a:p>
            <a:pPr>
              <a:lnSpc>
                <a:spcPct val="115000"/>
              </a:lnSpc>
              <a:spcBef>
                <a:spcPct val="20000"/>
              </a:spcBef>
            </a:pPr>
            <a:r>
              <a:rPr lang="zh-CN" altLang="en-US" sz="1900" dirty="0">
                <a:latin typeface="微软雅黑" panose="020B0503020204020204" pitchFamily="34" charset="-122"/>
                <a:ea typeface="微软雅黑" panose="020B0503020204020204" pitchFamily="34" charset="-122"/>
              </a:rPr>
              <a:t>基本思想：把分支指令前面的与分支指令无关的指令调到分支指令后面执行，以填充延迟时间片</a:t>
            </a:r>
            <a:r>
              <a:rPr lang="zh-CN" altLang="en-US" sz="1900" dirty="0">
                <a:solidFill>
                  <a:srgbClr val="CC0000"/>
                </a:solidFill>
                <a:latin typeface="微软雅黑" panose="020B0503020204020204" pitchFamily="34" charset="-122"/>
                <a:ea typeface="微软雅黑" panose="020B0503020204020204" pitchFamily="34" charset="-122"/>
              </a:rPr>
              <a:t>（也称分支延迟槽</a:t>
            </a:r>
            <a:r>
              <a:rPr lang="en-US" altLang="zh-CN" sz="1900">
                <a:solidFill>
                  <a:srgbClr val="CC0000"/>
                </a:solidFill>
                <a:latin typeface="微软雅黑" panose="020B0503020204020204" pitchFamily="34" charset="-122"/>
                <a:ea typeface="微软雅黑" panose="020B0503020204020204" pitchFamily="34" charset="-122"/>
              </a:rPr>
              <a:t>Branch Delay slot</a:t>
            </a:r>
            <a:r>
              <a:rPr lang="zh-CN" altLang="en-US" sz="1900" dirty="0">
                <a:solidFill>
                  <a:srgbClr val="CC0000"/>
                </a:solidFill>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，不够时用</a:t>
            </a:r>
            <a:r>
              <a:rPr lang="en-US" altLang="zh-CN" sz="1900" err="1">
                <a:latin typeface="微软雅黑" panose="020B0503020204020204" pitchFamily="34" charset="-122"/>
                <a:ea typeface="微软雅黑" panose="020B0503020204020204" pitchFamily="34" charset="-122"/>
              </a:rPr>
              <a:t>nop</a:t>
            </a:r>
            <a:r>
              <a:rPr lang="zh-CN" altLang="en-US" sz="1900" dirty="0">
                <a:latin typeface="微软雅黑" panose="020B0503020204020204" pitchFamily="34" charset="-122"/>
                <a:ea typeface="微软雅黑" panose="020B0503020204020204" pitchFamily="34" charset="-122"/>
              </a:rPr>
              <a:t>填充</a:t>
            </a:r>
            <a:endParaRPr lang="zh-CN" altLang="en-US" sz="1900" dirty="0">
              <a:latin typeface="微软雅黑" panose="020B0503020204020204" pitchFamily="34" charset="-122"/>
              <a:ea typeface="微软雅黑" panose="020B0503020204020204" pitchFamily="34" charset="-122"/>
            </a:endParaRPr>
          </a:p>
        </p:txBody>
      </p:sp>
      <p:sp>
        <p:nvSpPr>
          <p:cNvPr id="574468" name="文本框 574467"/>
          <p:cNvSpPr txBox="1"/>
          <p:nvPr/>
        </p:nvSpPr>
        <p:spPr>
          <a:xfrm>
            <a:off x="188913" y="1825625"/>
            <a:ext cx="3678237" cy="701675"/>
          </a:xfrm>
          <a:prstGeom prst="rect">
            <a:avLst/>
          </a:prstGeom>
          <a:noFill/>
          <a:ln w="12700">
            <a:noFill/>
          </a:ln>
        </p:spPr>
        <p:txBody>
          <a:bodyPr anchor="t" anchorCtr="0">
            <a:spAutoFit/>
          </a:bodyPr>
          <a:p>
            <a:pPr eaLnBrk="0" hangingPunct="0">
              <a:spcBef>
                <a:spcPct val="50000"/>
              </a:spcBef>
            </a:pPr>
            <a:r>
              <a:rPr lang="zh-CN" altLang="en-US" sz="2000" dirty="0">
                <a:solidFill>
                  <a:srgbClr val="008000"/>
                </a:solidFill>
                <a:latin typeface="微软雅黑" panose="020B0503020204020204" pitchFamily="34" charset="-122"/>
                <a:ea typeface="微软雅黑" panose="020B0503020204020204" pitchFamily="34" charset="-122"/>
              </a:rPr>
              <a:t>如何对以下程序段进行分支延迟调度？（假定时间片为</a:t>
            </a:r>
            <a:r>
              <a:rPr lang="en-US" altLang="zh-CN" sz="2000">
                <a:solidFill>
                  <a:srgbClr val="008000"/>
                </a:solidFill>
                <a:latin typeface="微软雅黑" panose="020B0503020204020204" pitchFamily="34" charset="-122"/>
                <a:ea typeface="微软雅黑" panose="020B0503020204020204" pitchFamily="34" charset="-122"/>
              </a:rPr>
              <a:t>2</a:t>
            </a:r>
            <a:r>
              <a:rPr lang="zh-CN" altLang="en-US" sz="2000" dirty="0">
                <a:solidFill>
                  <a:srgbClr val="008000"/>
                </a:solidFill>
                <a:latin typeface="微软雅黑" panose="020B0503020204020204" pitchFamily="34" charset="-122"/>
                <a:ea typeface="微软雅黑" panose="020B0503020204020204" pitchFamily="34" charset="-122"/>
              </a:rPr>
              <a:t>）</a:t>
            </a:r>
            <a:endParaRPr lang="zh-CN" altLang="en-US" sz="2000" dirty="0">
              <a:solidFill>
                <a:srgbClr val="008000"/>
              </a:solidFill>
              <a:latin typeface="微软雅黑" panose="020B0503020204020204" pitchFamily="34" charset="-122"/>
              <a:ea typeface="微软雅黑" panose="020B0503020204020204" pitchFamily="34" charset="-122"/>
            </a:endParaRPr>
          </a:p>
        </p:txBody>
      </p:sp>
      <p:sp>
        <p:nvSpPr>
          <p:cNvPr id="574469" name="文本框 574468"/>
          <p:cNvSpPr txBox="1"/>
          <p:nvPr/>
        </p:nvSpPr>
        <p:spPr>
          <a:xfrm>
            <a:off x="4545013" y="5927725"/>
            <a:ext cx="4076700" cy="701675"/>
          </a:xfrm>
          <a:prstGeom prst="rect">
            <a:avLst/>
          </a:prstGeom>
          <a:noFill/>
          <a:ln w="12700">
            <a:noFill/>
          </a:ln>
        </p:spPr>
        <p:txBody>
          <a:bodyPr anchor="t" anchorCtr="0">
            <a:spAutoFit/>
          </a:bodyPr>
          <a:p>
            <a:pPr eaLnBrk="0" hangingPunct="0">
              <a:spcBef>
                <a:spcPct val="20000"/>
              </a:spcBef>
            </a:pPr>
            <a:r>
              <a:rPr lang="zh-CN" altLang="en-US" sz="2000" dirty="0">
                <a:solidFill>
                  <a:schemeClr val="accent2"/>
                </a:solidFill>
                <a:latin typeface="微软雅黑" panose="020B0503020204020204" pitchFamily="34" charset="-122"/>
                <a:ea typeface="微软雅黑" panose="020B0503020204020204" pitchFamily="34" charset="-122"/>
              </a:rPr>
              <a:t>调度后，无需在硬件线路中阻塞</a:t>
            </a:r>
            <a:r>
              <a:rPr lang="en-US" altLang="zh-CN" sz="2000">
                <a:solidFill>
                  <a:schemeClr val="accent2"/>
                </a:solidFill>
                <a:latin typeface="微软雅黑" panose="020B0503020204020204" pitchFamily="34" charset="-122"/>
                <a:ea typeface="微软雅黑" panose="020B0503020204020204" pitchFamily="34" charset="-122"/>
              </a:rPr>
              <a:t>branch</a:t>
            </a:r>
            <a:r>
              <a:rPr lang="zh-CN" altLang="en-US" sz="2000" dirty="0">
                <a:solidFill>
                  <a:schemeClr val="accent2"/>
                </a:solidFill>
                <a:latin typeface="微软雅黑" panose="020B0503020204020204" pitchFamily="34" charset="-122"/>
                <a:ea typeface="微软雅黑" panose="020B0503020204020204" pitchFamily="34" charset="-122"/>
              </a:rPr>
              <a:t>指令后面指令的执行</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grpSp>
        <p:nvGrpSpPr>
          <p:cNvPr id="574470" name="组合 574469"/>
          <p:cNvGrpSpPr/>
          <p:nvPr/>
        </p:nvGrpSpPr>
        <p:grpSpPr>
          <a:xfrm>
            <a:off x="6553200" y="2757488"/>
            <a:ext cx="2590800" cy="3346450"/>
            <a:chOff x="2536" y="1760"/>
            <a:chExt cx="1632" cy="2063"/>
          </a:xfrm>
        </p:grpSpPr>
        <p:sp>
          <p:nvSpPr>
            <p:cNvPr id="187398" name="文本框 574470"/>
            <p:cNvSpPr txBox="1"/>
            <p:nvPr/>
          </p:nvSpPr>
          <p:spPr>
            <a:xfrm>
              <a:off x="2672" y="1760"/>
              <a:ext cx="1496" cy="2063"/>
            </a:xfrm>
            <a:prstGeom prst="rect">
              <a:avLst/>
            </a:prstGeom>
            <a:noFill/>
            <a:ln w="12700">
              <a:noFill/>
            </a:ln>
          </p:spPr>
          <p:txBody>
            <a:bodyPr anchor="t" anchorCtr="0">
              <a:spAutoFit/>
            </a:bodyPr>
            <a:p>
              <a:pPr eaLnBrk="0" hangingPunct="0">
                <a:lnSpc>
                  <a:spcPct val="120000"/>
                </a:lnSpc>
                <a:spcBef>
                  <a:spcPct val="20000"/>
                </a:spcBef>
              </a:pPr>
              <a:r>
                <a:rPr lang="en-US" altLang="zh-CN" sz="2000" err="1">
                  <a:latin typeface="Arial" panose="020B0604020202020204" pitchFamily="34" charset="0"/>
                  <a:ea typeface="宋体" panose="02010600030101010101" pitchFamily="2" charset="-122"/>
                </a:rPr>
                <a:t>lw</a:t>
              </a:r>
              <a:r>
                <a:rPr lang="en-US" altLang="zh-CN" sz="2000">
                  <a:latin typeface="Arial" panose="020B0604020202020204" pitchFamily="34" charset="0"/>
                  <a:ea typeface="宋体" panose="02010600030101010101" pitchFamily="2" charset="-122"/>
                </a:rPr>
                <a:t> $3, 0($2)</a:t>
              </a:r>
              <a:endParaRPr lang="en-US" altLang="zh-CN" sz="2000">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rPr>
                <a:t>add  $6, $4, $2</a:t>
              </a:r>
              <a:endParaRPr lang="en-US" altLang="zh-CN" sz="2000">
                <a:solidFill>
                  <a:schemeClr val="accent2"/>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solidFill>
                    <a:srgbClr val="008000"/>
                  </a:solidFill>
                  <a:latin typeface="Arial" panose="020B0604020202020204" pitchFamily="34" charset="0"/>
                  <a:ea typeface="宋体" panose="02010600030101010101" pitchFamily="2" charset="-122"/>
                </a:rPr>
                <a:t>beq</a:t>
              </a:r>
              <a:r>
                <a:rPr lang="en-US" altLang="zh-CN" sz="2000">
                  <a:solidFill>
                    <a:srgbClr val="008000"/>
                  </a:solidFill>
                  <a:latin typeface="Arial" panose="020B0604020202020204" pitchFamily="34" charset="0"/>
                  <a:ea typeface="宋体" panose="02010600030101010101" pitchFamily="2" charset="-122"/>
                </a:rPr>
                <a:t> $3, $5, 2</a:t>
              </a:r>
              <a:endParaRPr lang="en-US" altLang="zh-CN" sz="2000">
                <a:solidFill>
                  <a:srgbClr val="008000"/>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solidFill>
                    <a:srgbClr val="CC0000"/>
                  </a:solidFill>
                  <a:latin typeface="Arial" panose="020B0604020202020204" pitchFamily="34" charset="0"/>
                  <a:ea typeface="宋体" panose="02010600030101010101" pitchFamily="2" charset="-122"/>
                </a:rPr>
                <a:t>lw</a:t>
              </a:r>
              <a:r>
                <a:rPr lang="en-US" altLang="zh-CN" sz="2000">
                  <a:solidFill>
                    <a:srgbClr val="CC0000"/>
                  </a:solidFill>
                  <a:latin typeface="Arial" panose="020B0604020202020204" pitchFamily="34" charset="0"/>
                  <a:ea typeface="宋体" panose="02010600030101010101" pitchFamily="2" charset="-122"/>
                </a:rPr>
                <a:t> $1, 0($2)</a:t>
              </a:r>
              <a:endParaRPr lang="en-US" altLang="zh-CN" sz="2000">
                <a:solidFill>
                  <a:srgbClr val="CC0000"/>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add $3, $3,$2</a:t>
              </a:r>
              <a:endParaRPr lang="en-US" altLang="zh-CN" sz="2000">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latin typeface="Arial" panose="020B0604020202020204" pitchFamily="34" charset="0"/>
                  <a:ea typeface="宋体" panose="02010600030101010101" pitchFamily="2" charset="-122"/>
                </a:rPr>
                <a:t>sw</a:t>
              </a:r>
              <a:r>
                <a:rPr lang="en-US" altLang="zh-CN" sz="2000">
                  <a:latin typeface="Arial" panose="020B0604020202020204" pitchFamily="34" charset="0"/>
                  <a:ea typeface="宋体" panose="02010600030101010101" pitchFamily="2" charset="-122"/>
                </a:rPr>
                <a:t> $1, 0($2)</a:t>
              </a:r>
              <a:r>
                <a:rPr lang="en-US" altLang="zh-CN" sz="2000">
                  <a:latin typeface="Times New Roman" panose="02020603050405020304" pitchFamily="18" charset="0"/>
                  <a:ea typeface="宋体" panose="02010600030101010101" pitchFamily="2" charset="-122"/>
                </a:rPr>
                <a:t> </a:t>
              </a:r>
              <a:endParaRPr lang="en-US" altLang="zh-CN" sz="2000">
                <a:latin typeface="Times New Roman" panose="02020603050405020304" pitchFamily="18" charset="0"/>
                <a:ea typeface="宋体" panose="02010600030101010101" pitchFamily="2" charset="-122"/>
              </a:endParaRPr>
            </a:p>
            <a:p>
              <a:pPr eaLnBrk="0" hangingPunct="0"/>
              <a:r>
                <a:rPr lang="en-US" altLang="zh-CN" sz="200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a:p>
              <a:pPr eaLnBrk="0" hangingPunct="0">
                <a:spcBef>
                  <a:spcPct val="50000"/>
                </a:spcBef>
              </a:pPr>
              <a:endParaRPr lang="en-US" altLang="zh-CN" sz="2000">
                <a:latin typeface="Arial" panose="020B0604020202020204" pitchFamily="34" charset="0"/>
                <a:ea typeface="宋体" panose="02010600030101010101" pitchFamily="2" charset="-122"/>
              </a:endParaRPr>
            </a:p>
          </p:txBody>
        </p:sp>
        <p:sp>
          <p:nvSpPr>
            <p:cNvPr id="187399" name="矩形 574471"/>
            <p:cNvSpPr/>
            <p:nvPr/>
          </p:nvSpPr>
          <p:spPr>
            <a:xfrm>
              <a:off x="2536" y="1784"/>
              <a:ext cx="1352" cy="1816"/>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grpSp>
        <p:nvGrpSpPr>
          <p:cNvPr id="574473" name="组合 574472"/>
          <p:cNvGrpSpPr/>
          <p:nvPr/>
        </p:nvGrpSpPr>
        <p:grpSpPr>
          <a:xfrm>
            <a:off x="292100" y="2768600"/>
            <a:ext cx="2768600" cy="3346450"/>
            <a:chOff x="184" y="1744"/>
            <a:chExt cx="1744" cy="2108"/>
          </a:xfrm>
        </p:grpSpPr>
        <p:sp>
          <p:nvSpPr>
            <p:cNvPr id="187401" name="文本框 574473"/>
            <p:cNvSpPr txBox="1"/>
            <p:nvPr/>
          </p:nvSpPr>
          <p:spPr>
            <a:xfrm>
              <a:off x="240" y="1744"/>
              <a:ext cx="1256" cy="2108"/>
            </a:xfrm>
            <a:prstGeom prst="rect">
              <a:avLst/>
            </a:prstGeom>
            <a:noFill/>
            <a:ln w="12700">
              <a:noFill/>
            </a:ln>
          </p:spPr>
          <p:txBody>
            <a:bodyPr anchor="t" anchorCtr="0">
              <a:spAutoFit/>
            </a:bodyPr>
            <a:p>
              <a:pPr eaLnBrk="0" hangingPunct="0">
                <a:lnSpc>
                  <a:spcPct val="120000"/>
                </a:lnSpc>
                <a:spcBef>
                  <a:spcPct val="20000"/>
                </a:spcBef>
              </a:pPr>
              <a:r>
                <a:rPr lang="en-US" altLang="zh-CN" sz="2000" err="1">
                  <a:solidFill>
                    <a:srgbClr val="CC0000"/>
                  </a:solidFill>
                  <a:latin typeface="Arial" panose="020B0604020202020204" pitchFamily="34" charset="0"/>
                  <a:ea typeface="宋体" panose="02010600030101010101" pitchFamily="2" charset="-122"/>
                </a:rPr>
                <a:t>lw</a:t>
              </a:r>
              <a:r>
                <a:rPr lang="en-US" altLang="zh-CN" sz="2000">
                  <a:solidFill>
                    <a:srgbClr val="CC0000"/>
                  </a:solidFill>
                  <a:latin typeface="Arial" panose="020B0604020202020204" pitchFamily="34" charset="0"/>
                  <a:ea typeface="宋体" panose="02010600030101010101" pitchFamily="2" charset="-122"/>
                </a:rPr>
                <a:t> $1, 0($2)</a:t>
              </a:r>
              <a:endParaRPr lang="en-US" altLang="zh-CN" sz="2000">
                <a:solidFill>
                  <a:srgbClr val="CC0000"/>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latin typeface="Arial" panose="020B0604020202020204" pitchFamily="34" charset="0"/>
                  <a:ea typeface="宋体" panose="02010600030101010101" pitchFamily="2" charset="-122"/>
                </a:rPr>
                <a:t>lw</a:t>
              </a:r>
              <a:r>
                <a:rPr lang="en-US" altLang="zh-CN" sz="2000">
                  <a:latin typeface="Arial" panose="020B0604020202020204" pitchFamily="34" charset="0"/>
                  <a:ea typeface="宋体" panose="02010600030101010101" pitchFamily="2" charset="-122"/>
                </a:rPr>
                <a:t> </a:t>
              </a:r>
              <a:r>
                <a:rPr lang="en-US" altLang="zh-CN" sz="2000">
                  <a:solidFill>
                    <a:srgbClr val="CF922F"/>
                  </a:solidFill>
                  <a:latin typeface="Arial" panose="020B0604020202020204" pitchFamily="34" charset="0"/>
                  <a:ea typeface="宋体" panose="02010600030101010101" pitchFamily="2" charset="-122"/>
                </a:rPr>
                <a:t>$3</a:t>
              </a:r>
              <a:r>
                <a:rPr lang="en-US" altLang="zh-CN" sz="2000">
                  <a:latin typeface="Arial" panose="020B0604020202020204" pitchFamily="34" charset="0"/>
                  <a:ea typeface="宋体" panose="02010600030101010101" pitchFamily="2" charset="-122"/>
                </a:rPr>
                <a:t>, 0($2)</a:t>
              </a:r>
              <a:endParaRPr lang="en-US" altLang="zh-CN" sz="2000">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rPr>
                <a:t>add  $6, $4, $2</a:t>
              </a:r>
              <a:endParaRPr lang="en-US" altLang="zh-CN" sz="2000">
                <a:solidFill>
                  <a:schemeClr val="accent2"/>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solidFill>
                    <a:srgbClr val="008000"/>
                  </a:solidFill>
                  <a:latin typeface="Arial" panose="020B0604020202020204" pitchFamily="34" charset="0"/>
                  <a:ea typeface="宋体" panose="02010600030101010101" pitchFamily="2" charset="-122"/>
                </a:rPr>
                <a:t>beq</a:t>
              </a:r>
              <a:r>
                <a:rPr lang="en-US" altLang="zh-CN" sz="2000">
                  <a:solidFill>
                    <a:srgbClr val="008000"/>
                  </a:solidFill>
                  <a:latin typeface="Arial" panose="020B0604020202020204" pitchFamily="34" charset="0"/>
                  <a:ea typeface="宋体" panose="02010600030101010101" pitchFamily="2" charset="-122"/>
                </a:rPr>
                <a:t> </a:t>
              </a:r>
              <a:r>
                <a:rPr lang="en-US" altLang="zh-CN" sz="2000">
                  <a:solidFill>
                    <a:srgbClr val="CF922F"/>
                  </a:solidFill>
                  <a:latin typeface="Arial" panose="020B0604020202020204" pitchFamily="34" charset="0"/>
                  <a:ea typeface="宋体" panose="02010600030101010101" pitchFamily="2" charset="-122"/>
                </a:rPr>
                <a:t>$3</a:t>
              </a:r>
              <a:r>
                <a:rPr lang="en-US" altLang="zh-CN" sz="2000">
                  <a:solidFill>
                    <a:srgbClr val="008000"/>
                  </a:solidFill>
                  <a:latin typeface="Arial" panose="020B0604020202020204" pitchFamily="34" charset="0"/>
                  <a:ea typeface="宋体" panose="02010600030101010101" pitchFamily="2" charset="-122"/>
                </a:rPr>
                <a:t>, $5, 2</a:t>
              </a:r>
              <a:endParaRPr lang="en-US" altLang="zh-CN" sz="2000">
                <a:solidFill>
                  <a:srgbClr val="008000"/>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add $3, $3,$2</a:t>
              </a:r>
              <a:endParaRPr lang="en-US" altLang="zh-CN" sz="2000">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latin typeface="Arial" panose="020B0604020202020204" pitchFamily="34" charset="0"/>
                  <a:ea typeface="宋体" panose="02010600030101010101" pitchFamily="2" charset="-122"/>
                </a:rPr>
                <a:t>sw</a:t>
              </a:r>
              <a:r>
                <a:rPr lang="en-US" altLang="zh-CN" sz="2000">
                  <a:latin typeface="Arial" panose="020B0604020202020204" pitchFamily="34" charset="0"/>
                  <a:ea typeface="宋体" panose="02010600030101010101" pitchFamily="2" charset="-122"/>
                </a:rPr>
                <a:t> $1, 0($2)</a:t>
              </a:r>
              <a:r>
                <a:rPr lang="en-US" altLang="zh-CN" sz="2000">
                  <a:latin typeface="Times New Roman" panose="02020603050405020304" pitchFamily="18" charset="0"/>
                  <a:ea typeface="宋体" panose="02010600030101010101" pitchFamily="2" charset="-122"/>
                </a:rPr>
                <a:t> </a:t>
              </a:r>
              <a:endParaRPr lang="en-US" altLang="zh-CN" sz="2000">
                <a:latin typeface="Times New Roman" panose="02020603050405020304" pitchFamily="18" charset="0"/>
                <a:ea typeface="宋体" panose="02010600030101010101" pitchFamily="2" charset="-122"/>
              </a:endParaRPr>
            </a:p>
            <a:p>
              <a:pPr eaLnBrk="0" hangingPunct="0"/>
              <a:r>
                <a:rPr lang="en-US" altLang="zh-CN" sz="200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a:p>
              <a:pPr eaLnBrk="0" hangingPunct="0">
                <a:spcBef>
                  <a:spcPct val="50000"/>
                </a:spcBef>
              </a:pPr>
              <a:endParaRPr lang="en-US" altLang="zh-CN" sz="2000">
                <a:latin typeface="Arial" panose="020B0604020202020204" pitchFamily="34" charset="0"/>
                <a:ea typeface="宋体" panose="02010600030101010101" pitchFamily="2" charset="-122"/>
              </a:endParaRPr>
            </a:p>
          </p:txBody>
        </p:sp>
        <p:sp>
          <p:nvSpPr>
            <p:cNvPr id="187402" name="矩形 574474"/>
            <p:cNvSpPr/>
            <p:nvPr/>
          </p:nvSpPr>
          <p:spPr>
            <a:xfrm>
              <a:off x="184" y="1784"/>
              <a:ext cx="1744" cy="1816"/>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574476" name="矩形 574475"/>
          <p:cNvSpPr/>
          <p:nvPr/>
        </p:nvSpPr>
        <p:spPr>
          <a:xfrm>
            <a:off x="215900" y="5903913"/>
            <a:ext cx="3422650" cy="701675"/>
          </a:xfrm>
          <a:prstGeom prst="rect">
            <a:avLst/>
          </a:prstGeom>
          <a:noFill/>
          <a:ln w="12700">
            <a:noFill/>
          </a:ln>
        </p:spPr>
        <p:txBody>
          <a:bodyPr anchor="t" anchorCtr="0">
            <a:spAutoFit/>
          </a:bodyPr>
          <a:p>
            <a:pPr eaLnBrk="0" hangingPunct="0"/>
            <a:r>
              <a:rPr lang="zh-CN" altLang="en-US" sz="2000" dirty="0">
                <a:solidFill>
                  <a:schemeClr val="accent2"/>
                </a:solidFill>
                <a:latin typeface="微软雅黑" panose="020B0503020204020204" pitchFamily="34" charset="-122"/>
                <a:ea typeface="微软雅黑" panose="020B0503020204020204" pitchFamily="34" charset="-122"/>
              </a:rPr>
              <a:t>调度后可能带来其他问题：产生新的</a:t>
            </a:r>
            <a:r>
              <a:rPr lang="en-US" altLang="zh-CN" sz="2000">
                <a:solidFill>
                  <a:schemeClr val="accent2"/>
                </a:solidFill>
                <a:latin typeface="微软雅黑" panose="020B0503020204020204" pitchFamily="34" charset="-122"/>
                <a:ea typeface="微软雅黑" panose="020B0503020204020204" pitchFamily="34" charset="-122"/>
              </a:rPr>
              <a:t>load-use</a:t>
            </a:r>
            <a:r>
              <a:rPr lang="zh-CN" altLang="en-US" sz="2000" dirty="0">
                <a:solidFill>
                  <a:schemeClr val="accent2"/>
                </a:solidFill>
                <a:latin typeface="微软雅黑" panose="020B0503020204020204" pitchFamily="34" charset="-122"/>
                <a:ea typeface="微软雅黑" panose="020B0503020204020204" pitchFamily="34" charset="-122"/>
              </a:rPr>
              <a:t>数据冒险</a:t>
            </a:r>
            <a:endParaRPr lang="zh-CN" altLang="en-US" sz="2000" dirty="0">
              <a:solidFill>
                <a:schemeClr val="accent2"/>
              </a:solidFill>
              <a:latin typeface="微软雅黑" panose="020B0503020204020204" pitchFamily="34" charset="-122"/>
              <a:ea typeface="微软雅黑" panose="020B0503020204020204" pitchFamily="34" charset="-122"/>
            </a:endParaRPr>
          </a:p>
        </p:txBody>
      </p:sp>
      <p:sp>
        <p:nvSpPr>
          <p:cNvPr id="574477" name="任意多边形 574476"/>
          <p:cNvSpPr/>
          <p:nvPr/>
        </p:nvSpPr>
        <p:spPr>
          <a:xfrm>
            <a:off x="1711325" y="3113088"/>
            <a:ext cx="755650" cy="1374775"/>
          </a:xfrm>
          <a:custGeom>
            <a:avLst/>
            <a:gdLst/>
            <a:ahLst/>
            <a:cxnLst/>
            <a:pathLst>
              <a:path w="309" h="560">
                <a:moveTo>
                  <a:pt x="80" y="0"/>
                </a:moveTo>
                <a:cubicBezTo>
                  <a:pt x="160" y="18"/>
                  <a:pt x="241" y="37"/>
                  <a:pt x="272" y="112"/>
                </a:cubicBezTo>
                <a:cubicBezTo>
                  <a:pt x="303" y="187"/>
                  <a:pt x="309" y="373"/>
                  <a:pt x="264" y="448"/>
                </a:cubicBezTo>
                <a:cubicBezTo>
                  <a:pt x="219" y="523"/>
                  <a:pt x="109" y="541"/>
                  <a:pt x="0" y="560"/>
                </a:cubicBezTo>
              </a:path>
            </a:pathLst>
          </a:custGeom>
          <a:noFill/>
          <a:ln w="38100" cap="flat" cmpd="sng">
            <a:solidFill>
              <a:srgbClr val="FF0000"/>
            </a:solidFill>
            <a:prstDash val="solid"/>
            <a:round/>
            <a:headEnd type="none" w="med" len="med"/>
            <a:tailEnd type="triangle" w="med" len="med"/>
          </a:ln>
        </p:spPr>
        <p:txBody>
          <a:bodyPr/>
          <a:p>
            <a:endParaRPr lang="zh-CN" altLang="en-US"/>
          </a:p>
        </p:txBody>
      </p:sp>
      <p:sp>
        <p:nvSpPr>
          <p:cNvPr id="574478" name="任意多边形 574477"/>
          <p:cNvSpPr/>
          <p:nvPr/>
        </p:nvSpPr>
        <p:spPr>
          <a:xfrm rot="713319">
            <a:off x="2066925" y="3849688"/>
            <a:ext cx="628650" cy="739775"/>
          </a:xfrm>
          <a:custGeom>
            <a:avLst/>
            <a:gdLst/>
            <a:ahLst/>
            <a:cxnLst/>
            <a:pathLst>
              <a:path w="309" h="560">
                <a:moveTo>
                  <a:pt x="80" y="0"/>
                </a:moveTo>
                <a:cubicBezTo>
                  <a:pt x="160" y="18"/>
                  <a:pt x="241" y="37"/>
                  <a:pt x="272" y="112"/>
                </a:cubicBezTo>
                <a:cubicBezTo>
                  <a:pt x="303" y="187"/>
                  <a:pt x="309" y="373"/>
                  <a:pt x="264" y="448"/>
                </a:cubicBezTo>
                <a:cubicBezTo>
                  <a:pt x="219" y="523"/>
                  <a:pt x="109" y="541"/>
                  <a:pt x="0" y="560"/>
                </a:cubicBezTo>
              </a:path>
            </a:pathLst>
          </a:custGeom>
          <a:noFill/>
          <a:ln w="38100" cap="flat" cmpd="sng">
            <a:solidFill>
              <a:schemeClr val="accent2"/>
            </a:solidFill>
            <a:prstDash val="solid"/>
            <a:round/>
            <a:headEnd type="none" w="med" len="med"/>
            <a:tailEnd type="triangle" w="med" len="med"/>
          </a:ln>
        </p:spPr>
        <p:txBody>
          <a:bodyPr/>
          <a:p>
            <a:endParaRPr lang="zh-CN" altLang="en-US"/>
          </a:p>
        </p:txBody>
      </p:sp>
      <p:grpSp>
        <p:nvGrpSpPr>
          <p:cNvPr id="574479" name="组合 574478"/>
          <p:cNvGrpSpPr/>
          <p:nvPr/>
        </p:nvGrpSpPr>
        <p:grpSpPr>
          <a:xfrm>
            <a:off x="2387600" y="4356100"/>
            <a:ext cx="203200" cy="292100"/>
            <a:chOff x="4640" y="2696"/>
            <a:chExt cx="128" cy="184"/>
          </a:xfrm>
        </p:grpSpPr>
        <p:sp>
          <p:nvSpPr>
            <p:cNvPr id="187407" name="直接连接符 574479"/>
            <p:cNvSpPr/>
            <p:nvPr/>
          </p:nvSpPr>
          <p:spPr>
            <a:xfrm flipH="1">
              <a:off x="4656" y="2696"/>
              <a:ext cx="96" cy="184"/>
            </a:xfrm>
            <a:prstGeom prst="line">
              <a:avLst/>
            </a:prstGeom>
            <a:ln w="28575" cap="flat" cmpd="sng">
              <a:solidFill>
                <a:schemeClr val="tx1"/>
              </a:solidFill>
              <a:prstDash val="solid"/>
              <a:round/>
              <a:headEnd type="none" w="med" len="med"/>
              <a:tailEnd type="none" w="med" len="med"/>
            </a:ln>
          </p:spPr>
        </p:sp>
        <p:sp>
          <p:nvSpPr>
            <p:cNvPr id="187408" name="直接连接符 574480"/>
            <p:cNvSpPr/>
            <p:nvPr/>
          </p:nvSpPr>
          <p:spPr>
            <a:xfrm>
              <a:off x="4640" y="2720"/>
              <a:ext cx="128" cy="128"/>
            </a:xfrm>
            <a:prstGeom prst="line">
              <a:avLst/>
            </a:prstGeom>
            <a:ln w="28575" cap="flat" cmpd="sng">
              <a:solidFill>
                <a:schemeClr val="tx1"/>
              </a:solidFill>
              <a:prstDash val="solid"/>
              <a:round/>
              <a:headEnd type="none" w="med" len="med"/>
              <a:tailEnd type="none" w="med" len="med"/>
            </a:ln>
          </p:spPr>
        </p:sp>
      </p:grpSp>
      <p:sp>
        <p:nvSpPr>
          <p:cNvPr id="574483" name="文本框 574482"/>
          <p:cNvSpPr txBox="1"/>
          <p:nvPr/>
        </p:nvSpPr>
        <p:spPr>
          <a:xfrm>
            <a:off x="5794375" y="1947863"/>
            <a:ext cx="3206750" cy="396875"/>
          </a:xfrm>
          <a:prstGeom prst="rect">
            <a:avLst/>
          </a:prstGeom>
          <a:noFill/>
          <a:ln w="127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若分支延迟时间片减少为</a:t>
            </a:r>
            <a:r>
              <a:rPr lang="en-US" altLang="zh-CN" sz="200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p:txBody>
      </p:sp>
      <p:grpSp>
        <p:nvGrpSpPr>
          <p:cNvPr id="574484" name="组合 574483"/>
          <p:cNvGrpSpPr/>
          <p:nvPr/>
        </p:nvGrpSpPr>
        <p:grpSpPr>
          <a:xfrm>
            <a:off x="3111500" y="3810000"/>
            <a:ext cx="1008063" cy="825500"/>
            <a:chOff x="2024" y="2400"/>
            <a:chExt cx="552" cy="520"/>
          </a:xfrm>
        </p:grpSpPr>
        <p:sp>
          <p:nvSpPr>
            <p:cNvPr id="187411" name="右箭头 574484"/>
            <p:cNvSpPr/>
            <p:nvPr/>
          </p:nvSpPr>
          <p:spPr>
            <a:xfrm>
              <a:off x="2024" y="2400"/>
              <a:ext cx="496" cy="520"/>
            </a:xfrm>
            <a:prstGeom prst="rightArrow">
              <a:avLst>
                <a:gd name="adj1" fmla="val 50000"/>
                <a:gd name="adj2" fmla="val 25000"/>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sp>
          <p:nvSpPr>
            <p:cNvPr id="187412" name="文本框 574485"/>
            <p:cNvSpPr txBox="1"/>
            <p:nvPr/>
          </p:nvSpPr>
          <p:spPr>
            <a:xfrm>
              <a:off x="2024" y="2560"/>
              <a:ext cx="552" cy="231"/>
            </a:xfrm>
            <a:prstGeom prst="rect">
              <a:avLst/>
            </a:prstGeom>
            <a:noFill/>
            <a:ln w="12700">
              <a:noFill/>
            </a:ln>
          </p:spPr>
          <p:txBody>
            <a:bodyPr anchor="t" anchorCtr="0">
              <a:spAutoFit/>
            </a:bodyPr>
            <a:p>
              <a:pPr eaLnBrk="0" hangingPunct="0">
                <a:spcBef>
                  <a:spcPct val="50000"/>
                </a:spcBef>
              </a:pPr>
              <a:r>
                <a:rPr lang="zh-CN" altLang="en-US" sz="1800" dirty="0">
                  <a:latin typeface="Times New Roman" panose="02020603050405020304" pitchFamily="18" charset="0"/>
                  <a:ea typeface="黑体" panose="02010609060101010101" pitchFamily="49" charset="-122"/>
                </a:rPr>
                <a:t>调度后</a:t>
              </a:r>
              <a:endParaRPr lang="zh-CN" altLang="en-US" sz="1800" dirty="0">
                <a:latin typeface="Times New Roman" panose="02020603050405020304" pitchFamily="18" charset="0"/>
                <a:ea typeface="黑体" panose="02010609060101010101" pitchFamily="49" charset="-122"/>
              </a:endParaRPr>
            </a:p>
          </p:txBody>
        </p:sp>
      </p:grpSp>
      <p:grpSp>
        <p:nvGrpSpPr>
          <p:cNvPr id="574487" name="组合 574486"/>
          <p:cNvGrpSpPr/>
          <p:nvPr/>
        </p:nvGrpSpPr>
        <p:grpSpPr>
          <a:xfrm>
            <a:off x="4089400" y="2755900"/>
            <a:ext cx="2159000" cy="3009900"/>
            <a:chOff x="4400" y="1744"/>
            <a:chExt cx="1360" cy="1896"/>
          </a:xfrm>
        </p:grpSpPr>
        <p:sp>
          <p:nvSpPr>
            <p:cNvPr id="187414" name="文本框 574487"/>
            <p:cNvSpPr txBox="1"/>
            <p:nvPr/>
          </p:nvSpPr>
          <p:spPr>
            <a:xfrm>
              <a:off x="4424" y="1744"/>
              <a:ext cx="1336" cy="1896"/>
            </a:xfrm>
            <a:prstGeom prst="rect">
              <a:avLst/>
            </a:prstGeom>
            <a:noFill/>
            <a:ln w="12700">
              <a:noFill/>
            </a:ln>
          </p:spPr>
          <p:txBody>
            <a:bodyPr anchor="t" anchorCtr="0">
              <a:spAutoFit/>
            </a:bodyPr>
            <a:p>
              <a:pPr eaLnBrk="0" hangingPunct="0">
                <a:lnSpc>
                  <a:spcPct val="120000"/>
                </a:lnSpc>
                <a:spcBef>
                  <a:spcPct val="20000"/>
                </a:spcBef>
              </a:pPr>
              <a:r>
                <a:rPr lang="en-US" altLang="zh-CN" sz="2000" err="1">
                  <a:latin typeface="Arial" panose="020B0604020202020204" pitchFamily="34" charset="0"/>
                  <a:ea typeface="宋体" panose="02010600030101010101" pitchFamily="2" charset="-122"/>
                </a:rPr>
                <a:t>lw</a:t>
              </a:r>
              <a:r>
                <a:rPr lang="en-US" altLang="zh-CN" sz="2000">
                  <a:latin typeface="Arial" panose="020B0604020202020204" pitchFamily="34" charset="0"/>
                  <a:ea typeface="宋体" panose="02010600030101010101" pitchFamily="2" charset="-122"/>
                </a:rPr>
                <a:t> $3, 0($2)</a:t>
              </a:r>
              <a:endParaRPr lang="en-US" altLang="zh-CN" sz="2000">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a:solidFill>
                    <a:schemeClr val="accent2"/>
                  </a:solidFill>
                  <a:latin typeface="Arial" panose="020B0604020202020204" pitchFamily="34" charset="0"/>
                  <a:ea typeface="宋体" panose="02010600030101010101" pitchFamily="2" charset="-122"/>
                </a:rPr>
                <a:t>add  $6, $4, $2</a:t>
              </a:r>
              <a:endParaRPr lang="en-US" altLang="zh-CN" sz="2000">
                <a:solidFill>
                  <a:schemeClr val="accent2"/>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solidFill>
                    <a:srgbClr val="008000"/>
                  </a:solidFill>
                  <a:latin typeface="Arial" panose="020B0604020202020204" pitchFamily="34" charset="0"/>
                  <a:ea typeface="宋体" panose="02010600030101010101" pitchFamily="2" charset="-122"/>
                </a:rPr>
                <a:t>beq</a:t>
              </a:r>
              <a:r>
                <a:rPr lang="en-US" altLang="zh-CN" sz="2000">
                  <a:solidFill>
                    <a:srgbClr val="008000"/>
                  </a:solidFill>
                  <a:latin typeface="Arial" panose="020B0604020202020204" pitchFamily="34" charset="0"/>
                  <a:ea typeface="宋体" panose="02010600030101010101" pitchFamily="2" charset="-122"/>
                </a:rPr>
                <a:t> $3, $5, 2</a:t>
              </a:r>
              <a:endParaRPr lang="en-US" altLang="zh-CN" sz="2000">
                <a:solidFill>
                  <a:srgbClr val="008000"/>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solidFill>
                    <a:srgbClr val="CC0000"/>
                  </a:solidFill>
                  <a:latin typeface="Arial" panose="020B0604020202020204" pitchFamily="34" charset="0"/>
                  <a:ea typeface="宋体" panose="02010600030101010101" pitchFamily="2" charset="-122"/>
                </a:rPr>
                <a:t>lw</a:t>
              </a:r>
              <a:r>
                <a:rPr lang="en-US" altLang="zh-CN" sz="2000">
                  <a:solidFill>
                    <a:srgbClr val="CC0000"/>
                  </a:solidFill>
                  <a:latin typeface="Arial" panose="020B0604020202020204" pitchFamily="34" charset="0"/>
                  <a:ea typeface="宋体" panose="02010600030101010101" pitchFamily="2" charset="-122"/>
                </a:rPr>
                <a:t> $1, 0($2)</a:t>
              </a:r>
              <a:endParaRPr lang="en-US" altLang="zh-CN" sz="2000">
                <a:solidFill>
                  <a:srgbClr val="CC0000"/>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solidFill>
                    <a:srgbClr val="CC0000"/>
                  </a:solidFill>
                  <a:latin typeface="Arial" panose="020B0604020202020204" pitchFamily="34" charset="0"/>
                  <a:ea typeface="宋体" panose="02010600030101010101" pitchFamily="2" charset="-122"/>
                </a:rPr>
                <a:t>nop</a:t>
              </a:r>
              <a:endParaRPr lang="en-US" altLang="zh-CN" sz="2000">
                <a:solidFill>
                  <a:srgbClr val="CC0000"/>
                </a:solidFill>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a:latin typeface="Arial" panose="020B0604020202020204" pitchFamily="34" charset="0"/>
                  <a:ea typeface="宋体" panose="02010600030101010101" pitchFamily="2" charset="-122"/>
                </a:rPr>
                <a:t>add $3, $3,$2</a:t>
              </a:r>
              <a:endParaRPr lang="en-US" altLang="zh-CN" sz="2000">
                <a:latin typeface="Arial" panose="020B0604020202020204" pitchFamily="34" charset="0"/>
                <a:ea typeface="宋体" panose="02010600030101010101" pitchFamily="2" charset="-122"/>
              </a:endParaRPr>
            </a:p>
            <a:p>
              <a:pPr eaLnBrk="0" hangingPunct="0">
                <a:lnSpc>
                  <a:spcPct val="120000"/>
                </a:lnSpc>
                <a:spcBef>
                  <a:spcPct val="20000"/>
                </a:spcBef>
              </a:pPr>
              <a:r>
                <a:rPr lang="en-US" altLang="zh-CN" sz="2000" err="1">
                  <a:latin typeface="Arial" panose="020B0604020202020204" pitchFamily="34" charset="0"/>
                  <a:ea typeface="宋体" panose="02010600030101010101" pitchFamily="2" charset="-122"/>
                </a:rPr>
                <a:t>sw</a:t>
              </a:r>
              <a:r>
                <a:rPr lang="en-US" altLang="zh-CN" sz="2000">
                  <a:latin typeface="Arial" panose="020B0604020202020204" pitchFamily="34" charset="0"/>
                  <a:ea typeface="宋体" panose="02010600030101010101" pitchFamily="2" charset="-122"/>
                </a:rPr>
                <a:t> $1, 0($2) </a:t>
              </a:r>
              <a:r>
                <a:rPr lang="zh-CN" altLang="en-US" sz="2000" dirty="0">
                  <a:latin typeface="Times New Roman" panose="02020603050405020304" pitchFamily="18" charset="0"/>
                  <a:ea typeface="宋体" panose="02010600030101010101" pitchFamily="2" charset="-122"/>
                </a:rPr>
                <a:t>  </a:t>
              </a:r>
              <a:endParaRPr lang="zh-CN" altLang="en-US" sz="2000" dirty="0">
                <a:latin typeface="Times New Roman" panose="02020603050405020304" pitchFamily="18" charset="0"/>
                <a:ea typeface="宋体" panose="02010600030101010101" pitchFamily="2" charset="-122"/>
              </a:endParaRPr>
            </a:p>
          </p:txBody>
        </p:sp>
        <p:sp>
          <p:nvSpPr>
            <p:cNvPr id="187415" name="矩形 574488"/>
            <p:cNvSpPr/>
            <p:nvPr/>
          </p:nvSpPr>
          <p:spPr>
            <a:xfrm>
              <a:off x="4400" y="1776"/>
              <a:ext cx="1264" cy="1864"/>
            </a:xfrm>
            <a:prstGeom prst="rect">
              <a:avLst/>
            </a:prstGeom>
            <a:noFill/>
            <a:ln w="12700" cap="flat" cmpd="sng">
              <a:solidFill>
                <a:schemeClr val="tx1"/>
              </a:solidFill>
              <a:prstDash val="solid"/>
              <a:miter/>
              <a:headEnd type="none" w="med" len="med"/>
              <a:tailEnd type="none" w="med" len="med"/>
            </a:ln>
          </p:spPr>
          <p:txBody>
            <a:bodyPr anchor="t" anchorCtr="0"/>
            <a:p>
              <a:pPr eaLnBrk="0" hangingPunct="0"/>
              <a:endParaRPr lang="zh-CN" altLang="en-US">
                <a:latin typeface="Arial" panose="020B0604020202020204" pitchFamily="34" charset="0"/>
              </a:endParaRPr>
            </a:p>
          </p:txBody>
        </p:sp>
      </p:grpSp>
      <p:sp>
        <p:nvSpPr>
          <p:cNvPr id="574490" name="直接连接符 574489"/>
          <p:cNvSpPr/>
          <p:nvPr/>
        </p:nvSpPr>
        <p:spPr>
          <a:xfrm>
            <a:off x="7986713" y="2344738"/>
            <a:ext cx="434975" cy="471487"/>
          </a:xfrm>
          <a:prstGeom prst="line">
            <a:avLst/>
          </a:prstGeom>
          <a:ln w="38100" cap="flat" cmpd="sng">
            <a:solidFill>
              <a:schemeClr val="tx1"/>
            </a:solidFill>
            <a:prstDash val="solid"/>
            <a:round/>
            <a:headEnd type="none" w="med" len="med"/>
            <a:tailEnd type="triangl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4468">
                                            <p:txEl>
                                              <p:charRg st="0" end="27"/>
                                            </p:txEl>
                                          </p:spTgt>
                                        </p:tgtEl>
                                        <p:attrNameLst>
                                          <p:attrName>style.visibility</p:attrName>
                                        </p:attrNameLst>
                                      </p:cBhvr>
                                      <p:to>
                                        <p:strVal val="visible"/>
                                      </p:to>
                                    </p:set>
                                    <p:animEffect transition="in" filter="blinds(horizontal)">
                                      <p:cBhvr>
                                        <p:cTn id="7" dur="500"/>
                                        <p:tgtEl>
                                          <p:spTgt spid="574468">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4473"/>
                                        </p:tgtEl>
                                        <p:attrNameLst>
                                          <p:attrName>style.visibility</p:attrName>
                                        </p:attrNameLst>
                                      </p:cBhvr>
                                      <p:to>
                                        <p:strVal val="visible"/>
                                      </p:to>
                                    </p:set>
                                    <p:animEffect transition="in" filter="blinds(horizontal)">
                                      <p:cBhvr>
                                        <p:cTn id="12" dur="500"/>
                                        <p:tgtEl>
                                          <p:spTgt spid="5744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4477"/>
                                        </p:tgtEl>
                                        <p:attrNameLst>
                                          <p:attrName>style.visibility</p:attrName>
                                        </p:attrNameLst>
                                      </p:cBhvr>
                                      <p:to>
                                        <p:strVal val="visible"/>
                                      </p:to>
                                    </p:set>
                                    <p:animEffect transition="in" filter="blinds(horizontal)">
                                      <p:cBhvr>
                                        <p:cTn id="17" dur="500"/>
                                        <p:tgtEl>
                                          <p:spTgt spid="57447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74478"/>
                                        </p:tgtEl>
                                        <p:attrNameLst>
                                          <p:attrName>style.visibility</p:attrName>
                                        </p:attrNameLst>
                                      </p:cBhvr>
                                      <p:to>
                                        <p:strVal val="visible"/>
                                      </p:to>
                                    </p:set>
                                    <p:animEffect transition="in" filter="blinds(horizontal)">
                                      <p:cBhvr>
                                        <p:cTn id="22" dur="500"/>
                                        <p:tgtEl>
                                          <p:spTgt spid="57447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74476"/>
                                        </p:tgtEl>
                                        <p:attrNameLst>
                                          <p:attrName>style.visibility</p:attrName>
                                        </p:attrNameLst>
                                      </p:cBhvr>
                                      <p:to>
                                        <p:strVal val="visible"/>
                                      </p:to>
                                    </p:set>
                                    <p:animEffect transition="in" filter="blinds(horizontal)">
                                      <p:cBhvr>
                                        <p:cTn id="27" dur="500"/>
                                        <p:tgtEl>
                                          <p:spTgt spid="57447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74479"/>
                                        </p:tgtEl>
                                        <p:attrNameLst>
                                          <p:attrName>style.visibility</p:attrName>
                                        </p:attrNameLst>
                                      </p:cBhvr>
                                      <p:to>
                                        <p:strVal val="visible"/>
                                      </p:to>
                                    </p:set>
                                    <p:animEffect transition="in" filter="blinds(horizontal)">
                                      <p:cBhvr>
                                        <p:cTn id="32" dur="500"/>
                                        <p:tgtEl>
                                          <p:spTgt spid="57447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74484"/>
                                        </p:tgtEl>
                                        <p:attrNameLst>
                                          <p:attrName>style.visibility</p:attrName>
                                        </p:attrNameLst>
                                      </p:cBhvr>
                                      <p:to>
                                        <p:strVal val="visible"/>
                                      </p:to>
                                    </p:set>
                                    <p:animEffect transition="in" filter="blinds(horizontal)">
                                      <p:cBhvr>
                                        <p:cTn id="37" dur="500"/>
                                        <p:tgtEl>
                                          <p:spTgt spid="57448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74487"/>
                                        </p:tgtEl>
                                        <p:attrNameLst>
                                          <p:attrName>style.visibility</p:attrName>
                                        </p:attrNameLst>
                                      </p:cBhvr>
                                      <p:to>
                                        <p:strVal val="visible"/>
                                      </p:to>
                                    </p:set>
                                    <p:animEffect transition="in" filter="blinds(horizontal)">
                                      <p:cBhvr>
                                        <p:cTn id="42" dur="500"/>
                                        <p:tgtEl>
                                          <p:spTgt spid="57448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74483"/>
                                        </p:tgtEl>
                                        <p:attrNameLst>
                                          <p:attrName>style.visibility</p:attrName>
                                        </p:attrNameLst>
                                      </p:cBhvr>
                                      <p:to>
                                        <p:strVal val="visible"/>
                                      </p:to>
                                    </p:set>
                                    <p:animEffect transition="in" filter="blinds(horizontal)">
                                      <p:cBhvr>
                                        <p:cTn id="47" dur="500"/>
                                        <p:tgtEl>
                                          <p:spTgt spid="57448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74490"/>
                                        </p:tgtEl>
                                        <p:attrNameLst>
                                          <p:attrName>style.visibility</p:attrName>
                                        </p:attrNameLst>
                                      </p:cBhvr>
                                      <p:to>
                                        <p:strVal val="visible"/>
                                      </p:to>
                                    </p:set>
                                    <p:animEffect transition="in" filter="blinds(horizontal)">
                                      <p:cBhvr>
                                        <p:cTn id="52" dur="500"/>
                                        <p:tgtEl>
                                          <p:spTgt spid="57449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74470"/>
                                        </p:tgtEl>
                                        <p:attrNameLst>
                                          <p:attrName>style.visibility</p:attrName>
                                        </p:attrNameLst>
                                      </p:cBhvr>
                                      <p:to>
                                        <p:strVal val="visible"/>
                                      </p:to>
                                    </p:set>
                                    <p:animEffect transition="in" filter="blinds(horizontal)">
                                      <p:cBhvr>
                                        <p:cTn id="57" dur="500"/>
                                        <p:tgtEl>
                                          <p:spTgt spid="57447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574469"/>
                                        </p:tgtEl>
                                        <p:attrNameLst>
                                          <p:attrName>style.visibility</p:attrName>
                                        </p:attrNameLst>
                                      </p:cBhvr>
                                      <p:to>
                                        <p:strVal val="visible"/>
                                      </p:to>
                                    </p:set>
                                    <p:animEffect transition="in" filter="blinds(horizontal)">
                                      <p:cBhvr>
                                        <p:cTn id="62" dur="500"/>
                                        <p:tgtEl>
                                          <p:spTgt spid="574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9" grpId="0"/>
      <p:bldP spid="574476" grpId="0"/>
      <p:bldP spid="574483"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7" name="标题 569345"/>
          <p:cNvSpPr>
            <a:spLocks noGrp="1"/>
          </p:cNvSpPr>
          <p:nvPr>
            <p:ph type="title"/>
          </p:nvPr>
        </p:nvSpPr>
        <p:spPr>
          <a:xfrm>
            <a:off x="800100" y="133350"/>
            <a:ext cx="6862763" cy="528638"/>
          </a:xfrm>
          <a:ln/>
        </p:spPr>
        <p:txBody>
          <a:bodyPr lIns="63500" tIns="25400" rIns="63500" bIns="25400" anchor="t" anchorCtr="0">
            <a:spAutoFit/>
          </a:bodyPr>
          <a:p>
            <a:r>
              <a:rPr lang="zh-CN" altLang="en-US" dirty="0"/>
              <a:t>提高性能措施</a:t>
            </a:r>
            <a:r>
              <a:rPr lang="en-US" altLang="zh-CN">
                <a:latin typeface="黑体" panose="02010609060101010101" pitchFamily="49" charset="-122"/>
              </a:rPr>
              <a:t>—</a:t>
            </a:r>
            <a:r>
              <a:rPr lang="zh-CN" altLang="en-US" dirty="0"/>
              <a:t>实现指令级并行</a:t>
            </a:r>
            <a:endParaRPr lang="zh-CN" altLang="en-US" dirty="0"/>
          </a:p>
        </p:txBody>
      </p:sp>
      <p:sp>
        <p:nvSpPr>
          <p:cNvPr id="569347" name="内容占位符 569346"/>
          <p:cNvSpPr>
            <a:spLocks noGrp="1"/>
          </p:cNvSpPr>
          <p:nvPr>
            <p:ph idx="1"/>
          </p:nvPr>
        </p:nvSpPr>
        <p:spPr>
          <a:xfrm>
            <a:off x="182563" y="850900"/>
            <a:ext cx="8770937" cy="5735638"/>
          </a:xfrm>
          <a:ln/>
        </p:spPr>
        <p:txBody>
          <a:bodyPr wrap="square" lIns="63500" tIns="25400" rIns="63500" bIns="25400" anchor="t" anchorCtr="0">
            <a:spAutoFit/>
          </a:bodyPr>
          <a:p>
            <a:pPr marL="342900" indent="-342900">
              <a:lnSpc>
                <a:spcPct val="115000"/>
              </a:lnSpc>
              <a:spcBef>
                <a:spcPct val="10000"/>
              </a:spcBef>
            </a:pPr>
            <a:r>
              <a:rPr lang="zh-CN" altLang="en-US" sz="2000" dirty="0">
                <a:latin typeface="微软雅黑" panose="020B0503020204020204" pitchFamily="34" charset="-122"/>
                <a:ea typeface="微软雅黑" panose="020B0503020204020204" pitchFamily="34" charset="-122"/>
              </a:rPr>
              <a:t>实现指令流内部的并行流水线称为指令级并行（</a:t>
            </a:r>
            <a:r>
              <a:rPr lang="en-US" altLang="zh-CN" sz="2000">
                <a:latin typeface="微软雅黑" panose="020B0503020204020204" pitchFamily="34" charset="-122"/>
                <a:ea typeface="微软雅黑" panose="020B0503020204020204" pitchFamily="34" charset="-122"/>
              </a:rPr>
              <a:t>ILP</a:t>
            </a:r>
            <a:r>
              <a:rPr lang="zh-CN" altLang="en-US" sz="2000" dirty="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a:p>
            <a:pPr marL="342900" indent="-342900">
              <a:lnSpc>
                <a:spcPct val="115000"/>
              </a:lnSpc>
              <a:spcBef>
                <a:spcPct val="10000"/>
              </a:spcBef>
            </a:pPr>
            <a:r>
              <a:rPr lang="zh-CN" altLang="en-US" sz="2000" dirty="0">
                <a:latin typeface="微软雅黑" panose="020B0503020204020204" pitchFamily="34" charset="-122"/>
                <a:ea typeface="微软雅黑" panose="020B0503020204020204" pitchFamily="34" charset="-122"/>
              </a:rPr>
              <a:t>有两种指令级并行策略</a:t>
            </a:r>
            <a:endParaRPr lang="zh-CN" altLang="en-US" sz="2000" dirty="0">
              <a:latin typeface="微软雅黑" panose="020B0503020204020204" pitchFamily="34" charset="-122"/>
              <a:ea typeface="微软雅黑" panose="020B0503020204020204" pitchFamily="34" charset="-122"/>
            </a:endParaRPr>
          </a:p>
          <a:p>
            <a:pPr marL="838200" lvl="1" indent="-342900">
              <a:lnSpc>
                <a:spcPct val="115000"/>
              </a:lnSpc>
              <a:spcBef>
                <a:spcPct val="10000"/>
              </a:spcBef>
            </a:pPr>
            <a:r>
              <a:rPr lang="zh-CN" altLang="en-US" sz="2000" dirty="0">
                <a:latin typeface="微软雅黑" panose="020B0503020204020204" pitchFamily="34" charset="-122"/>
                <a:ea typeface="微软雅黑" panose="020B0503020204020204" pitchFamily="34" charset="-122"/>
              </a:rPr>
              <a:t>超流水线（</a:t>
            </a:r>
            <a:r>
              <a:rPr lang="en-US" altLang="zh-CN" sz="2000">
                <a:latin typeface="微软雅黑" panose="020B0503020204020204" pitchFamily="34" charset="-122"/>
                <a:ea typeface="微软雅黑" panose="020B0503020204020204" pitchFamily="34" charset="-122"/>
              </a:rPr>
              <a:t>Super- pipelining</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0000"/>
              </a:spcBef>
            </a:pPr>
            <a:r>
              <a:rPr lang="zh-CN" altLang="en-US" sz="2000" dirty="0">
                <a:latin typeface="微软雅黑" panose="020B0503020204020204" pitchFamily="34" charset="-122"/>
                <a:ea typeface="微软雅黑" panose="020B0503020204020204" pitchFamily="34" charset="-122"/>
              </a:rPr>
              <a:t>级数更多的流水线</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0000"/>
              </a:spcBef>
            </a:pPr>
            <a:r>
              <a:rPr lang="zh-CN" altLang="en-US" sz="2000" dirty="0">
                <a:latin typeface="微软雅黑" panose="020B0503020204020204" pitchFamily="34" charset="-122"/>
                <a:ea typeface="微软雅黑" panose="020B0503020204020204" pitchFamily="34" charset="-122"/>
              </a:rPr>
              <a:t>理想情况下，流水线的加速比与流水段的数目成正比</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0000"/>
              </a:spcBef>
              <a:buNone/>
            </a:pPr>
            <a:r>
              <a:rPr lang="zh-CN" altLang="en-US" sz="2000" dirty="0">
                <a:solidFill>
                  <a:srgbClr val="008000"/>
                </a:solidFill>
                <a:latin typeface="微软雅黑" panose="020B0503020204020204" pitchFamily="34" charset="-122"/>
                <a:ea typeface="微软雅黑" panose="020B0503020204020204" pitchFamily="34" charset="-122"/>
              </a:rPr>
              <a:t>（即：理想情况下，流水段越多，时钟周期越短，指令吞吐率越高）</a:t>
            </a:r>
            <a:endParaRPr lang="zh-CN" altLang="en-US" sz="2000" dirty="0">
              <a:solidFill>
                <a:srgbClr val="008000"/>
              </a:solidFill>
              <a:latin typeface="微软雅黑" panose="020B0503020204020204" pitchFamily="34" charset="-122"/>
              <a:ea typeface="微软雅黑" panose="020B0503020204020204" pitchFamily="34" charset="-122"/>
            </a:endParaRPr>
          </a:p>
          <a:p>
            <a:pPr lvl="2">
              <a:lnSpc>
                <a:spcPct val="115000"/>
              </a:lnSpc>
              <a:spcBef>
                <a:spcPct val="10000"/>
              </a:spcBef>
              <a:buNone/>
            </a:pPr>
            <a:r>
              <a:rPr lang="zh-CN" altLang="en-US" sz="2000" dirty="0">
                <a:solidFill>
                  <a:srgbClr val="3399FF"/>
                </a:solidFill>
                <a:latin typeface="微软雅黑" panose="020B0503020204020204" pitchFamily="34" charset="-122"/>
                <a:ea typeface="微软雅黑" panose="020B0503020204020204" pitchFamily="34" charset="-122"/>
              </a:rPr>
              <a:t>但是，它会增加开销，且是有极限的！可以怎样突破极限呢？</a:t>
            </a:r>
            <a:endParaRPr lang="zh-CN" altLang="en-US" sz="2000" dirty="0">
              <a:solidFill>
                <a:srgbClr val="3399FF"/>
              </a:solidFill>
              <a:latin typeface="微软雅黑" panose="020B0503020204020204" pitchFamily="34" charset="-122"/>
              <a:ea typeface="微软雅黑" panose="020B0503020204020204" pitchFamily="34" charset="-122"/>
            </a:endParaRPr>
          </a:p>
          <a:p>
            <a:pPr marL="838200" lvl="1" indent="-342900">
              <a:lnSpc>
                <a:spcPct val="115000"/>
              </a:lnSpc>
              <a:spcBef>
                <a:spcPct val="10000"/>
              </a:spcBef>
            </a:pPr>
            <a:r>
              <a:rPr lang="zh-CN" altLang="en-US" sz="2000" dirty="0">
                <a:latin typeface="微软雅黑" panose="020B0503020204020204" pitchFamily="34" charset="-122"/>
                <a:ea typeface="微软雅黑" panose="020B0503020204020204" pitchFamily="34" charset="-122"/>
              </a:rPr>
              <a:t>多发射流水线（</a:t>
            </a:r>
            <a:r>
              <a:rPr lang="en-US" altLang="zh-CN" sz="2000">
                <a:latin typeface="微软雅黑" panose="020B0503020204020204" pitchFamily="34" charset="-122"/>
                <a:ea typeface="微软雅黑" panose="020B0503020204020204" pitchFamily="34" charset="-122"/>
              </a:rPr>
              <a:t>Multiple issue pipelining </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0000"/>
              </a:spcBef>
            </a:pPr>
            <a:r>
              <a:rPr lang="zh-CN" altLang="en-US" sz="2000" dirty="0">
                <a:latin typeface="微软雅黑" panose="020B0503020204020204" pitchFamily="34" charset="-122"/>
                <a:ea typeface="微软雅黑" panose="020B0503020204020204" pitchFamily="34" charset="-122"/>
              </a:rPr>
              <a:t>多条指令</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如整数、浮点、装入</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存储等</a:t>
            </a:r>
            <a:r>
              <a:rPr lang="en-US" altLang="zh-CN" sz="200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同时启动并独立运行</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0000"/>
              </a:spcBef>
            </a:pPr>
            <a:r>
              <a:rPr lang="zh-CN" altLang="en-US" sz="2000" dirty="0">
                <a:solidFill>
                  <a:srgbClr val="00B4A3"/>
                </a:solidFill>
                <a:latin typeface="微软雅黑" panose="020B0503020204020204" pitchFamily="34" charset="-122"/>
                <a:ea typeface="微软雅黑" panose="020B0503020204020204" pitchFamily="34" charset="-122"/>
              </a:rPr>
              <a:t>前提：</a:t>
            </a:r>
            <a:r>
              <a:rPr lang="zh-CN" altLang="en-US" sz="2000" dirty="0">
                <a:latin typeface="微软雅黑" panose="020B0503020204020204" pitchFamily="34" charset="-122"/>
                <a:ea typeface="微软雅黑" panose="020B0503020204020204" pitchFamily="34" charset="-122"/>
              </a:rPr>
              <a:t>有多个执行部件。如定点、浮点、乘</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除、取数</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存数部件等</a:t>
            </a:r>
            <a:endParaRPr lang="zh-CN" altLang="en-US" sz="2000" dirty="0">
              <a:latin typeface="微软雅黑" panose="020B0503020204020204" pitchFamily="34" charset="-122"/>
              <a:ea typeface="微软雅黑" panose="020B0503020204020204" pitchFamily="34" charset="-122"/>
            </a:endParaRPr>
          </a:p>
          <a:p>
            <a:pPr lvl="2">
              <a:lnSpc>
                <a:spcPct val="115000"/>
              </a:lnSpc>
              <a:spcBef>
                <a:spcPct val="10000"/>
              </a:spcBef>
            </a:pPr>
            <a:r>
              <a:rPr lang="zh-CN" altLang="en-US" sz="2000" dirty="0">
                <a:solidFill>
                  <a:srgbClr val="00B4A3"/>
                </a:solidFill>
                <a:latin typeface="微软雅黑" panose="020B0503020204020204" pitchFamily="34" charset="-122"/>
                <a:ea typeface="微软雅黑" panose="020B0503020204020204" pitchFamily="34" charset="-122"/>
              </a:rPr>
              <a:t>结果：</a:t>
            </a:r>
            <a:r>
              <a:rPr lang="zh-CN" altLang="en-US" sz="2000" dirty="0">
                <a:latin typeface="微软雅黑" panose="020B0503020204020204" pitchFamily="34" charset="-122"/>
                <a:ea typeface="微软雅黑" panose="020B0503020204020204" pitchFamily="34" charset="-122"/>
              </a:rPr>
              <a:t>能达到小于</a:t>
            </a:r>
            <a:r>
              <a:rPr lang="en-US" altLang="zh-CN" sz="200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的</a:t>
            </a:r>
            <a:r>
              <a:rPr lang="en-US" altLang="zh-CN" sz="2000">
                <a:latin typeface="微软雅黑" panose="020B0503020204020204" pitchFamily="34" charset="-122"/>
                <a:ea typeface="微软雅黑" panose="020B0503020204020204" pitchFamily="34" charset="-122"/>
              </a:rPr>
              <a:t>CPI</a:t>
            </a:r>
            <a:r>
              <a:rPr lang="zh-CN" altLang="en-US" sz="2000" dirty="0">
                <a:latin typeface="微软雅黑" panose="020B0503020204020204" pitchFamily="34" charset="-122"/>
                <a:ea typeface="微软雅黑" panose="020B0503020204020204" pitchFamily="34" charset="-122"/>
              </a:rPr>
              <a:t>，定义</a:t>
            </a:r>
            <a:r>
              <a:rPr lang="en-US" altLang="zh-CN" sz="2000">
                <a:latin typeface="微软雅黑" panose="020B0503020204020204" pitchFamily="34" charset="-122"/>
                <a:ea typeface="微软雅黑" panose="020B0503020204020204" pitchFamily="34" charset="-122"/>
              </a:rPr>
              <a:t>CPI</a:t>
            </a:r>
            <a:r>
              <a:rPr lang="zh-CN" altLang="en-US" sz="2000" dirty="0">
                <a:latin typeface="微软雅黑" panose="020B0503020204020204" pitchFamily="34" charset="-122"/>
                <a:ea typeface="微软雅黑" panose="020B0503020204020204" pitchFamily="34" charset="-122"/>
              </a:rPr>
              <a:t>的倒数为</a:t>
            </a:r>
            <a:r>
              <a:rPr lang="en-US" altLang="zh-CN" sz="2000">
                <a:latin typeface="微软雅黑" panose="020B0503020204020204" pitchFamily="34" charset="-122"/>
                <a:ea typeface="微软雅黑" panose="020B0503020204020204" pitchFamily="34" charset="-122"/>
              </a:rPr>
              <a:t>IPC</a:t>
            </a:r>
            <a:endParaRPr lang="en-US" altLang="zh-CN" sz="2000">
              <a:latin typeface="微软雅黑" panose="020B0503020204020204" pitchFamily="34" charset="-122"/>
              <a:ea typeface="微软雅黑" panose="020B0503020204020204" pitchFamily="34" charset="-122"/>
            </a:endParaRPr>
          </a:p>
          <a:p>
            <a:pPr lvl="2">
              <a:lnSpc>
                <a:spcPct val="115000"/>
              </a:lnSpc>
              <a:spcBef>
                <a:spcPct val="10000"/>
              </a:spcBef>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rgbClr val="008000"/>
                </a:solidFill>
                <a:latin typeface="微软雅黑" panose="020B0503020204020204" pitchFamily="34" charset="-122"/>
                <a:ea typeface="微软雅黑" panose="020B0503020204020204" pitchFamily="34" charset="-122"/>
              </a:rPr>
              <a:t>（例如：理想的四路多发射流水线的</a:t>
            </a:r>
            <a:r>
              <a:rPr lang="en-US" altLang="zh-CN" sz="2000">
                <a:solidFill>
                  <a:srgbClr val="008000"/>
                </a:solidFill>
                <a:latin typeface="微软雅黑" panose="020B0503020204020204" pitchFamily="34" charset="-122"/>
                <a:ea typeface="微软雅黑" panose="020B0503020204020204" pitchFamily="34" charset="-122"/>
              </a:rPr>
              <a:t>IPC</a:t>
            </a:r>
            <a:r>
              <a:rPr lang="zh-CN" altLang="en-US" sz="2000" dirty="0">
                <a:solidFill>
                  <a:srgbClr val="008000"/>
                </a:solidFill>
                <a:latin typeface="微软雅黑" panose="020B0503020204020204" pitchFamily="34" charset="-122"/>
                <a:ea typeface="微软雅黑" panose="020B0503020204020204" pitchFamily="34" charset="-122"/>
              </a:rPr>
              <a:t>为</a:t>
            </a:r>
            <a:r>
              <a:rPr lang="en-US" altLang="zh-CN" sz="2000">
                <a:solidFill>
                  <a:srgbClr val="008000"/>
                </a:solidFill>
                <a:latin typeface="微软雅黑" panose="020B0503020204020204" pitchFamily="34" charset="-122"/>
                <a:ea typeface="微软雅黑" panose="020B0503020204020204" pitchFamily="34" charset="-122"/>
              </a:rPr>
              <a:t>4</a:t>
            </a:r>
            <a:r>
              <a:rPr lang="zh-CN" altLang="en-US" sz="2000" dirty="0">
                <a:solidFill>
                  <a:srgbClr val="008000"/>
                </a:solidFill>
                <a:latin typeface="微软雅黑" panose="020B0503020204020204" pitchFamily="34" charset="-122"/>
                <a:ea typeface="微软雅黑" panose="020B0503020204020204" pitchFamily="34" charset="-122"/>
              </a:rPr>
              <a:t>）</a:t>
            </a:r>
            <a:endParaRPr lang="zh-CN" altLang="en-US" sz="2000" dirty="0">
              <a:solidFill>
                <a:srgbClr val="008000"/>
              </a:solidFill>
              <a:latin typeface="微软雅黑" panose="020B0503020204020204" pitchFamily="34" charset="-122"/>
              <a:ea typeface="微软雅黑" panose="020B0503020204020204" pitchFamily="34" charset="-122"/>
            </a:endParaRPr>
          </a:p>
          <a:p>
            <a:pPr lvl="2">
              <a:lnSpc>
                <a:spcPct val="115000"/>
              </a:lnSpc>
              <a:spcBef>
                <a:spcPct val="10000"/>
              </a:spcBef>
            </a:pPr>
            <a:r>
              <a:rPr lang="zh-CN" altLang="en-US" sz="2000" dirty="0">
                <a:latin typeface="微软雅黑" panose="020B0503020204020204" pitchFamily="34" charset="-122"/>
                <a:ea typeface="微软雅黑" panose="020B0503020204020204" pitchFamily="34" charset="-122"/>
              </a:rPr>
              <a:t>两种实现方法</a:t>
            </a:r>
            <a:endParaRPr lang="zh-CN" altLang="en-US" sz="2000" dirty="0">
              <a:latin typeface="微软雅黑" panose="020B0503020204020204" pitchFamily="34" charset="-122"/>
              <a:ea typeface="微软雅黑" panose="020B0503020204020204" pitchFamily="34" charset="-122"/>
            </a:endParaRPr>
          </a:p>
          <a:p>
            <a:pPr marL="1752600" lvl="3" indent="-381000">
              <a:lnSpc>
                <a:spcPct val="115000"/>
              </a:lnSpc>
              <a:spcBef>
                <a:spcPct val="10000"/>
              </a:spcBef>
              <a:buFont typeface="Times New Roman" panose="02020603050405020304" pitchFamily="18" charset="0"/>
              <a:buChar char="▫"/>
            </a:pPr>
            <a:r>
              <a:rPr lang="zh-CN" altLang="en-US" b="1" dirty="0">
                <a:solidFill>
                  <a:srgbClr val="008000"/>
                </a:solidFill>
                <a:latin typeface="微软雅黑" panose="020B0503020204020204" pitchFamily="34" charset="-122"/>
                <a:ea typeface="微软雅黑" panose="020B0503020204020204" pitchFamily="34" charset="-122"/>
              </a:rPr>
              <a:t>静态多发射：由编译器在编译时静态完成指令打包和冒险处理</a:t>
            </a:r>
            <a:endParaRPr lang="zh-CN" altLang="en-US" b="1" dirty="0">
              <a:solidFill>
                <a:srgbClr val="008000"/>
              </a:solidFill>
              <a:latin typeface="微软雅黑" panose="020B0503020204020204" pitchFamily="34" charset="-122"/>
              <a:ea typeface="微软雅黑" panose="020B0503020204020204" pitchFamily="34" charset="-122"/>
            </a:endParaRPr>
          </a:p>
          <a:p>
            <a:pPr marL="1752600" lvl="3" indent="-381000">
              <a:lnSpc>
                <a:spcPct val="115000"/>
              </a:lnSpc>
              <a:spcBef>
                <a:spcPct val="10000"/>
              </a:spcBef>
              <a:buFont typeface="Times New Roman" panose="02020603050405020304" pitchFamily="18" charset="0"/>
              <a:buChar char="▫"/>
            </a:pPr>
            <a:r>
              <a:rPr lang="zh-CN" altLang="en-US" b="1" dirty="0">
                <a:solidFill>
                  <a:srgbClr val="008000"/>
                </a:solidFill>
                <a:latin typeface="微软雅黑" panose="020B0503020204020204" pitchFamily="34" charset="-122"/>
                <a:ea typeface="微软雅黑" panose="020B0503020204020204" pitchFamily="34" charset="-122"/>
              </a:rPr>
              <a:t>动态多发射：由硬件在执行时动态完成指令打包和冒险处理</a:t>
            </a:r>
            <a:endParaRPr lang="en-US" altLang="zh-CN" b="1">
              <a:solidFill>
                <a:srgbClr val="008000"/>
              </a:solidFill>
              <a:latin typeface="微软雅黑" panose="020B0503020204020204" pitchFamily="34" charset="-122"/>
              <a:ea typeface="微软雅黑" panose="020B0503020204020204" pitchFamily="34" charset="-122"/>
            </a:endParaRPr>
          </a:p>
        </p:txBody>
      </p:sp>
      <p:sp>
        <p:nvSpPr>
          <p:cNvPr id="569348" name="文本框 569347"/>
          <p:cNvSpPr txBox="1"/>
          <p:nvPr/>
        </p:nvSpPr>
        <p:spPr>
          <a:xfrm>
            <a:off x="3930650" y="2062163"/>
            <a:ext cx="1276350" cy="396875"/>
          </a:xfrm>
          <a:prstGeom prst="rect">
            <a:avLst/>
          </a:prstGeom>
          <a:noFill/>
          <a:ln w="12700">
            <a:noFill/>
          </a:ln>
        </p:spPr>
        <p:txBody>
          <a:bodyPr anchor="t" anchorCtr="0">
            <a:spAutoFit/>
          </a:bodyPr>
          <a:p>
            <a:pPr eaLnBrk="0" hangingPunct="0">
              <a:spcBef>
                <a:spcPct val="50000"/>
              </a:spcBef>
            </a:pPr>
            <a:r>
              <a:rPr lang="en-US" altLang="zh-CN" sz="2000">
                <a:solidFill>
                  <a:srgbClr val="CC0000"/>
                </a:solidFill>
                <a:latin typeface="Arial" panose="020B0604020202020204" pitchFamily="34" charset="0"/>
                <a:ea typeface="宋体" panose="02010600030101010101" pitchFamily="2" charset="-122"/>
              </a:rPr>
              <a:t>CPI =</a:t>
            </a:r>
            <a:r>
              <a:rPr lang="zh-CN" altLang="en-US" sz="2000" dirty="0">
                <a:solidFill>
                  <a:srgbClr val="CC0000"/>
                </a:solidFill>
                <a:latin typeface="Arial" panose="020B0604020202020204" pitchFamily="34" charset="0"/>
                <a:ea typeface="宋体" panose="02010600030101010101" pitchFamily="2" charset="-122"/>
              </a:rPr>
              <a:t>？</a:t>
            </a:r>
            <a:endParaRPr lang="zh-CN" altLang="en-US" sz="2000" dirty="0">
              <a:solidFill>
                <a:srgbClr val="CC0000"/>
              </a:solidFill>
              <a:latin typeface="Arial" panose="020B0604020202020204" pitchFamily="34" charset="0"/>
              <a:ea typeface="宋体" panose="02010600030101010101" pitchFamily="2" charset="-122"/>
            </a:endParaRPr>
          </a:p>
        </p:txBody>
      </p:sp>
      <p:sp>
        <p:nvSpPr>
          <p:cNvPr id="569349" name="文本框 569348"/>
          <p:cNvSpPr txBox="1"/>
          <p:nvPr/>
        </p:nvSpPr>
        <p:spPr>
          <a:xfrm>
            <a:off x="5291138" y="2046288"/>
            <a:ext cx="1073150" cy="396875"/>
          </a:xfrm>
          <a:prstGeom prst="rect">
            <a:avLst/>
          </a:prstGeom>
          <a:noFill/>
          <a:ln w="12700">
            <a:noFill/>
          </a:ln>
        </p:spPr>
        <p:txBody>
          <a:bodyPr anchor="t" anchorCtr="0">
            <a:spAutoFit/>
          </a:bodyPr>
          <a:p>
            <a:pPr eaLnBrk="0" hangingPunct="0">
              <a:spcBef>
                <a:spcPct val="50000"/>
              </a:spcBef>
            </a:pPr>
            <a:r>
              <a:rPr lang="en-US" altLang="zh-CN" sz="2000">
                <a:solidFill>
                  <a:srgbClr val="CC0000"/>
                </a:solidFill>
                <a:latin typeface="Arial" panose="020B0604020202020204" pitchFamily="34" charset="0"/>
                <a:ea typeface="宋体" panose="02010600030101010101" pitchFamily="2" charset="-122"/>
              </a:rPr>
              <a:t>CPI =1</a:t>
            </a:r>
            <a:endParaRPr lang="en-US" altLang="zh-CN" sz="2000">
              <a:solidFill>
                <a:srgbClr val="CC0000"/>
              </a:solidFill>
              <a:latin typeface="Arial" panose="020B0604020202020204" pitchFamily="34" charset="0"/>
              <a:ea typeface="宋体" panose="02010600030101010101" pitchFamily="2" charset="-122"/>
            </a:endParaRPr>
          </a:p>
        </p:txBody>
      </p:sp>
      <p:sp>
        <p:nvSpPr>
          <p:cNvPr id="569352" name="文本框 569351"/>
          <p:cNvSpPr txBox="1"/>
          <p:nvPr/>
        </p:nvSpPr>
        <p:spPr>
          <a:xfrm>
            <a:off x="6384925" y="854075"/>
            <a:ext cx="2552700" cy="915988"/>
          </a:xfrm>
          <a:prstGeom prst="rect">
            <a:avLst/>
          </a:prstGeom>
          <a:solidFill>
            <a:schemeClr val="bg1"/>
          </a:solidFill>
          <a:ln w="12700">
            <a:noFill/>
          </a:ln>
        </p:spPr>
        <p:txBody>
          <a:bodyPr anchor="t" anchorCtr="0">
            <a:spAutoFit/>
          </a:bodyPr>
          <a:p>
            <a:pPr eaLnBrk="0" hangingPunct="0">
              <a:spcBef>
                <a:spcPct val="50000"/>
              </a:spcBef>
            </a:pPr>
            <a:r>
              <a:rPr lang="en-US" altLang="zh-CN" sz="1800">
                <a:solidFill>
                  <a:schemeClr val="accent1"/>
                </a:solidFill>
                <a:latin typeface="微软雅黑" panose="020B0503020204020204" pitchFamily="34" charset="-122"/>
                <a:ea typeface="微软雅黑" panose="020B0503020204020204" pitchFamily="34" charset="-122"/>
              </a:rPr>
              <a:t>N</a:t>
            </a:r>
            <a:r>
              <a:rPr lang="zh-CN" altLang="en-US" sz="1800" dirty="0">
                <a:solidFill>
                  <a:schemeClr val="accent1"/>
                </a:solidFill>
                <a:latin typeface="微软雅黑" panose="020B0503020204020204" pitchFamily="34" charset="-122"/>
                <a:ea typeface="微软雅黑" panose="020B0503020204020204" pitchFamily="34" charset="-122"/>
              </a:rPr>
              <a:t>段流水线说明一个时钟周期内最多有几条指令同时并行执行？</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
        <p:nvSpPr>
          <p:cNvPr id="569353" name="文本框 569352"/>
          <p:cNvSpPr txBox="1"/>
          <p:nvPr/>
        </p:nvSpPr>
        <p:spPr>
          <a:xfrm>
            <a:off x="7110413" y="1741488"/>
            <a:ext cx="1757362" cy="641350"/>
          </a:xfrm>
          <a:prstGeom prst="rect">
            <a:avLst/>
          </a:prstGeom>
          <a:noFill/>
          <a:ln w="12700">
            <a:noFill/>
          </a:ln>
        </p:spPr>
        <p:txBody>
          <a:bodyPr anchor="t" anchorCtr="0">
            <a:spAutoFit/>
          </a:bodyPr>
          <a:p>
            <a:pPr eaLnBrk="0" hangingPunct="0">
              <a:spcBef>
                <a:spcPct val="50000"/>
              </a:spcBef>
            </a:pPr>
            <a:r>
              <a:rPr lang="en-US" altLang="zh-CN" sz="1800">
                <a:latin typeface="微软雅黑" panose="020B0503020204020204" pitchFamily="34" charset="-122"/>
                <a:ea typeface="微软雅黑" panose="020B0503020204020204" pitchFamily="34" charset="-122"/>
              </a:rPr>
              <a:t>N</a:t>
            </a:r>
            <a:r>
              <a:rPr lang="zh-CN" altLang="en-US" sz="1800" dirty="0">
                <a:latin typeface="微软雅黑" panose="020B0503020204020204" pitchFamily="34" charset="-122"/>
                <a:ea typeface="微软雅黑" panose="020B0503020204020204" pitchFamily="34" charset="-122"/>
              </a:rPr>
              <a:t>条！故</a:t>
            </a:r>
            <a:r>
              <a:rPr lang="en-US" altLang="zh-CN" sz="1800">
                <a:latin typeface="微软雅黑" panose="020B0503020204020204" pitchFamily="34" charset="-122"/>
                <a:ea typeface="微软雅黑" panose="020B0503020204020204" pitchFamily="34" charset="-122"/>
              </a:rPr>
              <a:t>N</a:t>
            </a:r>
            <a:r>
              <a:rPr lang="zh-CN" altLang="en-US" sz="1800" dirty="0">
                <a:latin typeface="微软雅黑" panose="020B0503020204020204" pitchFamily="34" charset="-122"/>
                <a:ea typeface="微软雅黑" panose="020B0503020204020204" pitchFamily="34" charset="-122"/>
              </a:rPr>
              <a:t>越大并行度越高！</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9347">
                                            <p:txEl>
                                              <p:charRg st="61" end="70"/>
                                            </p:txEl>
                                          </p:spTgt>
                                        </p:tgtEl>
                                        <p:attrNameLst>
                                          <p:attrName>style.visibility</p:attrName>
                                        </p:attrNameLst>
                                      </p:cBhvr>
                                      <p:to>
                                        <p:strVal val="visible"/>
                                      </p:to>
                                    </p:set>
                                    <p:animEffect transition="in" filter="blinds(horizontal)">
                                      <p:cBhvr>
                                        <p:cTn id="7" dur="500"/>
                                        <p:tgtEl>
                                          <p:spTgt spid="569347">
                                            <p:txEl>
                                              <p:charRg st="61" end="7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69348"/>
                                        </p:tgtEl>
                                        <p:attrNameLst>
                                          <p:attrName>style.visibility</p:attrName>
                                        </p:attrNameLst>
                                      </p:cBhvr>
                                      <p:to>
                                        <p:strVal val="visible"/>
                                      </p:to>
                                    </p:set>
                                    <p:animEffect transition="in" filter="blinds(horizontal)">
                                      <p:cBhvr>
                                        <p:cTn id="12" dur="500"/>
                                        <p:tgtEl>
                                          <p:spTgt spid="56934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69349"/>
                                        </p:tgtEl>
                                        <p:attrNameLst>
                                          <p:attrName>style.visibility</p:attrName>
                                        </p:attrNameLst>
                                      </p:cBhvr>
                                      <p:to>
                                        <p:strVal val="visible"/>
                                      </p:to>
                                    </p:set>
                                    <p:animEffect transition="in" filter="blinds(horizontal)">
                                      <p:cBhvr>
                                        <p:cTn id="17" dur="500"/>
                                        <p:tgtEl>
                                          <p:spTgt spid="56934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9352">
                                            <p:txEl>
                                              <p:charRg st="0" end="29"/>
                                            </p:txEl>
                                          </p:spTgt>
                                        </p:tgtEl>
                                        <p:attrNameLst>
                                          <p:attrName>style.visibility</p:attrName>
                                        </p:attrNameLst>
                                      </p:cBhvr>
                                      <p:to>
                                        <p:strVal val="visible"/>
                                      </p:to>
                                    </p:set>
                                    <p:animEffect transition="in" filter="blinds(horizontal)">
                                      <p:cBhvr>
                                        <p:cTn id="22" dur="500"/>
                                        <p:tgtEl>
                                          <p:spTgt spid="569352">
                                            <p:txEl>
                                              <p:charRg st="0" end="2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69353"/>
                                        </p:tgtEl>
                                        <p:attrNameLst>
                                          <p:attrName>style.visibility</p:attrName>
                                        </p:attrNameLst>
                                      </p:cBhvr>
                                      <p:to>
                                        <p:strVal val="visible"/>
                                      </p:to>
                                    </p:set>
                                    <p:animEffect transition="in" filter="blinds(horizontal)">
                                      <p:cBhvr>
                                        <p:cTn id="27" dur="500"/>
                                        <p:tgtEl>
                                          <p:spTgt spid="56935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69347">
                                            <p:txEl>
                                              <p:charRg st="70" end="94"/>
                                            </p:txEl>
                                          </p:spTgt>
                                        </p:tgtEl>
                                        <p:attrNameLst>
                                          <p:attrName>style.visibility</p:attrName>
                                        </p:attrNameLst>
                                      </p:cBhvr>
                                      <p:to>
                                        <p:strVal val="visible"/>
                                      </p:to>
                                    </p:set>
                                    <p:animEffect transition="in" filter="blinds(horizontal)">
                                      <p:cBhvr>
                                        <p:cTn id="32" dur="500"/>
                                        <p:tgtEl>
                                          <p:spTgt spid="569347">
                                            <p:txEl>
                                              <p:charRg st="70" end="9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69347">
                                            <p:txEl>
                                              <p:charRg st="94" end="125"/>
                                            </p:txEl>
                                          </p:spTgt>
                                        </p:tgtEl>
                                        <p:attrNameLst>
                                          <p:attrName>style.visibility</p:attrName>
                                        </p:attrNameLst>
                                      </p:cBhvr>
                                      <p:to>
                                        <p:strVal val="visible"/>
                                      </p:to>
                                    </p:set>
                                    <p:animEffect transition="in" filter="blinds(horizontal)">
                                      <p:cBhvr>
                                        <p:cTn id="37" dur="500"/>
                                        <p:tgtEl>
                                          <p:spTgt spid="569347">
                                            <p:txEl>
                                              <p:charRg st="94" end="12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69347">
                                            <p:txEl>
                                              <p:charRg st="125" end="153"/>
                                            </p:txEl>
                                          </p:spTgt>
                                        </p:tgtEl>
                                        <p:attrNameLst>
                                          <p:attrName>style.visibility</p:attrName>
                                        </p:attrNameLst>
                                      </p:cBhvr>
                                      <p:to>
                                        <p:strVal val="visible"/>
                                      </p:to>
                                    </p:set>
                                    <p:animEffect transition="in" filter="blinds(horizontal)">
                                      <p:cBhvr>
                                        <p:cTn id="42" dur="500"/>
                                        <p:tgtEl>
                                          <p:spTgt spid="569347">
                                            <p:txEl>
                                              <p:charRg st="125" end="15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69347">
                                            <p:txEl>
                                              <p:charRg st="153" end="188"/>
                                            </p:txEl>
                                          </p:spTgt>
                                        </p:tgtEl>
                                        <p:attrNameLst>
                                          <p:attrName>style.visibility</p:attrName>
                                        </p:attrNameLst>
                                      </p:cBhvr>
                                      <p:to>
                                        <p:strVal val="visible"/>
                                      </p:to>
                                    </p:set>
                                    <p:animEffect transition="in" filter="blinds(horizontal)">
                                      <p:cBhvr>
                                        <p:cTn id="47" dur="500"/>
                                        <p:tgtEl>
                                          <p:spTgt spid="569347">
                                            <p:txEl>
                                              <p:charRg st="153" end="18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69347">
                                            <p:txEl>
                                              <p:charRg st="188" end="218"/>
                                            </p:txEl>
                                          </p:spTgt>
                                        </p:tgtEl>
                                        <p:attrNameLst>
                                          <p:attrName>style.visibility</p:attrName>
                                        </p:attrNameLst>
                                      </p:cBhvr>
                                      <p:to>
                                        <p:strVal val="visible"/>
                                      </p:to>
                                    </p:set>
                                    <p:animEffect transition="in" filter="blinds(horizontal)">
                                      <p:cBhvr>
                                        <p:cTn id="52" dur="500"/>
                                        <p:tgtEl>
                                          <p:spTgt spid="569347">
                                            <p:txEl>
                                              <p:charRg st="188" end="21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69347">
                                            <p:txEl>
                                              <p:charRg st="218" end="249"/>
                                            </p:txEl>
                                          </p:spTgt>
                                        </p:tgtEl>
                                        <p:attrNameLst>
                                          <p:attrName>style.visibility</p:attrName>
                                        </p:attrNameLst>
                                      </p:cBhvr>
                                      <p:to>
                                        <p:strVal val="visible"/>
                                      </p:to>
                                    </p:set>
                                    <p:animEffect transition="in" filter="blinds(horizontal)">
                                      <p:cBhvr>
                                        <p:cTn id="57" dur="500"/>
                                        <p:tgtEl>
                                          <p:spTgt spid="569347">
                                            <p:txEl>
                                              <p:charRg st="218" end="24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69347">
                                            <p:txEl>
                                              <p:charRg st="249" end="276"/>
                                            </p:txEl>
                                          </p:spTgt>
                                        </p:tgtEl>
                                        <p:attrNameLst>
                                          <p:attrName>style.visibility</p:attrName>
                                        </p:attrNameLst>
                                      </p:cBhvr>
                                      <p:to>
                                        <p:strVal val="visible"/>
                                      </p:to>
                                    </p:set>
                                    <p:animEffect transition="in" filter="blinds(horizontal)">
                                      <p:cBhvr>
                                        <p:cTn id="62" dur="500"/>
                                        <p:tgtEl>
                                          <p:spTgt spid="569347">
                                            <p:txEl>
                                              <p:charRg st="249" end="276"/>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569347">
                                            <p:txEl>
                                              <p:charRg st="276" end="300"/>
                                            </p:txEl>
                                          </p:spTgt>
                                        </p:tgtEl>
                                        <p:attrNameLst>
                                          <p:attrName>style.visibility</p:attrName>
                                        </p:attrNameLst>
                                      </p:cBhvr>
                                      <p:to>
                                        <p:strVal val="visible"/>
                                      </p:to>
                                    </p:set>
                                    <p:animEffect transition="in" filter="blinds(horizontal)">
                                      <p:cBhvr>
                                        <p:cTn id="67" dur="500"/>
                                        <p:tgtEl>
                                          <p:spTgt spid="569347">
                                            <p:txEl>
                                              <p:charRg st="276" end="30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569347">
                                            <p:txEl>
                                              <p:charRg st="300" end="307"/>
                                            </p:txEl>
                                          </p:spTgt>
                                        </p:tgtEl>
                                        <p:attrNameLst>
                                          <p:attrName>style.visibility</p:attrName>
                                        </p:attrNameLst>
                                      </p:cBhvr>
                                      <p:to>
                                        <p:strVal val="visible"/>
                                      </p:to>
                                    </p:set>
                                    <p:animEffect transition="in" filter="blinds(horizontal)">
                                      <p:cBhvr>
                                        <p:cTn id="72" dur="500"/>
                                        <p:tgtEl>
                                          <p:spTgt spid="569347">
                                            <p:txEl>
                                              <p:charRg st="300" end="30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569347">
                                            <p:txEl>
                                              <p:charRg st="307" end="335"/>
                                            </p:txEl>
                                          </p:spTgt>
                                        </p:tgtEl>
                                        <p:attrNameLst>
                                          <p:attrName>style.visibility</p:attrName>
                                        </p:attrNameLst>
                                      </p:cBhvr>
                                      <p:to>
                                        <p:strVal val="visible"/>
                                      </p:to>
                                    </p:set>
                                    <p:animEffect transition="in" filter="blinds(horizontal)">
                                      <p:cBhvr>
                                        <p:cTn id="77" dur="500"/>
                                        <p:tgtEl>
                                          <p:spTgt spid="569347">
                                            <p:txEl>
                                              <p:charRg st="307" end="33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569347">
                                            <p:txEl>
                                              <p:charRg st="335" end="362"/>
                                            </p:txEl>
                                          </p:spTgt>
                                        </p:tgtEl>
                                        <p:attrNameLst>
                                          <p:attrName>style.visibility</p:attrName>
                                        </p:attrNameLst>
                                      </p:cBhvr>
                                      <p:to>
                                        <p:strVal val="visible"/>
                                      </p:to>
                                    </p:set>
                                    <p:animEffect transition="in" filter="blinds(horizontal)">
                                      <p:cBhvr>
                                        <p:cTn id="82" dur="500"/>
                                        <p:tgtEl>
                                          <p:spTgt spid="569347">
                                            <p:txEl>
                                              <p:charRg st="335" end="3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8" grpId="0"/>
      <p:bldP spid="569349" grpId="0"/>
      <p:bldP spid="56935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1" name="标题 570369"/>
          <p:cNvSpPr>
            <a:spLocks noGrp="1"/>
          </p:cNvSpPr>
          <p:nvPr>
            <p:ph type="title"/>
          </p:nvPr>
        </p:nvSpPr>
        <p:spPr>
          <a:xfrm>
            <a:off x="774700" y="177800"/>
            <a:ext cx="6862763" cy="528638"/>
          </a:xfrm>
          <a:ln/>
        </p:spPr>
        <p:txBody>
          <a:bodyPr lIns="63500" tIns="25400" rIns="63500" bIns="25400" anchor="t" anchorCtr="0">
            <a:spAutoFit/>
          </a:bodyPr>
          <a:p>
            <a:r>
              <a:rPr lang="zh-CN" altLang="en-US" dirty="0"/>
              <a:t>静态多发射处理器</a:t>
            </a:r>
            <a:endParaRPr lang="zh-CN" altLang="en-US" dirty="0"/>
          </a:p>
        </p:txBody>
      </p:sp>
      <p:sp>
        <p:nvSpPr>
          <p:cNvPr id="570371" name="文本占位符 570370"/>
          <p:cNvSpPr>
            <a:spLocks noGrp="1"/>
          </p:cNvSpPr>
          <p:nvPr>
            <p:ph type="body" sz="half" idx="1"/>
          </p:nvPr>
        </p:nvSpPr>
        <p:spPr>
          <a:xfrm>
            <a:off x="114300" y="1144588"/>
            <a:ext cx="8858250" cy="4498975"/>
          </a:xfrm>
          <a:ln/>
        </p:spPr>
        <p:txBody>
          <a:bodyPr wrap="square" lIns="63500" tIns="25400" rIns="63500" bIns="25400" anchor="t" anchorCtr="0">
            <a:spAutoFit/>
          </a:bodyPr>
          <a:p>
            <a:pPr defTabSz="914400">
              <a:lnSpc>
                <a:spcPct val="125000"/>
              </a:lnSpc>
              <a:buClrTx/>
              <a:buSzPct val="100000"/>
              <a:buFontTx/>
            </a:pPr>
            <a:r>
              <a:rPr lang="zh-CN" altLang="en-US" sz="2000" dirty="0">
                <a:latin typeface="微软雅黑" panose="020B0503020204020204" pitchFamily="34" charset="-122"/>
                <a:ea typeface="微软雅黑" panose="020B0503020204020204" pitchFamily="34" charset="-122"/>
              </a:rPr>
              <a:t>由编译器在编译时</a:t>
            </a:r>
            <a:r>
              <a:rPr lang="zh-CN" altLang="en-US" sz="2000" dirty="0">
                <a:solidFill>
                  <a:srgbClr val="008000"/>
                </a:solidFill>
                <a:latin typeface="微软雅黑" panose="020B0503020204020204" pitchFamily="34" charset="-122"/>
                <a:ea typeface="微软雅黑" panose="020B0503020204020204" pitchFamily="34" charset="-122"/>
              </a:rPr>
              <a:t>进行相关性分析</a:t>
            </a:r>
            <a:r>
              <a:rPr lang="zh-CN" altLang="en-US" sz="2000" dirty="0">
                <a:latin typeface="微软雅黑" panose="020B0503020204020204" pitchFamily="34" charset="-122"/>
                <a:ea typeface="微软雅黑" panose="020B0503020204020204" pitchFamily="34" charset="-122"/>
              </a:rPr>
              <a:t>和</a:t>
            </a:r>
            <a:r>
              <a:rPr lang="zh-CN" altLang="en-US" sz="2000" dirty="0">
                <a:solidFill>
                  <a:srgbClr val="008000"/>
                </a:solidFill>
                <a:latin typeface="微软雅黑" panose="020B0503020204020204" pitchFamily="34" charset="-122"/>
                <a:ea typeface="微软雅黑" panose="020B0503020204020204" pitchFamily="34" charset="-122"/>
              </a:rPr>
              <a:t>静态分支预测，</a:t>
            </a:r>
            <a:r>
              <a:rPr lang="zh-CN" altLang="en-US" sz="2000" dirty="0">
                <a:latin typeface="微软雅黑" panose="020B0503020204020204" pitchFamily="34" charset="-122"/>
                <a:ea typeface="微软雅黑" panose="020B0503020204020204" pitchFamily="34" charset="-122"/>
              </a:rPr>
              <a:t>以静态完成</a:t>
            </a:r>
            <a:r>
              <a:rPr lang="zh-CN" altLang="en-US" sz="2000" dirty="0">
                <a:solidFill>
                  <a:schemeClr val="accent1"/>
                </a:solidFill>
                <a:latin typeface="微软雅黑" panose="020B0503020204020204" pitchFamily="34" charset="-122"/>
                <a:ea typeface="微软雅黑" panose="020B0503020204020204" pitchFamily="34" charset="-122"/>
              </a:rPr>
              <a:t>指令打包</a:t>
            </a:r>
            <a:endParaRPr lang="zh-CN" altLang="en-US" sz="2000" dirty="0">
              <a:solidFill>
                <a:schemeClr val="accent1"/>
              </a:solidFill>
              <a:latin typeface="微软雅黑" panose="020B0503020204020204" pitchFamily="34" charset="-122"/>
              <a:ea typeface="微软雅黑" panose="020B0503020204020204" pitchFamily="34" charset="-122"/>
            </a:endParaRPr>
          </a:p>
          <a:p>
            <a:pPr lvl="1" defTabSz="914400">
              <a:lnSpc>
                <a:spcPct val="125000"/>
              </a:lnSpc>
              <a:buSzPct val="100000"/>
            </a:pPr>
            <a:r>
              <a:rPr lang="zh-CN" altLang="en-US" sz="2000" dirty="0">
                <a:latin typeface="微软雅黑" panose="020B0503020204020204" pitchFamily="34" charset="-122"/>
                <a:ea typeface="微软雅黑" panose="020B0503020204020204" pitchFamily="34" charset="-122"/>
              </a:rPr>
              <a:t>指令打包（将同时发射的多条指令合并到一个长指令中）</a:t>
            </a:r>
            <a:endParaRPr lang="zh-CN" altLang="en-US" sz="2000" dirty="0">
              <a:latin typeface="微软雅黑" panose="020B0503020204020204" pitchFamily="34" charset="-122"/>
              <a:ea typeface="微软雅黑" panose="020B0503020204020204" pitchFamily="34" charset="-122"/>
            </a:endParaRPr>
          </a:p>
          <a:p>
            <a:pPr lvl="2" defTabSz="914400">
              <a:lnSpc>
                <a:spcPct val="125000"/>
              </a:lnSpc>
              <a:buSzPct val="100000"/>
            </a:pPr>
            <a:r>
              <a:rPr lang="zh-CN" altLang="en-US" sz="2000" dirty="0">
                <a:latin typeface="微软雅黑" panose="020B0503020204020204" pitchFamily="34" charset="-122"/>
                <a:ea typeface="微软雅黑" panose="020B0503020204020204" pitchFamily="34" charset="-122"/>
              </a:rPr>
              <a:t>将同一个时钟周期内发射的多个指令看成是一条多个操作的长指令，称为一个</a:t>
            </a:r>
            <a:r>
              <a:rPr lang="en-US" altLang="zh-CN" sz="200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发射包”</a:t>
            </a:r>
            <a:endParaRPr lang="zh-CN" altLang="en-US" sz="2000" dirty="0">
              <a:latin typeface="微软雅黑" panose="020B0503020204020204" pitchFamily="34" charset="-122"/>
              <a:ea typeface="微软雅黑" panose="020B0503020204020204" pitchFamily="34" charset="-122"/>
            </a:endParaRPr>
          </a:p>
          <a:p>
            <a:pPr lvl="2" defTabSz="914400">
              <a:lnSpc>
                <a:spcPct val="125000"/>
              </a:lnSpc>
              <a:buSzPct val="100000"/>
            </a:pPr>
            <a:r>
              <a:rPr lang="zh-CN" altLang="en-US" sz="2000" dirty="0">
                <a:latin typeface="微软雅黑" panose="020B0503020204020204" pitchFamily="34" charset="-122"/>
                <a:ea typeface="微软雅黑" panose="020B0503020204020204" pitchFamily="34" charset="-122"/>
              </a:rPr>
              <a:t>“静态多发射”也被称为“</a:t>
            </a:r>
            <a:r>
              <a:rPr lang="zh-CN" altLang="en-US" sz="2000" dirty="0">
                <a:solidFill>
                  <a:schemeClr val="accent1"/>
                </a:solidFill>
                <a:latin typeface="微软雅黑" panose="020B0503020204020204" pitchFamily="34" charset="-122"/>
                <a:ea typeface="微软雅黑" panose="020B0503020204020204" pitchFamily="34" charset="-122"/>
              </a:rPr>
              <a:t>超长指令字</a:t>
            </a:r>
            <a:r>
              <a:rPr lang="zh-CN" altLang="en-US" sz="2000" dirty="0">
                <a:latin typeface="微软雅黑" panose="020B0503020204020204" pitchFamily="34" charset="-122"/>
                <a:ea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rPr>
              <a:t>VLIW-Very Long Instruction Word</a:t>
            </a:r>
            <a:r>
              <a:rPr lang="zh-CN" altLang="en-US" sz="2000" dirty="0">
                <a:latin typeface="微软雅黑" panose="020B0503020204020204" pitchFamily="34" charset="-122"/>
                <a:ea typeface="微软雅黑" panose="020B0503020204020204" pitchFamily="34" charset="-122"/>
              </a:rPr>
              <a:t>），采用这种技术的处理器被称为</a:t>
            </a:r>
            <a:r>
              <a:rPr lang="en-US" altLang="zh-CN" sz="2000">
                <a:solidFill>
                  <a:schemeClr val="accent1"/>
                </a:solidFill>
                <a:latin typeface="微软雅黑" panose="020B0503020204020204" pitchFamily="34" charset="-122"/>
                <a:ea typeface="微软雅黑" panose="020B0503020204020204" pitchFamily="34" charset="-122"/>
              </a:rPr>
              <a:t>VLIW</a:t>
            </a:r>
            <a:r>
              <a:rPr lang="zh-CN" altLang="en-US" sz="2000" dirty="0">
                <a:solidFill>
                  <a:schemeClr val="accent1"/>
                </a:solidFill>
                <a:latin typeface="微软雅黑" panose="020B0503020204020204" pitchFamily="34" charset="-122"/>
                <a:ea typeface="微软雅黑" panose="020B0503020204020204" pitchFamily="34" charset="-122"/>
              </a:rPr>
              <a:t>处理器</a:t>
            </a:r>
            <a:endParaRPr lang="zh-CN" altLang="en-US" sz="2000" dirty="0">
              <a:solidFill>
                <a:schemeClr val="accent1"/>
              </a:solidFill>
              <a:latin typeface="微软雅黑" panose="020B0503020204020204" pitchFamily="34" charset="-122"/>
              <a:ea typeface="微软雅黑" panose="020B0503020204020204" pitchFamily="34" charset="-122"/>
            </a:endParaRPr>
          </a:p>
          <a:p>
            <a:pPr lvl="2" defTabSz="914400">
              <a:lnSpc>
                <a:spcPct val="125000"/>
              </a:lnSpc>
              <a:buSzPct val="100000"/>
            </a:pPr>
            <a:r>
              <a:rPr lang="zh-CN" altLang="en-US" sz="2000" dirty="0">
                <a:latin typeface="微软雅黑" panose="020B0503020204020204" pitchFamily="34" charset="-122"/>
                <a:ea typeface="微软雅黑" panose="020B0503020204020204" pitchFamily="34" charset="-122"/>
              </a:rPr>
              <a:t>在同一个周期内发射的指令类型是受限制的</a:t>
            </a:r>
            <a:r>
              <a:rPr lang="zh-CN" altLang="en-US" sz="2000" dirty="0">
                <a:solidFill>
                  <a:srgbClr val="E67F18"/>
                </a:solidFill>
                <a:latin typeface="微软雅黑" panose="020B0503020204020204" pitchFamily="34" charset="-122"/>
                <a:ea typeface="微软雅黑" panose="020B0503020204020204" pitchFamily="34" charset="-122"/>
              </a:rPr>
              <a:t>（举例</a:t>
            </a:r>
            <a:r>
              <a:rPr lang="en-US" altLang="zh-CN" sz="2000">
                <a:solidFill>
                  <a:srgbClr val="E67F18"/>
                </a:solidFill>
                <a:latin typeface="微软雅黑" panose="020B0503020204020204" pitchFamily="34" charset="-122"/>
                <a:ea typeface="微软雅黑" panose="020B0503020204020204" pitchFamily="34" charset="-122"/>
              </a:rPr>
              <a:t>:</a:t>
            </a:r>
            <a:r>
              <a:rPr lang="zh-CN" altLang="en-US" sz="2000" dirty="0">
                <a:solidFill>
                  <a:srgbClr val="E67F18"/>
                </a:solidFill>
                <a:latin typeface="微软雅黑" panose="020B0503020204020204" pitchFamily="34" charset="-122"/>
                <a:ea typeface="微软雅黑" panose="020B0503020204020204" pitchFamily="34" charset="-122"/>
              </a:rPr>
              <a:t>干洗</a:t>
            </a:r>
            <a:r>
              <a:rPr lang="en-US" altLang="zh-CN" sz="2000">
                <a:solidFill>
                  <a:srgbClr val="E67F18"/>
                </a:solidFill>
                <a:latin typeface="微软雅黑" panose="020B0503020204020204" pitchFamily="34" charset="-122"/>
                <a:ea typeface="微软雅黑" panose="020B0503020204020204" pitchFamily="34" charset="-122"/>
              </a:rPr>
              <a:t>/</a:t>
            </a:r>
            <a:r>
              <a:rPr lang="zh-CN" altLang="en-US" sz="2000" dirty="0">
                <a:solidFill>
                  <a:srgbClr val="E67F18"/>
                </a:solidFill>
                <a:latin typeface="微软雅黑" panose="020B0503020204020204" pitchFamily="34" charset="-122"/>
                <a:ea typeface="微软雅黑" panose="020B0503020204020204" pitchFamily="34" charset="-122"/>
              </a:rPr>
              <a:t>水洗）</a:t>
            </a:r>
            <a:endParaRPr lang="zh-CN" altLang="en-US" sz="2000" dirty="0">
              <a:solidFill>
                <a:srgbClr val="E67F18"/>
              </a:solidFill>
              <a:latin typeface="微软雅黑" panose="020B0503020204020204" pitchFamily="34" charset="-122"/>
              <a:ea typeface="微软雅黑" panose="020B0503020204020204" pitchFamily="34" charset="-122"/>
            </a:endParaRPr>
          </a:p>
          <a:p>
            <a:pPr lvl="2" defTabSz="914400">
              <a:lnSpc>
                <a:spcPct val="125000"/>
              </a:lnSpc>
              <a:buSzPct val="100000"/>
              <a:buNone/>
            </a:pPr>
            <a:r>
              <a:rPr lang="zh-CN" altLang="en-US" sz="2000" dirty="0">
                <a:latin typeface="微软雅黑" panose="020B0503020204020204" pitchFamily="34" charset="-122"/>
                <a:ea typeface="微软雅黑" panose="020B0503020204020204" pitchFamily="34" charset="-122"/>
              </a:rPr>
              <a:t>     </a:t>
            </a:r>
            <a:r>
              <a:rPr lang="zh-CN" altLang="en-US" sz="2000" dirty="0">
                <a:solidFill>
                  <a:srgbClr val="008000"/>
                </a:solidFill>
                <a:latin typeface="微软雅黑" panose="020B0503020204020204" pitchFamily="34" charset="-122"/>
                <a:ea typeface="微软雅黑" panose="020B0503020204020204" pitchFamily="34" charset="-122"/>
              </a:rPr>
              <a:t>例如，只能是一条</a:t>
            </a:r>
            <a:r>
              <a:rPr lang="en-US" altLang="zh-CN" sz="2000">
                <a:solidFill>
                  <a:srgbClr val="008000"/>
                </a:solidFill>
                <a:latin typeface="微软雅黑" panose="020B0503020204020204" pitchFamily="34" charset="-122"/>
                <a:ea typeface="微软雅黑" panose="020B0503020204020204" pitchFamily="34" charset="-122"/>
              </a:rPr>
              <a:t>ALU</a:t>
            </a:r>
            <a:r>
              <a:rPr lang="zh-CN" altLang="en-US" sz="2000" dirty="0">
                <a:solidFill>
                  <a:srgbClr val="008000"/>
                </a:solidFill>
                <a:latin typeface="微软雅黑" panose="020B0503020204020204" pitchFamily="34" charset="-122"/>
                <a:ea typeface="微软雅黑" panose="020B0503020204020204" pitchFamily="34" charset="-122"/>
              </a:rPr>
              <a:t>指令</a:t>
            </a:r>
            <a:r>
              <a:rPr lang="en-US" altLang="zh-CN" sz="2000">
                <a:solidFill>
                  <a:srgbClr val="008000"/>
                </a:solidFill>
                <a:latin typeface="微软雅黑" panose="020B0503020204020204" pitchFamily="34" charset="-122"/>
                <a:ea typeface="微软雅黑" panose="020B0503020204020204" pitchFamily="34" charset="-122"/>
              </a:rPr>
              <a:t>/</a:t>
            </a:r>
            <a:r>
              <a:rPr lang="zh-CN" altLang="en-US" sz="2000" dirty="0">
                <a:solidFill>
                  <a:srgbClr val="008000"/>
                </a:solidFill>
                <a:latin typeface="微软雅黑" panose="020B0503020204020204" pitchFamily="34" charset="-122"/>
                <a:ea typeface="微软雅黑" panose="020B0503020204020204" pitchFamily="34" charset="-122"/>
              </a:rPr>
              <a:t>分支指令、一条</a:t>
            </a:r>
            <a:r>
              <a:rPr lang="en-US" altLang="zh-CN" sz="2000">
                <a:solidFill>
                  <a:srgbClr val="008000"/>
                </a:solidFill>
                <a:latin typeface="微软雅黑" panose="020B0503020204020204" pitchFamily="34" charset="-122"/>
                <a:ea typeface="微软雅黑" panose="020B0503020204020204" pitchFamily="34" charset="-122"/>
              </a:rPr>
              <a:t>Load/Store</a:t>
            </a:r>
            <a:r>
              <a:rPr lang="zh-CN" altLang="en-US" sz="2000" dirty="0">
                <a:solidFill>
                  <a:srgbClr val="008000"/>
                </a:solidFill>
                <a:latin typeface="微软雅黑" panose="020B0503020204020204" pitchFamily="34" charset="-122"/>
                <a:ea typeface="微软雅黑" panose="020B0503020204020204" pitchFamily="34" charset="-122"/>
              </a:rPr>
              <a:t>指令</a:t>
            </a:r>
            <a:endParaRPr lang="zh-CN" altLang="en-US" sz="2000" dirty="0">
              <a:solidFill>
                <a:srgbClr val="008000"/>
              </a:solidFill>
              <a:latin typeface="微软雅黑" panose="020B0503020204020204" pitchFamily="34" charset="-122"/>
              <a:ea typeface="微软雅黑" panose="020B0503020204020204" pitchFamily="34" charset="-122"/>
            </a:endParaRPr>
          </a:p>
          <a:p>
            <a:pPr lvl="2" defTabSz="914400">
              <a:lnSpc>
                <a:spcPct val="125000"/>
              </a:lnSpc>
              <a:buSzPct val="100000"/>
            </a:pPr>
            <a:r>
              <a:rPr lang="en-US" altLang="zh-CN" sz="2000">
                <a:solidFill>
                  <a:schemeClr val="accent1"/>
                </a:solidFill>
                <a:latin typeface="微软雅黑" panose="020B0503020204020204" pitchFamily="34" charset="-122"/>
                <a:ea typeface="微软雅黑" panose="020B0503020204020204" pitchFamily="34" charset="-122"/>
              </a:rPr>
              <a:t>IA-64</a:t>
            </a:r>
            <a:r>
              <a:rPr lang="zh-CN" altLang="en-US" sz="2000" dirty="0">
                <a:solidFill>
                  <a:srgbClr val="A50021"/>
                </a:solidFill>
                <a:latin typeface="微软雅黑" panose="020B0503020204020204" pitchFamily="34" charset="-122"/>
                <a:ea typeface="微软雅黑" panose="020B0503020204020204" pitchFamily="34" charset="-122"/>
              </a:rPr>
              <a:t>采用这种方法，</a:t>
            </a:r>
            <a:r>
              <a:rPr lang="en-US" altLang="zh-CN" sz="2000">
                <a:solidFill>
                  <a:srgbClr val="A50021"/>
                </a:solidFill>
                <a:latin typeface="微软雅黑" panose="020B0503020204020204" pitchFamily="34" charset="-122"/>
                <a:ea typeface="微软雅黑" panose="020B0503020204020204" pitchFamily="34" charset="-122"/>
              </a:rPr>
              <a:t>Intel</a:t>
            </a:r>
            <a:r>
              <a:rPr lang="zh-CN" altLang="en-US" sz="2000" dirty="0">
                <a:solidFill>
                  <a:srgbClr val="A50021"/>
                </a:solidFill>
                <a:latin typeface="微软雅黑" panose="020B0503020204020204" pitchFamily="34" charset="-122"/>
                <a:ea typeface="微软雅黑" panose="020B0503020204020204" pitchFamily="34" charset="-122"/>
              </a:rPr>
              <a:t>称其为</a:t>
            </a:r>
            <a:r>
              <a:rPr lang="en-US" altLang="zh-CN" sz="2000">
                <a:solidFill>
                  <a:srgbClr val="A50021"/>
                </a:solidFill>
                <a:latin typeface="微软雅黑" panose="020B0503020204020204" pitchFamily="34" charset="-122"/>
                <a:ea typeface="微软雅黑" panose="020B0503020204020204" pitchFamily="34" charset="-122"/>
              </a:rPr>
              <a:t>EPIC</a:t>
            </a:r>
            <a:r>
              <a:rPr lang="zh-CN" altLang="en-US" sz="2000" dirty="0">
                <a:solidFill>
                  <a:srgbClr val="A50021"/>
                </a:solidFill>
                <a:latin typeface="微软雅黑" panose="020B0503020204020204" pitchFamily="34" charset="-122"/>
                <a:ea typeface="微软雅黑" panose="020B0503020204020204" pitchFamily="34" charset="-122"/>
              </a:rPr>
              <a:t>（</a:t>
            </a:r>
            <a:r>
              <a:rPr lang="en-US" altLang="zh-CN" sz="2000">
                <a:solidFill>
                  <a:srgbClr val="A50021"/>
                </a:solidFill>
                <a:latin typeface="微软雅黑" panose="020B0503020204020204" pitchFamily="34" charset="-122"/>
                <a:ea typeface="微软雅黑" panose="020B0503020204020204" pitchFamily="34" charset="-122"/>
              </a:rPr>
              <a:t>Explicitly Parallel Instruction Computer—</a:t>
            </a:r>
            <a:r>
              <a:rPr lang="zh-CN" altLang="en-US" sz="2000" dirty="0">
                <a:solidFill>
                  <a:schemeClr val="accent1"/>
                </a:solidFill>
                <a:latin typeface="微软雅黑" panose="020B0503020204020204" pitchFamily="34" charset="-122"/>
                <a:ea typeface="微软雅黑" panose="020B0503020204020204" pitchFamily="34" charset="-122"/>
              </a:rPr>
              <a:t>显式</a:t>
            </a:r>
            <a:r>
              <a:rPr lang="zh-CN" altLang="en-US" sz="2000" dirty="0">
                <a:solidFill>
                  <a:srgbClr val="A50021"/>
                </a:solidFill>
                <a:latin typeface="微软雅黑" panose="020B0503020204020204" pitchFamily="34" charset="-122"/>
                <a:ea typeface="微软雅黑" panose="020B0503020204020204" pitchFamily="34" charset="-122"/>
              </a:rPr>
              <a:t>并行指令计算机）</a:t>
            </a:r>
            <a:endParaRPr lang="zh-CN" altLang="en-US" sz="2000" dirty="0">
              <a:solidFill>
                <a:srgbClr val="A50021"/>
              </a:solidFill>
              <a:latin typeface="微软雅黑" panose="020B0503020204020204" pitchFamily="34" charset="-122"/>
              <a:ea typeface="微软雅黑" panose="020B0503020204020204" pitchFamily="34" charset="-122"/>
            </a:endParaRPr>
          </a:p>
        </p:txBody>
      </p:sp>
      <p:sp>
        <p:nvSpPr>
          <p:cNvPr id="570372" name="文本框 570371"/>
          <p:cNvSpPr txBox="1"/>
          <p:nvPr/>
        </p:nvSpPr>
        <p:spPr>
          <a:xfrm>
            <a:off x="1489075" y="5924550"/>
            <a:ext cx="6499225" cy="427038"/>
          </a:xfrm>
          <a:prstGeom prst="rect">
            <a:avLst/>
          </a:prstGeom>
          <a:noFill/>
          <a:ln w="12700">
            <a:noFill/>
          </a:ln>
        </p:spPr>
        <p:txBody>
          <a:bodyPr anchor="t" anchorCtr="0">
            <a:spAutoFit/>
          </a:bodyPr>
          <a:p>
            <a:pPr eaLnBrk="0" hangingPunct="0">
              <a:spcBef>
                <a:spcPct val="50000"/>
              </a:spcBef>
            </a:pPr>
            <a:r>
              <a:rPr lang="zh-CN" altLang="en-US" sz="2200" dirty="0">
                <a:latin typeface="Times New Roman" panose="02020603050405020304" pitchFamily="18" charset="0"/>
                <a:ea typeface="微软雅黑" panose="020B0503020204020204" pitchFamily="34" charset="-122"/>
              </a:rPr>
              <a:t>静态打包时，一定要保证指令内部不会出现冒险！</a:t>
            </a:r>
            <a:endParaRPr lang="zh-CN" altLang="en-US" sz="2200" dirty="0">
              <a:latin typeface="Times New Roman" panose="02020603050405020304" pitchFamily="18" charset="0"/>
              <a:ea typeface="微软雅黑" panose="020B0503020204020204" pitchFamily="34" charset="-122"/>
            </a:endParaRPr>
          </a:p>
        </p:txBody>
      </p:sp>
      <p:sp>
        <p:nvSpPr>
          <p:cNvPr id="570373" name="文本框 570372"/>
          <p:cNvSpPr txBox="1"/>
          <p:nvPr/>
        </p:nvSpPr>
        <p:spPr>
          <a:xfrm>
            <a:off x="7067550" y="5267325"/>
            <a:ext cx="1755775" cy="396875"/>
          </a:xfrm>
          <a:prstGeom prst="rect">
            <a:avLst/>
          </a:prstGeom>
          <a:noFill/>
          <a:ln w="50800">
            <a:noFill/>
          </a:ln>
        </p:spPr>
        <p:txBody>
          <a:bodyPr anchor="t" anchorCtr="0">
            <a:spAutoFit/>
          </a:bodyPr>
          <a:p>
            <a:pPr eaLnBrk="0" hangingPunct="0">
              <a:spcBef>
                <a:spcPct val="50000"/>
              </a:spcBef>
            </a:pPr>
            <a:r>
              <a:rPr lang="zh-CN" altLang="en-US" sz="2000" dirty="0">
                <a:latin typeface="微软雅黑" panose="020B0503020204020204" pitchFamily="34" charset="-122"/>
                <a:ea typeface="微软雅黑" panose="020B0503020204020204" pitchFamily="34" charset="-122"/>
              </a:rPr>
              <a:t>安腾、安腾</a:t>
            </a:r>
            <a:r>
              <a:rPr lang="en-US" altLang="zh-CN" sz="2000">
                <a:latin typeface="微软雅黑" panose="020B0503020204020204" pitchFamily="34" charset="-122"/>
                <a:ea typeface="微软雅黑" panose="020B0503020204020204" pitchFamily="34" charset="-122"/>
              </a:rPr>
              <a:t>2</a:t>
            </a:r>
            <a:endParaRPr lang="en-US" altLang="zh-CN" sz="200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0371">
                                            <p:txEl>
                                              <p:charRg st="59" end="99"/>
                                            </p:txEl>
                                          </p:spTgt>
                                        </p:tgtEl>
                                        <p:attrNameLst>
                                          <p:attrName>style.visibility</p:attrName>
                                        </p:attrNameLst>
                                      </p:cBhvr>
                                      <p:to>
                                        <p:strVal val="visible"/>
                                      </p:to>
                                    </p:set>
                                    <p:animEffect transition="in" filter="blinds(horizontal)">
                                      <p:cBhvr>
                                        <p:cTn id="7" dur="500"/>
                                        <p:tgtEl>
                                          <p:spTgt spid="570371">
                                            <p:txEl>
                                              <p:charRg st="59" end="9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0371">
                                            <p:txEl>
                                              <p:charRg st="99" end="172"/>
                                            </p:txEl>
                                          </p:spTgt>
                                        </p:tgtEl>
                                        <p:attrNameLst>
                                          <p:attrName>style.visibility</p:attrName>
                                        </p:attrNameLst>
                                      </p:cBhvr>
                                      <p:to>
                                        <p:strVal val="visible"/>
                                      </p:to>
                                    </p:set>
                                    <p:animEffect transition="in" filter="blinds(horizontal)">
                                      <p:cBhvr>
                                        <p:cTn id="12" dur="500"/>
                                        <p:tgtEl>
                                          <p:spTgt spid="570371">
                                            <p:txEl>
                                              <p:charRg st="99" end="17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0371">
                                            <p:txEl>
                                              <p:charRg st="172" end="202"/>
                                            </p:txEl>
                                          </p:spTgt>
                                        </p:tgtEl>
                                        <p:attrNameLst>
                                          <p:attrName>style.visibility</p:attrName>
                                        </p:attrNameLst>
                                      </p:cBhvr>
                                      <p:to>
                                        <p:strVal val="visible"/>
                                      </p:to>
                                    </p:set>
                                    <p:animEffect transition="in" filter="blinds(horizontal)">
                                      <p:cBhvr>
                                        <p:cTn id="17" dur="500"/>
                                        <p:tgtEl>
                                          <p:spTgt spid="570371">
                                            <p:txEl>
                                              <p:charRg st="172" end="20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70371">
                                            <p:txEl>
                                              <p:charRg st="202" end="241"/>
                                            </p:txEl>
                                          </p:spTgt>
                                        </p:tgtEl>
                                        <p:attrNameLst>
                                          <p:attrName>style.visibility</p:attrName>
                                        </p:attrNameLst>
                                      </p:cBhvr>
                                      <p:to>
                                        <p:strVal val="visible"/>
                                      </p:to>
                                    </p:set>
                                    <p:animEffect transition="in" filter="blinds(horizontal)">
                                      <p:cBhvr>
                                        <p:cTn id="22" dur="500"/>
                                        <p:tgtEl>
                                          <p:spTgt spid="570371">
                                            <p:txEl>
                                              <p:charRg st="202" end="24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70371">
                                            <p:txEl>
                                              <p:charRg st="241" end="318"/>
                                            </p:txEl>
                                          </p:spTgt>
                                        </p:tgtEl>
                                        <p:attrNameLst>
                                          <p:attrName>style.visibility</p:attrName>
                                        </p:attrNameLst>
                                      </p:cBhvr>
                                      <p:to>
                                        <p:strVal val="visible"/>
                                      </p:to>
                                    </p:set>
                                    <p:animEffect transition="in" filter="blinds(horizontal)">
                                      <p:cBhvr>
                                        <p:cTn id="27" dur="500"/>
                                        <p:tgtEl>
                                          <p:spTgt spid="570371">
                                            <p:txEl>
                                              <p:charRg st="241" end="31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70373"/>
                                        </p:tgtEl>
                                        <p:attrNameLst>
                                          <p:attrName>style.visibility</p:attrName>
                                        </p:attrNameLst>
                                      </p:cBhvr>
                                      <p:to>
                                        <p:strVal val="visible"/>
                                      </p:to>
                                    </p:set>
                                    <p:animEffect transition="in" filter="blinds(horizontal)">
                                      <p:cBhvr>
                                        <p:cTn id="32" dur="500"/>
                                        <p:tgtEl>
                                          <p:spTgt spid="57037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70372"/>
                                        </p:tgtEl>
                                        <p:attrNameLst>
                                          <p:attrName>style.visibility</p:attrName>
                                        </p:attrNameLst>
                                      </p:cBhvr>
                                      <p:to>
                                        <p:strVal val="visible"/>
                                      </p:to>
                                    </p:set>
                                    <p:animEffect transition="in" filter="blinds(horizontal)">
                                      <p:cBhvr>
                                        <p:cTn id="37" dur="500"/>
                                        <p:tgtEl>
                                          <p:spTgt spid="570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0372" grpId="0"/>
      <p:bldP spid="570373"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5" name="标题 571393"/>
          <p:cNvSpPr>
            <a:spLocks noGrp="1"/>
          </p:cNvSpPr>
          <p:nvPr>
            <p:ph type="title"/>
          </p:nvPr>
        </p:nvSpPr>
        <p:spPr>
          <a:ln/>
        </p:spPr>
        <p:txBody>
          <a:bodyPr lIns="63500" tIns="25400" rIns="63500" bIns="25400" anchor="t" anchorCtr="0">
            <a:spAutoFit/>
          </a:bodyPr>
          <a:p>
            <a:r>
              <a:rPr lang="zh-CN" altLang="en-US" dirty="0"/>
              <a:t>动态多发射处理器</a:t>
            </a:r>
            <a:endParaRPr lang="zh-CN" altLang="en-US" dirty="0"/>
          </a:p>
        </p:txBody>
      </p:sp>
      <p:sp>
        <p:nvSpPr>
          <p:cNvPr id="571395" name="文本占位符 571394"/>
          <p:cNvSpPr>
            <a:spLocks noGrp="1"/>
          </p:cNvSpPr>
          <p:nvPr>
            <p:ph type="body" sz="half" idx="1"/>
          </p:nvPr>
        </p:nvSpPr>
        <p:spPr>
          <a:xfrm>
            <a:off x="207963" y="714375"/>
            <a:ext cx="8756650" cy="3949700"/>
          </a:xfrm>
          <a:ln/>
        </p:spPr>
        <p:txBody>
          <a:bodyPr wrap="square" lIns="63500" tIns="25400" rIns="63500" bIns="25400" anchor="t" anchorCtr="0">
            <a:spAutoFit/>
          </a:bodyPr>
          <a:p>
            <a:pPr defTabSz="914400">
              <a:spcBef>
                <a:spcPct val="10000"/>
              </a:spcBef>
              <a:buClrTx/>
              <a:buSzPct val="100000"/>
              <a:buFontTx/>
            </a:pPr>
            <a:r>
              <a:rPr lang="zh-CN" altLang="en-US" sz="2000" dirty="0">
                <a:latin typeface="微软雅黑" panose="020B0503020204020204" pitchFamily="34" charset="-122"/>
                <a:ea typeface="微软雅黑" panose="020B0503020204020204" pitchFamily="34" charset="-122"/>
              </a:rPr>
              <a:t>由硬件在执行时动态完成指令打包或冒险处理</a:t>
            </a:r>
            <a:endParaRPr lang="zh-CN" altLang="en-US" sz="2000" dirty="0">
              <a:latin typeface="微软雅黑" panose="020B0503020204020204" pitchFamily="34" charset="-122"/>
              <a:ea typeface="微软雅黑" panose="020B0503020204020204" pitchFamily="34" charset="-122"/>
            </a:endParaRPr>
          </a:p>
          <a:p>
            <a:pPr defTabSz="914400">
              <a:spcBef>
                <a:spcPct val="10000"/>
              </a:spcBef>
              <a:buClrTx/>
              <a:buSzPct val="100000"/>
              <a:buFontTx/>
            </a:pPr>
            <a:r>
              <a:rPr lang="zh-CN" altLang="en-US" sz="2000" dirty="0">
                <a:latin typeface="微软雅黑" panose="020B0503020204020204" pitchFamily="34" charset="-122"/>
                <a:ea typeface="微软雅黑" panose="020B0503020204020204" pitchFamily="34" charset="-122"/>
              </a:rPr>
              <a:t>通常被称为超标量处理器（</a:t>
            </a:r>
            <a:r>
              <a:rPr lang="en-US" altLang="zh-CN" sz="2000">
                <a:latin typeface="微软雅黑" panose="020B0503020204020204" pitchFamily="34" charset="-122"/>
                <a:ea typeface="微软雅黑" panose="020B0503020204020204" pitchFamily="34" charset="-122"/>
              </a:rPr>
              <a:t>Superscalar</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1" defTabSz="914400">
              <a:spcBef>
                <a:spcPct val="10000"/>
              </a:spcBef>
              <a:buSzPct val="100000"/>
            </a:pPr>
            <a:r>
              <a:rPr lang="zh-CN" altLang="en-US" sz="2000" dirty="0">
                <a:latin typeface="微软雅黑" panose="020B0503020204020204" pitchFamily="34" charset="-122"/>
                <a:ea typeface="微软雅黑" panose="020B0503020204020204" pitchFamily="34" charset="-122"/>
              </a:rPr>
              <a:t>同一个时钟动态发射多条指令，一个周期内可执行一条以上指令</a:t>
            </a:r>
            <a:endParaRPr lang="zh-CN" altLang="en-US" sz="2000" dirty="0">
              <a:latin typeface="微软雅黑" panose="020B0503020204020204" pitchFamily="34" charset="-122"/>
              <a:ea typeface="微软雅黑" panose="020B0503020204020204" pitchFamily="34" charset="-122"/>
            </a:endParaRPr>
          </a:p>
          <a:p>
            <a:pPr defTabSz="914400">
              <a:spcBef>
                <a:spcPct val="10000"/>
              </a:spcBef>
              <a:buClrTx/>
              <a:buSzPct val="100000"/>
              <a:buFontTx/>
            </a:pPr>
            <a:r>
              <a:rPr lang="zh-CN" altLang="en-US" sz="2000" dirty="0">
                <a:latin typeface="微软雅黑" panose="020B0503020204020204" pitchFamily="34" charset="-122"/>
                <a:ea typeface="微软雅黑" panose="020B0503020204020204" pitchFamily="34" charset="-122"/>
              </a:rPr>
              <a:t>与</a:t>
            </a:r>
            <a:r>
              <a:rPr lang="en-US" altLang="zh-CN" sz="2000">
                <a:latin typeface="微软雅黑" panose="020B0503020204020204" pitchFamily="34" charset="-122"/>
                <a:ea typeface="微软雅黑" panose="020B0503020204020204" pitchFamily="34" charset="-122"/>
              </a:rPr>
              <a:t>VLIW</a:t>
            </a:r>
            <a:r>
              <a:rPr lang="zh-CN" altLang="en-US" sz="2000" dirty="0">
                <a:latin typeface="微软雅黑" panose="020B0503020204020204" pitchFamily="34" charset="-122"/>
                <a:ea typeface="微软雅黑" panose="020B0503020204020204" pitchFamily="34" charset="-122"/>
              </a:rPr>
              <a:t>处理器的不同点：</a:t>
            </a:r>
            <a:endParaRPr lang="zh-CN" altLang="en-US" sz="2000" dirty="0">
              <a:latin typeface="微软雅黑" panose="020B0503020204020204" pitchFamily="34" charset="-122"/>
              <a:ea typeface="微软雅黑" panose="020B0503020204020204" pitchFamily="34" charset="-122"/>
            </a:endParaRPr>
          </a:p>
          <a:p>
            <a:pPr lvl="1" defTabSz="914400">
              <a:spcBef>
                <a:spcPct val="10000"/>
              </a:spcBef>
              <a:buSzPct val="100000"/>
            </a:pPr>
            <a:r>
              <a:rPr lang="en-US" altLang="zh-CN" sz="2000">
                <a:solidFill>
                  <a:srgbClr val="008000"/>
                </a:solidFill>
                <a:latin typeface="微软雅黑" panose="020B0503020204020204" pitchFamily="34" charset="-122"/>
                <a:ea typeface="微软雅黑" panose="020B0503020204020204" pitchFamily="34" charset="-122"/>
              </a:rPr>
              <a:t>VLIW</a:t>
            </a:r>
            <a:r>
              <a:rPr lang="zh-CN" altLang="en-US" sz="2000" dirty="0">
                <a:solidFill>
                  <a:srgbClr val="008000"/>
                </a:solidFill>
                <a:latin typeface="微软雅黑" panose="020B0503020204020204" pitchFamily="34" charset="-122"/>
                <a:ea typeface="微软雅黑" panose="020B0503020204020204" pitchFamily="34" charset="-122"/>
              </a:rPr>
              <a:t>处理器：</a:t>
            </a:r>
            <a:r>
              <a:rPr lang="zh-CN" altLang="en-US" sz="2000" dirty="0">
                <a:latin typeface="微软雅黑" panose="020B0503020204020204" pitchFamily="34" charset="-122"/>
                <a:ea typeface="微软雅黑" panose="020B0503020204020204" pitchFamily="34" charset="-122"/>
              </a:rPr>
              <a:t>与机器结构密切相关，在结构有差异机器上要重新编译</a:t>
            </a:r>
            <a:endParaRPr lang="zh-CN" altLang="en-US" sz="2000" dirty="0">
              <a:latin typeface="微软雅黑" panose="020B0503020204020204" pitchFamily="34" charset="-122"/>
              <a:ea typeface="微软雅黑" panose="020B0503020204020204" pitchFamily="34" charset="-122"/>
            </a:endParaRPr>
          </a:p>
          <a:p>
            <a:pPr lvl="1" defTabSz="914400">
              <a:spcBef>
                <a:spcPct val="10000"/>
              </a:spcBef>
              <a:buSzPct val="100000"/>
            </a:pPr>
            <a:r>
              <a:rPr lang="zh-CN" altLang="en-US" sz="2000" dirty="0">
                <a:solidFill>
                  <a:srgbClr val="008000"/>
                </a:solidFill>
                <a:latin typeface="微软雅黑" panose="020B0503020204020204" pitchFamily="34" charset="-122"/>
                <a:ea typeface="微软雅黑" panose="020B0503020204020204" pitchFamily="34" charset="-122"/>
              </a:rPr>
              <a:t>超标量处理器：</a:t>
            </a:r>
            <a:r>
              <a:rPr lang="zh-CN" altLang="en-US" sz="2000" dirty="0">
                <a:latin typeface="微软雅黑" panose="020B0503020204020204" pitchFamily="34" charset="-122"/>
                <a:ea typeface="微软雅黑" panose="020B0503020204020204" pitchFamily="34" charset="-122"/>
              </a:rPr>
              <a:t>编译器仅进行指令顺序调整（还是串行序列），不进行指令打包，而是由硬件根据机器结构决定同时发射哪几条指令。因此，编译后的代码能够被不同结构的机器正确执行</a:t>
            </a:r>
            <a:endParaRPr lang="zh-CN" altLang="en-US" sz="2000" dirty="0">
              <a:latin typeface="微软雅黑" panose="020B0503020204020204" pitchFamily="34" charset="-122"/>
              <a:ea typeface="微软雅黑" panose="020B0503020204020204" pitchFamily="34" charset="-122"/>
            </a:endParaRPr>
          </a:p>
          <a:p>
            <a:pPr defTabSz="914400">
              <a:spcBef>
                <a:spcPct val="10000"/>
              </a:spcBef>
              <a:buClrTx/>
              <a:buSzPct val="100000"/>
              <a:buFontTx/>
            </a:pPr>
            <a:r>
              <a:rPr lang="zh-CN" altLang="en-US" sz="2000" dirty="0">
                <a:latin typeface="微软雅黑" panose="020B0503020204020204" pitchFamily="34" charset="-122"/>
                <a:ea typeface="微软雅黑" panose="020B0503020204020204" pitchFamily="34" charset="-122"/>
              </a:rPr>
              <a:t>超标量多结合动态流水线调度（</a:t>
            </a:r>
            <a:r>
              <a:rPr lang="en-US" altLang="zh-CN" sz="2000">
                <a:latin typeface="微软雅黑" panose="020B0503020204020204" pitchFamily="34" charset="-122"/>
                <a:ea typeface="微软雅黑" panose="020B0503020204020204" pitchFamily="34" charset="-122"/>
              </a:rPr>
              <a:t>Dynamic pipeline scheduling</a:t>
            </a:r>
            <a:r>
              <a:rPr lang="zh-CN" altLang="en-US" sz="2000" dirty="0">
                <a:latin typeface="微软雅黑" panose="020B0503020204020204" pitchFamily="34" charset="-122"/>
                <a:ea typeface="微软雅黑" panose="020B0503020204020204" pitchFamily="34" charset="-122"/>
              </a:rPr>
              <a:t>）技术</a:t>
            </a:r>
            <a:endParaRPr lang="zh-CN" altLang="en-US" sz="2000" dirty="0">
              <a:latin typeface="微软雅黑" panose="020B0503020204020204" pitchFamily="34" charset="-122"/>
              <a:ea typeface="微软雅黑" panose="020B0503020204020204" pitchFamily="34" charset="-122"/>
            </a:endParaRPr>
          </a:p>
          <a:p>
            <a:pPr lvl="1" defTabSz="914400">
              <a:spcBef>
                <a:spcPct val="10000"/>
              </a:spcBef>
              <a:buSzPct val="100000"/>
            </a:pPr>
            <a:r>
              <a:rPr lang="zh-CN" altLang="en-US" sz="2000" dirty="0">
                <a:latin typeface="微软雅黑" panose="020B0503020204020204" pitchFamily="34" charset="-122"/>
                <a:ea typeface="微软雅黑" panose="020B0503020204020204" pitchFamily="34" charset="-122"/>
              </a:rPr>
              <a:t>通过指令相关性检测和动态分支预测等手段，投机性地不按指令顺序执行，当发生流水线阻塞时，可以到后面找指令来执行</a:t>
            </a:r>
            <a:r>
              <a:rPr lang="zh-CN" altLang="en-US" sz="2000" dirty="0">
                <a:solidFill>
                  <a:schemeClr val="accent1"/>
                </a:solidFill>
                <a:latin typeface="微软雅黑" panose="020B0503020204020204" pitchFamily="34" charset="-122"/>
                <a:ea typeface="微软雅黑" panose="020B0503020204020204" pitchFamily="34" charset="-122"/>
              </a:rPr>
              <a:t>（乱序执行）</a:t>
            </a:r>
            <a:endParaRPr lang="zh-CN" altLang="en-US" sz="2000" dirty="0">
              <a:solidFill>
                <a:schemeClr val="accent1"/>
              </a:solidFill>
              <a:latin typeface="微软雅黑" panose="020B0503020204020204" pitchFamily="34" charset="-122"/>
              <a:ea typeface="微软雅黑" panose="020B0503020204020204" pitchFamily="34" charset="-122"/>
            </a:endParaRPr>
          </a:p>
          <a:p>
            <a:pPr lvl="1" defTabSz="914400">
              <a:spcBef>
                <a:spcPct val="10000"/>
              </a:spcBef>
              <a:buSzPct val="100000"/>
            </a:pPr>
            <a:r>
              <a:rPr lang="zh-CN" altLang="en-US" sz="2000" dirty="0">
                <a:solidFill>
                  <a:srgbClr val="008000"/>
                </a:solidFill>
                <a:latin typeface="微软雅黑" panose="020B0503020204020204" pitchFamily="34" charset="-122"/>
                <a:ea typeface="微软雅黑" panose="020B0503020204020204" pitchFamily="34" charset="-122"/>
              </a:rPr>
              <a:t>举例说明动态流水线调度技术：</a:t>
            </a:r>
            <a:endParaRPr lang="zh-CN" altLang="en-US" sz="2000" dirty="0">
              <a:solidFill>
                <a:srgbClr val="008000"/>
              </a:solidFill>
              <a:latin typeface="微软雅黑" panose="020B0503020204020204" pitchFamily="34" charset="-122"/>
              <a:ea typeface="微软雅黑" panose="020B0503020204020204" pitchFamily="34" charset="-122"/>
            </a:endParaRPr>
          </a:p>
        </p:txBody>
      </p:sp>
      <p:pic>
        <p:nvPicPr>
          <p:cNvPr id="571396" name="内容占位符 571395"/>
          <p:cNvPicPr>
            <a:picLocks noGrp="1" noChangeAspect="1"/>
          </p:cNvPicPr>
          <p:nvPr>
            <p:ph sz="half" idx="2"/>
          </p:nvPr>
        </p:nvPicPr>
        <p:blipFill>
          <a:blip r:embed="rId1"/>
          <a:stretch>
            <a:fillRect/>
          </a:stretch>
        </p:blipFill>
        <p:spPr>
          <a:xfrm>
            <a:off x="277813" y="4833938"/>
            <a:ext cx="3125787" cy="1720850"/>
          </a:xfrm>
          <a:ln>
            <a:solidFill>
              <a:schemeClr val="tx1"/>
            </a:solidFill>
            <a:miter/>
          </a:ln>
        </p:spPr>
      </p:pic>
      <p:sp>
        <p:nvSpPr>
          <p:cNvPr id="571397" name="文本框 571396"/>
          <p:cNvSpPr txBox="1"/>
          <p:nvPr/>
        </p:nvSpPr>
        <p:spPr>
          <a:xfrm>
            <a:off x="3773488" y="5337175"/>
            <a:ext cx="5038725" cy="1158875"/>
          </a:xfrm>
          <a:prstGeom prst="rect">
            <a:avLst/>
          </a:prstGeom>
          <a:noFill/>
          <a:ln w="12700">
            <a:noFill/>
          </a:ln>
        </p:spPr>
        <p:txBody>
          <a:bodyPr anchor="t" anchorCtr="0">
            <a:spAutoFit/>
          </a:bodyPr>
          <a:p>
            <a:pPr eaLnBrk="0" hangingPunct="0">
              <a:spcBef>
                <a:spcPct val="50000"/>
              </a:spcBef>
            </a:pPr>
            <a:r>
              <a:rPr lang="en-US" altLang="zh-CN" sz="2000">
                <a:latin typeface="微软雅黑" panose="020B0503020204020204" pitchFamily="34" charset="-122"/>
                <a:ea typeface="微软雅黑" panose="020B0503020204020204" pitchFamily="34" charset="-122"/>
              </a:rPr>
              <a:t>sub</a:t>
            </a:r>
            <a:r>
              <a:rPr lang="zh-CN" altLang="en-US" sz="2000" dirty="0">
                <a:latin typeface="微软雅黑" panose="020B0503020204020204" pitchFamily="34" charset="-122"/>
                <a:ea typeface="微软雅黑" panose="020B0503020204020204" pitchFamily="34" charset="-122"/>
              </a:rPr>
              <a:t>指令可提前到</a:t>
            </a:r>
            <a:r>
              <a:rPr lang="en-US" altLang="zh-CN" sz="2000" err="1">
                <a:latin typeface="微软雅黑" panose="020B0503020204020204" pitchFamily="34" charset="-122"/>
                <a:ea typeface="微软雅黑" panose="020B0503020204020204" pitchFamily="34" charset="-122"/>
              </a:rPr>
              <a:t>addu</a:t>
            </a:r>
            <a:r>
              <a:rPr lang="zh-CN" altLang="en-US" sz="2000" dirty="0">
                <a:latin typeface="微软雅黑" panose="020B0503020204020204" pitchFamily="34" charset="-122"/>
                <a:ea typeface="微软雅黑" panose="020B0503020204020204" pitchFamily="34" charset="-122"/>
              </a:rPr>
              <a:t>指令前执行</a:t>
            </a:r>
            <a:endParaRPr lang="zh-CN" altLang="en-US" sz="2000" dirty="0">
              <a:latin typeface="微软雅黑" panose="020B0503020204020204" pitchFamily="34" charset="-122"/>
              <a:ea typeface="微软雅黑" panose="020B0503020204020204" pitchFamily="34" charset="-122"/>
            </a:endParaRPr>
          </a:p>
          <a:p>
            <a:pPr eaLnBrk="0" hangingPunct="0">
              <a:spcBef>
                <a:spcPct val="50000"/>
              </a:spcBef>
            </a:pPr>
            <a:r>
              <a:rPr lang="zh-CN" altLang="en-US" sz="2000" dirty="0">
                <a:latin typeface="微软雅黑" panose="020B0503020204020204" pitchFamily="34" charset="-122"/>
                <a:ea typeface="微软雅黑" panose="020B0503020204020204" pitchFamily="34" charset="-122"/>
              </a:rPr>
              <a:t>如果不将</a:t>
            </a:r>
            <a:r>
              <a:rPr lang="en-US" altLang="zh-CN" sz="2000">
                <a:latin typeface="微软雅黑" panose="020B0503020204020204" pitchFamily="34" charset="-122"/>
                <a:ea typeface="微软雅黑" panose="020B0503020204020204" pitchFamily="34" charset="-122"/>
              </a:rPr>
              <a:t>sub</a:t>
            </a:r>
            <a:r>
              <a:rPr lang="zh-CN" altLang="en-US" sz="2000" dirty="0">
                <a:latin typeface="微软雅黑" panose="020B0503020204020204" pitchFamily="34" charset="-122"/>
                <a:ea typeface="微软雅黑" panose="020B0503020204020204" pitchFamily="34" charset="-122"/>
              </a:rPr>
              <a:t>调到前面，则会影响</a:t>
            </a:r>
            <a:r>
              <a:rPr lang="en-US" altLang="zh-CN" sz="2000" err="1">
                <a:latin typeface="微软雅黑" panose="020B0503020204020204" pitchFamily="34" charset="-122"/>
                <a:ea typeface="微软雅黑" panose="020B0503020204020204" pitchFamily="34" charset="-122"/>
              </a:rPr>
              <a:t>slti</a:t>
            </a:r>
            <a:r>
              <a:rPr lang="zh-CN" altLang="en-US" sz="2000" dirty="0">
                <a:latin typeface="微软雅黑" panose="020B0503020204020204" pitchFamily="34" charset="-122"/>
                <a:ea typeface="微软雅黑" panose="020B0503020204020204" pitchFamily="34" charset="-122"/>
              </a:rPr>
              <a:t>指令的执行，而且还会发生</a:t>
            </a:r>
            <a:r>
              <a:rPr lang="en-US" altLang="zh-CN" sz="2000">
                <a:latin typeface="微软雅黑" panose="020B0503020204020204" pitchFamily="34" charset="-122"/>
                <a:ea typeface="微软雅黑" panose="020B0503020204020204" pitchFamily="34" charset="-122"/>
              </a:rPr>
              <a:t>load-use</a:t>
            </a:r>
            <a:r>
              <a:rPr lang="zh-CN" altLang="en-US" sz="2000" dirty="0">
                <a:latin typeface="微软雅黑" panose="020B0503020204020204" pitchFamily="34" charset="-122"/>
                <a:ea typeface="微软雅黑" panose="020B0503020204020204" pitchFamily="34" charset="-122"/>
              </a:rPr>
              <a:t>冒险</a:t>
            </a:r>
            <a:endParaRPr lang="zh-CN" altLang="en-US" sz="2000" dirty="0">
              <a:latin typeface="微软雅黑" panose="020B0503020204020204" pitchFamily="34" charset="-122"/>
              <a:ea typeface="微软雅黑" panose="020B0503020204020204" pitchFamily="34" charset="-122"/>
            </a:endParaRPr>
          </a:p>
        </p:txBody>
      </p:sp>
      <p:sp>
        <p:nvSpPr>
          <p:cNvPr id="571398" name="文本框 571397"/>
          <p:cNvSpPr txBox="1"/>
          <p:nvPr/>
        </p:nvSpPr>
        <p:spPr>
          <a:xfrm>
            <a:off x="3673475" y="4913313"/>
            <a:ext cx="5370513" cy="396875"/>
          </a:xfrm>
          <a:prstGeom prst="rect">
            <a:avLst/>
          </a:prstGeom>
          <a:noFill/>
          <a:ln w="12700">
            <a:noFill/>
          </a:ln>
        </p:spPr>
        <p:txBody>
          <a:bodyPr anchor="t" anchorCtr="0">
            <a:spAutoFit/>
          </a:bodyPr>
          <a:p>
            <a:pPr eaLnBrk="0" hangingPunct="0">
              <a:spcBef>
                <a:spcPct val="50000"/>
              </a:spcBef>
            </a:pPr>
            <a:r>
              <a:rPr lang="zh-CN" altLang="en-US" sz="2000" dirty="0">
                <a:solidFill>
                  <a:srgbClr val="CC0000"/>
                </a:solidFill>
                <a:latin typeface="Arial" panose="020B0604020202020204" pitchFamily="34" charset="0"/>
                <a:ea typeface="微软雅黑" panose="020B0503020204020204" pitchFamily="34" charset="-122"/>
              </a:rPr>
              <a:t>左边指令序列中，哪条指令可以提前执行？</a:t>
            </a:r>
            <a:endParaRPr lang="zh-CN" altLang="en-US" sz="2000" dirty="0">
              <a:solidFill>
                <a:srgbClr val="CC0000"/>
              </a:solidFill>
              <a:latin typeface="Arial" panose="020B0604020202020204" pitchFamily="34" charset="0"/>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1395">
                                            <p:txEl>
                                              <p:charRg st="46" end="75"/>
                                            </p:txEl>
                                          </p:spTgt>
                                        </p:tgtEl>
                                        <p:attrNameLst>
                                          <p:attrName>style.visibility</p:attrName>
                                        </p:attrNameLst>
                                      </p:cBhvr>
                                      <p:to>
                                        <p:strVal val="visible"/>
                                      </p:to>
                                    </p:set>
                                    <p:animEffect transition="in" filter="blinds(horizontal)">
                                      <p:cBhvr>
                                        <p:cTn id="7" dur="500"/>
                                        <p:tgtEl>
                                          <p:spTgt spid="571395">
                                            <p:txEl>
                                              <p:charRg st="46" end="7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1395">
                                            <p:txEl>
                                              <p:charRg st="89" end="122"/>
                                            </p:txEl>
                                          </p:spTgt>
                                        </p:tgtEl>
                                        <p:attrNameLst>
                                          <p:attrName>style.visibility</p:attrName>
                                        </p:attrNameLst>
                                      </p:cBhvr>
                                      <p:to>
                                        <p:strVal val="visible"/>
                                      </p:to>
                                    </p:set>
                                    <p:animEffect transition="in" filter="blinds(horizontal)">
                                      <p:cBhvr>
                                        <p:cTn id="12" dur="500"/>
                                        <p:tgtEl>
                                          <p:spTgt spid="571395">
                                            <p:txEl>
                                              <p:charRg st="89" end="1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1395">
                                            <p:txEl>
                                              <p:charRg st="122" end="205"/>
                                            </p:txEl>
                                          </p:spTgt>
                                        </p:tgtEl>
                                        <p:attrNameLst>
                                          <p:attrName>style.visibility</p:attrName>
                                        </p:attrNameLst>
                                      </p:cBhvr>
                                      <p:to>
                                        <p:strVal val="visible"/>
                                      </p:to>
                                    </p:set>
                                    <p:animEffect transition="in" filter="blinds(horizontal)">
                                      <p:cBhvr>
                                        <p:cTn id="17" dur="500"/>
                                        <p:tgtEl>
                                          <p:spTgt spid="571395">
                                            <p:txEl>
                                              <p:charRg st="122" end="20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71395">
                                            <p:txEl>
                                              <p:charRg st="250" end="311"/>
                                            </p:txEl>
                                          </p:spTgt>
                                        </p:tgtEl>
                                        <p:attrNameLst>
                                          <p:attrName>style.visibility</p:attrName>
                                        </p:attrNameLst>
                                      </p:cBhvr>
                                      <p:to>
                                        <p:strVal val="visible"/>
                                      </p:to>
                                    </p:set>
                                    <p:animEffect transition="in" filter="blinds(horizontal)">
                                      <p:cBhvr>
                                        <p:cTn id="22" dur="500"/>
                                        <p:tgtEl>
                                          <p:spTgt spid="571395">
                                            <p:txEl>
                                              <p:charRg st="250" end="31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71395">
                                            <p:txEl>
                                              <p:charRg st="311" end="326"/>
                                            </p:txEl>
                                          </p:spTgt>
                                        </p:tgtEl>
                                        <p:attrNameLst>
                                          <p:attrName>style.visibility</p:attrName>
                                        </p:attrNameLst>
                                      </p:cBhvr>
                                      <p:to>
                                        <p:strVal val="visible"/>
                                      </p:to>
                                    </p:set>
                                    <p:animEffect transition="in" filter="blinds(horizontal)">
                                      <p:cBhvr>
                                        <p:cTn id="27" dur="500"/>
                                        <p:tgtEl>
                                          <p:spTgt spid="571395">
                                            <p:txEl>
                                              <p:charRg st="311" end="32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71396"/>
                                        </p:tgtEl>
                                        <p:attrNameLst>
                                          <p:attrName>style.visibility</p:attrName>
                                        </p:attrNameLst>
                                      </p:cBhvr>
                                      <p:to>
                                        <p:strVal val="visible"/>
                                      </p:to>
                                    </p:set>
                                    <p:animEffect transition="in" filter="blinds(horizontal)">
                                      <p:cBhvr>
                                        <p:cTn id="32" dur="500"/>
                                        <p:tgtEl>
                                          <p:spTgt spid="57139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71398"/>
                                        </p:tgtEl>
                                        <p:attrNameLst>
                                          <p:attrName>style.visibility</p:attrName>
                                        </p:attrNameLst>
                                      </p:cBhvr>
                                      <p:to>
                                        <p:strVal val="visible"/>
                                      </p:to>
                                    </p:set>
                                    <p:animEffect transition="in" filter="blinds(horizontal)">
                                      <p:cBhvr>
                                        <p:cTn id="37" dur="500"/>
                                        <p:tgtEl>
                                          <p:spTgt spid="57139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71397">
                                            <p:txEl>
                                              <p:charRg st="0" end="19"/>
                                            </p:txEl>
                                          </p:spTgt>
                                        </p:tgtEl>
                                        <p:attrNameLst>
                                          <p:attrName>style.visibility</p:attrName>
                                        </p:attrNameLst>
                                      </p:cBhvr>
                                      <p:to>
                                        <p:strVal val="visible"/>
                                      </p:to>
                                    </p:set>
                                    <p:animEffect transition="in" filter="blinds(horizontal)">
                                      <p:cBhvr>
                                        <p:cTn id="42" dur="500"/>
                                        <p:tgtEl>
                                          <p:spTgt spid="571397">
                                            <p:txEl>
                                              <p:charRg st="0" end="1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71397">
                                            <p:txEl>
                                              <p:charRg st="19" end="62"/>
                                            </p:txEl>
                                          </p:spTgt>
                                        </p:tgtEl>
                                        <p:attrNameLst>
                                          <p:attrName>style.visibility</p:attrName>
                                        </p:attrNameLst>
                                      </p:cBhvr>
                                      <p:to>
                                        <p:strVal val="visible"/>
                                      </p:to>
                                    </p:set>
                                    <p:animEffect transition="in" filter="blinds(horizontal)">
                                      <p:cBhvr>
                                        <p:cTn id="47" dur="500"/>
                                        <p:tgtEl>
                                          <p:spTgt spid="571397">
                                            <p:txEl>
                                              <p:charRg st="19" end="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8"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89" name="标题 577537"/>
          <p:cNvSpPr>
            <a:spLocks noGrp="1"/>
          </p:cNvSpPr>
          <p:nvPr>
            <p:ph type="title"/>
          </p:nvPr>
        </p:nvSpPr>
        <p:spPr>
          <a:xfrm>
            <a:off x="515938" y="57150"/>
            <a:ext cx="7499350" cy="581025"/>
          </a:xfrm>
          <a:ln/>
        </p:spPr>
        <p:txBody>
          <a:bodyPr lIns="63500" tIns="25400" rIns="63500" bIns="25400" anchor="t" anchorCtr="0">
            <a:spAutoFit/>
          </a:bodyPr>
          <a:p>
            <a:r>
              <a:rPr lang="zh-CN" altLang="en-US" sz="4000" dirty="0"/>
              <a:t>本章小结</a:t>
            </a:r>
            <a:endParaRPr lang="zh-CN" altLang="en-US" sz="4000" dirty="0"/>
          </a:p>
        </p:txBody>
      </p:sp>
      <p:sp>
        <p:nvSpPr>
          <p:cNvPr id="577539" name="内容占位符 577538"/>
          <p:cNvSpPr>
            <a:spLocks noGrp="1"/>
          </p:cNvSpPr>
          <p:nvPr>
            <p:ph idx="1"/>
          </p:nvPr>
        </p:nvSpPr>
        <p:spPr>
          <a:xfrm>
            <a:off x="250825" y="873125"/>
            <a:ext cx="8504238" cy="5562600"/>
          </a:xfrm>
          <a:ln/>
        </p:spPr>
        <p:txBody>
          <a:bodyPr wrap="square" lIns="63500" tIns="25400" rIns="63500" bIns="25400" anchor="t" anchorCtr="0">
            <a:spAutoFit/>
          </a:bodyPr>
          <a:p>
            <a:r>
              <a:rPr lang="en-US" altLang="zh-CN" sz="2200">
                <a:latin typeface="微软雅黑" panose="020B0503020204020204" pitchFamily="34" charset="-122"/>
                <a:ea typeface="微软雅黑" panose="020B0503020204020204" pitchFamily="34" charset="-122"/>
              </a:rPr>
              <a:t>CPU</a:t>
            </a:r>
            <a:r>
              <a:rPr lang="zh-CN" altLang="en-US" sz="2200" dirty="0">
                <a:latin typeface="微软雅黑" panose="020B0503020204020204" pitchFamily="34" charset="-122"/>
                <a:ea typeface="微软雅黑" panose="020B0503020204020204" pitchFamily="34" charset="-122"/>
              </a:rPr>
              <a:t>的基本功能是周而复始地执行指令，并处理异常和中断。</a:t>
            </a:r>
            <a:endParaRPr lang="zh-CN" altLang="en-US" sz="2200" dirty="0">
              <a:latin typeface="微软雅黑" panose="020B0503020204020204" pitchFamily="34" charset="-122"/>
              <a:ea typeface="微软雅黑" panose="020B0503020204020204" pitchFamily="34" charset="-122"/>
            </a:endParaRPr>
          </a:p>
          <a:p>
            <a:r>
              <a:rPr lang="en-US" altLang="zh-CN" sz="2200">
                <a:latin typeface="微软雅黑" panose="020B0503020204020204" pitchFamily="34" charset="-122"/>
                <a:ea typeface="微软雅黑" panose="020B0503020204020204" pitchFamily="34" charset="-122"/>
              </a:rPr>
              <a:t>CPU</a:t>
            </a:r>
            <a:r>
              <a:rPr lang="zh-CN" altLang="en-US" sz="2200" dirty="0">
                <a:latin typeface="微软雅黑" panose="020B0503020204020204" pitchFamily="34" charset="-122"/>
                <a:ea typeface="微软雅黑" panose="020B0503020204020204" pitchFamily="34" charset="-122"/>
              </a:rPr>
              <a:t>最基本的部分是数据通路和控制单元</a:t>
            </a:r>
            <a:endParaRPr lang="zh-CN" altLang="en-US"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数据通路（</a:t>
            </a:r>
            <a:r>
              <a:rPr lang="en-US" altLang="zh-CN" sz="2200" err="1">
                <a:latin typeface="微软雅黑" panose="020B0503020204020204" pitchFamily="34" charset="-122"/>
                <a:ea typeface="微软雅黑" panose="020B0503020204020204" pitchFamily="34" charset="-122"/>
              </a:rPr>
              <a:t>datapath</a:t>
            </a:r>
            <a:r>
              <a:rPr lang="zh-CN" altLang="en-US" sz="2200" dirty="0">
                <a:latin typeface="微软雅黑" panose="020B0503020204020204" pitchFamily="34" charset="-122"/>
                <a:ea typeface="微软雅黑" panose="020B0503020204020204" pitchFamily="34" charset="-122"/>
              </a:rPr>
              <a:t>）中包含组合逻辑元件和存储信息的状态元件。</a:t>
            </a:r>
            <a:endParaRPr lang="zh-CN" altLang="en-US" sz="2200" dirty="0">
              <a:latin typeface="微软雅黑" panose="020B0503020204020204" pitchFamily="34" charset="-122"/>
              <a:ea typeface="微软雅黑" panose="020B0503020204020204" pitchFamily="34" charset="-122"/>
            </a:endParaRPr>
          </a:p>
          <a:p>
            <a:pPr lvl="2"/>
            <a:r>
              <a:rPr lang="zh-CN" altLang="en-US" sz="2200" dirty="0">
                <a:latin typeface="微软雅黑" panose="020B0503020204020204" pitchFamily="34" charset="-122"/>
                <a:ea typeface="微软雅黑" panose="020B0503020204020204" pitchFamily="34" charset="-122"/>
              </a:rPr>
              <a:t>组合逻辑（如加法器、</a:t>
            </a:r>
            <a:r>
              <a:rPr lang="en-US" altLang="zh-CN" sz="2200">
                <a:latin typeface="微软雅黑" panose="020B0503020204020204" pitchFamily="34" charset="-122"/>
                <a:ea typeface="微软雅黑" panose="020B0503020204020204" pitchFamily="34" charset="-122"/>
              </a:rPr>
              <a:t>ALU</a:t>
            </a:r>
            <a:r>
              <a:rPr lang="zh-CN" altLang="en-US" sz="2200" dirty="0">
                <a:latin typeface="微软雅黑" panose="020B0503020204020204" pitchFamily="34" charset="-122"/>
                <a:ea typeface="微软雅黑" panose="020B0503020204020204" pitchFamily="34" charset="-122"/>
              </a:rPr>
              <a:t>、扩展器、多路选择器以及状态元件的读操作逻辑等）用于对数据进行处理；</a:t>
            </a:r>
            <a:endParaRPr lang="zh-CN" altLang="en-US" sz="2200" dirty="0">
              <a:latin typeface="微软雅黑" panose="020B0503020204020204" pitchFamily="34" charset="-122"/>
              <a:ea typeface="微软雅黑" panose="020B0503020204020204" pitchFamily="34" charset="-122"/>
            </a:endParaRPr>
          </a:p>
          <a:p>
            <a:pPr lvl="2"/>
            <a:r>
              <a:rPr lang="zh-CN" altLang="en-US" sz="2200" dirty="0">
                <a:latin typeface="微软雅黑" panose="020B0503020204020204" pitchFamily="34" charset="-122"/>
                <a:ea typeface="微软雅黑" panose="020B0503020204020204" pitchFamily="34" charset="-122"/>
              </a:rPr>
              <a:t>状态元件包括触发器、寄存器和存储器等，用于对指令执行的中间状态或最终结果进行存储。</a:t>
            </a:r>
            <a:endParaRPr lang="zh-CN" altLang="en-US" sz="2200" dirty="0">
              <a:latin typeface="微软雅黑" panose="020B0503020204020204" pitchFamily="34" charset="-122"/>
              <a:ea typeface="微软雅黑" panose="020B0503020204020204" pitchFamily="34" charset="-122"/>
            </a:endParaRPr>
          </a:p>
          <a:p>
            <a:pPr lvl="1"/>
            <a:r>
              <a:rPr lang="zh-CN" altLang="en-US" sz="2200" dirty="0">
                <a:latin typeface="微软雅黑" panose="020B0503020204020204" pitchFamily="34" charset="-122"/>
                <a:ea typeface="微软雅黑" panose="020B0503020204020204" pitchFamily="34" charset="-122"/>
              </a:rPr>
              <a:t>控制单元（</a:t>
            </a:r>
            <a:r>
              <a:rPr lang="en-US" altLang="zh-CN" sz="2200">
                <a:latin typeface="微软雅黑" panose="020B0503020204020204" pitchFamily="34" charset="-122"/>
                <a:ea typeface="微软雅黑" panose="020B0503020204020204" pitchFamily="34" charset="-122"/>
              </a:rPr>
              <a:t>control unit</a:t>
            </a:r>
            <a:r>
              <a:rPr lang="zh-CN" altLang="en-US" sz="2200" dirty="0">
                <a:latin typeface="微软雅黑" panose="020B0503020204020204" pitchFamily="34" charset="-122"/>
                <a:ea typeface="微软雅黑" panose="020B0503020204020204" pitchFamily="34" charset="-122"/>
              </a:rPr>
              <a:t>）：对取出的指令进行译码，与指令执行得到的条件标志或当前机器的状态、时序信号等组合，生成对数据通路进行控制的控制信号。</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指令执行过程主要包括取指、译码、取数、运算、存结果。</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通常把取出并执行一条指令的时间称为指令周期，它由机器周期或直接由时钟周期组成。现代计算机已经没有机器周期的概念。</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7539">
                                            <p:txEl>
                                              <p:charRg st="0" end="29"/>
                                            </p:txEl>
                                          </p:spTgt>
                                        </p:tgtEl>
                                        <p:attrNameLst>
                                          <p:attrName>style.visibility</p:attrName>
                                        </p:attrNameLst>
                                      </p:cBhvr>
                                      <p:to>
                                        <p:strVal val="visible"/>
                                      </p:to>
                                    </p:set>
                                    <p:animEffect transition="in" filter="blinds(horizontal)">
                                      <p:cBhvr>
                                        <p:cTn id="7" dur="500"/>
                                        <p:tgtEl>
                                          <p:spTgt spid="577539">
                                            <p:txEl>
                                              <p:charRg st="0"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7539">
                                            <p:txEl>
                                              <p:charRg st="29" end="49"/>
                                            </p:txEl>
                                          </p:spTgt>
                                        </p:tgtEl>
                                        <p:attrNameLst>
                                          <p:attrName>style.visibility</p:attrName>
                                        </p:attrNameLst>
                                      </p:cBhvr>
                                      <p:to>
                                        <p:strVal val="visible"/>
                                      </p:to>
                                    </p:set>
                                    <p:animEffect transition="in" filter="blinds(horizontal)">
                                      <p:cBhvr>
                                        <p:cTn id="12" dur="500"/>
                                        <p:tgtEl>
                                          <p:spTgt spid="577539">
                                            <p:txEl>
                                              <p:charRg st="29" end="4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7539">
                                            <p:txEl>
                                              <p:charRg st="49" end="84"/>
                                            </p:txEl>
                                          </p:spTgt>
                                        </p:tgtEl>
                                        <p:attrNameLst>
                                          <p:attrName>style.visibility</p:attrName>
                                        </p:attrNameLst>
                                      </p:cBhvr>
                                      <p:to>
                                        <p:strVal val="visible"/>
                                      </p:to>
                                    </p:set>
                                    <p:animEffect transition="in" filter="blinds(horizontal)">
                                      <p:cBhvr>
                                        <p:cTn id="17" dur="500"/>
                                        <p:tgtEl>
                                          <p:spTgt spid="577539">
                                            <p:txEl>
                                              <p:charRg st="49" end="8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77539">
                                            <p:txEl>
                                              <p:charRg st="84" end="132"/>
                                            </p:txEl>
                                          </p:spTgt>
                                        </p:tgtEl>
                                        <p:attrNameLst>
                                          <p:attrName>style.visibility</p:attrName>
                                        </p:attrNameLst>
                                      </p:cBhvr>
                                      <p:to>
                                        <p:strVal val="visible"/>
                                      </p:to>
                                    </p:set>
                                    <p:animEffect transition="in" filter="blinds(horizontal)">
                                      <p:cBhvr>
                                        <p:cTn id="22" dur="500"/>
                                        <p:tgtEl>
                                          <p:spTgt spid="577539">
                                            <p:txEl>
                                              <p:charRg st="84" end="13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77539">
                                            <p:txEl>
                                              <p:charRg st="132" end="174"/>
                                            </p:txEl>
                                          </p:spTgt>
                                        </p:tgtEl>
                                        <p:attrNameLst>
                                          <p:attrName>style.visibility</p:attrName>
                                        </p:attrNameLst>
                                      </p:cBhvr>
                                      <p:to>
                                        <p:strVal val="visible"/>
                                      </p:to>
                                    </p:set>
                                    <p:animEffect transition="in" filter="blinds(horizontal)">
                                      <p:cBhvr>
                                        <p:cTn id="27" dur="500"/>
                                        <p:tgtEl>
                                          <p:spTgt spid="577539">
                                            <p:txEl>
                                              <p:charRg st="132" end="17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77539">
                                            <p:txEl>
                                              <p:charRg st="174" end="251"/>
                                            </p:txEl>
                                          </p:spTgt>
                                        </p:tgtEl>
                                        <p:attrNameLst>
                                          <p:attrName>style.visibility</p:attrName>
                                        </p:attrNameLst>
                                      </p:cBhvr>
                                      <p:to>
                                        <p:strVal val="visible"/>
                                      </p:to>
                                    </p:set>
                                    <p:animEffect transition="in" filter="blinds(horizontal)">
                                      <p:cBhvr>
                                        <p:cTn id="32" dur="500"/>
                                        <p:tgtEl>
                                          <p:spTgt spid="577539">
                                            <p:txEl>
                                              <p:charRg st="174" end="25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77539">
                                            <p:txEl>
                                              <p:charRg st="251" end="278"/>
                                            </p:txEl>
                                          </p:spTgt>
                                        </p:tgtEl>
                                        <p:attrNameLst>
                                          <p:attrName>style.visibility</p:attrName>
                                        </p:attrNameLst>
                                      </p:cBhvr>
                                      <p:to>
                                        <p:strVal val="visible"/>
                                      </p:to>
                                    </p:set>
                                    <p:animEffect transition="in" filter="blinds(horizontal)">
                                      <p:cBhvr>
                                        <p:cTn id="37" dur="500"/>
                                        <p:tgtEl>
                                          <p:spTgt spid="577539">
                                            <p:txEl>
                                              <p:charRg st="251" end="27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77539">
                                            <p:txEl>
                                              <p:charRg st="278" end="335"/>
                                            </p:txEl>
                                          </p:spTgt>
                                        </p:tgtEl>
                                        <p:attrNameLst>
                                          <p:attrName>style.visibility</p:attrName>
                                        </p:attrNameLst>
                                      </p:cBhvr>
                                      <p:to>
                                        <p:strVal val="visible"/>
                                      </p:to>
                                    </p:set>
                                    <p:animEffect transition="in" filter="blinds(horizontal)">
                                      <p:cBhvr>
                                        <p:cTn id="42" dur="500"/>
                                        <p:tgtEl>
                                          <p:spTgt spid="577539">
                                            <p:txEl>
                                              <p:charRg st="278" end="3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3" name="标题 578561"/>
          <p:cNvSpPr>
            <a:spLocks noGrp="1"/>
          </p:cNvSpPr>
          <p:nvPr>
            <p:ph type="title"/>
          </p:nvPr>
        </p:nvSpPr>
        <p:spPr>
          <a:ln/>
        </p:spPr>
        <p:txBody>
          <a:bodyPr lIns="63500" tIns="25400" rIns="63500" bIns="25400" anchor="t" anchorCtr="0">
            <a:spAutoFit/>
          </a:bodyPr>
          <a:p>
            <a:r>
              <a:rPr lang="zh-CN" altLang="en-US" dirty="0"/>
              <a:t>本章小结</a:t>
            </a:r>
            <a:endParaRPr lang="zh-CN" altLang="en-US" dirty="0"/>
          </a:p>
        </p:txBody>
      </p:sp>
      <p:sp>
        <p:nvSpPr>
          <p:cNvPr id="578563" name="内容占位符 578562"/>
          <p:cNvSpPr>
            <a:spLocks noGrp="1"/>
          </p:cNvSpPr>
          <p:nvPr>
            <p:ph idx="1"/>
          </p:nvPr>
        </p:nvSpPr>
        <p:spPr>
          <a:xfrm>
            <a:off x="249238" y="895350"/>
            <a:ext cx="8655050" cy="5445125"/>
          </a:xfrm>
          <a:ln/>
        </p:spPr>
        <p:txBody>
          <a:bodyPr wrap="square" lIns="63500" tIns="25400" rIns="63500" bIns="25400" anchor="t" anchorCtr="0">
            <a:spAutoFit/>
          </a:bodyPr>
          <a:p>
            <a:r>
              <a:rPr lang="zh-CN" altLang="en-US" sz="2200" dirty="0">
                <a:latin typeface="微软雅黑" panose="020B0503020204020204" pitchFamily="34" charset="-122"/>
                <a:ea typeface="微软雅黑" panose="020B0503020204020204" pitchFamily="34" charset="-122"/>
              </a:rPr>
              <a:t>现代计算机的每个指令周期直接由时钟周期（节拍）组成。</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时钟信号是</a:t>
            </a:r>
            <a:r>
              <a:rPr lang="en-US" altLang="zh-CN" sz="2200">
                <a:latin typeface="微软雅黑" panose="020B0503020204020204" pitchFamily="34" charset="-122"/>
                <a:ea typeface="微软雅黑" panose="020B0503020204020204" pitchFamily="34" charset="-122"/>
              </a:rPr>
              <a:t>CPU</a:t>
            </a:r>
            <a:r>
              <a:rPr lang="zh-CN" altLang="en-US" sz="2200" dirty="0">
                <a:latin typeface="微软雅黑" panose="020B0503020204020204" pitchFamily="34" charset="-122"/>
                <a:ea typeface="微软雅黑" panose="020B0503020204020204" pitchFamily="34" charset="-122"/>
              </a:rPr>
              <a:t>中用于控制同步的信号。</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每条指令功能不同，因此每条指令执行时数据在数据通路中所经过的部件和路径也可能不同。但是，每条指令在取指令阶段都一样。</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早期计算机中数据通路采用总线方式，通过</a:t>
            </a:r>
            <a:r>
              <a:rPr lang="en-US" altLang="zh-CN" sz="2200">
                <a:latin typeface="微软雅黑" panose="020B0503020204020204" pitchFamily="34" charset="-122"/>
                <a:ea typeface="微软雅黑" panose="020B0503020204020204" pitchFamily="34" charset="-122"/>
              </a:rPr>
              <a:t>CPU</a:t>
            </a:r>
            <a:r>
              <a:rPr lang="zh-CN" altLang="en-US" sz="2200" dirty="0">
                <a:latin typeface="微软雅黑" panose="020B0503020204020204" pitchFamily="34" charset="-122"/>
                <a:ea typeface="微软雅黑" panose="020B0503020204020204" pitchFamily="34" charset="-122"/>
              </a:rPr>
              <a:t>的内部总线把</a:t>
            </a:r>
            <a:r>
              <a:rPr lang="en-US" altLang="zh-CN" sz="2200">
                <a:latin typeface="微软雅黑" panose="020B0503020204020204" pitchFamily="34" charset="-122"/>
                <a:ea typeface="微软雅黑" panose="020B0503020204020204" pitchFamily="34" charset="-122"/>
              </a:rPr>
              <a:t>CPU</a:t>
            </a:r>
            <a:r>
              <a:rPr lang="zh-CN" altLang="en-US" sz="2200" dirty="0">
                <a:latin typeface="微软雅黑" panose="020B0503020204020204" pitchFamily="34" charset="-122"/>
                <a:ea typeface="微软雅黑" panose="020B0503020204020204" pitchFamily="34" charset="-122"/>
              </a:rPr>
              <a:t>中的通用寄存器、</a:t>
            </a:r>
            <a:r>
              <a:rPr lang="en-US" altLang="zh-CN" sz="2200">
                <a:latin typeface="微软雅黑" panose="020B0503020204020204" pitchFamily="34" charset="-122"/>
                <a:ea typeface="微软雅黑" panose="020B0503020204020204" pitchFamily="34" charset="-122"/>
              </a:rPr>
              <a:t>ALU</a:t>
            </a:r>
            <a:r>
              <a:rPr lang="zh-CN" altLang="en-US" sz="2200" dirty="0">
                <a:latin typeface="微软雅黑" panose="020B0503020204020204" pitchFamily="34" charset="-122"/>
                <a:ea typeface="微软雅黑" panose="020B0503020204020204" pitchFamily="34" charset="-122"/>
              </a:rPr>
              <a:t>、暂存器、指令寄存器等互连，有单总线、二总线和三总线结构数据通路。</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现代计算机的数据通路都采用流水线方式实现，将每条指令的执行过程分解成功能段相同的几个流水段，每个流水段的执行时间也被设置成完全相同。</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流水线方式下，同时有多条指令重叠执行，因此程序的执行时间比串行执行方式下缩短很多。在有些情况下会发生流水线冒险，包括结构冒险、数据冒险和控制冒险三类。</a:t>
            </a:r>
            <a:endParaRPr lang="zh-CN" altLang="en-US" sz="2200" dirty="0">
              <a:latin typeface="微软雅黑" panose="020B0503020204020204" pitchFamily="34" charset="-122"/>
              <a:ea typeface="微软雅黑" panose="020B0503020204020204" pitchFamily="34" charset="-122"/>
            </a:endParaRPr>
          </a:p>
          <a:p>
            <a:r>
              <a:rPr lang="zh-CN" altLang="en-US" sz="2200" dirty="0">
                <a:latin typeface="微软雅黑" panose="020B0503020204020204" pitchFamily="34" charset="-122"/>
                <a:ea typeface="微软雅黑" panose="020B0503020204020204" pitchFamily="34" charset="-122"/>
              </a:rPr>
              <a:t>高级流水线：超流水、静态多发射（</a:t>
            </a:r>
            <a:r>
              <a:rPr lang="en-US" altLang="zh-CN" sz="2200">
                <a:latin typeface="微软雅黑" panose="020B0503020204020204" pitchFamily="34" charset="-122"/>
                <a:ea typeface="微软雅黑" panose="020B0503020204020204" pitchFamily="34" charset="-122"/>
              </a:rPr>
              <a:t>VLIW</a:t>
            </a:r>
            <a:r>
              <a:rPr lang="zh-CN" altLang="en-US" sz="2200" dirty="0">
                <a:latin typeface="微软雅黑" panose="020B0503020204020204" pitchFamily="34" charset="-122"/>
                <a:ea typeface="微软雅黑" panose="020B0503020204020204" pitchFamily="34" charset="-122"/>
              </a:rPr>
              <a:t>）、超标量、动态调度</a:t>
            </a:r>
            <a:endParaRPr lang="zh-CN" altLang="en-US" sz="2200" dirty="0">
              <a:latin typeface="微软雅黑" panose="020B0503020204020204" pitchFamily="34" charset="-122"/>
              <a:ea typeface="微软雅黑" panose="020B0503020204020204" pitchFamily="34" charset="-122"/>
            </a:endParaRPr>
          </a:p>
        </p:txBody>
      </p:sp>
      <p:sp>
        <p:nvSpPr>
          <p:cNvPr id="192515" name="文本框 1"/>
          <p:cNvSpPr txBox="1"/>
          <p:nvPr/>
        </p:nvSpPr>
        <p:spPr>
          <a:xfrm>
            <a:off x="-1169987" y="925513"/>
            <a:ext cx="309562" cy="338137"/>
          </a:xfrm>
          <a:prstGeom prst="rect">
            <a:avLst/>
          </a:prstGeom>
          <a:noFill/>
          <a:ln w="9525">
            <a:noFill/>
          </a:ln>
        </p:spPr>
        <p:txBody>
          <a:bodyPr wrap="none" anchor="t" anchorCtr="0">
            <a:spAutoFit/>
          </a:bodyPr>
          <a:p>
            <a:endParaRPr lang="zh-CN" altLang="en-US">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8563">
                                            <p:txEl>
                                              <p:charRg st="0" end="27"/>
                                            </p:txEl>
                                          </p:spTgt>
                                        </p:tgtEl>
                                        <p:attrNameLst>
                                          <p:attrName>style.visibility</p:attrName>
                                        </p:attrNameLst>
                                      </p:cBhvr>
                                      <p:to>
                                        <p:strVal val="visible"/>
                                      </p:to>
                                    </p:set>
                                    <p:animEffect transition="in" filter="blinds(horizontal)">
                                      <p:cBhvr>
                                        <p:cTn id="7" dur="500"/>
                                        <p:tgtEl>
                                          <p:spTgt spid="578563">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8563">
                                            <p:txEl>
                                              <p:charRg st="27" end="47"/>
                                            </p:txEl>
                                          </p:spTgt>
                                        </p:tgtEl>
                                        <p:attrNameLst>
                                          <p:attrName>style.visibility</p:attrName>
                                        </p:attrNameLst>
                                      </p:cBhvr>
                                      <p:to>
                                        <p:strVal val="visible"/>
                                      </p:to>
                                    </p:set>
                                    <p:animEffect transition="in" filter="blinds(horizontal)">
                                      <p:cBhvr>
                                        <p:cTn id="12" dur="500"/>
                                        <p:tgtEl>
                                          <p:spTgt spid="578563">
                                            <p:txEl>
                                              <p:charRg st="27" end="4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8563">
                                            <p:txEl>
                                              <p:charRg st="47" end="106"/>
                                            </p:txEl>
                                          </p:spTgt>
                                        </p:tgtEl>
                                        <p:attrNameLst>
                                          <p:attrName>style.visibility</p:attrName>
                                        </p:attrNameLst>
                                      </p:cBhvr>
                                      <p:to>
                                        <p:strVal val="visible"/>
                                      </p:to>
                                    </p:set>
                                    <p:animEffect transition="in" filter="blinds(horizontal)">
                                      <p:cBhvr>
                                        <p:cTn id="17" dur="500"/>
                                        <p:tgtEl>
                                          <p:spTgt spid="578563">
                                            <p:txEl>
                                              <p:charRg st="47" end="10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78563">
                                            <p:txEl>
                                              <p:charRg st="106" end="182"/>
                                            </p:txEl>
                                          </p:spTgt>
                                        </p:tgtEl>
                                        <p:attrNameLst>
                                          <p:attrName>style.visibility</p:attrName>
                                        </p:attrNameLst>
                                      </p:cBhvr>
                                      <p:to>
                                        <p:strVal val="visible"/>
                                      </p:to>
                                    </p:set>
                                    <p:animEffect transition="in" filter="blinds(horizontal)">
                                      <p:cBhvr>
                                        <p:cTn id="22" dur="500"/>
                                        <p:tgtEl>
                                          <p:spTgt spid="578563">
                                            <p:txEl>
                                              <p:charRg st="106" end="18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78563">
                                            <p:txEl>
                                              <p:charRg st="182" end="249"/>
                                            </p:txEl>
                                          </p:spTgt>
                                        </p:tgtEl>
                                        <p:attrNameLst>
                                          <p:attrName>style.visibility</p:attrName>
                                        </p:attrNameLst>
                                      </p:cBhvr>
                                      <p:to>
                                        <p:strVal val="visible"/>
                                      </p:to>
                                    </p:set>
                                    <p:animEffect transition="in" filter="blinds(horizontal)">
                                      <p:cBhvr>
                                        <p:cTn id="27" dur="500"/>
                                        <p:tgtEl>
                                          <p:spTgt spid="578563">
                                            <p:txEl>
                                              <p:charRg st="182" end="24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78563">
                                            <p:txEl>
                                              <p:charRg st="249" end="325"/>
                                            </p:txEl>
                                          </p:spTgt>
                                        </p:tgtEl>
                                        <p:attrNameLst>
                                          <p:attrName>style.visibility</p:attrName>
                                        </p:attrNameLst>
                                      </p:cBhvr>
                                      <p:to>
                                        <p:strVal val="visible"/>
                                      </p:to>
                                    </p:set>
                                    <p:animEffect transition="in" filter="blinds(horizontal)">
                                      <p:cBhvr>
                                        <p:cTn id="32" dur="500"/>
                                        <p:tgtEl>
                                          <p:spTgt spid="578563">
                                            <p:txEl>
                                              <p:charRg st="249" end="32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78563">
                                            <p:txEl>
                                              <p:charRg st="325" end="356"/>
                                            </p:txEl>
                                          </p:spTgt>
                                        </p:tgtEl>
                                        <p:attrNameLst>
                                          <p:attrName>style.visibility</p:attrName>
                                        </p:attrNameLst>
                                      </p:cBhvr>
                                      <p:to>
                                        <p:strVal val="visible"/>
                                      </p:to>
                                    </p:set>
                                    <p:animEffect transition="in" filter="blinds(horizontal)">
                                      <p:cBhvr>
                                        <p:cTn id="37" dur="500"/>
                                        <p:tgtEl>
                                          <p:spTgt spid="578563">
                                            <p:txEl>
                                              <p:charRg st="325" end="3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ZjQ2NjQzOTBmYTBkMTYwYzA4MDhlYzI3OWYwYzFmYjIifQ=="/>
</p:tagLst>
</file>

<file path=ppt/theme/theme1.xml><?xml version="1.0" encoding="utf-8"?>
<a:theme xmlns:a="http://schemas.openxmlformats.org/drawingml/2006/main" name="lecture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436D0"/>
      </a:accent6>
      <a:hlink>
        <a:srgbClr val="00DFCA"/>
      </a:hlink>
      <a:folHlink>
        <a:srgbClr val="EAEC5E"/>
      </a:folHlink>
    </a:clrScheme>
    <a:fontScheme name="">
      <a:majorFont>
        <a:latin typeface="Arial"/>
        <a:ea typeface="黑体"/>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lecture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436D0"/>
      </a:accent6>
      <a:hlink>
        <a:srgbClr val="00DFCA"/>
      </a:hlink>
      <a:folHlink>
        <a:srgbClr val="EAEC5E"/>
      </a:folHlink>
    </a:clrScheme>
    <a:fontScheme name="">
      <a:majorFont>
        <a:latin typeface="Arial"/>
        <a:ea typeface="黑体"/>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lecture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436D0"/>
      </a:accent6>
      <a:hlink>
        <a:srgbClr val="00DFCA"/>
      </a:hlink>
      <a:folHlink>
        <a:srgbClr val="EAEC5E"/>
      </a:folHlink>
    </a:clrScheme>
    <a:fontScheme name="">
      <a:majorFont>
        <a:latin typeface="Arial"/>
        <a:ea typeface="黑体"/>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436D0"/>
      </a:accent6>
      <a:hlink>
        <a:srgbClr val="00DFCA"/>
      </a:hlink>
      <a:folHlink>
        <a:srgbClr val="EAEC5E"/>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436D0"/>
      </a:accent6>
      <a:hlink>
        <a:srgbClr val="00DFCA"/>
      </a:hlink>
      <a:folHlink>
        <a:srgbClr val="EAEC5E"/>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HD:User Folder:C152 Spring95:lecture1</Template>
  <TotalTime>0</TotalTime>
  <Words>36690</Words>
  <Application>WPS 演示</Application>
  <PresentationFormat>在屏幕上显示</PresentationFormat>
  <Paragraphs>7426</Paragraphs>
  <Slides>119</Slides>
  <Notes>14</Notes>
  <HiddenSlides>0</HiddenSlides>
  <MMClips>0</MMClips>
  <ScaleCrop>false</ScaleCrop>
  <HeadingPairs>
    <vt:vector size="8" baseType="variant">
      <vt:variant>
        <vt:lpstr>已用的字体</vt:lpstr>
      </vt:variant>
      <vt:variant>
        <vt:i4>14</vt:i4>
      </vt:variant>
      <vt:variant>
        <vt:lpstr>主题</vt:lpstr>
      </vt:variant>
      <vt:variant>
        <vt:i4>3</vt:i4>
      </vt:variant>
      <vt:variant>
        <vt:lpstr>嵌入 OLE 服务器</vt:lpstr>
      </vt:variant>
      <vt:variant>
        <vt:i4>1</vt:i4>
      </vt:variant>
      <vt:variant>
        <vt:lpstr>幻灯片标题</vt:lpstr>
      </vt:variant>
      <vt:variant>
        <vt:i4>119</vt:i4>
      </vt:variant>
    </vt:vector>
  </HeadingPairs>
  <TitlesOfParts>
    <vt:vector size="137" baseType="lpstr">
      <vt:lpstr>Arial</vt:lpstr>
      <vt:lpstr>宋体</vt:lpstr>
      <vt:lpstr>Wingdings</vt:lpstr>
      <vt:lpstr>Times New Roman</vt:lpstr>
      <vt:lpstr>黑体</vt:lpstr>
      <vt:lpstr>微软雅黑</vt:lpstr>
      <vt:lpstr>方正舒体</vt:lpstr>
      <vt:lpstr>Monotype Sorts</vt:lpstr>
      <vt:lpstr>Wingdings</vt:lpstr>
      <vt:lpstr>Arial Unicode MS</vt:lpstr>
      <vt:lpstr>仿宋</vt:lpstr>
      <vt:lpstr>幼圆</vt:lpstr>
      <vt:lpstr>Tahoma</vt:lpstr>
      <vt:lpstr>Arial Unicode MS</vt:lpstr>
      <vt:lpstr>lecture1</vt:lpstr>
      <vt:lpstr>1_lecture1</vt:lpstr>
      <vt:lpstr>2_lecture1</vt:lpstr>
      <vt:lpstr>Excel.Chart.8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带立即数的逻辑指令的数据通路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条件转移指令的数据通路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第四讲 流水线初探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Wayne State University</Company>
  <LinksUpToDate>false</LinksUpToDate>
  <SharedDoc>false</SharedDoc>
  <HyperlinksChanged>false</HyperlinksChanged>
  <AppVersion>14.0000</AppVersion>
  <Pages>40</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ECE4680: Computer Organization &amp; Architecture</dc:title>
  <dc:creator>gchen</dc:creator>
  <dc:subject>Designing a Multiple Cycle Processor</dc:subject>
  <cp:lastModifiedBy>Jackshen</cp:lastModifiedBy>
  <cp:revision>1142</cp:revision>
  <cp:lastPrinted>1998-02-02T13:15:44Z</cp:lastPrinted>
  <dcterms:created xsi:type="dcterms:W3CDTF">1996-09-09T11:33:30Z</dcterms:created>
  <dcterms:modified xsi:type="dcterms:W3CDTF">2026-04-28T07:25:24Z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2</vt:r8>
  </property>
  <property fmtid="{D5CDD505-2E9C-101B-9397-08002B2CF9AE}" pid="3" name="GraphicType">
    <vt:r8>2</vt:r8>
  </property>
  <property fmtid="{D5CDD505-2E9C-101B-9397-08002B2CF9AE}" pid="4" name="Compression">
    <vt:r8>100</vt:r8>
  </property>
  <property fmtid="{D5CDD505-2E9C-101B-9397-08002B2CF9AE}" pid="5" name="ScreenSize">
    <vt:r8>2</vt:r8>
  </property>
  <property fmtid="{D5CDD505-2E9C-101B-9397-08002B2CF9AE}" pid="6" name="ScreenUsage">
    <vt:r8>2</vt:r8>
  </property>
  <property fmtid="{D5CDD505-2E9C-101B-9397-08002B2CF9AE}" pid="7" name="MailAddress">
    <vt:lpwstr>vipin@eng.wayne.edu</vt:lpwstr>
  </property>
  <property fmtid="{D5CDD505-2E9C-101B-9397-08002B2CF9AE}" pid="8" name="HomePage">
    <vt:lpwstr>http://www.pdcl.eng.wayne.edu/~vipin</vt:lpwstr>
  </property>
  <property fmtid="{D5CDD505-2E9C-101B-9397-08002B2CF9AE}" pid="9" name="Other">
    <vt:lpwstr>Vipin Chaudhary
Dept. of Electrical &amp; Computer Engineering
Wayne State University</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3</vt:r8>
  </property>
  <property fmtid="{D5CDD505-2E9C-101B-9397-08002B2CF9AE}" pid="19" name="ShowNotes">
    <vt:bool>true</vt:bool>
  </property>
  <property fmtid="{D5CDD505-2E9C-101B-9397-08002B2CF9AE}" pid="20" name="NavBtnPos">
    <vt:r8>1</vt:r8>
  </property>
  <property fmtid="{D5CDD505-2E9C-101B-9397-08002B2CF9AE}" pid="21" name="OutputDir">
    <vt:lpwstr>C:\WINDOWS\Desktop\VIPIN\WSU\ACADEMIC\COURSES\ECE468\SLIDES\web</vt:lpwstr>
  </property>
  <property fmtid="{D5CDD505-2E9C-101B-9397-08002B2CF9AE}" pid="22" name="KSOProductBuildVer">
    <vt:lpwstr>2052-12.1.0.25865</vt:lpwstr>
  </property>
  <property fmtid="{D5CDD505-2E9C-101B-9397-08002B2CF9AE}" pid="23" name="ICV">
    <vt:lpwstr>36CF35AEE47647F99467E6BDD78624C7_13</vt:lpwstr>
  </property>
</Properties>
</file>