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handoutMasterIdLst>
    <p:handoutMasterId r:id="rId15"/>
  </p:handoutMasterIdLst>
  <p:sldIdLst>
    <p:sldId id="271" r:id="rId2"/>
    <p:sldId id="279" r:id="rId3"/>
    <p:sldId id="281" r:id="rId4"/>
    <p:sldId id="283" r:id="rId5"/>
    <p:sldId id="285" r:id="rId6"/>
    <p:sldId id="284" r:id="rId7"/>
    <p:sldId id="280" r:id="rId8"/>
    <p:sldId id="257" r:id="rId9"/>
    <p:sldId id="275" r:id="rId10"/>
    <p:sldId id="286" r:id="rId11"/>
    <p:sldId id="276" r:id="rId12"/>
    <p:sldId id="287" r:id="rId13"/>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作者"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462F"/>
    <a:srgbClr val="D24726"/>
    <a:srgbClr val="404040"/>
    <a:srgbClr val="FF9B45"/>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4" autoAdjust="0"/>
    <p:restoredTop sz="94241" autoAdjust="0"/>
  </p:normalViewPr>
  <p:slideViewPr>
    <p:cSldViewPr snapToGrid="0">
      <p:cViewPr varScale="1">
        <p:scale>
          <a:sx n="93" d="100"/>
          <a:sy n="93" d="100"/>
        </p:scale>
        <p:origin x="408" y="6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75" d="100"/>
          <a:sy n="75" d="100"/>
        </p:scale>
        <p:origin x="3610"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AA071E02-3F1A-4B0B-8EE9-4F1B741D9601}" type="datetime1">
              <a:rPr lang="zh-CN" altLang="en-US" smtClean="0">
                <a:latin typeface="Microsoft YaHei UI" panose="020B0503020204020204" pitchFamily="34" charset="-122"/>
                <a:ea typeface="Microsoft YaHei UI" panose="020B0503020204020204" pitchFamily="34" charset="-122"/>
              </a:rPr>
              <a:t>2026/4/22</a:t>
            </a:fld>
            <a:endParaRPr lang="zh-CN" alt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679768-A2FC-4D08-91F6-8DCE6C566B36}" type="slidenum">
              <a:rPr lang="en-US" altLang="zh-CN"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81DCBD32-5E35-4514-9815-F3DDD3668777}" type="datetime1">
              <a:rPr lang="zh-CN" altLang="en-US" smtClean="0"/>
              <a:t>2026/4/22</a:t>
            </a:fld>
            <a:endParaRPr 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dirty="0"/>
              <a:t>单击此处编辑母版文本样式</a:t>
            </a:r>
          </a:p>
          <a:p>
            <a:pPr lvl="1" rtl="0"/>
            <a:r>
              <a:rPr lang="zh-cn" dirty="0"/>
              <a:t>第二级</a:t>
            </a:r>
          </a:p>
          <a:p>
            <a:pPr lvl="2" rtl="0"/>
            <a:r>
              <a:rPr lang="zh-cn" dirty="0"/>
              <a:t>第三级</a:t>
            </a:r>
          </a:p>
          <a:p>
            <a:pPr lvl="3" rtl="0"/>
            <a:r>
              <a:rPr lang="zh-cn" dirty="0"/>
              <a:t>第四级</a:t>
            </a:r>
          </a:p>
          <a:p>
            <a:pPr lvl="4" rtl="0"/>
            <a:r>
              <a:rPr lang="zh-cn"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675401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981118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3</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4239748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91702-4E3B-98B3-1ECC-FA816FFCBF0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24E8D2-D854-6FB4-D1CA-03B28854D46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A41087-CD23-4C0D-221F-DBC87CD184EC}"/>
              </a:ext>
            </a:extLst>
          </p:cNvPr>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a:extLst>
              <a:ext uri="{FF2B5EF4-FFF2-40B4-BE49-F238E27FC236}">
                <a16:creationId xmlns:a16="http://schemas.microsoft.com/office/drawing/2014/main" id="{4F02EF7D-B7C8-4B0B-46E3-8DCEB1B59225}"/>
              </a:ext>
            </a:extLst>
          </p:cNvPr>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4</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509361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0EB9C-3288-A9F6-2B45-E5029107D1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F9A28A-AC15-32A6-458C-8A5D7BD218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7B95861-EE96-0CB2-9B6D-38AB97F31E40}"/>
              </a:ext>
            </a:extLst>
          </p:cNvPr>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a:extLst>
              <a:ext uri="{FF2B5EF4-FFF2-40B4-BE49-F238E27FC236}">
                <a16:creationId xmlns:a16="http://schemas.microsoft.com/office/drawing/2014/main" id="{4D37EF60-D191-2E45-BBC5-7B24126D172C}"/>
              </a:ext>
            </a:extLst>
          </p:cNvPr>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5</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521690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60BA9-824B-E0EE-8DDC-975FB17E73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95E44A-D885-C7F6-6D6E-9615BF0CB23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45CF75-3743-2C0E-AB86-D81A90B05085}"/>
              </a:ext>
            </a:extLst>
          </p:cNvPr>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a:extLst>
              <a:ext uri="{FF2B5EF4-FFF2-40B4-BE49-F238E27FC236}">
                <a16:creationId xmlns:a16="http://schemas.microsoft.com/office/drawing/2014/main" id="{E8FD6264-A56D-0159-642D-11BD122EDA33}"/>
              </a:ext>
            </a:extLst>
          </p:cNvPr>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6</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7672199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7</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008677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5"/>
          </p:nvPr>
        </p:nvSpPr>
        <p:spPr/>
        <p:txBody>
          <a:bodyPr rtlCol="0"/>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8</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034230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9</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894786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B5A50-3EE6-0533-10D1-596FF7CC34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5B48E1-90CC-25AA-6466-4FF500ED73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854C76-B35A-AAAF-C4C9-E3A6E1D3231E}"/>
              </a:ext>
            </a:extLst>
          </p:cNvPr>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a:extLst>
              <a:ext uri="{FF2B5EF4-FFF2-40B4-BE49-F238E27FC236}">
                <a16:creationId xmlns:a16="http://schemas.microsoft.com/office/drawing/2014/main" id="{D16DAC2A-32D9-69D5-52B5-7F38D6AF675A}"/>
              </a:ext>
            </a:extLst>
          </p:cNvPr>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10</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250455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11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365959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1C605-30CE-6536-ECCB-8107528875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6537B6-C90A-30CB-DCAC-FA47F0F2A6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52D40D-DA4A-80BF-B05C-ACF41677C966}"/>
              </a:ext>
            </a:extLst>
          </p:cNvPr>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a:extLst>
              <a:ext uri="{FF2B5EF4-FFF2-40B4-BE49-F238E27FC236}">
                <a16:creationId xmlns:a16="http://schemas.microsoft.com/office/drawing/2014/main" id="{B6CE7848-2C3B-D18D-4CB7-25B059BAE520}"/>
              </a:ext>
            </a:extLst>
          </p:cNvPr>
          <p:cNvSpPr>
            <a:spLocks noGrp="1"/>
          </p:cNvSpPr>
          <p:nvPr>
            <p:ph type="sldNum" sz="quarter" idx="5"/>
          </p:nvPr>
        </p:nvSpPr>
        <p:spPr/>
        <p:txBody>
          <a:bodyPr/>
          <a:lstStyle/>
          <a:p>
            <a:pPr rtl="0"/>
            <a:fld id="{DF61EA0F-A667-4B49-8422-0062BC55E249}" type="slidenum">
              <a:rPr lang="en-US" altLang="zh-CN" smtClean="0">
                <a:latin typeface="Microsoft YaHei UI" panose="020B0503020204020204" pitchFamily="34" charset="-122"/>
                <a:ea typeface="Microsoft YaHei UI" panose="020B0503020204020204" pitchFamily="34" charset="-122"/>
              </a:rPr>
              <a:t>12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20452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长方形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800"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p:txBody>
          <a:bodyPr rtlCol="0"/>
          <a:lstStyle>
            <a:lvl1pPr>
              <a:defRPr>
                <a:latin typeface="Microsoft YaHei UI Light" panose="020B0502040204020203" pitchFamily="34" charset="-122"/>
                <a:ea typeface="Microsoft YaHei UI Light" panose="020B0502040204020203" pitchFamily="34" charset="-122"/>
              </a:defRPr>
            </a:lvl1pPr>
          </a:lstStyle>
          <a:p>
            <a:pPr rtl="0"/>
            <a:r>
              <a:rPr lang="zh-CN" altLang="en-US" noProof="0"/>
              <a:t>单击此处编辑母版标题样式</a:t>
            </a:r>
            <a:endParaRPr lang="zh-CN" altLang="en-US" noProof="0"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9" name="长方形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zh-CN" altLang="en-US" sz="1800" noProof="0">
              <a:latin typeface="Microsoft YaHei UI" panose="020B0503020204020204" pitchFamily="34" charset="-122"/>
              <a:ea typeface="Microsoft YaHei UI" panose="020B0503020204020204" pitchFamily="34" charset="-122"/>
            </a:endParaRPr>
          </a:p>
        </p:txBody>
      </p:sp>
      <p:cxnSp>
        <p:nvCxnSpPr>
          <p:cNvPr id="12" name="直接连接符​​(S)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title"/>
          </p:nvPr>
        </p:nvSpPr>
        <p:spPr>
          <a:xfrm>
            <a:off x="521207" y="448056"/>
            <a:ext cx="6877119" cy="640080"/>
          </a:xfrm>
        </p:spPr>
        <p:txBody>
          <a:bodyPr rtlCol="0" anchor="b" anchorCtr="0">
            <a:normAutofit/>
          </a:bodyPr>
          <a:lstStyle>
            <a:lvl1pPr>
              <a:defRPr sz="2800">
                <a:solidFill>
                  <a:schemeClr val="bg2">
                    <a:lumMod val="25000"/>
                  </a:schemeClr>
                </a:solidFill>
                <a:latin typeface="Microsoft YaHei UI Light" panose="020B0502040204020203" pitchFamily="34" charset="-122"/>
                <a:ea typeface="Microsoft YaHei UI Light" panose="020B0502040204020203"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a:defRPr lang="en-US" sz="1200" smtClean="0">
                <a:solidFill>
                  <a:schemeClr val="tx1">
                    <a:lumMod val="75000"/>
                    <a:lumOff val="25000"/>
                  </a:schemeClr>
                </a:solidFill>
                <a:latin typeface="Microsoft YaHei UI" panose="020B0503020204020204" pitchFamily="34" charset="-122"/>
                <a:ea typeface="Microsoft YaHei UI" panose="020B0503020204020204" pitchFamily="34" charset="-122"/>
              </a:defRPr>
            </a:lvl2pPr>
            <a:lvl3pPr>
              <a:defRPr lang="en-US" sz="1200" smtClean="0">
                <a:solidFill>
                  <a:schemeClr val="tx1">
                    <a:lumMod val="75000"/>
                    <a:lumOff val="25000"/>
                  </a:schemeClr>
                </a:solidFill>
                <a:latin typeface="Microsoft YaHei UI" panose="020B0503020204020204" pitchFamily="34" charset="-122"/>
                <a:ea typeface="Microsoft YaHei UI" panose="020B0503020204020204" pitchFamily="34" charset="-122"/>
              </a:defRPr>
            </a:lvl3pPr>
            <a:lvl4pPr>
              <a:defRPr lang="en-US" sz="1200" smtClean="0">
                <a:solidFill>
                  <a:schemeClr val="tx1">
                    <a:lumMod val="75000"/>
                    <a:lumOff val="25000"/>
                  </a:schemeClr>
                </a:solidFill>
                <a:latin typeface="Microsoft YaHei UI" panose="020B0503020204020204" pitchFamily="34" charset="-122"/>
                <a:ea typeface="Microsoft YaHei UI" panose="020B0503020204020204" pitchFamily="34" charset="-122"/>
              </a:defRPr>
            </a:lvl4pPr>
            <a:lvl5pPr>
              <a:defRPr lang="en-US" sz="1200">
                <a:solidFill>
                  <a:schemeClr val="tx1">
                    <a:lumMod val="75000"/>
                    <a:lumOff val="25000"/>
                  </a:schemeClr>
                </a:solidFill>
                <a:latin typeface="Microsoft YaHei UI" panose="020B0503020204020204" pitchFamily="34" charset="-122"/>
                <a:ea typeface="Microsoft YaHei UI" panose="020B0503020204020204" pitchFamily="34" charset="-122"/>
              </a:defRPr>
            </a:lvl5pPr>
          </a:lstStyle>
          <a:p>
            <a:pPr marL="0" lvl="0" indent="0" rtl="0">
              <a:lnSpc>
                <a:spcPct val="150000"/>
              </a:lnSpc>
              <a:spcBef>
                <a:spcPts val="1000"/>
              </a:spcBef>
              <a:spcAft>
                <a:spcPts val="1200"/>
              </a:spcAft>
              <a:buNone/>
            </a:pPr>
            <a:r>
              <a:rPr lang="zh-CN" altLang="en-US" noProof="0"/>
              <a:t>单击此处编辑母版文本样式</a:t>
            </a:r>
          </a:p>
          <a:p>
            <a:pPr marL="0" lvl="1" indent="0" rtl="0">
              <a:lnSpc>
                <a:spcPct val="150000"/>
              </a:lnSpc>
              <a:spcBef>
                <a:spcPts val="1000"/>
              </a:spcBef>
              <a:spcAft>
                <a:spcPts val="1200"/>
              </a:spcAft>
              <a:buNone/>
            </a:pPr>
            <a:r>
              <a:rPr lang="zh-CN" altLang="en-US" noProof="0"/>
              <a:t>二级</a:t>
            </a:r>
          </a:p>
          <a:p>
            <a:pPr marL="0" lvl="2" indent="0" rtl="0">
              <a:lnSpc>
                <a:spcPct val="150000"/>
              </a:lnSpc>
              <a:spcBef>
                <a:spcPts val="1000"/>
              </a:spcBef>
              <a:spcAft>
                <a:spcPts val="1200"/>
              </a:spcAft>
              <a:buNone/>
            </a:pPr>
            <a:r>
              <a:rPr lang="zh-CN" altLang="en-US" noProof="0"/>
              <a:t>三级</a:t>
            </a:r>
          </a:p>
          <a:p>
            <a:pPr marL="0" lvl="3" indent="0" rtl="0">
              <a:lnSpc>
                <a:spcPct val="150000"/>
              </a:lnSpc>
              <a:spcBef>
                <a:spcPts val="1000"/>
              </a:spcBef>
              <a:spcAft>
                <a:spcPts val="1200"/>
              </a:spcAft>
              <a:buNone/>
            </a:pPr>
            <a:r>
              <a:rPr lang="zh-CN" altLang="en-US" noProof="0"/>
              <a:t>四级</a:t>
            </a:r>
          </a:p>
          <a:p>
            <a:pPr marL="0" lvl="4" indent="0" rtl="0">
              <a:lnSpc>
                <a:spcPct val="150000"/>
              </a:lnSpc>
              <a:spcBef>
                <a:spcPts val="1000"/>
              </a:spcBef>
              <a:spcAft>
                <a:spcPts val="1200"/>
              </a:spcAft>
              <a:buNone/>
            </a:pPr>
            <a:r>
              <a:rPr lang="zh-CN" altLang="en-US" noProof="0"/>
              <a:t>五级</a:t>
            </a:r>
          </a:p>
        </p:txBody>
      </p:sp>
      <p:sp>
        <p:nvSpPr>
          <p:cNvPr id="6" name="日期占位符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latin typeface="Microsoft YaHei UI" panose="020B0503020204020204" pitchFamily="34" charset="-122"/>
                <a:ea typeface="Microsoft YaHei UI" panose="020B0503020204020204" pitchFamily="34" charset="-122"/>
              </a:defRPr>
            </a:lvl1pPr>
          </a:lstStyle>
          <a:p>
            <a:fld id="{FC0AFDC1-AB40-4941-83E0-44D5ED544864}" type="datetime1">
              <a:rPr lang="zh-CN" altLang="en-US" noProof="0" smtClean="0"/>
              <a:t>2026/4/22</a:t>
            </a:fld>
            <a:endParaRPr lang="zh-CN" altLang="en-US" noProof="0"/>
          </a:p>
        </p:txBody>
      </p:sp>
      <p:sp>
        <p:nvSpPr>
          <p:cNvPr id="7" name="页脚占位符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latin typeface="Microsoft YaHei UI" panose="020B0503020204020204" pitchFamily="34" charset="-122"/>
                <a:ea typeface="Microsoft YaHei UI" panose="020B0503020204020204" pitchFamily="34" charset="-122"/>
              </a:defRPr>
            </a:lvl1pPr>
          </a:lstStyle>
          <a:p>
            <a:endParaRPr lang="zh-CN" altLang="en-US" noProof="0"/>
          </a:p>
        </p:txBody>
      </p:sp>
      <p:sp>
        <p:nvSpPr>
          <p:cNvPr id="8" name="灯片编号占位符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latin typeface="Microsoft YaHei UI" panose="020B0503020204020204" pitchFamily="34" charset="-122"/>
                <a:ea typeface="Microsoft YaHei UI" panose="020B0503020204020204" pitchFamily="34" charset="-122"/>
              </a:defRPr>
            </a:lvl1pPr>
          </a:lstStyle>
          <a:p>
            <a:fld id="{9860EDB8-5305-433F-BE41-D7A86D811DB3}" type="slidenum">
              <a:rPr lang="en-US" altLang="zh-CN" noProof="0" smtClean="0"/>
              <a:pPr/>
              <a:t>‹#›</a:t>
            </a:fld>
            <a:endParaRPr lang="zh-CN" altLang="en-US" noProof="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9" name="长方形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800" noProof="0">
              <a:latin typeface="Microsoft YaHei UI" panose="020B0503020204020204" pitchFamily="34" charset="-122"/>
              <a:ea typeface="Microsoft YaHei UI" panose="020B0503020204020204" pitchFamily="34" charset="-122"/>
            </a:endParaRPr>
          </a:p>
        </p:txBody>
      </p:sp>
      <p:sp>
        <p:nvSpPr>
          <p:cNvPr id="10" name="长方形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800" noProof="0">
              <a:latin typeface="Microsoft YaHei UI" panose="020B0503020204020204" pitchFamily="34" charset="-122"/>
              <a:ea typeface="Microsoft YaHei UI" panose="020B0503020204020204" pitchFamily="34" charset="-122"/>
            </a:endParaRPr>
          </a:p>
        </p:txBody>
      </p:sp>
      <p:sp>
        <p:nvSpPr>
          <p:cNvPr id="2" name="标题 1"/>
          <p:cNvSpPr>
            <a:spLocks noGrp="1"/>
          </p:cNvSpPr>
          <p:nvPr>
            <p:ph type="title"/>
          </p:nvPr>
        </p:nvSpPr>
        <p:spPr>
          <a:xfrm>
            <a:off x="521208" y="1536192"/>
            <a:ext cx="6876288" cy="640080"/>
          </a:xfrm>
        </p:spPr>
        <p:txBody>
          <a:bodyPr rtlCol="0">
            <a:normAutofit/>
          </a:bodyPr>
          <a:lstStyle>
            <a:lvl1pPr>
              <a:defRPr sz="3600">
                <a:solidFill>
                  <a:schemeClr val="bg1"/>
                </a:solidFill>
                <a:latin typeface="Microsoft YaHei UI Light" panose="020B0502040204020203" pitchFamily="34" charset="-122"/>
                <a:ea typeface="Microsoft YaHei UI Light" panose="020B0502040204020203" pitchFamily="34" charset="-122"/>
              </a:defRPr>
            </a:lvl1pPr>
          </a:lstStyle>
          <a:p>
            <a:pPr rtl="0"/>
            <a:r>
              <a:rPr lang="zh-CN" altLang="en-US" noProof="0"/>
              <a:t>单击此处编辑母版标题样式</a:t>
            </a:r>
            <a:endParaRPr lang="zh-CN" altLang="en-US" noProof="0" dirty="0"/>
          </a:p>
        </p:txBody>
      </p:sp>
      <p:sp>
        <p:nvSpPr>
          <p:cNvPr id="7" name="内容占位符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a:defRPr lang="en-US" sz="1200" dirty="0" smtClean="0">
                <a:solidFill>
                  <a:schemeClr val="tx1">
                    <a:lumMod val="75000"/>
                    <a:lumOff val="25000"/>
                  </a:schemeClr>
                </a:solidFill>
                <a:latin typeface="Microsoft YaHei UI" panose="020B0503020204020204" pitchFamily="34" charset="-122"/>
                <a:ea typeface="Microsoft YaHei UI" panose="020B0503020204020204" pitchFamily="34" charset="-122"/>
              </a:defRPr>
            </a:lvl2pPr>
            <a:lvl3pPr>
              <a:defRPr lang="en-US" sz="1200" dirty="0" smtClean="0">
                <a:solidFill>
                  <a:schemeClr val="tx1">
                    <a:lumMod val="75000"/>
                    <a:lumOff val="25000"/>
                  </a:schemeClr>
                </a:solidFill>
                <a:latin typeface="Microsoft YaHei UI" panose="020B0503020204020204" pitchFamily="34" charset="-122"/>
                <a:ea typeface="Microsoft YaHei UI" panose="020B0503020204020204" pitchFamily="34" charset="-122"/>
              </a:defRPr>
            </a:lvl3pPr>
            <a:lvl4pPr>
              <a:defRPr lang="en-US" sz="1200" dirty="0" smtClean="0">
                <a:solidFill>
                  <a:schemeClr val="tx1">
                    <a:lumMod val="75000"/>
                    <a:lumOff val="25000"/>
                  </a:schemeClr>
                </a:solidFill>
                <a:latin typeface="Microsoft YaHei UI" panose="020B0503020204020204" pitchFamily="34" charset="-122"/>
                <a:ea typeface="Microsoft YaHei UI" panose="020B0503020204020204" pitchFamily="34" charset="-122"/>
              </a:defRPr>
            </a:lvl4pPr>
            <a:lvl5pPr>
              <a:defRPr lang="en-US" sz="1200" dirty="0">
                <a:solidFill>
                  <a:schemeClr val="tx1">
                    <a:lumMod val="75000"/>
                    <a:lumOff val="25000"/>
                  </a:schemeClr>
                </a:solidFill>
                <a:latin typeface="Microsoft YaHei UI" panose="020B0503020204020204" pitchFamily="34" charset="-122"/>
                <a:ea typeface="Microsoft YaHei UI" panose="020B0503020204020204" pitchFamily="34" charset="-122"/>
              </a:defRPr>
            </a:lvl5pPr>
          </a:lstStyle>
          <a:p>
            <a:pPr marL="0" lvl="0" indent="0" rtl="0">
              <a:lnSpc>
                <a:spcPct val="150000"/>
              </a:lnSpc>
              <a:spcBef>
                <a:spcPts val="1000"/>
              </a:spcBef>
              <a:spcAft>
                <a:spcPts val="1200"/>
              </a:spcAft>
              <a:buNone/>
            </a:pPr>
            <a:r>
              <a:rPr lang="zh-CN" altLang="en-US" noProof="0"/>
              <a:t>单击此处编辑母版文本样式</a:t>
            </a:r>
          </a:p>
          <a:p>
            <a:pPr marL="0" lvl="1" indent="0" rtl="0">
              <a:lnSpc>
                <a:spcPct val="150000"/>
              </a:lnSpc>
              <a:spcBef>
                <a:spcPts val="1000"/>
              </a:spcBef>
              <a:spcAft>
                <a:spcPts val="1200"/>
              </a:spcAft>
              <a:buNone/>
            </a:pPr>
            <a:r>
              <a:rPr lang="zh-CN" altLang="en-US" noProof="0"/>
              <a:t>二级</a:t>
            </a:r>
          </a:p>
          <a:p>
            <a:pPr marL="0" lvl="2" indent="0" rtl="0">
              <a:lnSpc>
                <a:spcPct val="150000"/>
              </a:lnSpc>
              <a:spcBef>
                <a:spcPts val="1000"/>
              </a:spcBef>
              <a:spcAft>
                <a:spcPts val="1200"/>
              </a:spcAft>
              <a:buNone/>
            </a:pPr>
            <a:r>
              <a:rPr lang="zh-CN" altLang="en-US" noProof="0"/>
              <a:t>三级</a:t>
            </a:r>
          </a:p>
          <a:p>
            <a:pPr marL="0" lvl="3" indent="0" rtl="0">
              <a:lnSpc>
                <a:spcPct val="150000"/>
              </a:lnSpc>
              <a:spcBef>
                <a:spcPts val="1000"/>
              </a:spcBef>
              <a:spcAft>
                <a:spcPts val="1200"/>
              </a:spcAft>
              <a:buNone/>
            </a:pPr>
            <a:r>
              <a:rPr lang="zh-CN" altLang="en-US" noProof="0"/>
              <a:t>四级</a:t>
            </a:r>
          </a:p>
          <a:p>
            <a:pPr marL="0" lvl="4" indent="0" rtl="0">
              <a:lnSpc>
                <a:spcPct val="150000"/>
              </a:lnSpc>
              <a:spcBef>
                <a:spcPts val="1000"/>
              </a:spcBef>
              <a:spcAft>
                <a:spcPts val="1200"/>
              </a:spcAft>
              <a:buNone/>
            </a:pPr>
            <a:r>
              <a:rPr lang="zh-CN" altLang="en-US" noProof="0"/>
              <a:t>五级</a:t>
            </a:r>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长方形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zh-CN" altLang="en-US" sz="1800" noProof="0">
              <a:latin typeface="Microsoft YaHei UI" panose="020B0503020204020204" pitchFamily="34" charset="-122"/>
              <a:ea typeface="Microsoft YaHei UI" panose="020B0503020204020204" pitchFamily="34" charset="-122"/>
            </a:endParaRPr>
          </a:p>
        </p:txBody>
      </p:sp>
      <p:sp>
        <p:nvSpPr>
          <p:cNvPr id="2" name="标题占位符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pPr rtl="0"/>
            <a:r>
              <a:rPr lang="zh-CN" altLang="en-US" noProof="0"/>
              <a:t>单击此处编辑母版标题样式</a:t>
            </a:r>
          </a:p>
        </p:txBody>
      </p:sp>
      <p:sp>
        <p:nvSpPr>
          <p:cNvPr id="3" name="文本占位符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日期占位符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latin typeface="Microsoft YaHei UI" panose="020B0503020204020204" pitchFamily="34" charset="-122"/>
                <a:ea typeface="Microsoft YaHei UI" panose="020B0503020204020204" pitchFamily="34" charset="-122"/>
              </a:defRPr>
            </a:lvl1pPr>
          </a:lstStyle>
          <a:p>
            <a:fld id="{1814A537-FBC6-4533-8B31-767E68D33208}" type="datetime1">
              <a:rPr lang="zh-CN" altLang="en-US" noProof="0" smtClean="0"/>
              <a:t>2026/4/22</a:t>
            </a:fld>
            <a:endParaRPr lang="zh-CN" altLang="en-US" noProof="0" dirty="0"/>
          </a:p>
        </p:txBody>
      </p:sp>
      <p:sp>
        <p:nvSpPr>
          <p:cNvPr id="5" name="页脚占位符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latin typeface="Microsoft YaHei UI" panose="020B0503020204020204" pitchFamily="34" charset="-122"/>
                <a:ea typeface="Microsoft YaHei UI" panose="020B0503020204020204" pitchFamily="34" charset="-122"/>
              </a:defRPr>
            </a:lvl1pPr>
          </a:lstStyle>
          <a:p>
            <a:endParaRPr lang="zh-CN" altLang="en-US" noProof="0"/>
          </a:p>
        </p:txBody>
      </p:sp>
      <p:sp>
        <p:nvSpPr>
          <p:cNvPr id="6" name="灯片编号占位符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latin typeface="Microsoft YaHei UI" panose="020B0503020204020204" pitchFamily="34" charset="-122"/>
                <a:ea typeface="Microsoft YaHei UI" panose="020B0503020204020204" pitchFamily="34" charset="-122"/>
              </a:defRPr>
            </a:lvl1pPr>
          </a:lstStyle>
          <a:p>
            <a:fld id="{9860EDB8-5305-433F-BE41-D7A86D811DB3}" type="slidenum">
              <a:rPr lang="en-US" altLang="zh-CN" noProof="0" smtClean="0"/>
              <a:pPr/>
              <a:t>‹#›</a:t>
            </a:fld>
            <a:endParaRPr lang="zh-CN" altLang="en-US" noProof="0"/>
          </a:p>
        </p:txBody>
      </p:sp>
      <p:cxnSp>
        <p:nvCxnSpPr>
          <p:cNvPr id="8" name="直接连接符​​(S)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lvl1pPr algn="l" defTabSz="914400" rtl="0" eaLnBrk="1" latinLnBrk="0" hangingPunct="1">
        <a:spcBef>
          <a:spcPct val="0"/>
        </a:spcBef>
        <a:buNone/>
        <a:defRPr sz="2800" kern="1200">
          <a:solidFill>
            <a:schemeClr val="tx1"/>
          </a:solidFill>
          <a:latin typeface="Microsoft YaHei UI Light" panose="020B0502040204020203" pitchFamily="34" charset="-122"/>
          <a:ea typeface="Microsoft YaHei UI Light" panose="020B0502040204020203" pitchFamily="34" charset="-122"/>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icrosoft YaHei UI" panose="020B0503020204020204" pitchFamily="34" charset="-122"/>
          <a:ea typeface="Microsoft YaHei UI" panose="020B0503020204020204" pitchFamily="34" charset="-122"/>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icrosoft YaHei UI" panose="020B0503020204020204" pitchFamily="34" charset="-122"/>
          <a:ea typeface="Microsoft YaHei UI" panose="020B0503020204020204" pitchFamily="34" charset="-122"/>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icrosoft YaHei UI" panose="020B0503020204020204" pitchFamily="34" charset="-122"/>
          <a:ea typeface="Microsoft YaHei UI" panose="020B0503020204020204" pitchFamily="34" charset="-122"/>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icrosoft YaHei UI" panose="020B0503020204020204" pitchFamily="34" charset="-122"/>
          <a:ea typeface="Microsoft YaHei UI" panose="020B0503020204020204" pitchFamily="34" charset="-122"/>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icrosoft YaHei UI" panose="020B0503020204020204" pitchFamily="34" charset="-122"/>
          <a:ea typeface="Microsoft YaHei UI" panose="020B0503020204020204" pitchFamily="34" charset="-122"/>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2DE62A0-3314-8235-F520-F1184102B890}"/>
              </a:ext>
            </a:extLst>
          </p:cNvPr>
          <p:cNvSpPr txBox="1">
            <a:spLocks/>
          </p:cNvSpPr>
          <p:nvPr/>
        </p:nvSpPr>
        <p:spPr>
          <a:xfrm>
            <a:off x="339776" y="824043"/>
            <a:ext cx="11512446" cy="2387600"/>
          </a:xfrm>
          <a:prstGeom prst="rect">
            <a:avLst/>
          </a:prstGeom>
        </p:spPr>
        <p:txBody>
          <a:bodyPr vert="horz" lIns="91440" tIns="45720" rIns="91440" bIns="45720" rtlCol="0" anchor="ctr" anchorCtr="0">
            <a:normAutofit/>
          </a:bodyPr>
          <a:lstStyle>
            <a:lvl1pPr algn="l" defTabSz="914400" rtl="0" eaLnBrk="1" latinLnBrk="0" hangingPunct="1">
              <a:spcBef>
                <a:spcPct val="0"/>
              </a:spcBef>
              <a:buNone/>
              <a:defRPr sz="2800" kern="1200">
                <a:solidFill>
                  <a:schemeClr val="bg2">
                    <a:lumMod val="25000"/>
                  </a:schemeClr>
                </a:solidFill>
                <a:latin typeface="Microsoft YaHei UI Light" panose="020B0502040204020203" pitchFamily="34" charset="-122"/>
                <a:ea typeface="Microsoft YaHei UI Light" panose="020B0502040204020203" pitchFamily="34" charset="-122"/>
                <a:cs typeface="+mj-cs"/>
              </a:defRPr>
            </a:lvl1pPr>
          </a:lstStyle>
          <a:p>
            <a:pPr algn="ctr"/>
            <a:r>
              <a:rPr lang="en-US" altLang="zh-CN" sz="4000" b="1" dirty="0">
                <a:solidFill>
                  <a:schemeClr val="tx1"/>
                </a:solidFill>
                <a:latin typeface="宋体" panose="02010600030101010101" pitchFamily="2" charset="-122"/>
                <a:ea typeface="宋体" panose="02010600030101010101" pitchFamily="2" charset="-122"/>
              </a:rPr>
              <a:t>《Facet-Aware Multi-Head Mixture-of-Experts Model for Sequential Recommendation》</a:t>
            </a:r>
          </a:p>
        </p:txBody>
      </p:sp>
      <p:sp>
        <p:nvSpPr>
          <p:cNvPr id="6" name="副标题 2">
            <a:extLst>
              <a:ext uri="{FF2B5EF4-FFF2-40B4-BE49-F238E27FC236}">
                <a16:creationId xmlns:a16="http://schemas.microsoft.com/office/drawing/2014/main" id="{9DE19691-595F-A7FB-10CD-8AB457AF0CD1}"/>
              </a:ext>
            </a:extLst>
          </p:cNvPr>
          <p:cNvSpPr txBox="1">
            <a:spLocks/>
          </p:cNvSpPr>
          <p:nvPr/>
        </p:nvSpPr>
        <p:spPr>
          <a:xfrm>
            <a:off x="1304925" y="3826110"/>
            <a:ext cx="9582150" cy="2463800"/>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icrosoft YaHei UI" panose="020B0503020204020204" pitchFamily="34" charset="-122"/>
                <a:ea typeface="Microsoft YaHei UI" panose="020B0503020204020204" pitchFamily="34" charset="-122"/>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icrosoft YaHei UI" panose="020B0503020204020204" pitchFamily="34" charset="-122"/>
                <a:ea typeface="Microsoft YaHei UI" panose="020B0503020204020204" pitchFamily="34" charset="-122"/>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icrosoft YaHei UI" panose="020B0503020204020204" pitchFamily="34" charset="-122"/>
                <a:ea typeface="Microsoft YaHei UI" panose="020B0503020204020204" pitchFamily="34" charset="-122"/>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icrosoft YaHei UI" panose="020B0503020204020204" pitchFamily="34" charset="-122"/>
                <a:ea typeface="Microsoft YaHei UI" panose="020B0503020204020204" pitchFamily="34" charset="-122"/>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icrosoft YaHei UI" panose="020B0503020204020204" pitchFamily="34" charset="-122"/>
                <a:ea typeface="Microsoft YaHei UI" panose="020B0503020204020204" pitchFamily="34" charset="-122"/>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algn="ctr"/>
            <a:r>
              <a:rPr lang="zh-CN" altLang="en-US" sz="2400" dirty="0">
                <a:latin typeface="宋体" panose="02010600030101010101" pitchFamily="2" charset="-122"/>
                <a:ea typeface="宋体" panose="02010600030101010101" pitchFamily="2" charset="-122"/>
              </a:rPr>
              <a:t>吕昊远 </a:t>
            </a:r>
            <a:r>
              <a:rPr lang="en-US" altLang="zh-CN" sz="2400" dirty="0">
                <a:latin typeface="宋体" panose="02010600030101010101" pitchFamily="2" charset="-122"/>
                <a:ea typeface="宋体" panose="02010600030101010101" pitchFamily="2" charset="-122"/>
              </a:rPr>
              <a:t> 2410668</a:t>
            </a:r>
            <a:br>
              <a:rPr lang="en-US" altLang="zh-CN" sz="2400" dirty="0">
                <a:latin typeface="宋体" panose="02010600030101010101" pitchFamily="2" charset="-122"/>
                <a:ea typeface="宋体" panose="02010600030101010101" pitchFamily="2" charset="-122"/>
              </a:rPr>
            </a:br>
            <a:endParaRPr lang="en-US" altLang="zh-CN" sz="2400" dirty="0">
              <a:latin typeface="宋体" panose="02010600030101010101" pitchFamily="2" charset="-122"/>
              <a:ea typeface="宋体" panose="02010600030101010101" pitchFamily="2" charset="-122"/>
            </a:endParaRPr>
          </a:p>
          <a:p>
            <a:pPr algn="ctr"/>
            <a:br>
              <a:rPr lang="en-US" altLang="zh-CN" sz="2400" dirty="0">
                <a:latin typeface="宋体" panose="02010600030101010101" pitchFamily="2" charset="-122"/>
                <a:ea typeface="宋体" panose="02010600030101010101" pitchFamily="2" charset="-122"/>
              </a:rPr>
            </a:br>
            <a:r>
              <a:rPr lang="zh-CN" altLang="en-US" sz="1800" dirty="0">
                <a:latin typeface="宋体" panose="02010600030101010101" pitchFamily="2" charset="-122"/>
                <a:ea typeface="宋体" panose="02010600030101010101" pitchFamily="2" charset="-122"/>
              </a:rPr>
              <a:t>信息检索系统原理 </a:t>
            </a:r>
            <a:r>
              <a:rPr lang="en-US" altLang="zh-CN" sz="1800" dirty="0">
                <a:latin typeface="宋体" panose="02010600030101010101" pitchFamily="2" charset="-122"/>
                <a:ea typeface="宋体" panose="02010600030101010101" pitchFamily="2" charset="-122"/>
              </a:rPr>
              <a:t>– HW2</a:t>
            </a:r>
            <a:endParaRPr lang="zh-CN" altLang="en-US" sz="1800" dirty="0">
              <a:latin typeface="宋体" panose="02010600030101010101" pitchFamily="2" charset="-122"/>
              <a:ea typeface="宋体" panose="02010600030101010101" pitchFamily="2" charset="-122"/>
            </a:endParaRPr>
          </a:p>
        </p:txBody>
      </p:sp>
      <p:pic>
        <p:nvPicPr>
          <p:cNvPr id="9" name="图片 8">
            <a:extLst>
              <a:ext uri="{FF2B5EF4-FFF2-40B4-BE49-F238E27FC236}">
                <a16:creationId xmlns:a16="http://schemas.microsoft.com/office/drawing/2014/main" id="{509D6F78-28BB-37F9-2CCC-7559EF467E5A}"/>
              </a:ext>
            </a:extLst>
          </p:cNvPr>
          <p:cNvPicPr>
            <a:picLocks/>
          </p:cNvPicPr>
          <p:nvPr/>
        </p:nvPicPr>
        <p:blipFill>
          <a:blip r:embed="rId3"/>
          <a:srcRect l="2485" t="2128" r="2275" b="18481"/>
          <a:stretch>
            <a:fillRect/>
          </a:stretch>
        </p:blipFill>
        <p:spPr>
          <a:xfrm>
            <a:off x="575247" y="2803161"/>
            <a:ext cx="11041505" cy="134911"/>
          </a:xfrm>
          <a:prstGeom prst="rect">
            <a:avLst/>
          </a:prstGeom>
        </p:spPr>
      </p:pic>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rtlCol="0"/>
          <a:lstStyle/>
          <a:p>
            <a:pPr rtl="0"/>
            <a:r>
              <a:rPr lang="zh-CN" altLang="en-US" dirty="0">
                <a:latin typeface="宋体" panose="02010600030101010101" pitchFamily="2" charset="-122"/>
                <a:ea typeface="宋体" panose="02010600030101010101" pitchFamily="2" charset="-122"/>
                <a:cs typeface="Segoe UI Light" panose="020B0502040204020203" pitchFamily="34" charset="0"/>
              </a:rPr>
              <a:t>研究背景</a:t>
            </a:r>
          </a:p>
        </p:txBody>
      </p:sp>
      <p:sp>
        <p:nvSpPr>
          <p:cNvPr id="3" name="内容占位符 17">
            <a:extLst>
              <a:ext uri="{FF2B5EF4-FFF2-40B4-BE49-F238E27FC236}">
                <a16:creationId xmlns:a16="http://schemas.microsoft.com/office/drawing/2014/main" id="{36E1AC51-F48A-3293-BEF7-11FC626F2E20}"/>
              </a:ext>
            </a:extLst>
          </p:cNvPr>
          <p:cNvSpPr txBox="1">
            <a:spLocks/>
          </p:cNvSpPr>
          <p:nvPr/>
        </p:nvSpPr>
        <p:spPr>
          <a:xfrm>
            <a:off x="521207" y="1416290"/>
            <a:ext cx="10320964" cy="116878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lnSpc>
                <a:spcPct val="100000"/>
              </a:lnSpc>
              <a:spcAft>
                <a:spcPts val="2000"/>
              </a:spcAft>
              <a:buNone/>
            </a:pPr>
            <a:r>
              <a:rPr lang="en-US" altLang="zh-CN" sz="1800" dirty="0">
                <a:latin typeface="宋体" panose="02010600030101010101" pitchFamily="2" charset="-122"/>
                <a:ea typeface="宋体" panose="02010600030101010101" pitchFamily="2" charset="-122"/>
                <a:cs typeface="Segoe UI" panose="020B0502040204020203" pitchFamily="34" charset="0"/>
              </a:rPr>
              <a:t>·</a:t>
            </a:r>
            <a:r>
              <a:rPr lang="zh-CN" altLang="en-US" sz="1800" dirty="0">
                <a:latin typeface="宋体" panose="02010600030101010101" pitchFamily="2" charset="-122"/>
                <a:ea typeface="宋体" panose="02010600030101010101" pitchFamily="2" charset="-122"/>
                <a:cs typeface="Segoe UI" panose="020B0502040204020203" pitchFamily="34" charset="0"/>
              </a:rPr>
              <a:t>核心问题：序列推荐（</a:t>
            </a:r>
            <a:r>
              <a:rPr lang="en-US" altLang="zh-CN" sz="1800" dirty="0">
                <a:latin typeface="宋体" panose="02010600030101010101" pitchFamily="2" charset="-122"/>
                <a:ea typeface="宋体" panose="02010600030101010101" pitchFamily="2" charset="-122"/>
                <a:cs typeface="Segoe UI" panose="020B0502040204020203" pitchFamily="34" charset="0"/>
              </a:rPr>
              <a:t>Sequential Recommendation</a:t>
            </a:r>
            <a:r>
              <a:rPr lang="zh-CN" altLang="en-US" sz="1800" dirty="0">
                <a:latin typeface="宋体" panose="02010600030101010101" pitchFamily="2" charset="-122"/>
                <a:ea typeface="宋体" panose="02010600030101010101" pitchFamily="2" charset="-122"/>
                <a:cs typeface="Segoe UI" panose="020B0502040204020203" pitchFamily="34" charset="0"/>
              </a:rPr>
              <a:t>）</a:t>
            </a:r>
            <a:endParaRPr lang="en-US" altLang="zh-CN" sz="1800" dirty="0">
              <a:latin typeface="宋体" panose="02010600030101010101" pitchFamily="2" charset="-122"/>
              <a:ea typeface="宋体" panose="02010600030101010101" pitchFamily="2" charset="-122"/>
              <a:cs typeface="Segoe UI" panose="020B0502040204020203" pitchFamily="34" charset="0"/>
            </a:endParaRPr>
          </a:p>
        </p:txBody>
      </p:sp>
      <p:sp>
        <p:nvSpPr>
          <p:cNvPr id="6" name="文本框 5">
            <a:extLst>
              <a:ext uri="{FF2B5EF4-FFF2-40B4-BE49-F238E27FC236}">
                <a16:creationId xmlns:a16="http://schemas.microsoft.com/office/drawing/2014/main" id="{E59ABC50-53BD-01A6-DAB0-D8B60DB4F323}"/>
              </a:ext>
            </a:extLst>
          </p:cNvPr>
          <p:cNvSpPr txBox="1"/>
          <p:nvPr/>
        </p:nvSpPr>
        <p:spPr>
          <a:xfrm>
            <a:off x="521207" y="1862297"/>
            <a:ext cx="5515207" cy="1477328"/>
          </a:xfrm>
          <a:prstGeom prst="rect">
            <a:avLst/>
          </a:prstGeom>
          <a:noFill/>
        </p:spPr>
        <p:txBody>
          <a:bodyPr wrap="square">
            <a:spAutoFit/>
          </a:bodyPr>
          <a:lstStyle/>
          <a:p>
            <a:pPr lvl="1">
              <a:spcAft>
                <a:spcPts val="2000"/>
              </a:spcAft>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	</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序列推荐是一种建模用户行为时序特征的推荐技术。它不只是分析用户的静态偏好，而是将历史行为视为一个动态演化的序列，通过捕捉行为间的依赖关系和长期</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短期兴趣的偏移，从而精准预测用户的下一个可能意图。</a:t>
            </a:r>
          </a:p>
        </p:txBody>
      </p:sp>
      <p:pic>
        <p:nvPicPr>
          <p:cNvPr id="8" name="图片 7">
            <a:extLst>
              <a:ext uri="{FF2B5EF4-FFF2-40B4-BE49-F238E27FC236}">
                <a16:creationId xmlns:a16="http://schemas.microsoft.com/office/drawing/2014/main" id="{DAEA42B0-4055-993C-BE95-9EF35E41E018}"/>
              </a:ext>
            </a:extLst>
          </p:cNvPr>
          <p:cNvPicPr>
            <a:picLocks/>
          </p:cNvPicPr>
          <p:nvPr/>
        </p:nvPicPr>
        <p:blipFill>
          <a:blip r:embed="rId3"/>
          <a:srcRect l="5241" r="13092"/>
          <a:stretch>
            <a:fillRect/>
          </a:stretch>
        </p:blipFill>
        <p:spPr>
          <a:xfrm>
            <a:off x="6336824" y="1505665"/>
            <a:ext cx="5185991" cy="4602938"/>
          </a:xfrm>
          <a:prstGeom prst="rect">
            <a:avLst/>
          </a:prstGeom>
        </p:spPr>
      </p:pic>
      <p:sp>
        <p:nvSpPr>
          <p:cNvPr id="9" name="内容占位符 17">
            <a:extLst>
              <a:ext uri="{FF2B5EF4-FFF2-40B4-BE49-F238E27FC236}">
                <a16:creationId xmlns:a16="http://schemas.microsoft.com/office/drawing/2014/main" id="{96CBBBE2-FA36-860C-42E2-58B3729FB1F4}"/>
              </a:ext>
            </a:extLst>
          </p:cNvPr>
          <p:cNvSpPr txBox="1">
            <a:spLocks/>
          </p:cNvSpPr>
          <p:nvPr/>
        </p:nvSpPr>
        <p:spPr>
          <a:xfrm>
            <a:off x="521207" y="3541872"/>
            <a:ext cx="10320964" cy="116878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lnSpc>
                <a:spcPct val="100000"/>
              </a:lnSpc>
              <a:spcAft>
                <a:spcPts val="2000"/>
              </a:spcAft>
              <a:buNone/>
            </a:pPr>
            <a:r>
              <a:rPr lang="en-US" altLang="zh-CN" sz="1800" dirty="0">
                <a:latin typeface="宋体" panose="02010600030101010101" pitchFamily="2" charset="-122"/>
                <a:ea typeface="宋体" panose="02010600030101010101" pitchFamily="2" charset="-122"/>
                <a:cs typeface="Segoe UI" panose="020B0502040204020203" pitchFamily="34" charset="0"/>
              </a:rPr>
              <a:t>·</a:t>
            </a:r>
            <a:r>
              <a:rPr lang="zh-CN" altLang="en-US" sz="1800" dirty="0">
                <a:latin typeface="宋体" panose="02010600030101010101" pitchFamily="2" charset="-122"/>
                <a:ea typeface="宋体" panose="02010600030101010101" pitchFamily="2" charset="-122"/>
                <a:cs typeface="Segoe UI" panose="020B0502040204020203" pitchFamily="34" charset="0"/>
              </a:rPr>
              <a:t>传统模型缺陷：</a:t>
            </a:r>
            <a:endParaRPr lang="en-US" altLang="zh-CN" sz="1800" dirty="0">
              <a:latin typeface="宋体" panose="02010600030101010101" pitchFamily="2" charset="-122"/>
              <a:ea typeface="宋体" panose="02010600030101010101" pitchFamily="2" charset="-122"/>
              <a:cs typeface="Segoe UI" panose="020B0502040204020203" pitchFamily="34" charset="0"/>
            </a:endParaRPr>
          </a:p>
        </p:txBody>
      </p:sp>
      <p:sp>
        <p:nvSpPr>
          <p:cNvPr id="10" name="文本框 9">
            <a:extLst>
              <a:ext uri="{FF2B5EF4-FFF2-40B4-BE49-F238E27FC236}">
                <a16:creationId xmlns:a16="http://schemas.microsoft.com/office/drawing/2014/main" id="{9364B40C-F3D7-CF26-3424-45B650164E49}"/>
              </a:ext>
            </a:extLst>
          </p:cNvPr>
          <p:cNvSpPr txBox="1"/>
          <p:nvPr/>
        </p:nvSpPr>
        <p:spPr>
          <a:xfrm>
            <a:off x="580793" y="4042875"/>
            <a:ext cx="5515207" cy="646331"/>
          </a:xfrm>
          <a:prstGeom prst="rect">
            <a:avLst/>
          </a:prstGeom>
          <a:noFill/>
        </p:spPr>
        <p:txBody>
          <a:bodyPr wrap="square">
            <a:spAutoFit/>
          </a:bodyPr>
          <a:lstStyle/>
          <a:p>
            <a:pPr lvl="1">
              <a:spcAft>
                <a:spcPts val="2000"/>
              </a:spcAft>
              <a:defRPr/>
            </a:pP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主流模型：将物品映射为单一嵌入向量，利用</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		</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自注意力机制捕捉用户的偏好</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a:t>
            </a:r>
            <a:endPar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endParaRPr>
          </a:p>
        </p:txBody>
      </p:sp>
      <p:sp>
        <p:nvSpPr>
          <p:cNvPr id="11" name="文本框 10">
            <a:extLst>
              <a:ext uri="{FF2B5EF4-FFF2-40B4-BE49-F238E27FC236}">
                <a16:creationId xmlns:a16="http://schemas.microsoft.com/office/drawing/2014/main" id="{6CA5A5F6-9971-49F2-EC74-E654145D5537}"/>
              </a:ext>
            </a:extLst>
          </p:cNvPr>
          <p:cNvSpPr txBox="1"/>
          <p:nvPr/>
        </p:nvSpPr>
        <p:spPr>
          <a:xfrm>
            <a:off x="580792" y="4689206"/>
            <a:ext cx="5515207" cy="646331"/>
          </a:xfrm>
          <a:prstGeom prst="rect">
            <a:avLst/>
          </a:prstGeom>
          <a:noFill/>
        </p:spPr>
        <p:txBody>
          <a:bodyPr wrap="square">
            <a:spAutoFit/>
          </a:bodyPr>
          <a:lstStyle/>
          <a:p>
            <a:pPr lvl="1">
              <a:spcAft>
                <a:spcPts val="2000"/>
              </a:spcAft>
              <a:defRPr/>
            </a:pP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缺陷：单向量表示难以捕捉物品多面性，</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用户</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在同一面相下的兴趣往往是复杂多元的</a:t>
            </a:r>
          </a:p>
        </p:txBody>
      </p:sp>
      <p:sp>
        <p:nvSpPr>
          <p:cNvPr id="13" name="文本框 12">
            <a:extLst>
              <a:ext uri="{FF2B5EF4-FFF2-40B4-BE49-F238E27FC236}">
                <a16:creationId xmlns:a16="http://schemas.microsoft.com/office/drawing/2014/main" id="{D5DB97BA-8F6A-B9C2-214D-79B51908D7F6}"/>
              </a:ext>
            </a:extLst>
          </p:cNvPr>
          <p:cNvSpPr txBox="1"/>
          <p:nvPr/>
        </p:nvSpPr>
        <p:spPr>
          <a:xfrm>
            <a:off x="580791" y="5335537"/>
            <a:ext cx="5515207" cy="369332"/>
          </a:xfrm>
          <a:prstGeom prst="rect">
            <a:avLst/>
          </a:prstGeom>
          <a:noFill/>
        </p:spPr>
        <p:txBody>
          <a:bodyPr wrap="square">
            <a:spAutoFit/>
          </a:bodyPr>
          <a:lstStyle/>
          <a:p>
            <a:pPr lvl="1">
              <a:spcAft>
                <a:spcPts val="2000"/>
              </a:spcAft>
              <a:defRPr/>
            </a:pP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如何解决？</a:t>
            </a: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 FAME</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模型</a:t>
            </a:r>
            <a:endPar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endParaRPr>
          </a:p>
        </p:txBody>
      </p:sp>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lstStyle/>
          <a:p>
            <a:pPr rtl="0"/>
            <a:r>
              <a:rPr lang="zh-CN" altLang="en-US" dirty="0">
                <a:latin typeface="宋体" panose="02010600030101010101" pitchFamily="2" charset="-122"/>
                <a:ea typeface="宋体" panose="02010600030101010101" pitchFamily="2" charset="-122"/>
                <a:cs typeface="Segoe UI Light" panose="020B0502040204020203" pitchFamily="34" charset="0"/>
              </a:rPr>
              <a:t>模型方法</a:t>
            </a:r>
          </a:p>
        </p:txBody>
      </p:sp>
      <p:sp>
        <p:nvSpPr>
          <p:cNvPr id="4" name="文本框 3">
            <a:extLst>
              <a:ext uri="{FF2B5EF4-FFF2-40B4-BE49-F238E27FC236}">
                <a16:creationId xmlns:a16="http://schemas.microsoft.com/office/drawing/2014/main" id="{13A7B751-293F-FADD-F91A-F50918F988FB}"/>
              </a:ext>
            </a:extLst>
          </p:cNvPr>
          <p:cNvSpPr txBox="1"/>
          <p:nvPr/>
        </p:nvSpPr>
        <p:spPr>
          <a:xfrm>
            <a:off x="1425455" y="1417744"/>
            <a:ext cx="10766545" cy="2011256"/>
          </a:xfrm>
          <a:prstGeom prst="rect">
            <a:avLst/>
          </a:prstGeom>
          <a:noFill/>
        </p:spPr>
        <p:txBody>
          <a:bodyPr wrap="square">
            <a:spAutoFit/>
          </a:bodyPr>
          <a:lstStyle/>
          <a:p>
            <a:pPr>
              <a:spcAft>
                <a:spcPts val="2000"/>
              </a:spcAft>
              <a:defRPr/>
            </a:pP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模型主要分为三层：</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endParaRPr>
          </a:p>
          <a:p>
            <a:pPr lvl="1">
              <a:lnSpc>
                <a:spcPts val="1200"/>
              </a:lnSpc>
              <a:spcAft>
                <a:spcPts val="2000"/>
              </a:spcAf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嵌入层 </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(Embedding Layer)</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：将物品 </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ID </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转换为低维向量</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endParaRPr>
          </a:p>
          <a:p>
            <a:pPr lvl="1">
              <a:lnSpc>
                <a:spcPts val="1200"/>
              </a:lnSpc>
              <a:spcAft>
                <a:spcPts val="2000"/>
              </a:spcAf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多头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MoE</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 </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注意力层 </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(Multi-head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MoE</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 Attention)</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：核心计算单元，捕捉多面相特征</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endParaRPr>
          </a:p>
          <a:p>
            <a:pPr lvl="1">
              <a:lnSpc>
                <a:spcPts val="1200"/>
              </a:lnSpc>
              <a:spcAft>
                <a:spcPts val="2000"/>
              </a:spcAft>
              <a:defRPr/>
            </a:pPr>
            <a:r>
              <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rPr>
              <a:t>·</a:t>
            </a:r>
            <a:r>
              <a:rPr lang="zh-CN" altLang="en-US" sz="1600" dirty="0">
                <a:solidFill>
                  <a:prstClr val="black"/>
                </a:solidFill>
                <a:latin typeface="宋体" panose="02010600030101010101" pitchFamily="2" charset="-122"/>
                <a:ea typeface="宋体" panose="02010600030101010101" pitchFamily="2" charset="-122"/>
                <a:cs typeface="Segoe UI" panose="020B0502040204020203" pitchFamily="34" charset="0"/>
              </a:rPr>
              <a:t>门控层</a:t>
            </a:r>
            <a:r>
              <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rPr>
              <a:t>(Gating Layer)</a:t>
            </a:r>
            <a:r>
              <a:rPr lang="zh-CN" altLang="en-US" sz="1600" dirty="0">
                <a:solidFill>
                  <a:prstClr val="black"/>
                </a:solidFill>
                <a:latin typeface="宋体" panose="02010600030101010101" pitchFamily="2" charset="-122"/>
                <a:ea typeface="宋体" panose="02010600030101010101" pitchFamily="2" charset="-122"/>
                <a:cs typeface="Segoe UI" panose="020B0502040204020203" pitchFamily="34" charset="0"/>
              </a:rPr>
              <a:t>：汇总多头预测结果，输出最终概率。</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endParaRPr>
          </a:p>
          <a:p>
            <a:pPr lvl="1">
              <a:lnSpc>
                <a:spcPts val="1200"/>
              </a:lnSpc>
              <a:spcAft>
                <a:spcPts val="2000"/>
              </a:spcAft>
              <a:defRPr/>
            </a:pPr>
            <a:endPar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endParaRPr>
          </a:p>
        </p:txBody>
      </p:sp>
      <p:pic>
        <p:nvPicPr>
          <p:cNvPr id="10" name="内容占位符 9">
            <a:extLst>
              <a:ext uri="{FF2B5EF4-FFF2-40B4-BE49-F238E27FC236}">
                <a16:creationId xmlns:a16="http://schemas.microsoft.com/office/drawing/2014/main" id="{9604B73B-BB33-4F66-F382-D66488429D06}"/>
              </a:ext>
            </a:extLst>
          </p:cNvPr>
          <p:cNvPicPr>
            <a:picLocks noGrp="1" noChangeAspect="1"/>
          </p:cNvPicPr>
          <p:nvPr>
            <p:ph sz="quarter" idx="10"/>
          </p:nvPr>
        </p:nvPicPr>
        <p:blipFill>
          <a:blip r:embed="rId3"/>
          <a:stretch>
            <a:fillRect/>
          </a:stretch>
        </p:blipFill>
        <p:spPr>
          <a:xfrm>
            <a:off x="1709348" y="3185635"/>
            <a:ext cx="8773304" cy="3060031"/>
          </a:xfrm>
        </p:spPr>
      </p:pic>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18A74-A242-EA94-21E4-E6AA8BA0F2B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3F615C2-0E40-95BE-D3B0-A2ABD9FC962D}"/>
              </a:ext>
            </a:extLst>
          </p:cNvPr>
          <p:cNvSpPr>
            <a:spLocks noGrp="1"/>
          </p:cNvSpPr>
          <p:nvPr>
            <p:ph type="title"/>
          </p:nvPr>
        </p:nvSpPr>
        <p:spPr/>
        <p:txBody>
          <a:bodyPr rtlCol="0"/>
          <a:lstStyle/>
          <a:p>
            <a:pPr rtl="0"/>
            <a:r>
              <a:rPr lang="zh-CN" altLang="en-US" dirty="0">
                <a:latin typeface="宋体" panose="02010600030101010101" pitchFamily="2" charset="-122"/>
                <a:ea typeface="宋体" panose="02010600030101010101" pitchFamily="2" charset="-122"/>
                <a:cs typeface="Segoe UI Light" panose="020B0502040204020203" pitchFamily="34" charset="0"/>
              </a:rPr>
              <a:t>基础知识</a:t>
            </a:r>
          </a:p>
        </p:txBody>
      </p:sp>
      <p:sp>
        <p:nvSpPr>
          <p:cNvPr id="4" name="文本框 3">
            <a:extLst>
              <a:ext uri="{FF2B5EF4-FFF2-40B4-BE49-F238E27FC236}">
                <a16:creationId xmlns:a16="http://schemas.microsoft.com/office/drawing/2014/main" id="{784AF6D5-5713-2853-94CE-9443CC557E60}"/>
              </a:ext>
            </a:extLst>
          </p:cNvPr>
          <p:cNvSpPr txBox="1"/>
          <p:nvPr/>
        </p:nvSpPr>
        <p:spPr>
          <a:xfrm>
            <a:off x="653467" y="1507685"/>
            <a:ext cx="10858979" cy="4216539"/>
          </a:xfrm>
          <a:prstGeom prst="rect">
            <a:avLst/>
          </a:prstGeom>
          <a:noFill/>
        </p:spPr>
        <p:txBody>
          <a:bodyPr wrap="square">
            <a:spAutoFit/>
          </a:bodyPr>
          <a:lstStyle/>
          <a:p>
            <a:pPr>
              <a:spcAft>
                <a:spcPts val="2000"/>
              </a:spcAf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问题建模：</a:t>
            </a:r>
            <a:r>
              <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rPr>
              <a:t>					</a:t>
            </a:r>
          </a:p>
          <a:p>
            <a:pPr>
              <a:spcAft>
                <a:spcPts val="2000"/>
              </a:spcAft>
              <a:defRPr/>
            </a:pP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			</a:t>
            </a:r>
            <a:r>
              <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典型的序列推荐问题</a:t>
            </a: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endParaRPr>
          </a:p>
          <a:p>
            <a:pPr>
              <a:spcAft>
                <a:spcPts val="2000"/>
              </a:spcAft>
              <a:defRPr/>
            </a:pPr>
            <a:r>
              <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a:t>
            </a:r>
            <a:r>
              <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基础自注意力层：</a:t>
            </a:r>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endParaRPr>
          </a:p>
          <a:p>
            <a:pPr>
              <a:spcAft>
                <a:spcPts val="2000"/>
              </a:spcAft>
              <a:defRPr/>
            </a:pP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在传统的</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transformer</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架构中多头自注意力机制</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Multi-Head Attention</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）通过将输入序列投影到多个并</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行的子空间，利用查询向量（</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Query</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）、键向量（</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Key</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）和</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值向量（</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Value</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）计算注意力分数</a:t>
            </a:r>
            <a:r>
              <a:rPr lang="en-US" altLang="zh-CN" sz="2400" b="1" dirty="0" err="1">
                <a:solidFill>
                  <a:prstClr val="black"/>
                </a:solidFill>
                <a:latin typeface="宋体" panose="02010600030101010101" pitchFamily="2" charset="-122"/>
                <a:ea typeface="宋体" panose="02010600030101010101" pitchFamily="2" charset="-122"/>
                <a:cs typeface="Segoe UI" panose="020B0502040204020203" pitchFamily="34" charset="0"/>
              </a:rPr>
              <a:t>a</a:t>
            </a:r>
            <a:r>
              <a:rPr lang="en-US" altLang="zh-CN" sz="1400" dirty="0" err="1">
                <a:solidFill>
                  <a:prstClr val="black"/>
                </a:solidFill>
                <a:latin typeface="宋体" panose="02010600030101010101" pitchFamily="2" charset="-122"/>
                <a:ea typeface="宋体" panose="02010600030101010101" pitchFamily="2" charset="-122"/>
                <a:cs typeface="Segoe UI" panose="020B0502040204020203" pitchFamily="34" charset="0"/>
              </a:rPr>
              <a:t>ij</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，从而捕捉物品间不</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同维度的依赖关系。然而，大多数现有模型在最后一层通</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常将各头的输出进行拼接或平均，强制将其压缩为一个单</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一的综合向量来代表用户意图。这种做法在无形中抹平了</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物品的多面性导致模型难以区分用户在不同属性维度（如</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品牌、题材或风格）下的细粒度偏好差异。</a:t>
            </a:r>
            <a:endPar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endParaRPr>
          </a:p>
        </p:txBody>
      </p:sp>
      <p:pic>
        <p:nvPicPr>
          <p:cNvPr id="7" name="图片 6">
            <a:extLst>
              <a:ext uri="{FF2B5EF4-FFF2-40B4-BE49-F238E27FC236}">
                <a16:creationId xmlns:a16="http://schemas.microsoft.com/office/drawing/2014/main" id="{C77879EE-C0A9-2798-852D-2533FAA6A27E}"/>
              </a:ext>
            </a:extLst>
          </p:cNvPr>
          <p:cNvPicPr>
            <a:picLocks noChangeAspect="1"/>
          </p:cNvPicPr>
          <p:nvPr/>
        </p:nvPicPr>
        <p:blipFill>
          <a:blip r:embed="rId3"/>
          <a:stretch>
            <a:fillRect/>
          </a:stretch>
        </p:blipFill>
        <p:spPr>
          <a:xfrm>
            <a:off x="2123992" y="1889670"/>
            <a:ext cx="2472338" cy="546584"/>
          </a:xfrm>
          <a:prstGeom prst="rect">
            <a:avLst/>
          </a:prstGeom>
        </p:spPr>
      </p:pic>
      <p:pic>
        <p:nvPicPr>
          <p:cNvPr id="9" name="图片 8">
            <a:extLst>
              <a:ext uri="{FF2B5EF4-FFF2-40B4-BE49-F238E27FC236}">
                <a16:creationId xmlns:a16="http://schemas.microsoft.com/office/drawing/2014/main" id="{64C19A8B-0EA3-FFF0-7E72-88AC9AFA5FF7}"/>
              </a:ext>
            </a:extLst>
          </p:cNvPr>
          <p:cNvPicPr>
            <a:picLocks noChangeAspect="1"/>
          </p:cNvPicPr>
          <p:nvPr/>
        </p:nvPicPr>
        <p:blipFill>
          <a:blip r:embed="rId4"/>
          <a:stretch>
            <a:fillRect/>
          </a:stretch>
        </p:blipFill>
        <p:spPr>
          <a:xfrm>
            <a:off x="1380133" y="3008487"/>
            <a:ext cx="3705225" cy="3312017"/>
          </a:xfrm>
          <a:prstGeom prst="rect">
            <a:avLst/>
          </a:prstGeom>
        </p:spPr>
      </p:pic>
    </p:spTree>
    <p:extLst>
      <p:ext uri="{BB962C8B-B14F-4D97-AF65-F5344CB8AC3E}">
        <p14:creationId xmlns:p14="http://schemas.microsoft.com/office/powerpoint/2010/main" val="3799390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6DD36-ED99-982B-FBF5-B3987F27A8B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331A319-D927-F011-503C-909837984BFE}"/>
              </a:ext>
            </a:extLst>
          </p:cNvPr>
          <p:cNvSpPr>
            <a:spLocks noGrp="1"/>
          </p:cNvSpPr>
          <p:nvPr>
            <p:ph type="title"/>
          </p:nvPr>
        </p:nvSpPr>
        <p:spPr/>
        <p:txBody>
          <a:bodyPr rtlCol="0"/>
          <a:lstStyle/>
          <a:p>
            <a:pPr rtl="0"/>
            <a:r>
              <a:rPr lang="zh-CN" altLang="en-US" dirty="0">
                <a:latin typeface="宋体" panose="02010600030101010101" pitchFamily="2" charset="-122"/>
                <a:ea typeface="宋体" panose="02010600030101010101" pitchFamily="2" charset="-122"/>
                <a:cs typeface="Segoe UI Light" panose="020B0502040204020203" pitchFamily="34" charset="0"/>
              </a:rPr>
              <a:t>核心机制</a:t>
            </a:r>
          </a:p>
        </p:txBody>
      </p:sp>
      <p:sp>
        <p:nvSpPr>
          <p:cNvPr id="4" name="文本框 3">
            <a:extLst>
              <a:ext uri="{FF2B5EF4-FFF2-40B4-BE49-F238E27FC236}">
                <a16:creationId xmlns:a16="http://schemas.microsoft.com/office/drawing/2014/main" id="{3EC300A0-74DA-0FA8-EDFA-4901F7DCDAEB}"/>
              </a:ext>
            </a:extLst>
          </p:cNvPr>
          <p:cNvSpPr txBox="1"/>
          <p:nvPr/>
        </p:nvSpPr>
        <p:spPr>
          <a:xfrm>
            <a:off x="645972" y="1341338"/>
            <a:ext cx="10900056" cy="1836400"/>
          </a:xfrm>
          <a:prstGeom prst="rect">
            <a:avLst/>
          </a:prstGeom>
          <a:noFill/>
        </p:spPr>
        <p:txBody>
          <a:bodyPr wrap="square">
            <a:spAutoFit/>
          </a:bodyPr>
          <a:lstStyle/>
          <a:p>
            <a:pPr>
              <a:spcAft>
                <a:spcPts val="2000"/>
              </a:spcAft>
              <a:defRPr/>
            </a:pPr>
            <a:r>
              <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rPr>
              <a:t>·</a:t>
            </a:r>
            <a:r>
              <a:rPr lang="zh-CN" altLang="en-US" sz="1600" dirty="0">
                <a:solidFill>
                  <a:prstClr val="black"/>
                </a:solidFill>
                <a:latin typeface="宋体" panose="02010600030101010101" pitchFamily="2" charset="-122"/>
                <a:ea typeface="宋体" panose="02010600030101010101" pitchFamily="2" charset="-122"/>
                <a:cs typeface="Segoe UI" panose="020B0502040204020203" pitchFamily="34" charset="0"/>
              </a:rPr>
              <a:t>面向面的多头预测机制：</a:t>
            </a:r>
            <a:endPar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endParaRPr>
          </a:p>
          <a:p>
            <a:pPr>
              <a:spcAft>
                <a:spcPts val="2000"/>
              </a:spcAft>
              <a:defRPr/>
            </a:pPr>
            <a:r>
              <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sz="1600" dirty="0">
                <a:solidFill>
                  <a:prstClr val="black"/>
                </a:solidFill>
                <a:latin typeface="宋体" panose="02010600030101010101" pitchFamily="2" charset="-122"/>
                <a:ea typeface="宋体" panose="02010600030101010101" pitchFamily="2" charset="-122"/>
                <a:cs typeface="Segoe UI" panose="020B0502040204020203" pitchFamily="34" charset="0"/>
              </a:rPr>
              <a:t>将每个头的输出独立作为预测结果进行处理，是 </a:t>
            </a:r>
            <a:r>
              <a:rPr lang="en-US" altLang="zh-CN" sz="1600" b="1" dirty="0">
                <a:solidFill>
                  <a:prstClr val="black"/>
                </a:solidFill>
                <a:latin typeface="宋体" panose="02010600030101010101" pitchFamily="2" charset="-122"/>
                <a:ea typeface="宋体" panose="02010600030101010101" pitchFamily="2" charset="-122"/>
                <a:cs typeface="Segoe UI" panose="020B0502040204020203" pitchFamily="34" charset="0"/>
              </a:rPr>
              <a:t>FAME</a:t>
            </a:r>
            <a:r>
              <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sz="1600" dirty="0">
                <a:solidFill>
                  <a:prstClr val="black"/>
                </a:solidFill>
                <a:latin typeface="宋体" panose="02010600030101010101" pitchFamily="2" charset="-122"/>
                <a:ea typeface="宋体" panose="02010600030101010101" pitchFamily="2" charset="-122"/>
                <a:cs typeface="Segoe UI" panose="020B0502040204020203" pitchFamily="34" charset="0"/>
              </a:rPr>
              <a:t>模型区别于传统序列推荐模型的关键设计。在这一机制下，多头自注意力层不再仅仅被视为一个特征提取器，而是被转化为</a:t>
            </a:r>
            <a:r>
              <a:rPr lang="en-US" altLang="zh-CN" sz="1600" b="1" dirty="0">
                <a:solidFill>
                  <a:prstClr val="black"/>
                </a:solidFill>
                <a:latin typeface="宋体" panose="02010600030101010101" pitchFamily="2" charset="-122"/>
                <a:ea typeface="宋体" panose="02010600030101010101" pitchFamily="2" charset="-122"/>
                <a:cs typeface="Segoe UI" panose="020B0502040204020203" pitchFamily="34" charset="0"/>
              </a:rPr>
              <a:t>H</a:t>
            </a:r>
            <a:r>
              <a:rPr lang="zh-CN" altLang="en-US" sz="1600" dirty="0">
                <a:solidFill>
                  <a:prstClr val="black"/>
                </a:solidFill>
                <a:latin typeface="宋体" panose="02010600030101010101" pitchFamily="2" charset="-122"/>
                <a:ea typeface="宋体" panose="02010600030101010101" pitchFamily="2" charset="-122"/>
                <a:cs typeface="Segoe UI" panose="020B0502040204020203" pitchFamily="34" charset="0"/>
              </a:rPr>
              <a:t>个并行的、具有面相感知能力的专家分支，通过多个专家的意见集思广益，形成最终决策。</a:t>
            </a:r>
            <a:endPar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endParaRPr>
          </a:p>
          <a:p>
            <a:pPr>
              <a:spcAft>
                <a:spcPts val="2000"/>
              </a:spcAft>
              <a:defRPr/>
            </a:pPr>
            <a:endPar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endParaRPr>
          </a:p>
        </p:txBody>
      </p:sp>
      <p:pic>
        <p:nvPicPr>
          <p:cNvPr id="17" name="图片 16">
            <a:extLst>
              <a:ext uri="{FF2B5EF4-FFF2-40B4-BE49-F238E27FC236}">
                <a16:creationId xmlns:a16="http://schemas.microsoft.com/office/drawing/2014/main" id="{72125F56-8F48-BFC1-6F26-94FA333D5E6B}"/>
              </a:ext>
            </a:extLst>
          </p:cNvPr>
          <p:cNvPicPr>
            <a:picLocks noChangeAspect="1"/>
          </p:cNvPicPr>
          <p:nvPr/>
        </p:nvPicPr>
        <p:blipFill>
          <a:blip r:embed="rId3"/>
          <a:stretch>
            <a:fillRect/>
          </a:stretch>
        </p:blipFill>
        <p:spPr>
          <a:xfrm>
            <a:off x="645972" y="2845580"/>
            <a:ext cx="5799798" cy="548630"/>
          </a:xfrm>
          <a:prstGeom prst="rect">
            <a:avLst/>
          </a:prstGeom>
        </p:spPr>
      </p:pic>
      <p:pic>
        <p:nvPicPr>
          <p:cNvPr id="19" name="图片 18">
            <a:extLst>
              <a:ext uri="{FF2B5EF4-FFF2-40B4-BE49-F238E27FC236}">
                <a16:creationId xmlns:a16="http://schemas.microsoft.com/office/drawing/2014/main" id="{7F02BD34-B747-FF2D-EA80-C03AEF5B7578}"/>
              </a:ext>
            </a:extLst>
          </p:cNvPr>
          <p:cNvPicPr>
            <a:picLocks/>
          </p:cNvPicPr>
          <p:nvPr/>
        </p:nvPicPr>
        <p:blipFill>
          <a:blip r:embed="rId4"/>
          <a:srcRect l="11511" r="12635"/>
          <a:stretch>
            <a:fillRect/>
          </a:stretch>
        </p:blipFill>
        <p:spPr>
          <a:xfrm>
            <a:off x="645972" y="3394210"/>
            <a:ext cx="5799798" cy="512809"/>
          </a:xfrm>
          <a:prstGeom prst="rect">
            <a:avLst/>
          </a:prstGeom>
        </p:spPr>
      </p:pic>
      <p:pic>
        <p:nvPicPr>
          <p:cNvPr id="21" name="图片 20">
            <a:extLst>
              <a:ext uri="{FF2B5EF4-FFF2-40B4-BE49-F238E27FC236}">
                <a16:creationId xmlns:a16="http://schemas.microsoft.com/office/drawing/2014/main" id="{D49645CA-E07C-ED00-B7C4-B972FB877067}"/>
              </a:ext>
            </a:extLst>
          </p:cNvPr>
          <p:cNvPicPr>
            <a:picLocks/>
          </p:cNvPicPr>
          <p:nvPr/>
        </p:nvPicPr>
        <p:blipFill>
          <a:blip r:embed="rId5"/>
          <a:srcRect l="13477" r="18143"/>
          <a:stretch>
            <a:fillRect/>
          </a:stretch>
        </p:blipFill>
        <p:spPr>
          <a:xfrm>
            <a:off x="645973" y="3907019"/>
            <a:ext cx="5799797" cy="610845"/>
          </a:xfrm>
          <a:prstGeom prst="rect">
            <a:avLst/>
          </a:prstGeom>
        </p:spPr>
      </p:pic>
      <p:pic>
        <p:nvPicPr>
          <p:cNvPr id="6" name="图片 5">
            <a:extLst>
              <a:ext uri="{FF2B5EF4-FFF2-40B4-BE49-F238E27FC236}">
                <a16:creationId xmlns:a16="http://schemas.microsoft.com/office/drawing/2014/main" id="{46A1383C-C808-87DF-5334-F7E6009681D5}"/>
              </a:ext>
            </a:extLst>
          </p:cNvPr>
          <p:cNvPicPr>
            <a:picLocks/>
          </p:cNvPicPr>
          <p:nvPr/>
        </p:nvPicPr>
        <p:blipFill>
          <a:blip r:embed="rId6"/>
          <a:srcRect l="15878" t="-1583" r="24922" b="1583"/>
          <a:stretch>
            <a:fillRect/>
          </a:stretch>
        </p:blipFill>
        <p:spPr>
          <a:xfrm>
            <a:off x="645973" y="4472617"/>
            <a:ext cx="5799797" cy="558056"/>
          </a:xfrm>
          <a:prstGeom prst="rect">
            <a:avLst/>
          </a:prstGeom>
        </p:spPr>
      </p:pic>
      <p:pic>
        <p:nvPicPr>
          <p:cNvPr id="9" name="图片 8">
            <a:extLst>
              <a:ext uri="{FF2B5EF4-FFF2-40B4-BE49-F238E27FC236}">
                <a16:creationId xmlns:a16="http://schemas.microsoft.com/office/drawing/2014/main" id="{C582A9AF-0710-0907-B4AA-5D4C2AD6303E}"/>
              </a:ext>
            </a:extLst>
          </p:cNvPr>
          <p:cNvPicPr>
            <a:picLocks/>
          </p:cNvPicPr>
          <p:nvPr/>
        </p:nvPicPr>
        <p:blipFill>
          <a:blip r:embed="rId7"/>
          <a:srcRect l="19705" t="4189" r="24345" b="11825"/>
          <a:stretch>
            <a:fillRect/>
          </a:stretch>
        </p:blipFill>
        <p:spPr>
          <a:xfrm>
            <a:off x="645973" y="5030673"/>
            <a:ext cx="5799797" cy="779042"/>
          </a:xfrm>
          <a:prstGeom prst="rect">
            <a:avLst/>
          </a:prstGeom>
        </p:spPr>
      </p:pic>
      <p:pic>
        <p:nvPicPr>
          <p:cNvPr id="5" name="图片 4">
            <a:extLst>
              <a:ext uri="{FF2B5EF4-FFF2-40B4-BE49-F238E27FC236}">
                <a16:creationId xmlns:a16="http://schemas.microsoft.com/office/drawing/2014/main" id="{F6D79CEA-DDBE-2A53-A1A7-CC3684A7128E}"/>
              </a:ext>
            </a:extLst>
          </p:cNvPr>
          <p:cNvPicPr>
            <a:picLocks noChangeAspect="1"/>
          </p:cNvPicPr>
          <p:nvPr/>
        </p:nvPicPr>
        <p:blipFill>
          <a:blip r:embed="rId8"/>
          <a:stretch>
            <a:fillRect/>
          </a:stretch>
        </p:blipFill>
        <p:spPr>
          <a:xfrm>
            <a:off x="6681695" y="2859506"/>
            <a:ext cx="4929463" cy="2950209"/>
          </a:xfrm>
          <a:prstGeom prst="rect">
            <a:avLst/>
          </a:prstGeom>
        </p:spPr>
      </p:pic>
    </p:spTree>
    <p:extLst>
      <p:ext uri="{BB962C8B-B14F-4D97-AF65-F5344CB8AC3E}">
        <p14:creationId xmlns:p14="http://schemas.microsoft.com/office/powerpoint/2010/main" val="35586517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5B386-8AB2-DBB6-E9F4-3F1D8175388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C145B41-A2A9-ECE9-B63D-5800122A3EDF}"/>
              </a:ext>
            </a:extLst>
          </p:cNvPr>
          <p:cNvSpPr>
            <a:spLocks noGrp="1"/>
          </p:cNvSpPr>
          <p:nvPr>
            <p:ph type="title"/>
          </p:nvPr>
        </p:nvSpPr>
        <p:spPr/>
        <p:txBody>
          <a:bodyPr rtlCol="0"/>
          <a:lstStyle/>
          <a:p>
            <a:pPr rtl="0"/>
            <a:r>
              <a:rPr lang="zh-CN" altLang="en-US" dirty="0">
                <a:latin typeface="宋体" panose="02010600030101010101" pitchFamily="2" charset="-122"/>
                <a:ea typeface="宋体" panose="02010600030101010101" pitchFamily="2" charset="-122"/>
                <a:cs typeface="Segoe UI Light" panose="020B0502040204020203" pitchFamily="34" charset="0"/>
              </a:rPr>
              <a:t>核心机制</a:t>
            </a:r>
          </a:p>
        </p:txBody>
      </p:sp>
      <p:sp>
        <p:nvSpPr>
          <p:cNvPr id="4" name="文本框 3">
            <a:extLst>
              <a:ext uri="{FF2B5EF4-FFF2-40B4-BE49-F238E27FC236}">
                <a16:creationId xmlns:a16="http://schemas.microsoft.com/office/drawing/2014/main" id="{30473726-3041-8A99-B79A-04883F15FDE8}"/>
              </a:ext>
            </a:extLst>
          </p:cNvPr>
          <p:cNvSpPr txBox="1"/>
          <p:nvPr/>
        </p:nvSpPr>
        <p:spPr>
          <a:xfrm>
            <a:off x="645972" y="1341338"/>
            <a:ext cx="6485619" cy="1579920"/>
          </a:xfrm>
          <a:prstGeom prst="rect">
            <a:avLst/>
          </a:prstGeom>
          <a:noFill/>
        </p:spPr>
        <p:txBody>
          <a:bodyPr wrap="square">
            <a:spAutoFit/>
          </a:bodyPr>
          <a:lstStyle/>
          <a:p>
            <a:pPr>
              <a:spcAft>
                <a:spcPts val="2000"/>
              </a:spcAft>
              <a:defRPr/>
            </a:pPr>
            <a:r>
              <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rPr>
              <a:t>·</a:t>
            </a:r>
            <a:r>
              <a:rPr lang="zh-CN" altLang="en-US" sz="1600" dirty="0">
                <a:solidFill>
                  <a:prstClr val="black"/>
                </a:solidFill>
                <a:latin typeface="宋体" panose="02010600030101010101" pitchFamily="2" charset="-122"/>
                <a:ea typeface="宋体" panose="02010600030101010101" pitchFamily="2" charset="-122"/>
                <a:cs typeface="Segoe UI" panose="020B0502040204020203" pitchFamily="34" charset="0"/>
              </a:rPr>
              <a:t>混合专家模型：</a:t>
            </a:r>
            <a:endPar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endParaRPr>
          </a:p>
          <a:p>
            <a:pPr>
              <a:spcAft>
                <a:spcPts val="2000"/>
              </a:spcAft>
              <a:defRPr/>
            </a:pPr>
            <a:r>
              <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sz="1600" dirty="0">
                <a:solidFill>
                  <a:prstClr val="black"/>
                </a:solidFill>
                <a:latin typeface="宋体" panose="02010600030101010101" pitchFamily="2" charset="-122"/>
                <a:ea typeface="宋体" panose="02010600030101010101" pitchFamily="2" charset="-122"/>
                <a:cs typeface="Segoe UI" panose="020B0502040204020203" pitchFamily="34" charset="0"/>
              </a:rPr>
              <a:t>混合专家注意力机制是 </a:t>
            </a:r>
            <a:r>
              <a:rPr lang="en-US" altLang="zh-CN" sz="1600" b="1" dirty="0">
                <a:solidFill>
                  <a:prstClr val="black"/>
                </a:solidFill>
                <a:latin typeface="宋体" panose="02010600030101010101" pitchFamily="2" charset="-122"/>
                <a:ea typeface="宋体" panose="02010600030101010101" pitchFamily="2" charset="-122"/>
                <a:cs typeface="Segoe UI" panose="020B0502040204020203" pitchFamily="34" charset="0"/>
              </a:rPr>
              <a:t>FAME</a:t>
            </a:r>
            <a:r>
              <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sz="1600" dirty="0">
                <a:solidFill>
                  <a:prstClr val="black"/>
                </a:solidFill>
                <a:latin typeface="宋体" panose="02010600030101010101" pitchFamily="2" charset="-122"/>
                <a:ea typeface="宋体" panose="02010600030101010101" pitchFamily="2" charset="-122"/>
                <a:cs typeface="Segoe UI" panose="020B0502040204020203" pitchFamily="34" charset="0"/>
              </a:rPr>
              <a:t>模型用于深化特征表达和捕捉细粒度偏好的核心增强模块。在这一架构下，模型不再局限于传统自注意力机制中每个注意力头仅由单一全连接网络处理信息的模式，而是创造性地在每一个子空间内部引入了专家解耦机制。</a:t>
            </a:r>
            <a:endPar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endParaRPr>
          </a:p>
        </p:txBody>
      </p:sp>
      <p:pic>
        <p:nvPicPr>
          <p:cNvPr id="8" name="图片 7">
            <a:extLst>
              <a:ext uri="{FF2B5EF4-FFF2-40B4-BE49-F238E27FC236}">
                <a16:creationId xmlns:a16="http://schemas.microsoft.com/office/drawing/2014/main" id="{9CF97E1A-1CB2-5C7F-4E57-F97DAB725CA1}"/>
              </a:ext>
            </a:extLst>
          </p:cNvPr>
          <p:cNvPicPr>
            <a:picLocks noChangeAspect="1"/>
          </p:cNvPicPr>
          <p:nvPr/>
        </p:nvPicPr>
        <p:blipFill>
          <a:blip r:embed="rId3"/>
          <a:stretch>
            <a:fillRect/>
          </a:stretch>
        </p:blipFill>
        <p:spPr>
          <a:xfrm>
            <a:off x="1522876" y="3068782"/>
            <a:ext cx="4731809" cy="3092442"/>
          </a:xfrm>
          <a:prstGeom prst="rect">
            <a:avLst/>
          </a:prstGeom>
        </p:spPr>
      </p:pic>
      <p:pic>
        <p:nvPicPr>
          <p:cNvPr id="5" name="图片 4">
            <a:extLst>
              <a:ext uri="{FF2B5EF4-FFF2-40B4-BE49-F238E27FC236}">
                <a16:creationId xmlns:a16="http://schemas.microsoft.com/office/drawing/2014/main" id="{6FE58F21-8A3C-2DB5-6457-15ACC689A891}"/>
              </a:ext>
            </a:extLst>
          </p:cNvPr>
          <p:cNvPicPr>
            <a:picLocks/>
          </p:cNvPicPr>
          <p:nvPr/>
        </p:nvPicPr>
        <p:blipFill>
          <a:blip r:embed="rId4"/>
          <a:srcRect r="34554" b="84063"/>
          <a:stretch>
            <a:fillRect/>
          </a:stretch>
        </p:blipFill>
        <p:spPr>
          <a:xfrm>
            <a:off x="6941699" y="3174460"/>
            <a:ext cx="4731809" cy="698868"/>
          </a:xfrm>
          <a:prstGeom prst="rect">
            <a:avLst/>
          </a:prstGeom>
        </p:spPr>
      </p:pic>
      <p:pic>
        <p:nvPicPr>
          <p:cNvPr id="10" name="图片 9">
            <a:extLst>
              <a:ext uri="{FF2B5EF4-FFF2-40B4-BE49-F238E27FC236}">
                <a16:creationId xmlns:a16="http://schemas.microsoft.com/office/drawing/2014/main" id="{C998D02F-2998-2FED-716C-30B46148DAC7}"/>
              </a:ext>
            </a:extLst>
          </p:cNvPr>
          <p:cNvPicPr>
            <a:picLocks/>
          </p:cNvPicPr>
          <p:nvPr/>
        </p:nvPicPr>
        <p:blipFill>
          <a:blip r:embed="rId4"/>
          <a:srcRect l="14789" t="38172" r="31213" b="45052"/>
          <a:stretch>
            <a:fillRect/>
          </a:stretch>
        </p:blipFill>
        <p:spPr>
          <a:xfrm>
            <a:off x="6941698" y="3873328"/>
            <a:ext cx="4731809" cy="891621"/>
          </a:xfrm>
          <a:prstGeom prst="rect">
            <a:avLst/>
          </a:prstGeom>
        </p:spPr>
      </p:pic>
      <p:pic>
        <p:nvPicPr>
          <p:cNvPr id="13" name="图片 12">
            <a:extLst>
              <a:ext uri="{FF2B5EF4-FFF2-40B4-BE49-F238E27FC236}">
                <a16:creationId xmlns:a16="http://schemas.microsoft.com/office/drawing/2014/main" id="{17A80D97-2357-9489-285E-FE33BF4AA886}"/>
              </a:ext>
            </a:extLst>
          </p:cNvPr>
          <p:cNvPicPr>
            <a:picLocks/>
          </p:cNvPicPr>
          <p:nvPr/>
        </p:nvPicPr>
        <p:blipFill>
          <a:blip r:embed="rId4"/>
          <a:srcRect l="21064" t="79267" r="24939"/>
          <a:stretch>
            <a:fillRect/>
          </a:stretch>
        </p:blipFill>
        <p:spPr>
          <a:xfrm>
            <a:off x="6941697" y="4684718"/>
            <a:ext cx="4731810" cy="1101964"/>
          </a:xfrm>
          <a:prstGeom prst="rect">
            <a:avLst/>
          </a:prstGeom>
        </p:spPr>
      </p:pic>
    </p:spTree>
    <p:extLst>
      <p:ext uri="{BB962C8B-B14F-4D97-AF65-F5344CB8AC3E}">
        <p14:creationId xmlns:p14="http://schemas.microsoft.com/office/powerpoint/2010/main" val="1162385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lstStyle/>
          <a:p>
            <a:pPr rtl="0"/>
            <a:r>
              <a:rPr lang="zh-CN" altLang="en-US" dirty="0">
                <a:latin typeface="宋体" panose="02010600030101010101" pitchFamily="2" charset="-122"/>
                <a:ea typeface="宋体" panose="02010600030101010101" pitchFamily="2" charset="-122"/>
              </a:rPr>
              <a:t>模型部署与训练</a:t>
            </a:r>
          </a:p>
        </p:txBody>
      </p:sp>
      <p:sp>
        <p:nvSpPr>
          <p:cNvPr id="4" name="文本框 3">
            <a:extLst>
              <a:ext uri="{FF2B5EF4-FFF2-40B4-BE49-F238E27FC236}">
                <a16:creationId xmlns:a16="http://schemas.microsoft.com/office/drawing/2014/main" id="{FBB5846E-FC34-75B9-BD46-374A8C0958E4}"/>
              </a:ext>
            </a:extLst>
          </p:cNvPr>
          <p:cNvSpPr txBox="1"/>
          <p:nvPr/>
        </p:nvSpPr>
        <p:spPr>
          <a:xfrm>
            <a:off x="1172446" y="1750046"/>
            <a:ext cx="3905246" cy="3549690"/>
          </a:xfrm>
          <a:prstGeom prst="rect">
            <a:avLst/>
          </a:prstGeom>
          <a:noFill/>
        </p:spPr>
        <p:txBody>
          <a:bodyPr wrap="square">
            <a:spAutoFit/>
          </a:bodyPr>
          <a:lstStyle/>
          <a:p>
            <a:pPr>
              <a:spcAft>
                <a:spcPts val="2000"/>
              </a:spcAft>
              <a:defRPr/>
            </a:pPr>
            <a:r>
              <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sz="1600" dirty="0">
                <a:solidFill>
                  <a:prstClr val="black"/>
                </a:solidFill>
                <a:latin typeface="宋体" panose="02010600030101010101" pitchFamily="2" charset="-122"/>
                <a:ea typeface="宋体" panose="02010600030101010101" pitchFamily="2" charset="-122"/>
                <a:cs typeface="Segoe UI" panose="020B0502040204020203" pitchFamily="34" charset="0"/>
              </a:rPr>
              <a:t>模型基于</a:t>
            </a:r>
            <a:r>
              <a:rPr lang="en-US" altLang="zh-CN" sz="1600" dirty="0" err="1">
                <a:solidFill>
                  <a:prstClr val="black"/>
                </a:solidFill>
                <a:latin typeface="宋体" panose="02010600030101010101" pitchFamily="2" charset="-122"/>
                <a:ea typeface="宋体" panose="02010600030101010101" pitchFamily="2" charset="-122"/>
                <a:cs typeface="Segoe UI" panose="020B0502040204020203" pitchFamily="34" charset="0"/>
              </a:rPr>
              <a:t>SASRec</a:t>
            </a:r>
            <a:r>
              <a:rPr lang="zh-CN" altLang="en-US" sz="1600" dirty="0">
                <a:solidFill>
                  <a:prstClr val="black"/>
                </a:solidFill>
                <a:latin typeface="宋体" panose="02010600030101010101" pitchFamily="2" charset="-122"/>
                <a:ea typeface="宋体" panose="02010600030101010101" pitchFamily="2" charset="-122"/>
                <a:cs typeface="Segoe UI" panose="020B0502040204020203" pitchFamily="34" charset="0"/>
              </a:rPr>
              <a:t>框架构建，将最终的</a:t>
            </a:r>
            <a:r>
              <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rPr>
              <a:t>Transformer</a:t>
            </a:r>
            <a:r>
              <a:rPr lang="zh-CN" altLang="en-US" sz="1600" dirty="0">
                <a:solidFill>
                  <a:prstClr val="black"/>
                </a:solidFill>
                <a:latin typeface="宋体" panose="02010600030101010101" pitchFamily="2" charset="-122"/>
                <a:ea typeface="宋体" panose="02010600030101010101" pitchFamily="2" charset="-122"/>
                <a:cs typeface="Segoe UI" panose="020B0502040204020203" pitchFamily="34" charset="0"/>
              </a:rPr>
              <a:t>层替换为上述提出的架构进行部署。</a:t>
            </a:r>
            <a:endPar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endParaRPr>
          </a:p>
          <a:p>
            <a:pPr>
              <a:spcAft>
                <a:spcPts val="2000"/>
              </a:spcAft>
              <a:defRPr/>
            </a:pPr>
            <a:r>
              <a:rPr lang="en-US" altLang="zh-CN" sz="1600" dirty="0">
                <a:solidFill>
                  <a:prstClr val="black"/>
                </a:solidFill>
                <a:latin typeface="宋体" panose="02010600030101010101" pitchFamily="2" charset="-122"/>
                <a:ea typeface="宋体" panose="02010600030101010101" pitchFamily="2" charset="-122"/>
                <a:cs typeface="Segoe UI" panose="020B0502040204020203" pitchFamily="34" charset="0"/>
              </a:rPr>
              <a:t>    </a:t>
            </a:r>
            <a:r>
              <a:rPr lang="zh-CN" altLang="en-US" sz="1600" dirty="0">
                <a:solidFill>
                  <a:prstClr val="black"/>
                </a:solidFill>
                <a:latin typeface="宋体" panose="02010600030101010101" pitchFamily="2" charset="-122"/>
                <a:ea typeface="宋体" panose="02010600030101010101" pitchFamily="2" charset="-122"/>
                <a:cs typeface="Segoe UI" panose="020B0502040204020203" pitchFamily="34" charset="0"/>
              </a:rPr>
              <a:t>在</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训练流程中，先对基于注意力机制的序列推荐模型（如 </a:t>
            </a:r>
            <a:r>
              <a:rPr kumimoji="0" lang="en-US" altLang="zh-CN" sz="1600" b="0" i="0" u="none" strike="noStrike" kern="1200" cap="none" spc="0" normalizeH="0" baseline="0" noProof="0" dirty="0" err="1">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SASRec</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）进行预训练以启动模型。随后，在保留原始键（</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key</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）和值（</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value</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）矩阵的前提下，将最后一层 </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Transformer </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模块的查询（</a:t>
            </a:r>
            <a:r>
              <a:rPr kumimoji="0" lang="en-US" altLang="zh-CN"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query</a:t>
            </a:r>
            <a:r>
              <a:rPr kumimoji="0" lang="zh-CN" altLang="en-US" sz="16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rPr>
              <a:t>）矩阵替换为混合专家网络。新引入的组件包括头部专属前馈神经网络、门控机制以及路由模块，这些组件均进行随机初始化，而后再对整个模型进行端到端的微调。</a:t>
            </a:r>
            <a:endParaRPr kumimoji="0" lang="zh-CN" altLang="en-US"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Segoe UI" panose="020B0502040204020203" pitchFamily="34" charset="0"/>
            </a:endParaRPr>
          </a:p>
        </p:txBody>
      </p:sp>
      <p:pic>
        <p:nvPicPr>
          <p:cNvPr id="8" name="图片 7">
            <a:extLst>
              <a:ext uri="{FF2B5EF4-FFF2-40B4-BE49-F238E27FC236}">
                <a16:creationId xmlns:a16="http://schemas.microsoft.com/office/drawing/2014/main" id="{8E7CA31E-2C45-243E-7218-5D2CFB6002F5}"/>
              </a:ext>
            </a:extLst>
          </p:cNvPr>
          <p:cNvPicPr>
            <a:picLocks noChangeAspect="1"/>
          </p:cNvPicPr>
          <p:nvPr/>
        </p:nvPicPr>
        <p:blipFill>
          <a:blip r:embed="rId3"/>
          <a:stretch>
            <a:fillRect/>
          </a:stretch>
        </p:blipFill>
        <p:spPr>
          <a:xfrm>
            <a:off x="5801555" y="1568339"/>
            <a:ext cx="5406772" cy="4362706"/>
          </a:xfrm>
          <a:prstGeom prst="rect">
            <a:avLst/>
          </a:prstGeom>
        </p:spPr>
      </p:pic>
    </p:spTree>
    <p:extLst>
      <p:ext uri="{BB962C8B-B14F-4D97-AF65-F5344CB8AC3E}">
        <p14:creationId xmlns:p14="http://schemas.microsoft.com/office/powerpoint/2010/main" val="2596833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lvl="0" rtl="0"/>
            <a:r>
              <a:rPr lang="zh-CN" altLang="en-US" dirty="0">
                <a:latin typeface="宋体" panose="02010600030101010101" pitchFamily="2" charset="-122"/>
                <a:ea typeface="宋体" panose="02010600030101010101" pitchFamily="2" charset="-122"/>
                <a:cs typeface="Segoe UI Light" panose="020B0502040204020203" pitchFamily="34" charset="0"/>
              </a:rPr>
              <a:t>实验结果</a:t>
            </a:r>
            <a:endParaRPr lang="zh-cn" dirty="0">
              <a:latin typeface="宋体" panose="02010600030101010101" pitchFamily="2" charset="-122"/>
              <a:ea typeface="宋体" panose="02010600030101010101" pitchFamily="2" charset="-122"/>
              <a:cs typeface="Segoe UI Light" panose="020B0502040204020203" pitchFamily="34" charset="0"/>
            </a:endParaRPr>
          </a:p>
        </p:txBody>
      </p:sp>
      <p:sp>
        <p:nvSpPr>
          <p:cNvPr id="4" name="文本框 3">
            <a:extLst>
              <a:ext uri="{FF2B5EF4-FFF2-40B4-BE49-F238E27FC236}">
                <a16:creationId xmlns:a16="http://schemas.microsoft.com/office/drawing/2014/main" id="{C41584B1-19A2-75D0-0F66-F6F214B65BBA}"/>
              </a:ext>
            </a:extLst>
          </p:cNvPr>
          <p:cNvSpPr txBox="1"/>
          <p:nvPr/>
        </p:nvSpPr>
        <p:spPr>
          <a:xfrm>
            <a:off x="1343891" y="5618324"/>
            <a:ext cx="9628910" cy="923330"/>
          </a:xfrm>
          <a:prstGeom prst="rect">
            <a:avLst/>
          </a:prstGeom>
          <a:noFill/>
        </p:spPr>
        <p:txBody>
          <a:bodyPr wrap="square">
            <a:spAutoFit/>
          </a:bodyPr>
          <a:lstStyle/>
          <a:p>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由结果可知，</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FAME </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在所有数据集上均优于 </a:t>
            </a:r>
            <a:r>
              <a:rPr lang="en-US" altLang="zh-CN" dirty="0" err="1">
                <a:solidFill>
                  <a:prstClr val="black"/>
                </a:solidFill>
                <a:latin typeface="宋体" panose="02010600030101010101" pitchFamily="2" charset="-122"/>
                <a:ea typeface="宋体" panose="02010600030101010101" pitchFamily="2" charset="-122"/>
                <a:cs typeface="Segoe UI" panose="020B0502040204020203" pitchFamily="34" charset="0"/>
              </a:rPr>
              <a:t>SASRec</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CL4SRec </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及多意图模型 </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MSGIFSR</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a:t>
            </a:r>
            <a:endPar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endParaRPr>
          </a:p>
          <a:p>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与</a:t>
            </a:r>
            <a:r>
              <a:rPr lang="en-US" altLang="zh-CN" dirty="0" err="1">
                <a:solidFill>
                  <a:prstClr val="black"/>
                </a:solidFill>
                <a:latin typeface="宋体" panose="02010600030101010101" pitchFamily="2" charset="-122"/>
                <a:ea typeface="宋体" panose="02010600030101010101" pitchFamily="2" charset="-122"/>
                <a:cs typeface="Segoe UI" panose="020B0502040204020203" pitchFamily="34" charset="0"/>
              </a:rPr>
              <a:t>SASRec</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相比，</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FAME </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证明了面相解耦的有效性；</a:t>
            </a:r>
            <a:endPar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endParaRPr>
          </a:p>
          <a:p>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与对比学习模型相比，</a:t>
            </a:r>
            <a:r>
              <a:rPr lang="en-US" altLang="zh-CN" dirty="0">
                <a:solidFill>
                  <a:prstClr val="black"/>
                </a:solidFill>
                <a:latin typeface="宋体" panose="02010600030101010101" pitchFamily="2" charset="-122"/>
                <a:ea typeface="宋体" panose="02010600030101010101" pitchFamily="2" charset="-122"/>
                <a:cs typeface="Segoe UI" panose="020B0502040204020203" pitchFamily="34" charset="0"/>
              </a:rPr>
              <a:t>FAME </a:t>
            </a:r>
            <a:r>
              <a:rPr lang="zh-CN" altLang="en-US" dirty="0">
                <a:solidFill>
                  <a:prstClr val="black"/>
                </a:solidFill>
                <a:latin typeface="宋体" panose="02010600030101010101" pitchFamily="2" charset="-122"/>
                <a:ea typeface="宋体" panose="02010600030101010101" pitchFamily="2" charset="-122"/>
                <a:cs typeface="Segoe UI" panose="020B0502040204020203" pitchFamily="34" charset="0"/>
              </a:rPr>
              <a:t>无需复杂的负采样即可达到更高精度。</a:t>
            </a:r>
            <a:endParaRPr lang="zh-CN" altLang="en-US" dirty="0"/>
          </a:p>
        </p:txBody>
      </p:sp>
      <p:pic>
        <p:nvPicPr>
          <p:cNvPr id="7" name="图片 6">
            <a:extLst>
              <a:ext uri="{FF2B5EF4-FFF2-40B4-BE49-F238E27FC236}">
                <a16:creationId xmlns:a16="http://schemas.microsoft.com/office/drawing/2014/main" id="{C921AC76-DFBB-412F-91C5-D82FC70AFFF3}"/>
              </a:ext>
            </a:extLst>
          </p:cNvPr>
          <p:cNvPicPr>
            <a:picLocks noChangeAspect="1"/>
          </p:cNvPicPr>
          <p:nvPr/>
        </p:nvPicPr>
        <p:blipFill>
          <a:blip r:embed="rId3"/>
          <a:stretch>
            <a:fillRect/>
          </a:stretch>
        </p:blipFill>
        <p:spPr>
          <a:xfrm>
            <a:off x="1988128" y="1351017"/>
            <a:ext cx="8340436" cy="4155966"/>
          </a:xfrm>
          <a:prstGeom prst="rect">
            <a:avLst/>
          </a:prstGeom>
        </p:spPr>
      </p:pic>
      <p:sp>
        <p:nvSpPr>
          <p:cNvPr id="8" name="矩形 7">
            <a:extLst>
              <a:ext uri="{FF2B5EF4-FFF2-40B4-BE49-F238E27FC236}">
                <a16:creationId xmlns:a16="http://schemas.microsoft.com/office/drawing/2014/main" id="{E0B8C2BE-0847-F63E-14EB-0CFA3B8DEBFD}"/>
              </a:ext>
            </a:extLst>
          </p:cNvPr>
          <p:cNvSpPr/>
          <p:nvPr/>
        </p:nvSpPr>
        <p:spPr>
          <a:xfrm>
            <a:off x="9047018" y="1316381"/>
            <a:ext cx="685800" cy="4371415"/>
          </a:xfrm>
          <a:prstGeom prst="rect">
            <a:avLst/>
          </a:prstGeom>
          <a:noFill/>
          <a:ln w="19050">
            <a:solidFill>
              <a:srgbClr val="DD46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286760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rtlCol="0"/>
          <a:lstStyle/>
          <a:p>
            <a:pPr rtl="0"/>
            <a:r>
              <a:rPr lang="zh-CN" altLang="en-US" dirty="0">
                <a:latin typeface="宋体" panose="02010600030101010101" pitchFamily="2" charset="-122"/>
                <a:ea typeface="宋体" panose="02010600030101010101" pitchFamily="2" charset="-122"/>
                <a:cs typeface="Segoe UI Light" panose="020B0502040204020203" pitchFamily="34" charset="0"/>
              </a:rPr>
              <a:t>参数研究</a:t>
            </a:r>
          </a:p>
        </p:txBody>
      </p:sp>
      <p:pic>
        <p:nvPicPr>
          <p:cNvPr id="9" name="图片 8">
            <a:extLst>
              <a:ext uri="{FF2B5EF4-FFF2-40B4-BE49-F238E27FC236}">
                <a16:creationId xmlns:a16="http://schemas.microsoft.com/office/drawing/2014/main" id="{68FC3AE5-01B3-7AA8-F89E-E3F5FA8576B3}"/>
              </a:ext>
            </a:extLst>
          </p:cNvPr>
          <p:cNvPicPr>
            <a:picLocks noChangeAspect="1"/>
          </p:cNvPicPr>
          <p:nvPr/>
        </p:nvPicPr>
        <p:blipFill>
          <a:blip r:embed="rId3"/>
          <a:stretch>
            <a:fillRect/>
          </a:stretch>
        </p:blipFill>
        <p:spPr>
          <a:xfrm>
            <a:off x="1183678" y="1329052"/>
            <a:ext cx="9824644" cy="5170865"/>
          </a:xfrm>
          <a:prstGeom prst="rect">
            <a:avLst/>
          </a:prstGeom>
        </p:spPr>
      </p:pic>
    </p:spTree>
    <p:extLst>
      <p:ext uri="{BB962C8B-B14F-4D97-AF65-F5344CB8AC3E}">
        <p14:creationId xmlns:p14="http://schemas.microsoft.com/office/powerpoint/2010/main" val="727668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62798-EF19-8177-303A-7402629A91E4}"/>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38449689-5AE8-0992-3BBF-6689F02498FF}"/>
              </a:ext>
            </a:extLst>
          </p:cNvPr>
          <p:cNvSpPr>
            <a:spLocks noGrp="1"/>
          </p:cNvSpPr>
          <p:nvPr>
            <p:ph type="title"/>
          </p:nvPr>
        </p:nvSpPr>
        <p:spPr/>
        <p:txBody>
          <a:bodyPr rtlCol="0"/>
          <a:lstStyle/>
          <a:p>
            <a:pPr rtl="0"/>
            <a:r>
              <a:rPr lang="zh-CN" altLang="en-US" dirty="0">
                <a:latin typeface="宋体" panose="02010600030101010101" pitchFamily="2" charset="-122"/>
                <a:ea typeface="宋体" panose="02010600030101010101" pitchFamily="2" charset="-122"/>
                <a:cs typeface="Segoe UI Light" panose="020B0502040204020203" pitchFamily="34" charset="0"/>
              </a:rPr>
              <a:t>参数研究</a:t>
            </a:r>
          </a:p>
        </p:txBody>
      </p:sp>
      <p:pic>
        <p:nvPicPr>
          <p:cNvPr id="3" name="图片 2">
            <a:extLst>
              <a:ext uri="{FF2B5EF4-FFF2-40B4-BE49-F238E27FC236}">
                <a16:creationId xmlns:a16="http://schemas.microsoft.com/office/drawing/2014/main" id="{FCFFF1F6-92E2-C715-5317-A9103724A673}"/>
              </a:ext>
            </a:extLst>
          </p:cNvPr>
          <p:cNvPicPr>
            <a:picLocks noChangeAspect="1"/>
          </p:cNvPicPr>
          <p:nvPr/>
        </p:nvPicPr>
        <p:blipFill>
          <a:blip r:embed="rId3"/>
          <a:stretch>
            <a:fillRect/>
          </a:stretch>
        </p:blipFill>
        <p:spPr>
          <a:xfrm>
            <a:off x="1458190" y="1445499"/>
            <a:ext cx="9275619" cy="4856711"/>
          </a:xfrm>
          <a:prstGeom prst="rect">
            <a:avLst/>
          </a:prstGeom>
        </p:spPr>
      </p:pic>
    </p:spTree>
    <p:extLst>
      <p:ext uri="{BB962C8B-B14F-4D97-AF65-F5344CB8AC3E}">
        <p14:creationId xmlns:p14="http://schemas.microsoft.com/office/powerpoint/2010/main" val="14709680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rtlCol="0"/>
          <a:lstStyle/>
          <a:p>
            <a:pPr rtl="0"/>
            <a:r>
              <a:rPr lang="zh-CN" altLang="en-US" dirty="0">
                <a:latin typeface="宋体" panose="02010600030101010101" pitchFamily="2" charset="-122"/>
                <a:ea typeface="宋体" panose="02010600030101010101" pitchFamily="2" charset="-122"/>
                <a:cs typeface="Segoe UI Light" panose="020B0502040204020203" pitchFamily="34" charset="0"/>
              </a:rPr>
              <a:t>总结与展望</a:t>
            </a:r>
          </a:p>
        </p:txBody>
      </p:sp>
      <p:pic>
        <p:nvPicPr>
          <p:cNvPr id="2" name="内容占位符 9">
            <a:extLst>
              <a:ext uri="{FF2B5EF4-FFF2-40B4-BE49-F238E27FC236}">
                <a16:creationId xmlns:a16="http://schemas.microsoft.com/office/drawing/2014/main" id="{FF740FB5-C81F-25E2-121B-17FB792A528A}"/>
              </a:ext>
            </a:extLst>
          </p:cNvPr>
          <p:cNvPicPr>
            <a:picLocks noGrp="1" noChangeAspect="1"/>
          </p:cNvPicPr>
          <p:nvPr>
            <p:ph sz="quarter" idx="10"/>
          </p:nvPr>
        </p:nvPicPr>
        <p:blipFill>
          <a:blip r:embed="rId3"/>
          <a:stretch>
            <a:fillRect/>
          </a:stretch>
        </p:blipFill>
        <p:spPr>
          <a:xfrm>
            <a:off x="1709348" y="2229671"/>
            <a:ext cx="8773304" cy="3060031"/>
          </a:xfrm>
        </p:spPr>
      </p:pic>
    </p:spTree>
    <p:extLst>
      <p:ext uri="{BB962C8B-B14F-4D97-AF65-F5344CB8AC3E}">
        <p14:creationId xmlns:p14="http://schemas.microsoft.com/office/powerpoint/2010/main" val="1769326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6CE7E-E35C-56EC-D4BC-98545D7093C4}"/>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B8726614-9B81-A06C-F5A9-430E58E2B3E4}"/>
              </a:ext>
            </a:extLst>
          </p:cNvPr>
          <p:cNvSpPr>
            <a:spLocks noGrp="1"/>
          </p:cNvSpPr>
          <p:nvPr>
            <p:ph type="title"/>
          </p:nvPr>
        </p:nvSpPr>
        <p:spPr>
          <a:xfrm>
            <a:off x="2657440" y="3104388"/>
            <a:ext cx="6877119" cy="640080"/>
          </a:xfrm>
        </p:spPr>
        <p:txBody>
          <a:bodyPr rtlCol="0">
            <a:noAutofit/>
          </a:bodyPr>
          <a:lstStyle/>
          <a:p>
            <a:pPr algn="ctr" rtl="0"/>
            <a:r>
              <a:rPr lang="zh-CN" altLang="en-US" sz="4000" dirty="0">
                <a:latin typeface="宋体" panose="02010600030101010101" pitchFamily="2" charset="-122"/>
                <a:ea typeface="宋体" panose="02010600030101010101" pitchFamily="2" charset="-122"/>
                <a:cs typeface="Segoe UI Light" panose="020B0502040204020203" pitchFamily="34" charset="0"/>
              </a:rPr>
              <a:t>感谢聆听！</a:t>
            </a:r>
          </a:p>
        </p:txBody>
      </p:sp>
      <p:sp>
        <p:nvSpPr>
          <p:cNvPr id="4" name="内容占位符 3">
            <a:extLst>
              <a:ext uri="{FF2B5EF4-FFF2-40B4-BE49-F238E27FC236}">
                <a16:creationId xmlns:a16="http://schemas.microsoft.com/office/drawing/2014/main" id="{17C21BDC-20E1-B137-B7D1-A3FB0AEC1BE9}"/>
              </a:ext>
            </a:extLst>
          </p:cNvPr>
          <p:cNvSpPr>
            <a:spLocks noGrp="1"/>
          </p:cNvSpPr>
          <p:nvPr>
            <p:ph sz="quarter" idx="10"/>
          </p:nvPr>
        </p:nvSpPr>
        <p:spPr/>
        <p:txBody>
          <a:bodyPr/>
          <a:lstStyle/>
          <a:p>
            <a:endParaRPr lang="zh-CN" altLang="en-US"/>
          </a:p>
        </p:txBody>
      </p:sp>
    </p:spTree>
    <p:extLst>
      <p:ext uri="{BB962C8B-B14F-4D97-AF65-F5344CB8AC3E}">
        <p14:creationId xmlns:p14="http://schemas.microsoft.com/office/powerpoint/2010/main" val="29283036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自定义">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957307_TF10001108_Win32" id="{08D89365-2E4C-432D-9349-8DF9B80AEEA1}" vid="{010FF314-90DF-4A21-BD0D-ADCBA34234AC}"/>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675</TotalTime>
  <Words>785</Words>
  <Application>Microsoft Office PowerPoint</Application>
  <PresentationFormat>宽屏</PresentationFormat>
  <Paragraphs>49</Paragraphs>
  <Slides>12</Slides>
  <Notes>12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Microsoft YaHei UI</vt:lpstr>
      <vt:lpstr>Microsoft YaHei UI Light</vt:lpstr>
      <vt:lpstr>宋体</vt:lpstr>
      <vt:lpstr>Arial</vt:lpstr>
      <vt:lpstr>自定义</vt:lpstr>
      <vt:lpstr>PowerPoint 演示文稿</vt:lpstr>
      <vt:lpstr>研究背景</vt:lpstr>
      <vt:lpstr>模型方法</vt:lpstr>
      <vt:lpstr>基础知识</vt:lpstr>
      <vt:lpstr>核心机制</vt:lpstr>
      <vt:lpstr>核心机制</vt:lpstr>
      <vt:lpstr>模型部署与训练</vt:lpstr>
      <vt:lpstr>实验结果</vt:lpstr>
      <vt:lpstr>参数研究</vt:lpstr>
      <vt:lpstr>参数研究</vt:lpstr>
      <vt:lpstr>总结与展望</vt:lpstr>
      <vt:lpstr>感谢聆听！</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keywords/>
  <cp:lastModifiedBy>lenovo</cp:lastModifiedBy>
  <cp:revision>14</cp:revision>
  <dcterms:created xsi:type="dcterms:W3CDTF">2026-04-20T10:49:09Z</dcterms:created>
  <dcterms:modified xsi:type="dcterms:W3CDTF">2026-04-22T14:24:30Z</dcterms:modified>
  <cp:version/>
</cp:coreProperties>
</file>